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9672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94A3B8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9672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94A3B8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F56A3B"/>
          </a:solidFill>
          <a:ln w="12700">
            <a:solidFill>
              <a:srgbClr val="F56A3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56032"/>
            <a:ext cx="1444752" cy="256032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265176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THERMAL CELL / 01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12648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背景・課題｜上部Cell温度を「毎条件CAE」だけで追う限界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521208" y="1060704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半導体エッチング装置の少数計測点温度を、レシピ条件に応じて高速・継続的に評価したい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5623560" cy="4828032"/>
          </a:xfrm>
          <a:prstGeom prst="roundRect">
            <a:avLst>
              <a:gd name="adj" fmla="val 2841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89888"/>
            <a:ext cx="5623560" cy="82296"/>
          </a:xfrm>
          <a:prstGeom prst="rect">
            <a:avLst/>
          </a:prstGeom>
          <a:solidFill>
            <a:srgbClr val="16A6A0"/>
          </a:solidFill>
          <a:ln w="12700">
            <a:solidFill>
              <a:srgbClr val="16A6A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59105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上部Cell：入熱・温調・部品内伝導が重なる過渡熱問題</a:t>
            </a:r>
            <a:endParaRPr lang="en-US" sz="1530" dirty="0"/>
          </a:p>
        </p:txBody>
      </p:sp>
      <p:sp>
        <p:nvSpPr>
          <p:cNvPr id="10" name="Shape 8"/>
          <p:cNvSpPr/>
          <p:nvPr/>
        </p:nvSpPr>
        <p:spPr>
          <a:xfrm>
            <a:off x="941832" y="2340864"/>
            <a:ext cx="4736592" cy="941832"/>
          </a:xfrm>
          <a:prstGeom prst="roundRect">
            <a:avLst>
              <a:gd name="adj" fmla="val 13592"/>
            </a:avLst>
          </a:prstGeom>
          <a:solidFill>
            <a:srgbClr val="EAF0F4"/>
          </a:solidFill>
          <a:ln w="10160">
            <a:solidFill>
              <a:srgbClr val="CBD5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2487168"/>
            <a:ext cx="4425696" cy="640080"/>
          </a:xfrm>
          <a:prstGeom prst="rect">
            <a:avLst/>
          </a:prstGeom>
          <a:solidFill>
            <a:srgbClr val="DCE3EA"/>
          </a:solidFill>
          <a:ln w="8890">
            <a:solidFill>
              <a:srgbClr val="B8C4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65960" y="2487168"/>
            <a:ext cx="0" cy="640080"/>
          </a:xfrm>
          <a:prstGeom prst="line">
            <a:avLst/>
          </a:prstGeom>
          <a:noFill/>
          <a:ln w="10160">
            <a:solidFill>
              <a:srgbClr val="B6C2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63240" y="2487168"/>
            <a:ext cx="0" cy="640080"/>
          </a:xfrm>
          <a:prstGeom prst="line">
            <a:avLst/>
          </a:prstGeom>
          <a:noFill/>
          <a:ln w="10160">
            <a:solidFill>
              <a:srgbClr val="B6C2C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24528" y="2487168"/>
            <a:ext cx="0" cy="640080"/>
          </a:xfrm>
          <a:prstGeom prst="line">
            <a:avLst/>
          </a:prstGeom>
          <a:noFill/>
          <a:ln w="10160">
            <a:solidFill>
              <a:srgbClr val="B6C2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24912" y="26334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上部Cell部品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417320" y="1965960"/>
            <a:ext cx="1554480" cy="228600"/>
          </a:xfrm>
          <a:prstGeom prst="roundRect">
            <a:avLst>
              <a:gd name="adj" fmla="val 40000"/>
            </a:avLst>
          </a:prstGeom>
          <a:solidFill>
            <a:srgbClr val="FDE7DE"/>
          </a:solidFill>
          <a:ln w="8890">
            <a:solidFill>
              <a:srgbClr val="F56A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81328" y="1984248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56A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HEATER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3767328" y="1965960"/>
            <a:ext cx="1417320" cy="228600"/>
          </a:xfrm>
          <a:prstGeom prst="roundRect">
            <a:avLst>
              <a:gd name="adj" fmla="val 40000"/>
            </a:avLst>
          </a:prstGeom>
          <a:solidFill>
            <a:srgbClr val="E6EDFF"/>
          </a:solidFill>
          <a:ln w="8890">
            <a:solidFill>
              <a:srgbClr val="3A6F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22192" y="1984248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3A6FF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BRINE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2148840" y="2212848"/>
            <a:ext cx="0" cy="228600"/>
          </a:xfrm>
          <a:prstGeom prst="line">
            <a:avLst/>
          </a:prstGeom>
          <a:noFill/>
          <a:ln w="17780">
            <a:solidFill>
              <a:srgbClr val="F56A3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462272" y="2212848"/>
            <a:ext cx="0" cy="228600"/>
          </a:xfrm>
          <a:prstGeom prst="line">
            <a:avLst/>
          </a:prstGeom>
          <a:noFill/>
          <a:ln w="17780">
            <a:solidFill>
              <a:srgbClr val="3A6FF7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188720" y="3410712"/>
            <a:ext cx="201168" cy="393192"/>
          </a:xfrm>
          <a:prstGeom prst="upArrow">
            <a:avLst/>
          </a:prstGeom>
          <a:solidFill>
            <a:srgbClr val="F56A3B">
              <a:alpha val="94000"/>
            </a:srgbClr>
          </a:solidFill>
          <a:ln w="12700">
            <a:solidFill>
              <a:srgbClr val="F56A3B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64208" y="3410712"/>
            <a:ext cx="201168" cy="393192"/>
          </a:xfrm>
          <a:prstGeom prst="upArrow">
            <a:avLst/>
          </a:prstGeom>
          <a:solidFill>
            <a:srgbClr val="F56A3B">
              <a:alpha val="94000"/>
            </a:srgbClr>
          </a:solidFill>
          <a:ln w="12700">
            <a:solidFill>
              <a:srgbClr val="F56A3B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39696" y="3410712"/>
            <a:ext cx="201168" cy="393192"/>
          </a:xfrm>
          <a:prstGeom prst="upArrow">
            <a:avLst/>
          </a:prstGeom>
          <a:solidFill>
            <a:srgbClr val="F56A3B">
              <a:alpha val="94000"/>
            </a:srgbClr>
          </a:solidFill>
          <a:ln w="12700">
            <a:solidFill>
              <a:srgbClr val="F56A3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15184" y="3410712"/>
            <a:ext cx="201168" cy="393192"/>
          </a:xfrm>
          <a:prstGeom prst="upArrow">
            <a:avLst/>
          </a:prstGeom>
          <a:solidFill>
            <a:srgbClr val="F56A3B">
              <a:alpha val="94000"/>
            </a:srgbClr>
          </a:solidFill>
          <a:ln w="12700">
            <a:solidFill>
              <a:srgbClr val="F56A3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0704" y="3813048"/>
            <a:ext cx="1965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56A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PLASMA 入熱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1353312" y="2788920"/>
            <a:ext cx="365760" cy="365760"/>
          </a:xfrm>
          <a:prstGeom prst="ellipse">
            <a:avLst/>
          </a:prstGeom>
          <a:solidFill>
            <a:srgbClr val="F15A4A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24712" y="31821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CP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88720" y="251460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高温側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450592" y="2788920"/>
            <a:ext cx="365760" cy="365760"/>
          </a:xfrm>
          <a:prstGeom prst="ellipse">
            <a:avLst/>
          </a:prstGeom>
          <a:solidFill>
            <a:srgbClr val="F5864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21992" y="31821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Center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286000" y="251460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中心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611880" y="2788920"/>
            <a:ext cx="365760" cy="365760"/>
          </a:xfrm>
          <a:prstGeom prst="ellipse">
            <a:avLst/>
          </a:prstGeom>
          <a:solidFill>
            <a:srgbClr val="F2B64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31821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middle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447288" y="251460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中間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773168" y="2788920"/>
            <a:ext cx="365760" cy="365760"/>
          </a:xfrm>
          <a:prstGeom prst="ellipse">
            <a:avLst/>
          </a:prstGeom>
          <a:solidFill>
            <a:srgbClr val="16A6A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44568" y="31821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edge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608576" y="251460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外周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941832" y="42062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時定数を持つ温度応答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097280" y="5596128"/>
            <a:ext cx="4370832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97280" y="4590288"/>
            <a:ext cx="0" cy="100584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66360" y="5623560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time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1097280" y="5504688"/>
            <a:ext cx="731520" cy="-429768"/>
          </a:xfrm>
          <a:prstGeom prst="line">
            <a:avLst/>
          </a:prstGeom>
          <a:noFill/>
          <a:ln w="25400">
            <a:solidFill>
              <a:srgbClr val="F15A4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28800" y="5074920"/>
            <a:ext cx="731520" cy="-246888"/>
          </a:xfrm>
          <a:prstGeom prst="line">
            <a:avLst/>
          </a:prstGeom>
          <a:noFill/>
          <a:ln w="25400">
            <a:solidFill>
              <a:srgbClr val="F15A4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560320" y="4828032"/>
            <a:ext cx="822960" cy="-109728"/>
          </a:xfrm>
          <a:prstGeom prst="line">
            <a:avLst/>
          </a:prstGeom>
          <a:noFill/>
          <a:ln w="25400">
            <a:solidFill>
              <a:srgbClr val="F15A4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83280" y="4718304"/>
            <a:ext cx="914400" cy="-45720"/>
          </a:xfrm>
          <a:prstGeom prst="line">
            <a:avLst/>
          </a:prstGeom>
          <a:noFill/>
          <a:ln w="25400">
            <a:solidFill>
              <a:srgbClr val="F15A4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297680" y="4672584"/>
            <a:ext cx="1051560" cy="-9144"/>
          </a:xfrm>
          <a:prstGeom prst="line">
            <a:avLst/>
          </a:prstGeom>
          <a:noFill/>
          <a:ln w="25400">
            <a:solidFill>
              <a:srgbClr val="F15A4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97280" y="5495544"/>
            <a:ext cx="731520" cy="-237744"/>
          </a:xfrm>
          <a:prstGeom prst="line">
            <a:avLst/>
          </a:prstGeom>
          <a:noFill/>
          <a:ln w="25400">
            <a:solidFill>
              <a:srgbClr val="F5864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828800" y="5257800"/>
            <a:ext cx="731520" cy="-210312"/>
          </a:xfrm>
          <a:prstGeom prst="line">
            <a:avLst/>
          </a:prstGeom>
          <a:noFill/>
          <a:ln w="25400">
            <a:solidFill>
              <a:srgbClr val="F5864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560320" y="5047488"/>
            <a:ext cx="822960" cy="-109728"/>
          </a:xfrm>
          <a:prstGeom prst="line">
            <a:avLst/>
          </a:prstGeom>
          <a:noFill/>
          <a:ln w="25400">
            <a:solidFill>
              <a:srgbClr val="F5864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383280" y="4937760"/>
            <a:ext cx="914400" cy="-54864"/>
          </a:xfrm>
          <a:prstGeom prst="line">
            <a:avLst/>
          </a:prstGeom>
          <a:noFill/>
          <a:ln w="25400">
            <a:solidFill>
              <a:srgbClr val="F5864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297680" y="4882896"/>
            <a:ext cx="1051560" cy="-18288"/>
          </a:xfrm>
          <a:prstGeom prst="line">
            <a:avLst/>
          </a:prstGeom>
          <a:noFill/>
          <a:ln w="25400">
            <a:solidFill>
              <a:srgbClr val="F5864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97280" y="5486400"/>
            <a:ext cx="731520" cy="-82296"/>
          </a:xfrm>
          <a:prstGeom prst="line">
            <a:avLst/>
          </a:prstGeom>
          <a:noFill/>
          <a:ln w="25400">
            <a:solidFill>
              <a:srgbClr val="16A6A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28800" y="5404104"/>
            <a:ext cx="731520" cy="-118872"/>
          </a:xfrm>
          <a:prstGeom prst="line">
            <a:avLst/>
          </a:prstGeom>
          <a:noFill/>
          <a:ln w="25400">
            <a:solidFill>
              <a:srgbClr val="16A6A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560320" y="5285232"/>
            <a:ext cx="822960" cy="-100584"/>
          </a:xfrm>
          <a:prstGeom prst="line">
            <a:avLst/>
          </a:prstGeom>
          <a:noFill/>
          <a:ln w="25400">
            <a:solidFill>
              <a:srgbClr val="16A6A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383280" y="5184648"/>
            <a:ext cx="914400" cy="-54864"/>
          </a:xfrm>
          <a:prstGeom prst="line">
            <a:avLst/>
          </a:prstGeom>
          <a:noFill/>
          <a:ln w="25400">
            <a:solidFill>
              <a:srgbClr val="16A6A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297680" y="5129784"/>
            <a:ext cx="1051560" cy="-27432"/>
          </a:xfrm>
          <a:prstGeom prst="line">
            <a:avLst/>
          </a:prstGeom>
          <a:noFill/>
          <a:ln w="25400">
            <a:solidFill>
              <a:srgbClr val="16A6A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97280" y="5779008"/>
            <a:ext cx="4425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同一条件でも初期温度・位置で応答が変わる</a:t>
            </a:r>
            <a:endParaRPr lang="en-US" sz="830" dirty="0"/>
          </a:p>
        </p:txBody>
      </p:sp>
      <p:sp>
        <p:nvSpPr>
          <p:cNvPr id="59" name="Text 57"/>
          <p:cNvSpPr/>
          <p:nvPr/>
        </p:nvSpPr>
        <p:spPr>
          <a:xfrm>
            <a:off x="6565392" y="1444752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CAEは精緻。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しかし「全条件 × 全時間」を毎回解くには重い。</a:t>
            </a:r>
            <a:endParaRPr lang="en-US" sz="2300" dirty="0"/>
          </a:p>
        </p:txBody>
      </p:sp>
      <p:sp>
        <p:nvSpPr>
          <p:cNvPr id="60" name="Text 58"/>
          <p:cNvSpPr/>
          <p:nvPr/>
        </p:nvSpPr>
        <p:spPr>
          <a:xfrm>
            <a:off x="6583680" y="2331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温度CSVを高速な意思決定へ変換するには、予測精度だけでなく評価設計と運用接続が必要。</a:t>
            </a:r>
            <a:endParaRPr lang="en-US" sz="1110" dirty="0"/>
          </a:p>
        </p:txBody>
      </p:sp>
      <p:sp>
        <p:nvSpPr>
          <p:cNvPr id="61" name="Shape 59"/>
          <p:cNvSpPr/>
          <p:nvPr/>
        </p:nvSpPr>
        <p:spPr>
          <a:xfrm>
            <a:off x="6565392" y="2907792"/>
            <a:ext cx="2350008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565392" y="2907792"/>
            <a:ext cx="50292" cy="932688"/>
          </a:xfrm>
          <a:prstGeom prst="rect">
            <a:avLst/>
          </a:prstGeom>
          <a:solidFill>
            <a:srgbClr val="F56A3B"/>
          </a:solidFill>
          <a:ln w="12700">
            <a:solidFill>
              <a:srgbClr val="F56A3B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11696" y="3072384"/>
            <a:ext cx="292608" cy="292608"/>
          </a:xfrm>
          <a:prstGeom prst="ellipse">
            <a:avLst/>
          </a:prstGeom>
          <a:solidFill>
            <a:srgbClr val="F56A3B"/>
          </a:solidFill>
          <a:ln w="12700">
            <a:solidFill>
              <a:srgbClr val="F56A3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11696" y="30678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1020" dirty="0"/>
          </a:p>
        </p:txBody>
      </p:sp>
      <p:sp>
        <p:nvSpPr>
          <p:cNvPr id="65" name="Text 63"/>
          <p:cNvSpPr/>
          <p:nvPr/>
        </p:nvSpPr>
        <p:spPr>
          <a:xfrm>
            <a:off x="7095744" y="3026664"/>
            <a:ext cx="1664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計算・探索コスト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729984" y="3346704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新レシピや多数条件を逐次CAEで探索しにくい</a:t>
            </a:r>
            <a:endParaRPr lang="en-US" sz="870" dirty="0"/>
          </a:p>
        </p:txBody>
      </p:sp>
      <p:sp>
        <p:nvSpPr>
          <p:cNvPr id="67" name="Shape 65"/>
          <p:cNvSpPr/>
          <p:nvPr/>
        </p:nvSpPr>
        <p:spPr>
          <a:xfrm>
            <a:off x="9070848" y="2907792"/>
            <a:ext cx="2350008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070848" y="2907792"/>
            <a:ext cx="50292" cy="932688"/>
          </a:xfrm>
          <a:prstGeom prst="rect">
            <a:avLst/>
          </a:prstGeom>
          <a:solidFill>
            <a:srgbClr val="3A6FF7"/>
          </a:solidFill>
          <a:ln w="12700">
            <a:solidFill>
              <a:srgbClr val="3A6FF7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217152" y="3072384"/>
            <a:ext cx="292608" cy="292608"/>
          </a:xfrm>
          <a:prstGeom prst="ellipse">
            <a:avLst/>
          </a:prstGeom>
          <a:solidFill>
            <a:srgbClr val="3A6FF7"/>
          </a:solidFill>
          <a:ln w="12700">
            <a:solidFill>
              <a:srgbClr val="3A6FF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217152" y="30678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1020" dirty="0"/>
          </a:p>
        </p:txBody>
      </p:sp>
      <p:sp>
        <p:nvSpPr>
          <p:cNvPr id="71" name="Text 69"/>
          <p:cNvSpPr/>
          <p:nvPr/>
        </p:nvSpPr>
        <p:spPr>
          <a:xfrm>
            <a:off x="9601200" y="3026664"/>
            <a:ext cx="1664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評価リーク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9235440" y="3346704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時刻行を分割すると同一trajectoryがtrain/testに混入</a:t>
            </a:r>
            <a:endParaRPr lang="en-US" sz="870" dirty="0"/>
          </a:p>
        </p:txBody>
      </p:sp>
      <p:sp>
        <p:nvSpPr>
          <p:cNvPr id="73" name="Shape 71"/>
          <p:cNvSpPr/>
          <p:nvPr/>
        </p:nvSpPr>
        <p:spPr>
          <a:xfrm>
            <a:off x="6565392" y="4050792"/>
            <a:ext cx="2350008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565392" y="4050792"/>
            <a:ext cx="50292" cy="932688"/>
          </a:xfrm>
          <a:prstGeom prst="rect">
            <a:avLst/>
          </a:prstGeom>
          <a:solidFill>
            <a:srgbClr val="F2B64B"/>
          </a:solidFill>
          <a:ln w="12700">
            <a:solidFill>
              <a:srgbClr val="F2B64B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711696" y="4215384"/>
            <a:ext cx="292608" cy="292608"/>
          </a:xfrm>
          <a:prstGeom prst="ellipse">
            <a:avLst/>
          </a:prstGeom>
          <a:solidFill>
            <a:srgbClr val="F2B64B"/>
          </a:solidFill>
          <a:ln w="12700">
            <a:solidFill>
              <a:srgbClr val="F2B64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711696" y="42108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1020" dirty="0"/>
          </a:p>
        </p:txBody>
      </p:sp>
      <p:sp>
        <p:nvSpPr>
          <p:cNvPr id="77" name="Text 75"/>
          <p:cNvSpPr/>
          <p:nvPr/>
        </p:nvSpPr>
        <p:spPr>
          <a:xfrm>
            <a:off x="7095744" y="4169664"/>
            <a:ext cx="1664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rolloutドリフト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6729984" y="4489704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1-stepが良くても予測を戻すと誤差が累積</a:t>
            </a:r>
            <a:endParaRPr lang="en-US" sz="870" dirty="0"/>
          </a:p>
        </p:txBody>
      </p:sp>
      <p:sp>
        <p:nvSpPr>
          <p:cNvPr id="79" name="Shape 77"/>
          <p:cNvSpPr/>
          <p:nvPr/>
        </p:nvSpPr>
        <p:spPr>
          <a:xfrm>
            <a:off x="9070848" y="4050792"/>
            <a:ext cx="2350008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070848" y="4050792"/>
            <a:ext cx="50292" cy="932688"/>
          </a:xfrm>
          <a:prstGeom prst="rect">
            <a:avLst/>
          </a:prstGeom>
          <a:solidFill>
            <a:srgbClr val="16A6A0"/>
          </a:solidFill>
          <a:ln w="12700">
            <a:solidFill>
              <a:srgbClr val="16A6A0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217152" y="4215384"/>
            <a:ext cx="292608" cy="292608"/>
          </a:xfrm>
          <a:prstGeom prst="ellipse">
            <a:avLst/>
          </a:prstGeom>
          <a:solidFill>
            <a:srgbClr val="16A6A0"/>
          </a:solidFill>
          <a:ln w="12700">
            <a:solidFill>
              <a:srgbClr val="16A6A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217152" y="42108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</a:t>
            </a:r>
            <a:endParaRPr lang="en-US" sz="1020" dirty="0"/>
          </a:p>
        </p:txBody>
      </p:sp>
      <p:sp>
        <p:nvSpPr>
          <p:cNvPr id="83" name="Text 81"/>
          <p:cNvSpPr/>
          <p:nvPr/>
        </p:nvSpPr>
        <p:spPr>
          <a:xfrm>
            <a:off x="9601200" y="4169664"/>
            <a:ext cx="1664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説明性・実機差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9235440" y="4489704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熱構造が読めず、機差・offset・driftも残る</a:t>
            </a:r>
            <a:endParaRPr lang="en-US" sz="870" dirty="0"/>
          </a:p>
        </p:txBody>
      </p:sp>
      <p:sp>
        <p:nvSpPr>
          <p:cNvPr id="85" name="Shape 83"/>
          <p:cNvSpPr/>
          <p:nvPr/>
        </p:nvSpPr>
        <p:spPr>
          <a:xfrm>
            <a:off x="6565392" y="5321808"/>
            <a:ext cx="4855464" cy="749808"/>
          </a:xfrm>
          <a:prstGeom prst="roundRect">
            <a:avLst>
              <a:gd name="adj" fmla="val 14634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821424" y="5431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2B6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必要な基盤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6821424" y="5660136"/>
            <a:ext cx="4315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高速surrogate  ×  公正なrollout評価  ×  物理診断  ×  実測monitor</a:t>
            </a:r>
            <a:endParaRPr lang="en-US" sz="1130" dirty="0"/>
          </a:p>
        </p:txBody>
      </p:sp>
      <p:sp>
        <p:nvSpPr>
          <p:cNvPr id="88" name="Shape 86"/>
          <p:cNvSpPr/>
          <p:nvPr/>
        </p:nvSpPr>
        <p:spPr>
          <a:xfrm>
            <a:off x="502920" y="6510528"/>
            <a:ext cx="10972800" cy="0"/>
          </a:xfrm>
          <a:prstGeom prst="line">
            <a:avLst/>
          </a:prstGeom>
          <a:noFill/>
          <a:ln w="7620">
            <a:solidFill>
              <a:srgbClr val="DDE4E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02920" y="6556248"/>
            <a:ext cx="10607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Source: dkawa2523/heat_ML · thermal_cell_v6_technical_report.md · synthetic benchmark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9672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94A3B8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F56A3B"/>
          </a:solidFill>
          <a:ln w="12700">
            <a:solidFill>
              <a:srgbClr val="F56A3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56032"/>
            <a:ext cx="1444752" cy="256032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265176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THERMAL CELL / 02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12648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本手法｜ΔT逐次予測を中心に、比較・診断・運用を一本化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521208" y="1060704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8モデルを共通I/Oで比較し、forecast・monitor・残差解析まで同じmodel packageから実行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11155680" cy="576072"/>
          </a:xfrm>
          <a:prstGeom prst="roundRect">
            <a:avLst>
              <a:gd name="adj" fmla="val 19048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5270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2B6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基本更新式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011680" y="1444752"/>
            <a:ext cx="3383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T̂(t+1)  =  T̂(t)  +  ΔT̂(t+1)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5806440" y="1499616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5F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過去8 stepの温度・操作量履歴 → 次時刻の標準化ΔT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313432"/>
            <a:ext cx="1581912" cy="2286000"/>
          </a:xfrm>
          <a:prstGeom prst="roundRect">
            <a:avLst>
              <a:gd name="adj" fmla="val 8671"/>
            </a:avLst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313432"/>
            <a:ext cx="1581912" cy="73152"/>
          </a:xfrm>
          <a:prstGeom prst="rect">
            <a:avLst/>
          </a:prstGeom>
          <a:solidFill>
            <a:srgbClr val="3A6FF7"/>
          </a:solidFill>
          <a:ln w="12700">
            <a:solidFill>
              <a:srgbClr val="3A6FF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" y="2468880"/>
            <a:ext cx="310896" cy="310896"/>
          </a:xfrm>
          <a:prstGeom prst="ellipse">
            <a:avLst/>
          </a:prstGeom>
          <a:solidFill>
            <a:srgbClr val="3A6FF7"/>
          </a:solidFill>
          <a:ln w="12700">
            <a:solidFill>
              <a:srgbClr val="3A6F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2459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7512" y="2880360"/>
            <a:ext cx="1252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CAE CSV</a:t>
            </a:r>
            <a:endParaRPr lang="en-US" sz="1460" dirty="0"/>
          </a:p>
        </p:txBody>
      </p:sp>
      <p:sp>
        <p:nvSpPr>
          <p:cNvPr id="16" name="Text 14"/>
          <p:cNvSpPr/>
          <p:nvPr/>
        </p:nvSpPr>
        <p:spPr>
          <a:xfrm>
            <a:off x="667512" y="3282696"/>
            <a:ext cx="12527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条件trajectory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359152" y="2313432"/>
            <a:ext cx="1627632" cy="2286000"/>
          </a:xfrm>
          <a:prstGeom prst="roundRect">
            <a:avLst>
              <a:gd name="adj" fmla="val 8427"/>
            </a:avLst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59152" y="2313432"/>
            <a:ext cx="1627632" cy="73152"/>
          </a:xfrm>
          <a:prstGeom prst="rect">
            <a:avLst/>
          </a:prstGeom>
          <a:solidFill>
            <a:srgbClr val="16A6A0"/>
          </a:solidFill>
          <a:ln w="12700">
            <a:solidFill>
              <a:srgbClr val="16A6A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05456" y="2468880"/>
            <a:ext cx="310896" cy="310896"/>
          </a:xfrm>
          <a:prstGeom prst="ellipse">
            <a:avLst/>
          </a:prstGeom>
          <a:solidFill>
            <a:srgbClr val="16A6A0"/>
          </a:solidFill>
          <a:ln w="12700">
            <a:solidFill>
              <a:srgbClr val="16A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05456" y="2459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23744" y="288036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分割・前処理</a:t>
            </a:r>
            <a:endParaRPr lang="en-US" sz="1460" dirty="0"/>
          </a:p>
        </p:txBody>
      </p:sp>
      <p:sp>
        <p:nvSpPr>
          <p:cNvPr id="22" name="Text 20"/>
          <p:cNvSpPr/>
          <p:nvPr/>
        </p:nvSpPr>
        <p:spPr>
          <a:xfrm>
            <a:off x="2523744" y="3282696"/>
            <a:ext cx="1298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CSV単位split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trainのみfit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261104" y="2313432"/>
            <a:ext cx="2907792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61104" y="2313432"/>
            <a:ext cx="2907792" cy="73152"/>
          </a:xfrm>
          <a:prstGeom prst="rect">
            <a:avLst/>
          </a:prstGeom>
          <a:solidFill>
            <a:srgbClr val="F56A3B"/>
          </a:solidFill>
          <a:ln w="12700">
            <a:solidFill>
              <a:srgbClr val="F56A3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07408" y="2468880"/>
            <a:ext cx="310896" cy="310896"/>
          </a:xfrm>
          <a:prstGeom prst="ellipse">
            <a:avLst/>
          </a:prstGeom>
          <a:solidFill>
            <a:srgbClr val="F56A3B"/>
          </a:solidFill>
          <a:ln w="12700">
            <a:solidFill>
              <a:srgbClr val="F56A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07408" y="2459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25696" y="288036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モデル比較</a:t>
            </a:r>
            <a:endParaRPr lang="en-US" sz="1460" dirty="0"/>
          </a:p>
        </p:txBody>
      </p:sp>
      <p:sp>
        <p:nvSpPr>
          <p:cNvPr id="28" name="Text 26"/>
          <p:cNvSpPr/>
          <p:nvPr/>
        </p:nvSpPr>
        <p:spPr>
          <a:xfrm>
            <a:off x="4425696" y="3282696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共通 batch → ΔT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443216" y="2313432"/>
            <a:ext cx="1700784" cy="2286000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43216" y="2313432"/>
            <a:ext cx="1700784" cy="73152"/>
          </a:xfrm>
          <a:prstGeom prst="rect">
            <a:avLst/>
          </a:prstGeom>
          <a:solidFill>
            <a:srgbClr val="F2B64B"/>
          </a:solidFill>
          <a:ln w="12700">
            <a:solidFill>
              <a:srgbClr val="F2B64B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89520" y="2468880"/>
            <a:ext cx="310896" cy="310896"/>
          </a:xfrm>
          <a:prstGeom prst="ellipse">
            <a:avLst/>
          </a:prstGeom>
          <a:solidFill>
            <a:srgbClr val="F2B64B"/>
          </a:solidFill>
          <a:ln w="12700">
            <a:solidFill>
              <a:srgbClr val="F2B6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0" y="2459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607808" y="2880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再帰rollout</a:t>
            </a:r>
            <a:endParaRPr lang="en-US" sz="1460" dirty="0"/>
          </a:p>
        </p:txBody>
      </p:sp>
      <p:sp>
        <p:nvSpPr>
          <p:cNvPr id="34" name="Text 32"/>
          <p:cNvSpPr/>
          <p:nvPr/>
        </p:nvSpPr>
        <p:spPr>
          <a:xfrm>
            <a:off x="7607808" y="3282696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予測温度を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次入力へ戻す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418320" y="2313432"/>
            <a:ext cx="2240280" cy="228600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418320" y="2313432"/>
            <a:ext cx="2240280" cy="73152"/>
          </a:xfrm>
          <a:prstGeom prst="rect">
            <a:avLst/>
          </a:prstGeom>
          <a:solidFill>
            <a:srgbClr val="183A5A"/>
          </a:solidFill>
          <a:ln w="12700">
            <a:solidFill>
              <a:srgbClr val="183A5A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64624" y="2468880"/>
            <a:ext cx="310896" cy="310896"/>
          </a:xfrm>
          <a:prstGeom prst="ellipse">
            <a:avLst/>
          </a:prstGeom>
          <a:solidFill>
            <a:srgbClr val="183A5A"/>
          </a:solidFill>
          <a:ln w="12700">
            <a:solidFill>
              <a:srgbClr val="183A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564624" y="2459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582912" y="2880360"/>
            <a:ext cx="1911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利用・監視</a:t>
            </a:r>
            <a:endParaRPr lang="en-US" sz="1460" dirty="0"/>
          </a:p>
        </p:txBody>
      </p:sp>
      <p:sp>
        <p:nvSpPr>
          <p:cNvPr id="40" name="Text 38"/>
          <p:cNvSpPr/>
          <p:nvPr/>
        </p:nvSpPr>
        <p:spPr>
          <a:xfrm>
            <a:off x="9582912" y="3282696"/>
            <a:ext cx="19110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forecast / monitor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residuals / correction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033272" y="3931920"/>
            <a:ext cx="438912" cy="146304"/>
          </a:xfrm>
          <a:prstGeom prst="ellipse">
            <a:avLst/>
          </a:prstGeom>
          <a:solidFill>
            <a:srgbClr val="3A6FF7"/>
          </a:solidFill>
          <a:ln w="5080">
            <a:solidFill>
              <a:srgbClr val="3A6FF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33272" y="4005072"/>
            <a:ext cx="438912" cy="246888"/>
          </a:xfrm>
          <a:prstGeom prst="rect">
            <a:avLst/>
          </a:prstGeom>
          <a:solidFill>
            <a:srgbClr val="3A6FF7">
              <a:alpha val="93000"/>
            </a:srgbClr>
          </a:solidFill>
          <a:ln w="5080">
            <a:solidFill>
              <a:srgbClr val="3A6FF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10800000">
            <a:off x="1033272" y="4169664"/>
            <a:ext cx="438912" cy="146304"/>
          </a:xfrm>
          <a:prstGeom prst="arc">
            <a:avLst/>
          </a:prstGeom>
          <a:solidFill>
            <a:srgbClr val="3A6FF7">
              <a:alpha val="0"/>
            </a:srgbClr>
          </a:solidFill>
          <a:ln w="6350">
            <a:solidFill>
              <a:srgbClr val="FFFFFF">
                <a:alpha val="6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4944" y="4325112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 file = 1 condition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2651760" y="3977640"/>
            <a:ext cx="274320" cy="0"/>
          </a:xfrm>
          <a:prstGeom prst="line">
            <a:avLst/>
          </a:prstGeom>
          <a:noFill/>
          <a:ln w="16510">
            <a:solidFill>
              <a:srgbClr val="16A6A0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3044952" y="3794760"/>
            <a:ext cx="475488" cy="118872"/>
          </a:xfrm>
          <a:prstGeom prst="roundRect">
            <a:avLst>
              <a:gd name="adj" fmla="val 38462"/>
            </a:avLst>
          </a:prstGeom>
          <a:solidFill>
            <a:srgbClr val="2E9B72"/>
          </a:solidFill>
          <a:ln w="12700">
            <a:solidFill>
              <a:srgbClr val="2E9B7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044952" y="3959352"/>
            <a:ext cx="475488" cy="118872"/>
          </a:xfrm>
          <a:prstGeom prst="roundRect">
            <a:avLst>
              <a:gd name="adj" fmla="val 38462"/>
            </a:avLst>
          </a:prstGeom>
          <a:solidFill>
            <a:srgbClr val="F2B64B"/>
          </a:solidFill>
          <a:ln w="12700">
            <a:solidFill>
              <a:srgbClr val="F2B64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044952" y="4123944"/>
            <a:ext cx="475488" cy="118872"/>
          </a:xfrm>
          <a:prstGeom prst="roundRect">
            <a:avLst>
              <a:gd name="adj" fmla="val 38462"/>
            </a:avLst>
          </a:prstGeom>
          <a:solidFill>
            <a:srgbClr val="3A6FF7"/>
          </a:solidFill>
          <a:ln w="12700">
            <a:solidFill>
              <a:srgbClr val="3A6FF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07992" y="3383280"/>
            <a:ext cx="1097280" cy="749808"/>
          </a:xfrm>
          <a:prstGeom prst="roundRect">
            <a:avLst>
              <a:gd name="adj" fmla="val 12195"/>
            </a:avLst>
          </a:prstGeom>
          <a:solidFill>
            <a:srgbClr val="E6EDFF"/>
          </a:solidFill>
          <a:ln w="7620">
            <a:solidFill>
              <a:srgbClr val="B7C9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99432" y="3456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6FF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Sequence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599432" y="37124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33415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LSTM / GRU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33415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CNN / TCN</a:t>
            </a:r>
            <a:endParaRPr lang="en-US" sz="770" dirty="0"/>
          </a:p>
        </p:txBody>
      </p:sp>
      <p:sp>
        <p:nvSpPr>
          <p:cNvPr id="52" name="Shape 50"/>
          <p:cNvSpPr/>
          <p:nvPr/>
        </p:nvSpPr>
        <p:spPr>
          <a:xfrm>
            <a:off x="5815584" y="3383280"/>
            <a:ext cx="1097280" cy="749808"/>
          </a:xfrm>
          <a:prstGeom prst="roundRect">
            <a:avLst>
              <a:gd name="adj" fmla="val 12195"/>
            </a:avLst>
          </a:prstGeom>
          <a:solidFill>
            <a:srgbClr val="FDE7DE"/>
          </a:solidFill>
          <a:ln w="7620">
            <a:solidFill>
              <a:srgbClr val="F6B9A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07024" y="3456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6A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Physics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907024" y="37124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33415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State Space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33415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Graph-RC</a:t>
            </a:r>
            <a:endParaRPr lang="en-US" sz="770" dirty="0"/>
          </a:p>
        </p:txBody>
      </p:sp>
      <p:sp>
        <p:nvSpPr>
          <p:cNvPr id="55" name="Shape 53"/>
          <p:cNvSpPr/>
          <p:nvPr/>
        </p:nvSpPr>
        <p:spPr>
          <a:xfrm>
            <a:off x="5449824" y="3246120"/>
            <a:ext cx="-393192" cy="137160"/>
          </a:xfrm>
          <a:prstGeom prst="line">
            <a:avLst/>
          </a:prstGeom>
          <a:noFill/>
          <a:ln w="11430">
            <a:solidFill>
              <a:srgbClr val="D9E2E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449824" y="3246120"/>
            <a:ext cx="914400" cy="137160"/>
          </a:xfrm>
          <a:prstGeom prst="line">
            <a:avLst/>
          </a:prstGeom>
          <a:noFill/>
          <a:ln w="11430">
            <a:solidFill>
              <a:srgbClr val="D9E2E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918704" y="4164178"/>
            <a:ext cx="228234" cy="-213970"/>
          </a:xfrm>
          <a:prstGeom prst="line">
            <a:avLst/>
          </a:prstGeom>
          <a:noFill/>
          <a:ln w="19050">
            <a:solidFill>
              <a:srgbClr val="F2B64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146938" y="3950208"/>
            <a:ext cx="256764" cy="128382"/>
          </a:xfrm>
          <a:prstGeom prst="line">
            <a:avLst/>
          </a:prstGeom>
          <a:noFill/>
          <a:ln w="19050">
            <a:solidFill>
              <a:srgbClr val="F2B64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403702" y="4078590"/>
            <a:ext cx="156911" cy="-171176"/>
          </a:xfrm>
          <a:prstGeom prst="line">
            <a:avLst/>
          </a:prstGeom>
          <a:noFill/>
          <a:ln w="19050">
            <a:solidFill>
              <a:srgbClr val="F2B64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845552" y="4091026"/>
            <a:ext cx="114117" cy="114117"/>
          </a:xfrm>
          <a:prstGeom prst="ellipse">
            <a:avLst/>
          </a:prstGeom>
          <a:solidFill>
            <a:srgbClr val="F2B64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073786" y="3877056"/>
            <a:ext cx="114117" cy="114117"/>
          </a:xfrm>
          <a:prstGeom prst="ellipse">
            <a:avLst/>
          </a:prstGeom>
          <a:solidFill>
            <a:srgbClr val="F56A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330550" y="4005438"/>
            <a:ext cx="114117" cy="114117"/>
          </a:xfrm>
          <a:prstGeom prst="ellipse">
            <a:avLst/>
          </a:prstGeom>
          <a:solidFill>
            <a:srgbClr val="F2B64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487461" y="3834262"/>
            <a:ext cx="114117" cy="114117"/>
          </a:xfrm>
          <a:prstGeom prst="ellipse">
            <a:avLst/>
          </a:prstGeom>
          <a:solidFill>
            <a:srgbClr val="F2B64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5400000">
            <a:off x="10287000" y="3794760"/>
            <a:ext cx="345643" cy="384048"/>
          </a:xfrm>
          <a:prstGeom prst="homePlate">
            <a:avLst/>
          </a:prstGeom>
          <a:solidFill>
            <a:srgbClr val="FFF3D6"/>
          </a:solidFill>
          <a:ln w="12700">
            <a:solidFill>
              <a:srgbClr val="F2B64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371491" y="3833165"/>
            <a:ext cx="168981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9A67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!</a:t>
            </a:r>
            <a:endParaRPr lang="en-US" sz="1260" dirty="0"/>
          </a:p>
        </p:txBody>
      </p:sp>
      <p:sp>
        <p:nvSpPr>
          <p:cNvPr id="66" name="Shape 64"/>
          <p:cNvSpPr/>
          <p:nvPr/>
        </p:nvSpPr>
        <p:spPr>
          <a:xfrm>
            <a:off x="2103120" y="3474720"/>
            <a:ext cx="219456" cy="0"/>
          </a:xfrm>
          <a:prstGeom prst="line">
            <a:avLst/>
          </a:prstGeom>
          <a:noFill/>
          <a:ln w="20320">
            <a:solidFill>
              <a:srgbClr val="183A5A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4005072" y="3474720"/>
            <a:ext cx="219456" cy="0"/>
          </a:xfrm>
          <a:prstGeom prst="line">
            <a:avLst/>
          </a:prstGeom>
          <a:noFill/>
          <a:ln w="20320">
            <a:solidFill>
              <a:srgbClr val="183A5A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7187184" y="3474720"/>
            <a:ext cx="219456" cy="0"/>
          </a:xfrm>
          <a:prstGeom prst="line">
            <a:avLst/>
          </a:prstGeom>
          <a:noFill/>
          <a:ln w="20320">
            <a:solidFill>
              <a:srgbClr val="183A5A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9162288" y="3474720"/>
            <a:ext cx="219456" cy="0"/>
          </a:xfrm>
          <a:prstGeom prst="line">
            <a:avLst/>
          </a:prstGeom>
          <a:noFill/>
          <a:ln w="20320">
            <a:solidFill>
              <a:srgbClr val="183A5A"/>
            </a:solidFill>
            <a:prstDash val="solid"/>
            <a:tailEnd type="triangle"/>
          </a:ln>
        </p:spPr>
      </p:sp>
      <p:sp>
        <p:nvSpPr>
          <p:cNvPr id="70" name="Text 68"/>
          <p:cNvSpPr/>
          <p:nvPr/>
        </p:nvSpPr>
        <p:spPr>
          <a:xfrm>
            <a:off x="502920" y="4928616"/>
            <a:ext cx="3657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実装を支える3つの原則</a:t>
            </a:r>
            <a:endParaRPr lang="en-US" sz="1460" dirty="0"/>
          </a:p>
        </p:txBody>
      </p:sp>
      <p:sp>
        <p:nvSpPr>
          <p:cNvPr id="71" name="Shape 69"/>
          <p:cNvSpPr/>
          <p:nvPr/>
        </p:nvSpPr>
        <p:spPr>
          <a:xfrm>
            <a:off x="502920" y="5321808"/>
            <a:ext cx="3493008" cy="960120"/>
          </a:xfrm>
          <a:prstGeom prst="roundRect">
            <a:avLst>
              <a:gd name="adj" fmla="val 11429"/>
            </a:avLst>
          </a:prstGeom>
          <a:solidFill>
            <a:srgbClr val="DDF4F2"/>
          </a:solidFill>
          <a:ln w="7620">
            <a:solidFill>
              <a:srgbClr val="16A6A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85800" y="5449824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16A6A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01</a:t>
            </a:r>
            <a:endParaRPr lang="en-US" sz="1850" dirty="0"/>
          </a:p>
        </p:txBody>
      </p:sp>
      <p:sp>
        <p:nvSpPr>
          <p:cNvPr id="73" name="Text 71"/>
          <p:cNvSpPr/>
          <p:nvPr/>
        </p:nvSpPr>
        <p:spPr>
          <a:xfrm>
            <a:off x="1216152" y="542239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trajectory単位で評価</a:t>
            </a:r>
            <a:endParaRPr lang="en-US" sz="1150" dirty="0"/>
          </a:p>
        </p:txBody>
      </p:sp>
      <p:sp>
        <p:nvSpPr>
          <p:cNvPr id="74" name="Text 72"/>
          <p:cNvSpPr/>
          <p:nvPr/>
        </p:nvSpPr>
        <p:spPr>
          <a:xfrm>
            <a:off x="1216152" y="575157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同一CAE曲線由来のリークを防ぐ</a:t>
            </a:r>
            <a:endParaRPr lang="en-US" sz="860" dirty="0"/>
          </a:p>
        </p:txBody>
      </p:sp>
      <p:sp>
        <p:nvSpPr>
          <p:cNvPr id="75" name="Shape 73"/>
          <p:cNvSpPr/>
          <p:nvPr/>
        </p:nvSpPr>
        <p:spPr>
          <a:xfrm>
            <a:off x="4206240" y="5321808"/>
            <a:ext cx="3493008" cy="960120"/>
          </a:xfrm>
          <a:prstGeom prst="roundRect">
            <a:avLst>
              <a:gd name="adj" fmla="val 11429"/>
            </a:avLst>
          </a:prstGeom>
          <a:solidFill>
            <a:srgbClr val="E6EDFF"/>
          </a:solidFill>
          <a:ln w="7620">
            <a:solidFill>
              <a:srgbClr val="3A6FF7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389120" y="5449824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3A6FF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02</a:t>
            </a:r>
            <a:endParaRPr lang="en-US" sz="1850" dirty="0"/>
          </a:p>
        </p:txBody>
      </p:sp>
      <p:sp>
        <p:nvSpPr>
          <p:cNvPr id="77" name="Text 75"/>
          <p:cNvSpPr/>
          <p:nvPr/>
        </p:nvSpPr>
        <p:spPr>
          <a:xfrm>
            <a:off x="4919472" y="542239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モデル共通I/O</a:t>
            </a:r>
            <a:endParaRPr lang="en-US" sz="1150" dirty="0"/>
          </a:p>
        </p:txBody>
      </p:sp>
      <p:sp>
        <p:nvSpPr>
          <p:cNvPr id="78" name="Text 76"/>
          <p:cNvSpPr/>
          <p:nvPr/>
        </p:nvSpPr>
        <p:spPr>
          <a:xfrm>
            <a:off x="4919472" y="575157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8モデルを同じ学習・rollout・比較処理へ</a:t>
            </a:r>
            <a:endParaRPr lang="en-US" sz="860" dirty="0"/>
          </a:p>
        </p:txBody>
      </p:sp>
      <p:sp>
        <p:nvSpPr>
          <p:cNvPr id="79" name="Shape 77"/>
          <p:cNvSpPr/>
          <p:nvPr/>
        </p:nvSpPr>
        <p:spPr>
          <a:xfrm>
            <a:off x="7909560" y="5321808"/>
            <a:ext cx="3493008" cy="960120"/>
          </a:xfrm>
          <a:prstGeom prst="roundRect">
            <a:avLst>
              <a:gd name="adj" fmla="val 11429"/>
            </a:avLst>
          </a:prstGeom>
          <a:solidFill>
            <a:srgbClr val="FDE7DE"/>
          </a:solidFill>
          <a:ln w="7620">
            <a:solidFill>
              <a:srgbClr val="F56A3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092440" y="5449824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F56A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03</a:t>
            </a:r>
            <a:endParaRPr lang="en-US" sz="1850" dirty="0"/>
          </a:p>
        </p:txBody>
      </p:sp>
      <p:sp>
        <p:nvSpPr>
          <p:cNvPr id="81" name="Text 79"/>
          <p:cNvSpPr/>
          <p:nvPr/>
        </p:nvSpPr>
        <p:spPr>
          <a:xfrm>
            <a:off x="8622792" y="542239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CAEを壊さない弱補正</a:t>
            </a:r>
            <a:endParaRPr lang="en-US" sz="1150" dirty="0"/>
          </a:p>
        </p:txBody>
      </p:sp>
      <p:sp>
        <p:nvSpPr>
          <p:cNvPr id="82" name="Text 80"/>
          <p:cNvSpPr/>
          <p:nvPr/>
        </p:nvSpPr>
        <p:spPr>
          <a:xfrm>
            <a:off x="8622792" y="575157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offset / EMAをclampし、base予測も保存</a:t>
            </a:r>
            <a:endParaRPr lang="en-US" sz="860" dirty="0"/>
          </a:p>
        </p:txBody>
      </p:sp>
      <p:sp>
        <p:nvSpPr>
          <p:cNvPr id="83" name="Shape 81"/>
          <p:cNvSpPr/>
          <p:nvPr/>
        </p:nvSpPr>
        <p:spPr>
          <a:xfrm>
            <a:off x="502920" y="6510528"/>
            <a:ext cx="10972800" cy="0"/>
          </a:xfrm>
          <a:prstGeom prst="line">
            <a:avLst/>
          </a:prstGeom>
          <a:noFill/>
          <a:ln w="7620">
            <a:solidFill>
              <a:srgbClr val="DDE4E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02920" y="6556248"/>
            <a:ext cx="10607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Source: dkawa2523/heat_ML · thermal_cell_v6_technical_report.md · synthetic benchmark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9672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94A3B8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F56A3B"/>
          </a:solidFill>
          <a:ln w="12700">
            <a:solidFill>
              <a:srgbClr val="F56A3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56032"/>
            <a:ext cx="1444752" cy="256032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265176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THERMAL CELL / 03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12648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課題に対する本手法の効果｜誤用を防ぎ、判断可能な成果物へ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521208" y="1060704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コード上の仕組みと、第三者が得られる実務上の効果を対応付ける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399032"/>
            <a:ext cx="2816352" cy="475488"/>
          </a:xfrm>
          <a:prstGeom prst="rect">
            <a:avLst/>
          </a:prstGeom>
          <a:solidFill>
            <a:srgbClr val="0B1F33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472184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従来課題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19272" y="1399032"/>
            <a:ext cx="4178808" cy="475488"/>
          </a:xfrm>
          <a:prstGeom prst="rect">
            <a:avLst/>
          </a:prstGeom>
          <a:solidFill>
            <a:srgbClr val="183A5A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83864" y="1472184"/>
            <a:ext cx="3849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コード上の仕組み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98080" y="1399032"/>
            <a:ext cx="4160520" cy="475488"/>
          </a:xfrm>
          <a:prstGeom prst="rect">
            <a:avLst/>
          </a:prstGeom>
          <a:solidFill>
            <a:srgbClr val="244E6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62672" y="1472184"/>
            <a:ext cx="3831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得られる効果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1874520"/>
            <a:ext cx="2816352" cy="941832"/>
          </a:xfrm>
          <a:prstGeom prst="rect">
            <a:avLst/>
          </a:prstGeom>
          <a:solidFill>
            <a:srgbClr val="FFFFFF"/>
          </a:solidFill>
          <a:ln w="6985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19272" y="1874520"/>
            <a:ext cx="4178808" cy="941832"/>
          </a:xfrm>
          <a:prstGeom prst="rect">
            <a:avLst/>
          </a:prstGeom>
          <a:solidFill>
            <a:srgbClr val="FFFFFF"/>
          </a:solidFill>
          <a:ln w="6985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0" y="1874520"/>
            <a:ext cx="4160520" cy="941832"/>
          </a:xfrm>
          <a:prstGeom prst="rect">
            <a:avLst/>
          </a:prstGeom>
          <a:solidFill>
            <a:srgbClr val="FFFFFF"/>
          </a:solidFill>
          <a:ln w="6985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1874520"/>
            <a:ext cx="54864" cy="941832"/>
          </a:xfrm>
          <a:prstGeom prst="rect">
            <a:avLst/>
          </a:prstGeom>
          <a:solidFill>
            <a:srgbClr val="3A6FF7"/>
          </a:solidFill>
          <a:ln w="12700">
            <a:solidFill>
              <a:srgbClr val="3A6FF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" y="2057400"/>
            <a:ext cx="256032" cy="256032"/>
          </a:xfrm>
          <a:prstGeom prst="ellipse">
            <a:avLst/>
          </a:prstGeom>
          <a:solidFill>
            <a:srgbClr val="3A6FF7"/>
          </a:solidFill>
          <a:ln w="12700">
            <a:solidFill>
              <a:srgbClr val="3A6F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2048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3272" y="1993392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データリーク</a:t>
            </a:r>
            <a:endParaRPr lang="en-US" sz="1160" dirty="0"/>
          </a:p>
        </p:txBody>
      </p:sp>
      <p:sp>
        <p:nvSpPr>
          <p:cNvPr id="20" name="Text 18"/>
          <p:cNvSpPr/>
          <p:nvPr/>
        </p:nvSpPr>
        <p:spPr>
          <a:xfrm>
            <a:off x="685800" y="2322576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時刻行をランダム分割すると未知条件性能を過大評価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3520440" y="1984248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CSVファイル単位 split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3520440" y="2340864"/>
            <a:ext cx="3776472" cy="256032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93592" y="2350008"/>
            <a:ext cx="3630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`split_cases()` / trainデータのみで標準化fit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699248" y="1984248"/>
            <a:ext cx="3758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3A6FF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未知条件を公正に評価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7699248" y="2322576"/>
            <a:ext cx="37581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trajectoryを丸ごとtrain / val / testへ割り当て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502920" y="2816352"/>
            <a:ext cx="2816352" cy="941832"/>
          </a:xfrm>
          <a:prstGeom prst="rect">
            <a:avLst/>
          </a:prstGeom>
          <a:solidFill>
            <a:srgbClr val="FAFBFC"/>
          </a:solidFill>
          <a:ln w="6985">
            <a:solidFill>
              <a:srgbClr val="D9E2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19272" y="2816352"/>
            <a:ext cx="4178808" cy="941832"/>
          </a:xfrm>
          <a:prstGeom prst="rect">
            <a:avLst/>
          </a:prstGeom>
          <a:solidFill>
            <a:srgbClr val="FAFBFC"/>
          </a:solidFill>
          <a:ln w="6985">
            <a:solidFill>
              <a:srgbClr val="D9E2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0" y="2816352"/>
            <a:ext cx="4160520" cy="941832"/>
          </a:xfrm>
          <a:prstGeom prst="rect">
            <a:avLst/>
          </a:prstGeom>
          <a:solidFill>
            <a:srgbClr val="FAFBFC"/>
          </a:solidFill>
          <a:ln w="6985">
            <a:solidFill>
              <a:srgbClr val="D9E2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2816352"/>
            <a:ext cx="54864" cy="941832"/>
          </a:xfrm>
          <a:prstGeom prst="rect">
            <a:avLst/>
          </a:prstGeom>
          <a:solidFill>
            <a:srgbClr val="F2B64B"/>
          </a:solidFill>
          <a:ln w="12700">
            <a:solidFill>
              <a:srgbClr val="F2B64B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7512" y="2999232"/>
            <a:ext cx="256032" cy="256032"/>
          </a:xfrm>
          <a:prstGeom prst="ellipse">
            <a:avLst/>
          </a:prstGeom>
          <a:solidFill>
            <a:srgbClr val="F2B64B"/>
          </a:solidFill>
          <a:ln w="12700">
            <a:solidFill>
              <a:srgbClr val="F2B6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" y="2990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33272" y="2935224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1-stepと実運用の乖離</a:t>
            </a:r>
            <a:endParaRPr lang="en-US" sz="1160" dirty="0"/>
          </a:p>
        </p:txBody>
      </p:sp>
      <p:sp>
        <p:nvSpPr>
          <p:cNvPr id="33" name="Text 31"/>
          <p:cNvSpPr/>
          <p:nvPr/>
        </p:nvSpPr>
        <p:spPr>
          <a:xfrm>
            <a:off x="685800" y="3264408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予測を次入力へ戻すと誤差が蓄積</a:t>
            </a:r>
            <a:endParaRPr lang="en-US" sz="840" dirty="0"/>
          </a:p>
        </p:txBody>
      </p:sp>
      <p:sp>
        <p:nvSpPr>
          <p:cNvPr id="34" name="Text 32"/>
          <p:cNvSpPr/>
          <p:nvPr/>
        </p:nvSpPr>
        <p:spPr>
          <a:xfrm>
            <a:off x="3520440" y="2926080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recursive rollout + optional rollout loss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3520440" y="3282696"/>
            <a:ext cx="3776472" cy="256032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93592" y="3291840"/>
            <a:ext cx="3630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RMSE / endpoint / max / horizonを出力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699248" y="2926080"/>
            <a:ext cx="3758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2B6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長時間のドリフトを見逃さない</a:t>
            </a:r>
            <a:endParaRPr lang="en-US" sz="1120" dirty="0"/>
          </a:p>
        </p:txBody>
      </p:sp>
      <p:sp>
        <p:nvSpPr>
          <p:cNvPr id="38" name="Text 36"/>
          <p:cNvSpPr/>
          <p:nvPr/>
        </p:nvSpPr>
        <p:spPr>
          <a:xfrm>
            <a:off x="7699248" y="3264408"/>
            <a:ext cx="37581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平均値だけでなく時間方向・最大逸脱も確認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502920" y="3758184"/>
            <a:ext cx="2816352" cy="941832"/>
          </a:xfrm>
          <a:prstGeom prst="rect">
            <a:avLst/>
          </a:prstGeom>
          <a:solidFill>
            <a:srgbClr val="FFFFFF"/>
          </a:solidFill>
          <a:ln w="6985">
            <a:solidFill>
              <a:srgbClr val="D9E2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19272" y="3758184"/>
            <a:ext cx="4178808" cy="941832"/>
          </a:xfrm>
          <a:prstGeom prst="rect">
            <a:avLst/>
          </a:prstGeom>
          <a:solidFill>
            <a:srgbClr val="FFFFFF"/>
          </a:solidFill>
          <a:ln w="6985">
            <a:solidFill>
              <a:srgbClr val="D9E2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98080" y="3758184"/>
            <a:ext cx="4160520" cy="941832"/>
          </a:xfrm>
          <a:prstGeom prst="rect">
            <a:avLst/>
          </a:prstGeom>
          <a:solidFill>
            <a:srgbClr val="FFFFFF"/>
          </a:solidFill>
          <a:ln w="6985">
            <a:solidFill>
              <a:srgbClr val="D9E2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3758184"/>
            <a:ext cx="54864" cy="941832"/>
          </a:xfrm>
          <a:prstGeom prst="rect">
            <a:avLst/>
          </a:prstGeom>
          <a:solidFill>
            <a:srgbClr val="F56A3B"/>
          </a:solidFill>
          <a:ln w="12700">
            <a:solidFill>
              <a:srgbClr val="F56A3B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7512" y="3941064"/>
            <a:ext cx="256032" cy="256032"/>
          </a:xfrm>
          <a:prstGeom prst="ellipse">
            <a:avLst/>
          </a:prstGeom>
          <a:solidFill>
            <a:srgbClr val="F56A3B"/>
          </a:solidFill>
          <a:ln w="12700">
            <a:solidFill>
              <a:srgbClr val="F56A3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7512" y="3931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33272" y="3877056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ブラックボックス</a:t>
            </a:r>
            <a:endParaRPr lang="en-US" sz="1160" dirty="0"/>
          </a:p>
        </p:txBody>
      </p:sp>
      <p:sp>
        <p:nvSpPr>
          <p:cNvPr id="46" name="Text 44"/>
          <p:cNvSpPr/>
          <p:nvPr/>
        </p:nvSpPr>
        <p:spPr>
          <a:xfrm>
            <a:off x="685800" y="4206240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精度が出ても熱抵抗や空間バランスを説明しにくい</a:t>
            </a:r>
            <a:endParaRPr lang="en-US" sz="840" dirty="0"/>
          </a:p>
        </p:txBody>
      </p:sp>
      <p:sp>
        <p:nvSpPr>
          <p:cNvPr id="47" name="Text 45"/>
          <p:cNvSpPr/>
          <p:nvPr/>
        </p:nvSpPr>
        <p:spPr>
          <a:xfrm>
            <a:off x="3520440" y="3867912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Graph-RC + conductance prior</a:t>
            </a:r>
            <a:endParaRPr lang="en-US" sz="1120" dirty="0"/>
          </a:p>
        </p:txBody>
      </p:sp>
      <p:sp>
        <p:nvSpPr>
          <p:cNvPr id="48" name="Shape 46"/>
          <p:cNvSpPr/>
          <p:nvPr/>
        </p:nvSpPr>
        <p:spPr>
          <a:xfrm>
            <a:off x="3520440" y="4224528"/>
            <a:ext cx="3776472" cy="256032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93592" y="4233672"/>
            <a:ext cx="3630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node / edge表、learned/prior比、source weight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699248" y="3867912"/>
            <a:ext cx="3758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56A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熱設計仮説を診断</a:t>
            </a:r>
            <a:endParaRPr lang="en-US" sz="1120" dirty="0"/>
          </a:p>
        </p:txBody>
      </p:sp>
      <p:sp>
        <p:nvSpPr>
          <p:cNvPr id="51" name="Text 49"/>
          <p:cNvSpPr/>
          <p:nvPr/>
        </p:nvSpPr>
        <p:spPr>
          <a:xfrm>
            <a:off x="7699248" y="4206240"/>
            <a:ext cx="37581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「予測器」と「説明・診断器」を分けて採用可能</a:t>
            </a:r>
            <a:endParaRPr lang="en-US" sz="840" dirty="0"/>
          </a:p>
        </p:txBody>
      </p:sp>
      <p:sp>
        <p:nvSpPr>
          <p:cNvPr id="52" name="Shape 50"/>
          <p:cNvSpPr/>
          <p:nvPr/>
        </p:nvSpPr>
        <p:spPr>
          <a:xfrm>
            <a:off x="502920" y="4700016"/>
            <a:ext cx="2816352" cy="941832"/>
          </a:xfrm>
          <a:prstGeom prst="rect">
            <a:avLst/>
          </a:prstGeom>
          <a:solidFill>
            <a:srgbClr val="FAFBFC"/>
          </a:solidFill>
          <a:ln w="6985">
            <a:solidFill>
              <a:srgbClr val="D9E2E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319272" y="4700016"/>
            <a:ext cx="4178808" cy="941832"/>
          </a:xfrm>
          <a:prstGeom prst="rect">
            <a:avLst/>
          </a:prstGeom>
          <a:solidFill>
            <a:srgbClr val="FAFBFC"/>
          </a:solidFill>
          <a:ln w="6985">
            <a:solidFill>
              <a:srgbClr val="D9E2E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498080" y="4700016"/>
            <a:ext cx="4160520" cy="941832"/>
          </a:xfrm>
          <a:prstGeom prst="rect">
            <a:avLst/>
          </a:prstGeom>
          <a:solidFill>
            <a:srgbClr val="FAFBFC"/>
          </a:solidFill>
          <a:ln w="6985">
            <a:solidFill>
              <a:srgbClr val="D9E2E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02920" y="4700016"/>
            <a:ext cx="54864" cy="941832"/>
          </a:xfrm>
          <a:prstGeom prst="rect">
            <a:avLst/>
          </a:prstGeom>
          <a:solidFill>
            <a:srgbClr val="16A6A0"/>
          </a:solidFill>
          <a:ln w="12700">
            <a:solidFill>
              <a:srgbClr val="16A6A0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67512" y="4882896"/>
            <a:ext cx="256032" cy="256032"/>
          </a:xfrm>
          <a:prstGeom prst="ellipse">
            <a:avLst/>
          </a:prstGeom>
          <a:solidFill>
            <a:srgbClr val="16A6A0"/>
          </a:solidFill>
          <a:ln w="12700">
            <a:solidFill>
              <a:srgbClr val="16A6A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7512" y="4873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33272" y="4818888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機差・offset・slow drift</a:t>
            </a:r>
            <a:endParaRPr lang="en-US" sz="1160" dirty="0"/>
          </a:p>
        </p:txBody>
      </p:sp>
      <p:sp>
        <p:nvSpPr>
          <p:cNvPr id="59" name="Text 57"/>
          <p:cNvSpPr/>
          <p:nvPr/>
        </p:nvSpPr>
        <p:spPr>
          <a:xfrm>
            <a:off x="685800" y="5148072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実測との差を主モデルへ混ぜるとCAEの意味が崩れる</a:t>
            </a:r>
            <a:endParaRPr lang="en-US" sz="840" dirty="0"/>
          </a:p>
        </p:txBody>
      </p:sp>
      <p:sp>
        <p:nvSpPr>
          <p:cNvPr id="60" name="Text 58"/>
          <p:cNvSpPr/>
          <p:nvPr/>
        </p:nvSpPr>
        <p:spPr>
          <a:xfrm>
            <a:off x="3520440" y="4809744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monitor / residual long / 弱補正</a:t>
            </a:r>
            <a:endParaRPr lang="en-US" sz="1120" dirty="0"/>
          </a:p>
        </p:txBody>
      </p:sp>
      <p:sp>
        <p:nvSpPr>
          <p:cNvPr id="61" name="Shape 59"/>
          <p:cNvSpPr/>
          <p:nvPr/>
        </p:nvSpPr>
        <p:spPr>
          <a:xfrm>
            <a:off x="3520440" y="5166360"/>
            <a:ext cx="3776472" cy="256032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593592" y="5175504"/>
            <a:ext cx="3630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offset・EMAをclamp、base / finalを併記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7699248" y="4809744"/>
            <a:ext cx="3758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A6A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補正の採否まで判断</a:t>
            </a:r>
            <a:endParaRPr lang="en-US" sz="1120" dirty="0"/>
          </a:p>
        </p:txBody>
      </p:sp>
      <p:sp>
        <p:nvSpPr>
          <p:cNvPr id="64" name="Text 62"/>
          <p:cNvSpPr/>
          <p:nvPr/>
        </p:nvSpPr>
        <p:spPr>
          <a:xfrm>
            <a:off x="7699248" y="5148072"/>
            <a:ext cx="37581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効かなかった補正も可視化し、過信を防ぐ</a:t>
            </a:r>
            <a:endParaRPr lang="en-US" sz="840" dirty="0"/>
          </a:p>
        </p:txBody>
      </p:sp>
      <p:sp>
        <p:nvSpPr>
          <p:cNvPr id="65" name="Text 63"/>
          <p:cNvSpPr/>
          <p:nvPr/>
        </p:nvSpPr>
        <p:spPr>
          <a:xfrm>
            <a:off x="502920" y="577900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同じworkflowから得られる意思決定の視点</a:t>
            </a:r>
            <a:endParaRPr lang="en-US" sz="1360" dirty="0"/>
          </a:p>
        </p:txBody>
      </p:sp>
      <p:sp>
        <p:nvSpPr>
          <p:cNvPr id="66" name="Shape 64"/>
          <p:cNvSpPr/>
          <p:nvPr/>
        </p:nvSpPr>
        <p:spPr>
          <a:xfrm>
            <a:off x="4645152" y="5532120"/>
            <a:ext cx="2148840" cy="758952"/>
          </a:xfrm>
          <a:prstGeom prst="roundRect">
            <a:avLst>
              <a:gd name="adj" fmla="val 14458"/>
            </a:avLst>
          </a:prstGeom>
          <a:solidFill>
            <a:srgbClr val="E6EDFF"/>
          </a:solidFill>
          <a:ln w="6985">
            <a:solidFill>
              <a:srgbClr val="3A6FF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91456" y="557784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A6FF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</a:t>
            </a:r>
            <a:endParaRPr lang="en-US" sz="2400" dirty="0"/>
          </a:p>
        </p:txBody>
      </p:sp>
      <p:sp>
        <p:nvSpPr>
          <p:cNvPr id="68" name="Text 66"/>
          <p:cNvSpPr/>
          <p:nvPr/>
        </p:nvSpPr>
        <p:spPr>
          <a:xfrm>
            <a:off x="5330952" y="560527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5330952" y="585216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同一データ・同一評価で比較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6995160" y="5532120"/>
            <a:ext cx="2148840" cy="758952"/>
          </a:xfrm>
          <a:prstGeom prst="roundRect">
            <a:avLst>
              <a:gd name="adj" fmla="val 14458"/>
            </a:avLst>
          </a:prstGeom>
          <a:solidFill>
            <a:srgbClr val="FFF3D6"/>
          </a:solidFill>
          <a:ln w="6985">
            <a:solidFill>
              <a:srgbClr val="A96E0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141464" y="557784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96E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</a:t>
            </a:r>
            <a:endParaRPr lang="en-US" sz="2400" dirty="0"/>
          </a:p>
        </p:txBody>
      </p:sp>
      <p:sp>
        <p:nvSpPr>
          <p:cNvPr id="72" name="Text 70"/>
          <p:cNvSpPr/>
          <p:nvPr/>
        </p:nvSpPr>
        <p:spPr>
          <a:xfrm>
            <a:off x="7680960" y="560527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誤差軸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7680960" y="585216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case / sensor / horizon / endpoint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9345168" y="5532120"/>
            <a:ext cx="2148840" cy="758952"/>
          </a:xfrm>
          <a:prstGeom prst="roundRect">
            <a:avLst>
              <a:gd name="adj" fmla="val 14458"/>
            </a:avLst>
          </a:prstGeom>
          <a:solidFill>
            <a:srgbClr val="DDF4F2"/>
          </a:solidFill>
          <a:ln w="6985">
            <a:solidFill>
              <a:srgbClr val="16A6A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491472" y="557784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A6A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2400" dirty="0"/>
          </a:p>
        </p:txBody>
      </p:sp>
      <p:sp>
        <p:nvSpPr>
          <p:cNvPr id="76" name="Text 74"/>
          <p:cNvSpPr/>
          <p:nvPr/>
        </p:nvSpPr>
        <p:spPr>
          <a:xfrm>
            <a:off x="10030968" y="560527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運用mode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10030968" y="585216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forecast / monitor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502920" y="6510528"/>
            <a:ext cx="10972800" cy="0"/>
          </a:xfrm>
          <a:prstGeom prst="line">
            <a:avLst/>
          </a:prstGeom>
          <a:noFill/>
          <a:ln w="7620">
            <a:solidFill>
              <a:srgbClr val="DDE4E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02920" y="6556248"/>
            <a:ext cx="10607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Source: dkawa2523/heat_ML · thermal_cell_v6_technical_report.md · synthetic benchmark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9672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94A3B8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F56A3B"/>
          </a:solidFill>
          <a:ln w="12700">
            <a:solidFill>
              <a:srgbClr val="F56A3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56032"/>
            <a:ext cx="1444752" cy="256032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265176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THERMAL CELL / 04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12648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ベンチマーク問題設定｜TopCell-ICP-Thermal Benchmark v0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521208" y="1060704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物理風の合成CAEデータで、補間・外挿・動的schedule・3点運用・monitorを切り分けて評価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362456"/>
            <a:ext cx="3794760" cy="4892040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データ構成</a:t>
            </a:r>
            <a:endParaRPr lang="en-US" sz="1530" dirty="0"/>
          </a:p>
        </p:txBody>
      </p:sp>
      <p:sp>
        <p:nvSpPr>
          <p:cNvPr id="9" name="Text 7"/>
          <p:cNvSpPr/>
          <p:nvPr/>
        </p:nvSpPr>
        <p:spPr>
          <a:xfrm>
            <a:off x="758952" y="1874520"/>
            <a:ext cx="1280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56A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208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874520" y="209397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trajectories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" y="2523744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192 定数条件  +  16 動的条件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" y="288036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 brine × 4 heater × 4 plasma × 3 initial states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960120" y="3319272"/>
            <a:ext cx="201168" cy="201168"/>
          </a:xfrm>
          <a:prstGeom prst="rect">
            <a:avLst/>
          </a:prstGeom>
          <a:solidFill>
            <a:srgbClr val="E8EEF5"/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71016" y="3319272"/>
            <a:ext cx="201168" cy="201168"/>
          </a:xfrm>
          <a:prstGeom prst="rect">
            <a:avLst/>
          </a:prstGeom>
          <a:solidFill>
            <a:srgbClr val="E8EEF5"/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912" y="3319272"/>
            <a:ext cx="201168" cy="201168"/>
          </a:xfrm>
          <a:prstGeom prst="rect">
            <a:avLst/>
          </a:prstGeom>
          <a:solidFill>
            <a:srgbClr val="E8EEF5"/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92808" y="3319272"/>
            <a:ext cx="201168" cy="201168"/>
          </a:xfrm>
          <a:prstGeom prst="rect">
            <a:avLst/>
          </a:prstGeom>
          <a:solidFill>
            <a:srgbClr val="E8EEF5"/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3630168"/>
            <a:ext cx="201168" cy="201168"/>
          </a:xfrm>
          <a:prstGeom prst="rect">
            <a:avLst/>
          </a:prstGeom>
          <a:solidFill>
            <a:srgbClr val="E8EEF5"/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71016" y="3630168"/>
            <a:ext cx="201168" cy="201168"/>
          </a:xfrm>
          <a:prstGeom prst="rect">
            <a:avLst/>
          </a:prstGeom>
          <a:solidFill>
            <a:srgbClr val="E8EEF5"/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912" y="3630168"/>
            <a:ext cx="201168" cy="201168"/>
          </a:xfrm>
          <a:prstGeom prst="rect">
            <a:avLst/>
          </a:prstGeom>
          <a:solidFill>
            <a:srgbClr val="E8EEF5"/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92808" y="3630168"/>
            <a:ext cx="201168" cy="201168"/>
          </a:xfrm>
          <a:prstGeom prst="rect">
            <a:avLst/>
          </a:prstGeom>
          <a:solidFill>
            <a:srgbClr val="E8EEF5"/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3941064"/>
            <a:ext cx="201168" cy="201168"/>
          </a:xfrm>
          <a:prstGeom prst="rect">
            <a:avLst/>
          </a:prstGeom>
          <a:solidFill>
            <a:srgbClr val="E8EEF5"/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71016" y="3941064"/>
            <a:ext cx="201168" cy="201168"/>
          </a:xfrm>
          <a:prstGeom prst="rect">
            <a:avLst/>
          </a:prstGeom>
          <a:solidFill>
            <a:srgbClr val="E8EEF5"/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81912" y="3941064"/>
            <a:ext cx="201168" cy="201168"/>
          </a:xfrm>
          <a:prstGeom prst="rect">
            <a:avLst/>
          </a:prstGeom>
          <a:solidFill>
            <a:srgbClr val="E8EEF5"/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92808" y="3941064"/>
            <a:ext cx="201168" cy="201168"/>
          </a:xfrm>
          <a:prstGeom prst="rect">
            <a:avLst/>
          </a:prstGeom>
          <a:solidFill>
            <a:srgbClr val="E8EEF5"/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0120" y="4251960"/>
            <a:ext cx="201168" cy="201168"/>
          </a:xfrm>
          <a:prstGeom prst="rect">
            <a:avLst/>
          </a:prstGeom>
          <a:solidFill>
            <a:srgbClr val="E8EEF5"/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71016" y="4251960"/>
            <a:ext cx="201168" cy="201168"/>
          </a:xfrm>
          <a:prstGeom prst="rect">
            <a:avLst/>
          </a:prstGeom>
          <a:solidFill>
            <a:srgbClr val="E8EEF5"/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81912" y="4251960"/>
            <a:ext cx="201168" cy="201168"/>
          </a:xfrm>
          <a:prstGeom prst="rect">
            <a:avLst/>
          </a:prstGeom>
          <a:solidFill>
            <a:srgbClr val="E8EEF5"/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92808" y="4251960"/>
            <a:ext cx="201168" cy="201168"/>
          </a:xfrm>
          <a:prstGeom prst="rect">
            <a:avLst/>
          </a:prstGeom>
          <a:solidFill>
            <a:srgbClr val="E8EEF5"/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24712" y="3218688"/>
            <a:ext cx="201168" cy="201168"/>
          </a:xfrm>
          <a:prstGeom prst="rect">
            <a:avLst/>
          </a:prstGeom>
          <a:solidFill>
            <a:srgbClr val="E8EEF5">
              <a:alpha val="94000"/>
            </a:srgbClr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435608" y="3218688"/>
            <a:ext cx="201168" cy="201168"/>
          </a:xfrm>
          <a:prstGeom prst="rect">
            <a:avLst/>
          </a:prstGeom>
          <a:solidFill>
            <a:srgbClr val="E8EEF5">
              <a:alpha val="94000"/>
            </a:srgbClr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746504" y="3218688"/>
            <a:ext cx="201168" cy="201168"/>
          </a:xfrm>
          <a:prstGeom prst="rect">
            <a:avLst/>
          </a:prstGeom>
          <a:solidFill>
            <a:srgbClr val="E8EEF5">
              <a:alpha val="94000"/>
            </a:srgbClr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57400" y="3218688"/>
            <a:ext cx="201168" cy="201168"/>
          </a:xfrm>
          <a:prstGeom prst="rect">
            <a:avLst/>
          </a:prstGeom>
          <a:solidFill>
            <a:srgbClr val="E8EEF5">
              <a:alpha val="94000"/>
            </a:srgbClr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24712" y="3529584"/>
            <a:ext cx="201168" cy="201168"/>
          </a:xfrm>
          <a:prstGeom prst="rect">
            <a:avLst/>
          </a:prstGeom>
          <a:solidFill>
            <a:srgbClr val="E8EEF5">
              <a:alpha val="94000"/>
            </a:srgbClr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435608" y="3529584"/>
            <a:ext cx="201168" cy="201168"/>
          </a:xfrm>
          <a:prstGeom prst="rect">
            <a:avLst/>
          </a:prstGeom>
          <a:solidFill>
            <a:srgbClr val="E8EEF5">
              <a:alpha val="94000"/>
            </a:srgbClr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746504" y="3529584"/>
            <a:ext cx="201168" cy="201168"/>
          </a:xfrm>
          <a:prstGeom prst="rect">
            <a:avLst/>
          </a:prstGeom>
          <a:solidFill>
            <a:srgbClr val="E8EEF5">
              <a:alpha val="94000"/>
            </a:srgbClr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57400" y="3529584"/>
            <a:ext cx="201168" cy="201168"/>
          </a:xfrm>
          <a:prstGeom prst="rect">
            <a:avLst/>
          </a:prstGeom>
          <a:solidFill>
            <a:srgbClr val="E8EEF5">
              <a:alpha val="94000"/>
            </a:srgbClr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24712" y="3840480"/>
            <a:ext cx="201168" cy="201168"/>
          </a:xfrm>
          <a:prstGeom prst="rect">
            <a:avLst/>
          </a:prstGeom>
          <a:solidFill>
            <a:srgbClr val="E8EEF5">
              <a:alpha val="94000"/>
            </a:srgbClr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35608" y="3840480"/>
            <a:ext cx="201168" cy="201168"/>
          </a:xfrm>
          <a:prstGeom prst="rect">
            <a:avLst/>
          </a:prstGeom>
          <a:solidFill>
            <a:srgbClr val="E8EEF5">
              <a:alpha val="94000"/>
            </a:srgbClr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46504" y="3840480"/>
            <a:ext cx="201168" cy="201168"/>
          </a:xfrm>
          <a:prstGeom prst="rect">
            <a:avLst/>
          </a:prstGeom>
          <a:solidFill>
            <a:srgbClr val="E8EEF5">
              <a:alpha val="94000"/>
            </a:srgbClr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057400" y="3840480"/>
            <a:ext cx="201168" cy="201168"/>
          </a:xfrm>
          <a:prstGeom prst="rect">
            <a:avLst/>
          </a:prstGeom>
          <a:solidFill>
            <a:srgbClr val="E8EEF5">
              <a:alpha val="94000"/>
            </a:srgbClr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24712" y="4151376"/>
            <a:ext cx="201168" cy="201168"/>
          </a:xfrm>
          <a:prstGeom prst="rect">
            <a:avLst/>
          </a:prstGeom>
          <a:solidFill>
            <a:srgbClr val="E8EEF5">
              <a:alpha val="94000"/>
            </a:srgbClr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35608" y="4151376"/>
            <a:ext cx="201168" cy="201168"/>
          </a:xfrm>
          <a:prstGeom prst="rect">
            <a:avLst/>
          </a:prstGeom>
          <a:solidFill>
            <a:srgbClr val="E8EEF5">
              <a:alpha val="94000"/>
            </a:srgbClr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46504" y="4151376"/>
            <a:ext cx="201168" cy="201168"/>
          </a:xfrm>
          <a:prstGeom prst="rect">
            <a:avLst/>
          </a:prstGeom>
          <a:solidFill>
            <a:srgbClr val="E8EEF5">
              <a:alpha val="94000"/>
            </a:srgbClr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057400" y="4151376"/>
            <a:ext cx="201168" cy="201168"/>
          </a:xfrm>
          <a:prstGeom prst="rect">
            <a:avLst/>
          </a:prstGeom>
          <a:solidFill>
            <a:srgbClr val="E8EEF5">
              <a:alpha val="94000"/>
            </a:srgbClr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289304" y="3118104"/>
            <a:ext cx="201168" cy="201168"/>
          </a:xfrm>
          <a:prstGeom prst="rect">
            <a:avLst/>
          </a:prstGeom>
          <a:solidFill>
            <a:srgbClr val="E8EEF5">
              <a:alpha val="88000"/>
            </a:srgbClr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00200" y="3118104"/>
            <a:ext cx="201168" cy="201168"/>
          </a:xfrm>
          <a:prstGeom prst="rect">
            <a:avLst/>
          </a:prstGeom>
          <a:solidFill>
            <a:srgbClr val="E8EEF5">
              <a:alpha val="88000"/>
            </a:srgbClr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11096" y="3118104"/>
            <a:ext cx="201168" cy="201168"/>
          </a:xfrm>
          <a:prstGeom prst="rect">
            <a:avLst/>
          </a:prstGeom>
          <a:solidFill>
            <a:srgbClr val="E8EEF5">
              <a:alpha val="88000"/>
            </a:srgbClr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221992" y="3118104"/>
            <a:ext cx="201168" cy="201168"/>
          </a:xfrm>
          <a:prstGeom prst="rect">
            <a:avLst/>
          </a:prstGeom>
          <a:solidFill>
            <a:srgbClr val="E8EEF5">
              <a:alpha val="88000"/>
            </a:srgbClr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289304" y="3429000"/>
            <a:ext cx="201168" cy="201168"/>
          </a:xfrm>
          <a:prstGeom prst="rect">
            <a:avLst/>
          </a:prstGeom>
          <a:solidFill>
            <a:srgbClr val="E8EEF5">
              <a:alpha val="88000"/>
            </a:srgbClr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600200" y="3429000"/>
            <a:ext cx="201168" cy="201168"/>
          </a:xfrm>
          <a:prstGeom prst="rect">
            <a:avLst/>
          </a:prstGeom>
          <a:solidFill>
            <a:srgbClr val="E8EEF5">
              <a:alpha val="88000"/>
            </a:srgbClr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11096" y="3429000"/>
            <a:ext cx="201168" cy="201168"/>
          </a:xfrm>
          <a:prstGeom prst="rect">
            <a:avLst/>
          </a:prstGeom>
          <a:solidFill>
            <a:srgbClr val="E8EEF5">
              <a:alpha val="88000"/>
            </a:srgbClr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221992" y="3429000"/>
            <a:ext cx="201168" cy="201168"/>
          </a:xfrm>
          <a:prstGeom prst="rect">
            <a:avLst/>
          </a:prstGeom>
          <a:solidFill>
            <a:srgbClr val="E8EEF5">
              <a:alpha val="88000"/>
            </a:srgbClr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289304" y="3739896"/>
            <a:ext cx="201168" cy="201168"/>
          </a:xfrm>
          <a:prstGeom prst="rect">
            <a:avLst/>
          </a:prstGeom>
          <a:solidFill>
            <a:srgbClr val="E8EEF5">
              <a:alpha val="88000"/>
            </a:srgbClr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600200" y="3739896"/>
            <a:ext cx="201168" cy="201168"/>
          </a:xfrm>
          <a:prstGeom prst="rect">
            <a:avLst/>
          </a:prstGeom>
          <a:solidFill>
            <a:srgbClr val="E8EEF5">
              <a:alpha val="88000"/>
            </a:srgbClr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11096" y="3739896"/>
            <a:ext cx="201168" cy="201168"/>
          </a:xfrm>
          <a:prstGeom prst="rect">
            <a:avLst/>
          </a:prstGeom>
          <a:solidFill>
            <a:srgbClr val="E8EEF5">
              <a:alpha val="88000"/>
            </a:srgbClr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221992" y="3739896"/>
            <a:ext cx="201168" cy="201168"/>
          </a:xfrm>
          <a:prstGeom prst="rect">
            <a:avLst/>
          </a:prstGeom>
          <a:solidFill>
            <a:srgbClr val="E8EEF5">
              <a:alpha val="88000"/>
            </a:srgbClr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289304" y="4050792"/>
            <a:ext cx="201168" cy="201168"/>
          </a:xfrm>
          <a:prstGeom prst="rect">
            <a:avLst/>
          </a:prstGeom>
          <a:solidFill>
            <a:srgbClr val="E8EEF5">
              <a:alpha val="88000"/>
            </a:srgbClr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600200" y="4050792"/>
            <a:ext cx="201168" cy="201168"/>
          </a:xfrm>
          <a:prstGeom prst="rect">
            <a:avLst/>
          </a:prstGeom>
          <a:solidFill>
            <a:srgbClr val="E8EEF5">
              <a:alpha val="88000"/>
            </a:srgbClr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11096" y="4050792"/>
            <a:ext cx="201168" cy="201168"/>
          </a:xfrm>
          <a:prstGeom prst="rect">
            <a:avLst/>
          </a:prstGeom>
          <a:solidFill>
            <a:srgbClr val="E8EEF5">
              <a:alpha val="88000"/>
            </a:srgbClr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221992" y="4050792"/>
            <a:ext cx="201168" cy="201168"/>
          </a:xfrm>
          <a:prstGeom prst="rect">
            <a:avLst/>
          </a:prstGeom>
          <a:solidFill>
            <a:srgbClr val="E8EEF5">
              <a:alpha val="88000"/>
            </a:srgbClr>
          </a:solidFill>
          <a:ln w="5715">
            <a:solidFill>
              <a:srgbClr val="C7D2D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453896" y="3017520"/>
            <a:ext cx="201168" cy="201168"/>
          </a:xfrm>
          <a:prstGeom prst="rect">
            <a:avLst/>
          </a:prstGeom>
          <a:solidFill>
            <a:srgbClr val="FDE7DE">
              <a:alpha val="82000"/>
            </a:srgbClr>
          </a:solidFill>
          <a:ln w="5715">
            <a:solidFill>
              <a:srgbClr val="F56A3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764792" y="3017520"/>
            <a:ext cx="201168" cy="201168"/>
          </a:xfrm>
          <a:prstGeom prst="rect">
            <a:avLst/>
          </a:prstGeom>
          <a:solidFill>
            <a:srgbClr val="FDE7DE">
              <a:alpha val="82000"/>
            </a:srgbClr>
          </a:solidFill>
          <a:ln w="5715">
            <a:solidFill>
              <a:srgbClr val="F56A3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075688" y="3017520"/>
            <a:ext cx="201168" cy="201168"/>
          </a:xfrm>
          <a:prstGeom prst="rect">
            <a:avLst/>
          </a:prstGeom>
          <a:solidFill>
            <a:srgbClr val="FDE7DE">
              <a:alpha val="82000"/>
            </a:srgbClr>
          </a:solidFill>
          <a:ln w="5715">
            <a:solidFill>
              <a:srgbClr val="F56A3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86584" y="3017520"/>
            <a:ext cx="201168" cy="201168"/>
          </a:xfrm>
          <a:prstGeom prst="rect">
            <a:avLst/>
          </a:prstGeom>
          <a:solidFill>
            <a:srgbClr val="FDE7DE">
              <a:alpha val="82000"/>
            </a:srgbClr>
          </a:solidFill>
          <a:ln w="5715">
            <a:solidFill>
              <a:srgbClr val="F56A3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453896" y="3328416"/>
            <a:ext cx="201168" cy="201168"/>
          </a:xfrm>
          <a:prstGeom prst="rect">
            <a:avLst/>
          </a:prstGeom>
          <a:solidFill>
            <a:srgbClr val="FDE7DE">
              <a:alpha val="82000"/>
            </a:srgbClr>
          </a:solidFill>
          <a:ln w="5715">
            <a:solidFill>
              <a:srgbClr val="F56A3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64792" y="3328416"/>
            <a:ext cx="201168" cy="201168"/>
          </a:xfrm>
          <a:prstGeom prst="rect">
            <a:avLst/>
          </a:prstGeom>
          <a:solidFill>
            <a:srgbClr val="FDE7DE">
              <a:alpha val="82000"/>
            </a:srgbClr>
          </a:solidFill>
          <a:ln w="5715">
            <a:solidFill>
              <a:srgbClr val="F56A3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075688" y="3328416"/>
            <a:ext cx="201168" cy="201168"/>
          </a:xfrm>
          <a:prstGeom prst="rect">
            <a:avLst/>
          </a:prstGeom>
          <a:solidFill>
            <a:srgbClr val="FDE7DE">
              <a:alpha val="82000"/>
            </a:srgbClr>
          </a:solidFill>
          <a:ln w="5715">
            <a:solidFill>
              <a:srgbClr val="F56A3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86584" y="3328416"/>
            <a:ext cx="201168" cy="201168"/>
          </a:xfrm>
          <a:prstGeom prst="rect">
            <a:avLst/>
          </a:prstGeom>
          <a:solidFill>
            <a:srgbClr val="FDE7DE">
              <a:alpha val="82000"/>
            </a:srgbClr>
          </a:solidFill>
          <a:ln w="5715">
            <a:solidFill>
              <a:srgbClr val="F56A3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453896" y="3639312"/>
            <a:ext cx="201168" cy="201168"/>
          </a:xfrm>
          <a:prstGeom prst="rect">
            <a:avLst/>
          </a:prstGeom>
          <a:solidFill>
            <a:srgbClr val="FDE7DE">
              <a:alpha val="82000"/>
            </a:srgbClr>
          </a:solidFill>
          <a:ln w="5715">
            <a:solidFill>
              <a:srgbClr val="F56A3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764792" y="3639312"/>
            <a:ext cx="201168" cy="201168"/>
          </a:xfrm>
          <a:prstGeom prst="rect">
            <a:avLst/>
          </a:prstGeom>
          <a:solidFill>
            <a:srgbClr val="FDE7DE">
              <a:alpha val="82000"/>
            </a:srgbClr>
          </a:solidFill>
          <a:ln w="5715">
            <a:solidFill>
              <a:srgbClr val="F56A3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075688" y="3639312"/>
            <a:ext cx="201168" cy="201168"/>
          </a:xfrm>
          <a:prstGeom prst="rect">
            <a:avLst/>
          </a:prstGeom>
          <a:solidFill>
            <a:srgbClr val="FDE7DE">
              <a:alpha val="82000"/>
            </a:srgbClr>
          </a:solidFill>
          <a:ln w="5715">
            <a:solidFill>
              <a:srgbClr val="F56A3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386584" y="3639312"/>
            <a:ext cx="201168" cy="201168"/>
          </a:xfrm>
          <a:prstGeom prst="rect">
            <a:avLst/>
          </a:prstGeom>
          <a:solidFill>
            <a:srgbClr val="FDE7DE">
              <a:alpha val="82000"/>
            </a:srgbClr>
          </a:solidFill>
          <a:ln w="5715">
            <a:solidFill>
              <a:srgbClr val="F56A3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453896" y="3950208"/>
            <a:ext cx="201168" cy="201168"/>
          </a:xfrm>
          <a:prstGeom prst="rect">
            <a:avLst/>
          </a:prstGeom>
          <a:solidFill>
            <a:srgbClr val="FDE7DE">
              <a:alpha val="82000"/>
            </a:srgbClr>
          </a:solidFill>
          <a:ln w="5715">
            <a:solidFill>
              <a:srgbClr val="F56A3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764792" y="3950208"/>
            <a:ext cx="201168" cy="201168"/>
          </a:xfrm>
          <a:prstGeom prst="rect">
            <a:avLst/>
          </a:prstGeom>
          <a:solidFill>
            <a:srgbClr val="FDE7DE">
              <a:alpha val="82000"/>
            </a:srgbClr>
          </a:solidFill>
          <a:ln w="5715">
            <a:solidFill>
              <a:srgbClr val="F56A3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075688" y="3950208"/>
            <a:ext cx="201168" cy="201168"/>
          </a:xfrm>
          <a:prstGeom prst="rect">
            <a:avLst/>
          </a:prstGeom>
          <a:solidFill>
            <a:srgbClr val="FDE7DE">
              <a:alpha val="82000"/>
            </a:srgbClr>
          </a:solidFill>
          <a:ln w="5715">
            <a:solidFill>
              <a:srgbClr val="F56A3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386584" y="3950208"/>
            <a:ext cx="201168" cy="201168"/>
          </a:xfrm>
          <a:prstGeom prst="rect">
            <a:avLst/>
          </a:prstGeom>
          <a:solidFill>
            <a:srgbClr val="FDE7DE">
              <a:alpha val="82000"/>
            </a:srgbClr>
          </a:solidFill>
          <a:ln w="5715">
            <a:solidFill>
              <a:srgbClr val="F56A3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87552" y="4672584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control grid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2542032" y="32461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初期温度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2514600" y="3547872"/>
            <a:ext cx="219456" cy="219456"/>
          </a:xfrm>
          <a:prstGeom prst="ellipse">
            <a:avLst/>
          </a:prstGeom>
          <a:solidFill>
            <a:srgbClr val="E6EDFF"/>
          </a:solidFill>
          <a:ln w="10160">
            <a:solidFill>
              <a:srgbClr val="3A6FF7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816352" y="353872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cold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2514600" y="3968496"/>
            <a:ext cx="219456" cy="219456"/>
          </a:xfrm>
          <a:prstGeom prst="ellipse">
            <a:avLst/>
          </a:prstGeom>
          <a:solidFill>
            <a:srgbClr val="E9EEF3"/>
          </a:solidFill>
          <a:ln w="10160">
            <a:solidFill>
              <a:srgbClr val="64748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816352" y="395935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nominal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2514600" y="4389120"/>
            <a:ext cx="219456" cy="219456"/>
          </a:xfrm>
          <a:prstGeom prst="ellipse">
            <a:avLst/>
          </a:prstGeom>
          <a:solidFill>
            <a:srgbClr val="FDE7DE"/>
          </a:solidFill>
          <a:ln w="10160">
            <a:solidFill>
              <a:srgbClr val="F56A3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816352" y="437997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gradient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804672" y="5038344"/>
            <a:ext cx="3200400" cy="868680"/>
          </a:xfrm>
          <a:prstGeom prst="roundRect">
            <a:avLst>
              <a:gd name="adj" fmla="val 10526"/>
            </a:avLst>
          </a:prstGeom>
          <a:solidFill>
            <a:srgbClr val="FBFCFD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87552" y="5148072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動的schedule（16本）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1005840" y="5715000"/>
            <a:ext cx="137160" cy="0"/>
          </a:xfrm>
          <a:prstGeom prst="line">
            <a:avLst/>
          </a:prstGeom>
          <a:noFill/>
          <a:ln w="20320">
            <a:solidFill>
              <a:srgbClr val="F56A3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43000" y="5715000"/>
            <a:ext cx="0" cy="-182880"/>
          </a:xfrm>
          <a:prstGeom prst="line">
            <a:avLst/>
          </a:prstGeom>
          <a:noFill/>
          <a:ln w="20320">
            <a:solidFill>
              <a:srgbClr val="F56A3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43000" y="5532120"/>
            <a:ext cx="257861" cy="0"/>
          </a:xfrm>
          <a:prstGeom prst="line">
            <a:avLst/>
          </a:prstGeom>
          <a:noFill/>
          <a:ln w="20320">
            <a:solidFill>
              <a:srgbClr val="F56A3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400861" y="5532120"/>
            <a:ext cx="0" cy="182880"/>
          </a:xfrm>
          <a:prstGeom prst="line">
            <a:avLst/>
          </a:prstGeom>
          <a:noFill/>
          <a:ln w="20320">
            <a:solidFill>
              <a:srgbClr val="F56A3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400861" y="5715000"/>
            <a:ext cx="153619" cy="0"/>
          </a:xfrm>
          <a:prstGeom prst="line">
            <a:avLst/>
          </a:prstGeom>
          <a:noFill/>
          <a:ln w="20320">
            <a:solidFill>
              <a:srgbClr val="F56A3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728216" y="5696712"/>
            <a:ext cx="208483" cy="0"/>
          </a:xfrm>
          <a:prstGeom prst="line">
            <a:avLst/>
          </a:prstGeom>
          <a:noFill/>
          <a:ln w="20320">
            <a:solidFill>
              <a:srgbClr val="F2B64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936699" y="5696712"/>
            <a:ext cx="0" cy="-155448"/>
          </a:xfrm>
          <a:prstGeom prst="line">
            <a:avLst/>
          </a:prstGeom>
          <a:noFill/>
          <a:ln w="20320">
            <a:solidFill>
              <a:srgbClr val="F2B64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936699" y="5541264"/>
            <a:ext cx="202997" cy="0"/>
          </a:xfrm>
          <a:prstGeom prst="line">
            <a:avLst/>
          </a:prstGeom>
          <a:noFill/>
          <a:ln w="20320">
            <a:solidFill>
              <a:srgbClr val="F2B64B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139696" y="5541264"/>
            <a:ext cx="0" cy="109728"/>
          </a:xfrm>
          <a:prstGeom prst="line">
            <a:avLst/>
          </a:prstGeom>
          <a:noFill/>
          <a:ln w="20320">
            <a:solidFill>
              <a:srgbClr val="F2B64B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139696" y="5650992"/>
            <a:ext cx="137160" cy="0"/>
          </a:xfrm>
          <a:prstGeom prst="line">
            <a:avLst/>
          </a:prstGeom>
          <a:noFill/>
          <a:ln w="20320">
            <a:solidFill>
              <a:srgbClr val="F2B64B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450592" y="5559552"/>
            <a:ext cx="301752" cy="0"/>
          </a:xfrm>
          <a:prstGeom prst="line">
            <a:avLst/>
          </a:prstGeom>
          <a:noFill/>
          <a:ln w="20320">
            <a:solidFill>
              <a:srgbClr val="3A6FF7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752344" y="5559552"/>
            <a:ext cx="0" cy="155448"/>
          </a:xfrm>
          <a:prstGeom prst="line">
            <a:avLst/>
          </a:prstGeom>
          <a:noFill/>
          <a:ln w="20320">
            <a:solidFill>
              <a:srgbClr val="3A6FF7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752344" y="5715000"/>
            <a:ext cx="170078" cy="0"/>
          </a:xfrm>
          <a:prstGeom prst="line">
            <a:avLst/>
          </a:prstGeom>
          <a:noFill/>
          <a:ln w="20320">
            <a:solidFill>
              <a:srgbClr val="3A6FF7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922422" y="5715000"/>
            <a:ext cx="0" cy="-155448"/>
          </a:xfrm>
          <a:prstGeom prst="line">
            <a:avLst/>
          </a:prstGeom>
          <a:noFill/>
          <a:ln w="20320">
            <a:solidFill>
              <a:srgbClr val="3A6FF7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922422" y="5559552"/>
            <a:ext cx="76810" cy="0"/>
          </a:xfrm>
          <a:prstGeom prst="line">
            <a:avLst/>
          </a:prstGeom>
          <a:noFill/>
          <a:ln w="20320">
            <a:solidFill>
              <a:srgbClr val="3A6FF7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172968" y="5696712"/>
            <a:ext cx="82296" cy="-137160"/>
          </a:xfrm>
          <a:prstGeom prst="line">
            <a:avLst/>
          </a:prstGeom>
          <a:noFill/>
          <a:ln w="20320">
            <a:solidFill>
              <a:srgbClr val="16A6A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255264" y="5559552"/>
            <a:ext cx="274320" cy="0"/>
          </a:xfrm>
          <a:prstGeom prst="line">
            <a:avLst/>
          </a:prstGeom>
          <a:noFill/>
          <a:ln w="20320">
            <a:solidFill>
              <a:srgbClr val="16A6A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529584" y="5559552"/>
            <a:ext cx="71323" cy="73152"/>
          </a:xfrm>
          <a:prstGeom prst="line">
            <a:avLst/>
          </a:prstGeom>
          <a:noFill/>
          <a:ln w="20320">
            <a:solidFill>
              <a:srgbClr val="16A6A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600907" y="5632704"/>
            <a:ext cx="76810" cy="82296"/>
          </a:xfrm>
          <a:prstGeom prst="line">
            <a:avLst/>
          </a:prstGeom>
          <a:noFill/>
          <a:ln w="20320">
            <a:solidFill>
              <a:srgbClr val="16A6A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677717" y="5715000"/>
            <a:ext cx="43891" cy="0"/>
          </a:xfrm>
          <a:prstGeom prst="line">
            <a:avLst/>
          </a:prstGeom>
          <a:noFill/>
          <a:ln w="20320">
            <a:solidFill>
              <a:srgbClr val="16A6A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462272" y="1362456"/>
            <a:ext cx="3547872" cy="4892040"/>
          </a:xfrm>
          <a:prstGeom prst="roundRect">
            <a:avLst>
              <a:gd name="adj" fmla="val 3866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736592" y="15727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真値生成：4-node 熱RCネットワーク</a:t>
            </a:r>
            <a:endParaRPr lang="en-US" sz="1400" dirty="0"/>
          </a:p>
        </p:txBody>
      </p:sp>
      <p:sp>
        <p:nvSpPr>
          <p:cNvPr id="109" name="Shape 107"/>
          <p:cNvSpPr/>
          <p:nvPr/>
        </p:nvSpPr>
        <p:spPr>
          <a:xfrm>
            <a:off x="4992624" y="3072384"/>
            <a:ext cx="804672" cy="-320040"/>
          </a:xfrm>
          <a:prstGeom prst="line">
            <a:avLst/>
          </a:prstGeom>
          <a:noFill/>
          <a:ln w="26670">
            <a:solidFill>
              <a:srgbClr val="9FB0C1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797296" y="2752344"/>
            <a:ext cx="886968" cy="274320"/>
          </a:xfrm>
          <a:prstGeom prst="line">
            <a:avLst/>
          </a:prstGeom>
          <a:noFill/>
          <a:ln w="26670">
            <a:solidFill>
              <a:srgbClr val="9FB0C1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684264" y="3026664"/>
            <a:ext cx="822960" cy="411480"/>
          </a:xfrm>
          <a:prstGeom prst="line">
            <a:avLst/>
          </a:prstGeom>
          <a:noFill/>
          <a:ln w="26670">
            <a:solidFill>
              <a:srgbClr val="9FB0C1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797296" y="2752344"/>
            <a:ext cx="1709928" cy="685800"/>
          </a:xfrm>
          <a:prstGeom prst="line">
            <a:avLst/>
          </a:prstGeom>
          <a:noFill/>
          <a:ln w="26670">
            <a:solidFill>
              <a:srgbClr val="9FB0C1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800600" y="2880360"/>
            <a:ext cx="384048" cy="384048"/>
          </a:xfrm>
          <a:prstGeom prst="ellipse">
            <a:avLst/>
          </a:prstGeom>
          <a:solidFill>
            <a:srgbClr val="F15A4A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636008" y="331012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CP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5605272" y="2560320"/>
            <a:ext cx="384048" cy="384048"/>
          </a:xfrm>
          <a:prstGeom prst="ellipse">
            <a:avLst/>
          </a:prstGeom>
          <a:solidFill>
            <a:srgbClr val="F5864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440680" y="299008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Center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6492240" y="2834640"/>
            <a:ext cx="384048" cy="384048"/>
          </a:xfrm>
          <a:prstGeom prst="ellipse">
            <a:avLst/>
          </a:prstGeom>
          <a:solidFill>
            <a:srgbClr val="F2B64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327648" y="326440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middle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7315200" y="3246120"/>
            <a:ext cx="384048" cy="384048"/>
          </a:xfrm>
          <a:prstGeom prst="ellipse">
            <a:avLst/>
          </a:prstGeom>
          <a:solidFill>
            <a:srgbClr val="16A6A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150608" y="367588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edge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4800600" y="3584448"/>
            <a:ext cx="228600" cy="530352"/>
          </a:xfrm>
          <a:prstGeom prst="upArrow">
            <a:avLst/>
          </a:prstGeom>
          <a:solidFill>
            <a:srgbClr val="F56A3B"/>
          </a:solidFill>
          <a:ln w="12700">
            <a:solidFill>
              <a:srgbClr val="F56A3B">
                <a:alpha val="0"/>
              </a:srgbClr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4572000" y="411480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6A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plasma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5797296" y="2084832"/>
            <a:ext cx="0" cy="384048"/>
          </a:xfrm>
          <a:prstGeom prst="line">
            <a:avLst/>
          </a:prstGeom>
          <a:noFill/>
          <a:ln w="21590">
            <a:solidFill>
              <a:srgbClr val="F2B64B"/>
            </a:solidFill>
            <a:prstDash val="solid"/>
            <a:tailEnd type="triangle"/>
          </a:ln>
        </p:spPr>
      </p:sp>
      <p:sp>
        <p:nvSpPr>
          <p:cNvPr id="124" name="Text 122"/>
          <p:cNvSpPr/>
          <p:nvPr/>
        </p:nvSpPr>
        <p:spPr>
          <a:xfrm>
            <a:off x="5513832" y="18745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A67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heater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7498080" y="2386584"/>
            <a:ext cx="0" cy="640080"/>
          </a:xfrm>
          <a:prstGeom prst="line">
            <a:avLst/>
          </a:prstGeom>
          <a:noFill/>
          <a:ln w="21590">
            <a:solidFill>
              <a:srgbClr val="3A6FF7"/>
            </a:solidFill>
            <a:prstDash val="solid"/>
            <a:tailEnd type="triangle"/>
          </a:ln>
        </p:spPr>
      </p:sp>
      <p:sp>
        <p:nvSpPr>
          <p:cNvPr id="126" name="Text 124"/>
          <p:cNvSpPr/>
          <p:nvPr/>
        </p:nvSpPr>
        <p:spPr>
          <a:xfrm>
            <a:off x="7196328" y="216712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6FF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brine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4754880" y="4535424"/>
            <a:ext cx="2962656" cy="1042416"/>
          </a:xfrm>
          <a:prstGeom prst="roundRect">
            <a:avLst>
              <a:gd name="adj" fmla="val 8772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4956048" y="469087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Cᵢ dTᵢ/dt = Σ Gᵢⱼ(Tⱼ−Tᵢ)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+ plasma + heater − brine − ambient loss</a:t>
            </a:r>
            <a:endParaRPr lang="en-US" sz="1000" dirty="0"/>
          </a:p>
        </p:txBody>
      </p:sp>
      <p:sp>
        <p:nvSpPr>
          <p:cNvPr id="129" name="Text 127"/>
          <p:cNvSpPr/>
          <p:nvPr/>
        </p:nvSpPr>
        <p:spPr>
          <a:xfrm>
            <a:off x="4773168" y="57424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56A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学習器には生成式・真の係数を渡さない</a:t>
            </a:r>
            <a:endParaRPr lang="en-US" sz="820" dirty="0"/>
          </a:p>
        </p:txBody>
      </p:sp>
      <p:sp>
        <p:nvSpPr>
          <p:cNvPr id="130" name="Shape 128"/>
          <p:cNvSpPr/>
          <p:nvPr/>
        </p:nvSpPr>
        <p:spPr>
          <a:xfrm>
            <a:off x="8174736" y="1362456"/>
            <a:ext cx="3483864" cy="4892040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8449056" y="1572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評価仕様</a:t>
            </a:r>
            <a:endParaRPr lang="en-US" sz="1500" dirty="0"/>
          </a:p>
        </p:txBody>
      </p:sp>
      <p:sp>
        <p:nvSpPr>
          <p:cNvPr id="132" name="Shape 130"/>
          <p:cNvSpPr/>
          <p:nvPr/>
        </p:nvSpPr>
        <p:spPr>
          <a:xfrm>
            <a:off x="8430768" y="1993392"/>
            <a:ext cx="2971800" cy="713232"/>
          </a:xfrm>
          <a:prstGeom prst="roundRect">
            <a:avLst>
              <a:gd name="adj" fmla="val 12821"/>
            </a:avLst>
          </a:prstGeom>
          <a:solidFill>
            <a:srgbClr val="FDE7DE"/>
          </a:solidFill>
          <a:ln w="6985">
            <a:solidFill>
              <a:srgbClr val="F56A3B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8595360" y="2066544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6A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</a:t>
            </a:r>
            <a:endParaRPr lang="en-US" sz="2000" dirty="0"/>
          </a:p>
        </p:txBody>
      </p:sp>
      <p:sp>
        <p:nvSpPr>
          <p:cNvPr id="134" name="Text 132"/>
          <p:cNvSpPr/>
          <p:nvPr/>
        </p:nvSpPr>
        <p:spPr>
          <a:xfrm>
            <a:off x="9454896" y="208483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sensors</a:t>
            </a:r>
            <a:endParaRPr lang="en-US" sz="960" dirty="0"/>
          </a:p>
        </p:txBody>
      </p:sp>
      <p:sp>
        <p:nvSpPr>
          <p:cNvPr id="135" name="Text 133"/>
          <p:cNvSpPr/>
          <p:nvPr/>
        </p:nvSpPr>
        <p:spPr>
          <a:xfrm>
            <a:off x="9454896" y="234086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CP / Center / middle / edge</a:t>
            </a:r>
            <a:endParaRPr lang="en-US" sz="760" dirty="0"/>
          </a:p>
        </p:txBody>
      </p:sp>
      <p:sp>
        <p:nvSpPr>
          <p:cNvPr id="136" name="Shape 134"/>
          <p:cNvSpPr/>
          <p:nvPr/>
        </p:nvSpPr>
        <p:spPr>
          <a:xfrm>
            <a:off x="8430768" y="2862072"/>
            <a:ext cx="2971800" cy="713232"/>
          </a:xfrm>
          <a:prstGeom prst="roundRect">
            <a:avLst>
              <a:gd name="adj" fmla="val 12821"/>
            </a:avLst>
          </a:prstGeom>
          <a:solidFill>
            <a:srgbClr val="E6EDFF"/>
          </a:solidFill>
          <a:ln w="6985">
            <a:solidFill>
              <a:srgbClr val="3A6FF7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8595360" y="2935224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6FF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2000" dirty="0"/>
          </a:p>
        </p:txBody>
      </p:sp>
      <p:sp>
        <p:nvSpPr>
          <p:cNvPr id="138" name="Text 136"/>
          <p:cNvSpPr/>
          <p:nvPr/>
        </p:nvSpPr>
        <p:spPr>
          <a:xfrm>
            <a:off x="9454896" y="295351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controls</a:t>
            </a:r>
            <a:endParaRPr lang="en-US" sz="960" dirty="0"/>
          </a:p>
        </p:txBody>
      </p:sp>
      <p:sp>
        <p:nvSpPr>
          <p:cNvPr id="139" name="Text 137"/>
          <p:cNvSpPr/>
          <p:nvPr/>
        </p:nvSpPr>
        <p:spPr>
          <a:xfrm>
            <a:off x="9454896" y="320954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brine / heater / plasma</a:t>
            </a:r>
            <a:endParaRPr lang="en-US" sz="760" dirty="0"/>
          </a:p>
        </p:txBody>
      </p:sp>
      <p:sp>
        <p:nvSpPr>
          <p:cNvPr id="140" name="Shape 138"/>
          <p:cNvSpPr/>
          <p:nvPr/>
        </p:nvSpPr>
        <p:spPr>
          <a:xfrm>
            <a:off x="8430768" y="3730752"/>
            <a:ext cx="2971800" cy="713232"/>
          </a:xfrm>
          <a:prstGeom prst="roundRect">
            <a:avLst>
              <a:gd name="adj" fmla="val 12821"/>
            </a:avLst>
          </a:prstGeom>
          <a:solidFill>
            <a:srgbClr val="DDF4F2"/>
          </a:solidFill>
          <a:ln w="6985">
            <a:solidFill>
              <a:srgbClr val="16A6A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8595360" y="3803904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6A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180 s</a:t>
            </a:r>
            <a:endParaRPr lang="en-US" sz="2000" dirty="0"/>
          </a:p>
        </p:txBody>
      </p:sp>
      <p:sp>
        <p:nvSpPr>
          <p:cNvPr id="142" name="Text 140"/>
          <p:cNvSpPr/>
          <p:nvPr/>
        </p:nvSpPr>
        <p:spPr>
          <a:xfrm>
            <a:off x="9454896" y="382219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rollout</a:t>
            </a:r>
            <a:endParaRPr lang="en-US" sz="960" dirty="0"/>
          </a:p>
        </p:txBody>
      </p:sp>
      <p:sp>
        <p:nvSpPr>
          <p:cNvPr id="143" name="Text 141"/>
          <p:cNvSpPr/>
          <p:nvPr/>
        </p:nvSpPr>
        <p:spPr>
          <a:xfrm>
            <a:off x="9454896" y="407822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dt = 1 s · history = 8 step</a:t>
            </a:r>
            <a:endParaRPr lang="en-US" sz="760" dirty="0"/>
          </a:p>
        </p:txBody>
      </p:sp>
      <p:sp>
        <p:nvSpPr>
          <p:cNvPr id="144" name="Shape 142"/>
          <p:cNvSpPr/>
          <p:nvPr/>
        </p:nvSpPr>
        <p:spPr>
          <a:xfrm>
            <a:off x="8430768" y="4599432"/>
            <a:ext cx="2971800" cy="713232"/>
          </a:xfrm>
          <a:prstGeom prst="roundRect">
            <a:avLst>
              <a:gd name="adj" fmla="val 12821"/>
            </a:avLst>
          </a:prstGeom>
          <a:solidFill>
            <a:srgbClr val="FFF3D6"/>
          </a:solidFill>
          <a:ln w="6985">
            <a:solidFill>
              <a:srgbClr val="F2B64B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8595360" y="4672584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B6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2000" dirty="0"/>
          </a:p>
        </p:txBody>
      </p:sp>
      <p:sp>
        <p:nvSpPr>
          <p:cNvPr id="146" name="Text 144"/>
          <p:cNvSpPr/>
          <p:nvPr/>
        </p:nvSpPr>
        <p:spPr>
          <a:xfrm>
            <a:off x="9454896" y="469087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split views</a:t>
            </a:r>
            <a:endParaRPr lang="en-US" sz="960" dirty="0"/>
          </a:p>
        </p:txBody>
      </p:sp>
      <p:sp>
        <p:nvSpPr>
          <p:cNvPr id="147" name="Text 145"/>
          <p:cNvSpPr/>
          <p:nvPr/>
        </p:nvSpPr>
        <p:spPr>
          <a:xfrm>
            <a:off x="9454896" y="494690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random補間 / plasma=150 holdout</a:t>
            </a:r>
            <a:endParaRPr lang="en-US" sz="760" dirty="0"/>
          </a:p>
        </p:txBody>
      </p:sp>
      <p:sp>
        <p:nvSpPr>
          <p:cNvPr id="148" name="Shape 146"/>
          <p:cNvSpPr/>
          <p:nvPr/>
        </p:nvSpPr>
        <p:spPr>
          <a:xfrm>
            <a:off x="8430768" y="5641848"/>
            <a:ext cx="1389888" cy="256032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8503920" y="5650992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trajectory単位評価</a:t>
            </a:r>
            <a:endParaRPr lang="en-US" sz="850" dirty="0"/>
          </a:p>
        </p:txBody>
      </p:sp>
      <p:sp>
        <p:nvSpPr>
          <p:cNvPr id="150" name="Shape 148"/>
          <p:cNvSpPr/>
          <p:nvPr/>
        </p:nvSpPr>
        <p:spPr>
          <a:xfrm>
            <a:off x="9966960" y="5641848"/>
            <a:ext cx="1435608" cy="256032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10040112" y="5650992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合成・物理風データ</a:t>
            </a:r>
            <a:endParaRPr lang="en-US" sz="850" dirty="0"/>
          </a:p>
        </p:txBody>
      </p:sp>
      <p:sp>
        <p:nvSpPr>
          <p:cNvPr id="152" name="Shape 150"/>
          <p:cNvSpPr/>
          <p:nvPr/>
        </p:nvSpPr>
        <p:spPr>
          <a:xfrm>
            <a:off x="502920" y="6345936"/>
            <a:ext cx="11155680" cy="201168"/>
          </a:xfrm>
          <a:prstGeom prst="roundRect">
            <a:avLst>
              <a:gd name="adj" fmla="val 36364"/>
            </a:avLst>
          </a:prstGeom>
          <a:solidFill>
            <a:srgbClr val="FFF3D6"/>
          </a:solidFill>
          <a:ln w="6350">
            <a:solidFill>
              <a:srgbClr val="F2B64B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713232" y="6359652"/>
            <a:ext cx="10735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865B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注意：特定実機の再現ではない。動的caseは16本の最小構成のため、任意recipe性能を過度に主張しない。</a:t>
            </a:r>
            <a:endParaRPr lang="en-US" sz="770" dirty="0"/>
          </a:p>
        </p:txBody>
      </p:sp>
      <p:sp>
        <p:nvSpPr>
          <p:cNvPr id="154" name="Shape 152"/>
          <p:cNvSpPr/>
          <p:nvPr/>
        </p:nvSpPr>
        <p:spPr>
          <a:xfrm>
            <a:off x="502920" y="6510528"/>
            <a:ext cx="10972800" cy="0"/>
          </a:xfrm>
          <a:prstGeom prst="line">
            <a:avLst/>
          </a:prstGeom>
          <a:noFill/>
          <a:ln w="7620">
            <a:solidFill>
              <a:srgbClr val="DDE4EC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502920" y="6556248"/>
            <a:ext cx="10607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Source: benchmark generator / configs / thermal_cell_v6_technical_report.md · synthetic physics-inspired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9672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94A3B8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F56A3B"/>
          </a:solidFill>
          <a:ln w="12700">
            <a:solidFill>
              <a:srgbClr val="F56A3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56032"/>
            <a:ext cx="1444752" cy="256032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265176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THERMAL CELL / 05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12648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ベンチマークに対する効果｜精度はLSTM/GRU、診断はGraph-RC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521208" y="1060704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「最小RMSE」と「物理診断価値」を分けて読むことで、用途に応じた採用判断が可能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6766560" cy="5047488"/>
          </a:xfrm>
          <a:prstGeom prst="roundRect">
            <a:avLst>
              <a:gd name="adj" fmla="val 2717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58191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test rollout RMSE（℃） — lower is better</a:t>
            </a:r>
            <a:endParaRPr lang="en-US" sz="1480" dirty="0"/>
          </a:p>
        </p:txBody>
      </p:sp>
      <p:sp>
        <p:nvSpPr>
          <p:cNvPr id="9" name="Shape 7"/>
          <p:cNvSpPr/>
          <p:nvPr/>
        </p:nvSpPr>
        <p:spPr>
          <a:xfrm>
            <a:off x="5047488" y="155448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2E9B72"/>
          </a:solidFill>
          <a:ln w="12700">
            <a:solidFill>
              <a:srgbClr val="2E9B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1563624"/>
            <a:ext cx="859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&lt; 0.5  主力候補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126480" y="1554480"/>
            <a:ext cx="932688" cy="256032"/>
          </a:xfrm>
          <a:prstGeom prst="roundRect">
            <a:avLst>
              <a:gd name="adj" fmla="val 50000"/>
            </a:avLst>
          </a:prstGeom>
          <a:solidFill>
            <a:srgbClr val="F2B64B"/>
          </a:solidFill>
          <a:ln w="12700">
            <a:solidFill>
              <a:srgbClr val="F2B6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9632" y="156362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0.5–1.0  要確認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14016" y="2176272"/>
            <a:ext cx="964096" cy="3886200"/>
          </a:xfrm>
          <a:prstGeom prst="rect">
            <a:avLst/>
          </a:prstGeom>
          <a:solidFill>
            <a:srgbClr val="DFF3EB">
              <a:alpha val="85000"/>
            </a:srgbClr>
          </a:solidFill>
          <a:ln w="12700">
            <a:solidFill>
              <a:srgbClr val="DFF3E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78112" y="2176272"/>
            <a:ext cx="964096" cy="3886200"/>
          </a:xfrm>
          <a:prstGeom prst="rect">
            <a:avLst/>
          </a:prstGeom>
          <a:solidFill>
            <a:srgbClr val="FFF3D6">
              <a:alpha val="78000"/>
            </a:srgbClr>
          </a:solidFill>
          <a:ln w="12700">
            <a:solidFill>
              <a:srgbClr val="FFF3D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2207" y="2176272"/>
            <a:ext cx="2506649" cy="3886200"/>
          </a:xfrm>
          <a:prstGeom prst="rect">
            <a:avLst/>
          </a:prstGeom>
          <a:solidFill>
            <a:srgbClr val="FBE2E2">
              <a:alpha val="55000"/>
            </a:srgbClr>
          </a:solidFill>
          <a:ln w="12700">
            <a:solidFill>
              <a:srgbClr val="FBE2E2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14016" y="2176272"/>
            <a:ext cx="0" cy="3886200"/>
          </a:xfrm>
          <a:prstGeom prst="line">
            <a:avLst/>
          </a:prstGeom>
          <a:noFill/>
          <a:ln w="8255">
            <a:solidFill>
              <a:srgbClr val="D6DE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49424" y="6089904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0.0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3378112" y="2176272"/>
            <a:ext cx="0" cy="3886200"/>
          </a:xfrm>
          <a:prstGeom prst="line">
            <a:avLst/>
          </a:prstGeom>
          <a:noFill/>
          <a:ln w="8255">
            <a:solidFill>
              <a:srgbClr val="D6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13520" y="6089904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0.5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4342207" y="2176272"/>
            <a:ext cx="0" cy="3886200"/>
          </a:xfrm>
          <a:prstGeom prst="line">
            <a:avLst/>
          </a:prstGeom>
          <a:noFill/>
          <a:ln w="8255">
            <a:solidFill>
              <a:srgbClr val="D6DE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77615" y="6089904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1.0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5306303" y="2176272"/>
            <a:ext cx="0" cy="3886200"/>
          </a:xfrm>
          <a:prstGeom prst="line">
            <a:avLst/>
          </a:prstGeom>
          <a:noFill/>
          <a:ln w="8255">
            <a:solidFill>
              <a:srgbClr val="D6DE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41711" y="6089904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1.5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6270399" y="2176272"/>
            <a:ext cx="0" cy="3886200"/>
          </a:xfrm>
          <a:prstGeom prst="line">
            <a:avLst/>
          </a:prstGeom>
          <a:noFill/>
          <a:ln w="8255">
            <a:solidFill>
              <a:srgbClr val="D6DE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05807" y="6089904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2.0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768096" y="2212848"/>
            <a:ext cx="1490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LSTM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414016" y="2231136"/>
            <a:ext cx="645944" cy="219456"/>
          </a:xfrm>
          <a:prstGeom prst="roundRect">
            <a:avLst>
              <a:gd name="adj" fmla="val 33333"/>
            </a:avLst>
          </a:prstGeom>
          <a:solidFill>
            <a:srgbClr val="F56A3B"/>
          </a:solidFill>
          <a:ln w="12700">
            <a:solidFill>
              <a:srgbClr val="F56A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33112" y="221284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56A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0.335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68096" y="2660904"/>
            <a:ext cx="1490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GRU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414016" y="2679192"/>
            <a:ext cx="940957" cy="219456"/>
          </a:xfrm>
          <a:prstGeom prst="roundRect">
            <a:avLst>
              <a:gd name="adj" fmla="val 33333"/>
            </a:avLst>
          </a:prstGeom>
          <a:solidFill>
            <a:srgbClr val="F2B64B"/>
          </a:solidFill>
          <a:ln w="12700">
            <a:solidFill>
              <a:srgbClr val="F2B6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28125" y="266090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2B6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0.488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68096" y="3108960"/>
            <a:ext cx="1490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CNN1D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414016" y="3127248"/>
            <a:ext cx="1097141" cy="219456"/>
          </a:xfrm>
          <a:prstGeom prst="roundRect">
            <a:avLst>
              <a:gd name="adj" fmla="val 33333"/>
            </a:avLst>
          </a:prstGeom>
          <a:solidFill>
            <a:srgbClr val="3A6FF7"/>
          </a:solidFill>
          <a:ln w="12700">
            <a:solidFill>
              <a:srgbClr val="3A6F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84309" y="310896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A6FF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0.569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68096" y="3557016"/>
            <a:ext cx="1490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Thermal State Space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414016" y="3575304"/>
            <a:ext cx="1259109" cy="219456"/>
          </a:xfrm>
          <a:prstGeom prst="roundRect">
            <a:avLst>
              <a:gd name="adj" fmla="val 33333"/>
            </a:avLst>
          </a:prstGeom>
          <a:solidFill>
            <a:srgbClr val="3A6FF7"/>
          </a:solidFill>
          <a:ln w="12700">
            <a:solidFill>
              <a:srgbClr val="3A6F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46277" y="3557016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A6FF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0.653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68096" y="4005072"/>
            <a:ext cx="1490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MLP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414016" y="4023360"/>
            <a:ext cx="1471210" cy="219456"/>
          </a:xfrm>
          <a:prstGeom prst="roundRect">
            <a:avLst>
              <a:gd name="adj" fmla="val 33333"/>
            </a:avLst>
          </a:prstGeom>
          <a:solidFill>
            <a:srgbClr val="3A6FF7"/>
          </a:solidFill>
          <a:ln w="12700">
            <a:solidFill>
              <a:srgbClr val="3A6FF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58378" y="400507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A6FF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0.763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68096" y="4453128"/>
            <a:ext cx="1490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TCN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414016" y="4471416"/>
            <a:ext cx="1691024" cy="219456"/>
          </a:xfrm>
          <a:prstGeom prst="roundRect">
            <a:avLst>
              <a:gd name="adj" fmla="val 33333"/>
            </a:avLst>
          </a:prstGeom>
          <a:solidFill>
            <a:srgbClr val="3A6FF7"/>
          </a:solidFill>
          <a:ln w="12700">
            <a:solidFill>
              <a:srgbClr val="3A6FF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78192" y="445312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A6FF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0.877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68096" y="4901184"/>
            <a:ext cx="1490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Linear-RC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414016" y="4919472"/>
            <a:ext cx="2396742" cy="219456"/>
          </a:xfrm>
          <a:prstGeom prst="roundRect">
            <a:avLst>
              <a:gd name="adj" fmla="val 33333"/>
            </a:avLst>
          </a:prstGeom>
          <a:solidFill>
            <a:srgbClr val="8293A5"/>
          </a:solidFill>
          <a:ln w="12700">
            <a:solidFill>
              <a:srgbClr val="8293A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83910" y="490118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8293A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1.243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68096" y="5349240"/>
            <a:ext cx="1490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Graph-RC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414016" y="5367528"/>
            <a:ext cx="4186103" cy="219456"/>
          </a:xfrm>
          <a:prstGeom prst="roundRect">
            <a:avLst>
              <a:gd name="adj" fmla="val 33333"/>
            </a:avLst>
          </a:prstGeom>
          <a:solidFill>
            <a:srgbClr val="183A5A"/>
          </a:solidFill>
          <a:ln w="12700">
            <a:solidFill>
              <a:srgbClr val="183A5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73271" y="534924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83A5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2.171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04672" y="6108192"/>
            <a:ext cx="5989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R²は全モデルで高く見えやすい。採用判断はRMSE・case別・sensor別・horizon誤差を優先。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7479792" y="1371600"/>
            <a:ext cx="4178808" cy="1298448"/>
          </a:xfrm>
          <a:prstGeom prst="roundRect">
            <a:avLst>
              <a:gd name="adj" fmla="val 10563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72400" y="1545336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2B6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BEST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772400" y="1773936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0.335℃</a:t>
            </a:r>
            <a:endParaRPr lang="en-US" sz="3000" dirty="0"/>
          </a:p>
        </p:txBody>
      </p:sp>
      <p:sp>
        <p:nvSpPr>
          <p:cNvPr id="54" name="Text 52"/>
          <p:cNvSpPr/>
          <p:nvPr/>
        </p:nvSpPr>
        <p:spPr>
          <a:xfrm>
            <a:off x="9738360" y="1673352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8E7F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LSTM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D8E7F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test rollout RMSE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7479792" y="2852928"/>
            <a:ext cx="4178808" cy="1069848"/>
          </a:xfrm>
          <a:prstGeom prst="roundRect">
            <a:avLst>
              <a:gd name="adj" fmla="val 11111"/>
            </a:avLst>
          </a:prstGeom>
          <a:solidFill>
            <a:srgbClr val="FDE7DE"/>
          </a:solidFill>
          <a:ln w="8255">
            <a:solidFill>
              <a:srgbClr val="F56A3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72400" y="2971800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6A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約127×</a:t>
            </a:r>
            <a:endParaRPr lang="en-US" sz="2600" dirty="0"/>
          </a:p>
        </p:txBody>
      </p:sp>
      <p:sp>
        <p:nvSpPr>
          <p:cNvPr id="57" name="Text 55"/>
          <p:cNvSpPr/>
          <p:nvPr/>
        </p:nvSpPr>
        <p:spPr>
          <a:xfrm>
            <a:off x="9253728" y="2990088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no-learning baselineからのRMSE削減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42.58℃ → 0.335℃</a:t>
            </a:r>
            <a:endParaRPr lang="en-US" sz="960" dirty="0"/>
          </a:p>
        </p:txBody>
      </p:sp>
      <p:sp>
        <p:nvSpPr>
          <p:cNvPr id="58" name="Shape 56"/>
          <p:cNvSpPr/>
          <p:nvPr/>
        </p:nvSpPr>
        <p:spPr>
          <a:xfrm>
            <a:off x="7479792" y="4114800"/>
            <a:ext cx="4178808" cy="1051560"/>
          </a:xfrm>
          <a:prstGeom prst="roundRect">
            <a:avLst>
              <a:gd name="adj" fmla="val 11304"/>
            </a:avLst>
          </a:prstGeom>
          <a:solidFill>
            <a:srgbClr val="DDF4F2"/>
          </a:solidFill>
          <a:ln w="8255">
            <a:solidFill>
              <a:srgbClr val="16A6A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54696" y="4782312"/>
            <a:ext cx="204826" cy="-192024"/>
          </a:xfrm>
          <a:prstGeom prst="line">
            <a:avLst/>
          </a:prstGeom>
          <a:noFill/>
          <a:ln w="19050">
            <a:solidFill>
              <a:srgbClr val="16A6A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59522" y="4590288"/>
            <a:ext cx="230429" cy="115214"/>
          </a:xfrm>
          <a:prstGeom prst="line">
            <a:avLst/>
          </a:prstGeom>
          <a:noFill/>
          <a:ln w="19050">
            <a:solidFill>
              <a:srgbClr val="16A6A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289950" y="4705502"/>
            <a:ext cx="140818" cy="-153619"/>
          </a:xfrm>
          <a:prstGeom prst="line">
            <a:avLst/>
          </a:prstGeom>
          <a:noFill/>
          <a:ln w="19050">
            <a:solidFill>
              <a:srgbClr val="16A6A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781544" y="4709160"/>
            <a:ext cx="102413" cy="102413"/>
          </a:xfrm>
          <a:prstGeom prst="ellipse">
            <a:avLst/>
          </a:prstGeom>
          <a:solidFill>
            <a:srgbClr val="16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986370" y="4517136"/>
            <a:ext cx="102413" cy="102413"/>
          </a:xfrm>
          <a:prstGeom prst="ellipse">
            <a:avLst/>
          </a:prstGeom>
          <a:solidFill>
            <a:srgbClr val="F56A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16798" y="4632350"/>
            <a:ext cx="102413" cy="102413"/>
          </a:xfrm>
          <a:prstGeom prst="ellipse">
            <a:avLst/>
          </a:prstGeom>
          <a:solidFill>
            <a:srgbClr val="16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357616" y="4478731"/>
            <a:ext cx="102413" cy="102413"/>
          </a:xfrm>
          <a:prstGeom prst="ellipse">
            <a:avLst/>
          </a:prstGeom>
          <a:solidFill>
            <a:srgbClr val="16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686800" y="42519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Graph-RC：診断価値</a:t>
            </a:r>
            <a:endParaRPr lang="en-US" sz="1220" dirty="0"/>
          </a:p>
        </p:txBody>
      </p:sp>
      <p:sp>
        <p:nvSpPr>
          <p:cNvPr id="67" name="Text 65"/>
          <p:cNvSpPr/>
          <p:nvPr/>
        </p:nvSpPr>
        <p:spPr>
          <a:xfrm>
            <a:off x="8686800" y="4590288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learned / prior = 0.97–1.23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熱抵抗表の極端な破綻は見えない</a:t>
            </a:r>
            <a:endParaRPr lang="en-US" sz="870" dirty="0"/>
          </a:p>
        </p:txBody>
      </p:sp>
      <p:sp>
        <p:nvSpPr>
          <p:cNvPr id="68" name="Shape 66"/>
          <p:cNvSpPr/>
          <p:nvPr/>
        </p:nvSpPr>
        <p:spPr>
          <a:xfrm>
            <a:off x="7479792" y="5367528"/>
            <a:ext cx="4178808" cy="1051560"/>
          </a:xfrm>
          <a:prstGeom prst="roundRect">
            <a:avLst>
              <a:gd name="adj" fmla="val 11304"/>
            </a:avLst>
          </a:prstGeom>
          <a:solidFill>
            <a:srgbClr val="FFF8EE"/>
          </a:solidFill>
          <a:ln w="8255">
            <a:solidFill>
              <a:srgbClr val="F2B64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rot="5400000">
            <a:off x="7754112" y="5623560"/>
            <a:ext cx="308610" cy="342900"/>
          </a:xfrm>
          <a:prstGeom prst="homePlate">
            <a:avLst/>
          </a:prstGeom>
          <a:solidFill>
            <a:srgbClr val="FFF3D6"/>
          </a:solidFill>
          <a:ln w="12700">
            <a:solidFill>
              <a:srgbClr val="F2B64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829550" y="5657850"/>
            <a:ext cx="15087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9A67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!</a:t>
            </a:r>
            <a:endParaRPr lang="en-US" sz="1125" dirty="0"/>
          </a:p>
        </p:txBody>
      </p:sp>
      <p:sp>
        <p:nvSpPr>
          <p:cNvPr id="71" name="Text 69"/>
          <p:cNvSpPr/>
          <p:nvPr/>
        </p:nvSpPr>
        <p:spPr>
          <a:xfrm>
            <a:off x="8622792" y="5477256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正直な限界も可視化</a:t>
            </a:r>
            <a:endParaRPr lang="en-US" sz="1160" dirty="0"/>
          </a:p>
        </p:txBody>
      </p:sp>
      <p:sp>
        <p:nvSpPr>
          <p:cNvPr id="72" name="Text 70"/>
          <p:cNvSpPr/>
          <p:nvPr/>
        </p:nvSpPr>
        <p:spPr>
          <a:xfrm>
            <a:off x="8622792" y="5769864"/>
            <a:ext cx="2615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Graph-RC RMSE 2.171℃／offset_ema 0.215→0.216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「効かない補正」も採用しない判断ができる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502920" y="6510528"/>
            <a:ext cx="10972800" cy="0"/>
          </a:xfrm>
          <a:prstGeom prst="line">
            <a:avLst/>
          </a:prstGeom>
          <a:noFill/>
          <a:ln w="7620">
            <a:solidFill>
              <a:srgbClr val="DDE4E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02920" y="6556248"/>
            <a:ext cx="10607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Source: technical report §12–13 · test split is synthetic benchmark; values are °C unless noted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9672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94A3B8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F56A3B"/>
          </a:solidFill>
          <a:ln w="12700">
            <a:solidFill>
              <a:srgbClr val="F56A3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56032"/>
            <a:ext cx="1444752" cy="256032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265176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THERMAL CELL / 06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12648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まとめ｜予測器ではなく、CAEから判断までをつなぐ軽量基盤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521208" y="1060704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精度・物理解釈・実測接続を役割分担し、小規模チームでも追跡可能な成果物を残す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10835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本コードの価値は、単発の温度予測ではなく</a:t>
            </a:r>
            <a:endParaRPr lang="en-US" sz="2250" dirty="0"/>
          </a:p>
          <a:p>
            <a:pPr algn="ctr" indent="0" marL="0">
              <a:buNone/>
            </a:pPr>
            <a:r>
              <a:rPr lang="en-US" sz="225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「どのモデルを、どの用途で、なぜ採用するか」を説明できること。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85800" y="2395728"/>
            <a:ext cx="3273552" cy="212140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F56A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395728"/>
            <a:ext cx="3273552" cy="109728"/>
          </a:xfrm>
          <a:prstGeom prst="rect">
            <a:avLst/>
          </a:prstGeom>
          <a:solidFill>
            <a:srgbClr val="F56A3B"/>
          </a:solidFill>
          <a:ln w="12700">
            <a:solidFill>
              <a:srgbClr val="F56A3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624328"/>
            <a:ext cx="438912" cy="256032"/>
          </a:xfrm>
          <a:prstGeom prst="roundRect">
            <a:avLst>
              <a:gd name="adj" fmla="val 50000"/>
            </a:avLst>
          </a:prstGeom>
          <a:solidFill>
            <a:srgbClr val="F56A3B"/>
          </a:solidFill>
          <a:ln w="12700">
            <a:solidFill>
              <a:srgbClr val="F56A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263347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01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83062" y="2596896"/>
            <a:ext cx="102230" cy="29882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6A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28015" y="2832811"/>
            <a:ext cx="212324" cy="212324"/>
          </a:xfrm>
          <a:prstGeom prst="ellipse">
            <a:avLst/>
          </a:prstGeom>
          <a:solidFill>
            <a:srgbClr val="F56A3B"/>
          </a:solidFill>
          <a:ln w="12700">
            <a:solidFill>
              <a:srgbClr val="F56A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22381" y="2691262"/>
            <a:ext cx="27523" cy="180868"/>
          </a:xfrm>
          <a:prstGeom prst="rect">
            <a:avLst/>
          </a:prstGeom>
          <a:solidFill>
            <a:srgbClr val="F56A3B"/>
          </a:solidFill>
          <a:ln w="12700">
            <a:solidFill>
              <a:srgbClr val="F56A3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30632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主力予測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23544" y="34290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56A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LSTM / GRU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941832" y="383133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CAE surrogateの精度を担当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0.335℃ / 0.488℃ RMSE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4343400" y="2395728"/>
            <a:ext cx="3273552" cy="212140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16A6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43400" y="2395728"/>
            <a:ext cx="3273552" cy="109728"/>
          </a:xfrm>
          <a:prstGeom prst="rect">
            <a:avLst/>
          </a:prstGeom>
          <a:solidFill>
            <a:srgbClr val="16A6A0"/>
          </a:solidFill>
          <a:ln w="12700">
            <a:solidFill>
              <a:srgbClr val="16A6A0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26280" y="2624328"/>
            <a:ext cx="438912" cy="256032"/>
          </a:xfrm>
          <a:prstGeom prst="roundRect">
            <a:avLst>
              <a:gd name="adj" fmla="val 50000"/>
            </a:avLst>
          </a:prstGeom>
          <a:solidFill>
            <a:srgbClr val="16A6A0"/>
          </a:solidFill>
          <a:ln w="12700">
            <a:solidFill>
              <a:srgbClr val="16A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9432" y="263347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02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739128" y="3081528"/>
            <a:ext cx="204826" cy="-192024"/>
          </a:xfrm>
          <a:prstGeom prst="line">
            <a:avLst/>
          </a:prstGeom>
          <a:noFill/>
          <a:ln w="19050">
            <a:solidFill>
              <a:srgbClr val="16A6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3954" y="2889504"/>
            <a:ext cx="230429" cy="115214"/>
          </a:xfrm>
          <a:prstGeom prst="line">
            <a:avLst/>
          </a:prstGeom>
          <a:noFill/>
          <a:ln w="19050">
            <a:solidFill>
              <a:srgbClr val="16A6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74382" y="3004718"/>
            <a:ext cx="140818" cy="-153619"/>
          </a:xfrm>
          <a:prstGeom prst="line">
            <a:avLst/>
          </a:prstGeom>
          <a:noFill/>
          <a:ln w="19050">
            <a:solidFill>
              <a:srgbClr val="16A6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65976" y="3008376"/>
            <a:ext cx="102413" cy="102413"/>
          </a:xfrm>
          <a:prstGeom prst="ellipse">
            <a:avLst/>
          </a:prstGeom>
          <a:solidFill>
            <a:srgbClr val="16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70802" y="2816352"/>
            <a:ext cx="102413" cy="102413"/>
          </a:xfrm>
          <a:prstGeom prst="ellipse">
            <a:avLst/>
          </a:prstGeom>
          <a:solidFill>
            <a:srgbClr val="F56A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01230" y="2931566"/>
            <a:ext cx="102413" cy="102413"/>
          </a:xfrm>
          <a:prstGeom prst="ellipse">
            <a:avLst/>
          </a:prstGeom>
          <a:solidFill>
            <a:srgbClr val="16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42048" y="2777947"/>
            <a:ext cx="102413" cy="102413"/>
          </a:xfrm>
          <a:prstGeom prst="ellipse">
            <a:avLst/>
          </a:prstGeom>
          <a:solidFill>
            <a:srgbClr val="16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81144" y="30632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物理診断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81144" y="34290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6A6A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Graph-RC / State Space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4599432" y="383133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熱抵抗prior・平衡・減衰を可視化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予測精度と説明性を分離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8001000" y="2395728"/>
            <a:ext cx="3273552" cy="212140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3A6F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01000" y="2395728"/>
            <a:ext cx="3273552" cy="109728"/>
          </a:xfrm>
          <a:prstGeom prst="rect">
            <a:avLst/>
          </a:prstGeom>
          <a:solidFill>
            <a:srgbClr val="3A6FF7"/>
          </a:solidFill>
          <a:ln w="12700">
            <a:solidFill>
              <a:srgbClr val="3A6FF7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83880" y="2624328"/>
            <a:ext cx="438912" cy="256032"/>
          </a:xfrm>
          <a:prstGeom prst="roundRect">
            <a:avLst>
              <a:gd name="adj" fmla="val 50000"/>
            </a:avLst>
          </a:prstGeom>
          <a:solidFill>
            <a:srgbClr val="3A6FF7"/>
          </a:solidFill>
          <a:ln w="12700">
            <a:solidFill>
              <a:srgbClr val="3A6F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57032" y="263347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03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 rot="5400000">
            <a:off x="10488168" y="2660904"/>
            <a:ext cx="353873" cy="393192"/>
          </a:xfrm>
          <a:prstGeom prst="homePlate">
            <a:avLst/>
          </a:prstGeom>
          <a:solidFill>
            <a:srgbClr val="FFF3D6"/>
          </a:solidFill>
          <a:ln w="12700">
            <a:solidFill>
              <a:srgbClr val="F2B6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574670" y="2700223"/>
            <a:ext cx="173004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90" b="1" dirty="0">
                <a:solidFill>
                  <a:srgbClr val="9A67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!</a:t>
            </a:r>
            <a:endParaRPr lang="en-US" sz="1290" dirty="0"/>
          </a:p>
        </p:txBody>
      </p:sp>
      <p:sp>
        <p:nvSpPr>
          <p:cNvPr id="38" name="Text 36"/>
          <p:cNvSpPr/>
          <p:nvPr/>
        </p:nvSpPr>
        <p:spPr>
          <a:xfrm>
            <a:off x="8238744" y="30632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実測接続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238744" y="34290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3A6FF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forecast / monitor / residuals</a:t>
            </a:r>
            <a:endParaRPr lang="en-US" sz="1220" dirty="0"/>
          </a:p>
        </p:txBody>
      </p:sp>
      <p:sp>
        <p:nvSpPr>
          <p:cNvPr id="40" name="Text 38"/>
          <p:cNvSpPr/>
          <p:nvPr/>
        </p:nvSpPr>
        <p:spPr>
          <a:xfrm>
            <a:off x="8257032" y="383133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OOD・dt警告、one-step残差、弱補正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baseとfinalを併記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685800" y="4800600"/>
            <a:ext cx="10588752" cy="877824"/>
          </a:xfrm>
          <a:prstGeom prst="roundRect">
            <a:avLst>
              <a:gd name="adj" fmla="val 14583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0120" y="497433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2B6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現時点の推奨構成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2578608" y="4928616"/>
            <a:ext cx="8183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LSTM / GRUで予測  →  Graph-RCで熱仮説を診断  →  monitor / residualsで実測差を監視</a:t>
            </a:r>
            <a:endParaRPr lang="en-US" sz="1380" dirty="0"/>
          </a:p>
        </p:txBody>
      </p:sp>
      <p:sp>
        <p:nvSpPr>
          <p:cNvPr id="44" name="Text 42"/>
          <p:cNvSpPr/>
          <p:nvPr/>
        </p:nvSpPr>
        <p:spPr>
          <a:xfrm>
            <a:off x="713232" y="587959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0B1F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次の改善優先度</a:t>
            </a:r>
            <a:endParaRPr lang="en-US" sz="1140" dirty="0"/>
          </a:p>
        </p:txBody>
      </p:sp>
      <p:sp>
        <p:nvSpPr>
          <p:cNvPr id="45" name="Shape 43"/>
          <p:cNvSpPr/>
          <p:nvPr/>
        </p:nvSpPr>
        <p:spPr>
          <a:xfrm>
            <a:off x="2331720" y="5742432"/>
            <a:ext cx="269748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7620">
            <a:solidFill>
              <a:srgbClr val="F56A3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478024" y="5870448"/>
            <a:ext cx="228600" cy="228600"/>
          </a:xfrm>
          <a:prstGeom prst="ellipse">
            <a:avLst/>
          </a:prstGeom>
          <a:solidFill>
            <a:srgbClr val="F56A3B"/>
          </a:solidFill>
          <a:ln w="12700">
            <a:solidFill>
              <a:srgbClr val="F56A3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78024" y="586130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2807208" y="5806440"/>
            <a:ext cx="2029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33415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Graph-RCを物理温度空間で計算</a:t>
            </a:r>
            <a:endParaRPr lang="en-US" sz="870" dirty="0"/>
          </a:p>
        </p:txBody>
      </p:sp>
      <p:sp>
        <p:nvSpPr>
          <p:cNvPr id="49" name="Shape 47"/>
          <p:cNvSpPr/>
          <p:nvPr/>
        </p:nvSpPr>
        <p:spPr>
          <a:xfrm>
            <a:off x="5257800" y="5742432"/>
            <a:ext cx="269748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7620">
            <a:solidFill>
              <a:srgbClr val="F2B64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04104" y="5870448"/>
            <a:ext cx="228600" cy="228600"/>
          </a:xfrm>
          <a:prstGeom prst="ellipse">
            <a:avLst/>
          </a:prstGeom>
          <a:solidFill>
            <a:srgbClr val="F2B64B"/>
          </a:solidFill>
          <a:ln w="12700">
            <a:solidFill>
              <a:srgbClr val="F2B64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04104" y="586130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5733288" y="5806440"/>
            <a:ext cx="2029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33415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動的schedule holdoutを拡充</a:t>
            </a:r>
            <a:endParaRPr lang="en-US" sz="870" dirty="0"/>
          </a:p>
        </p:txBody>
      </p:sp>
      <p:sp>
        <p:nvSpPr>
          <p:cNvPr id="53" name="Shape 51"/>
          <p:cNvSpPr/>
          <p:nvPr/>
        </p:nvSpPr>
        <p:spPr>
          <a:xfrm>
            <a:off x="8183880" y="5742432"/>
            <a:ext cx="269748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7620">
            <a:solidFill>
              <a:srgbClr val="16A6A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330184" y="5870448"/>
            <a:ext cx="228600" cy="228600"/>
          </a:xfrm>
          <a:prstGeom prst="ellipse">
            <a:avLst/>
          </a:prstGeom>
          <a:solidFill>
            <a:srgbClr val="16A6A0"/>
          </a:solidFill>
          <a:ln w="12700">
            <a:solidFill>
              <a:srgbClr val="16A6A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330184" y="586130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820" dirty="0"/>
          </a:p>
        </p:txBody>
      </p:sp>
      <p:sp>
        <p:nvSpPr>
          <p:cNvPr id="56" name="Text 54"/>
          <p:cNvSpPr/>
          <p:nvPr/>
        </p:nvSpPr>
        <p:spPr>
          <a:xfrm>
            <a:off x="8659368" y="5806440"/>
            <a:ext cx="2029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33415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実測ログの品質・機差splitへ接続</a:t>
            </a:r>
            <a:endParaRPr lang="en-US" sz="870" dirty="0"/>
          </a:p>
        </p:txBody>
      </p:sp>
      <p:sp>
        <p:nvSpPr>
          <p:cNvPr id="57" name="Shape 55"/>
          <p:cNvSpPr/>
          <p:nvPr/>
        </p:nvSpPr>
        <p:spPr>
          <a:xfrm>
            <a:off x="685800" y="6336792"/>
            <a:ext cx="10588752" cy="219456"/>
          </a:xfrm>
          <a:prstGeom prst="roundRect">
            <a:avLst>
              <a:gd name="adj" fmla="val 33333"/>
            </a:avLst>
          </a:prstGeom>
          <a:solidFill>
            <a:srgbClr val="FDE7DE"/>
          </a:solidFill>
          <a:ln w="6350">
            <a:solidFill>
              <a:srgbClr val="F56A3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60120" y="6345936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56A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価値 ＝ 予測精度 × 公正な評価 × 物理解釈 × 実測接続</a:t>
            </a:r>
            <a:endParaRPr lang="en-US" sz="1020" dirty="0"/>
          </a:p>
        </p:txBody>
      </p:sp>
      <p:sp>
        <p:nvSpPr>
          <p:cNvPr id="59" name="Shape 57"/>
          <p:cNvSpPr/>
          <p:nvPr/>
        </p:nvSpPr>
        <p:spPr>
          <a:xfrm>
            <a:off x="502920" y="6510528"/>
            <a:ext cx="10972800" cy="0"/>
          </a:xfrm>
          <a:prstGeom prst="line">
            <a:avLst/>
          </a:prstGeom>
          <a:noFill/>
          <a:ln w="7620">
            <a:solidFill>
              <a:srgbClr val="DDE4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2920" y="6556248"/>
            <a:ext cx="10607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Source: heat_ML code + thermal_cell_v6_technical_report.md · recommended roles reflect current synthetic benchmark results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9672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94A3B8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上部Cell温度予測基盤 v6 — 技術説明スライド</dc:title>
  <dc:subject>heat_ML / thermal_cell_v6 technical summary</dc:subject>
  <dc:creator>OpenAI</dc:creator>
  <cp:lastModifiedBy>OpenAI</cp:lastModifiedBy>
  <cp:revision>1</cp:revision>
  <dcterms:created xsi:type="dcterms:W3CDTF">2026-06-22T00:30:45Z</dcterms:created>
  <dcterms:modified xsi:type="dcterms:W3CDTF">2026-06-22T00:30:45Z</dcterms:modified>
</cp:coreProperties>
</file>