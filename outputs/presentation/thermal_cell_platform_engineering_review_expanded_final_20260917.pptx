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5.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6.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095b28e388a423a" /><Relationship Type="http://schemas.openxmlformats.org/officeDocument/2006/relationships/extended-properties" Target="/docProps/app.xml" Id="Rba2f3d684c9243fd" /><Relationship Type="http://schemas.openxmlformats.org/officeDocument/2006/relationships/officeDocument" Target="/ppt/presentation.xml" Id="R147a756adf5642b7" /></Relationships>
</file>

<file path=ppt/presentation.xml><?xml version="1.0" encoding="utf-8"?>
<p:presentation xmlns:p="http://schemas.openxmlformats.org/presentationml/2006/main">
  <p:sldMasterIdLst>
    <p:sldMasterId xmlns:r="http://schemas.openxmlformats.org/officeDocument/2006/relationships" id="2147483648" r:id="R37f78da62acb4b7c"/>
  </p:sldMasterIdLst>
  <p:notesMasterIdLst>
    <p:notesMasterId xmlns:r="http://schemas.openxmlformats.org/officeDocument/2006/relationships" r:id="Rd20771c47fb34432"/>
  </p:notesMasterIdLst>
  <p:sldIdLst>
    <p:sldId xmlns:r="http://schemas.openxmlformats.org/officeDocument/2006/relationships" id="256" r:id="Rf4d7c37efce44210"/>
    <p:sldId xmlns:r="http://schemas.openxmlformats.org/officeDocument/2006/relationships" id="257" r:id="R677b32607fd948a3"/>
    <p:sldId xmlns:r="http://schemas.openxmlformats.org/officeDocument/2006/relationships" id="258" r:id="R77815c68d7f34308"/>
    <p:sldId xmlns:r="http://schemas.openxmlformats.org/officeDocument/2006/relationships" id="259" r:id="R9edb8613d82a45f2"/>
    <p:sldId xmlns:r="http://schemas.openxmlformats.org/officeDocument/2006/relationships" id="260" r:id="Refb89e790f804cf0"/>
    <p:sldId xmlns:r="http://schemas.openxmlformats.org/officeDocument/2006/relationships" id="261" r:id="R008baaeef6034a38"/>
    <p:sldId xmlns:r="http://schemas.openxmlformats.org/officeDocument/2006/relationships" id="262" r:id="R5719173d4f504c25"/>
    <p:sldId xmlns:r="http://schemas.openxmlformats.org/officeDocument/2006/relationships" id="263" r:id="Recf5308404314dcb"/>
    <p:sldId xmlns:r="http://schemas.openxmlformats.org/officeDocument/2006/relationships" id="264" r:id="R4dd09af60a38469a"/>
    <p:sldId xmlns:r="http://schemas.openxmlformats.org/officeDocument/2006/relationships" id="265" r:id="R000679790fbb47e8"/>
    <p:sldId xmlns:r="http://schemas.openxmlformats.org/officeDocument/2006/relationships" id="266" r:id="R2341f3815e4d4036"/>
    <p:sldId xmlns:r="http://schemas.openxmlformats.org/officeDocument/2006/relationships" id="267" r:id="Ra72e3052aa714943"/>
    <p:sldId xmlns:r="http://schemas.openxmlformats.org/officeDocument/2006/relationships" id="268" r:id="R788da102ffea4c7e"/>
    <p:sldId xmlns:r="http://schemas.openxmlformats.org/officeDocument/2006/relationships" id="269" r:id="R6a787d06dd1c4c91"/>
    <p:sldId xmlns:r="http://schemas.openxmlformats.org/officeDocument/2006/relationships" id="270" r:id="Rc3593753ebe64820"/>
    <p:sldId xmlns:r="http://schemas.openxmlformats.org/officeDocument/2006/relationships" id="271" r:id="R36d22c43d69f48fc"/>
    <p:sldId xmlns:r="http://schemas.openxmlformats.org/officeDocument/2006/relationships" id="272" r:id="R6a8759c84dbd427e"/>
    <p:sldId xmlns:r="http://schemas.openxmlformats.org/officeDocument/2006/relationships" id="273" r:id="R801310ff8f1e4c86"/>
    <p:sldId xmlns:r="http://schemas.openxmlformats.org/officeDocument/2006/relationships" id="274" r:id="R1f37ebe9f6184577"/>
    <p:sldId xmlns:r="http://schemas.openxmlformats.org/officeDocument/2006/relationships" id="275" r:id="R52f243a4d771444a"/>
    <p:sldId xmlns:r="http://schemas.openxmlformats.org/officeDocument/2006/relationships" id="276" r:id="R9bce64a7cb424991"/>
    <p:sldId xmlns:r="http://schemas.openxmlformats.org/officeDocument/2006/relationships" id="277" r:id="R2ad72aa540bf4723"/>
    <p:sldId xmlns:r="http://schemas.openxmlformats.org/officeDocument/2006/relationships" id="278" r:id="R2d584dcf4fb34874"/>
    <p:sldId xmlns:r="http://schemas.openxmlformats.org/officeDocument/2006/relationships" id="279" r:id="R261f60ff08e04c9b"/>
    <p:sldId xmlns:r="http://schemas.openxmlformats.org/officeDocument/2006/relationships" id="280" r:id="Rf32e94be17464ae9"/>
    <p:sldId xmlns:r="http://schemas.openxmlformats.org/officeDocument/2006/relationships" id="281" r:id="R38f8a3deeb234713"/>
    <p:sldId xmlns:r="http://schemas.openxmlformats.org/officeDocument/2006/relationships" id="282" r:id="R86f91aaf9b2d4e9a"/>
    <p:sldId xmlns:r="http://schemas.openxmlformats.org/officeDocument/2006/relationships" id="283" r:id="R65462a6baaa34999"/>
    <p:sldId xmlns:r="http://schemas.openxmlformats.org/officeDocument/2006/relationships" id="284" r:id="R5eac5eb033a44b1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6fa7bef58804183" /><Relationship Type="http://schemas.openxmlformats.org/officeDocument/2006/relationships/slideMaster" Target="/ppt/slideMasters/slideMaster1.xml" Id="R37f78da62acb4b7c" /><Relationship Type="http://schemas.openxmlformats.org/officeDocument/2006/relationships/notesMaster" Target="/ppt/notesMasters/notesMaster1.xml" Id="Rd20771c47fb34432" /><Relationship Type="http://schemas.openxmlformats.org/officeDocument/2006/relationships/presProps" Target="/ppt/presProps.xml" Id="R7149a4817ff141dc" /><Relationship Type="http://schemas.openxmlformats.org/officeDocument/2006/relationships/tableStyles" Target="/ppt/tableStyles.xml" Id="R0abd8b9f0a8f42cc" /><Relationship Type="http://schemas.openxmlformats.org/officeDocument/2006/relationships/slide" Target="/ppt/slides/slide1.xml" Id="Rf4d7c37efce44210" /><Relationship Type="http://schemas.openxmlformats.org/officeDocument/2006/relationships/slide" Target="/ppt/slides/slide2.xml" Id="R677b32607fd948a3" /><Relationship Type="http://schemas.openxmlformats.org/officeDocument/2006/relationships/slide" Target="/ppt/slides/slide3.xml" Id="R77815c68d7f34308" /><Relationship Type="http://schemas.openxmlformats.org/officeDocument/2006/relationships/slide" Target="/ppt/slides/slide4.xml" Id="R9edb8613d82a45f2" /><Relationship Type="http://schemas.openxmlformats.org/officeDocument/2006/relationships/slide" Target="/ppt/slides/slide5.xml" Id="Refb89e790f804cf0" /><Relationship Type="http://schemas.openxmlformats.org/officeDocument/2006/relationships/slide" Target="/ppt/slides/slide6.xml" Id="R008baaeef6034a38" /><Relationship Type="http://schemas.openxmlformats.org/officeDocument/2006/relationships/slide" Target="/ppt/slides/slide7.xml" Id="R5719173d4f504c25" /><Relationship Type="http://schemas.openxmlformats.org/officeDocument/2006/relationships/slide" Target="/ppt/slides/slide8.xml" Id="Recf5308404314dcb" /><Relationship Type="http://schemas.openxmlformats.org/officeDocument/2006/relationships/slide" Target="/ppt/slides/slide9.xml" Id="R4dd09af60a38469a" /><Relationship Type="http://schemas.openxmlformats.org/officeDocument/2006/relationships/slide" Target="/ppt/slides/slide10.xml" Id="R000679790fbb47e8" /><Relationship Type="http://schemas.openxmlformats.org/officeDocument/2006/relationships/slide" Target="/ppt/slides/slide11.xml" Id="R2341f3815e4d4036" /><Relationship Type="http://schemas.openxmlformats.org/officeDocument/2006/relationships/slide" Target="/ppt/slides/slide12.xml" Id="Ra72e3052aa714943" /><Relationship Type="http://schemas.openxmlformats.org/officeDocument/2006/relationships/slide" Target="/ppt/slides/slide13.xml" Id="R788da102ffea4c7e" /><Relationship Type="http://schemas.openxmlformats.org/officeDocument/2006/relationships/slide" Target="/ppt/slides/slide14.xml" Id="R6a787d06dd1c4c91" /><Relationship Type="http://schemas.openxmlformats.org/officeDocument/2006/relationships/slide" Target="/ppt/slides/slide15.xml" Id="Rc3593753ebe64820" /><Relationship Type="http://schemas.openxmlformats.org/officeDocument/2006/relationships/slide" Target="/ppt/slides/slide16.xml" Id="R36d22c43d69f48fc" /><Relationship Type="http://schemas.openxmlformats.org/officeDocument/2006/relationships/slide" Target="/ppt/slides/slide17.xml" Id="R6a8759c84dbd427e" /><Relationship Type="http://schemas.openxmlformats.org/officeDocument/2006/relationships/slide" Target="/ppt/slides/slide18.xml" Id="R801310ff8f1e4c86" /><Relationship Type="http://schemas.openxmlformats.org/officeDocument/2006/relationships/slide" Target="/ppt/slides/slide19.xml" Id="R1f37ebe9f6184577" /><Relationship Type="http://schemas.openxmlformats.org/officeDocument/2006/relationships/slide" Target="/ppt/slides/slide20.xml" Id="R52f243a4d771444a" /><Relationship Type="http://schemas.openxmlformats.org/officeDocument/2006/relationships/slide" Target="/ppt/slides/slide21.xml" Id="R9bce64a7cb424991" /><Relationship Type="http://schemas.openxmlformats.org/officeDocument/2006/relationships/slide" Target="/ppt/slides/slide22.xml" Id="R2ad72aa540bf4723" /><Relationship Type="http://schemas.openxmlformats.org/officeDocument/2006/relationships/slide" Target="/ppt/slides/slide23.xml" Id="R2d584dcf4fb34874" /><Relationship Type="http://schemas.openxmlformats.org/officeDocument/2006/relationships/slide" Target="/ppt/slides/slide24.xml" Id="R261f60ff08e04c9b" /><Relationship Type="http://schemas.openxmlformats.org/officeDocument/2006/relationships/slide" Target="/ppt/slides/slide25.xml" Id="Rf32e94be17464ae9" /><Relationship Type="http://schemas.openxmlformats.org/officeDocument/2006/relationships/slide" Target="/ppt/slides/slide26.xml" Id="R38f8a3deeb234713" /><Relationship Type="http://schemas.openxmlformats.org/officeDocument/2006/relationships/slide" Target="/ppt/slides/slide27.xml" Id="R86f91aaf9b2d4e9a" /><Relationship Type="http://schemas.openxmlformats.org/officeDocument/2006/relationships/slide" Target="/ppt/slides/slide28.xml" Id="R65462a6baaa34999" /><Relationship Type="http://schemas.openxmlformats.org/officeDocument/2006/relationships/slide" Target="/ppt/slides/slide29.xml" Id="R5eac5eb033a44b1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e104635f862424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Equipment Engineering Review">
      <a:dk1>
        <a:srgbClr val="1B1B1B"/>
      </a:dk1>
      <a:lt1>
        <a:srgbClr val="FFFFFF"/>
      </a:lt1>
      <a:dk2>
        <a:srgbClr val="201445"/>
      </a:dk2>
      <a:lt2>
        <a:srgbClr val="D6D6D6"/>
      </a:lt2>
      <a:accent1>
        <a:srgbClr val="00A5D8"/>
      </a:accent1>
      <a:accent2>
        <a:srgbClr val="76BE18"/>
      </a:accent2>
      <a:accent3>
        <a:srgbClr val="7B2DAF"/>
      </a:accent3>
      <a:accent4>
        <a:srgbClr val="00A89D"/>
      </a:accent4>
      <a:accent5>
        <a:srgbClr val="E5A900"/>
      </a:accent5>
      <a:accent6>
        <a:srgbClr val="C4493D"/>
      </a:accent6>
      <a:hlink>
        <a:srgbClr val="007FA8"/>
      </a:hlink>
      <a:folHlink>
        <a:srgbClr val="7B2DAF"/>
      </a:folHlink>
    </a:clrScheme>
    <a:fontScheme name="Office">
      <a:majorFont>
        <a:latin typeface="Calibri Light"/>
        <a:ea typeface="Calibri Light"/>
        <a:cs typeface="Calibri Light"/>
      </a:majorFont>
      <a:minorFont>
        <a:latin typeface="Calibri"/>
        <a:ea typeface="Calibri"/>
        <a:cs typeface="Calibri"/>
      </a:minorFont>
    </a:fontScheme>
    <a:fmtScheme name="Equipment Engineering Review">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bfe82782c2402a" /><Relationship Type="http://schemas.openxmlformats.org/officeDocument/2006/relationships/notesMaster" Target="/ppt/notesMasters/notesMaster1.xml" Id="R5dc23e0374ec47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3ad5051e5c48a9" /><Relationship Type="http://schemas.openxmlformats.org/officeDocument/2006/relationships/notesMaster" Target="/ppt/notesMasters/notesMaster1.xml" Id="Ra8a4019bdc3949e4" /></Relationships>
</file>

<file path=ppt/notesSlides/_rels/notesSlide3.xml.rels>&#65279;<?xml version="1.0" encoding="utf-8"?><Relationships xmlns="http://schemas.openxmlformats.org/package/2006/relationships"><Relationship Type="http://schemas.openxmlformats.org/officeDocument/2006/relationships/slide" Target="/ppt/slides/slide3.xml" Id="R3a54444d0e124d8f" /><Relationship Type="http://schemas.openxmlformats.org/officeDocument/2006/relationships/notesMaster" Target="/ppt/notesMasters/notesMaster1.xml" Id="R63ad0ebcdaa346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74d4f2385fe4a8e" /><Relationship Type="http://schemas.openxmlformats.org/officeDocument/2006/relationships/notesMaster" Target="/ppt/notesMasters/notesMaster1.xml" Id="Ra73ac3ae075d44bb" /></Relationships>
</file>

<file path=ppt/notesSlides/_rels/notesSlide5.xml.rels>&#65279;<?xml version="1.0" encoding="utf-8"?><Relationships xmlns="http://schemas.openxmlformats.org/package/2006/relationships"><Relationship Type="http://schemas.openxmlformats.org/officeDocument/2006/relationships/slide" Target="/ppt/slides/slide5.xml" Id="Ra7d68c26fbe04eca" /><Relationship Type="http://schemas.openxmlformats.org/officeDocument/2006/relationships/notesMaster" Target="/ppt/notesMasters/notesMaster1.xml" Id="Ra9a76c1a8ab345ce"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ff82015a1c4623" /><Relationship Type="http://schemas.openxmlformats.org/officeDocument/2006/relationships/notesMaster" Target="/ppt/notesMasters/notesMaster1.xml" Id="R0a29a5ef41c24c96" /></Relationships>
</file>

<file path=ppt/notesSlides/_rels/notesSlide7.xml.rels>&#65279;<?xml version="1.0" encoding="utf-8"?><Relationships xmlns="http://schemas.openxmlformats.org/package/2006/relationships"><Relationship Type="http://schemas.openxmlformats.org/officeDocument/2006/relationships/slide" Target="/ppt/slides/slide7.xml" Id="Rf5c30ba285b045f5" /><Relationship Type="http://schemas.openxmlformats.org/officeDocument/2006/relationships/notesMaster" Target="/ppt/notesMasters/notesMaster1.xml" Id="Ra5c5565eb8bb44c8" /></Relationships>
</file>

<file path=ppt/notesSlides/_rels/notesSlide8.xml.rels>&#65279;<?xml version="1.0" encoding="utf-8"?><Relationships xmlns="http://schemas.openxmlformats.org/package/2006/relationships"><Relationship Type="http://schemas.openxmlformats.org/officeDocument/2006/relationships/slide" Target="/ppt/slides/slide8.xml" Id="Red5b0dda478a48ee" /><Relationship Type="http://schemas.openxmlformats.org/officeDocument/2006/relationships/notesMaster" Target="/ppt/notesMasters/notesMaster1.xml" Id="R8bba14cd14e344f7" /></Relationships>
</file>

<file path=ppt/notesSlides/_rels/notesSlide9.xml.rels>&#65279;<?xml version="1.0" encoding="utf-8"?><Relationships xmlns="http://schemas.openxmlformats.org/package/2006/relationships"><Relationship Type="http://schemas.openxmlformats.org/officeDocument/2006/relationships/slide" Target="/ppt/slides/slide9.xml" Id="R5605b3c6ba354e95" /><Relationship Type="http://schemas.openxmlformats.org/officeDocument/2006/relationships/notesMaster" Target="/ppt/notesMasters/notesMaster1.xml" Id="Rf96a6fe77ee24f8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e44a26c75564035" /><Relationship Type="http://schemas.openxmlformats.org/officeDocument/2006/relationships/notesMaster" Target="/ppt/notesMasters/notesMaster1.xml" Id="R1e7c330a634b42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43ed9706a6a403e" /><Relationship Type="http://schemas.openxmlformats.org/officeDocument/2006/relationships/notesMaster" Target="/ppt/notesMasters/notesMaster1.xml" Id="Rcaec9f20c28244d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c94a61e9704557" /><Relationship Type="http://schemas.openxmlformats.org/officeDocument/2006/relationships/notesMaster" Target="/ppt/notesMasters/notesMaster1.xml" Id="Rd569e6424efd40c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e3aa864ee814b07" /><Relationship Type="http://schemas.openxmlformats.org/officeDocument/2006/relationships/notesMaster" Target="/ppt/notesMasters/notesMaster1.xml" Id="Rb37a2663ecb148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9572397add840dd" /><Relationship Type="http://schemas.openxmlformats.org/officeDocument/2006/relationships/notesMaster" Target="/ppt/notesMasters/notesMaster1.xml" Id="R4a9ee53d0718473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49e32769c1445d1" /><Relationship Type="http://schemas.openxmlformats.org/officeDocument/2006/relationships/notesMaster" Target="/ppt/notesMasters/notesMaster1.xml" Id="R8b456fe79f6444c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f4851cd439e440d" /><Relationship Type="http://schemas.openxmlformats.org/officeDocument/2006/relationships/notesMaster" Target="/ppt/notesMasters/notesMaster1.xml" Id="R3cdcb0a8bdcb465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1ef0dedec724313" /><Relationship Type="http://schemas.openxmlformats.org/officeDocument/2006/relationships/notesMaster" Target="/ppt/notesMasters/notesMaster1.xml" Id="R2dad0f6f4271429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b0319626ce44afa" /><Relationship Type="http://schemas.openxmlformats.org/officeDocument/2006/relationships/notesMaster" Target="/ppt/notesMasters/notesMaster1.xml" Id="Rada730debecf45b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a591c4a5a0048ba" /><Relationship Type="http://schemas.openxmlformats.org/officeDocument/2006/relationships/notesMaster" Target="/ppt/notesMasters/notesMaster1.xml" Id="R65a50338b64f4db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84ac959b8aa4787" /><Relationship Type="http://schemas.openxmlformats.org/officeDocument/2006/relationships/notesMaster" Target="/ppt/notesMasters/notesMaster1.xml" Id="Raa9209f2dab34da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f7241c730d24797" /><Relationship Type="http://schemas.openxmlformats.org/officeDocument/2006/relationships/notesMaster" Target="/ppt/notesMasters/notesMaster1.xml" Id="R812c0643f80c4b6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f9c99d828f04f34" /><Relationship Type="http://schemas.openxmlformats.org/officeDocument/2006/relationships/notesMaster" Target="/ppt/notesMasters/notesMaster1.xml" Id="R626662a8fc704a8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819b0fd721842cc" /><Relationship Type="http://schemas.openxmlformats.org/officeDocument/2006/relationships/notesMaster" Target="/ppt/notesMasters/notesMaster1.xml" Id="R9487f829a38c4b8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9d0dcd7d47a4043" /><Relationship Type="http://schemas.openxmlformats.org/officeDocument/2006/relationships/notesMaster" Target="/ppt/notesMasters/notesMaster1.xml" Id="R618ae7c6e37747b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4704e2727f74aa0" /><Relationship Type="http://schemas.openxmlformats.org/officeDocument/2006/relationships/notesMaster" Target="/ppt/notesMasters/notesMaster1.xml" Id="R1e0fc9e1505141e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a3b0476f97d4729" /><Relationship Type="http://schemas.openxmlformats.org/officeDocument/2006/relationships/notesMaster" Target="/ppt/notesMasters/notesMaster1.xml" Id="R4424a4a0d9ac4f1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b9220d3316c4274" /><Relationship Type="http://schemas.openxmlformats.org/officeDocument/2006/relationships/notesMaster" Target="/ppt/notesMasters/notesMaster1.xml" Id="Rce26c34324c24bc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a8924d05c384142" /><Relationship Type="http://schemas.openxmlformats.org/officeDocument/2006/relationships/notesMaster" Target="/ppt/notesMasters/notesMaster1.xml" Id="R175369a5d95a487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490fdee0b954612" /><Relationship Type="http://schemas.openxmlformats.org/officeDocument/2006/relationships/notesMaster" Target="/ppt/notesMasters/notesMaster1.xml" Id="R86725b8351fa427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source: docs/technical_specification.md</a:t>
            </a:r>
          </a:p>
          <a:p xmlns:a="http://schemas.openxmlformats.org/drawingml/2006/main">
            <a:r>
              <a:t>Visual design reference only: Tokyo Electron FY2027 Q1 Financial Announcement, https://www.tel.com/ir/library/report/i242su0000000goz-att/fy27q1presentations-e.pdf</a:t>
            </a:r>
          </a:p>
          <a:p xmlns:a="http://schemas.openxmlformats.org/drawingml/2006/main">
            <a:r>
              <a:t>Tokyo Electron logo, trademark lockup, and official slide master are not used.</a:t>
            </a:r>
          </a:p>
          <a:p xmlns:a="http://schemas.openxmlformats.org/drawingml/2006/main">
            <a:r>
              <a:t>Repository: thermal-cell-practical.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README.md; docs/product_architecture.md sections 1 and 10.</a:t>
            </a:r>
          </a:p>
          <a:p xmlns:a="http://schemas.openxmlformats.org/drawingml/2006/main">
            <a:r>
              <a:t>The process diagram is a responsibility map, not a proprietary equipment architecture.</a:t>
            </a:r>
          </a:p>
          <a:p xmlns:a="http://schemas.openxmlformats.org/drawingml/2006/main">
            <a:r>
              <a:t>Claims about hotspot and radiation limits are supported by the COMSOL benchmark slides later in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README.md sections Purpose, Deployment artifact, Current model boundaries.</a:t>
            </a:r>
          </a:p>
          <a:p xmlns:a="http://schemas.openxmlformats.org/drawingml/2006/main">
            <a:r>
              <a:t>Sources: docs/product_architecture.md sections 5–8 and 10.</a:t>
            </a:r>
          </a:p>
          <a:p xmlns:a="http://schemas.openxmlformats.org/drawingml/2006/main">
            <a:r>
              <a:t>Forecast intervals include state/process uncertainty only; parameter, future-input, and model-form uncertainty are excluded.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docs/product_architecture.md sections 1, 7–10.</a:t>
            </a:r>
          </a:p>
          <a:p xmlns:a="http://schemas.openxmlformats.org/drawingml/2006/main">
            <a:r>
              <a:t>Source code: src/celltemp/cli.py, workflows/, inference.py, artifact.py, learning/, engine/, domain/, io/.</a:t>
            </a:r>
          </a:p>
          <a:p xmlns:a="http://schemas.openxmlformats.org/drawingml/2006/main">
            <a:r>
              <a:t>Architecture diagram shows dependency and responsibility, not runtime thread/process topology.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README.md; docs/product_architecture.md sections 1, 5–7, and 11.</a:t>
            </a:r>
          </a:p>
          <a:p xmlns:a="http://schemas.openxmlformats.org/drawingml/2006/main">
            <a:r>
              <a:t>Implemented status refers to repository workflows; equipment qualification remains a separate validation activity.</a:t>
            </a:r>
          </a:p>
          <a:p xmlns:a="http://schemas.openxmlformats.org/drawingml/2006/main">
            <a:r>
              <a:t>Future items are explicitly not claims about current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benchmarks/topcell/work/outputs/benchmark/benchmark_summary.json</a:t>
            </a:r>
          </a:p>
          <a:p xmlns:a="http://schemas.openxmlformats.org/drawingml/2006/main">
            <a:r>
              <a:t>Sources: external_tools/comsol_chip_cooling/work/evaluation/forecast_cases.csv</a:t>
            </a:r>
          </a:p>
          <a:p xmlns:a="http://schemas.openxmlformats.org/drawingml/2006/main">
            <a:r>
              <a:t>Sources: external_tools/comsol_chip_cooling/reports/cae_benchmark_report/source_data/high_fidelity_case_metrics.csv</a:t>
            </a:r>
          </a:p>
          <a:p xmlns:a="http://schemas.openxmlformats.org/drawingml/2006/main">
            <a:r>
              <a:t>Hotspot gap source: external_tools/comsol_chip_cooling/data/qa_summary.csv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semiconductor-equipment mapping; no proprietary equipment geometry is represented.</a:t>
            </a:r>
          </a:p>
          <a:p xmlns:a="http://schemas.openxmlformats.org/drawingml/2006/main">
            <a:r>
              <a:t>Physics source: docs/technical_specification.md sections 4 and 6.</a:t>
            </a:r>
          </a:p>
          <a:p xmlns:a="http://schemas.openxmlformats.org/drawingml/2006/main">
            <a:r>
              <a:t>System mapping source: external_tools/comsol_chip_cooling/system.yaml.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docs/technical_specification.md sections 11 and 12.</a:t>
            </a:r>
          </a:p>
          <a:p xmlns:a="http://schemas.openxmlformats.org/drawingml/2006/main">
            <a:r>
              <a:t>TopCell: benchmarks/topcell/work/outputs/benchmark/benchmark_summary.json.</a:t>
            </a:r>
          </a:p>
          <a:p xmlns:a="http://schemas.openxmlformats.org/drawingml/2006/main">
            <a:r>
              <a:t>Linear COMSOL: external_tools/comsol_chip_cooling/work/evaluation/forecast_cases.csv.</a:t>
            </a:r>
          </a:p>
          <a:p xmlns:a="http://schemas.openxmlformats.org/drawingml/2006/main">
            <a:r>
              <a:t>High fidelity: external_tools/comsol_chip_cooling/docs/high_fidelity_validation.md.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external_tools/comsol_chip_cooling/system.yaml.</a:t>
            </a:r>
          </a:p>
          <a:p xmlns:a="http://schemas.openxmlformats.org/drawingml/2006/main">
            <a:r>
              <a:t>Fitted values: external_tools/comsol_chip_cooling/work/evaluation/fitted_parameters.csv.</a:t>
            </a:r>
          </a:p>
          <a:p xmlns:a="http://schemas.openxmlformats.org/drawingml/2006/main">
            <a:r>
              <a:t>Boundary node weights are fixed at base 0.090909 and fins 0.909091.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docs/technical_specification.md sections 4.2, 4.3, 4.8, and 4.10.</a:t>
            </a:r>
          </a:p>
          <a:p xmlns:a="http://schemas.openxmlformats.org/drawingml/2006/main">
            <a:r>
              <a:t>Compact thermal modeling reference: Huang et al., IEEE TVLSI 2006, doi:10.1109/TVLSI.2006.876103.</a:t>
            </a:r>
          </a:p>
          <a:p xmlns:a="http://schemas.openxmlformats.org/drawingml/2006/main">
            <a:r>
              <a:t>Biot-number criterion is an engineering screening criterion for lumped-capacitance validity; node adequacy must be checked against local gradients.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src/celltemp/engine/laws.py, src/celltemp/engine/rc.py, src/celltemp/domain/topology.py.</a:t>
            </a:r>
          </a:p>
          <a:p xmlns:a="http://schemas.openxmlformats.org/drawingml/2006/main">
            <a:r>
              <a:t>Sources: docs/product_architecture.md sections 2 and 3; docs/model_notes.md.</a:t>
            </a:r>
          </a:p>
          <a:p xmlns:a="http://schemas.openxmlformats.org/drawingml/2006/main">
            <a:r>
              <a:t>All scalar-law outputs inherit the physical unit of the owning path: W/K for conductance and W for source heat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Derived calculation using external_tools/comsol_chip_cooling/system.yaml and fitted_parameters.csv.</a:t>
            </a:r>
          </a:p>
          <a:p xmlns:a="http://schemas.openxmlformats.org/drawingml/2006/main">
            <a:r>
              <a:t>Generalized eigenproblem K phi = lambda C phi at the nominal fitted linear condition.</a:t>
            </a:r>
          </a:p>
          <a:p xmlns:a="http://schemas.openxmlformats.org/drawingml/2006/main">
            <a:r>
              <a:t>Derived modal time constants: 0.186 s, 2.028 s, and 425.354 s. These are model modes, not directly measured equipment constants.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docs/technical_specification.md section 5.</a:t>
            </a:r>
          </a:p>
          <a:p xmlns:a="http://schemas.openxmlformats.org/drawingml/2006/main">
            <a:r>
              <a:t>References: Van Loan (1978), Higham (2005), Dahlquist (1963).</a:t>
            </a:r>
          </a:p>
          <a:p xmlns:a="http://schemas.openxmlformats.org/drawingml/2006/main">
            <a:r>
              <a:t>The exact-affine solver removes time-discretization error only under the piecewise-constant coefficient contract.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src/celltemp/learning/trainer.py and objective.py.</a:t>
            </a:r>
          </a:p>
          <a:p xmlns:a="http://schemas.openxmlformats.org/drawingml/2006/main">
            <a:r>
              <a:t>Example defaults: examples/topcell_quickstart/config.yaml and benchmarks/topcell/config.yaml.</a:t>
            </a:r>
          </a:p>
          <a:p xmlns:a="http://schemas.openxmlformats.org/drawingml/2006/main">
            <a:r>
              <a:t>The selected model is the state with minimum causal validation RMSE, not the final optimizer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docs/technical_specification.md sections 6 and 7.</a:t>
            </a:r>
          </a:p>
          <a:p xmlns:a="http://schemas.openxmlformats.org/drawingml/2006/main">
            <a:r>
              <a:t>Parameter-specific DOE recommendations are engineering implications of the fitted three-mode time constants shown on slide 7.</a:t>
            </a:r>
          </a:p>
          <a:p xmlns:a="http://schemas.openxmlformats.org/drawingml/2006/main">
            <a:r>
              <a:t>Robust loss reference: Huber (1964). Optimizer reference: Kingma and Ba (2014).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src/celltemp/engine/rc.py, learning/objective.py, learning/trainer.py, inference.py, engine/observer.py.</a:t>
            </a:r>
          </a:p>
          <a:p xmlns:a="http://schemas.openxmlformats.org/drawingml/2006/main">
            <a:r>
              <a:t>Coverage source: src/celltemp/workflows/forecast.py.</a:t>
            </a:r>
          </a:p>
          <a:p xmlns:a="http://schemas.openxmlformats.org/drawingml/2006/main">
            <a:r>
              <a:t>Extension rule source: docs/product_architecture.md section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docs/product_architecture.md sections 2, 7, and 8.</a:t>
            </a:r>
          </a:p>
          <a:p xmlns:a="http://schemas.openxmlformats.org/drawingml/2006/main">
            <a:r>
              <a:t>Sources: src/celltemp/domain/trajectory.py, artifact.py, workflows/common.py, inference.py.</a:t>
            </a:r>
          </a:p>
          <a:p xmlns:a="http://schemas.openxmlformats.org/drawingml/2006/main">
            <a:r>
              <a:t>Artifact metadata schema version is 4 in the current repository implementation.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src/celltemp/cli.py, workflows/train.py, workflows/common.py, artifact.py.</a:t>
            </a:r>
          </a:p>
          <a:p xmlns:a="http://schemas.openxmlformats.org/drawingml/2006/main">
            <a:r>
              <a:t>Split grouping source: src/celltemp/learning/split.py.</a:t>
            </a:r>
          </a:p>
          <a:p xmlns:a="http://schemas.openxmlformats.org/drawingml/2006/main">
            <a:r>
              <a:t>The command shown is equivalent to the documented console entry point `celltemp train --config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docs/technical_specification.md section 7.</a:t>
            </a:r>
          </a:p>
          <a:p xmlns:a="http://schemas.openxmlformats.org/drawingml/2006/main">
            <a:r>
              <a:t>The causal cutoff is a data-contract requirement, not a presentation-only convention.</a:t>
            </a:r>
          </a:p>
          <a:p xmlns:a="http://schemas.openxmlformats.org/drawingml/2006/main">
            <a:r>
              <a:t>Uncertainty scope distinguishes propagated state covariance from parameter and model-form uncertainty.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docs/technical_specification.md section 8.</a:t>
            </a:r>
          </a:p>
          <a:p xmlns:a="http://schemas.openxmlformats.org/drawingml/2006/main">
            <a:r>
              <a:t>Thresholds: chi-square quantiles at confidence 0.9999 used by external_tools/comsol_chip_cooling/evaluate.py.</a:t>
            </a:r>
          </a:p>
          <a:p xmlns:a="http://schemas.openxmlformats.org/drawingml/2006/main">
            <a:r>
              <a:t>References: Kalman (1960), Van Loan (1978), Bar-Shalom et al. (2001).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benchmarks/topcell/run.py and benchmarks/topcell/README.md.</a:t>
            </a:r>
          </a:p>
          <a:p xmlns:a="http://schemas.openxmlformats.org/drawingml/2006/main">
            <a:r>
              <a:t>Sources: external_tools/comsol_chip_cooling/run.py, evaluate.py, benchmark_high_fidelity.py.</a:t>
            </a:r>
          </a:p>
          <a:p xmlns:a="http://schemas.openxmlformats.org/drawingml/2006/main">
            <a:r>
              <a:t>Report source: external_tools/comsol_chip_cooling/reports/cae_benchmark_report/build_report.py and source_data/.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M03 trace: external_tools/comsol_chip_cooling/work/outputs/monitor/M03_sensor_offset.csv.</a:t>
            </a:r>
          </a:p>
          <a:p xmlns:a="http://schemas.openxmlformats.org/drawingml/2006/main">
            <a:r>
              <a:t>M05 estimate: external_tools/comsol_chip_cooling/work/outputs/monitor/M05_uncommanded_heat.csv.</a:t>
            </a:r>
          </a:p>
          <a:p xmlns:a="http://schemas.openxmlformats.org/drawingml/2006/main">
            <a:r>
              <a:t>M05 truth: external_tools/comsol_chip_cooling/data/eval/monitor/M05_uncommanded_heat.csv.</a:t>
            </a:r>
          </a:p>
          <a:p xmlns:a="http://schemas.openxmlformats.org/drawingml/2006/main">
            <a:r>
              <a:t>Metrics/events: external_tools/comsol_chip_cooling/work/evaluation/monitor_cases.csv and monitor_events.csv.</a:t>
            </a:r>
          </a:p>
          <a:p xmlns:a="http://schemas.openxmlformats.org/drawingml/2006/main">
            <a:r>
              <a:t>Charts use downsampled display points while preserving event start and first-detection timestamps.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benchmarks/topcell/work/outputs/benchmark/forecast_by_group.csv.</a:t>
            </a:r>
          </a:p>
          <a:p xmlns:a="http://schemas.openxmlformats.org/drawingml/2006/main">
            <a:r>
              <a:t>Source: benchmarks/topcell/work/outputs/benchmark/forecast_by_case.csv.</a:t>
            </a:r>
          </a:p>
          <a:p xmlns:a="http://schemas.openxmlformats.org/drawingml/2006/main">
            <a:r>
              <a:t>Source: benchmarks/topcell/work/outputs/benchmark/benchmark_summary.json.</a:t>
            </a:r>
          </a:p>
          <a:p xmlns:a="http://schemas.openxmlformats.org/drawingml/2006/main">
            <a:r>
              <a:t>F11 is an intentional model-form-gap case and is excluded from the core mean.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external_tools/comsol_chip_cooling/work/evaluation/forecast_cases.csv.</a:t>
            </a:r>
          </a:p>
          <a:p xmlns:a="http://schemas.openxmlformats.org/drawingml/2006/main">
            <a:r>
              <a:t>Parameters: external_tools/comsol_chip_cooling/work/evaluation/fitted_parameters.csv.</a:t>
            </a:r>
          </a:p>
          <a:p xmlns:a="http://schemas.openxmlformats.org/drawingml/2006/main">
            <a:r>
              <a:t>Hotspot metrics: external_tools/comsol_chip_cooling/data/qa_summary.csv and CAE report source data.</a:t>
            </a:r>
          </a:p>
          <a:p xmlns:a="http://schemas.openxmlformats.org/drawingml/2006/main">
            <a:r>
              <a:t>Reported model outputs are volume-average node temperatures; hotspot metrics are separate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external_tools/comsol_chip_cooling/reports/cae_benchmark_report/source_data/mesh_convergence.csv.</a:t>
            </a:r>
          </a:p>
          <a:p xmlns:a="http://schemas.openxmlformats.org/drawingml/2006/main">
            <a:r>
              <a:t>Source: external_tools/comsol_chip_cooling/docs/high_fidelity_validation.md.</a:t>
            </a:r>
          </a:p>
          <a:p xmlns:a="http://schemas.openxmlformats.org/drawingml/2006/main">
            <a:r>
              <a:t>The red dashed line is a visual guide for the documented strict-average criterion of 0.25 K.</a:t>
            </a:r>
          </a:p>
          <a:p xmlns:a="http://schemas.openxmlformats.org/drawingml/2006/main">
            <a:r>
              <a:t>Global-8 to local-coarse MC01 chip-average difference is 15.9128095 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High-fidelity metrics: external_tools/comsol_chip_cooling/reports/cae_benchmark_report/source_data/high_fidelity_case_metrics.csv.</a:t>
            </a:r>
          </a:p>
          <a:p xmlns:a="http://schemas.openxmlformats.org/drawingml/2006/main">
            <a:r>
              <a:t>Radiation trace: external_tools/comsol_chip_cooling/reports/cae_benchmark_report/source_data/high_fidelity_radiation_trace.csv.</a:t>
            </a:r>
          </a:p>
          <a:p xmlns:a="http://schemas.openxmlformats.org/drawingml/2006/main">
            <a:r>
              <a:t>At 220 s: truth radiation delta = -0.38133367 K; model delta = -0.00122234 K; conservative mesh difference = 0.4962085957 K.</a:t>
            </a:r>
          </a:p>
          <a:p xmlns:a="http://schemas.openxmlformats.org/drawingml/2006/main">
            <a:r>
              <a:t>Interpretation: absolute forecast screening improved, but the radiation sensitivity magnitude is not validated.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cases are derived from the implemented forecast and monitor workflows documented in docs/technical_specification.md.</a:t>
            </a:r>
          </a:p>
          <a:p xmlns:a="http://schemas.openxmlformats.org/drawingml/2006/main">
            <a:r>
              <a:t>No runtime-speedup or cost-saving figure is claimed because the current benchmark does not report an end-to-end operational baseline.</a:t>
            </a:r>
          </a:p>
          <a:p xmlns:a="http://schemas.openxmlformats.org/drawingml/2006/main">
            <a:r>
              <a:t>Adoption gates are engineering recommendations for semiconductor-equipment integration.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docs/technical_specification.md sections 11 and 12.</a:t>
            </a:r>
          </a:p>
          <a:p xmlns:a="http://schemas.openxmlformats.org/drawingml/2006/main">
            <a:r>
              <a:t>Validation stages are an equipment-engineering implementation plan derived from the current evidence gaps.</a:t>
            </a:r>
          </a:p>
          <a:p xmlns:a="http://schemas.openxmlformats.org/drawingml/2006/main">
            <a:r>
              <a:t>Acceptance thresholds must be agreed from FMEA, control specifications, and the product thermal budget before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R1 doi:10.1109/TVLSI.2006.876103.</a:t>
            </a:r>
          </a:p>
          <a:p xmlns:a="http://schemas.openxmlformats.org/drawingml/2006/main">
            <a:r>
              <a:t>R2 Farina and Rinaldi, Positive Linear Systems, Wiley.</a:t>
            </a:r>
          </a:p>
          <a:p xmlns:a="http://schemas.openxmlformats.org/drawingml/2006/main">
            <a:r>
              <a:t>R3 doi:10.1115/1.3662552.</a:t>
            </a:r>
          </a:p>
          <a:p xmlns:a="http://schemas.openxmlformats.org/drawingml/2006/main">
            <a:r>
              <a:t>R4 IEEE Transactions on Automatic Control 23(3), 1978.</a:t>
            </a:r>
          </a:p>
          <a:p xmlns:a="http://schemas.openxmlformats.org/drawingml/2006/main">
            <a:r>
              <a:t>R5 SIAM Journal on Matrix Analysis and Applications 26(4), 2005.</a:t>
            </a:r>
          </a:p>
          <a:p xmlns:a="http://schemas.openxmlformats.org/drawingml/2006/main">
            <a:r>
              <a:t>R6 doi:10.1214/aoms/1177703732.</a:t>
            </a:r>
          </a:p>
          <a:p xmlns:a="http://schemas.openxmlformats.org/drawingml/2006/main">
            <a:r>
              <a:t>R7 https://arxiv.org/abs/1412.6980.</a:t>
            </a:r>
          </a:p>
          <a:p xmlns:a="http://schemas.openxmlformats.org/drawingml/2006/main">
            <a:r>
              <a:t>Visual reference: https://www.tel.com/ir/library/report/i242su0000000goz-att/fy27q1presentations-e.pdf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67d66ae65b438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b31eb52562546b3" /><Relationship Type="http://schemas.openxmlformats.org/officeDocument/2006/relationships/slideLayout" Target="/ppt/slideLayouts/slideLayout1.xml" Id="R96607d2d3dbd4f0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6607d2d3dbd4f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Equipment Engineering Review">
      <a:dk1>
        <a:srgbClr val="1B1B1B"/>
      </a:dk1>
      <a:lt1>
        <a:srgbClr val="FFFFFF"/>
      </a:lt1>
      <a:dk2>
        <a:srgbClr val="201445"/>
      </a:dk2>
      <a:lt2>
        <a:srgbClr val="D6D6D6"/>
      </a:lt2>
      <a:accent1>
        <a:srgbClr val="00A5D8"/>
      </a:accent1>
      <a:accent2>
        <a:srgbClr val="76BE18"/>
      </a:accent2>
      <a:accent3>
        <a:srgbClr val="7B2DAF"/>
      </a:accent3>
      <a:accent4>
        <a:srgbClr val="00A89D"/>
      </a:accent4>
      <a:accent5>
        <a:srgbClr val="E5A900"/>
      </a:accent5>
      <a:accent6>
        <a:srgbClr val="C4493D"/>
      </a:accent6>
      <a:hlink>
        <a:srgbClr val="007FA8"/>
      </a:hlink>
      <a:folHlink>
        <a:srgbClr val="7B2DAF"/>
      </a:folHlink>
    </a:clrScheme>
    <a:fontScheme name="Office">
      <a:majorFont>
        <a:latin typeface="Calibri Light"/>
        <a:ea typeface="Calibri Light"/>
        <a:cs typeface="Calibri Light"/>
      </a:majorFont>
      <a:minorFont>
        <a:latin typeface="Calibri"/>
        <a:ea typeface="Calibri"/>
        <a:cs typeface="Calibri"/>
      </a:minorFont>
    </a:fontScheme>
    <a:fmtScheme name="Equipment Engineering Review">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123a28e951c4065" /><Relationship Type="http://schemas.openxmlformats.org/officeDocument/2006/relationships/notesSlide" Target="/ppt/notesSlides/notesSlide1.xml" Id="Re9755f0c352543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eff1d50b9ba4fc7" /><Relationship Type="http://schemas.openxmlformats.org/officeDocument/2006/relationships/notesSlide" Target="/ppt/notesSlides/notesSlide2.xml" Id="R9d1b9eed17604d5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3d91a3e73e34394" /><Relationship Type="http://schemas.openxmlformats.org/officeDocument/2006/relationships/notesSlide" Target="/ppt/notesSlides/notesSlide3.xml" Id="R3071373feff344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85a3bbcb9264cf3" /><Relationship Type="http://schemas.openxmlformats.org/officeDocument/2006/relationships/notesSlide" Target="/ppt/notesSlides/notesSlide4.xml" Id="Rd6cb0412a61b427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a311554310a4151" /><Relationship Type="http://schemas.openxmlformats.org/officeDocument/2006/relationships/notesSlide" Target="/ppt/notesSlides/notesSlide5.xml" Id="R737ce0008bb94f0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6695a7cb32642d5" /><Relationship Type="http://schemas.openxmlformats.org/officeDocument/2006/relationships/notesSlide" Target="/ppt/notesSlides/notesSlide6.xml" Id="Rd65de83f5c9b4cb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31ff9ff9486412e" /><Relationship Type="http://schemas.openxmlformats.org/officeDocument/2006/relationships/notesSlide" Target="/ppt/notesSlides/notesSlide7.xml" Id="R55a28d589a4e4e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fd2f0fa7ae14938" /><Relationship Type="http://schemas.openxmlformats.org/officeDocument/2006/relationships/notesSlide" Target="/ppt/notesSlides/notesSlide8.xml" Id="Rf1992b911e4b4a6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ee5b697917f444f" /><Relationship Type="http://schemas.openxmlformats.org/officeDocument/2006/relationships/notesSlide" Target="/ppt/notesSlides/notesSlide9.xml" Id="R8d53e451fc91462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255ae3cb82a447b" /><Relationship Type="http://schemas.openxmlformats.org/officeDocument/2006/relationships/notesSlide" Target="/ppt/notesSlides/notesSlide10.xml" Id="R0bf6a04ccfe543c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7dd0b0a63f643cd" /><Relationship Type="http://schemas.openxmlformats.org/officeDocument/2006/relationships/notesSlide" Target="/ppt/notesSlides/notesSlide11.xml" Id="Rb9db66d6d3dc44b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19fcb2b2cdd4537" /><Relationship Type="http://schemas.openxmlformats.org/officeDocument/2006/relationships/notesSlide" Target="/ppt/notesSlides/notesSlide12.xml" Id="R822af2c7ba6a47a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dd10d210d434b41" /><Relationship Type="http://schemas.openxmlformats.org/officeDocument/2006/relationships/notesSlide" Target="/ppt/notesSlides/notesSlide13.xml" Id="Rf77b3a71ce19435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1939d1fff6f47f9" /><Relationship Type="http://schemas.openxmlformats.org/officeDocument/2006/relationships/notesSlide" Target="/ppt/notesSlides/notesSlide14.xml" Id="Rf910a7fb115c452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f6a4fa27f8f4a96" /><Relationship Type="http://schemas.openxmlformats.org/officeDocument/2006/relationships/notesSlide" Target="/ppt/notesSlides/notesSlide15.xml" Id="R6aa665c91f834f8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2bba3c334a94cb6" /><Relationship Type="http://schemas.openxmlformats.org/officeDocument/2006/relationships/notesSlide" Target="/ppt/notesSlides/notesSlide16.xml" Id="R48c983d80f424a4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6bd34710cf046b4" /><Relationship Type="http://schemas.openxmlformats.org/officeDocument/2006/relationships/notesSlide" Target="/ppt/notesSlides/notesSlide17.xml" Id="R4a8ea06bc19c492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4e1b1c000304237" /><Relationship Type="http://schemas.openxmlformats.org/officeDocument/2006/relationships/notesSlide" Target="/ppt/notesSlides/notesSlide18.xml" Id="R1099d7672de44ec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cca55bdcfd24c9c" /><Relationship Type="http://schemas.openxmlformats.org/officeDocument/2006/relationships/notesSlide" Target="/ppt/notesSlides/notesSlide19.xml" Id="Rb526a9ba2edc44d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51b7d7365574b7c" /><Relationship Type="http://schemas.openxmlformats.org/officeDocument/2006/relationships/notesSlide" Target="/ppt/notesSlides/notesSlide20.xml" Id="R627437139ba0454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485f7d92fc444aa" /><Relationship Type="http://schemas.openxmlformats.org/officeDocument/2006/relationships/notesSlide" Target="/ppt/notesSlides/notesSlide21.xml" Id="R0e2ee2aa7bc6404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3a81cb23ee94e0c" /><Relationship Type="http://schemas.openxmlformats.org/officeDocument/2006/relationships/chart" Target="/ppt/slides/charts/chart1.xml" Id="R80a52bdc841d4bf4" /><Relationship Type="http://schemas.openxmlformats.org/officeDocument/2006/relationships/chart" Target="/ppt/slides/charts/chart2.xml" Id="R516c2687d96745fb" /><Relationship Type="http://schemas.openxmlformats.org/officeDocument/2006/relationships/notesSlide" Target="/ppt/notesSlides/notesSlide22.xml" Id="Rbb0f7810fca441c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c11c8e6da7a42b7" /><Relationship Type="http://schemas.openxmlformats.org/officeDocument/2006/relationships/chart" Target="/ppt/slides/charts/chart3.xml" Id="Rd108f5a285d2406c" /><Relationship Type="http://schemas.openxmlformats.org/officeDocument/2006/relationships/chart" Target="/ppt/slides/charts/chart4.xml" Id="R51cf965c3f664a90" /><Relationship Type="http://schemas.openxmlformats.org/officeDocument/2006/relationships/notesSlide" Target="/ppt/notesSlides/notesSlide23.xml" Id="Rf7114d44e945422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3ccdfb971ce4485" /><Relationship Type="http://schemas.openxmlformats.org/officeDocument/2006/relationships/chart" Target="/ppt/slides/charts/chart5.xml" Id="R5d38152ca68d4e9f" /><Relationship Type="http://schemas.openxmlformats.org/officeDocument/2006/relationships/notesSlide" Target="/ppt/notesSlides/notesSlide24.xml" Id="R6f2d5357d2a4405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af0138127fe4cc9" /><Relationship Type="http://schemas.openxmlformats.org/officeDocument/2006/relationships/chart" Target="/ppt/slides/charts/chart6.xml" Id="R8dfa04ca6a734358" /><Relationship Type="http://schemas.openxmlformats.org/officeDocument/2006/relationships/notesSlide" Target="/ppt/notesSlides/notesSlide25.xml" Id="R4d18a5102511468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1fd6735b3b34656" /><Relationship Type="http://schemas.openxmlformats.org/officeDocument/2006/relationships/chart" Target="/ppt/slides/charts/chart7.xml" Id="Re8e0d3d224e0435f" /><Relationship Type="http://schemas.openxmlformats.org/officeDocument/2006/relationships/chart" Target="/ppt/slides/charts/chart8.xml" Id="R77ce928bb3a844f2" /><Relationship Type="http://schemas.openxmlformats.org/officeDocument/2006/relationships/notesSlide" Target="/ppt/notesSlides/notesSlide26.xml" Id="R42b82c9316de46f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b8bf2b1473c14f36" /><Relationship Type="http://schemas.openxmlformats.org/officeDocument/2006/relationships/notesSlide" Target="/ppt/notesSlides/notesSlide27.xml" Id="R56254d9ad2ae4ce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770d2ff19364eb1" /><Relationship Type="http://schemas.openxmlformats.org/officeDocument/2006/relationships/notesSlide" Target="/ppt/notesSlides/notesSlide28.xml" Id="R7a71e9cf37ca4df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8f468f6271f24793" /><Relationship Type="http://schemas.openxmlformats.org/officeDocument/2006/relationships/notesSlide" Target="/ppt/notesSlides/notesSlide29.xml" Id="R956e8f93a1434ec2" /></Relationships>
</file>

<file path=ppt/slides/charts/chart1.xml><?xml version="1.0" encoding="utf-8"?>
<c:chartSpace xmlns:c="http://schemas.openxmlformats.org/drawingml/2006/chart">
  <c:lang val="en-US"/>
  <c:chart>
    <c:plotArea>
      <c:lineChart>
        <c:grouping val="standard"/>
        <c:varyColors val="0"/>
        <c:ser>
          <c:idx val="0"/>
          <c:order val="0"/>
          <c:tx>
            <c:v>NIS / threshold</c:v>
          </c:tx>
          <c:spPr>
            <a:ln xmlns:a="http://schemas.openxmlformats.org/drawingml/2006/main" w="28575">
              <a:solidFill>
                <a:srgbClr val="7B2DAF"/>
              </a:solidFill>
              <a:prstDash val="solid"/>
            </a:ln>
          </c:spPr>
          <c:marker>
            <c:symbol val="circle"/>
            <c:size val="4"/>
            <c:spPr>
              <a:solidFill xmlns:a="http://schemas.openxmlformats.org/drawingml/2006/main">
                <a:srgbClr val="7B2DAF"/>
              </a:solidFill>
            </c:spPr>
          </c:marker>
          <c:cat>
            <c:numLit>
              <c:formatCode>General</c:formatCode>
              <c:ptCount val="7"/>
              <c:pt idx="0">
                <c:v>270</c:v>
              </c:pt>
              <c:pt idx="1">
                <c:v>280</c:v>
              </c:pt>
              <c:pt idx="2">
                <c:v>290</c:v>
              </c:pt>
              <c:pt idx="3">
                <c:v>300</c:v>
              </c:pt>
              <c:pt idx="4">
                <c:v>310</c:v>
              </c:pt>
              <c:pt idx="5">
                <c:v>320</c:v>
              </c:pt>
              <c:pt idx="6">
                <c:v>330</c:v>
              </c:pt>
            </c:numLit>
          </c:cat>
          <c:val>
            <c:numLit>
              <c:formatCode>0</c:formatCode>
              <c:ptCount val="7"/>
              <c:pt idx="0">
                <c:v>0.14996139382261342</c:v>
              </c:pt>
              <c:pt idx="1">
                <c:v>0.071175750200796</c:v>
              </c:pt>
              <c:pt idx="2">
                <c:v>0.11192551014700317</c:v>
              </c:pt>
              <c:pt idx="3">
                <c:v>19.107189007272705</c:v>
              </c:pt>
              <c:pt idx="4">
                <c:v>18.749142383005655</c:v>
              </c:pt>
              <c:pt idx="5">
                <c:v>16.301546321778073</c:v>
              </c:pt>
              <c:pt idx="6">
                <c:v>12.866841582465351</c:v>
              </c:pt>
            </c:numLit>
          </c:val>
          <c:smooth val="0"/>
        </c:ser>
        <c:ser>
          <c:idx val="1"/>
          <c:order val="1"/>
          <c:tx>
            <c:v>alarm threshold</c:v>
          </c:tx>
          <c:spPr>
            <a:ln xmlns:a="http://schemas.openxmlformats.org/drawingml/2006/main" w="19050">
              <a:solidFill>
                <a:srgbClr val="C4493D"/>
              </a:solidFill>
              <a:prstDash val="dash"/>
            </a:ln>
          </c:spPr>
          <c:marker>
            <c:symbol val="none"/>
          </c:marker>
          <c:cat>
            <c:numLit>
              <c:formatCode>General</c:formatCode>
              <c:ptCount val="7"/>
              <c:pt idx="0">
                <c:v>270</c:v>
              </c:pt>
              <c:pt idx="1">
                <c:v>280</c:v>
              </c:pt>
              <c:pt idx="2">
                <c:v>290</c:v>
              </c:pt>
              <c:pt idx="3">
                <c:v>300</c:v>
              </c:pt>
              <c:pt idx="4">
                <c:v>310</c:v>
              </c:pt>
              <c:pt idx="5">
                <c:v>320</c:v>
              </c:pt>
              <c:pt idx="6">
                <c:v>330</c:v>
              </c:pt>
            </c:numLit>
          </c:cat>
          <c:val>
            <c:numLit>
              <c:formatCode>0</c:formatCode>
              <c:ptCount val="7"/>
              <c:pt idx="0">
                <c:v>1</c:v>
              </c:pt>
              <c:pt idx="1">
                <c:v>1</c:v>
              </c:pt>
              <c:pt idx="2">
                <c:v>1</c:v>
              </c:pt>
              <c:pt idx="3">
                <c:v>1</c:v>
              </c:pt>
              <c:pt idx="4">
                <c:v>1</c:v>
              </c:pt>
              <c:pt idx="5">
                <c:v>1</c:v>
              </c:pt>
              <c:pt idx="6">
                <c:v>1</c:v>
              </c:pt>
            </c:numLit>
          </c: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time [s]</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72768"/>
      </c:catAx>
      <c:valAx>
        <c:axId val="48672768"/>
        <c:scaling>
          <c:orientation val="minMax"/>
          <c:max val="20"/>
          <c:min val="0"/>
        </c:scaling>
        <c:delete val="0"/>
        <c:axPos val="l"/>
        <c:majorGridlines>
          <c:spPr>
            <a:ln xmlns:a="http://schemas.openxmlformats.org/drawingml/2006/main" w="9525">
              <a:solidFill>
                <a:srgbClr val="F2F2F2"/>
              </a:solidFill>
              <a:prstDash val="solid"/>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normalized NIS</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750">
              <a:solidFill>
                <a:srgbClr val="5B5B5B"/>
              </a:solidFill>
              <a:latin typeface="Yu Gothic"/>
              <a:ea typeface="Yu Gothic"/>
              <a:cs typeface="Yu Gothic"/>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slides/charts/chart2.xml><?xml version="1.0" encoding="utf-8"?>
<c:chartSpace xmlns:c="http://schemas.openxmlformats.org/drawingml/2006/chart">
  <c:lang val="en-US"/>
  <c:chart>
    <c:plotArea>
      <c:lineChart>
        <c:grouping val="standard"/>
        <c:varyColors val="0"/>
        <c:ser>
          <c:idx val="0"/>
          <c:order val="0"/>
          <c:tx>
            <c:v>truth hidden heat</c:v>
          </c:tx>
          <c:spPr>
            <a:ln xmlns:a="http://schemas.openxmlformats.org/drawingml/2006/main" w="28575">
              <a:solidFill>
                <a:srgbClr val="3F3F3F"/>
              </a:solidFill>
              <a:prstDash val="solid"/>
            </a:ln>
          </c:spPr>
          <c:marker>
            <c:symbol val="none"/>
          </c:marker>
          <c:cat>
            <c:numLit>
              <c:formatCode>General</c:formatCode>
              <c:ptCount val="21"/>
              <c:pt idx="0">
                <c:v>250</c:v>
              </c:pt>
              <c:pt idx="1">
                <c:v>260</c:v>
              </c:pt>
              <c:pt idx="2">
                <c:v>270</c:v>
              </c:pt>
              <c:pt idx="3">
                <c:v>280</c:v>
              </c:pt>
              <c:pt idx="4">
                <c:v>282</c:v>
              </c:pt>
              <c:pt idx="5">
                <c:v>290</c:v>
              </c:pt>
              <c:pt idx="6">
                <c:v>292</c:v>
              </c:pt>
              <c:pt idx="7">
                <c:v>300</c:v>
              </c:pt>
              <c:pt idx="8">
                <c:v>310</c:v>
              </c:pt>
              <c:pt idx="9">
                <c:v>320</c:v>
              </c:pt>
              <c:pt idx="10">
                <c:v>330</c:v>
              </c:pt>
              <c:pt idx="11">
                <c:v>340</c:v>
              </c:pt>
              <c:pt idx="12">
                <c:v>350</c:v>
              </c:pt>
              <c:pt idx="13">
                <c:v>360</c:v>
              </c:pt>
              <c:pt idx="14">
                <c:v>370</c:v>
              </c:pt>
              <c:pt idx="15">
                <c:v>380</c:v>
              </c:pt>
              <c:pt idx="16">
                <c:v>382</c:v>
              </c:pt>
              <c:pt idx="17">
                <c:v>390</c:v>
              </c:pt>
              <c:pt idx="18">
                <c:v>400</c:v>
              </c:pt>
              <c:pt idx="19">
                <c:v>410</c:v>
              </c:pt>
              <c:pt idx="20">
                <c:v>420</c:v>
              </c:pt>
            </c:numLit>
          </c:cat>
          <c:val>
            <c:numLit>
              <c:formatCode>0.0</c:formatCode>
              <c:ptCount val="21"/>
              <c:pt idx="0">
                <c:v>0</c:v>
              </c:pt>
              <c:pt idx="1">
                <c:v>0</c:v>
              </c:pt>
              <c:pt idx="2">
                <c:v>0</c:v>
              </c:pt>
              <c:pt idx="3">
                <c:v>0</c:v>
              </c:pt>
              <c:pt idx="4">
                <c:v>3</c:v>
              </c:pt>
              <c:pt idx="5">
                <c:v>3</c:v>
              </c:pt>
              <c:pt idx="6">
                <c:v>3</c:v>
              </c:pt>
              <c:pt idx="7">
                <c:v>3</c:v>
              </c:pt>
              <c:pt idx="8">
                <c:v>3</c:v>
              </c:pt>
              <c:pt idx="9">
                <c:v>3</c:v>
              </c:pt>
              <c:pt idx="10">
                <c:v>3</c:v>
              </c:pt>
              <c:pt idx="11">
                <c:v>3</c:v>
              </c:pt>
              <c:pt idx="12">
                <c:v>3</c:v>
              </c:pt>
              <c:pt idx="13">
                <c:v>3</c:v>
              </c:pt>
              <c:pt idx="14">
                <c:v>3</c:v>
              </c:pt>
              <c:pt idx="15">
                <c:v>3</c:v>
              </c:pt>
              <c:pt idx="16">
                <c:v>0</c:v>
              </c:pt>
              <c:pt idx="17">
                <c:v>0</c:v>
              </c:pt>
              <c:pt idx="18">
                <c:v>0</c:v>
              </c:pt>
              <c:pt idx="19">
                <c:v>0</c:v>
              </c:pt>
              <c:pt idx="20">
                <c:v>0</c:v>
              </c:pt>
            </c:numLit>
          </c:val>
          <c:smooth val="0"/>
        </c:ser>
        <c:ser>
          <c:idx val="1"/>
          <c:order val="1"/>
          <c:tx>
            <c:v>estimated disturbance</c:v>
          </c:tx>
          <c:spPr>
            <a:ln xmlns:a="http://schemas.openxmlformats.org/drawingml/2006/main" w="28575">
              <a:solidFill>
                <a:srgbClr val="00A5D8"/>
              </a:solidFill>
              <a:prstDash val="solid"/>
            </a:ln>
          </c:spPr>
          <c:marker>
            <c:symbol val="circle"/>
            <c:size val="4"/>
            <c:spPr>
              <a:solidFill xmlns:a="http://schemas.openxmlformats.org/drawingml/2006/main">
                <a:srgbClr val="00A5D8"/>
              </a:solidFill>
            </c:spPr>
          </c:marker>
          <c:cat>
            <c:numLit>
              <c:formatCode>General</c:formatCode>
              <c:ptCount val="21"/>
              <c:pt idx="0">
                <c:v>250</c:v>
              </c:pt>
              <c:pt idx="1">
                <c:v>260</c:v>
              </c:pt>
              <c:pt idx="2">
                <c:v>270</c:v>
              </c:pt>
              <c:pt idx="3">
                <c:v>280</c:v>
              </c:pt>
              <c:pt idx="4">
                <c:v>282</c:v>
              </c:pt>
              <c:pt idx="5">
                <c:v>290</c:v>
              </c:pt>
              <c:pt idx="6">
                <c:v>292</c:v>
              </c:pt>
              <c:pt idx="7">
                <c:v>300</c:v>
              </c:pt>
              <c:pt idx="8">
                <c:v>310</c:v>
              </c:pt>
              <c:pt idx="9">
                <c:v>320</c:v>
              </c:pt>
              <c:pt idx="10">
                <c:v>330</c:v>
              </c:pt>
              <c:pt idx="11">
                <c:v>340</c:v>
              </c:pt>
              <c:pt idx="12">
                <c:v>350</c:v>
              </c:pt>
              <c:pt idx="13">
                <c:v>360</c:v>
              </c:pt>
              <c:pt idx="14">
                <c:v>370</c:v>
              </c:pt>
              <c:pt idx="15">
                <c:v>380</c:v>
              </c:pt>
              <c:pt idx="16">
                <c:v>382</c:v>
              </c:pt>
              <c:pt idx="17">
                <c:v>390</c:v>
              </c:pt>
              <c:pt idx="18">
                <c:v>400</c:v>
              </c:pt>
              <c:pt idx="19">
                <c:v>410</c:v>
              </c:pt>
              <c:pt idx="20">
                <c:v>420</c:v>
              </c:pt>
            </c:numLit>
          </c:cat>
          <c:val>
            <c:numLit>
              <c:formatCode>0.0</c:formatCode>
              <c:ptCount val="21"/>
              <c:pt idx="0">
                <c:v>0.03360968147193544</c:v>
              </c:pt>
              <c:pt idx="1">
                <c:v>-0.035886283053816324</c:v>
              </c:pt>
              <c:pt idx="2">
                <c:v>-0.03741949195587052</c:v>
              </c:pt>
              <c:pt idx="3">
                <c:v>-0.061647723741180147</c:v>
              </c:pt>
              <c:pt idx="4">
                <c:v>-0.07146955455702154</c:v>
              </c:pt>
              <c:pt idx="5">
                <c:v>0.11469420860490795</c:v>
              </c:pt>
              <c:pt idx="6">
                <c:v>0.24686282424242165</c:v>
              </c:pt>
              <c:pt idx="7">
                <c:v>0.636563711755409</c:v>
              </c:pt>
              <c:pt idx="8">
                <c:v>1.284475744891174</c:v>
              </c:pt>
              <c:pt idx="9">
                <c:v>1.8948691173207985</c:v>
              </c:pt>
              <c:pt idx="10">
                <c:v>2.2668685000112023</c:v>
              </c:pt>
              <c:pt idx="11">
                <c:v>2.5700216887680107</c:v>
              </c:pt>
              <c:pt idx="12">
                <c:v>2.7862118092493575</c:v>
              </c:pt>
              <c:pt idx="13">
                <c:v>3.0754272736641157</c:v>
              </c:pt>
              <c:pt idx="14">
                <c:v>3.1695509773601676</c:v>
              </c:pt>
              <c:pt idx="15">
                <c:v>3.1324595955393257</c:v>
              </c:pt>
              <c:pt idx="16">
                <c:v>3.1212384113914857</c:v>
              </c:pt>
              <c:pt idx="17">
                <c:v>2.982580359018794</c:v>
              </c:pt>
              <c:pt idx="18">
                <c:v>2.500219345157469</c:v>
              </c:pt>
              <c:pt idx="19">
                <c:v>1.876142783364904</c:v>
              </c:pt>
              <c:pt idx="20">
                <c:v>1.295591296954063</c:v>
              </c:pt>
            </c:numLit>
          </c: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time [s]</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72768"/>
      </c:catAx>
      <c:valAx>
        <c:axId val="48672768"/>
        <c:scaling>
          <c:orientation val="minMax"/>
          <c:max val="4"/>
          <c:min val="0"/>
        </c:scaling>
        <c:delete val="0"/>
        <c:axPos val="l"/>
        <c:majorGridlines>
          <c:spPr>
            <a:ln xmlns:a="http://schemas.openxmlformats.org/drawingml/2006/main" w="9525">
              <a:solidFill>
                <a:srgbClr val="F2F2F2"/>
              </a:solidFill>
              <a:prstDash val="solid"/>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heat [W]</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1"/>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750">
              <a:solidFill>
                <a:srgbClr val="5B5B5B"/>
              </a:solidFill>
              <a:latin typeface="Yu Gothic"/>
              <a:ea typeface="Yu Gothic"/>
              <a:cs typeface="Yu Gothic"/>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mean RMSE</c:v>
          </c:tx>
          <c:spPr>
            <a:solidFill xmlns:a="http://schemas.openxmlformats.org/drawingml/2006/main">
              <a:srgbClr val="00A5D8"/>
            </a:solidFill>
          </c:spPr>
          <c:dPt>
            <c:idx val="0"/>
            <c:invertIfNegative val="0"/>
            <c:spPr>
              <a:solidFill xmlns:a="http://schemas.openxmlformats.org/drawingml/2006/main">
                <a:srgbClr val="00A5D8"/>
              </a:solidFill>
            </c:spPr>
          </c:dPt>
          <c:dPt>
            <c:idx val="1"/>
            <c:invertIfNegative val="0"/>
            <c:spPr>
              <a:solidFill xmlns:a="http://schemas.openxmlformats.org/drawingml/2006/main">
                <a:srgbClr val="00A5D8"/>
              </a:solidFill>
            </c:spPr>
          </c:dPt>
          <c:dPt>
            <c:idx val="2"/>
            <c:invertIfNegative val="0"/>
            <c:spPr>
              <a:solidFill xmlns:a="http://schemas.openxmlformats.org/drawingml/2006/main">
                <a:srgbClr val="00A5D8"/>
              </a:solidFill>
            </c:spPr>
          </c:dPt>
          <c:dPt>
            <c:idx val="3"/>
            <c:invertIfNegative val="0"/>
            <c:spPr>
              <a:solidFill xmlns:a="http://schemas.openxmlformats.org/drawingml/2006/main">
                <a:srgbClr val="7B2DAF"/>
              </a:solidFill>
            </c:spPr>
          </c:dPt>
          <c:dPt>
            <c:idx val="4"/>
            <c:invertIfNegative val="0"/>
            <c:spPr>
              <a:solidFill xmlns:a="http://schemas.openxmlformats.org/drawingml/2006/main">
                <a:srgbClr val="00A5D8"/>
              </a:solidFill>
            </c:spPr>
          </c:dPt>
          <c:cat>
            <c:strLit>
              <c:ptCount val="5"/>
              <c:pt idx="0">
                <c:v>interpolation</c:v>
              </c:pt>
              <c:pt idx="1">
                <c:v>extrapolation</c:v>
              </c:pt>
              <c:pt idx="2">
                <c:v>dynamics</c:v>
              </c:pt>
              <c:pt idx="3">
                <c:v>initialization</c:v>
              </c:pt>
              <c:pt idx="4">
                <c:v>sampling</c:v>
              </c:pt>
            </c:strLit>
          </c:cat>
          <c:val>
            <c:numLit>
              <c:formatCode>0.000</c:formatCode>
              <c:ptCount val="5"/>
              <c:pt idx="0">
                <c:v>0.0214493</c:v>
              </c:pt>
              <c:pt idx="1">
                <c:v>0.0162405</c:v>
              </c:pt>
              <c:pt idx="2">
                <c:v>0.0316377</c:v>
              </c:pt>
              <c:pt idx="3">
                <c:v>0.4505383</c:v>
              </c:pt>
              <c:pt idx="4">
                <c:v>0.0501233</c:v>
              </c:pt>
            </c:numLit>
          </c:val>
        </c:ser>
        <c:dLbls>
          <c:txPr>
            <a:bodyPr xmlns:a="http://schemas.openxmlformats.org/drawingml/2006/main" anchorCtr="1"/>
            <a:lstStyle xmlns:a="http://schemas.openxmlformats.org/drawingml/2006/main"/>
            <a:p xmlns:a="http://schemas.openxmlformats.org/drawingml/2006/main">
              <a:pPr>
                <a:defRPr sz="750" b="1">
                  <a:solidFill>
                    <a:srgbClr val="5B5B5B"/>
                  </a:solidFill>
                  <a:latin typeface="Yu Gothic"/>
                  <a:ea typeface="Yu Gothic"/>
                  <a:cs typeface="Yu Gothic"/>
                </a:defRPr>
              </a:pPr>
            </a:p>
          </c:txPr>
          <c:dLblPos val="outEnd"/>
          <c:showLegendKey val="0"/>
          <c:showVal val="1"/>
          <c:showCatName val="0"/>
          <c:showSerName val="0"/>
          <c:showPercent val="0"/>
          <c:showBubbleSize val="0"/>
          <c:showLeaderLines val="0"/>
        </c:dLbls>
        <c:gapWidth val="42"/>
        <c:axId val="48650112"/>
        <c:axId val="48672768"/>
      </c:barChart>
      <c:catAx>
        <c:axId val="48650112"/>
        <c:scaling>
          <c:orientation val="minMax"/>
        </c:scaling>
        <c:delete val="0"/>
        <c:axPos val="l"/>
        <c:majorGridlines>
          <c:spPr>
            <a:ln xmlns:a="http://schemas.openxmlformats.org/drawingml/2006/main" w="9525">
              <a:solidFill>
                <a:srgbClr val="F2F2F2"/>
              </a:solidFill>
              <a:prstDash val="solid"/>
            </a:ln>
          </c:spPr>
        </c:majorGridlines>
        <c:numFmt formatCode="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750">
                <a:solidFill>
                  <a:srgbClr val="5B5B5B"/>
                </a:solidFill>
                <a:latin typeface="Yu Gothic"/>
                <a:ea typeface="Yu Gothic"/>
                <a:cs typeface="Yu Gothic"/>
              </a:defRPr>
            </a:pPr>
          </a:p>
        </c:txPr>
        <c:crossAx val="48650112"/>
        <c:crossBetween val="between"/>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slides/charts/chart4.xml><?xml version="1.0" encoding="utf-8"?>
<c:chartSpace xmlns:c="http://schemas.openxmlformats.org/drawingml/2006/chart">
  <c:lang val="en-US"/>
  <c:chart>
    <c:plotArea>
      <c:barChart>
        <c:barDir val="col"/>
        <c:grouping val="clustered"/>
        <c:varyColors val="0"/>
        <c:ser>
          <c:idx val="0"/>
          <c:order val="0"/>
          <c:tx>
            <c:v>RMSE</c:v>
          </c:tx>
          <c:spPr>
            <a:solidFill xmlns:a="http://schemas.openxmlformats.org/drawingml/2006/main">
              <a:srgbClr val="7B2DAF"/>
            </a:solidFill>
          </c:spPr>
          <c:dPt>
            <c:idx val="0"/>
            <c:invertIfNegative val="0"/>
            <c:spPr>
              <a:solidFill xmlns:a="http://schemas.openxmlformats.org/drawingml/2006/main">
                <a:srgbClr val="7B2DAF"/>
              </a:solidFill>
            </c:spPr>
          </c:dPt>
          <c:dPt>
            <c:idx val="1"/>
            <c:invertIfNegative val="0"/>
            <c:spPr>
              <a:solidFill xmlns:a="http://schemas.openxmlformats.org/drawingml/2006/main">
                <a:srgbClr val="76BE18"/>
              </a:solidFill>
            </c:spPr>
          </c:dPt>
          <c:cat>
            <c:strLit>
              <c:ptCount val="2"/>
              <c:pt idx="0">
                <c:v>F09
sparse initial</c:v>
              </c:pt>
              <c:pt idx="1">
                <c:v>F12
history initialized</c:v>
              </c:pt>
            </c:strLit>
          </c:cat>
          <c:val>
            <c:numLit>
              <c:formatCode>0.000</c:formatCode>
              <c:ptCount val="2"/>
              <c:pt idx="0">
                <c:v>1.3026766</c:v>
              </c:pt>
              <c:pt idx="1">
                <c:v>0.0380944</c:v>
              </c:pt>
            </c:numLit>
          </c:val>
        </c:ser>
        <c:dLbls>
          <c:txPr>
            <a:bodyPr xmlns:a="http://schemas.openxmlformats.org/drawingml/2006/main" anchorCtr="1"/>
            <a:lstStyle xmlns:a="http://schemas.openxmlformats.org/drawingml/2006/main"/>
            <a:p xmlns:a="http://schemas.openxmlformats.org/drawingml/2006/main">
              <a:pPr>
                <a:defRPr sz="825" b="1">
                  <a:solidFill>
                    <a:srgbClr val="5B5B5B"/>
                  </a:solidFill>
                  <a:latin typeface="Yu Gothic"/>
                  <a:ea typeface="Yu Gothic"/>
                  <a:cs typeface="Yu Gothic"/>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788">
                <a:solidFill>
                  <a:srgbClr val="5B5B5B"/>
                </a:solidFill>
                <a:latin typeface="Yu Gothic"/>
                <a:ea typeface="Yu Gothic"/>
                <a:cs typeface="Yu Gothic"/>
              </a:defRPr>
            </a:pPr>
          </a:p>
        </c:txPr>
        <c:crossAx val="48672768"/>
      </c:catAx>
      <c:valAx>
        <c:axId val="48672768"/>
        <c:scaling>
          <c:orientation val="minMax"/>
          <c:max val="1.5"/>
          <c:min val="0"/>
        </c:scaling>
        <c:delete val="0"/>
        <c:axPos val="l"/>
        <c:majorGridlines>
          <c:spPr>
            <a:ln xmlns:a="http://schemas.openxmlformats.org/drawingml/2006/main" w="9525">
              <a:solidFill>
                <a:srgbClr val="F2F2F2"/>
              </a:solidFill>
              <a:prstDash val="solid"/>
            </a:ln>
          </c:spPr>
        </c:majorGridlines>
        <c:numFmt formatCode="0.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0.25"/>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slides/charts/chart5.xml><?xml version="1.0" encoding="utf-8"?>
<c:chartSpace xmlns:c="http://schemas.openxmlformats.org/drawingml/2006/chart">
  <c:lang val="en-US"/>
  <c:chart>
    <c:title>
      <c:tx>
        <c:rich>
          <a:bodyPr xmlns:a="http://schemas.openxmlformats.org/drawingml/2006/main"/>
          <a:lstStyle xmlns:a="http://schemas.openxmlformats.org/drawingml/2006/main"/>
          <a:p xmlns:a="http://schemas.openxmlformats.org/drawingml/2006/main">
            <a:r>
              <a:rPr sz="1050" b="1">
                <a:solidFill>
                  <a:srgbClr val="3F3F3F"/>
                </a:solidFill>
                <a:latin typeface="Yu Gothic"/>
                <a:ea typeface="Yu Gothic"/>
                <a:cs typeface="Yu Gothic"/>
              </a:rPr>
              <a:t>external forecast RMSE [K]</a:t>
            </a:r>
          </a:p>
        </c:rich>
      </c:tx>
      <c:overlay val="0"/>
      <c:txPr>
        <a:bodyPr xmlns:a="http://schemas.openxmlformats.org/drawingml/2006/main" anchorCtr="1"/>
        <a:lstStyle xmlns:a="http://schemas.openxmlformats.org/drawingml/2006/main"/>
        <a:p xmlns:a="http://schemas.openxmlformats.org/drawingml/2006/main">
          <a:pPr>
            <a:defRPr sz="1050" b="1">
              <a:solidFill>
                <a:srgbClr val="3F3F3F"/>
              </a:solidFill>
              <a:latin typeface="Yu Gothic"/>
              <a:ea typeface="Yu Gothic"/>
              <a:cs typeface="Yu Gothic"/>
            </a:defRPr>
          </a:pPr>
        </a:p>
      </c:txPr>
    </c:title>
    <c:plotArea>
      <c:barChart>
        <c:barDir val="col"/>
        <c:grouping val="clustered"/>
        <c:varyColors val="0"/>
        <c:ser>
          <c:idx val="0"/>
          <c:order val="0"/>
          <c:tx>
            <c:v>RMSE</c:v>
          </c:tx>
          <c:spPr>
            <a:solidFill xmlns:a="http://schemas.openxmlformats.org/drawingml/2006/main">
              <a:srgbClr val="00A5D8"/>
            </a:solidFill>
          </c:spPr>
          <c:dPt>
            <c:idx val="0"/>
            <c:invertIfNegative val="0"/>
            <c:spPr>
              <a:solidFill xmlns:a="http://schemas.openxmlformats.org/drawingml/2006/main">
                <a:srgbClr val="00A5D8"/>
              </a:solidFill>
            </c:spPr>
          </c:dPt>
          <c:dPt>
            <c:idx val="1"/>
            <c:invertIfNegative val="0"/>
            <c:spPr>
              <a:solidFill xmlns:a="http://schemas.openxmlformats.org/drawingml/2006/main">
                <a:srgbClr val="00A5D8"/>
              </a:solidFill>
            </c:spPr>
          </c:dPt>
          <c:dPt>
            <c:idx val="2"/>
            <c:invertIfNegative val="0"/>
            <c:spPr>
              <a:solidFill xmlns:a="http://schemas.openxmlformats.org/drawingml/2006/main">
                <a:srgbClr val="00A5D8"/>
              </a:solidFill>
            </c:spPr>
          </c:dPt>
          <c:dPt>
            <c:idx val="3"/>
            <c:invertIfNegative val="0"/>
            <c:spPr>
              <a:solidFill xmlns:a="http://schemas.openxmlformats.org/drawingml/2006/main">
                <a:srgbClr val="00A5D8"/>
              </a:solidFill>
            </c:spPr>
          </c:dPt>
          <c:dPt>
            <c:idx val="4"/>
            <c:invertIfNegative val="0"/>
            <c:spPr>
              <a:solidFill xmlns:a="http://schemas.openxmlformats.org/drawingml/2006/main">
                <a:srgbClr val="7B2DAF"/>
              </a:solidFill>
            </c:spPr>
          </c:dPt>
          <c:dPt>
            <c:idx val="5"/>
            <c:invertIfNegative val="0"/>
            <c:spPr>
              <a:solidFill xmlns:a="http://schemas.openxmlformats.org/drawingml/2006/main">
                <a:srgbClr val="00A5D8"/>
              </a:solidFill>
            </c:spPr>
          </c:dPt>
          <c:dPt>
            <c:idx val="6"/>
            <c:invertIfNegative val="0"/>
            <c:spPr>
              <a:solidFill xmlns:a="http://schemas.openxmlformats.org/drawingml/2006/main">
                <a:srgbClr val="00A5D8"/>
              </a:solidFill>
            </c:spPr>
          </c:dPt>
          <c:dPt>
            <c:idx val="7"/>
            <c:invertIfNegative val="0"/>
            <c:spPr>
              <a:solidFill xmlns:a="http://schemas.openxmlformats.org/drawingml/2006/main">
                <a:srgbClr val="00A5D8"/>
              </a:solidFill>
            </c:spPr>
          </c:dPt>
          <c:cat>
            <c:strLit>
              <c:ptCount val="8"/>
              <c:pt idx="0">
                <c:v>F01</c:v>
              </c:pt>
              <c:pt idx="1">
                <c:v>F02</c:v>
              </c:pt>
              <c:pt idx="2">
                <c:v>F03</c:v>
              </c:pt>
              <c:pt idx="3">
                <c:v>F04</c:v>
              </c:pt>
              <c:pt idx="4">
                <c:v>F05</c:v>
              </c:pt>
              <c:pt idx="5">
                <c:v>F06</c:v>
              </c:pt>
              <c:pt idx="6">
                <c:v>F07</c:v>
              </c:pt>
              <c:pt idx="7">
                <c:v>F08</c:v>
              </c:pt>
            </c:strLit>
          </c:cat>
          <c:val>
            <c:numLit>
              <c:formatCode>0.000</c:formatCode>
              <c:ptCount val="8"/>
              <c:pt idx="0">
                <c:v>0.006395705</c:v>
              </c:pt>
              <c:pt idx="1">
                <c:v>0.024712004</c:v>
              </c:pt>
              <c:pt idx="2">
                <c:v>0.014252666</c:v>
              </c:pt>
              <c:pt idx="3">
                <c:v>0.020676293</c:v>
              </c:pt>
              <c:pt idx="4">
                <c:v>0.0829737</c:v>
              </c:pt>
              <c:pt idx="5">
                <c:v>0.058981351</c:v>
              </c:pt>
              <c:pt idx="6">
                <c:v>0.038589825</c:v>
              </c:pt>
              <c:pt idx="7">
                <c:v>0.04362931</c:v>
              </c:pt>
            </c:numLit>
          </c:val>
        </c:ser>
        <c:dLbls>
          <c:txPr>
            <a:bodyPr xmlns:a="http://schemas.openxmlformats.org/drawingml/2006/main" anchorCtr="1"/>
            <a:lstStyle xmlns:a="http://schemas.openxmlformats.org/drawingml/2006/main"/>
            <a:p xmlns:a="http://schemas.openxmlformats.org/drawingml/2006/main">
              <a:pPr>
                <a:defRPr sz="713" b="1">
                  <a:solidFill>
                    <a:srgbClr val="5B5B5B"/>
                  </a:solidFill>
                  <a:latin typeface="Yu Gothic"/>
                  <a:ea typeface="Yu Gothic"/>
                  <a:cs typeface="Yu Gothic"/>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750">
                <a:solidFill>
                  <a:srgbClr val="5B5B5B"/>
                </a:solidFill>
                <a:latin typeface="Yu Gothic"/>
                <a:ea typeface="Yu Gothic"/>
                <a:cs typeface="Yu Gothic"/>
              </a:defRPr>
            </a:pPr>
          </a:p>
        </c:txPr>
        <c:crossAx val="48672768"/>
      </c:catAx>
      <c:valAx>
        <c:axId val="48672768"/>
        <c:scaling>
          <c:orientation val="minMax"/>
          <c:max val="0.1"/>
          <c:min val="0"/>
        </c:scaling>
        <c:delete val="0"/>
        <c:axPos val="l"/>
        <c:majorGridlines>
          <c:spPr>
            <a:ln xmlns:a="http://schemas.openxmlformats.org/drawingml/2006/main" w="9525">
              <a:solidFill>
                <a:srgbClr val="F2F2F2"/>
              </a:solidFill>
              <a:prstDash val="solid"/>
            </a:ln>
          </c:spPr>
        </c:majorGridlines>
        <c:numFmt formatCode="0.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0.02"/>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slides/charts/chart6.xml><?xml version="1.0" encoding="utf-8"?>
<c:chartSpace xmlns:c="http://schemas.openxmlformats.org/drawingml/2006/chart">
  <c:lang val="en-US"/>
  <c:chart>
    <c:plotArea>
      <c:barChart>
        <c:barDir val="col"/>
        <c:grouping val="clustered"/>
        <c:varyColors val="0"/>
        <c:ser>
          <c:idx val="0"/>
          <c:order val="0"/>
          <c:tx>
            <c:v>|medium − fine|</c:v>
          </c:tx>
          <c:spPr>
            <a:solidFill xmlns:a="http://schemas.openxmlformats.org/drawingml/2006/main">
              <a:srgbClr val="E5A900"/>
            </a:solidFill>
          </c:spPr>
          <c:dPt>
            <c:idx val="0"/>
            <c:invertIfNegative val="0"/>
            <c:spPr>
              <a:solidFill xmlns:a="http://schemas.openxmlformats.org/drawingml/2006/main">
                <a:srgbClr val="E5A900"/>
              </a:solidFill>
            </c:spPr>
          </c:dPt>
          <c:dPt>
            <c:idx val="1"/>
            <c:invertIfNegative val="0"/>
            <c:spPr>
              <a:solidFill xmlns:a="http://schemas.openxmlformats.org/drawingml/2006/main">
                <a:srgbClr val="76BE18"/>
              </a:solidFill>
            </c:spPr>
          </c:dPt>
          <c:cat>
            <c:strLit>
              <c:ptCount val="2"/>
              <c:pt idx="0">
                <c:v>MC01</c:v>
              </c:pt>
              <c:pt idx="1">
                <c:v>MC02</c:v>
              </c:pt>
            </c:strLit>
          </c:cat>
          <c:val>
            <c:numLit>
              <c:formatCode>0.000</c:formatCode>
              <c:ptCount val="2"/>
              <c:pt idx="0">
                <c:v>0.4962086</c:v>
              </c:pt>
              <c:pt idx="1">
                <c:v>0.1544275</c:v>
              </c:pt>
            </c:numLit>
          </c:val>
        </c:ser>
        <c:dLbls>
          <c:txPr>
            <a:bodyPr xmlns:a="http://schemas.openxmlformats.org/drawingml/2006/main" anchorCtr="1"/>
            <a:lstStyle xmlns:a="http://schemas.openxmlformats.org/drawingml/2006/main"/>
            <a:p xmlns:a="http://schemas.openxmlformats.org/drawingml/2006/main">
              <a:pPr>
                <a:defRPr sz="825" b="1">
                  <a:solidFill>
                    <a:srgbClr val="5B5B5B"/>
                  </a:solidFill>
                  <a:latin typeface="Yu Gothic"/>
                  <a:ea typeface="Yu Gothic"/>
                  <a:cs typeface="Yu Gothic"/>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825">
                <a:solidFill>
                  <a:srgbClr val="5B5B5B"/>
                </a:solidFill>
                <a:latin typeface="Yu Gothic"/>
                <a:ea typeface="Yu Gothic"/>
                <a:cs typeface="Yu Gothic"/>
              </a:defRPr>
            </a:pPr>
          </a:p>
        </c:txPr>
        <c:crossAx val="48672768"/>
      </c:catAx>
      <c:valAx>
        <c:axId val="48672768"/>
        <c:scaling>
          <c:orientation val="minMax"/>
          <c:max val="0.6"/>
          <c:min val="0"/>
        </c:scaling>
        <c:delete val="0"/>
        <c:axPos val="l"/>
        <c:majorGridlines>
          <c:spPr>
            <a:ln xmlns:a="http://schemas.openxmlformats.org/drawingml/2006/main" w="9525">
              <a:solidFill>
                <a:srgbClr val="F2F2F2"/>
              </a:solidFill>
              <a:prstDash val="solid"/>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chip-average ΔT [K]</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0.1"/>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slides/charts/chart7.xml><?xml version="1.0" encoding="utf-8"?>
<c:chartSpace xmlns:c="http://schemas.openxmlformats.org/drawingml/2006/chart">
  <c:lang val="en-US"/>
  <c:chart>
    <c:plotArea>
      <c:barChart>
        <c:barDir val="col"/>
        <c:grouping val="clustered"/>
        <c:varyColors val="0"/>
        <c:ser>
          <c:idx val="0"/>
          <c:order val="0"/>
          <c:tx>
            <c:v>learned</c:v>
          </c:tx>
          <c:spPr>
            <a:solidFill xmlns:a="http://schemas.openxmlformats.org/drawingml/2006/main">
              <a:srgbClr val="00A5D8"/>
            </a:solidFill>
          </c:spPr>
          <c:cat>
            <c:strLit>
              <c:ptCount val="2"/>
              <c:pt idx="0">
                <c:v>HV01
conjugate</c:v>
              </c:pt>
              <c:pt idx="1">
                <c:v>HV02
radiation</c:v>
              </c:pt>
            </c:strLit>
          </c:cat>
          <c:val>
            <c:numLit>
              <c:formatCode>0.000</c:formatCode>
              <c:ptCount val="2"/>
              <c:pt idx="0">
                <c:v>0.047653</c:v>
              </c:pt>
              <c:pt idx="1">
                <c:v>0.143584</c:v>
              </c:pt>
            </c:numLit>
          </c:val>
        </c:ser>
        <c:ser>
          <c:idx val="1"/>
          <c:order val="1"/>
          <c:tx>
            <c:v>prior</c:v>
          </c:tx>
          <c:spPr>
            <a:solidFill xmlns:a="http://schemas.openxmlformats.org/drawingml/2006/main">
              <a:srgbClr val="D6D6D6"/>
            </a:solidFill>
          </c:spPr>
          <c:cat>
            <c:strLit>
              <c:ptCount val="2"/>
              <c:pt idx="0">
                <c:v>HV01
conjugate</c:v>
              </c:pt>
              <c:pt idx="1">
                <c:v>HV02
radiation</c:v>
              </c:pt>
            </c:strLit>
          </c:cat>
          <c:val>
            <c:numLit>
              <c:formatCode>0.000</c:formatCode>
              <c:ptCount val="2"/>
              <c:pt idx="0">
                <c:v>0.976932</c:v>
              </c:pt>
              <c:pt idx="1">
                <c:v>0.800906</c:v>
              </c:pt>
            </c:numLit>
          </c:val>
        </c:ser>
        <c:dLbls>
          <c:txPr>
            <a:bodyPr xmlns:a="http://schemas.openxmlformats.org/drawingml/2006/main" anchorCtr="1"/>
            <a:lstStyle xmlns:a="http://schemas.openxmlformats.org/drawingml/2006/main"/>
            <a:p xmlns:a="http://schemas.openxmlformats.org/drawingml/2006/main">
              <a:pPr>
                <a:defRPr sz="713" b="1">
                  <a:solidFill>
                    <a:srgbClr val="5B5B5B"/>
                  </a:solidFill>
                  <a:latin typeface="Yu Gothic"/>
                  <a:ea typeface="Yu Gothic"/>
                  <a:cs typeface="Yu Gothic"/>
                </a:defRPr>
              </a:pPr>
            </a:p>
          </c:txPr>
          <c:dLblPos val="outEnd"/>
          <c:showLegendKey val="0"/>
          <c:showVal val="1"/>
          <c:showCatName val="0"/>
          <c:showSerName val="0"/>
          <c:showPercent val="0"/>
          <c:showBubbleSize val="0"/>
          <c:showLeaderLines val="0"/>
        </c:dLbls>
        <c:gapWidth val="58"/>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750">
                <a:solidFill>
                  <a:srgbClr val="5B5B5B"/>
                </a:solidFill>
                <a:latin typeface="Yu Gothic"/>
                <a:ea typeface="Yu Gothic"/>
                <a:cs typeface="Yu Gothic"/>
              </a:defRPr>
            </a:pPr>
          </a:p>
        </c:txPr>
        <c:crossAx val="48672768"/>
      </c:catAx>
      <c:valAx>
        <c:axId val="48672768"/>
        <c:scaling>
          <c:orientation val="minMax"/>
          <c:max val="1.1"/>
          <c:min val="0"/>
        </c:scaling>
        <c:delete val="0"/>
        <c:axPos val="l"/>
        <c:majorGridlines>
          <c:spPr>
            <a:ln xmlns:a="http://schemas.openxmlformats.org/drawingml/2006/main" w="9525">
              <a:solidFill>
                <a:srgbClr val="F2F2F2"/>
              </a:solidFill>
              <a:prstDash val="solid"/>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RMSE [K]</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0.2"/>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750">
              <a:solidFill>
                <a:srgbClr val="5B5B5B"/>
              </a:solidFill>
              <a:latin typeface="Yu Gothic"/>
              <a:ea typeface="Yu Gothic"/>
              <a:cs typeface="Yu Gothic"/>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slides/charts/chart8.xml><?xml version="1.0" encoding="utf-8"?>
<c:chartSpace xmlns:c="http://schemas.openxmlformats.org/drawingml/2006/chart">
  <c:lang val="en-US"/>
  <c:chart>
    <c:plotArea>
      <c:lineChart>
        <c:grouping val="standard"/>
        <c:varyColors val="0"/>
        <c:ser>
          <c:idx val="0"/>
          <c:order val="0"/>
          <c:tx>
            <c:v>truth ΔT with radiation</c:v>
          </c:tx>
          <c:spPr>
            <a:ln xmlns:a="http://schemas.openxmlformats.org/drawingml/2006/main" w="28575">
              <a:solidFill>
                <a:srgbClr val="7B2DAF"/>
              </a:solidFill>
              <a:prstDash val="solid"/>
            </a:ln>
          </c:spPr>
          <c:marker>
            <c:symbol val="circle"/>
            <c:size val="4"/>
            <c:spPr>
              <a:solidFill xmlns:a="http://schemas.openxmlformats.org/drawingml/2006/main">
                <a:srgbClr val="7B2DAF"/>
              </a:solidFill>
            </c:spPr>
          </c:marker>
          <c:cat>
            <c:numLit>
              <c:formatCode>General</c:formatCode>
              <c:ptCount val="12"/>
              <c:pt idx="0">
                <c:v>0</c:v>
              </c:pt>
              <c:pt idx="1">
                <c:v>20</c:v>
              </c:pt>
              <c:pt idx="2">
                <c:v>40</c:v>
              </c:pt>
              <c:pt idx="3">
                <c:v>60</c:v>
              </c:pt>
              <c:pt idx="4">
                <c:v>80</c:v>
              </c:pt>
              <c:pt idx="5">
                <c:v>100</c:v>
              </c:pt>
              <c:pt idx="6">
                <c:v>120</c:v>
              </c:pt>
              <c:pt idx="7">
                <c:v>140</c:v>
              </c:pt>
              <c:pt idx="8">
                <c:v>160</c:v>
              </c:pt>
              <c:pt idx="9">
                <c:v>180</c:v>
              </c:pt>
              <c:pt idx="10">
                <c:v>200</c:v>
              </c:pt>
              <c:pt idx="11">
                <c:v>220</c:v>
              </c:pt>
            </c:numLit>
          </c:cat>
          <c:val>
            <c:numLit>
              <c:formatCode>0.0</c:formatCode>
              <c:ptCount val="12"/>
              <c:pt idx="0">
                <c:v>-0.0018545700000025533</c:v>
              </c:pt>
              <c:pt idx="1">
                <c:v>-0.0018549800000009498</c:v>
              </c:pt>
              <c:pt idx="2">
                <c:v>-0.0018553600000004167</c:v>
              </c:pt>
              <c:pt idx="3">
                <c:v>-0.0018556099999997855</c:v>
              </c:pt>
              <c:pt idx="4">
                <c:v>-0.0074855300000002956</c:v>
              </c:pt>
              <c:pt idx="5">
                <c:v>-0.001185069999998234</c:v>
              </c:pt>
              <c:pt idx="6">
                <c:v>-0.02288315000000196</c:v>
              </c:pt>
              <c:pt idx="7">
                <c:v>-0.08416299999999666</c:v>
              </c:pt>
              <c:pt idx="8">
                <c:v>-0.16855853000000565</c:v>
              </c:pt>
              <c:pt idx="9">
                <c:v>-0.24409413000000058</c:v>
              </c:pt>
              <c:pt idx="10">
                <c:v>-0.31718865999999935</c:v>
              </c:pt>
              <c:pt idx="11">
                <c:v>-0.3813336700000036</c:v>
              </c:pt>
            </c:numLit>
          </c:val>
          <c:smooth val="0"/>
        </c:ser>
        <c:ser>
          <c:idx val="1"/>
          <c:order val="1"/>
          <c:tx>
            <c:v>model predicted ΔT</c:v>
          </c:tx>
          <c:spPr>
            <a:ln xmlns:a="http://schemas.openxmlformats.org/drawingml/2006/main" w="28575">
              <a:solidFill>
                <a:srgbClr val="00A5D8"/>
              </a:solidFill>
              <a:prstDash val="solid"/>
            </a:ln>
          </c:spPr>
          <c:marker>
            <c:symbol val="square"/>
            <c:size val="4"/>
            <c:spPr>
              <a:solidFill xmlns:a="http://schemas.openxmlformats.org/drawingml/2006/main">
                <a:srgbClr val="00A5D8"/>
              </a:solidFill>
            </c:spPr>
          </c:marker>
          <c:cat>
            <c:numLit>
              <c:formatCode>General</c:formatCode>
              <c:ptCount val="12"/>
              <c:pt idx="0">
                <c:v>0</c:v>
              </c:pt>
              <c:pt idx="1">
                <c:v>20</c:v>
              </c:pt>
              <c:pt idx="2">
                <c:v>40</c:v>
              </c:pt>
              <c:pt idx="3">
                <c:v>60</c:v>
              </c:pt>
              <c:pt idx="4">
                <c:v>80</c:v>
              </c:pt>
              <c:pt idx="5">
                <c:v>100</c:v>
              </c:pt>
              <c:pt idx="6">
                <c:v>120</c:v>
              </c:pt>
              <c:pt idx="7">
                <c:v>140</c:v>
              </c:pt>
              <c:pt idx="8">
                <c:v>160</c:v>
              </c:pt>
              <c:pt idx="9">
                <c:v>180</c:v>
              </c:pt>
              <c:pt idx="10">
                <c:v>200</c:v>
              </c:pt>
              <c:pt idx="11">
                <c:v>220</c:v>
              </c:pt>
            </c:numLit>
          </c:cat>
          <c:val>
            <c:numLit>
              <c:formatCode>0.0</c:formatCode>
              <c:ptCount val="12"/>
              <c:pt idx="0">
                <c:v>-0.0018545700000025533</c:v>
              </c:pt>
              <c:pt idx="1">
                <c:v>-0.001777789999998447</c:v>
              </c:pt>
              <c:pt idx="2">
                <c:v>-0.001701600000000525</c:v>
              </c:pt>
              <c:pt idx="3">
                <c:v>-0.0016286799999996049</c:v>
              </c:pt>
              <c:pt idx="4">
                <c:v>-0.0015588800000010394</c:v>
              </c:pt>
              <c:pt idx="5">
                <c:v>-0.001492069999997625</c:v>
              </c:pt>
              <c:pt idx="6">
                <c:v>-0.001428130000000749</c:v>
              </c:pt>
              <c:pt idx="7">
                <c:v>-0.0013735799999992082</c:v>
              </c:pt>
              <c:pt idx="8">
                <c:v>-0.001328280000002735</c:v>
              </c:pt>
              <c:pt idx="9">
                <c:v>-0.0012915400000039767</c:v>
              </c:pt>
              <c:pt idx="10">
                <c:v>-0.0012564700000012863</c:v>
              </c:pt>
              <c:pt idx="11">
                <c:v>-0.0012223400000053175</c:v>
              </c:pt>
            </c:numLit>
          </c: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time [s]</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38">
                <a:solidFill>
                  <a:srgbClr val="777777"/>
                </a:solidFill>
                <a:latin typeface="Yu Gothic"/>
                <a:ea typeface="Yu Gothic"/>
                <a:cs typeface="Yu Gothic"/>
              </a:defRPr>
            </a:pPr>
          </a:p>
        </c:txPr>
        <c:crossAx val="48672768"/>
      </c:catAx>
      <c:valAx>
        <c:axId val="48672768"/>
        <c:scaling>
          <c:orientation val="minMax"/>
          <c:max val="0.05"/>
          <c:min val="-0.45"/>
        </c:scaling>
        <c:delete val="0"/>
        <c:axPos val="l"/>
        <c:majorGridlines>
          <c:spPr>
            <a:ln xmlns:a="http://schemas.openxmlformats.org/drawingml/2006/main" w="9525">
              <a:solidFill>
                <a:srgbClr val="F2F2F2"/>
              </a:solidFill>
              <a:prstDash val="solid"/>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ΔT chip [K]</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0.1"/>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713">
              <a:solidFill>
                <a:srgbClr val="5B5B5B"/>
              </a:solidFill>
              <a:latin typeface="Yu Gothic"/>
              <a:ea typeface="Yu Gothic"/>
              <a:cs typeface="Yu Gothic"/>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slides/slide1.xml><?xml version="1.0" encoding="utf-8"?>
<p:sld xmlns:p="http://schemas.openxmlformats.org/presentationml/2006/main">
  <p:cSld>
    <p:bg>
      <p:bgPr>
        <a:solidFill xmlns:a="http://schemas.openxmlformats.org/drawingml/2006/main">
          <a:srgbClr val="20144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5944DEB-2CF8-489C-98D6-DCB0C8E5FF2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8613FCD-C0E7-4273-9DAC-46758660EDEF}"/>
              </a:ext>
            </a:extLst>
          </p:cNvPr>
          <p:cNvSpPr>
            <a:spLocks xmlns:a="http://schemas.openxmlformats.org/drawingml/2006/main" noGrp="1"/>
          </p:cNvSpPr>
          <p:nvPr/>
        </p:nvSpPr>
        <p:spPr>
          <a:xfrm xmlns:a="http://schemas.openxmlformats.org/drawingml/2006/main">
            <a:off x="647700" y="552450"/>
            <a:ext cx="561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1" i="0">
                <a:solidFill>
                  <a:srgbClr val="76BE18"/>
                </a:solidFill>
                <a:latin typeface="Yu Gothic"/>
                <a:ea typeface="Yu Gothic"/>
                <a:cs typeface="Yu Gothic"/>
              </a:defRPr>
            </a:pPr>
            <a:r>
              <a:rPr sz="975" b="1" i="0">
                <a:solidFill>
                  <a:srgbClr val="76BE18"/>
                </a:solidFill>
                <a:latin typeface="Yu Gothic"/>
                <a:ea typeface="Yu Gothic"/>
                <a:cs typeface="Yu Gothic"/>
              </a:rPr>
              <a:t>THERMAL MODEL / EQUIPMENT ENGINEERING REVIEW</a:t>
            </a:r>
          </a:p>
        </p:txBody>
      </p:sp>
      <p:sp>
        <p:nvSpPr>
          <p:cNvPr id="3" name="">
            <a:extLst xmlns:a="http://schemas.openxmlformats.org/drawingml/2006/main">
              <a:ext uri="{FF2B5EF4-FFF2-40B4-BE49-F238E27FC236}">
                <a16:creationId xmlns:a16="http://schemas.microsoft.com/office/drawing/2014/main" id="{790048E8-6EDA-4985-A215-61F8E9FA2A82}"/>
              </a:ext>
            </a:extLst>
          </p:cNvPr>
          <p:cNvSpPr>
            <a:spLocks xmlns:a="http://schemas.openxmlformats.org/drawingml/2006/main" noGrp="1"/>
          </p:cNvSpPr>
          <p:nvPr/>
        </p:nvSpPr>
        <p:spPr>
          <a:xfrm xmlns:a="http://schemas.openxmlformats.org/drawingml/2006/main">
            <a:off x="628650" y="1219200"/>
            <a:ext cx="1028700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t">
            <a:normAutofit fontScale="100000"/>
          </a:bodyPr>
          <a:lstStyle xmlns:a="http://schemas.openxmlformats.org/drawingml/2006/main"/>
          <a:p xmlns:a="http://schemas.openxmlformats.org/drawingml/2006/main">
            <a:pPr algn="l">
              <a:lnSpc>
                <a:spcPct val="98000"/>
              </a:lnSpc>
              <a:buNone/>
              <a:defRPr sz="3450" b="1" i="0">
                <a:solidFill>
                  <a:srgbClr val="FFFFFF"/>
                </a:solidFill>
                <a:latin typeface="Yu Gothic"/>
                <a:ea typeface="Yu Gothic"/>
                <a:cs typeface="Yu Gothic"/>
              </a:defRPr>
            </a:pPr>
            <a:r>
              <a:rPr sz="3450" b="1" i="0">
                <a:solidFill>
                  <a:srgbClr val="FFFFFF"/>
                </a:solidFill>
                <a:latin typeface="Yu Gothic"/>
                <a:ea typeface="Yu Gothic"/>
                <a:cs typeface="Yu Gothic"/>
              </a:rPr>
              <a:t>熱RCモデル基盤による</a:t>
            </a:r>
          </a:p>
          <a:p xmlns:a="http://schemas.openxmlformats.org/drawingml/2006/main">
            <a:pPr algn="l">
              <a:lnSpc>
                <a:spcPct val="98000"/>
              </a:lnSpc>
              <a:buNone/>
              <a:defRPr sz="3450" b="1" i="0">
                <a:solidFill>
                  <a:srgbClr val="FFFFFF"/>
                </a:solidFill>
                <a:latin typeface="Yu Gothic"/>
                <a:ea typeface="Yu Gothic"/>
                <a:cs typeface="Yu Gothic"/>
              </a:defRPr>
            </a:pPr>
            <a:r>
              <a:rPr sz="3450" b="1" i="0">
                <a:solidFill>
                  <a:srgbClr val="FFFFFF"/>
                </a:solidFill>
                <a:latin typeface="Yu Gothic"/>
                <a:ea typeface="Yu Gothic"/>
                <a:cs typeface="Yu Gothic"/>
              </a:rPr>
              <a:t>半導体装置の同定・予測・状態監視</a:t>
            </a:r>
          </a:p>
        </p:txBody>
      </p:sp>
      <p:sp>
        <p:nvSpPr>
          <p:cNvPr id="4" name="">
            <a:extLst xmlns:a="http://schemas.openxmlformats.org/drawingml/2006/main">
              <a:ext uri="{FF2B5EF4-FFF2-40B4-BE49-F238E27FC236}">
                <a16:creationId xmlns:a16="http://schemas.microsoft.com/office/drawing/2014/main" id="{4C9492EC-7F56-4FD2-8D2E-016BD3CF5276}"/>
              </a:ext>
            </a:extLst>
          </p:cNvPr>
          <p:cNvSpPr>
            <a:spLocks xmlns:a="http://schemas.openxmlformats.org/drawingml/2006/main" noGrp="1"/>
          </p:cNvSpPr>
          <p:nvPr/>
        </p:nvSpPr>
        <p:spPr>
          <a:xfrm xmlns:a="http://schemas.openxmlformats.org/drawingml/2006/main">
            <a:off x="666750" y="2905125"/>
            <a:ext cx="1000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500" b="0" i="0">
                <a:solidFill>
                  <a:srgbClr val="D9D2EA"/>
                </a:solidFill>
                <a:latin typeface="Yu Gothic"/>
                <a:ea typeface="Yu Gothic"/>
                <a:cs typeface="Yu Gothic"/>
              </a:defRPr>
            </a:pPr>
            <a:r>
              <a:rPr sz="1500" b="0" i="0">
                <a:solidFill>
                  <a:srgbClr val="D9D2EA"/>
                </a:solidFill>
                <a:latin typeface="Yu Gothic"/>
                <a:ea typeface="Yu Gothic"/>
                <a:cs typeface="Yu Gothic"/>
              </a:rPr>
              <a:t>背景、コード構成、処理workflow、最適化、推定モデル、CAEベンチマークを一体で評価</a:t>
            </a:r>
          </a:p>
        </p:txBody>
      </p:sp>
      <p:sp>
        <p:nvSpPr>
          <p:cNvPr id="5" name="">
            <a:extLst xmlns:a="http://schemas.openxmlformats.org/drawingml/2006/main">
              <a:ext uri="{FF2B5EF4-FFF2-40B4-BE49-F238E27FC236}">
                <a16:creationId xmlns:a16="http://schemas.microsoft.com/office/drawing/2014/main" id="{938B633F-1F30-4E63-AF60-5DFEF65C77FB}"/>
              </a:ext>
            </a:extLst>
          </p:cNvPr>
          <p:cNvSpPr>
            <a:spLocks xmlns:a="http://schemas.openxmlformats.org/drawingml/2006/main" noGrp="1"/>
          </p:cNvSpPr>
          <p:nvPr/>
        </p:nvSpPr>
        <p:spPr>
          <a:xfrm xmlns:a="http://schemas.openxmlformats.org/drawingml/2006/main">
            <a:off x="666750" y="3571875"/>
            <a:ext cx="5334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0" i="0">
                <a:solidFill>
                  <a:srgbClr val="BFB7D2"/>
                </a:solidFill>
                <a:latin typeface="Yu Gothic"/>
                <a:ea typeface="Yu Gothic"/>
                <a:cs typeface="Yu Gothic"/>
              </a:defRPr>
            </a:pPr>
            <a:r>
              <a:rPr sz="975" b="0" i="0">
                <a:solidFill>
                  <a:srgbClr val="BFB7D2"/>
                </a:solidFill>
                <a:latin typeface="Yu Gothic"/>
                <a:ea typeface="Yu Gothic"/>
                <a:cs typeface="Yu Gothic"/>
              </a:rPr>
              <a:t>Technical review  /  thermal-cell-practical</a:t>
            </a:r>
          </a:p>
        </p:txBody>
      </p:sp>
      <p:sp>
        <p:nvSpPr>
          <p:cNvPr id="6" name="">
            <a:extLst xmlns:a="http://schemas.openxmlformats.org/drawingml/2006/main">
              <a:ext uri="{FF2B5EF4-FFF2-40B4-BE49-F238E27FC236}">
                <a16:creationId xmlns:a16="http://schemas.microsoft.com/office/drawing/2014/main" id="{0E2300E7-332C-458A-918F-3CB32C9E13F6}"/>
              </a:ext>
            </a:extLst>
          </p:cNvPr>
          <p:cNvSpPr>
            <a:spLocks xmlns:a="http://schemas.openxmlformats.org/drawingml/2006/main" noGrp="1"/>
          </p:cNvSpPr>
          <p:nvPr/>
        </p:nvSpPr>
        <p:spPr>
          <a:xfrm xmlns:a="http://schemas.openxmlformats.org/drawingml/2006/main">
            <a:off x="0" y="4619625"/>
            <a:ext cx="12192000" cy="2238375"/>
          </a:xfrm>
          <a:prstGeom xmlns:a="http://schemas.openxmlformats.org/drawingml/2006/main" prst="rect">
            <a:avLst/>
          </a:prstGeom>
          <a:solidFill xmlns:a="http://schemas.openxmlformats.org/drawingml/2006/main">
            <a:srgbClr val="3B1F6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BE0B015-7D91-4B7C-9F37-B7E94B7937DF}"/>
              </a:ext>
            </a:extLst>
          </p:cNvPr>
          <p:cNvSpPr>
            <a:spLocks xmlns:a="http://schemas.openxmlformats.org/drawingml/2006/main" noGrp="1"/>
          </p:cNvSpPr>
          <p:nvPr/>
        </p:nvSpPr>
        <p:spPr>
          <a:xfrm xmlns:a="http://schemas.openxmlformats.org/drawingml/2006/main">
            <a:off x="0" y="4619625"/>
            <a:ext cx="3476625" cy="22383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9BF9323-271B-4125-AA12-741B7F596482}"/>
              </a:ext>
            </a:extLst>
          </p:cNvPr>
          <p:cNvSpPr>
            <a:spLocks xmlns:a="http://schemas.openxmlformats.org/drawingml/2006/main" noGrp="1"/>
          </p:cNvSpPr>
          <p:nvPr/>
        </p:nvSpPr>
        <p:spPr>
          <a:xfrm xmlns:a="http://schemas.openxmlformats.org/drawingml/2006/main">
            <a:off x="3476625" y="4619625"/>
            <a:ext cx="2952750" cy="2238375"/>
          </a:xfrm>
          <a:prstGeom xmlns:a="http://schemas.openxmlformats.org/drawingml/2006/main" prst="rect">
            <a:avLst/>
          </a:prstGeom>
          <a:solidFill xmlns:a="http://schemas.openxmlformats.org/drawingml/2006/main">
            <a:srgbClr val="007FA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873AA31-0CF4-4A1E-B686-2D3223B281FD}"/>
              </a:ext>
            </a:extLst>
          </p:cNvPr>
          <p:cNvSpPr>
            <a:spLocks xmlns:a="http://schemas.openxmlformats.org/drawingml/2006/main" noGrp="1"/>
          </p:cNvSpPr>
          <p:nvPr/>
        </p:nvSpPr>
        <p:spPr>
          <a:xfrm xmlns:a="http://schemas.openxmlformats.org/drawingml/2006/main">
            <a:off x="6429375" y="4619625"/>
            <a:ext cx="1714500" cy="2238375"/>
          </a:xfrm>
          <a:prstGeom xmlns:a="http://schemas.openxmlformats.org/drawingml/2006/main" prst="rect">
            <a:avLst/>
          </a:prstGeom>
          <a:solidFill xmlns:a="http://schemas.openxmlformats.org/drawingml/2006/main">
            <a:srgbClr val="4D871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7C274D-6397-4F9C-B691-63C69A0333E7}"/>
              </a:ext>
            </a:extLst>
          </p:cNvPr>
          <p:cNvSpPr>
            <a:spLocks xmlns:a="http://schemas.openxmlformats.org/drawingml/2006/main" noGrp="1"/>
          </p:cNvSpPr>
          <p:nvPr/>
        </p:nvSpPr>
        <p:spPr>
          <a:xfrm xmlns:a="http://schemas.openxmlformats.org/drawingml/2006/main">
            <a:off x="8143875" y="4619625"/>
            <a:ext cx="4048125" cy="2238375"/>
          </a:xfrm>
          <a:prstGeom xmlns:a="http://schemas.openxmlformats.org/drawingml/2006/main" prst="rect">
            <a:avLst/>
          </a:prstGeom>
          <a:solidFill xmlns:a="http://schemas.openxmlformats.org/drawingml/2006/main">
            <a:srgbClr val="2A205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DD16541-7108-481E-8245-BE4601280049}"/>
              </a:ext>
            </a:extLst>
          </p:cNvPr>
          <p:cNvSpPr>
            <a:spLocks xmlns:a="http://schemas.openxmlformats.org/drawingml/2006/main" noGrp="1"/>
          </p:cNvSpPr>
          <p:nvPr/>
        </p:nvSpPr>
        <p:spPr>
          <a:xfrm xmlns:a="http://schemas.openxmlformats.org/drawingml/2006/main">
            <a:off x="981075" y="5124450"/>
            <a:ext cx="1047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4650" b="1" i="0">
                <a:solidFill>
                  <a:srgbClr val="FFFFFF"/>
                </a:solidFill>
                <a:latin typeface="Cambria Math"/>
                <a:ea typeface="Cambria Math"/>
                <a:cs typeface="Cambria Math"/>
              </a:defRPr>
            </a:pPr>
            <a:r>
              <a:rPr sz="4650" b="1" i="0">
                <a:solidFill>
                  <a:srgbClr val="FFFFFF"/>
                </a:solidFill>
                <a:latin typeface="Cambria Math"/>
                <a:ea typeface="Cambria Math"/>
                <a:cs typeface="Cambria Math"/>
              </a:rPr>
              <a:t>Q̇</a:t>
            </a:r>
          </a:p>
        </p:txBody>
      </p:sp>
      <p:sp>
        <p:nvSpPr>
          <p:cNvPr id="12" name="">
            <a:extLst xmlns:a="http://schemas.openxmlformats.org/drawingml/2006/main">
              <a:ext uri="{FF2B5EF4-FFF2-40B4-BE49-F238E27FC236}">
                <a16:creationId xmlns:a16="http://schemas.microsoft.com/office/drawing/2014/main" id="{BD400C4A-CE40-4CFC-A6A7-567996D4EC26}"/>
              </a:ext>
            </a:extLst>
          </p:cNvPr>
          <p:cNvSpPr>
            <a:spLocks xmlns:a="http://schemas.openxmlformats.org/drawingml/2006/main" noGrp="1"/>
          </p:cNvSpPr>
          <p:nvPr/>
        </p:nvSpPr>
        <p:spPr>
          <a:xfrm xmlns:a="http://schemas.openxmlformats.org/drawingml/2006/main">
            <a:off x="3724275" y="5219700"/>
            <a:ext cx="2476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2175" b="1" i="0">
                <a:solidFill>
                  <a:srgbClr val="FFFFFF"/>
                </a:solidFill>
                <a:latin typeface="Cambria Math"/>
                <a:ea typeface="Cambria Math"/>
                <a:cs typeface="Cambria Math"/>
              </a:defRPr>
            </a:pPr>
            <a:r>
              <a:rPr sz="2175" b="1" i="0">
                <a:solidFill>
                  <a:srgbClr val="FFFFFF"/>
                </a:solidFill>
                <a:latin typeface="Cambria Math"/>
                <a:ea typeface="Cambria Math"/>
                <a:cs typeface="Cambria Math"/>
              </a:rPr>
              <a:t>C Ṫ = −L T + b</a:t>
            </a:r>
          </a:p>
        </p:txBody>
      </p:sp>
      <p:sp>
        <p:nvSpPr>
          <p:cNvPr id="13" name="">
            <a:extLst xmlns:a="http://schemas.openxmlformats.org/drawingml/2006/main">
              <a:ext uri="{FF2B5EF4-FFF2-40B4-BE49-F238E27FC236}">
                <a16:creationId xmlns:a16="http://schemas.microsoft.com/office/drawing/2014/main" id="{122F1716-85E3-42DC-824C-CC70B4378A83}"/>
              </a:ext>
            </a:extLst>
          </p:cNvPr>
          <p:cNvSpPr>
            <a:spLocks xmlns:a="http://schemas.openxmlformats.org/drawingml/2006/main" noGrp="1"/>
          </p:cNvSpPr>
          <p:nvPr/>
        </p:nvSpPr>
        <p:spPr>
          <a:xfrm xmlns:a="http://schemas.openxmlformats.org/drawingml/2006/main">
            <a:off x="6724650" y="5219700"/>
            <a:ext cx="1162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2925" b="1" i="0">
                <a:solidFill>
                  <a:srgbClr val="FFFFFF"/>
                </a:solidFill>
                <a:latin typeface="Cambria Math"/>
                <a:ea typeface="Cambria Math"/>
                <a:cs typeface="Cambria Math"/>
              </a:defRPr>
            </a:pPr>
            <a:r>
              <a:rPr sz="2925" b="1" i="0">
                <a:solidFill>
                  <a:srgbClr val="FFFFFF"/>
                </a:solidFill>
                <a:latin typeface="Cambria Math"/>
                <a:ea typeface="Cambria Math"/>
                <a:cs typeface="Cambria Math"/>
              </a:rPr>
              <a:t>ΔT</a:t>
            </a:r>
          </a:p>
        </p:txBody>
      </p:sp>
      <p:sp>
        <p:nvSpPr>
          <p:cNvPr id="14" name="">
            <a:extLst xmlns:a="http://schemas.openxmlformats.org/drawingml/2006/main">
              <a:ext uri="{FF2B5EF4-FFF2-40B4-BE49-F238E27FC236}">
                <a16:creationId xmlns:a16="http://schemas.microsoft.com/office/drawing/2014/main" id="{9C41623B-2B0D-4E4D-95CB-D47CBB600FD2}"/>
              </a:ext>
            </a:extLst>
          </p:cNvPr>
          <p:cNvSpPr>
            <a:spLocks xmlns:a="http://schemas.openxmlformats.org/drawingml/2006/main" noGrp="1"/>
          </p:cNvSpPr>
          <p:nvPr/>
        </p:nvSpPr>
        <p:spPr>
          <a:xfrm xmlns:a="http://schemas.openxmlformats.org/drawingml/2006/main">
            <a:off x="8667750" y="5057775"/>
            <a:ext cx="0" cy="112395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15" name="">
            <a:extLst xmlns:a="http://schemas.openxmlformats.org/drawingml/2006/main">
              <a:ext uri="{FF2B5EF4-FFF2-40B4-BE49-F238E27FC236}">
                <a16:creationId xmlns:a16="http://schemas.microsoft.com/office/drawing/2014/main" id="{76875603-30AC-4836-880D-889B6CE8AED3}"/>
              </a:ext>
            </a:extLst>
          </p:cNvPr>
          <p:cNvSpPr>
            <a:spLocks xmlns:a="http://schemas.openxmlformats.org/drawingml/2006/main" noGrp="1"/>
          </p:cNvSpPr>
          <p:nvPr/>
        </p:nvSpPr>
        <p:spPr>
          <a:xfrm xmlns:a="http://schemas.openxmlformats.org/drawingml/2006/main">
            <a:off x="9220200" y="5057775"/>
            <a:ext cx="0" cy="112395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16" name="">
            <a:extLst xmlns:a="http://schemas.openxmlformats.org/drawingml/2006/main">
              <a:ext uri="{FF2B5EF4-FFF2-40B4-BE49-F238E27FC236}">
                <a16:creationId xmlns:a16="http://schemas.microsoft.com/office/drawing/2014/main" id="{872570E6-8AC2-42F2-9E30-F4CFAE724636}"/>
              </a:ext>
            </a:extLst>
          </p:cNvPr>
          <p:cNvSpPr>
            <a:spLocks xmlns:a="http://schemas.openxmlformats.org/drawingml/2006/main" noGrp="1"/>
          </p:cNvSpPr>
          <p:nvPr/>
        </p:nvSpPr>
        <p:spPr>
          <a:xfrm xmlns:a="http://schemas.openxmlformats.org/drawingml/2006/main">
            <a:off x="9772650" y="5057775"/>
            <a:ext cx="0" cy="112395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17" name="">
            <a:extLst xmlns:a="http://schemas.openxmlformats.org/drawingml/2006/main">
              <a:ext uri="{FF2B5EF4-FFF2-40B4-BE49-F238E27FC236}">
                <a16:creationId xmlns:a16="http://schemas.microsoft.com/office/drawing/2014/main" id="{03AB104E-E9BC-4E64-B5B2-4F931610C8F7}"/>
              </a:ext>
            </a:extLst>
          </p:cNvPr>
          <p:cNvSpPr>
            <a:spLocks xmlns:a="http://schemas.openxmlformats.org/drawingml/2006/main" noGrp="1"/>
          </p:cNvSpPr>
          <p:nvPr/>
        </p:nvSpPr>
        <p:spPr>
          <a:xfrm xmlns:a="http://schemas.openxmlformats.org/drawingml/2006/main">
            <a:off x="10325100" y="5057775"/>
            <a:ext cx="0" cy="112395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18" name="">
            <a:extLst xmlns:a="http://schemas.openxmlformats.org/drawingml/2006/main">
              <a:ext uri="{FF2B5EF4-FFF2-40B4-BE49-F238E27FC236}">
                <a16:creationId xmlns:a16="http://schemas.microsoft.com/office/drawing/2014/main" id="{DF33D1C1-48A0-4AA7-B332-C42C868B5368}"/>
              </a:ext>
            </a:extLst>
          </p:cNvPr>
          <p:cNvSpPr>
            <a:spLocks xmlns:a="http://schemas.openxmlformats.org/drawingml/2006/main" noGrp="1"/>
          </p:cNvSpPr>
          <p:nvPr/>
        </p:nvSpPr>
        <p:spPr>
          <a:xfrm xmlns:a="http://schemas.openxmlformats.org/drawingml/2006/main">
            <a:off x="10877550" y="5057775"/>
            <a:ext cx="0" cy="112395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19" name="">
            <a:extLst xmlns:a="http://schemas.openxmlformats.org/drawingml/2006/main">
              <a:ext uri="{FF2B5EF4-FFF2-40B4-BE49-F238E27FC236}">
                <a16:creationId xmlns:a16="http://schemas.microsoft.com/office/drawing/2014/main" id="{33FA245D-AE6E-4385-BC8D-D57193751E03}"/>
              </a:ext>
            </a:extLst>
          </p:cNvPr>
          <p:cNvSpPr>
            <a:spLocks xmlns:a="http://schemas.openxmlformats.org/drawingml/2006/main" noGrp="1"/>
          </p:cNvSpPr>
          <p:nvPr/>
        </p:nvSpPr>
        <p:spPr>
          <a:xfrm xmlns:a="http://schemas.openxmlformats.org/drawingml/2006/main">
            <a:off x="8496300" y="5219700"/>
            <a:ext cx="2857500" cy="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20" name="">
            <a:extLst xmlns:a="http://schemas.openxmlformats.org/drawingml/2006/main">
              <a:ext uri="{FF2B5EF4-FFF2-40B4-BE49-F238E27FC236}">
                <a16:creationId xmlns:a16="http://schemas.microsoft.com/office/drawing/2014/main" id="{13F00A61-4FF8-43FE-B5B0-1B2D4064F5E9}"/>
              </a:ext>
            </a:extLst>
          </p:cNvPr>
          <p:cNvSpPr>
            <a:spLocks xmlns:a="http://schemas.openxmlformats.org/drawingml/2006/main" noGrp="1"/>
          </p:cNvSpPr>
          <p:nvPr/>
        </p:nvSpPr>
        <p:spPr>
          <a:xfrm xmlns:a="http://schemas.openxmlformats.org/drawingml/2006/main">
            <a:off x="8496300" y="5619750"/>
            <a:ext cx="2857500" cy="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21" name="">
            <a:extLst xmlns:a="http://schemas.openxmlformats.org/drawingml/2006/main">
              <a:ext uri="{FF2B5EF4-FFF2-40B4-BE49-F238E27FC236}">
                <a16:creationId xmlns:a16="http://schemas.microsoft.com/office/drawing/2014/main" id="{FEA7B660-64B4-4695-8DFD-3AFF3BD139F8}"/>
              </a:ext>
            </a:extLst>
          </p:cNvPr>
          <p:cNvSpPr>
            <a:spLocks xmlns:a="http://schemas.openxmlformats.org/drawingml/2006/main" noGrp="1"/>
          </p:cNvSpPr>
          <p:nvPr/>
        </p:nvSpPr>
        <p:spPr>
          <a:xfrm xmlns:a="http://schemas.openxmlformats.org/drawingml/2006/main">
            <a:off x="8496300" y="6019800"/>
            <a:ext cx="2857500" cy="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22" name="">
            <a:extLst xmlns:a="http://schemas.openxmlformats.org/drawingml/2006/main">
              <a:ext uri="{FF2B5EF4-FFF2-40B4-BE49-F238E27FC236}">
                <a16:creationId xmlns:a16="http://schemas.microsoft.com/office/drawing/2014/main" id="{5DD96C17-444D-4D07-B643-B177715C2777}"/>
              </a:ext>
            </a:extLst>
          </p:cNvPr>
          <p:cNvSpPr>
            <a:spLocks xmlns:a="http://schemas.openxmlformats.org/drawingml/2006/main" noGrp="1"/>
          </p:cNvSpPr>
          <p:nvPr/>
        </p:nvSpPr>
        <p:spPr>
          <a:xfrm xmlns:a="http://schemas.openxmlformats.org/drawingml/2006/main">
            <a:off x="8991600" y="5381625"/>
            <a:ext cx="552450" cy="40005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CBCD67F-71B8-4442-B50B-CDC4E91D6EB9}"/>
              </a:ext>
            </a:extLst>
          </p:cNvPr>
          <p:cNvSpPr>
            <a:spLocks xmlns:a="http://schemas.openxmlformats.org/drawingml/2006/main" noGrp="1"/>
          </p:cNvSpPr>
          <p:nvPr/>
        </p:nvSpPr>
        <p:spPr>
          <a:xfrm xmlns:a="http://schemas.openxmlformats.org/drawingml/2006/main">
            <a:off x="10096500" y="4981575"/>
            <a:ext cx="552450" cy="8001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A503DD8-272A-431F-AF45-0B51E93F6A86}"/>
              </a:ext>
            </a:extLst>
          </p:cNvPr>
          <p:cNvSpPr>
            <a:spLocks xmlns:a="http://schemas.openxmlformats.org/drawingml/2006/main" noGrp="1"/>
          </p:cNvSpPr>
          <p:nvPr/>
        </p:nvSpPr>
        <p:spPr>
          <a:xfrm xmlns:a="http://schemas.openxmlformats.org/drawingml/2006/main">
            <a:off x="9544050" y="5781675"/>
            <a:ext cx="552450" cy="40005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5E2DA2D-D846-4F91-9E30-9D3D92BDD0FD}"/>
              </a:ext>
            </a:extLst>
          </p:cNvPr>
          <p:cNvSpPr>
            <a:spLocks xmlns:a="http://schemas.openxmlformats.org/drawingml/2006/main" noGrp="1"/>
          </p:cNvSpPr>
          <p:nvPr/>
        </p:nvSpPr>
        <p:spPr>
          <a:xfrm xmlns:a="http://schemas.openxmlformats.org/drawingml/2006/main">
            <a:off x="10287000" y="6438900"/>
            <a:ext cx="1352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825" b="0" i="0">
                <a:solidFill>
                  <a:srgbClr val="C6BFDA"/>
                </a:solidFill>
                <a:latin typeface="Yu Gothic"/>
                <a:ea typeface="Yu Gothic"/>
                <a:cs typeface="Yu Gothic"/>
              </a:defRPr>
            </a:pPr>
            <a:r>
              <a:rPr sz="825" b="0" i="0">
                <a:solidFill>
                  <a:srgbClr val="C6BFDA"/>
                </a:solidFill>
                <a:latin typeface="Yu Gothic"/>
                <a:ea typeface="Yu Gothic"/>
                <a:cs typeface="Yu Gothic"/>
              </a:rPr>
              <a:t>2026-09-17</a:t>
            </a:r>
          </a:p>
        </p:txBody>
      </p:sp>
    </p:spTree>
    <p:extLst>
      <p:ext uri="{BB962C8B-B14F-4D97-AF65-F5344CB8AC3E}">
        <p14:creationId xmlns:p14="http://schemas.microsoft.com/office/powerpoint/2010/main" val="133237097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92A67AC0-D6D3-4A8B-910E-EB526080C6C8}"/>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ED42045-C5DA-4D32-97A0-82542DFD9ED2}"/>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BACKGROUND</a:t>
            </a:r>
          </a:p>
        </p:txBody>
      </p:sp>
      <p:sp>
        <p:nvSpPr>
          <p:cNvPr id="3" name="">
            <a:extLst xmlns:a="http://schemas.openxmlformats.org/drawingml/2006/main">
              <a:ext uri="{FF2B5EF4-FFF2-40B4-BE49-F238E27FC236}">
                <a16:creationId xmlns:a16="http://schemas.microsoft.com/office/drawing/2014/main" id="{24A43CF3-41D1-4A32-9399-991FA9157140}"/>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熱設計と装置運用の間には、時間尺度・観測密度・説明責任のギャップが残る</a:t>
            </a:r>
          </a:p>
        </p:txBody>
      </p:sp>
      <p:sp>
        <p:nvSpPr>
          <p:cNvPr id="4" name="">
            <a:extLst xmlns:a="http://schemas.openxmlformats.org/drawingml/2006/main">
              <a:ext uri="{FF2B5EF4-FFF2-40B4-BE49-F238E27FC236}">
                <a16:creationId xmlns:a16="http://schemas.microsoft.com/office/drawing/2014/main" id="{75E17171-4D96-4758-941F-5DA6BB685A41}"/>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高忠実度CAEと実測を、制御周期で扱える共通の物理状態へ圧縮することが本基盤の出発点である</a:t>
            </a:r>
          </a:p>
        </p:txBody>
      </p:sp>
      <p:sp>
        <p:nvSpPr>
          <p:cNvPr id="5" name="">
            <a:extLst xmlns:a="http://schemas.openxmlformats.org/drawingml/2006/main">
              <a:ext uri="{FF2B5EF4-FFF2-40B4-BE49-F238E27FC236}">
                <a16:creationId xmlns:a16="http://schemas.microsoft.com/office/drawing/2014/main" id="{A0F6341F-8E72-41E6-B77A-44B02A6A9F03}"/>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193BB97A-317C-4A51-B66C-C92C3D4D23C0}"/>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B14B643B-88E3-44D8-B7FE-9FD88CF38572}"/>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C22DE3B9-BB2C-48F6-90ED-8D2E1683B164}"/>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a:t>
            </a:r>
          </a:p>
        </p:txBody>
      </p:sp>
      <p:sp>
        <p:nvSpPr>
          <p:cNvPr id="9" name="">
            <a:extLst xmlns:a="http://schemas.openxmlformats.org/drawingml/2006/main">
              <a:ext uri="{FF2B5EF4-FFF2-40B4-BE49-F238E27FC236}">
                <a16:creationId xmlns:a16="http://schemas.microsoft.com/office/drawing/2014/main" id="{BDD30C0F-FE23-44DC-882A-7E7E0F241B24}"/>
              </a:ext>
            </a:extLst>
          </p:cNvPr>
          <p:cNvSpPr>
            <a:spLocks xmlns:a="http://schemas.openxmlformats.org/drawingml/2006/main" noGrp="1"/>
          </p:cNvSpPr>
          <p:nvPr/>
        </p:nvSpPr>
        <p:spPr>
          <a:xfrm xmlns:a="http://schemas.openxmlformats.org/drawingml/2006/main">
            <a:off x="552450" y="1457325"/>
            <a:ext cx="22669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D3915DE3-155B-43EB-B8C2-17B5A5BBCC78}"/>
              </a:ext>
            </a:extLst>
          </p:cNvPr>
          <p:cNvSpPr>
            <a:spLocks xmlns:a="http://schemas.openxmlformats.org/drawingml/2006/main" noGrp="1"/>
          </p:cNvSpPr>
          <p:nvPr/>
        </p:nvSpPr>
        <p:spPr>
          <a:xfrm xmlns:a="http://schemas.openxmlformats.org/drawingml/2006/main">
            <a:off x="552450" y="1457325"/>
            <a:ext cx="2266950" cy="762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35E944F-A8CC-4C58-A47F-EF7C001B22F4}"/>
              </a:ext>
            </a:extLst>
          </p:cNvPr>
          <p:cNvSpPr>
            <a:spLocks xmlns:a="http://schemas.openxmlformats.org/drawingml/2006/main" noGrp="1"/>
          </p:cNvSpPr>
          <p:nvPr/>
        </p:nvSpPr>
        <p:spPr>
          <a:xfrm xmlns:a="http://schemas.openxmlformats.org/drawingml/2006/main">
            <a:off x="714375" y="1676400"/>
            <a:ext cx="194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7B2DAF"/>
                </a:solidFill>
                <a:latin typeface="Yu Gothic"/>
                <a:ea typeface="Yu Gothic"/>
                <a:cs typeface="Yu Gothic"/>
              </a:defRPr>
            </a:pPr>
            <a:r>
              <a:rPr sz="1350" b="1" i="0">
                <a:solidFill>
                  <a:srgbClr val="7B2DAF"/>
                </a:solidFill>
                <a:latin typeface="Yu Gothic"/>
                <a:ea typeface="Yu Gothic"/>
                <a:cs typeface="Yu Gothic"/>
              </a:rPr>
              <a:t>CAE / 実験</a:t>
            </a:r>
          </a:p>
        </p:txBody>
      </p:sp>
      <p:sp>
        <p:nvSpPr>
          <p:cNvPr id="12" name="">
            <a:extLst xmlns:a="http://schemas.openxmlformats.org/drawingml/2006/main">
              <a:ext uri="{FF2B5EF4-FFF2-40B4-BE49-F238E27FC236}">
                <a16:creationId xmlns:a16="http://schemas.microsoft.com/office/drawing/2014/main" id="{DC1B19D0-64F5-4A3F-A826-F796DB9CDC0D}"/>
              </a:ext>
            </a:extLst>
          </p:cNvPr>
          <p:cNvSpPr>
            <a:spLocks xmlns:a="http://schemas.openxmlformats.org/drawingml/2006/main" noGrp="1"/>
          </p:cNvSpPr>
          <p:nvPr/>
        </p:nvSpPr>
        <p:spPr>
          <a:xfrm xmlns:a="http://schemas.openxmlformats.org/drawingml/2006/main">
            <a:off x="714375" y="20002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1" i="0">
                <a:solidFill>
                  <a:srgbClr val="777777"/>
                </a:solidFill>
                <a:latin typeface="Yu Gothic"/>
                <a:ea typeface="Yu Gothic"/>
                <a:cs typeface="Yu Gothic"/>
              </a:defRPr>
            </a:pPr>
            <a:r>
              <a:rPr sz="788" b="1" i="0">
                <a:solidFill>
                  <a:srgbClr val="777777"/>
                </a:solidFill>
                <a:latin typeface="Yu Gothic"/>
                <a:ea typeface="Yu Gothic"/>
                <a:cs typeface="Yu Gothic"/>
              </a:rPr>
              <a:t>高空間分解能・高コスト</a:t>
            </a:r>
          </a:p>
        </p:txBody>
      </p:sp>
      <p:sp>
        <p:nvSpPr>
          <p:cNvPr id="13" name="">
            <a:extLst xmlns:a="http://schemas.openxmlformats.org/drawingml/2006/main">
              <a:ext uri="{FF2B5EF4-FFF2-40B4-BE49-F238E27FC236}">
                <a16:creationId xmlns:a16="http://schemas.microsoft.com/office/drawing/2014/main" id="{053455C1-ADC1-41C1-B42A-2C9E4322A02F}"/>
              </a:ext>
            </a:extLst>
          </p:cNvPr>
          <p:cNvSpPr>
            <a:spLocks xmlns:a="http://schemas.openxmlformats.org/drawingml/2006/main" noGrp="1"/>
          </p:cNvSpPr>
          <p:nvPr/>
        </p:nvSpPr>
        <p:spPr>
          <a:xfrm xmlns:a="http://schemas.openxmlformats.org/drawingml/2006/main">
            <a:off x="714375" y="2295525"/>
            <a:ext cx="1943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14" name="">
            <a:extLst xmlns:a="http://schemas.openxmlformats.org/drawingml/2006/main">
              <a:ext uri="{FF2B5EF4-FFF2-40B4-BE49-F238E27FC236}">
                <a16:creationId xmlns:a16="http://schemas.microsoft.com/office/drawing/2014/main" id="{A62CFA5E-4CCC-47FF-8704-5B7F38461000}"/>
              </a:ext>
            </a:extLst>
          </p:cNvPr>
          <p:cNvSpPr>
            <a:spLocks xmlns:a="http://schemas.openxmlformats.org/drawingml/2006/main" noGrp="1"/>
          </p:cNvSpPr>
          <p:nvPr/>
        </p:nvSpPr>
        <p:spPr>
          <a:xfrm xmlns:a="http://schemas.openxmlformats.org/drawingml/2006/main">
            <a:off x="714375" y="2400300"/>
            <a:ext cx="19431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5351"/>
          </a:bodyPr>
          <a:lstStyle xmlns:a="http://schemas.openxmlformats.org/drawingml/2006/main"/>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mesh field</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熱流・境界条件</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校正済み計測</a:t>
            </a:r>
          </a:p>
        </p:txBody>
      </p:sp>
      <p:sp>
        <p:nvSpPr>
          <p:cNvPr id="15" name="">
            <a:extLst xmlns:a="http://schemas.openxmlformats.org/drawingml/2006/main">
              <a:ext uri="{FF2B5EF4-FFF2-40B4-BE49-F238E27FC236}">
                <a16:creationId xmlns:a16="http://schemas.microsoft.com/office/drawing/2014/main" id="{65AE3379-2A0B-4BF5-83F9-AE8E2ADBD98B}"/>
              </a:ext>
            </a:extLst>
          </p:cNvPr>
          <p:cNvSpPr>
            <a:spLocks xmlns:a="http://schemas.openxmlformats.org/drawingml/2006/main" noGrp="1"/>
          </p:cNvSpPr>
          <p:nvPr/>
        </p:nvSpPr>
        <p:spPr>
          <a:xfrm xmlns:a="http://schemas.openxmlformats.org/drawingml/2006/main">
            <a:off x="3200400" y="1457325"/>
            <a:ext cx="22669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2B379964-D7A6-4267-9A07-24620816B376}"/>
              </a:ext>
            </a:extLst>
          </p:cNvPr>
          <p:cNvSpPr>
            <a:spLocks xmlns:a="http://schemas.openxmlformats.org/drawingml/2006/main" noGrp="1"/>
          </p:cNvSpPr>
          <p:nvPr/>
        </p:nvSpPr>
        <p:spPr>
          <a:xfrm xmlns:a="http://schemas.openxmlformats.org/drawingml/2006/main">
            <a:off x="3200400" y="1457325"/>
            <a:ext cx="2266950" cy="762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EEA57AB-FBE6-4113-BC90-659814E497EA}"/>
              </a:ext>
            </a:extLst>
          </p:cNvPr>
          <p:cNvSpPr>
            <a:spLocks xmlns:a="http://schemas.openxmlformats.org/drawingml/2006/main" noGrp="1"/>
          </p:cNvSpPr>
          <p:nvPr/>
        </p:nvSpPr>
        <p:spPr>
          <a:xfrm xmlns:a="http://schemas.openxmlformats.org/drawingml/2006/main">
            <a:off x="3362325" y="1676400"/>
            <a:ext cx="194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00A5D8"/>
                </a:solidFill>
                <a:latin typeface="Yu Gothic"/>
                <a:ea typeface="Yu Gothic"/>
                <a:cs typeface="Yu Gothic"/>
              </a:defRPr>
            </a:pPr>
            <a:r>
              <a:rPr sz="1350" b="1" i="0">
                <a:solidFill>
                  <a:srgbClr val="00A5D8"/>
                </a:solidFill>
                <a:latin typeface="Yu Gothic"/>
                <a:ea typeface="Yu Gothic"/>
                <a:cs typeface="Yu Gothic"/>
              </a:rPr>
              <a:t>装置log</a:t>
            </a:r>
          </a:p>
        </p:txBody>
      </p:sp>
      <p:sp>
        <p:nvSpPr>
          <p:cNvPr id="18" name="">
            <a:extLst xmlns:a="http://schemas.openxmlformats.org/drawingml/2006/main">
              <a:ext uri="{FF2B5EF4-FFF2-40B4-BE49-F238E27FC236}">
                <a16:creationId xmlns:a16="http://schemas.microsoft.com/office/drawing/2014/main" id="{CE83A6A5-FF48-4EE8-8134-8C3C3036AAD5}"/>
              </a:ext>
            </a:extLst>
          </p:cNvPr>
          <p:cNvSpPr>
            <a:spLocks xmlns:a="http://schemas.openxmlformats.org/drawingml/2006/main" noGrp="1"/>
          </p:cNvSpPr>
          <p:nvPr/>
        </p:nvSpPr>
        <p:spPr>
          <a:xfrm xmlns:a="http://schemas.openxmlformats.org/drawingml/2006/main">
            <a:off x="3362325" y="20002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1" i="0">
                <a:solidFill>
                  <a:srgbClr val="777777"/>
                </a:solidFill>
                <a:latin typeface="Yu Gothic"/>
                <a:ea typeface="Yu Gothic"/>
                <a:cs typeface="Yu Gothic"/>
              </a:defRPr>
            </a:pPr>
            <a:r>
              <a:rPr sz="788" b="1" i="0">
                <a:solidFill>
                  <a:srgbClr val="777777"/>
                </a:solidFill>
                <a:latin typeface="Yu Gothic"/>
                <a:ea typeface="Yu Gothic"/>
                <a:cs typeface="Yu Gothic"/>
              </a:rPr>
              <a:t>疎観測・欠測・bias</a:t>
            </a:r>
          </a:p>
        </p:txBody>
      </p:sp>
      <p:sp>
        <p:nvSpPr>
          <p:cNvPr id="19" name="">
            <a:extLst xmlns:a="http://schemas.openxmlformats.org/drawingml/2006/main">
              <a:ext uri="{FF2B5EF4-FFF2-40B4-BE49-F238E27FC236}">
                <a16:creationId xmlns:a16="http://schemas.microsoft.com/office/drawing/2014/main" id="{2C05DAB4-2266-4C32-A2D4-356021095FD2}"/>
              </a:ext>
            </a:extLst>
          </p:cNvPr>
          <p:cNvSpPr>
            <a:spLocks xmlns:a="http://schemas.openxmlformats.org/drawingml/2006/main" noGrp="1"/>
          </p:cNvSpPr>
          <p:nvPr/>
        </p:nvSpPr>
        <p:spPr>
          <a:xfrm xmlns:a="http://schemas.openxmlformats.org/drawingml/2006/main">
            <a:off x="3362325" y="2295525"/>
            <a:ext cx="1943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0" name="">
            <a:extLst xmlns:a="http://schemas.openxmlformats.org/drawingml/2006/main">
              <a:ext uri="{FF2B5EF4-FFF2-40B4-BE49-F238E27FC236}">
                <a16:creationId xmlns:a16="http://schemas.microsoft.com/office/drawing/2014/main" id="{E914FF2D-B663-43FD-8FFB-33ED01152B73}"/>
              </a:ext>
            </a:extLst>
          </p:cNvPr>
          <p:cNvSpPr>
            <a:spLocks xmlns:a="http://schemas.openxmlformats.org/drawingml/2006/main" noGrp="1"/>
          </p:cNvSpPr>
          <p:nvPr/>
        </p:nvSpPr>
        <p:spPr>
          <a:xfrm xmlns:a="http://schemas.openxmlformats.org/drawingml/2006/main">
            <a:off x="3362325" y="2400300"/>
            <a:ext cx="19431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5351"/>
          </a:bodyPr>
          <a:lstStyle xmlns:a="http://schemas.openxmlformats.org/drawingml/2006/main"/>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temperature</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command</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timestamp</a:t>
            </a:r>
          </a:p>
        </p:txBody>
      </p:sp>
      <p:sp>
        <p:nvSpPr>
          <p:cNvPr id="21" name="">
            <a:extLst xmlns:a="http://schemas.openxmlformats.org/drawingml/2006/main">
              <a:ext uri="{FF2B5EF4-FFF2-40B4-BE49-F238E27FC236}">
                <a16:creationId xmlns:a16="http://schemas.microsoft.com/office/drawing/2014/main" id="{38C5488E-5FEC-4809-B018-14656DE980B5}"/>
              </a:ext>
            </a:extLst>
          </p:cNvPr>
          <p:cNvSpPr>
            <a:spLocks xmlns:a="http://schemas.openxmlformats.org/drawingml/2006/main" noGrp="1"/>
          </p:cNvSpPr>
          <p:nvPr/>
        </p:nvSpPr>
        <p:spPr>
          <a:xfrm xmlns:a="http://schemas.openxmlformats.org/drawingml/2006/main">
            <a:off x="5848350" y="1457325"/>
            <a:ext cx="22669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2" name="">
            <a:extLst xmlns:a="http://schemas.openxmlformats.org/drawingml/2006/main">
              <a:ext uri="{FF2B5EF4-FFF2-40B4-BE49-F238E27FC236}">
                <a16:creationId xmlns:a16="http://schemas.microsoft.com/office/drawing/2014/main" id="{8A7C3080-D78B-41EE-A684-9E6F11D533F4}"/>
              </a:ext>
            </a:extLst>
          </p:cNvPr>
          <p:cNvSpPr>
            <a:spLocks xmlns:a="http://schemas.openxmlformats.org/drawingml/2006/main" noGrp="1"/>
          </p:cNvSpPr>
          <p:nvPr/>
        </p:nvSpPr>
        <p:spPr>
          <a:xfrm xmlns:a="http://schemas.openxmlformats.org/drawingml/2006/main">
            <a:off x="5848350" y="1457325"/>
            <a:ext cx="2266950" cy="762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B3D37AC-C78F-47F0-8A5D-E3409758D586}"/>
              </a:ext>
            </a:extLst>
          </p:cNvPr>
          <p:cNvSpPr>
            <a:spLocks xmlns:a="http://schemas.openxmlformats.org/drawingml/2006/main" noGrp="1"/>
          </p:cNvSpPr>
          <p:nvPr/>
        </p:nvSpPr>
        <p:spPr>
          <a:xfrm xmlns:a="http://schemas.openxmlformats.org/drawingml/2006/main">
            <a:off x="6010275" y="1676400"/>
            <a:ext cx="194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76BE18"/>
                </a:solidFill>
                <a:latin typeface="Yu Gothic"/>
                <a:ea typeface="Yu Gothic"/>
                <a:cs typeface="Yu Gothic"/>
              </a:defRPr>
            </a:pPr>
            <a:r>
              <a:rPr sz="1350" b="1" i="0">
                <a:solidFill>
                  <a:srgbClr val="76BE18"/>
                </a:solidFill>
                <a:latin typeface="Yu Gothic"/>
                <a:ea typeface="Yu Gothic"/>
                <a:cs typeface="Yu Gothic"/>
              </a:rPr>
              <a:t>共通熱状態</a:t>
            </a:r>
          </a:p>
        </p:txBody>
      </p:sp>
      <p:sp>
        <p:nvSpPr>
          <p:cNvPr id="24" name="">
            <a:extLst xmlns:a="http://schemas.openxmlformats.org/drawingml/2006/main">
              <a:ext uri="{FF2B5EF4-FFF2-40B4-BE49-F238E27FC236}">
                <a16:creationId xmlns:a16="http://schemas.microsoft.com/office/drawing/2014/main" id="{4D5B009F-AD60-4AA7-A769-BD32D9B5E0DE}"/>
              </a:ext>
            </a:extLst>
          </p:cNvPr>
          <p:cNvSpPr>
            <a:spLocks xmlns:a="http://schemas.openxmlformats.org/drawingml/2006/main" noGrp="1"/>
          </p:cNvSpPr>
          <p:nvPr/>
        </p:nvSpPr>
        <p:spPr>
          <a:xfrm xmlns:a="http://schemas.openxmlformats.org/drawingml/2006/main">
            <a:off x="6010275" y="20002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1" i="0">
                <a:solidFill>
                  <a:srgbClr val="777777"/>
                </a:solidFill>
                <a:latin typeface="Yu Gothic"/>
                <a:ea typeface="Yu Gothic"/>
                <a:cs typeface="Yu Gothic"/>
              </a:defRPr>
            </a:pPr>
            <a:r>
              <a:rPr sz="788" b="1" i="0">
                <a:solidFill>
                  <a:srgbClr val="777777"/>
                </a:solidFill>
                <a:latin typeface="Yu Gothic"/>
                <a:ea typeface="Yu Gothic"/>
                <a:cs typeface="Yu Gothic"/>
              </a:rPr>
              <a:t>保存則付き低次元model</a:t>
            </a:r>
          </a:p>
        </p:txBody>
      </p:sp>
      <p:sp>
        <p:nvSpPr>
          <p:cNvPr id="25" name="">
            <a:extLst xmlns:a="http://schemas.openxmlformats.org/drawingml/2006/main">
              <a:ext uri="{FF2B5EF4-FFF2-40B4-BE49-F238E27FC236}">
                <a16:creationId xmlns:a16="http://schemas.microsoft.com/office/drawing/2014/main" id="{3161D82F-BC7E-4BCF-A1BA-B86A974E4A3D}"/>
              </a:ext>
            </a:extLst>
          </p:cNvPr>
          <p:cNvSpPr>
            <a:spLocks xmlns:a="http://schemas.openxmlformats.org/drawingml/2006/main" noGrp="1"/>
          </p:cNvSpPr>
          <p:nvPr/>
        </p:nvSpPr>
        <p:spPr>
          <a:xfrm xmlns:a="http://schemas.openxmlformats.org/drawingml/2006/main">
            <a:off x="6010275" y="2295525"/>
            <a:ext cx="1943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6" name="">
            <a:extLst xmlns:a="http://schemas.openxmlformats.org/drawingml/2006/main">
              <a:ext uri="{FF2B5EF4-FFF2-40B4-BE49-F238E27FC236}">
                <a16:creationId xmlns:a16="http://schemas.microsoft.com/office/drawing/2014/main" id="{CA06417D-262B-49BF-BFBF-B5E36E51D511}"/>
              </a:ext>
            </a:extLst>
          </p:cNvPr>
          <p:cNvSpPr>
            <a:spLocks xmlns:a="http://schemas.openxmlformats.org/drawingml/2006/main" noGrp="1"/>
          </p:cNvSpPr>
          <p:nvPr/>
        </p:nvSpPr>
        <p:spPr>
          <a:xfrm xmlns:a="http://schemas.openxmlformats.org/drawingml/2006/main">
            <a:off x="6010275" y="2400300"/>
            <a:ext cx="19431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5351"/>
          </a:bodyPr>
          <a:lstStyle xmlns:a="http://schemas.openxmlformats.org/drawingml/2006/main"/>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node temperature</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effective actuator</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unknown heat</a:t>
            </a:r>
          </a:p>
        </p:txBody>
      </p:sp>
      <p:sp>
        <p:nvSpPr>
          <p:cNvPr id="27" name="">
            <a:extLst xmlns:a="http://schemas.openxmlformats.org/drawingml/2006/main">
              <a:ext uri="{FF2B5EF4-FFF2-40B4-BE49-F238E27FC236}">
                <a16:creationId xmlns:a16="http://schemas.microsoft.com/office/drawing/2014/main" id="{FFF27AB8-24E1-4323-9E8D-45C10A640ADD}"/>
              </a:ext>
            </a:extLst>
          </p:cNvPr>
          <p:cNvSpPr>
            <a:spLocks xmlns:a="http://schemas.openxmlformats.org/drawingml/2006/main" noGrp="1"/>
          </p:cNvSpPr>
          <p:nvPr/>
        </p:nvSpPr>
        <p:spPr>
          <a:xfrm xmlns:a="http://schemas.openxmlformats.org/drawingml/2006/main">
            <a:off x="8496300" y="1457325"/>
            <a:ext cx="31432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8" name="">
            <a:extLst xmlns:a="http://schemas.openxmlformats.org/drawingml/2006/main">
              <a:ext uri="{FF2B5EF4-FFF2-40B4-BE49-F238E27FC236}">
                <a16:creationId xmlns:a16="http://schemas.microsoft.com/office/drawing/2014/main" id="{364C9EFF-5382-42BF-91DD-38C7290B7992}"/>
              </a:ext>
            </a:extLst>
          </p:cNvPr>
          <p:cNvSpPr>
            <a:spLocks xmlns:a="http://schemas.openxmlformats.org/drawingml/2006/main" noGrp="1"/>
          </p:cNvSpPr>
          <p:nvPr/>
        </p:nvSpPr>
        <p:spPr>
          <a:xfrm xmlns:a="http://schemas.openxmlformats.org/drawingml/2006/main">
            <a:off x="8496300" y="1457325"/>
            <a:ext cx="3143250" cy="7620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1C6CDDD-BAD1-40BF-A063-1A53B05B8AD1}"/>
              </a:ext>
            </a:extLst>
          </p:cNvPr>
          <p:cNvSpPr>
            <a:spLocks xmlns:a="http://schemas.openxmlformats.org/drawingml/2006/main" noGrp="1"/>
          </p:cNvSpPr>
          <p:nvPr/>
        </p:nvSpPr>
        <p:spPr>
          <a:xfrm xmlns:a="http://schemas.openxmlformats.org/drawingml/2006/main">
            <a:off x="8658225" y="1676400"/>
            <a:ext cx="2819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E5A900"/>
                </a:solidFill>
                <a:latin typeface="Yu Gothic"/>
                <a:ea typeface="Yu Gothic"/>
                <a:cs typeface="Yu Gothic"/>
              </a:defRPr>
            </a:pPr>
            <a:r>
              <a:rPr sz="1350" b="1" i="0">
                <a:solidFill>
                  <a:srgbClr val="E5A900"/>
                </a:solidFill>
                <a:latin typeface="Yu Gothic"/>
                <a:ea typeface="Yu Gothic"/>
                <a:cs typeface="Yu Gothic"/>
              </a:rPr>
              <a:t>工学判断</a:t>
            </a:r>
          </a:p>
        </p:txBody>
      </p:sp>
      <p:sp>
        <p:nvSpPr>
          <p:cNvPr id="30" name="">
            <a:extLst xmlns:a="http://schemas.openxmlformats.org/drawingml/2006/main">
              <a:ext uri="{FF2B5EF4-FFF2-40B4-BE49-F238E27FC236}">
                <a16:creationId xmlns:a16="http://schemas.microsoft.com/office/drawing/2014/main" id="{3600E4CC-B066-41F8-9739-A684239A43F8}"/>
              </a:ext>
            </a:extLst>
          </p:cNvPr>
          <p:cNvSpPr>
            <a:spLocks xmlns:a="http://schemas.openxmlformats.org/drawingml/2006/main" noGrp="1"/>
          </p:cNvSpPr>
          <p:nvPr/>
        </p:nvSpPr>
        <p:spPr>
          <a:xfrm xmlns:a="http://schemas.openxmlformats.org/drawingml/2006/main">
            <a:off x="8658225" y="2000250"/>
            <a:ext cx="2819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1" i="0">
                <a:solidFill>
                  <a:srgbClr val="777777"/>
                </a:solidFill>
                <a:latin typeface="Yu Gothic"/>
                <a:ea typeface="Yu Gothic"/>
                <a:cs typeface="Yu Gothic"/>
              </a:defRPr>
            </a:pPr>
            <a:r>
              <a:rPr sz="788" b="1" i="0">
                <a:solidFill>
                  <a:srgbClr val="777777"/>
                </a:solidFill>
                <a:latin typeface="Yu Gothic"/>
                <a:ea typeface="Yu Gothic"/>
                <a:cs typeface="Yu Gothic"/>
              </a:rPr>
              <a:t>予測・監視・再評価</a:t>
            </a:r>
          </a:p>
        </p:txBody>
      </p:sp>
      <p:sp>
        <p:nvSpPr>
          <p:cNvPr id="31" name="">
            <a:extLst xmlns:a="http://schemas.openxmlformats.org/drawingml/2006/main">
              <a:ext uri="{FF2B5EF4-FFF2-40B4-BE49-F238E27FC236}">
                <a16:creationId xmlns:a16="http://schemas.microsoft.com/office/drawing/2014/main" id="{7E8B14BB-D099-4C34-B95D-0C6A17029612}"/>
              </a:ext>
            </a:extLst>
          </p:cNvPr>
          <p:cNvSpPr>
            <a:spLocks xmlns:a="http://schemas.openxmlformats.org/drawingml/2006/main" noGrp="1"/>
          </p:cNvSpPr>
          <p:nvPr/>
        </p:nvSpPr>
        <p:spPr>
          <a:xfrm xmlns:a="http://schemas.openxmlformats.org/drawingml/2006/main">
            <a:off x="8658225" y="2295525"/>
            <a:ext cx="28194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2" name="">
            <a:extLst xmlns:a="http://schemas.openxmlformats.org/drawingml/2006/main">
              <a:ext uri="{FF2B5EF4-FFF2-40B4-BE49-F238E27FC236}">
                <a16:creationId xmlns:a16="http://schemas.microsoft.com/office/drawing/2014/main" id="{48EB74A5-BB09-4C73-94D0-195ACEA34580}"/>
              </a:ext>
            </a:extLst>
          </p:cNvPr>
          <p:cNvSpPr>
            <a:spLocks xmlns:a="http://schemas.openxmlformats.org/drawingml/2006/main" noGrp="1"/>
          </p:cNvSpPr>
          <p:nvPr/>
        </p:nvSpPr>
        <p:spPr>
          <a:xfrm xmlns:a="http://schemas.openxmlformats.org/drawingml/2006/main">
            <a:off x="8658225" y="2400300"/>
            <a:ext cx="2819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5351"/>
          </a:bodyPr>
          <a:lstStyle xmlns:a="http://schemas.openxmlformats.org/drawingml/2006/main"/>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warm-up / cooldown</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virtual sensor / anomaly</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CAE再計算の優先順位</a:t>
            </a:r>
          </a:p>
        </p:txBody>
      </p:sp>
      <p:cxnSp>
        <p:nvCxnSpPr>
          <p:cNvPr id="80" name=""/>
          <p:cNvCxnSpPr>
            <a:stCxn xmlns:a="http://schemas.openxmlformats.org/drawingml/2006/main" id="9" idx="3"/>
            <a:endCxn xmlns:a="http://schemas.openxmlformats.org/drawingml/2006/main" id="15" idx="1"/>
          </p:cNvCxnSpPr>
          <p:nvPr/>
        </p:nvCxnSpPr>
        <p:spPr>
          <a:xfrm xmlns:a="http://schemas.openxmlformats.org/drawingml/2006/main">
            <a:off x="2819400" y="2266950"/>
            <a:ext cx="3810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81" name=""/>
          <p:cNvCxnSpPr>
            <a:stCxn xmlns:a="http://schemas.openxmlformats.org/drawingml/2006/main" id="15" idx="3"/>
            <a:endCxn xmlns:a="http://schemas.openxmlformats.org/drawingml/2006/main" id="21" idx="1"/>
          </p:cNvCxnSpPr>
          <p:nvPr/>
        </p:nvCxnSpPr>
        <p:spPr>
          <a:xfrm xmlns:a="http://schemas.openxmlformats.org/drawingml/2006/main">
            <a:off x="5467350" y="2266950"/>
            <a:ext cx="3810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82" name=""/>
          <p:cNvCxnSpPr>
            <a:stCxn xmlns:a="http://schemas.openxmlformats.org/drawingml/2006/main" id="21" idx="3"/>
            <a:endCxn xmlns:a="http://schemas.openxmlformats.org/drawingml/2006/main" id="27" idx="1"/>
          </p:cNvCxnSpPr>
          <p:nvPr/>
        </p:nvCxnSpPr>
        <p:spPr>
          <a:xfrm xmlns:a="http://schemas.openxmlformats.org/drawingml/2006/main">
            <a:off x="8115300" y="2266950"/>
            <a:ext cx="3810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sp>
        <p:nvSpPr>
          <p:cNvPr id="36" name="">
            <a:extLst xmlns:a="http://schemas.openxmlformats.org/drawingml/2006/main">
              <a:ext uri="{FF2B5EF4-FFF2-40B4-BE49-F238E27FC236}">
                <a16:creationId xmlns:a16="http://schemas.microsoft.com/office/drawing/2014/main" id="{A088119D-F56D-4D73-B49C-68AE0006FC24}"/>
              </a:ext>
            </a:extLst>
          </p:cNvPr>
          <p:cNvSpPr>
            <a:spLocks xmlns:a="http://schemas.openxmlformats.org/drawingml/2006/main" noGrp="1"/>
          </p:cNvSpPr>
          <p:nvPr/>
        </p:nvSpPr>
        <p:spPr>
          <a:xfrm xmlns:a="http://schemas.openxmlformats.org/drawingml/2006/main">
            <a:off x="2305050" y="3190875"/>
            <a:ext cx="685800" cy="238125"/>
          </a:xfrm>
          <a:prstGeom xmlns:a="http://schemas.openxmlformats.org/drawingml/2006/main" prst="roundRect">
            <a:avLst>
              <a:gd name="adj" fmla="val 50000"/>
            </a:avLst>
          </a:prstGeom>
          <a:solidFill xmlns:a="http://schemas.openxmlformats.org/drawingml/2006/main">
            <a:srgbClr val="FBE9E7"/>
          </a:solidFill>
          <a:ln xmlns:a="http://schemas.openxmlformats.org/drawingml/2006/main" w="9525">
            <a:solidFill>
              <a:srgbClr val="C4493D"/>
            </a:solidFill>
            <a:prstDash val="solid"/>
          </a:ln>
        </p:spPr>
      </p:sp>
      <p:sp>
        <p:nvSpPr>
          <p:cNvPr id="37" name="">
            <a:extLst xmlns:a="http://schemas.openxmlformats.org/drawingml/2006/main">
              <a:ext uri="{FF2B5EF4-FFF2-40B4-BE49-F238E27FC236}">
                <a16:creationId xmlns:a16="http://schemas.microsoft.com/office/drawing/2014/main" id="{145D7EB7-ABC3-4053-A11E-38D62E4D7D8D}"/>
              </a:ext>
            </a:extLst>
          </p:cNvPr>
          <p:cNvSpPr>
            <a:spLocks xmlns:a="http://schemas.openxmlformats.org/drawingml/2006/main" noGrp="1"/>
          </p:cNvSpPr>
          <p:nvPr/>
        </p:nvSpPr>
        <p:spPr>
          <a:xfrm xmlns:a="http://schemas.openxmlformats.org/drawingml/2006/main">
            <a:off x="2352675" y="320040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C4493D"/>
                </a:solidFill>
                <a:latin typeface="Yu Gothic"/>
                <a:ea typeface="Yu Gothic"/>
                <a:cs typeface="Yu Gothic"/>
              </a:defRPr>
            </a:pPr>
            <a:r>
              <a:rPr sz="788" b="1" i="0">
                <a:solidFill>
                  <a:srgbClr val="C4493D"/>
                </a:solidFill>
                <a:latin typeface="Yu Gothic"/>
                <a:ea typeface="Yu Gothic"/>
                <a:cs typeface="Yu Gothic"/>
              </a:rPr>
              <a:t>GAP 1</a:t>
            </a:r>
          </a:p>
        </p:txBody>
      </p:sp>
      <p:sp>
        <p:nvSpPr>
          <p:cNvPr id="38" name="">
            <a:extLst xmlns:a="http://schemas.openxmlformats.org/drawingml/2006/main">
              <a:ext uri="{FF2B5EF4-FFF2-40B4-BE49-F238E27FC236}">
                <a16:creationId xmlns:a16="http://schemas.microsoft.com/office/drawing/2014/main" id="{B2E59044-0FDC-4E3D-B4F9-E9322B4B6D07}"/>
              </a:ext>
            </a:extLst>
          </p:cNvPr>
          <p:cNvSpPr>
            <a:spLocks xmlns:a="http://schemas.openxmlformats.org/drawingml/2006/main" noGrp="1"/>
          </p:cNvSpPr>
          <p:nvPr/>
        </p:nvSpPr>
        <p:spPr>
          <a:xfrm xmlns:a="http://schemas.openxmlformats.org/drawingml/2006/main">
            <a:off x="3028950" y="3181350"/>
            <a:ext cx="2000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場の情報をsensor列へ縮約</a:t>
            </a:r>
          </a:p>
        </p:txBody>
      </p:sp>
      <p:sp>
        <p:nvSpPr>
          <p:cNvPr id="39" name="">
            <a:extLst xmlns:a="http://schemas.openxmlformats.org/drawingml/2006/main">
              <a:ext uri="{FF2B5EF4-FFF2-40B4-BE49-F238E27FC236}">
                <a16:creationId xmlns:a16="http://schemas.microsoft.com/office/drawing/2014/main" id="{48F88D8E-FDED-475E-A43E-FC19D0751744}"/>
              </a:ext>
            </a:extLst>
          </p:cNvPr>
          <p:cNvSpPr>
            <a:spLocks xmlns:a="http://schemas.openxmlformats.org/drawingml/2006/main" noGrp="1"/>
          </p:cNvSpPr>
          <p:nvPr/>
        </p:nvSpPr>
        <p:spPr>
          <a:xfrm xmlns:a="http://schemas.openxmlformats.org/drawingml/2006/main">
            <a:off x="5657850" y="3190875"/>
            <a:ext cx="685800" cy="238125"/>
          </a:xfrm>
          <a:prstGeom xmlns:a="http://schemas.openxmlformats.org/drawingml/2006/main" prst="roundRect">
            <a:avLst>
              <a:gd name="adj" fmla="val 50000"/>
            </a:avLst>
          </a:prstGeom>
          <a:solidFill xmlns:a="http://schemas.openxmlformats.org/drawingml/2006/main">
            <a:srgbClr val="FBE9E7"/>
          </a:solidFill>
          <a:ln xmlns:a="http://schemas.openxmlformats.org/drawingml/2006/main" w="9525">
            <a:solidFill>
              <a:srgbClr val="C4493D"/>
            </a:solidFill>
            <a:prstDash val="solid"/>
          </a:ln>
        </p:spPr>
      </p:sp>
      <p:sp>
        <p:nvSpPr>
          <p:cNvPr id="40" name="">
            <a:extLst xmlns:a="http://schemas.openxmlformats.org/drawingml/2006/main">
              <a:ext uri="{FF2B5EF4-FFF2-40B4-BE49-F238E27FC236}">
                <a16:creationId xmlns:a16="http://schemas.microsoft.com/office/drawing/2014/main" id="{7159DEF2-548D-450A-A94C-337929C06A1F}"/>
              </a:ext>
            </a:extLst>
          </p:cNvPr>
          <p:cNvSpPr>
            <a:spLocks xmlns:a="http://schemas.openxmlformats.org/drawingml/2006/main" noGrp="1"/>
          </p:cNvSpPr>
          <p:nvPr/>
        </p:nvSpPr>
        <p:spPr>
          <a:xfrm xmlns:a="http://schemas.openxmlformats.org/drawingml/2006/main">
            <a:off x="5705475" y="320040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C4493D"/>
                </a:solidFill>
                <a:latin typeface="Yu Gothic"/>
                <a:ea typeface="Yu Gothic"/>
                <a:cs typeface="Yu Gothic"/>
              </a:defRPr>
            </a:pPr>
            <a:r>
              <a:rPr sz="788" b="1" i="0">
                <a:solidFill>
                  <a:srgbClr val="C4493D"/>
                </a:solidFill>
                <a:latin typeface="Yu Gothic"/>
                <a:ea typeface="Yu Gothic"/>
                <a:cs typeface="Yu Gothic"/>
              </a:rPr>
              <a:t>GAP 2</a:t>
            </a:r>
          </a:p>
        </p:txBody>
      </p:sp>
      <p:sp>
        <p:nvSpPr>
          <p:cNvPr id="41" name="">
            <a:extLst xmlns:a="http://schemas.openxmlformats.org/drawingml/2006/main">
              <a:ext uri="{FF2B5EF4-FFF2-40B4-BE49-F238E27FC236}">
                <a16:creationId xmlns:a16="http://schemas.microsoft.com/office/drawing/2014/main" id="{3C6DA1BD-202D-4800-8474-575CB93EB361}"/>
              </a:ext>
            </a:extLst>
          </p:cNvPr>
          <p:cNvSpPr>
            <a:spLocks xmlns:a="http://schemas.openxmlformats.org/drawingml/2006/main" noGrp="1"/>
          </p:cNvSpPr>
          <p:nvPr/>
        </p:nvSpPr>
        <p:spPr>
          <a:xfrm xmlns:a="http://schemas.openxmlformats.org/drawingml/2006/main">
            <a:off x="6381750" y="3181350"/>
            <a:ext cx="2209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欠測・未観測stateを因果推定</a:t>
            </a:r>
          </a:p>
        </p:txBody>
      </p:sp>
      <p:sp>
        <p:nvSpPr>
          <p:cNvPr id="42" name="">
            <a:extLst xmlns:a="http://schemas.openxmlformats.org/drawingml/2006/main">
              <a:ext uri="{FF2B5EF4-FFF2-40B4-BE49-F238E27FC236}">
                <a16:creationId xmlns:a16="http://schemas.microsoft.com/office/drawing/2014/main" id="{55EE24CE-67A1-4F2C-BDD8-905BD33D6FDF}"/>
              </a:ext>
            </a:extLst>
          </p:cNvPr>
          <p:cNvSpPr>
            <a:spLocks xmlns:a="http://schemas.openxmlformats.org/drawingml/2006/main" noGrp="1"/>
          </p:cNvSpPr>
          <p:nvPr/>
        </p:nvSpPr>
        <p:spPr>
          <a:xfrm xmlns:a="http://schemas.openxmlformats.org/drawingml/2006/main">
            <a:off x="8963025" y="3190875"/>
            <a:ext cx="685800" cy="238125"/>
          </a:xfrm>
          <a:prstGeom xmlns:a="http://schemas.openxmlformats.org/drawingml/2006/main" prst="roundRect">
            <a:avLst>
              <a:gd name="adj" fmla="val 50000"/>
            </a:avLst>
          </a:prstGeom>
          <a:solidFill xmlns:a="http://schemas.openxmlformats.org/drawingml/2006/main">
            <a:srgbClr val="FBE9E7"/>
          </a:solidFill>
          <a:ln xmlns:a="http://schemas.openxmlformats.org/drawingml/2006/main" w="9525">
            <a:solidFill>
              <a:srgbClr val="C4493D"/>
            </a:solidFill>
            <a:prstDash val="solid"/>
          </a:ln>
        </p:spPr>
      </p:sp>
      <p:sp>
        <p:nvSpPr>
          <p:cNvPr id="43" name="">
            <a:extLst xmlns:a="http://schemas.openxmlformats.org/drawingml/2006/main">
              <a:ext uri="{FF2B5EF4-FFF2-40B4-BE49-F238E27FC236}">
                <a16:creationId xmlns:a16="http://schemas.microsoft.com/office/drawing/2014/main" id="{DF10DD1C-0ABF-43D9-81A6-4FBB43723F8B}"/>
              </a:ext>
            </a:extLst>
          </p:cNvPr>
          <p:cNvSpPr>
            <a:spLocks xmlns:a="http://schemas.openxmlformats.org/drawingml/2006/main" noGrp="1"/>
          </p:cNvSpPr>
          <p:nvPr/>
        </p:nvSpPr>
        <p:spPr>
          <a:xfrm xmlns:a="http://schemas.openxmlformats.org/drawingml/2006/main">
            <a:off x="9010650" y="320040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C4493D"/>
                </a:solidFill>
                <a:latin typeface="Yu Gothic"/>
                <a:ea typeface="Yu Gothic"/>
                <a:cs typeface="Yu Gothic"/>
              </a:defRPr>
            </a:pPr>
            <a:r>
              <a:rPr sz="788" b="1" i="0">
                <a:solidFill>
                  <a:srgbClr val="C4493D"/>
                </a:solidFill>
                <a:latin typeface="Yu Gothic"/>
                <a:ea typeface="Yu Gothic"/>
                <a:cs typeface="Yu Gothic"/>
              </a:rPr>
              <a:t>GAP 3</a:t>
            </a:r>
          </a:p>
        </p:txBody>
      </p:sp>
      <p:sp>
        <p:nvSpPr>
          <p:cNvPr id="44" name="">
            <a:extLst xmlns:a="http://schemas.openxmlformats.org/drawingml/2006/main">
              <a:ext uri="{FF2B5EF4-FFF2-40B4-BE49-F238E27FC236}">
                <a16:creationId xmlns:a16="http://schemas.microsoft.com/office/drawing/2014/main" id="{A27B7720-C88C-4EFE-A0C7-70581114A2A0}"/>
              </a:ext>
            </a:extLst>
          </p:cNvPr>
          <p:cNvSpPr>
            <a:spLocks xmlns:a="http://schemas.openxmlformats.org/drawingml/2006/main" noGrp="1"/>
          </p:cNvSpPr>
          <p:nvPr/>
        </p:nvSpPr>
        <p:spPr>
          <a:xfrm xmlns:a="http://schemas.openxmlformats.org/drawingml/2006/main">
            <a:off x="9686925" y="3181350"/>
            <a:ext cx="19526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平均精度と安全保証を分離</a:t>
            </a:r>
          </a:p>
        </p:txBody>
      </p:sp>
      <p:graphicFrame>
        <p:nvGraphicFramePr>
          <p:cNvPr id="92" name=""/>
          <p:cNvGraphicFramePr/>
          <p:nvPr/>
        </p:nvGraphicFramePr>
        <p:xfrm>
          <a:off xmlns:a="http://schemas.openxmlformats.org/drawingml/2006/main" x="552450" y="3657600"/>
          <a:ext xmlns:a="http://schemas.openxmlformats.org/drawingml/2006/main" cx="11087100" cy="2038350"/>
        </p:xfrm>
        <a:graphic xmlns:a="http://schemas.openxmlformats.org/drawingml/2006/main">
          <a:graphicData uri="http://schemas.openxmlformats.org/drawingml/2006/table">
            <a:tbl>
              <a:tblPr/>
              <a:tblGrid>
                <a:gridCol w="2495550"/>
                <a:gridCol w="2743200"/>
                <a:gridCol w="3009900"/>
                <a:gridCol w="2838450"/>
              </a:tblGrid>
              <a:tr h="509588">
                <a:tc>
                  <a:txBody>
                    <a:bodyPr/>
                    <a:lstStyle/>
                    <a:p>
                      <a:r>
                        <a:rPr sz="938" b="1">
                          <a:solidFill>
                            <a:srgbClr val="FFFFFF"/>
                          </a:solidFill>
                          <a:latin typeface="Yu Gothic"/>
                          <a:ea typeface="Yu Gothic"/>
                          <a:cs typeface="Yu Gothic"/>
                        </a:rPr>
                        <a:t>設計上の課題</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現場で起きる問題</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本基盤で埋める部分</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残すべき検証境界</a:t>
                      </a:r>
                    </a:p>
                  </a:txBody>
                  <a:tcPr marL="91440" marR="91440" marT="45720" marB="45720">
                    <a:solidFill>
                      <a:srgbClr val="007FA8"/>
                    </a:solidFill>
                  </a:tcPr>
                </a:tc>
              </a:tr>
              <a:tr h="509588">
                <a:tc>
                  <a:txBody>
                    <a:bodyPr/>
                    <a:lstStyle/>
                    <a:p>
                      <a:r>
                        <a:rPr sz="878">
                          <a:solidFill>
                            <a:srgbClr val="5B5B5B"/>
                          </a:solidFill>
                          <a:latin typeface="Yu Gothic"/>
                          <a:ea typeface="Yu Gothic"/>
                          <a:cs typeface="Yu Gothic"/>
                        </a:rPr>
                        <a:t>CAEは高忠実度だがoffline</a:t>
                      </a:r>
                    </a:p>
                  </a:txBody>
                  <a:tcPr marL="91440" marR="91440" marT="45720" marB="45720">
                    <a:solidFill>
                      <a:srgbClr val="FFFFFF"/>
                    </a:solidFill>
                  </a:tcPr>
                </a:tc>
                <a:tc>
                  <a:txBody>
                    <a:bodyPr/>
                    <a:lstStyle/>
                    <a:p>
                      <a:r>
                        <a:rPr sz="878">
                          <a:solidFill>
                            <a:srgbClr val="5B5B5B"/>
                          </a:solidFill>
                          <a:latin typeface="Yu Gothic"/>
                          <a:ea typeface="Yu Gothic"/>
                          <a:cs typeface="Yu Gothic"/>
                        </a:rPr>
                        <a:t>recipe変更ごとの再計算が重い</a:t>
                      </a:r>
                    </a:p>
                  </a:txBody>
                  <a:tcPr marL="91440" marR="91440" marT="45720" marB="45720">
                    <a:solidFill>
                      <a:srgbClr val="FFFFFF"/>
                    </a:solidFill>
                  </a:tcPr>
                </a:tc>
                <a:tc>
                  <a:txBody>
                    <a:bodyPr/>
                    <a:lstStyle/>
                    <a:p>
                      <a:r>
                        <a:rPr sz="878">
                          <a:solidFill>
                            <a:srgbClr val="5B5B5B"/>
                          </a:solidFill>
                          <a:latin typeface="Yu Gothic"/>
                          <a:ea typeface="Yu Gothic"/>
                          <a:cs typeface="Yu Gothic"/>
                        </a:rPr>
                        <a:t>学習済みartifactで高速rollout</a:t>
                      </a:r>
                    </a:p>
                  </a:txBody>
                  <a:tcPr marL="91440" marR="91440" marT="45720" marB="45720">
                    <a:solidFill>
                      <a:srgbClr val="FFFFFF"/>
                    </a:solidFill>
                  </a:tcPr>
                </a:tc>
                <a:tc>
                  <a:txBody>
                    <a:bodyPr/>
                    <a:lstStyle/>
                    <a:p>
                      <a:r>
                        <a:rPr sz="878">
                          <a:solidFill>
                            <a:srgbClr val="5B5B5B"/>
                          </a:solidFill>
                          <a:latin typeface="Yu Gothic"/>
                          <a:ea typeface="Yu Gothic"/>
                          <a:cs typeface="Yu Gothic"/>
                        </a:rPr>
                        <a:t>形状・物性変更時は再CAE</a:t>
                      </a:r>
                    </a:p>
                  </a:txBody>
                  <a:tcPr marL="91440" marR="91440" marT="45720" marB="45720">
                    <a:solidFill>
                      <a:srgbClr val="FFFFFF"/>
                    </a:solidFill>
                  </a:tcPr>
                </a:tc>
              </a:tr>
              <a:tr h="509588">
                <a:tc>
                  <a:txBody>
                    <a:bodyPr/>
                    <a:lstStyle/>
                    <a:p>
                      <a:r>
                        <a:rPr sz="878">
                          <a:solidFill>
                            <a:srgbClr val="5B5B5B"/>
                          </a:solidFill>
                          <a:latin typeface="Yu Gothic"/>
                          <a:ea typeface="Yu Gothic"/>
                          <a:cs typeface="Yu Gothic"/>
                        </a:rPr>
                        <a:t>sensorは局所・疎・非同期</a:t>
                      </a:r>
                    </a:p>
                  </a:txBody>
                  <a:tcPr marL="91440" marR="91440" marT="45720" marB="45720">
                    <a:solidFill>
                      <a:srgbClr val="F8F8F8"/>
                    </a:solidFill>
                  </a:tcPr>
                </a:tc>
                <a:tc>
                  <a:txBody>
                    <a:bodyPr/>
                    <a:lstStyle/>
                    <a:p>
                      <a:r>
                        <a:rPr sz="878">
                          <a:solidFill>
                            <a:srgbClr val="5B5B5B"/>
                          </a:solidFill>
                          <a:latin typeface="Yu Gothic"/>
                          <a:ea typeface="Yu Gothic"/>
                          <a:cs typeface="Yu Gothic"/>
                        </a:rPr>
                        <a:t>内部温度と遅れが直接見えない</a:t>
                      </a:r>
                    </a:p>
                  </a:txBody>
                  <a:tcPr marL="91440" marR="91440" marT="45720" marB="45720">
                    <a:solidFill>
                      <a:srgbClr val="F8F8F8"/>
                    </a:solidFill>
                  </a:tcPr>
                </a:tc>
                <a:tc>
                  <a:txBody>
                    <a:bodyPr/>
                    <a:lstStyle/>
                    <a:p>
                      <a:r>
                        <a:rPr sz="878">
                          <a:solidFill>
                            <a:srgbClr val="5B5B5B"/>
                          </a:solidFill>
                          <a:latin typeface="Yu Gothic"/>
                          <a:ea typeface="Yu Gothic"/>
                          <a:cs typeface="Yu Gothic"/>
                        </a:rPr>
                        <a:t>観測写像Hとactuator stateで推定</a:t>
                      </a:r>
                    </a:p>
                  </a:txBody>
                  <a:tcPr marL="91440" marR="91440" marT="45720" marB="45720">
                    <a:solidFill>
                      <a:srgbClr val="F8F8F8"/>
                    </a:solidFill>
                  </a:tcPr>
                </a:tc>
                <a:tc>
                  <a:txBody>
                    <a:bodyPr/>
                    <a:lstStyle/>
                    <a:p>
                      <a:r>
                        <a:rPr sz="878">
                          <a:solidFill>
                            <a:srgbClr val="5B5B5B"/>
                          </a:solidFill>
                          <a:latin typeface="Yu Gothic"/>
                          <a:ea typeface="Yu Gothic"/>
                          <a:cs typeface="Yu Gothic"/>
                        </a:rPr>
                        <a:t>observabilityと校正基準</a:t>
                      </a:r>
                    </a:p>
                  </a:txBody>
                  <a:tcPr marL="91440" marR="91440" marT="45720" marB="45720">
                    <a:solidFill>
                      <a:srgbClr val="F8F8F8"/>
                    </a:solidFill>
                  </a:tcPr>
                </a:tc>
              </a:tr>
              <a:tr h="509588">
                <a:tc>
                  <a:txBody>
                    <a:bodyPr/>
                    <a:lstStyle/>
                    <a:p>
                      <a:r>
                        <a:rPr sz="878">
                          <a:solidFill>
                            <a:srgbClr val="5B5B5B"/>
                          </a:solidFill>
                          <a:latin typeface="Yu Gothic"/>
                          <a:ea typeface="Yu Gothic"/>
                          <a:cs typeface="Yu Gothic"/>
                        </a:rPr>
                        <a:t>平均誤差が小さくてもmodel gapが残る</a:t>
                      </a:r>
                    </a:p>
                  </a:txBody>
                  <a:tcPr marL="91440" marR="91440" marT="45720" marB="45720">
                    <a:solidFill>
                      <a:srgbClr val="FFFFFF"/>
                    </a:solidFill>
                  </a:tcPr>
                </a:tc>
                <a:tc>
                  <a:txBody>
                    <a:bodyPr/>
                    <a:lstStyle/>
                    <a:p>
                      <a:r>
                        <a:rPr sz="878">
                          <a:solidFill>
                            <a:srgbClr val="5B5B5B"/>
                          </a:solidFill>
                          <a:latin typeface="Yu Gothic"/>
                          <a:ea typeface="Yu Gothic"/>
                          <a:cs typeface="Yu Gothic"/>
                        </a:rPr>
                        <a:t>hotspot・放射感度を過小評価</a:t>
                      </a:r>
                    </a:p>
                  </a:txBody>
                  <a:tcPr marL="91440" marR="91440" marT="45720" marB="45720">
                    <a:solidFill>
                      <a:srgbClr val="FFFFFF"/>
                    </a:solidFill>
                  </a:tcPr>
                </a:tc>
                <a:tc>
                  <a:txBody>
                    <a:bodyPr/>
                    <a:lstStyle/>
                    <a:p>
                      <a:r>
                        <a:rPr sz="878">
                          <a:solidFill>
                            <a:srgbClr val="5B5B5B"/>
                          </a:solidFill>
                          <a:latin typeface="Yu Gothic"/>
                          <a:ea typeface="Yu Gothic"/>
                          <a:cs typeface="Yu Gothic"/>
                        </a:rPr>
                        <a:t>holdout・negative control・coverage表</a:t>
                      </a:r>
                    </a:p>
                  </a:txBody>
                  <a:tcPr marL="91440" marR="91440" marT="45720" marB="45720">
                    <a:solidFill>
                      <a:srgbClr val="FFFFFF"/>
                    </a:solidFill>
                  </a:tcPr>
                </a:tc>
                <a:tc>
                  <a:txBody>
                    <a:bodyPr/>
                    <a:lstStyle/>
                    <a:p>
                      <a:r>
                        <a:rPr sz="878">
                          <a:solidFill>
                            <a:srgbClr val="5B5B5B"/>
                          </a:solidFill>
                          <a:latin typeface="Yu Gothic"/>
                          <a:ea typeface="Yu Gothic"/>
                          <a:cs typeface="Yu Gothic"/>
                        </a:rPr>
                        <a:t>local fieldと製品margin</a:t>
                      </a:r>
                    </a:p>
                  </a:txBody>
                  <a:tcPr marL="91440" marR="91440" marT="45720" marB="45720">
                    <a:solidFill>
                      <a:srgbClr val="FFFFFF"/>
                    </a:solidFill>
                  </a:tcPr>
                </a:tc>
              </a:tr>
            </a:tbl>
          </a:graphicData>
        </a:graphic>
      </p:graphicFrame>
      <p:sp>
        <p:nvSpPr>
          <p:cNvPr id="46" name="">
            <a:extLst xmlns:a="http://schemas.openxmlformats.org/drawingml/2006/main">
              <a:ext uri="{FF2B5EF4-FFF2-40B4-BE49-F238E27FC236}">
                <a16:creationId xmlns:a16="http://schemas.microsoft.com/office/drawing/2014/main" id="{85D2A08E-9AB3-4181-8FE7-EC3C85038B6A}"/>
              </a:ext>
            </a:extLst>
          </p:cNvPr>
          <p:cNvSpPr>
            <a:spLocks xmlns:a="http://schemas.openxmlformats.org/drawingml/2006/main" noGrp="1"/>
          </p:cNvSpPr>
          <p:nvPr/>
        </p:nvSpPr>
        <p:spPr>
          <a:xfrm xmlns:a="http://schemas.openxmlformats.org/drawingml/2006/main">
            <a:off x="552450" y="5857875"/>
            <a:ext cx="11087100" cy="39052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39785A5D-6D92-44DC-B80E-B2CA6AA93925}"/>
              </a:ext>
            </a:extLst>
          </p:cNvPr>
          <p:cNvSpPr>
            <a:spLocks xmlns:a="http://schemas.openxmlformats.org/drawingml/2006/main" noGrp="1"/>
          </p:cNvSpPr>
          <p:nvPr/>
        </p:nvSpPr>
        <p:spPr>
          <a:xfrm xmlns:a="http://schemas.openxmlformats.org/drawingml/2006/main">
            <a:off x="723900" y="5924550"/>
            <a:ext cx="10744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38" b="1" i="0">
                <a:solidFill>
                  <a:srgbClr val="FFFFFF"/>
                </a:solidFill>
                <a:latin typeface="Yu Gothic"/>
                <a:ea typeface="Yu Gothic"/>
                <a:cs typeface="Yu Gothic"/>
              </a:defRPr>
            </a:pPr>
            <a:r>
              <a:rPr sz="938" b="1" i="0">
                <a:solidFill>
                  <a:srgbClr val="FFFFFF"/>
                </a:solidFill>
                <a:latin typeface="Yu Gothic"/>
                <a:ea typeface="Yu Gothic"/>
                <a:cs typeface="Yu Gothic"/>
              </a:rPr>
              <a:t>設計原則：高忠実度modelを置き換えるのではなく、同じ検証境界の中で高速な意思決定層を追加する。</a:t>
            </a:r>
          </a:p>
        </p:txBody>
      </p:sp>
    </p:spTree>
    <p:extLst>
      <p:ext uri="{BB962C8B-B14F-4D97-AF65-F5344CB8AC3E}">
        <p14:creationId xmlns:p14="http://schemas.microsoft.com/office/powerpoint/2010/main" val="14052059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75E78BF-3F7B-41FC-A824-B5C38C47F460}"/>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B26BCE3-8C6A-455E-B15E-017EEADD8A8C}"/>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PURPOSE</a:t>
            </a:r>
          </a:p>
        </p:txBody>
      </p:sp>
      <p:sp>
        <p:nvSpPr>
          <p:cNvPr id="3" name="">
            <a:extLst xmlns:a="http://schemas.openxmlformats.org/drawingml/2006/main">
              <a:ext uri="{FF2B5EF4-FFF2-40B4-BE49-F238E27FC236}">
                <a16:creationId xmlns:a16="http://schemas.microsoft.com/office/drawing/2014/main" id="{ADDB6D61-FB08-43AC-AEDB-18B29B19D757}"/>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本コードの目的は、同一の熱状態定義で同定・予測・監視を再現可能に実行すること</a:t>
            </a:r>
          </a:p>
        </p:txBody>
      </p:sp>
      <p:sp>
        <p:nvSpPr>
          <p:cNvPr id="4" name="">
            <a:extLst xmlns:a="http://schemas.openxmlformats.org/drawingml/2006/main">
              <a:ext uri="{FF2B5EF4-FFF2-40B4-BE49-F238E27FC236}">
                <a16:creationId xmlns:a16="http://schemas.microsoft.com/office/drawing/2014/main" id="{59086A2D-1A14-4F82-B81E-203D32837A9C}"/>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精度だけでなく、因果性、物理単位、artifact来歴、適用範囲を成果物として残す</a:t>
            </a:r>
          </a:p>
        </p:txBody>
      </p:sp>
      <p:sp>
        <p:nvSpPr>
          <p:cNvPr id="5" name="">
            <a:extLst xmlns:a="http://schemas.openxmlformats.org/drawingml/2006/main">
              <a:ext uri="{FF2B5EF4-FFF2-40B4-BE49-F238E27FC236}">
                <a16:creationId xmlns:a16="http://schemas.microsoft.com/office/drawing/2014/main" id="{94FC2C3A-D5DB-476B-A85E-07B32CCE2D2E}"/>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92219CB7-7FF0-4CC0-AE9B-CC7555342162}"/>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BCF995BA-6707-49DC-8467-AADA4B44596A}"/>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C2419321-4E35-4FF2-B5EF-781E619C24FA}"/>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3</a:t>
            </a:r>
          </a:p>
        </p:txBody>
      </p:sp>
      <p:graphicFrame>
        <p:nvGraphicFramePr>
          <p:cNvPr id="31" name=""/>
          <p:cNvGraphicFramePr/>
          <p:nvPr/>
        </p:nvGraphicFramePr>
        <p:xfrm>
          <a:off xmlns:a="http://schemas.openxmlformats.org/drawingml/2006/main" x="552450" y="1457325"/>
          <a:ext xmlns:a="http://schemas.openxmlformats.org/drawingml/2006/main" cx="11087100" cy="2876550"/>
        </p:xfrm>
        <a:graphic xmlns:a="http://schemas.openxmlformats.org/drawingml/2006/main">
          <a:graphicData uri="http://schemas.openxmlformats.org/drawingml/2006/table">
            <a:tbl>
              <a:tblPr/>
              <a:tblGrid>
                <a:gridCol w="1809750"/>
                <a:gridCol w="2190750"/>
                <a:gridCol w="2762250"/>
                <a:gridCol w="2647950"/>
                <a:gridCol w="1676400"/>
              </a:tblGrid>
              <a:tr h="575310">
                <a:tc>
                  <a:txBody>
                    <a:bodyPr/>
                    <a:lstStyle/>
                    <a:p>
                      <a:r>
                        <a:rPr sz="938" b="1">
                          <a:solidFill>
                            <a:srgbClr val="FFFFFF"/>
                          </a:solidFill>
                          <a:latin typeface="Yu Gothic"/>
                          <a:ea typeface="Yu Gothic"/>
                          <a:cs typeface="Yu Gothic"/>
                        </a:rPr>
                        <a:t>目的</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入力</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処理責務</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主要出力</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成立条件</a:t>
                      </a:r>
                    </a:p>
                  </a:txBody>
                  <a:tcPr marL="91440" marR="91440" marT="45720" marB="45720">
                    <a:solidFill>
                      <a:srgbClr val="00A5D8"/>
                    </a:solidFill>
                  </a:tcPr>
                </a:tc>
              </a:tr>
              <a:tr h="575310">
                <a:tc>
                  <a:txBody>
                    <a:bodyPr/>
                    <a:lstStyle/>
                    <a:p>
                      <a:r>
                        <a:rPr sz="855" b="1">
                          <a:solidFill>
                            <a:srgbClr val="007FA8"/>
                          </a:solidFill>
                          <a:latin typeface="Yu Gothic"/>
                          <a:ea typeface="Yu Gothic"/>
                          <a:cs typeface="Yu Gothic"/>
                        </a:rPr>
                        <a:t>物理係数の同定</a:t>
                      </a:r>
                    </a:p>
                  </a:txBody>
                  <a:tcPr marL="91440" marR="91440" marT="45720" marB="45720">
                    <a:solidFill>
                      <a:srgbClr val="FFFFFF"/>
                    </a:solidFill>
                  </a:tcPr>
                </a:tc>
                <a:tc>
                  <a:txBody>
                    <a:bodyPr/>
                    <a:lstStyle/>
                    <a:p>
                      <a:r>
                        <a:rPr sz="855">
                          <a:solidFill>
                            <a:srgbClr val="5B5B5B"/>
                          </a:solidFill>
                          <a:latin typeface="Yu Gothic"/>
                          <a:ea typeface="Yu Gothic"/>
                          <a:cs typeface="Yu Gothic"/>
                        </a:rPr>
                        <a:t>複数trajectory CSV</a:t>
                      </a:r>
                    </a:p>
                  </a:txBody>
                  <a:tcPr marL="91440" marR="91440" marT="45720" marB="45720">
                    <a:solidFill>
                      <a:srgbClr val="FFFFFF"/>
                    </a:solidFill>
                  </a:tcPr>
                </a:tc>
                <a:tc>
                  <a:txBody>
                    <a:bodyPr/>
                    <a:lstStyle/>
                    <a:p>
                      <a:r>
                        <a:rPr sz="855">
                          <a:solidFill>
                            <a:srgbClr val="5B5B5B"/>
                          </a:solidFill>
                          <a:latin typeface="Yu Gothic"/>
                          <a:ea typeface="Yu Gothic"/>
                          <a:cs typeface="Yu Gothic"/>
                        </a:rPr>
                        <a:t>full/window rollout + robust最適化</a:t>
                      </a:r>
                    </a:p>
                  </a:txBody>
                  <a:tcPr marL="91440" marR="91440" marT="45720" marB="45720">
                    <a:solidFill>
                      <a:srgbClr val="FFFFFF"/>
                    </a:solidFill>
                  </a:tcPr>
                </a:tc>
                <a:tc>
                  <a:txBody>
                    <a:bodyPr/>
                    <a:lstStyle/>
                    <a:p>
                      <a:r>
                        <a:rPr sz="855">
                          <a:solidFill>
                            <a:srgbClr val="5B5B5B"/>
                          </a:solidFill>
                          <a:latin typeface="Yu Gothic"/>
                          <a:ea typeface="Yu Gothic"/>
                          <a:cs typeface="Yu Gothic"/>
                        </a:rPr>
                        <a:t>G・q・τ、holdout指標</a:t>
                      </a:r>
                    </a:p>
                  </a:txBody>
                  <a:tcPr marL="91440" marR="91440" marT="45720" marB="45720">
                    <a:solidFill>
                      <a:srgbClr val="FFFFFF"/>
                    </a:solidFill>
                  </a:tcPr>
                </a:tc>
                <a:tc>
                  <a:txBody>
                    <a:bodyPr/>
                    <a:lstStyle/>
                    <a:p>
                      <a:r>
                        <a:rPr sz="855">
                          <a:solidFill>
                            <a:srgbClr val="5B5B5B"/>
                          </a:solidFill>
                          <a:latin typeface="Yu Gothic"/>
                          <a:ea typeface="Yu Gothic"/>
                          <a:cs typeface="Yu Gothic"/>
                        </a:rPr>
                        <a:t>独立励振と観測可能性</a:t>
                      </a:r>
                    </a:p>
                  </a:txBody>
                  <a:tcPr marL="91440" marR="91440" marT="45720" marB="45720">
                    <a:solidFill>
                      <a:srgbClr val="FFFFFF"/>
                    </a:solidFill>
                  </a:tcPr>
                </a:tc>
              </a:tr>
              <a:tr h="575310">
                <a:tc>
                  <a:txBody>
                    <a:bodyPr/>
                    <a:lstStyle/>
                    <a:p>
                      <a:r>
                        <a:rPr sz="855" b="1">
                          <a:solidFill>
                            <a:srgbClr val="4D8710"/>
                          </a:solidFill>
                          <a:latin typeface="Yu Gothic"/>
                          <a:ea typeface="Yu Gothic"/>
                          <a:cs typeface="Yu Gothic"/>
                        </a:rPr>
                        <a:t>将来温度の予測</a:t>
                      </a:r>
                    </a:p>
                  </a:txBody>
                  <a:tcPr marL="91440" marR="91440" marT="45720" marB="45720">
                    <a:solidFill>
                      <a:srgbClr val="F8F8F8"/>
                    </a:solidFill>
                  </a:tcPr>
                </a:tc>
                <a:tc>
                  <a:txBody>
                    <a:bodyPr/>
                    <a:lstStyle/>
                    <a:p>
                      <a:r>
                        <a:rPr sz="855">
                          <a:solidFill>
                            <a:srgbClr val="5B5B5B"/>
                          </a:solidFill>
                          <a:latin typeface="Yu Gothic"/>
                          <a:ea typeface="Yu Gothic"/>
                          <a:cs typeface="Yu Gothic"/>
                        </a:rPr>
                        <a:t>観測history + command suffix</a:t>
                      </a:r>
                    </a:p>
                  </a:txBody>
                  <a:tcPr marL="91440" marR="91440" marT="45720" marB="45720">
                    <a:solidFill>
                      <a:srgbClr val="F8F8F8"/>
                    </a:solidFill>
                  </a:tcPr>
                </a:tc>
                <a:tc>
                  <a:txBody>
                    <a:bodyPr/>
                    <a:lstStyle/>
                    <a:p>
                      <a:r>
                        <a:rPr sz="855">
                          <a:solidFill>
                            <a:srgbClr val="5B5B5B"/>
                          </a:solidFill>
                          <a:latin typeface="Yu Gothic"/>
                          <a:ea typeface="Yu Gothic"/>
                          <a:cs typeface="Yu Gothic"/>
                        </a:rPr>
                        <a:t>history同化後のopen-loop積分</a:t>
                      </a:r>
                    </a:p>
                  </a:txBody>
                  <a:tcPr marL="91440" marR="91440" marT="45720" marB="45720">
                    <a:solidFill>
                      <a:srgbClr val="F8F8F8"/>
                    </a:solidFill>
                  </a:tcPr>
                </a:tc>
                <a:tc>
                  <a:txBody>
                    <a:bodyPr/>
                    <a:lstStyle/>
                    <a:p>
                      <a:r>
                        <a:rPr sz="855">
                          <a:solidFill>
                            <a:srgbClr val="5B5B5B"/>
                          </a:solidFill>
                          <a:latin typeface="Yu Gothic"/>
                          <a:ea typeface="Yu Gothic"/>
                          <a:cs typeface="Yu Gothic"/>
                        </a:rPr>
                        <a:t>node/sensor温度、95%区間</a:t>
                      </a:r>
                    </a:p>
                  </a:txBody>
                  <a:tcPr marL="91440" marR="91440" marT="45720" marB="45720">
                    <a:solidFill>
                      <a:srgbClr val="F8F8F8"/>
                    </a:solidFill>
                  </a:tcPr>
                </a:tc>
                <a:tc>
                  <a:txBody>
                    <a:bodyPr/>
                    <a:lstStyle/>
                    <a:p>
                      <a:r>
                        <a:rPr sz="855">
                          <a:solidFill>
                            <a:srgbClr val="5B5B5B"/>
                          </a:solidFill>
                          <a:latin typeface="Yu Gothic"/>
                          <a:ea typeface="Yu Gothic"/>
                          <a:cs typeface="Yu Gothic"/>
                        </a:rPr>
                        <a:t>未来観測の非混入</a:t>
                      </a:r>
                    </a:p>
                  </a:txBody>
                  <a:tcPr marL="91440" marR="91440" marT="45720" marB="45720">
                    <a:solidFill>
                      <a:srgbClr val="F8F8F8"/>
                    </a:solidFill>
                  </a:tcPr>
                </a:tc>
              </a:tr>
              <a:tr h="575310">
                <a:tc>
                  <a:txBody>
                    <a:bodyPr/>
                    <a:lstStyle/>
                    <a:p>
                      <a:r>
                        <a:rPr sz="855" b="1">
                          <a:solidFill>
                            <a:srgbClr val="7B2DAF"/>
                          </a:solidFill>
                          <a:latin typeface="Yu Gothic"/>
                          <a:ea typeface="Yu Gothic"/>
                          <a:cs typeface="Yu Gothic"/>
                        </a:rPr>
                        <a:t>状態・異常の監視</a:t>
                      </a:r>
                    </a:p>
                  </a:txBody>
                  <a:tcPr marL="91440" marR="91440" marT="45720" marB="45720">
                    <a:solidFill>
                      <a:srgbClr val="FFFFFF"/>
                    </a:solidFill>
                  </a:tcPr>
                </a:tc>
                <a:tc>
                  <a:txBody>
                    <a:bodyPr/>
                    <a:lstStyle/>
                    <a:p>
                      <a:r>
                        <a:rPr sz="855">
                          <a:solidFill>
                            <a:srgbClr val="5B5B5B"/>
                          </a:solidFill>
                          <a:latin typeface="Yu Gothic"/>
                          <a:ea typeface="Yu Gothic"/>
                          <a:cs typeface="Yu Gothic"/>
                        </a:rPr>
                        <a:t>実測温度 + 適用command</a:t>
                      </a:r>
                    </a:p>
                  </a:txBody>
                  <a:tcPr marL="91440" marR="91440" marT="45720" marB="45720">
                    <a:solidFill>
                      <a:srgbClr val="FFFFFF"/>
                    </a:solidFill>
                  </a:tcPr>
                </a:tc>
                <a:tc>
                  <a:txBody>
                    <a:bodyPr/>
                    <a:lstStyle/>
                    <a:p>
                      <a:r>
                        <a:rPr sz="855">
                          <a:solidFill>
                            <a:srgbClr val="5B5B5B"/>
                          </a:solidFill>
                          <a:latin typeface="Yu Gothic"/>
                          <a:ea typeface="Yu Gothic"/>
                          <a:cs typeface="Yu Gothic"/>
                        </a:rPr>
                        <a:t>拡張Kalman observer</a:t>
                      </a:r>
                    </a:p>
                  </a:txBody>
                  <a:tcPr marL="91440" marR="91440" marT="45720" marB="45720">
                    <a:solidFill>
                      <a:srgbClr val="FFFFFF"/>
                    </a:solidFill>
                  </a:tcPr>
                </a:tc>
                <a:tc>
                  <a:txBody>
                    <a:bodyPr/>
                    <a:lstStyle/>
                    <a:p>
                      <a:r>
                        <a:rPr sz="855">
                          <a:solidFill>
                            <a:srgbClr val="5B5B5B"/>
                          </a:solidFill>
                          <a:latin typeface="Yu Gothic"/>
                          <a:ea typeface="Yu Gothic"/>
                          <a:cs typeface="Yu Gothic"/>
                        </a:rPr>
                        <a:t>未知熱、相対bias、innovation、NIS</a:t>
                      </a:r>
                    </a:p>
                  </a:txBody>
                  <a:tcPr marL="91440" marR="91440" marT="45720" marB="45720">
                    <a:solidFill>
                      <a:srgbClr val="FFFFFF"/>
                    </a:solidFill>
                  </a:tcPr>
                </a:tc>
                <a:tc>
                  <a:txBody>
                    <a:bodyPr/>
                    <a:lstStyle/>
                    <a:p>
                      <a:r>
                        <a:rPr sz="855">
                          <a:solidFill>
                            <a:srgbClr val="5B5B5B"/>
                          </a:solidFill>
                          <a:latin typeface="Yu Gothic"/>
                          <a:ea typeface="Yu Gothic"/>
                          <a:cs typeface="Yu Gothic"/>
                        </a:rPr>
                        <a:t>bias gaugeとnoise調整</a:t>
                      </a:r>
                    </a:p>
                  </a:txBody>
                  <a:tcPr marL="91440" marR="91440" marT="45720" marB="45720">
                    <a:solidFill>
                      <a:srgbClr val="FFFFFF"/>
                    </a:solidFill>
                  </a:tcPr>
                </a:tc>
              </a:tr>
              <a:tr h="575310">
                <a:tc>
                  <a:txBody>
                    <a:bodyPr/>
                    <a:lstStyle/>
                    <a:p>
                      <a:r>
                        <a:rPr sz="855" b="1">
                          <a:solidFill>
                            <a:srgbClr val="E5A900"/>
                          </a:solidFill>
                          <a:latin typeface="Yu Gothic"/>
                          <a:ea typeface="Yu Gothic"/>
                          <a:cs typeface="Yu Gothic"/>
                        </a:rPr>
                        <a:t>監査可能な配備</a:t>
                      </a:r>
                    </a:p>
                  </a:txBody>
                  <a:tcPr marL="91440" marR="91440" marT="45720" marB="45720">
                    <a:solidFill>
                      <a:srgbClr val="F8F8F8"/>
                    </a:solidFill>
                  </a:tcPr>
                </a:tc>
                <a:tc>
                  <a:txBody>
                    <a:bodyPr/>
                    <a:lstStyle/>
                    <a:p>
                      <a:r>
                        <a:rPr sz="855">
                          <a:solidFill>
                            <a:srgbClr val="5B5B5B"/>
                          </a:solidFill>
                          <a:latin typeface="Yu Gothic"/>
                          <a:ea typeface="Yu Gothic"/>
                          <a:cs typeface="Yu Gothic"/>
                        </a:rPr>
                        <a:t>system/config/artifact</a:t>
                      </a:r>
                    </a:p>
                  </a:txBody>
                  <a:tcPr marL="91440" marR="91440" marT="45720" marB="45720">
                    <a:solidFill>
                      <a:srgbClr val="F8F8F8"/>
                    </a:solidFill>
                  </a:tcPr>
                </a:tc>
                <a:tc>
                  <a:txBody>
                    <a:bodyPr/>
                    <a:lstStyle/>
                    <a:p>
                      <a:r>
                        <a:rPr sz="855">
                          <a:solidFill>
                            <a:srgbClr val="5B5B5B"/>
                          </a:solidFill>
                          <a:latin typeface="Yu Gothic"/>
                          <a:ea typeface="Yu Gothic"/>
                          <a:cs typeface="Yu Gothic"/>
                        </a:rPr>
                        <a:t>hash検証・atomic出力</a:t>
                      </a:r>
                    </a:p>
                  </a:txBody>
                  <a:tcPr marL="91440" marR="91440" marT="45720" marB="45720">
                    <a:solidFill>
                      <a:srgbClr val="F8F8F8"/>
                    </a:solidFill>
                  </a:tcPr>
                </a:tc>
                <a:tc>
                  <a:txBody>
                    <a:bodyPr/>
                    <a:lstStyle/>
                    <a:p>
                      <a:r>
                        <a:rPr sz="855">
                          <a:solidFill>
                            <a:srgbClr val="5B5B5B"/>
                          </a:solidFill>
                          <a:latin typeface="Yu Gothic"/>
                          <a:ea typeface="Yu Gothic"/>
                          <a:cs typeface="Yu Gothic"/>
                        </a:rPr>
                        <a:t>model.pt / YAML / metadata / manifest</a:t>
                      </a:r>
                    </a:p>
                  </a:txBody>
                  <a:tcPr marL="91440" marR="91440" marT="45720" marB="45720">
                    <a:solidFill>
                      <a:srgbClr val="F8F8F8"/>
                    </a:solidFill>
                  </a:tcPr>
                </a:tc>
                <a:tc>
                  <a:txBody>
                    <a:bodyPr/>
                    <a:lstStyle/>
                    <a:p>
                      <a:r>
                        <a:rPr sz="855">
                          <a:solidFill>
                            <a:srgbClr val="5B5B5B"/>
                          </a:solidFill>
                          <a:latin typeface="Yu Gothic"/>
                          <a:ea typeface="Yu Gothic"/>
                          <a:cs typeface="Yu Gothic"/>
                        </a:rPr>
                        <a:t>schema互換性と入力契約</a:t>
                      </a:r>
                    </a:p>
                  </a:txBody>
                  <a:tcPr marL="91440" marR="91440" marT="45720" marB="45720">
                    <a:solidFill>
                      <a:srgbClr val="F8F8F8"/>
                    </a:solidFill>
                  </a:tcPr>
                </a:tc>
              </a:tr>
            </a:tbl>
          </a:graphicData>
        </a:graphic>
      </p:graphicFrame>
      <p:sp>
        <p:nvSpPr>
          <p:cNvPr id="10" name="">
            <a:extLst xmlns:a="http://schemas.openxmlformats.org/drawingml/2006/main">
              <a:ext uri="{FF2B5EF4-FFF2-40B4-BE49-F238E27FC236}">
                <a16:creationId xmlns:a16="http://schemas.microsoft.com/office/drawing/2014/main" id="{E0DC7A3B-7E46-4A7D-B523-0A62FEC7998D}"/>
              </a:ext>
            </a:extLst>
          </p:cNvPr>
          <p:cNvSpPr>
            <a:spLocks xmlns:a="http://schemas.openxmlformats.org/drawingml/2006/main" noGrp="1"/>
          </p:cNvSpPr>
          <p:nvPr/>
        </p:nvSpPr>
        <p:spPr>
          <a:xfrm xmlns:a="http://schemas.openxmlformats.org/drawingml/2006/main">
            <a:off x="552450" y="4572000"/>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非目標と責任境界</a:t>
            </a:r>
          </a:p>
        </p:txBody>
      </p:sp>
      <p:sp>
        <p:nvSpPr>
          <p:cNvPr id="11" name="">
            <a:extLst xmlns:a="http://schemas.openxmlformats.org/drawingml/2006/main">
              <a:ext uri="{FF2B5EF4-FFF2-40B4-BE49-F238E27FC236}">
                <a16:creationId xmlns:a16="http://schemas.microsoft.com/office/drawing/2014/main" id="{A2C46F36-B8F2-4B09-839A-3B82425E8F28}"/>
              </a:ext>
            </a:extLst>
          </p:cNvPr>
          <p:cNvSpPr>
            <a:spLocks xmlns:a="http://schemas.openxmlformats.org/drawingml/2006/main" noGrp="1"/>
          </p:cNvSpPr>
          <p:nvPr/>
        </p:nvSpPr>
        <p:spPr>
          <a:xfrm xmlns:a="http://schemas.openxmlformats.org/drawingml/2006/main">
            <a:off x="552450" y="4962525"/>
            <a:ext cx="3390900" cy="1000125"/>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12" name="">
            <a:extLst xmlns:a="http://schemas.openxmlformats.org/drawingml/2006/main">
              <a:ext uri="{FF2B5EF4-FFF2-40B4-BE49-F238E27FC236}">
                <a16:creationId xmlns:a16="http://schemas.microsoft.com/office/drawing/2014/main" id="{1BED7174-06B3-4E19-A66A-ABA103ED54F9}"/>
              </a:ext>
            </a:extLst>
          </p:cNvPr>
          <p:cNvSpPr>
            <a:spLocks xmlns:a="http://schemas.openxmlformats.org/drawingml/2006/main" noGrp="1"/>
          </p:cNvSpPr>
          <p:nvPr/>
        </p:nvSpPr>
        <p:spPr>
          <a:xfrm xmlns:a="http://schemas.openxmlformats.org/drawingml/2006/main">
            <a:off x="704850" y="5095875"/>
            <a:ext cx="781050" cy="238125"/>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C4493D"/>
            </a:solidFill>
            <a:prstDash val="solid"/>
          </a:ln>
        </p:spPr>
      </p:sp>
      <p:sp>
        <p:nvSpPr>
          <p:cNvPr id="13" name="">
            <a:extLst xmlns:a="http://schemas.openxmlformats.org/drawingml/2006/main">
              <a:ext uri="{FF2B5EF4-FFF2-40B4-BE49-F238E27FC236}">
                <a16:creationId xmlns:a16="http://schemas.microsoft.com/office/drawing/2014/main" id="{C08D23CF-FEF1-4353-883E-B71D70E60788}"/>
              </a:ext>
            </a:extLst>
          </p:cNvPr>
          <p:cNvSpPr>
            <a:spLocks xmlns:a="http://schemas.openxmlformats.org/drawingml/2006/main" noGrp="1"/>
          </p:cNvSpPr>
          <p:nvPr/>
        </p:nvSpPr>
        <p:spPr>
          <a:xfrm xmlns:a="http://schemas.openxmlformats.org/drawingml/2006/main">
            <a:off x="752475" y="51054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C4493D"/>
                </a:solidFill>
                <a:latin typeface="Yu Gothic"/>
                <a:ea typeface="Yu Gothic"/>
                <a:cs typeface="Yu Gothic"/>
              </a:defRPr>
            </a:pPr>
            <a:r>
              <a:rPr sz="788" b="1" i="0">
                <a:solidFill>
                  <a:srgbClr val="C4493D"/>
                </a:solidFill>
                <a:latin typeface="Yu Gothic"/>
                <a:ea typeface="Yu Gothic"/>
                <a:cs typeface="Yu Gothic"/>
              </a:rPr>
              <a:t>非目標</a:t>
            </a:r>
          </a:p>
        </p:txBody>
      </p:sp>
      <p:sp>
        <p:nvSpPr>
          <p:cNvPr id="14" name="">
            <a:extLst xmlns:a="http://schemas.openxmlformats.org/drawingml/2006/main">
              <a:ext uri="{FF2B5EF4-FFF2-40B4-BE49-F238E27FC236}">
                <a16:creationId xmlns:a16="http://schemas.microsoft.com/office/drawing/2014/main" id="{790241CC-058D-48BA-9153-3DE41CAC8658}"/>
              </a:ext>
            </a:extLst>
          </p:cNvPr>
          <p:cNvSpPr>
            <a:spLocks xmlns:a="http://schemas.openxmlformats.org/drawingml/2006/main" noGrp="1"/>
          </p:cNvSpPr>
          <p:nvPr/>
        </p:nvSpPr>
        <p:spPr>
          <a:xfrm xmlns:a="http://schemas.openxmlformats.org/drawingml/2006/main">
            <a:off x="704850" y="5419725"/>
            <a:ext cx="3086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局所hotspot・wafer面内均一性を、node平均から直接保証しない</a:t>
            </a:r>
          </a:p>
        </p:txBody>
      </p:sp>
      <p:sp>
        <p:nvSpPr>
          <p:cNvPr id="15" name="">
            <a:extLst xmlns:a="http://schemas.openxmlformats.org/drawingml/2006/main">
              <a:ext uri="{FF2B5EF4-FFF2-40B4-BE49-F238E27FC236}">
                <a16:creationId xmlns:a16="http://schemas.microsoft.com/office/drawing/2014/main" id="{E6967680-1DE3-4575-A852-E44044E65783}"/>
              </a:ext>
            </a:extLst>
          </p:cNvPr>
          <p:cNvSpPr>
            <a:spLocks xmlns:a="http://schemas.openxmlformats.org/drawingml/2006/main" noGrp="1"/>
          </p:cNvSpPr>
          <p:nvPr/>
        </p:nvSpPr>
        <p:spPr>
          <a:xfrm xmlns:a="http://schemas.openxmlformats.org/drawingml/2006/main">
            <a:off x="4133850" y="4962525"/>
            <a:ext cx="3581400" cy="1000125"/>
          </a:xfrm>
          <a:prstGeom xmlns:a="http://schemas.openxmlformats.org/drawingml/2006/main" prst="rect">
            <a:avLst/>
          </a:prstGeom>
          <a:solidFill xmlns:a="http://schemas.openxmlformats.org/drawingml/2006/main">
            <a:srgbClr val="FFF5D7"/>
          </a:solidFill>
          <a:ln xmlns:a="http://schemas.openxmlformats.org/drawingml/2006/main" w="9525">
            <a:solidFill>
              <a:srgbClr val="E5A900"/>
            </a:solidFill>
            <a:prstDash val="solid"/>
          </a:ln>
        </p:spPr>
      </p:sp>
      <p:sp>
        <p:nvSpPr>
          <p:cNvPr id="16" name="">
            <a:extLst xmlns:a="http://schemas.openxmlformats.org/drawingml/2006/main">
              <a:ext uri="{FF2B5EF4-FFF2-40B4-BE49-F238E27FC236}">
                <a16:creationId xmlns:a16="http://schemas.microsoft.com/office/drawing/2014/main" id="{952C553F-247F-4D51-B10E-6E56277AA668}"/>
              </a:ext>
            </a:extLst>
          </p:cNvPr>
          <p:cNvSpPr>
            <a:spLocks xmlns:a="http://schemas.openxmlformats.org/drawingml/2006/main" noGrp="1"/>
          </p:cNvSpPr>
          <p:nvPr/>
        </p:nvSpPr>
        <p:spPr>
          <a:xfrm xmlns:a="http://schemas.openxmlformats.org/drawingml/2006/main">
            <a:off x="4286250" y="5095875"/>
            <a:ext cx="781050" cy="238125"/>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E5A900"/>
            </a:solidFill>
            <a:prstDash val="solid"/>
          </a:ln>
        </p:spPr>
      </p:sp>
      <p:sp>
        <p:nvSpPr>
          <p:cNvPr id="17" name="">
            <a:extLst xmlns:a="http://schemas.openxmlformats.org/drawingml/2006/main">
              <a:ext uri="{FF2B5EF4-FFF2-40B4-BE49-F238E27FC236}">
                <a16:creationId xmlns:a16="http://schemas.microsoft.com/office/drawing/2014/main" id="{7728687B-77F9-4B58-BF1F-B3F243CA0F3D}"/>
              </a:ext>
            </a:extLst>
          </p:cNvPr>
          <p:cNvSpPr>
            <a:spLocks xmlns:a="http://schemas.openxmlformats.org/drawingml/2006/main" noGrp="1"/>
          </p:cNvSpPr>
          <p:nvPr/>
        </p:nvSpPr>
        <p:spPr>
          <a:xfrm xmlns:a="http://schemas.openxmlformats.org/drawingml/2006/main">
            <a:off x="4333875" y="51054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E5A900"/>
                </a:solidFill>
                <a:latin typeface="Yu Gothic"/>
                <a:ea typeface="Yu Gothic"/>
                <a:cs typeface="Yu Gothic"/>
              </a:defRPr>
            </a:pPr>
            <a:r>
              <a:rPr sz="788" b="1" i="0">
                <a:solidFill>
                  <a:srgbClr val="E5A900"/>
                </a:solidFill>
                <a:latin typeface="Yu Gothic"/>
                <a:ea typeface="Yu Gothic"/>
                <a:cs typeface="Yu Gothic"/>
              </a:rPr>
              <a:t>現行境界</a:t>
            </a:r>
          </a:p>
        </p:txBody>
      </p:sp>
      <p:sp>
        <p:nvSpPr>
          <p:cNvPr id="18" name="">
            <a:extLst xmlns:a="http://schemas.openxmlformats.org/drawingml/2006/main">
              <a:ext uri="{FF2B5EF4-FFF2-40B4-BE49-F238E27FC236}">
                <a16:creationId xmlns:a16="http://schemas.microsoft.com/office/drawing/2014/main" id="{8281F984-A5C1-4220-8F6B-7D0328AFD60C}"/>
              </a:ext>
            </a:extLst>
          </p:cNvPr>
          <p:cNvSpPr>
            <a:spLocks xmlns:a="http://schemas.openxmlformats.org/drawingml/2006/main" noGrp="1"/>
          </p:cNvSpPr>
          <p:nvPr/>
        </p:nvSpPr>
        <p:spPr>
          <a:xfrm xmlns:a="http://schemas.openxmlformats.org/drawingml/2006/main">
            <a:off x="4286250" y="5419725"/>
            <a:ext cx="3276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T⁴放射、相変化、温度依存物性はfirst-class termではない</a:t>
            </a:r>
          </a:p>
        </p:txBody>
      </p:sp>
      <p:sp>
        <p:nvSpPr>
          <p:cNvPr id="19" name="">
            <a:extLst xmlns:a="http://schemas.openxmlformats.org/drawingml/2006/main">
              <a:ext uri="{FF2B5EF4-FFF2-40B4-BE49-F238E27FC236}">
                <a16:creationId xmlns:a16="http://schemas.microsoft.com/office/drawing/2014/main" id="{12AD058D-4118-46C7-A345-7AB4CA083F33}"/>
              </a:ext>
            </a:extLst>
          </p:cNvPr>
          <p:cNvSpPr>
            <a:spLocks xmlns:a="http://schemas.openxmlformats.org/drawingml/2006/main" noGrp="1"/>
          </p:cNvSpPr>
          <p:nvPr/>
        </p:nvSpPr>
        <p:spPr>
          <a:xfrm xmlns:a="http://schemas.openxmlformats.org/drawingml/2006/main">
            <a:off x="7905750" y="4962525"/>
            <a:ext cx="3733800" cy="1000125"/>
          </a:xfrm>
          <a:prstGeom xmlns:a="http://schemas.openxmlformats.org/drawingml/2006/main" prst="rect">
            <a:avLst/>
          </a:prstGeom>
          <a:solidFill xmlns:a="http://schemas.openxmlformats.org/drawingml/2006/main">
            <a:srgbClr val="EFE5F6"/>
          </a:solidFill>
          <a:ln xmlns:a="http://schemas.openxmlformats.org/drawingml/2006/main" w="9525">
            <a:solidFill>
              <a:srgbClr val="7B2DAF"/>
            </a:solidFill>
            <a:prstDash val="solid"/>
          </a:ln>
        </p:spPr>
      </p:sp>
      <p:sp>
        <p:nvSpPr>
          <p:cNvPr id="20" name="">
            <a:extLst xmlns:a="http://schemas.openxmlformats.org/drawingml/2006/main">
              <a:ext uri="{FF2B5EF4-FFF2-40B4-BE49-F238E27FC236}">
                <a16:creationId xmlns:a16="http://schemas.microsoft.com/office/drawing/2014/main" id="{4560FDC9-0C1C-4F20-B221-F868AC73B86A}"/>
              </a:ext>
            </a:extLst>
          </p:cNvPr>
          <p:cNvSpPr>
            <a:spLocks xmlns:a="http://schemas.openxmlformats.org/drawingml/2006/main" noGrp="1"/>
          </p:cNvSpPr>
          <p:nvPr/>
        </p:nvSpPr>
        <p:spPr>
          <a:xfrm xmlns:a="http://schemas.openxmlformats.org/drawingml/2006/main">
            <a:off x="8058150" y="5095875"/>
            <a:ext cx="781050" cy="238125"/>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7B2DAF"/>
            </a:solidFill>
            <a:prstDash val="solid"/>
          </a:ln>
        </p:spPr>
      </p:sp>
      <p:sp>
        <p:nvSpPr>
          <p:cNvPr id="21" name="">
            <a:extLst xmlns:a="http://schemas.openxmlformats.org/drawingml/2006/main">
              <a:ext uri="{FF2B5EF4-FFF2-40B4-BE49-F238E27FC236}">
                <a16:creationId xmlns:a16="http://schemas.microsoft.com/office/drawing/2014/main" id="{CACA618E-9A59-454C-B4CD-408B62C2DD37}"/>
              </a:ext>
            </a:extLst>
          </p:cNvPr>
          <p:cNvSpPr>
            <a:spLocks xmlns:a="http://schemas.openxmlformats.org/drawingml/2006/main" noGrp="1"/>
          </p:cNvSpPr>
          <p:nvPr/>
        </p:nvSpPr>
        <p:spPr>
          <a:xfrm xmlns:a="http://schemas.openxmlformats.org/drawingml/2006/main">
            <a:off x="8105775" y="51054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7B2DAF"/>
                </a:solidFill>
                <a:latin typeface="Yu Gothic"/>
                <a:ea typeface="Yu Gothic"/>
                <a:cs typeface="Yu Gothic"/>
              </a:defRPr>
            </a:pPr>
            <a:r>
              <a:rPr sz="788" b="1" i="0">
                <a:solidFill>
                  <a:srgbClr val="7B2DAF"/>
                </a:solidFill>
                <a:latin typeface="Yu Gothic"/>
                <a:ea typeface="Yu Gothic"/>
                <a:cs typeface="Yu Gothic"/>
              </a:rPr>
              <a:t>識別境界</a:t>
            </a:r>
          </a:p>
        </p:txBody>
      </p:sp>
      <p:sp>
        <p:nvSpPr>
          <p:cNvPr id="22" name="">
            <a:extLst xmlns:a="http://schemas.openxmlformats.org/drawingml/2006/main">
              <a:ext uri="{FF2B5EF4-FFF2-40B4-BE49-F238E27FC236}">
                <a16:creationId xmlns:a16="http://schemas.microsoft.com/office/drawing/2014/main" id="{8BBA9DC9-551A-4DDA-8652-4716FEF9302C}"/>
              </a:ext>
            </a:extLst>
          </p:cNvPr>
          <p:cNvSpPr>
            <a:spLocks xmlns:a="http://schemas.openxmlformats.org/drawingml/2006/main" noGrp="1"/>
          </p:cNvSpPr>
          <p:nvPr/>
        </p:nvSpPr>
        <p:spPr>
          <a:xfrm xmlns:a="http://schemas.openxmlformats.org/drawingml/2006/main">
            <a:off x="8058150" y="5419725"/>
            <a:ext cx="3429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外部基準なしの共通sensor offsetと一様温度ずれは分離不能</a:t>
            </a:r>
          </a:p>
        </p:txBody>
      </p:sp>
    </p:spTree>
    <p:extLst>
      <p:ext uri="{BB962C8B-B14F-4D97-AF65-F5344CB8AC3E}">
        <p14:creationId xmlns:p14="http://schemas.microsoft.com/office/powerpoint/2010/main" val="149733057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9C42FC52-CEDE-44C1-9FD1-93F3FD2E8572}"/>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DB8AA79-9770-4E81-9CDF-BBF0E08DA412}"/>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CODE ARCHITECTURE</a:t>
            </a:r>
          </a:p>
        </p:txBody>
      </p:sp>
      <p:sp>
        <p:nvSpPr>
          <p:cNvPr id="3" name="">
            <a:extLst xmlns:a="http://schemas.openxmlformats.org/drawingml/2006/main">
              <a:ext uri="{FF2B5EF4-FFF2-40B4-BE49-F238E27FC236}">
                <a16:creationId xmlns:a16="http://schemas.microsoft.com/office/drawing/2014/main" id="{048A025A-F551-447B-A056-EA3C1D248F7E}"/>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依存方向を一方向に固定し、数値engineとCSV・YAML・workflowを分離する</a:t>
            </a:r>
          </a:p>
        </p:txBody>
      </p:sp>
      <p:sp>
        <p:nvSpPr>
          <p:cNvPr id="4" name="">
            <a:extLst xmlns:a="http://schemas.openxmlformats.org/drawingml/2006/main">
              <a:ext uri="{FF2B5EF4-FFF2-40B4-BE49-F238E27FC236}">
                <a16:creationId xmlns:a16="http://schemas.microsoft.com/office/drawing/2014/main" id="{5C400C68-4535-4239-9FA4-B5B34931CC4E}"/>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装置差はsystem.yamlとdataで表し、core classを装置部品名ごとに増やさない</a:t>
            </a:r>
          </a:p>
        </p:txBody>
      </p:sp>
      <p:sp>
        <p:nvSpPr>
          <p:cNvPr id="5" name="">
            <a:extLst xmlns:a="http://schemas.openxmlformats.org/drawingml/2006/main">
              <a:ext uri="{FF2B5EF4-FFF2-40B4-BE49-F238E27FC236}">
                <a16:creationId xmlns:a16="http://schemas.microsoft.com/office/drawing/2014/main" id="{836F4BCE-519E-4E7E-BD74-69C583E16230}"/>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24BB487C-D03B-4F0F-AD22-28FF202C72EC}"/>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36BC2C03-4D89-44B5-B700-E73BBBBA7820}"/>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0365B938-BC69-4245-8A94-8B3D2D2BD634}"/>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4</a:t>
            </a:r>
          </a:p>
        </p:txBody>
      </p:sp>
      <p:sp>
        <p:nvSpPr>
          <p:cNvPr id="9" name="">
            <a:extLst xmlns:a="http://schemas.openxmlformats.org/drawingml/2006/main">
              <a:ext uri="{FF2B5EF4-FFF2-40B4-BE49-F238E27FC236}">
                <a16:creationId xmlns:a16="http://schemas.microsoft.com/office/drawing/2014/main" id="{D0945215-D0A4-461D-A757-6F40B45F159E}"/>
              </a:ext>
            </a:extLst>
          </p:cNvPr>
          <p:cNvSpPr>
            <a:spLocks xmlns:a="http://schemas.openxmlformats.org/drawingml/2006/main" noGrp="1"/>
          </p:cNvSpPr>
          <p:nvPr/>
        </p:nvSpPr>
        <p:spPr>
          <a:xfrm xmlns:a="http://schemas.openxmlformats.org/drawingml/2006/main">
            <a:off x="552450" y="1438275"/>
            <a:ext cx="7334250" cy="581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67B34EDA-2A57-42FC-A0BA-A5C3945B140D}"/>
              </a:ext>
            </a:extLst>
          </p:cNvPr>
          <p:cNvSpPr>
            <a:spLocks xmlns:a="http://schemas.openxmlformats.org/drawingml/2006/main" noGrp="1"/>
          </p:cNvSpPr>
          <p:nvPr/>
        </p:nvSpPr>
        <p:spPr>
          <a:xfrm xmlns:a="http://schemas.openxmlformats.org/drawingml/2006/main">
            <a:off x="552450" y="1438275"/>
            <a:ext cx="990600" cy="58102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D5BC9DA-4956-40AA-BA32-40F619122C92}"/>
              </a:ext>
            </a:extLst>
          </p:cNvPr>
          <p:cNvSpPr>
            <a:spLocks xmlns:a="http://schemas.openxmlformats.org/drawingml/2006/main" noGrp="1"/>
          </p:cNvSpPr>
          <p:nvPr/>
        </p:nvSpPr>
        <p:spPr>
          <a:xfrm xmlns:a="http://schemas.openxmlformats.org/drawingml/2006/main">
            <a:off x="619125" y="1524000"/>
            <a:ext cx="8572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Yu Gothic"/>
                <a:ea typeface="Yu Gothic"/>
                <a:cs typeface="Yu Gothic"/>
              </a:defRPr>
            </a:pPr>
            <a:r>
              <a:rPr sz="900" b="1" i="0">
                <a:solidFill>
                  <a:srgbClr val="FFFFFF"/>
                </a:solidFill>
                <a:latin typeface="Yu Gothic"/>
                <a:ea typeface="Yu Gothic"/>
                <a:cs typeface="Yu Gothic"/>
              </a:rPr>
              <a:t>Interface</a:t>
            </a:r>
          </a:p>
        </p:txBody>
      </p:sp>
      <p:sp>
        <p:nvSpPr>
          <p:cNvPr id="12" name="">
            <a:extLst xmlns:a="http://schemas.openxmlformats.org/drawingml/2006/main">
              <a:ext uri="{FF2B5EF4-FFF2-40B4-BE49-F238E27FC236}">
                <a16:creationId xmlns:a16="http://schemas.microsoft.com/office/drawing/2014/main" id="{5BA9AD8E-1565-4BDF-98F3-8200BDBFD9CD}"/>
              </a:ext>
            </a:extLst>
          </p:cNvPr>
          <p:cNvSpPr>
            <a:spLocks xmlns:a="http://schemas.openxmlformats.org/drawingml/2006/main" noGrp="1"/>
          </p:cNvSpPr>
          <p:nvPr/>
        </p:nvSpPr>
        <p:spPr>
          <a:xfrm xmlns:a="http://schemas.openxmlformats.org/drawingml/2006/main">
            <a:off x="1743075" y="15144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201445"/>
                </a:solidFill>
                <a:latin typeface="Yu Gothic"/>
                <a:ea typeface="Yu Gothic"/>
                <a:cs typeface="Yu Gothic"/>
              </a:defRPr>
            </a:pPr>
            <a:r>
              <a:rPr sz="1125" b="1" i="0">
                <a:solidFill>
                  <a:srgbClr val="201445"/>
                </a:solidFill>
                <a:latin typeface="Yu Gothic"/>
                <a:ea typeface="Yu Gothic"/>
                <a:cs typeface="Yu Gothic"/>
              </a:rPr>
              <a:t>cli.py</a:t>
            </a:r>
          </a:p>
        </p:txBody>
      </p:sp>
      <p:sp>
        <p:nvSpPr>
          <p:cNvPr id="13" name="">
            <a:extLst xmlns:a="http://schemas.openxmlformats.org/drawingml/2006/main">
              <a:ext uri="{FF2B5EF4-FFF2-40B4-BE49-F238E27FC236}">
                <a16:creationId xmlns:a16="http://schemas.microsoft.com/office/drawing/2014/main" id="{2305BE37-65E2-460C-8388-8D5D7CEC96C1}"/>
              </a:ext>
            </a:extLst>
          </p:cNvPr>
          <p:cNvSpPr>
            <a:spLocks xmlns:a="http://schemas.openxmlformats.org/drawingml/2006/main" noGrp="1"/>
          </p:cNvSpPr>
          <p:nvPr/>
        </p:nvSpPr>
        <p:spPr>
          <a:xfrm xmlns:a="http://schemas.openxmlformats.org/drawingml/2006/main">
            <a:off x="3981450" y="1514475"/>
            <a:ext cx="3714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train / forecast / monitor</a:t>
            </a:r>
          </a:p>
        </p:txBody>
      </p:sp>
      <p:sp>
        <p:nvSpPr>
          <p:cNvPr id="14" name="">
            <a:extLst xmlns:a="http://schemas.openxmlformats.org/drawingml/2006/main">
              <a:ext uri="{FF2B5EF4-FFF2-40B4-BE49-F238E27FC236}">
                <a16:creationId xmlns:a16="http://schemas.microsoft.com/office/drawing/2014/main" id="{988C6FB9-81B0-40E1-A6EA-5403FD61DFFB}"/>
              </a:ext>
            </a:extLst>
          </p:cNvPr>
          <p:cNvSpPr>
            <a:spLocks xmlns:a="http://schemas.openxmlformats.org/drawingml/2006/main" noGrp="1"/>
          </p:cNvSpPr>
          <p:nvPr/>
        </p:nvSpPr>
        <p:spPr>
          <a:xfrm xmlns:a="http://schemas.openxmlformats.org/drawingml/2006/main">
            <a:off x="552450" y="2143125"/>
            <a:ext cx="7334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5" name="">
            <a:extLst xmlns:a="http://schemas.openxmlformats.org/drawingml/2006/main">
              <a:ext uri="{FF2B5EF4-FFF2-40B4-BE49-F238E27FC236}">
                <a16:creationId xmlns:a16="http://schemas.microsoft.com/office/drawing/2014/main" id="{D6E36E21-3270-49F5-ABF0-7D5C0C2E886B}"/>
              </a:ext>
            </a:extLst>
          </p:cNvPr>
          <p:cNvSpPr>
            <a:spLocks xmlns:a="http://schemas.openxmlformats.org/drawingml/2006/main" noGrp="1"/>
          </p:cNvSpPr>
          <p:nvPr/>
        </p:nvSpPr>
        <p:spPr>
          <a:xfrm xmlns:a="http://schemas.openxmlformats.org/drawingml/2006/main">
            <a:off x="552450" y="2143125"/>
            <a:ext cx="990600" cy="7239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8F8C238-C703-4C6B-8B22-A2D66CA310BC}"/>
              </a:ext>
            </a:extLst>
          </p:cNvPr>
          <p:cNvSpPr>
            <a:spLocks xmlns:a="http://schemas.openxmlformats.org/drawingml/2006/main" noGrp="1"/>
          </p:cNvSpPr>
          <p:nvPr/>
        </p:nvSpPr>
        <p:spPr>
          <a:xfrm xmlns:a="http://schemas.openxmlformats.org/drawingml/2006/main">
            <a:off x="619125" y="2228850"/>
            <a:ext cx="857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Yu Gothic"/>
                <a:ea typeface="Yu Gothic"/>
                <a:cs typeface="Yu Gothic"/>
              </a:defRPr>
            </a:pPr>
            <a:r>
              <a:rPr sz="900" b="1" i="0">
                <a:solidFill>
                  <a:srgbClr val="FFFFFF"/>
                </a:solidFill>
                <a:latin typeface="Yu Gothic"/>
                <a:ea typeface="Yu Gothic"/>
                <a:cs typeface="Yu Gothic"/>
              </a:rPr>
              <a:t>Workflow</a:t>
            </a:r>
          </a:p>
        </p:txBody>
      </p:sp>
      <p:sp>
        <p:nvSpPr>
          <p:cNvPr id="17" name="">
            <a:extLst xmlns:a="http://schemas.openxmlformats.org/drawingml/2006/main">
              <a:ext uri="{FF2B5EF4-FFF2-40B4-BE49-F238E27FC236}">
                <a16:creationId xmlns:a16="http://schemas.microsoft.com/office/drawing/2014/main" id="{108DD638-FDBB-4A79-A7EB-5034ADE65216}"/>
              </a:ext>
            </a:extLst>
          </p:cNvPr>
          <p:cNvSpPr>
            <a:spLocks xmlns:a="http://schemas.openxmlformats.org/drawingml/2006/main" noGrp="1"/>
          </p:cNvSpPr>
          <p:nvPr/>
        </p:nvSpPr>
        <p:spPr>
          <a:xfrm xmlns:a="http://schemas.openxmlformats.org/drawingml/2006/main">
            <a:off x="1743075" y="221932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7B2DAF"/>
                </a:solidFill>
                <a:latin typeface="Yu Gothic"/>
                <a:ea typeface="Yu Gothic"/>
                <a:cs typeface="Yu Gothic"/>
              </a:defRPr>
            </a:pPr>
            <a:r>
              <a:rPr sz="1125" b="1" i="0">
                <a:solidFill>
                  <a:srgbClr val="7B2DAF"/>
                </a:solidFill>
                <a:latin typeface="Yu Gothic"/>
                <a:ea typeface="Yu Gothic"/>
                <a:cs typeface="Yu Gothic"/>
              </a:rPr>
              <a:t>workflows/</a:t>
            </a:r>
          </a:p>
        </p:txBody>
      </p:sp>
      <p:sp>
        <p:nvSpPr>
          <p:cNvPr id="18" name="">
            <a:extLst xmlns:a="http://schemas.openxmlformats.org/drawingml/2006/main">
              <a:ext uri="{FF2B5EF4-FFF2-40B4-BE49-F238E27FC236}">
                <a16:creationId xmlns:a16="http://schemas.microsoft.com/office/drawing/2014/main" id="{E5453AA6-622E-445B-9465-AB920EBBFD85}"/>
              </a:ext>
            </a:extLst>
          </p:cNvPr>
          <p:cNvSpPr>
            <a:spLocks xmlns:a="http://schemas.openxmlformats.org/drawingml/2006/main" noGrp="1"/>
          </p:cNvSpPr>
          <p:nvPr/>
        </p:nvSpPr>
        <p:spPr>
          <a:xfrm xmlns:a="http://schemas.openxmlformats.org/drawingml/2006/main">
            <a:off x="3981450" y="2219325"/>
            <a:ext cx="3714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config解決、CSV discovery、出力orchestration、run manifest</a:t>
            </a:r>
          </a:p>
        </p:txBody>
      </p:sp>
      <p:sp>
        <p:nvSpPr>
          <p:cNvPr id="19" name="">
            <a:extLst xmlns:a="http://schemas.openxmlformats.org/drawingml/2006/main">
              <a:ext uri="{FF2B5EF4-FFF2-40B4-BE49-F238E27FC236}">
                <a16:creationId xmlns:a16="http://schemas.microsoft.com/office/drawing/2014/main" id="{B73EA5C8-9A06-4CB4-85A0-7DA711B10558}"/>
              </a:ext>
            </a:extLst>
          </p:cNvPr>
          <p:cNvSpPr>
            <a:spLocks xmlns:a="http://schemas.openxmlformats.org/drawingml/2006/main" noGrp="1"/>
          </p:cNvSpPr>
          <p:nvPr/>
        </p:nvSpPr>
        <p:spPr>
          <a:xfrm xmlns:a="http://schemas.openxmlformats.org/drawingml/2006/main">
            <a:off x="552450" y="2990850"/>
            <a:ext cx="7334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0" name="">
            <a:extLst xmlns:a="http://schemas.openxmlformats.org/drawingml/2006/main">
              <a:ext uri="{FF2B5EF4-FFF2-40B4-BE49-F238E27FC236}">
                <a16:creationId xmlns:a16="http://schemas.microsoft.com/office/drawing/2014/main" id="{1C2C9543-3F02-4375-B655-F2672EA8B595}"/>
              </a:ext>
            </a:extLst>
          </p:cNvPr>
          <p:cNvSpPr>
            <a:spLocks xmlns:a="http://schemas.openxmlformats.org/drawingml/2006/main" noGrp="1"/>
          </p:cNvSpPr>
          <p:nvPr/>
        </p:nvSpPr>
        <p:spPr>
          <a:xfrm xmlns:a="http://schemas.openxmlformats.org/drawingml/2006/main">
            <a:off x="552450" y="2990850"/>
            <a:ext cx="990600" cy="7239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5EB92FA-FB35-4E0C-91C0-B40D72A4FD39}"/>
              </a:ext>
            </a:extLst>
          </p:cNvPr>
          <p:cNvSpPr>
            <a:spLocks xmlns:a="http://schemas.openxmlformats.org/drawingml/2006/main" noGrp="1"/>
          </p:cNvSpPr>
          <p:nvPr/>
        </p:nvSpPr>
        <p:spPr>
          <a:xfrm xmlns:a="http://schemas.openxmlformats.org/drawingml/2006/main">
            <a:off x="619125" y="3076575"/>
            <a:ext cx="857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Yu Gothic"/>
                <a:ea typeface="Yu Gothic"/>
                <a:cs typeface="Yu Gothic"/>
              </a:defRPr>
            </a:pPr>
            <a:r>
              <a:rPr sz="900" b="1" i="0">
                <a:solidFill>
                  <a:srgbClr val="FFFFFF"/>
                </a:solidFill>
                <a:latin typeface="Yu Gothic"/>
                <a:ea typeface="Yu Gothic"/>
                <a:cs typeface="Yu Gothic"/>
              </a:rPr>
              <a:t>Use case</a:t>
            </a:r>
          </a:p>
        </p:txBody>
      </p:sp>
      <p:sp>
        <p:nvSpPr>
          <p:cNvPr id="22" name="">
            <a:extLst xmlns:a="http://schemas.openxmlformats.org/drawingml/2006/main">
              <a:ext uri="{FF2B5EF4-FFF2-40B4-BE49-F238E27FC236}">
                <a16:creationId xmlns:a16="http://schemas.microsoft.com/office/drawing/2014/main" id="{8FF22F7F-D2D2-46B7-86A1-DD34599CC017}"/>
              </a:ext>
            </a:extLst>
          </p:cNvPr>
          <p:cNvSpPr>
            <a:spLocks xmlns:a="http://schemas.openxmlformats.org/drawingml/2006/main" noGrp="1"/>
          </p:cNvSpPr>
          <p:nvPr/>
        </p:nvSpPr>
        <p:spPr>
          <a:xfrm xmlns:a="http://schemas.openxmlformats.org/drawingml/2006/main">
            <a:off x="1743075" y="30670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00A5D8"/>
                </a:solidFill>
                <a:latin typeface="Yu Gothic"/>
                <a:ea typeface="Yu Gothic"/>
                <a:cs typeface="Yu Gothic"/>
              </a:defRPr>
            </a:pPr>
            <a:r>
              <a:rPr sz="1125" b="1" i="0">
                <a:solidFill>
                  <a:srgbClr val="00A5D8"/>
                </a:solidFill>
                <a:latin typeface="Yu Gothic"/>
                <a:ea typeface="Yu Gothic"/>
                <a:cs typeface="Yu Gothic"/>
              </a:rPr>
              <a:t>learning/  +  inference.py</a:t>
            </a:r>
          </a:p>
        </p:txBody>
      </p:sp>
      <p:sp>
        <p:nvSpPr>
          <p:cNvPr id="23" name="">
            <a:extLst xmlns:a="http://schemas.openxmlformats.org/drawingml/2006/main">
              <a:ext uri="{FF2B5EF4-FFF2-40B4-BE49-F238E27FC236}">
                <a16:creationId xmlns:a16="http://schemas.microsoft.com/office/drawing/2014/main" id="{87B53B5B-8C5E-47C7-A9D9-6CFAD6723EB7}"/>
              </a:ext>
            </a:extLst>
          </p:cNvPr>
          <p:cNvSpPr>
            <a:spLocks xmlns:a="http://schemas.openxmlformats.org/drawingml/2006/main" noGrp="1"/>
          </p:cNvSpPr>
          <p:nvPr/>
        </p:nvSpPr>
        <p:spPr>
          <a:xfrm xmlns:a="http://schemas.openxmlformats.org/drawingml/2006/main">
            <a:off x="3981450" y="3067050"/>
            <a:ext cx="3714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係数同定、causal state initialization、forecast、monitor</a:t>
            </a:r>
          </a:p>
        </p:txBody>
      </p:sp>
      <p:sp>
        <p:nvSpPr>
          <p:cNvPr id="24" name="">
            <a:extLst xmlns:a="http://schemas.openxmlformats.org/drawingml/2006/main">
              <a:ext uri="{FF2B5EF4-FFF2-40B4-BE49-F238E27FC236}">
                <a16:creationId xmlns:a16="http://schemas.microsoft.com/office/drawing/2014/main" id="{930B1DF4-D473-48F8-827A-BA46660809B4}"/>
              </a:ext>
            </a:extLst>
          </p:cNvPr>
          <p:cNvSpPr>
            <a:spLocks xmlns:a="http://schemas.openxmlformats.org/drawingml/2006/main" noGrp="1"/>
          </p:cNvSpPr>
          <p:nvPr/>
        </p:nvSpPr>
        <p:spPr>
          <a:xfrm xmlns:a="http://schemas.openxmlformats.org/drawingml/2006/main">
            <a:off x="552450" y="3838575"/>
            <a:ext cx="7334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5" name="">
            <a:extLst xmlns:a="http://schemas.openxmlformats.org/drawingml/2006/main">
              <a:ext uri="{FF2B5EF4-FFF2-40B4-BE49-F238E27FC236}">
                <a16:creationId xmlns:a16="http://schemas.microsoft.com/office/drawing/2014/main" id="{9A05BA06-88D4-4A3E-B0FD-2607DC0FECCD}"/>
              </a:ext>
            </a:extLst>
          </p:cNvPr>
          <p:cNvSpPr>
            <a:spLocks xmlns:a="http://schemas.openxmlformats.org/drawingml/2006/main" noGrp="1"/>
          </p:cNvSpPr>
          <p:nvPr/>
        </p:nvSpPr>
        <p:spPr>
          <a:xfrm xmlns:a="http://schemas.openxmlformats.org/drawingml/2006/main">
            <a:off x="552450" y="3838575"/>
            <a:ext cx="990600" cy="7239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9C4BDFE-7B04-448D-9E88-9E1E33E548A8}"/>
              </a:ext>
            </a:extLst>
          </p:cNvPr>
          <p:cNvSpPr>
            <a:spLocks xmlns:a="http://schemas.openxmlformats.org/drawingml/2006/main" noGrp="1"/>
          </p:cNvSpPr>
          <p:nvPr/>
        </p:nvSpPr>
        <p:spPr>
          <a:xfrm xmlns:a="http://schemas.openxmlformats.org/drawingml/2006/main">
            <a:off x="619125" y="3924300"/>
            <a:ext cx="857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Yu Gothic"/>
                <a:ea typeface="Yu Gothic"/>
                <a:cs typeface="Yu Gothic"/>
              </a:defRPr>
            </a:pPr>
            <a:r>
              <a:rPr sz="900" b="1" i="0">
                <a:solidFill>
                  <a:srgbClr val="FFFFFF"/>
                </a:solidFill>
                <a:latin typeface="Yu Gothic"/>
                <a:ea typeface="Yu Gothic"/>
                <a:cs typeface="Yu Gothic"/>
              </a:rPr>
              <a:t>Numerics</a:t>
            </a:r>
          </a:p>
        </p:txBody>
      </p:sp>
      <p:sp>
        <p:nvSpPr>
          <p:cNvPr id="27" name="">
            <a:extLst xmlns:a="http://schemas.openxmlformats.org/drawingml/2006/main">
              <a:ext uri="{FF2B5EF4-FFF2-40B4-BE49-F238E27FC236}">
                <a16:creationId xmlns:a16="http://schemas.microsoft.com/office/drawing/2014/main" id="{032634E2-E26E-46A4-91BB-2C3F313004DF}"/>
              </a:ext>
            </a:extLst>
          </p:cNvPr>
          <p:cNvSpPr>
            <a:spLocks xmlns:a="http://schemas.openxmlformats.org/drawingml/2006/main" noGrp="1"/>
          </p:cNvSpPr>
          <p:nvPr/>
        </p:nvSpPr>
        <p:spPr>
          <a:xfrm xmlns:a="http://schemas.openxmlformats.org/drawingml/2006/main">
            <a:off x="1743075" y="39147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76BE18"/>
                </a:solidFill>
                <a:latin typeface="Yu Gothic"/>
                <a:ea typeface="Yu Gothic"/>
                <a:cs typeface="Yu Gothic"/>
              </a:defRPr>
            </a:pPr>
            <a:r>
              <a:rPr sz="1125" b="1" i="0">
                <a:solidFill>
                  <a:srgbClr val="76BE18"/>
                </a:solidFill>
                <a:latin typeface="Yu Gothic"/>
                <a:ea typeface="Yu Gothic"/>
                <a:cs typeface="Yu Gothic"/>
              </a:rPr>
              <a:t>engine/</a:t>
            </a:r>
          </a:p>
        </p:txBody>
      </p:sp>
      <p:sp>
        <p:nvSpPr>
          <p:cNvPr id="28" name="">
            <a:extLst xmlns:a="http://schemas.openxmlformats.org/drawingml/2006/main">
              <a:ext uri="{FF2B5EF4-FFF2-40B4-BE49-F238E27FC236}">
                <a16:creationId xmlns:a16="http://schemas.microsoft.com/office/drawing/2014/main" id="{C409591B-FF85-43F4-8992-6485F6F872CD}"/>
              </a:ext>
            </a:extLst>
          </p:cNvPr>
          <p:cNvSpPr>
            <a:spLocks xmlns:a="http://schemas.openxmlformats.org/drawingml/2006/main" noGrp="1"/>
          </p:cNvSpPr>
          <p:nvPr/>
        </p:nvSpPr>
        <p:spPr>
          <a:xfrm xmlns:a="http://schemas.openxmlformats.org/drawingml/2006/main">
            <a:off x="3981450" y="3914775"/>
            <a:ext cx="3714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thermal network、scalar law、exact/implicit積分、Kalman observer</a:t>
            </a:r>
          </a:p>
        </p:txBody>
      </p:sp>
      <p:sp>
        <p:nvSpPr>
          <p:cNvPr id="29" name="">
            <a:extLst xmlns:a="http://schemas.openxmlformats.org/drawingml/2006/main">
              <a:ext uri="{FF2B5EF4-FFF2-40B4-BE49-F238E27FC236}">
                <a16:creationId xmlns:a16="http://schemas.microsoft.com/office/drawing/2014/main" id="{E66AB8D2-40A1-40EB-811E-C77DBB8DC51A}"/>
              </a:ext>
            </a:extLst>
          </p:cNvPr>
          <p:cNvSpPr>
            <a:spLocks xmlns:a="http://schemas.openxmlformats.org/drawingml/2006/main" noGrp="1"/>
          </p:cNvSpPr>
          <p:nvPr/>
        </p:nvSpPr>
        <p:spPr>
          <a:xfrm xmlns:a="http://schemas.openxmlformats.org/drawingml/2006/main">
            <a:off x="552450" y="4686300"/>
            <a:ext cx="7334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0" name="">
            <a:extLst xmlns:a="http://schemas.openxmlformats.org/drawingml/2006/main">
              <a:ext uri="{FF2B5EF4-FFF2-40B4-BE49-F238E27FC236}">
                <a16:creationId xmlns:a16="http://schemas.microsoft.com/office/drawing/2014/main" id="{CA1B4386-C78E-4AD2-87EA-281DDCEA8070}"/>
              </a:ext>
            </a:extLst>
          </p:cNvPr>
          <p:cNvSpPr>
            <a:spLocks xmlns:a="http://schemas.openxmlformats.org/drawingml/2006/main" noGrp="1"/>
          </p:cNvSpPr>
          <p:nvPr/>
        </p:nvSpPr>
        <p:spPr>
          <a:xfrm xmlns:a="http://schemas.openxmlformats.org/drawingml/2006/main">
            <a:off x="552450" y="4686300"/>
            <a:ext cx="990600" cy="723900"/>
          </a:xfrm>
          <a:prstGeom xmlns:a="http://schemas.openxmlformats.org/drawingml/2006/main" prst="rect">
            <a:avLst/>
          </a:prstGeom>
          <a:solidFill xmlns:a="http://schemas.openxmlformats.org/drawingml/2006/main">
            <a:srgbClr val="00A89D"/>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334BE1D-4F77-4FAD-8F88-0BC8EF957E45}"/>
              </a:ext>
            </a:extLst>
          </p:cNvPr>
          <p:cNvSpPr>
            <a:spLocks xmlns:a="http://schemas.openxmlformats.org/drawingml/2006/main" noGrp="1"/>
          </p:cNvSpPr>
          <p:nvPr/>
        </p:nvSpPr>
        <p:spPr>
          <a:xfrm xmlns:a="http://schemas.openxmlformats.org/drawingml/2006/main">
            <a:off x="619125" y="4772025"/>
            <a:ext cx="857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Yu Gothic"/>
                <a:ea typeface="Yu Gothic"/>
                <a:cs typeface="Yu Gothic"/>
              </a:defRPr>
            </a:pPr>
            <a:r>
              <a:rPr sz="900" b="1" i="0">
                <a:solidFill>
                  <a:srgbClr val="FFFFFF"/>
                </a:solidFill>
                <a:latin typeface="Yu Gothic"/>
                <a:ea typeface="Yu Gothic"/>
                <a:cs typeface="Yu Gothic"/>
              </a:rPr>
              <a:t>Domain / I/O</a:t>
            </a:r>
          </a:p>
        </p:txBody>
      </p:sp>
      <p:sp>
        <p:nvSpPr>
          <p:cNvPr id="32" name="">
            <a:extLst xmlns:a="http://schemas.openxmlformats.org/drawingml/2006/main">
              <a:ext uri="{FF2B5EF4-FFF2-40B4-BE49-F238E27FC236}">
                <a16:creationId xmlns:a16="http://schemas.microsoft.com/office/drawing/2014/main" id="{E8BE7862-027E-4413-984D-F7636F9121A6}"/>
              </a:ext>
            </a:extLst>
          </p:cNvPr>
          <p:cNvSpPr>
            <a:spLocks xmlns:a="http://schemas.openxmlformats.org/drawingml/2006/main" noGrp="1"/>
          </p:cNvSpPr>
          <p:nvPr/>
        </p:nvSpPr>
        <p:spPr>
          <a:xfrm xmlns:a="http://schemas.openxmlformats.org/drawingml/2006/main">
            <a:off x="1743075" y="47625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00A89D"/>
                </a:solidFill>
                <a:latin typeface="Yu Gothic"/>
                <a:ea typeface="Yu Gothic"/>
                <a:cs typeface="Yu Gothic"/>
              </a:defRPr>
            </a:pPr>
            <a:r>
              <a:rPr sz="1125" b="1" i="0">
                <a:solidFill>
                  <a:srgbClr val="00A89D"/>
                </a:solidFill>
                <a:latin typeface="Yu Gothic"/>
                <a:ea typeface="Yu Gothic"/>
                <a:cs typeface="Yu Gothic"/>
              </a:rPr>
              <a:t>domain/  +  io/  +  config.py</a:t>
            </a:r>
          </a:p>
        </p:txBody>
      </p:sp>
      <p:sp>
        <p:nvSpPr>
          <p:cNvPr id="33" name="">
            <a:extLst xmlns:a="http://schemas.openxmlformats.org/drawingml/2006/main">
              <a:ext uri="{FF2B5EF4-FFF2-40B4-BE49-F238E27FC236}">
                <a16:creationId xmlns:a16="http://schemas.microsoft.com/office/drawing/2014/main" id="{EF28D7E2-861A-46B2-A636-D2205C931FF0}"/>
              </a:ext>
            </a:extLst>
          </p:cNvPr>
          <p:cNvSpPr>
            <a:spLocks xmlns:a="http://schemas.openxmlformats.org/drawingml/2006/main" noGrp="1"/>
          </p:cNvSpPr>
          <p:nvPr/>
        </p:nvSpPr>
        <p:spPr>
          <a:xfrm xmlns:a="http://schemas.openxmlformats.org/drawingml/2006/main">
            <a:off x="3981450" y="4762500"/>
            <a:ext cx="3714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Trajectory、ThermalSystemSpec、CSV/YAML schema、validation</a:t>
            </a:r>
          </a:p>
        </p:txBody>
      </p:sp>
      <p:cxnSp>
        <p:nvCxnSpPr>
          <p:cNvPr id="90" name=""/>
          <p:cNvCxnSpPr>
            <a:stCxn xmlns:a="http://schemas.openxmlformats.org/drawingml/2006/main" id="9" idx="2"/>
            <a:endCxn xmlns:a="http://schemas.openxmlformats.org/drawingml/2006/main" id="14" idx="0"/>
          </p:cNvCxnSpPr>
          <p:nvPr/>
        </p:nvCxnSpPr>
        <p:spPr>
          <a:xfrm xmlns:a="http://schemas.openxmlformats.org/drawingml/2006/main">
            <a:off x="4219575" y="2019300"/>
            <a:ext cx="0" cy="123825"/>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1" name=""/>
          <p:cNvCxnSpPr>
            <a:stCxn xmlns:a="http://schemas.openxmlformats.org/drawingml/2006/main" id="14" idx="2"/>
            <a:endCxn xmlns:a="http://schemas.openxmlformats.org/drawingml/2006/main" id="19" idx="0"/>
          </p:cNvCxnSpPr>
          <p:nvPr/>
        </p:nvCxnSpPr>
        <p:spPr>
          <a:xfrm xmlns:a="http://schemas.openxmlformats.org/drawingml/2006/main">
            <a:off x="4219575" y="2867025"/>
            <a:ext cx="0" cy="123825"/>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2" name=""/>
          <p:cNvCxnSpPr>
            <a:stCxn xmlns:a="http://schemas.openxmlformats.org/drawingml/2006/main" id="19" idx="2"/>
            <a:endCxn xmlns:a="http://schemas.openxmlformats.org/drawingml/2006/main" id="24" idx="0"/>
          </p:cNvCxnSpPr>
          <p:nvPr/>
        </p:nvCxnSpPr>
        <p:spPr>
          <a:xfrm xmlns:a="http://schemas.openxmlformats.org/drawingml/2006/main">
            <a:off x="4219575" y="3714750"/>
            <a:ext cx="0" cy="123825"/>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3" name=""/>
          <p:cNvCxnSpPr>
            <a:stCxn xmlns:a="http://schemas.openxmlformats.org/drawingml/2006/main" id="24" idx="2"/>
            <a:endCxn xmlns:a="http://schemas.openxmlformats.org/drawingml/2006/main" id="29" idx="0"/>
          </p:cNvCxnSpPr>
          <p:nvPr/>
        </p:nvCxnSpPr>
        <p:spPr>
          <a:xfrm xmlns:a="http://schemas.openxmlformats.org/drawingml/2006/main">
            <a:off x="4219575" y="4562475"/>
            <a:ext cx="0" cy="123825"/>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sp>
        <p:nvSpPr>
          <p:cNvPr id="38" name="">
            <a:extLst xmlns:a="http://schemas.openxmlformats.org/drawingml/2006/main">
              <a:ext uri="{FF2B5EF4-FFF2-40B4-BE49-F238E27FC236}">
                <a16:creationId xmlns:a16="http://schemas.microsoft.com/office/drawing/2014/main" id="{D9468E2A-1466-45B9-AE31-FD836C0EAAFD}"/>
              </a:ext>
            </a:extLst>
          </p:cNvPr>
          <p:cNvSpPr>
            <a:spLocks xmlns:a="http://schemas.openxmlformats.org/drawingml/2006/main" noGrp="1"/>
          </p:cNvSpPr>
          <p:nvPr/>
        </p:nvSpPr>
        <p:spPr>
          <a:xfrm xmlns:a="http://schemas.openxmlformats.org/drawingml/2006/main">
            <a:off x="8267700" y="1438275"/>
            <a:ext cx="3371850" cy="17430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39" name="">
            <a:extLst xmlns:a="http://schemas.openxmlformats.org/drawingml/2006/main">
              <a:ext uri="{FF2B5EF4-FFF2-40B4-BE49-F238E27FC236}">
                <a16:creationId xmlns:a16="http://schemas.microsoft.com/office/drawing/2014/main" id="{666DA6FC-5A3A-4542-8B56-8792E42E460E}"/>
              </a:ext>
            </a:extLst>
          </p:cNvPr>
          <p:cNvSpPr>
            <a:spLocks xmlns:a="http://schemas.openxmlformats.org/drawingml/2006/main" noGrp="1"/>
          </p:cNvSpPr>
          <p:nvPr/>
        </p:nvSpPr>
        <p:spPr>
          <a:xfrm xmlns:a="http://schemas.openxmlformats.org/drawingml/2006/main">
            <a:off x="8467725" y="16192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独立配備artifact</a:t>
            </a:r>
          </a:p>
        </p:txBody>
      </p:sp>
      <p:sp>
        <p:nvSpPr>
          <p:cNvPr id="40" name="">
            <a:extLst xmlns:a="http://schemas.openxmlformats.org/drawingml/2006/main">
              <a:ext uri="{FF2B5EF4-FFF2-40B4-BE49-F238E27FC236}">
                <a16:creationId xmlns:a16="http://schemas.microsoft.com/office/drawing/2014/main" id="{C190A835-443F-4057-95C4-A0CADE929B92}"/>
              </a:ext>
            </a:extLst>
          </p:cNvPr>
          <p:cNvSpPr>
            <a:spLocks xmlns:a="http://schemas.openxmlformats.org/drawingml/2006/main" noGrp="1"/>
          </p:cNvSpPr>
          <p:nvPr/>
        </p:nvSpPr>
        <p:spPr>
          <a:xfrm xmlns:a="http://schemas.openxmlformats.org/drawingml/2006/main">
            <a:off x="8467725" y="2038350"/>
            <a:ext cx="1066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model.pt</a:t>
            </a:r>
          </a:p>
        </p:txBody>
      </p:sp>
      <p:sp>
        <p:nvSpPr>
          <p:cNvPr id="41" name="">
            <a:extLst xmlns:a="http://schemas.openxmlformats.org/drawingml/2006/main">
              <a:ext uri="{FF2B5EF4-FFF2-40B4-BE49-F238E27FC236}">
                <a16:creationId xmlns:a16="http://schemas.microsoft.com/office/drawing/2014/main" id="{21D26BDF-A0F1-4D88-BD74-90940C8146EA}"/>
              </a:ext>
            </a:extLst>
          </p:cNvPr>
          <p:cNvSpPr>
            <a:spLocks xmlns:a="http://schemas.openxmlformats.org/drawingml/2006/main" noGrp="1"/>
          </p:cNvSpPr>
          <p:nvPr/>
        </p:nvSpPr>
        <p:spPr>
          <a:xfrm xmlns:a="http://schemas.openxmlformats.org/drawingml/2006/main">
            <a:off x="9563100" y="2038350"/>
            <a:ext cx="1866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learned state_dict</a:t>
            </a:r>
          </a:p>
        </p:txBody>
      </p:sp>
      <p:sp>
        <p:nvSpPr>
          <p:cNvPr id="42" name="">
            <a:extLst xmlns:a="http://schemas.openxmlformats.org/drawingml/2006/main">
              <a:ext uri="{FF2B5EF4-FFF2-40B4-BE49-F238E27FC236}">
                <a16:creationId xmlns:a16="http://schemas.microsoft.com/office/drawing/2014/main" id="{908117CC-58A1-454A-8607-1B06BE093D04}"/>
              </a:ext>
            </a:extLst>
          </p:cNvPr>
          <p:cNvSpPr>
            <a:spLocks xmlns:a="http://schemas.openxmlformats.org/drawingml/2006/main" noGrp="1"/>
          </p:cNvSpPr>
          <p:nvPr/>
        </p:nvSpPr>
        <p:spPr>
          <a:xfrm xmlns:a="http://schemas.openxmlformats.org/drawingml/2006/main">
            <a:off x="8467725" y="2362200"/>
            <a:ext cx="1066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system.yaml</a:t>
            </a:r>
          </a:p>
        </p:txBody>
      </p:sp>
      <p:sp>
        <p:nvSpPr>
          <p:cNvPr id="43" name="">
            <a:extLst xmlns:a="http://schemas.openxmlformats.org/drawingml/2006/main">
              <a:ext uri="{FF2B5EF4-FFF2-40B4-BE49-F238E27FC236}">
                <a16:creationId xmlns:a16="http://schemas.microsoft.com/office/drawing/2014/main" id="{01C8BF8D-9451-474B-8D90-E85F53C5C361}"/>
              </a:ext>
            </a:extLst>
          </p:cNvPr>
          <p:cNvSpPr>
            <a:spLocks xmlns:a="http://schemas.openxmlformats.org/drawingml/2006/main" noGrp="1"/>
          </p:cNvSpPr>
          <p:nvPr/>
        </p:nvSpPr>
        <p:spPr>
          <a:xfrm xmlns:a="http://schemas.openxmlformats.org/drawingml/2006/main">
            <a:off x="9563100" y="2362200"/>
            <a:ext cx="1866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topology / capacity / priors</a:t>
            </a:r>
          </a:p>
        </p:txBody>
      </p:sp>
      <p:sp>
        <p:nvSpPr>
          <p:cNvPr id="44" name="">
            <a:extLst xmlns:a="http://schemas.openxmlformats.org/drawingml/2006/main">
              <a:ext uri="{FF2B5EF4-FFF2-40B4-BE49-F238E27FC236}">
                <a16:creationId xmlns:a16="http://schemas.microsoft.com/office/drawing/2014/main" id="{2EC343D4-E8BA-4486-832F-E17A1C75DDCA}"/>
              </a:ext>
            </a:extLst>
          </p:cNvPr>
          <p:cNvSpPr>
            <a:spLocks xmlns:a="http://schemas.openxmlformats.org/drawingml/2006/main" noGrp="1"/>
          </p:cNvSpPr>
          <p:nvPr/>
        </p:nvSpPr>
        <p:spPr>
          <a:xfrm xmlns:a="http://schemas.openxmlformats.org/drawingml/2006/main">
            <a:off x="8467725" y="2686050"/>
            <a:ext cx="1066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metadata.json</a:t>
            </a:r>
          </a:p>
        </p:txBody>
      </p:sp>
      <p:sp>
        <p:nvSpPr>
          <p:cNvPr id="45" name="">
            <a:extLst xmlns:a="http://schemas.openxmlformats.org/drawingml/2006/main">
              <a:ext uri="{FF2B5EF4-FFF2-40B4-BE49-F238E27FC236}">
                <a16:creationId xmlns:a16="http://schemas.microsoft.com/office/drawing/2014/main" id="{F970693D-C463-472B-A914-4A182B873DF4}"/>
              </a:ext>
            </a:extLst>
          </p:cNvPr>
          <p:cNvSpPr>
            <a:spLocks xmlns:a="http://schemas.openxmlformats.org/drawingml/2006/main" noGrp="1"/>
          </p:cNvSpPr>
          <p:nvPr/>
        </p:nvSpPr>
        <p:spPr>
          <a:xfrm xmlns:a="http://schemas.openxmlformats.org/drawingml/2006/main">
            <a:off x="9563100" y="2686050"/>
            <a:ext cx="1866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schema / fitted values / SHA-256</a:t>
            </a:r>
          </a:p>
        </p:txBody>
      </p:sp>
      <p:sp>
        <p:nvSpPr>
          <p:cNvPr id="46" name="">
            <a:extLst xmlns:a="http://schemas.openxmlformats.org/drawingml/2006/main">
              <a:ext uri="{FF2B5EF4-FFF2-40B4-BE49-F238E27FC236}">
                <a16:creationId xmlns:a16="http://schemas.microsoft.com/office/drawing/2014/main" id="{83EFC6EA-60DA-46DB-A049-1DB7FE8C2713}"/>
              </a:ext>
            </a:extLst>
          </p:cNvPr>
          <p:cNvSpPr>
            <a:spLocks xmlns:a="http://schemas.openxmlformats.org/drawingml/2006/main" noGrp="1"/>
          </p:cNvSpPr>
          <p:nvPr/>
        </p:nvSpPr>
        <p:spPr>
          <a:xfrm xmlns:a="http://schemas.openxmlformats.org/drawingml/2006/main">
            <a:off x="8267700" y="3352800"/>
            <a:ext cx="3371850" cy="1143000"/>
          </a:xfrm>
          <a:prstGeom xmlns:a="http://schemas.openxmlformats.org/drawingml/2006/main" prst="rect">
            <a:avLst/>
          </a:prstGeom>
          <a:solidFill xmlns:a="http://schemas.openxmlformats.org/drawingml/2006/main">
            <a:srgbClr val="E5F6FB"/>
          </a:solidFill>
          <a:ln xmlns:a="http://schemas.openxmlformats.org/drawingml/2006/main" w="9525">
            <a:solidFill>
              <a:srgbClr val="00A5D8"/>
            </a:solidFill>
            <a:prstDash val="solid"/>
          </a:ln>
        </p:spPr>
      </p:sp>
      <p:cxnSp>
        <p:nvCxnSpPr>
          <p:cNvPr id="103" name=""/>
          <p:cNvCxnSpPr>
            <a:stCxn xmlns:a="http://schemas.openxmlformats.org/drawingml/2006/main" id="19" idx="3"/>
            <a:endCxn xmlns:a="http://schemas.openxmlformats.org/drawingml/2006/main" id="46" idx="1"/>
          </p:cNvCxnSpPr>
          <p:nvPr/>
        </p:nvCxnSpPr>
        <p:spPr>
          <a:xfrm xmlns:a="http://schemas.openxmlformats.org/drawingml/2006/main">
            <a:off x="7886700" y="3352800"/>
            <a:ext cx="381000" cy="571500"/>
          </a:xfrm>
          <a:prstGeom xmlns:a="http://schemas.openxmlformats.org/drawingml/2006/main" prst="straightConnector1">
            <a:avLst/>
          </a:prstGeom>
          <a:ln xmlns:a="http://schemas.openxmlformats.org/drawingml/2006/main" w="19050">
            <a:solidFill>
              <a:srgbClr val="00A5D8"/>
            </a:solidFill>
            <a:prstDash val="solid"/>
            <a:tailEnd type="triangle" w="sm" len="sm"/>
          </a:ln>
        </p:spPr>
      </p:cxnSp>
      <p:sp>
        <p:nvSpPr>
          <p:cNvPr id="48" name="">
            <a:extLst xmlns:a="http://schemas.openxmlformats.org/drawingml/2006/main">
              <a:ext uri="{FF2B5EF4-FFF2-40B4-BE49-F238E27FC236}">
                <a16:creationId xmlns:a16="http://schemas.microsoft.com/office/drawing/2014/main" id="{4775F932-2CD6-4E05-A07F-0A1C33BFAE28}"/>
              </a:ext>
            </a:extLst>
          </p:cNvPr>
          <p:cNvSpPr>
            <a:spLocks xmlns:a="http://schemas.openxmlformats.org/drawingml/2006/main" noGrp="1"/>
          </p:cNvSpPr>
          <p:nvPr/>
        </p:nvSpPr>
        <p:spPr>
          <a:xfrm xmlns:a="http://schemas.openxmlformats.org/drawingml/2006/main">
            <a:off x="8467725" y="3505200"/>
            <a:ext cx="295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007FA8"/>
                </a:solidFill>
                <a:latin typeface="Yu Gothic"/>
                <a:ea typeface="Yu Gothic"/>
                <a:cs typeface="Yu Gothic"/>
              </a:defRPr>
            </a:pPr>
            <a:r>
              <a:rPr sz="1200" b="1" i="0">
                <a:solidFill>
                  <a:srgbClr val="007FA8"/>
                </a:solidFill>
                <a:latin typeface="Yu Gothic"/>
                <a:ea typeface="Yu Gothic"/>
                <a:cs typeface="Yu Gothic"/>
              </a:rPr>
              <a:t>runtime data contract</a:t>
            </a:r>
          </a:p>
        </p:txBody>
      </p:sp>
      <p:sp>
        <p:nvSpPr>
          <p:cNvPr id="49" name="">
            <a:extLst xmlns:a="http://schemas.openxmlformats.org/drawingml/2006/main">
              <a:ext uri="{FF2B5EF4-FFF2-40B4-BE49-F238E27FC236}">
                <a16:creationId xmlns:a16="http://schemas.microsoft.com/office/drawing/2014/main" id="{0E1AEDF1-FC4D-4AA4-9DEB-8F760D7E8D5C}"/>
              </a:ext>
            </a:extLst>
          </p:cNvPr>
          <p:cNvSpPr>
            <a:spLocks xmlns:a="http://schemas.openxmlformats.org/drawingml/2006/main" noGrp="1"/>
          </p:cNvSpPr>
          <p:nvPr/>
        </p:nvSpPr>
        <p:spPr>
          <a:xfrm xmlns:a="http://schemas.openxmlformats.org/drawingml/2006/main">
            <a:off x="8467725" y="3829050"/>
            <a:ext cx="295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75" b="0" i="0">
                <a:solidFill>
                  <a:srgbClr val="5B5B5B"/>
                </a:solidFill>
                <a:latin typeface="Cambria Math"/>
                <a:ea typeface="Cambria Math"/>
                <a:cs typeface="Cambria Math"/>
              </a:defRPr>
            </a:pPr>
            <a:r>
              <a:rPr sz="975" b="0" i="0">
                <a:solidFill>
                  <a:srgbClr val="5B5B5B"/>
                </a:solidFill>
                <a:latin typeface="Cambria Math"/>
                <a:ea typeface="Cambria Math"/>
                <a:cs typeface="Cambria Math"/>
              </a:rPr>
              <a:t>Trajectory = time[N] + temperature[N,S]</a:t>
            </a:r>
          </a:p>
          <a:p xmlns:a="http://schemas.openxmlformats.org/drawingml/2006/main">
            <a:pPr algn="ctr">
              <a:lnSpc>
                <a:spcPct val="108000"/>
              </a:lnSpc>
              <a:buNone/>
              <a:defRPr sz="975" b="0" i="0">
                <a:solidFill>
                  <a:srgbClr val="5B5B5B"/>
                </a:solidFill>
                <a:latin typeface="Cambria Math"/>
                <a:ea typeface="Cambria Math"/>
                <a:cs typeface="Cambria Math"/>
              </a:defRPr>
            </a:pPr>
            <a:r>
              <a:rPr sz="975" b="0" i="0">
                <a:solidFill>
                  <a:srgbClr val="5B5B5B"/>
                </a:solidFill>
                <a:latin typeface="Cambria Math"/>
                <a:ea typeface="Cambria Math"/>
                <a:cs typeface="Cambria Math"/>
              </a:rPr>
              <a:t>+ commands[N−1,U] + mask[N,S]</a:t>
            </a:r>
          </a:p>
        </p:txBody>
      </p:sp>
      <p:sp>
        <p:nvSpPr>
          <p:cNvPr id="50" name="">
            <a:extLst xmlns:a="http://schemas.openxmlformats.org/drawingml/2006/main">
              <a:ext uri="{FF2B5EF4-FFF2-40B4-BE49-F238E27FC236}">
                <a16:creationId xmlns:a16="http://schemas.microsoft.com/office/drawing/2014/main" id="{3CF6B13E-4A7F-4F9C-BF92-23EC349FC003}"/>
              </a:ext>
            </a:extLst>
          </p:cNvPr>
          <p:cNvSpPr>
            <a:spLocks xmlns:a="http://schemas.openxmlformats.org/drawingml/2006/main" noGrp="1"/>
          </p:cNvSpPr>
          <p:nvPr/>
        </p:nvSpPr>
        <p:spPr>
          <a:xfrm xmlns:a="http://schemas.openxmlformats.org/drawingml/2006/main">
            <a:off x="8267700" y="4686300"/>
            <a:ext cx="3371850" cy="723900"/>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51" name="">
            <a:extLst xmlns:a="http://schemas.openxmlformats.org/drawingml/2006/main">
              <a:ext uri="{FF2B5EF4-FFF2-40B4-BE49-F238E27FC236}">
                <a16:creationId xmlns:a16="http://schemas.microsoft.com/office/drawing/2014/main" id="{CC534312-71E9-4980-A7A4-B2B26B681303}"/>
              </a:ext>
            </a:extLst>
          </p:cNvPr>
          <p:cNvSpPr>
            <a:spLocks xmlns:a="http://schemas.openxmlformats.org/drawingml/2006/main" noGrp="1"/>
          </p:cNvSpPr>
          <p:nvPr/>
        </p:nvSpPr>
        <p:spPr>
          <a:xfrm xmlns:a="http://schemas.openxmlformats.org/drawingml/2006/main">
            <a:off x="8448675" y="480060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4D8710"/>
                </a:solidFill>
                <a:latin typeface="Yu Gothic"/>
                <a:ea typeface="Yu Gothic"/>
                <a:cs typeface="Yu Gothic"/>
              </a:defRPr>
            </a:pPr>
            <a:r>
              <a:rPr sz="938" b="1" i="0">
                <a:solidFill>
                  <a:srgbClr val="4D8710"/>
                </a:solidFill>
                <a:latin typeface="Yu Gothic"/>
                <a:ea typeface="Yu Gothic"/>
                <a:cs typeface="Yu Gothic"/>
              </a:rPr>
              <a:t>外部境界</a:t>
            </a:r>
          </a:p>
        </p:txBody>
      </p:sp>
      <p:sp>
        <p:nvSpPr>
          <p:cNvPr id="52" name="">
            <a:extLst xmlns:a="http://schemas.openxmlformats.org/drawingml/2006/main">
              <a:ext uri="{FF2B5EF4-FFF2-40B4-BE49-F238E27FC236}">
                <a16:creationId xmlns:a16="http://schemas.microsoft.com/office/drawing/2014/main" id="{77C473D0-88CC-402D-9B06-93882A58A088}"/>
              </a:ext>
            </a:extLst>
          </p:cNvPr>
          <p:cNvSpPr>
            <a:spLocks xmlns:a="http://schemas.openxmlformats.org/drawingml/2006/main" noGrp="1"/>
          </p:cNvSpPr>
          <p:nvPr/>
        </p:nvSpPr>
        <p:spPr>
          <a:xfrm xmlns:a="http://schemas.openxmlformats.org/drawingml/2006/main">
            <a:off x="9239250" y="47910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CAE・実験adapter / benchmark / report</a:t>
            </a:r>
          </a:p>
        </p:txBody>
      </p:sp>
      <p:sp>
        <p:nvSpPr>
          <p:cNvPr id="53" name="">
            <a:extLst xmlns:a="http://schemas.openxmlformats.org/drawingml/2006/main">
              <a:ext uri="{FF2B5EF4-FFF2-40B4-BE49-F238E27FC236}">
                <a16:creationId xmlns:a16="http://schemas.microsoft.com/office/drawing/2014/main" id="{6A1283AA-3E79-4469-B955-0D47B088225F}"/>
              </a:ext>
            </a:extLst>
          </p:cNvPr>
          <p:cNvSpPr>
            <a:spLocks xmlns:a="http://schemas.openxmlformats.org/drawingml/2006/main" noGrp="1"/>
          </p:cNvSpPr>
          <p:nvPr/>
        </p:nvSpPr>
        <p:spPr>
          <a:xfrm xmlns:a="http://schemas.openxmlformats.org/drawingml/2006/main">
            <a:off x="8448675" y="5067300"/>
            <a:ext cx="29813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03" b="0" i="0">
                <a:solidFill>
                  <a:srgbClr val="777777"/>
                </a:solidFill>
                <a:latin typeface="Yu Gothic"/>
                <a:ea typeface="Yu Gothic"/>
                <a:cs typeface="Yu Gothic"/>
              </a:defRPr>
            </a:pPr>
            <a:r>
              <a:rPr sz="803" b="0" i="0">
                <a:solidFill>
                  <a:srgbClr val="777777"/>
                </a:solidFill>
                <a:latin typeface="Yu Gothic"/>
                <a:ea typeface="Yu Gothic"/>
                <a:cs typeface="Yu Gothic"/>
              </a:rPr>
              <a:t>coreはCOMSOL製品・geometry・合否閾値へ依存しない</a:t>
            </a:r>
          </a:p>
        </p:txBody>
      </p:sp>
      <p:sp>
        <p:nvSpPr>
          <p:cNvPr id="54" name="">
            <a:extLst xmlns:a="http://schemas.openxmlformats.org/drawingml/2006/main">
              <a:ext uri="{FF2B5EF4-FFF2-40B4-BE49-F238E27FC236}">
                <a16:creationId xmlns:a16="http://schemas.microsoft.com/office/drawing/2014/main" id="{157D8760-0454-4683-85E9-ABA6E476AFD0}"/>
              </a:ext>
            </a:extLst>
          </p:cNvPr>
          <p:cNvSpPr>
            <a:spLocks xmlns:a="http://schemas.openxmlformats.org/drawingml/2006/main" noGrp="1"/>
          </p:cNvSpPr>
          <p:nvPr/>
        </p:nvSpPr>
        <p:spPr>
          <a:xfrm xmlns:a="http://schemas.openxmlformats.org/drawingml/2006/main">
            <a:off x="552450" y="5657850"/>
            <a:ext cx="11087100" cy="590550"/>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6CE64590-982E-40BE-B817-5F819B36CF38}"/>
              </a:ext>
            </a:extLst>
          </p:cNvPr>
          <p:cNvSpPr>
            <a:spLocks xmlns:a="http://schemas.openxmlformats.org/drawingml/2006/main" noGrp="1"/>
          </p:cNvSpPr>
          <p:nvPr/>
        </p:nvSpPr>
        <p:spPr>
          <a:xfrm xmlns:a="http://schemas.openxmlformats.org/drawingml/2006/main">
            <a:off x="723900" y="5810250"/>
            <a:ext cx="904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76BE18"/>
                </a:solidFill>
                <a:latin typeface="Yu Gothic"/>
                <a:ea typeface="Yu Gothic"/>
                <a:cs typeface="Yu Gothic"/>
              </a:defRPr>
            </a:pPr>
            <a:r>
              <a:rPr sz="825" b="1" i="0">
                <a:solidFill>
                  <a:srgbClr val="76BE18"/>
                </a:solidFill>
                <a:latin typeface="Yu Gothic"/>
                <a:ea typeface="Yu Gothic"/>
                <a:cs typeface="Yu Gothic"/>
              </a:rPr>
              <a:t>dependency</a:t>
            </a:r>
          </a:p>
        </p:txBody>
      </p:sp>
      <p:sp>
        <p:nvSpPr>
          <p:cNvPr id="56" name="">
            <a:extLst xmlns:a="http://schemas.openxmlformats.org/drawingml/2006/main">
              <a:ext uri="{FF2B5EF4-FFF2-40B4-BE49-F238E27FC236}">
                <a16:creationId xmlns:a16="http://schemas.microsoft.com/office/drawing/2014/main" id="{D1DC7823-A3DD-42D5-8DCE-D39C1439CBA3}"/>
              </a:ext>
            </a:extLst>
          </p:cNvPr>
          <p:cNvSpPr>
            <a:spLocks xmlns:a="http://schemas.openxmlformats.org/drawingml/2006/main" noGrp="1"/>
          </p:cNvSpPr>
          <p:nvPr/>
        </p:nvSpPr>
        <p:spPr>
          <a:xfrm xmlns:a="http://schemas.openxmlformats.org/drawingml/2006/main">
            <a:off x="1657350" y="5753100"/>
            <a:ext cx="9734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FFFFFF"/>
                </a:solidFill>
                <a:latin typeface="Cambria Math"/>
                <a:ea typeface="Cambria Math"/>
                <a:cs typeface="Cambria Math"/>
              </a:defRPr>
            </a:pPr>
            <a:r>
              <a:rPr sz="1275" b="1" i="0">
                <a:solidFill>
                  <a:srgbClr val="FFFFFF"/>
                </a:solidFill>
                <a:latin typeface="Cambria Math"/>
                <a:ea typeface="Cambria Math"/>
                <a:cs typeface="Cambria Math"/>
              </a:rPr>
              <a:t>cli  →  workflows  →  artifact / learning / inference  →  engine / io  →  domain / config</a:t>
            </a:r>
          </a:p>
        </p:txBody>
      </p:sp>
    </p:spTree>
    <p:extLst>
      <p:ext uri="{BB962C8B-B14F-4D97-AF65-F5344CB8AC3E}">
        <p14:creationId xmlns:p14="http://schemas.microsoft.com/office/powerpoint/2010/main" val="3659889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657AE45-DD7D-4DE4-9939-D2CF3292BB29}"/>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42505EE-C4A1-442E-A526-A7A327C40D8A}"/>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PLATFORM CAPABILITY</a:t>
            </a:r>
          </a:p>
        </p:txBody>
      </p:sp>
      <p:sp>
        <p:nvSpPr>
          <p:cNvPr id="3" name="">
            <a:extLst xmlns:a="http://schemas.openxmlformats.org/drawingml/2006/main">
              <a:ext uri="{FF2B5EF4-FFF2-40B4-BE49-F238E27FC236}">
                <a16:creationId xmlns:a16="http://schemas.microsoft.com/office/drawing/2014/main" id="{EAA3AD68-27DC-45C5-B5BA-0DAB832FA71A}"/>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共通のThermalRCModelとartifactから、設計・予測・監視・評価を分岐させる</a:t>
            </a:r>
          </a:p>
        </p:txBody>
      </p:sp>
      <p:sp>
        <p:nvSpPr>
          <p:cNvPr id="4" name="">
            <a:extLst xmlns:a="http://schemas.openxmlformats.org/drawingml/2006/main">
              <a:ext uri="{FF2B5EF4-FFF2-40B4-BE49-F238E27FC236}">
                <a16:creationId xmlns:a16="http://schemas.microsoft.com/office/drawing/2014/main" id="{69614E64-89F7-4E10-96F1-AF3697A15466}"/>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実装済み機能と将来拡張を分け、再利用できる基盤の範囲を明示する</a:t>
            </a:r>
          </a:p>
        </p:txBody>
      </p:sp>
      <p:sp>
        <p:nvSpPr>
          <p:cNvPr id="5" name="">
            <a:extLst xmlns:a="http://schemas.openxmlformats.org/drawingml/2006/main">
              <a:ext uri="{FF2B5EF4-FFF2-40B4-BE49-F238E27FC236}">
                <a16:creationId xmlns:a16="http://schemas.microsoft.com/office/drawing/2014/main" id="{AA4F5954-51CF-4357-B8BD-E133CE2479FB}"/>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46DDE8D5-A6E1-49E5-877F-469C7BCD815A}"/>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C9C06B2A-5AE9-4079-BD7A-95145490D647}"/>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D802DC4A-C065-448E-8DC1-A6E4E307401E}"/>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5</a:t>
            </a:r>
          </a:p>
        </p:txBody>
      </p:sp>
      <p:graphicFrame>
        <p:nvGraphicFramePr>
          <p:cNvPr id="32" name=""/>
          <p:cNvGraphicFramePr/>
          <p:nvPr/>
        </p:nvGraphicFramePr>
        <p:xfrm>
          <a:off xmlns:a="http://schemas.openxmlformats.org/drawingml/2006/main" x="552450" y="1457325"/>
          <a:ext xmlns:a="http://schemas.openxmlformats.org/drawingml/2006/main" cx="11087100" cy="3124200"/>
        </p:xfrm>
        <a:graphic xmlns:a="http://schemas.openxmlformats.org/drawingml/2006/main">
          <a:graphicData uri="http://schemas.openxmlformats.org/drawingml/2006/table">
            <a:tbl>
              <a:tblPr/>
              <a:tblGrid>
                <a:gridCol w="1485900"/>
                <a:gridCol w="2143125"/>
                <a:gridCol w="3305175"/>
                <a:gridCol w="2781300"/>
                <a:gridCol w="1371600"/>
              </a:tblGrid>
              <a:tr h="520700">
                <a:tc>
                  <a:txBody>
                    <a:bodyPr/>
                    <a:lstStyle/>
                    <a:p>
                      <a:r>
                        <a:rPr sz="938" b="1">
                          <a:solidFill>
                            <a:srgbClr val="FFFFFF"/>
                          </a:solidFill>
                          <a:latin typeface="Yu Gothic"/>
                          <a:ea typeface="Yu Gothic"/>
                          <a:cs typeface="Yu Gothic"/>
                        </a:rPr>
                        <a:t>利用場面</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入口</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基盤が行うこと</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成果物 / 判断</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状態</a:t>
                      </a:r>
                    </a:p>
                  </a:txBody>
                  <a:tcPr marL="91440" marR="91440" marT="45720" marB="45720">
                    <a:solidFill>
                      <a:srgbClr val="007FA8"/>
                    </a:solidFill>
                  </a:tcPr>
                </a:tc>
              </a:tr>
              <a:tr h="520700">
                <a:tc>
                  <a:txBody>
                    <a:bodyPr/>
                    <a:lstStyle/>
                    <a:p>
                      <a:r>
                        <a:rPr sz="855" b="1">
                          <a:solidFill>
                            <a:srgbClr val="007FA8"/>
                          </a:solidFill>
                          <a:latin typeface="Yu Gothic"/>
                          <a:ea typeface="Yu Gothic"/>
                          <a:cs typeface="Yu Gothic"/>
                        </a:rPr>
                        <a:t>Train</a:t>
                      </a:r>
                    </a:p>
                  </a:txBody>
                  <a:tcPr marL="91440" marR="91440" marT="45720" marB="45720">
                    <a:solidFill>
                      <a:srgbClr val="FFFFFF"/>
                    </a:solidFill>
                  </a:tcPr>
                </a:tc>
                <a:tc>
                  <a:txBody>
                    <a:bodyPr/>
                    <a:lstStyle/>
                    <a:p>
                      <a:r>
                        <a:rPr sz="855">
                          <a:solidFill>
                            <a:srgbClr val="5B5B5B"/>
                          </a:solidFill>
                          <a:latin typeface="Yu Gothic"/>
                          <a:ea typeface="Yu Gothic"/>
                          <a:cs typeface="Yu Gothic"/>
                        </a:rPr>
                        <a:t>CAE / 実験trajectory</a:t>
                      </a:r>
                    </a:p>
                  </a:txBody>
                  <a:tcPr marL="91440" marR="91440" marT="45720" marB="45720">
                    <a:solidFill>
                      <a:srgbClr val="FFFFFF"/>
                    </a:solidFill>
                  </a:tcPr>
                </a:tc>
                <a:tc>
                  <a:txBody>
                    <a:bodyPr/>
                    <a:lstStyle/>
                    <a:p>
                      <a:r>
                        <a:rPr sz="855">
                          <a:solidFill>
                            <a:srgbClr val="5B5B5B"/>
                          </a:solidFill>
                          <a:latin typeface="Yu Gothic"/>
                          <a:ea typeface="Yu Gothic"/>
                          <a:cs typeface="Yu Gothic"/>
                        </a:rPr>
                        <a:t>正値係数をcase-balanced rolloutで同定</a:t>
                      </a:r>
                    </a:p>
                  </a:txBody>
                  <a:tcPr marL="91440" marR="91440" marT="45720" marB="45720">
                    <a:solidFill>
                      <a:srgbClr val="FFFFFF"/>
                    </a:solidFill>
                  </a:tcPr>
                </a:tc>
                <a:tc>
                  <a:txBody>
                    <a:bodyPr/>
                    <a:lstStyle/>
                    <a:p>
                      <a:r>
                        <a:rPr sz="855">
                          <a:solidFill>
                            <a:srgbClr val="5B5B5B"/>
                          </a:solidFill>
                          <a:latin typeface="Yu Gothic"/>
                          <a:ea typeface="Yu Gothic"/>
                          <a:cs typeface="Yu Gothic"/>
                        </a:rPr>
                        <a:t>artifact、case/sensor指標</a:t>
                      </a:r>
                    </a:p>
                  </a:txBody>
                  <a:tcPr marL="91440" marR="91440" marT="45720" marB="45720">
                    <a:solidFill>
                      <a:srgbClr val="FFFFFF"/>
                    </a:solidFill>
                  </a:tcPr>
                </a:tc>
                <a:tc>
                  <a:txBody>
                    <a:bodyPr/>
                    <a:lstStyle/>
                    <a:p>
                      <a:r>
                        <a:rPr sz="855" b="1">
                          <a:solidFill>
                            <a:srgbClr val="4D8710"/>
                          </a:solidFill>
                          <a:latin typeface="Yu Gothic"/>
                          <a:ea typeface="Yu Gothic"/>
                          <a:cs typeface="Yu Gothic"/>
                        </a:rPr>
                        <a:t>実装済</a:t>
                      </a:r>
                    </a:p>
                  </a:txBody>
                  <a:tcPr marL="91440" marR="91440" marT="45720" marB="45720">
                    <a:solidFill>
                      <a:srgbClr val="FFFFFF"/>
                    </a:solidFill>
                  </a:tcPr>
                </a:tc>
              </a:tr>
              <a:tr h="520700">
                <a:tc>
                  <a:txBody>
                    <a:bodyPr/>
                    <a:lstStyle/>
                    <a:p>
                      <a:r>
                        <a:rPr sz="855" b="1">
                          <a:solidFill>
                            <a:srgbClr val="4D8710"/>
                          </a:solidFill>
                          <a:latin typeface="Yu Gothic"/>
                          <a:ea typeface="Yu Gothic"/>
                          <a:cs typeface="Yu Gothic"/>
                        </a:rPr>
                        <a:t>Forecast</a:t>
                      </a:r>
                    </a:p>
                  </a:txBody>
                  <a:tcPr marL="91440" marR="91440" marT="45720" marB="45720">
                    <a:solidFill>
                      <a:srgbClr val="F8F8F8"/>
                    </a:solidFill>
                  </a:tcPr>
                </a:tc>
                <a:tc>
                  <a:txBody>
                    <a:bodyPr/>
                    <a:lstStyle/>
                    <a:p>
                      <a:r>
                        <a:rPr sz="855">
                          <a:solidFill>
                            <a:srgbClr val="5B5B5B"/>
                          </a:solidFill>
                          <a:latin typeface="Yu Gothic"/>
                          <a:ea typeface="Yu Gothic"/>
                          <a:cs typeface="Yu Gothic"/>
                        </a:rPr>
                        <a:t>観測prefix + 将来command</a:t>
                      </a:r>
                    </a:p>
                  </a:txBody>
                  <a:tcPr marL="91440" marR="91440" marT="45720" marB="45720">
                    <a:solidFill>
                      <a:srgbClr val="F8F8F8"/>
                    </a:solidFill>
                  </a:tcPr>
                </a:tc>
                <a:tc>
                  <a:txBody>
                    <a:bodyPr/>
                    <a:lstStyle/>
                    <a:p>
                      <a:r>
                        <a:rPr sz="855">
                          <a:solidFill>
                            <a:srgbClr val="5B5B5B"/>
                          </a:solidFill>
                          <a:latin typeface="Yu Gothic"/>
                          <a:ea typeface="Yu Gothic"/>
                          <a:cs typeface="Yu Gothic"/>
                        </a:rPr>
                        <a:t>history posteriorからopen-loop予測</a:t>
                      </a:r>
                    </a:p>
                  </a:txBody>
                  <a:tcPr marL="91440" marR="91440" marT="45720" marB="45720">
                    <a:solidFill>
                      <a:srgbClr val="F8F8F8"/>
                    </a:solidFill>
                  </a:tcPr>
                </a:tc>
                <a:tc>
                  <a:txBody>
                    <a:bodyPr/>
                    <a:lstStyle/>
                    <a:p>
                      <a:r>
                        <a:rPr sz="855">
                          <a:solidFill>
                            <a:srgbClr val="5B5B5B"/>
                          </a:solidFill>
                          <a:latin typeface="Yu Gothic"/>
                          <a:ea typeface="Yu Gothic"/>
                          <a:cs typeface="Yu Gothic"/>
                        </a:rPr>
                        <a:t>温度、区間、coverage table</a:t>
                      </a:r>
                    </a:p>
                  </a:txBody>
                  <a:tcPr marL="91440" marR="91440" marT="45720" marB="45720">
                    <a:solidFill>
                      <a:srgbClr val="F8F8F8"/>
                    </a:solidFill>
                  </a:tcPr>
                </a:tc>
                <a:tc>
                  <a:txBody>
                    <a:bodyPr/>
                    <a:lstStyle/>
                    <a:p>
                      <a:r>
                        <a:rPr sz="855" b="1">
                          <a:solidFill>
                            <a:srgbClr val="4D8710"/>
                          </a:solidFill>
                          <a:latin typeface="Yu Gothic"/>
                          <a:ea typeface="Yu Gothic"/>
                          <a:cs typeface="Yu Gothic"/>
                        </a:rPr>
                        <a:t>実装済</a:t>
                      </a:r>
                    </a:p>
                  </a:txBody>
                  <a:tcPr marL="91440" marR="91440" marT="45720" marB="45720">
                    <a:solidFill>
                      <a:srgbClr val="F8F8F8"/>
                    </a:solidFill>
                  </a:tcPr>
                </a:tc>
              </a:tr>
              <a:tr h="520700">
                <a:tc>
                  <a:txBody>
                    <a:bodyPr/>
                    <a:lstStyle/>
                    <a:p>
                      <a:r>
                        <a:rPr sz="855" b="1">
                          <a:solidFill>
                            <a:srgbClr val="7B2DAF"/>
                          </a:solidFill>
                          <a:latin typeface="Yu Gothic"/>
                          <a:ea typeface="Yu Gothic"/>
                          <a:cs typeface="Yu Gothic"/>
                        </a:rPr>
                        <a:t>Monitor</a:t>
                      </a:r>
                    </a:p>
                  </a:txBody>
                  <a:tcPr marL="91440" marR="91440" marT="45720" marB="45720">
                    <a:solidFill>
                      <a:srgbClr val="FFFFFF"/>
                    </a:solidFill>
                  </a:tcPr>
                </a:tc>
                <a:tc>
                  <a:txBody>
                    <a:bodyPr/>
                    <a:lstStyle/>
                    <a:p>
                      <a:r>
                        <a:rPr sz="855">
                          <a:solidFill>
                            <a:srgbClr val="5B5B5B"/>
                          </a:solidFill>
                          <a:latin typeface="Yu Gothic"/>
                          <a:ea typeface="Yu Gothic"/>
                          <a:cs typeface="Yu Gothic"/>
                        </a:rPr>
                        <a:t>実測stream + command</a:t>
                      </a:r>
                    </a:p>
                  </a:txBody>
                  <a:tcPr marL="91440" marR="91440" marT="45720" marB="45720">
                    <a:solidFill>
                      <a:srgbClr val="FFFFFF"/>
                    </a:solidFill>
                  </a:tcPr>
                </a:tc>
                <a:tc>
                  <a:txBody>
                    <a:bodyPr/>
                    <a:lstStyle/>
                    <a:p>
                      <a:r>
                        <a:rPr sz="855">
                          <a:solidFill>
                            <a:srgbClr val="5B5B5B"/>
                          </a:solidFill>
                          <a:latin typeface="Yu Gothic"/>
                          <a:ea typeface="Yu Gothic"/>
                          <a:cs typeface="Yu Gothic"/>
                        </a:rPr>
                        <a:t>温度・未知熱・relative biasを因果推定</a:t>
                      </a:r>
                    </a:p>
                  </a:txBody>
                  <a:tcPr marL="91440" marR="91440" marT="45720" marB="45720">
                    <a:solidFill>
                      <a:srgbClr val="FFFFFF"/>
                    </a:solidFill>
                  </a:tcPr>
                </a:tc>
                <a:tc>
                  <a:txBody>
                    <a:bodyPr/>
                    <a:lstStyle/>
                    <a:p>
                      <a:r>
                        <a:rPr sz="855">
                          <a:solidFill>
                            <a:srgbClr val="5B5B5B"/>
                          </a:solidFill>
                          <a:latin typeface="Yu Gothic"/>
                          <a:ea typeface="Yu Gothic"/>
                          <a:cs typeface="Yu Gothic"/>
                        </a:rPr>
                        <a:t>innovation、NIS、欠測補完</a:t>
                      </a:r>
                    </a:p>
                  </a:txBody>
                  <a:tcPr marL="91440" marR="91440" marT="45720" marB="45720">
                    <a:solidFill>
                      <a:srgbClr val="FFFFFF"/>
                    </a:solidFill>
                  </a:tcPr>
                </a:tc>
                <a:tc>
                  <a:txBody>
                    <a:bodyPr/>
                    <a:lstStyle/>
                    <a:p>
                      <a:r>
                        <a:rPr sz="855" b="1">
                          <a:solidFill>
                            <a:srgbClr val="4D8710"/>
                          </a:solidFill>
                          <a:latin typeface="Yu Gothic"/>
                          <a:ea typeface="Yu Gothic"/>
                          <a:cs typeface="Yu Gothic"/>
                        </a:rPr>
                        <a:t>実装済</a:t>
                      </a:r>
                    </a:p>
                  </a:txBody>
                  <a:tcPr marL="91440" marR="91440" marT="45720" marB="45720">
                    <a:solidFill>
                      <a:srgbClr val="FFFFFF"/>
                    </a:solidFill>
                  </a:tcPr>
                </a:tc>
              </a:tr>
              <a:tr h="520700">
                <a:tc>
                  <a:txBody>
                    <a:bodyPr/>
                    <a:lstStyle/>
                    <a:p>
                      <a:r>
                        <a:rPr sz="855" b="1">
                          <a:solidFill>
                            <a:srgbClr val="E5A900"/>
                          </a:solidFill>
                          <a:latin typeface="Yu Gothic"/>
                          <a:ea typeface="Yu Gothic"/>
                          <a:cs typeface="Yu Gothic"/>
                        </a:rPr>
                        <a:t>Benchmark</a:t>
                      </a:r>
                    </a:p>
                  </a:txBody>
                  <a:tcPr marL="91440" marR="91440" marT="45720" marB="45720">
                    <a:solidFill>
                      <a:srgbClr val="F8F8F8"/>
                    </a:solidFill>
                  </a:tcPr>
                </a:tc>
                <a:tc>
                  <a:txBody>
                    <a:bodyPr/>
                    <a:lstStyle/>
                    <a:p>
                      <a:r>
                        <a:rPr sz="855">
                          <a:solidFill>
                            <a:srgbClr val="5B5B5B"/>
                          </a:solidFill>
                          <a:latin typeface="Yu Gothic"/>
                          <a:ea typeface="Yu Gothic"/>
                          <a:cs typeface="Yu Gothic"/>
                        </a:rPr>
                        <a:t>分離したexternal holdout</a:t>
                      </a:r>
                    </a:p>
                  </a:txBody>
                  <a:tcPr marL="91440" marR="91440" marT="45720" marB="45720">
                    <a:solidFill>
                      <a:srgbClr val="F8F8F8"/>
                    </a:solidFill>
                  </a:tcPr>
                </a:tc>
                <a:tc>
                  <a:txBody>
                    <a:bodyPr/>
                    <a:lstStyle/>
                    <a:p>
                      <a:r>
                        <a:rPr sz="855">
                          <a:solidFill>
                            <a:srgbClr val="5B5B5B"/>
                          </a:solidFill>
                          <a:latin typeface="Yu Gothic"/>
                          <a:ea typeface="Yu Gothic"/>
                          <a:cs typeface="Yu Gothic"/>
                        </a:rPr>
                        <a:t>interpolation / dynamics / gapを評価</a:t>
                      </a:r>
                    </a:p>
                  </a:txBody>
                  <a:tcPr marL="91440" marR="91440" marT="45720" marB="45720">
                    <a:solidFill>
                      <a:srgbClr val="F8F8F8"/>
                    </a:solidFill>
                  </a:tcPr>
                </a:tc>
                <a:tc>
                  <a:txBody>
                    <a:bodyPr/>
                    <a:lstStyle/>
                    <a:p>
                      <a:r>
                        <a:rPr sz="855">
                          <a:solidFill>
                            <a:srgbClr val="5B5B5B"/>
                          </a:solidFill>
                          <a:latin typeface="Yu Gothic"/>
                          <a:ea typeface="Yu Gothic"/>
                          <a:cs typeface="Yu Gothic"/>
                        </a:rPr>
                        <a:t>worst case、negative control</a:t>
                      </a:r>
                    </a:p>
                  </a:txBody>
                  <a:tcPr marL="91440" marR="91440" marT="45720" marB="45720">
                    <a:solidFill>
                      <a:srgbClr val="F8F8F8"/>
                    </a:solidFill>
                  </a:tcPr>
                </a:tc>
                <a:tc>
                  <a:txBody>
                    <a:bodyPr/>
                    <a:lstStyle/>
                    <a:p>
                      <a:r>
                        <a:rPr sz="855" b="1">
                          <a:solidFill>
                            <a:srgbClr val="4D8710"/>
                          </a:solidFill>
                          <a:latin typeface="Yu Gothic"/>
                          <a:ea typeface="Yu Gothic"/>
                          <a:cs typeface="Yu Gothic"/>
                        </a:rPr>
                        <a:t>実装済</a:t>
                      </a:r>
                    </a:p>
                  </a:txBody>
                  <a:tcPr marL="91440" marR="91440" marT="45720" marB="45720">
                    <a:solidFill>
                      <a:srgbClr val="F8F8F8"/>
                    </a:solidFill>
                  </a:tcPr>
                </a:tc>
              </a:tr>
              <a:tr h="520700">
                <a:tc>
                  <a:txBody>
                    <a:bodyPr/>
                    <a:lstStyle/>
                    <a:p>
                      <a:r>
                        <a:rPr sz="855" b="1">
                          <a:solidFill>
                            <a:srgbClr val="00A89D"/>
                          </a:solidFill>
                          <a:latin typeface="Yu Gothic"/>
                          <a:ea typeface="Yu Gothic"/>
                          <a:cs typeface="Yu Gothic"/>
                        </a:rPr>
                        <a:t>CAE report</a:t>
                      </a:r>
                    </a:p>
                  </a:txBody>
                  <a:tcPr marL="91440" marR="91440" marT="45720" marB="45720">
                    <a:solidFill>
                      <a:srgbClr val="FFFFFF"/>
                    </a:solidFill>
                  </a:tcPr>
                </a:tc>
                <a:tc>
                  <a:txBody>
                    <a:bodyPr/>
                    <a:lstStyle/>
                    <a:p>
                      <a:r>
                        <a:rPr sz="855">
                          <a:solidFill>
                            <a:srgbClr val="5B5B5B"/>
                          </a:solidFill>
                          <a:latin typeface="Yu Gothic"/>
                          <a:ea typeface="Yu Gothic"/>
                          <a:cs typeface="Yu Gothic"/>
                        </a:rPr>
                        <a:t>canonical source_data</a:t>
                      </a:r>
                    </a:p>
                  </a:txBody>
                  <a:tcPr marL="91440" marR="91440" marT="45720" marB="45720">
                    <a:solidFill>
                      <a:srgbClr val="FFFFFF"/>
                    </a:solidFill>
                  </a:tcPr>
                </a:tc>
                <a:tc>
                  <a:txBody>
                    <a:bodyPr/>
                    <a:lstStyle/>
                    <a:p>
                      <a:r>
                        <a:rPr sz="855">
                          <a:solidFill>
                            <a:srgbClr val="5B5B5B"/>
                          </a:solidFill>
                          <a:latin typeface="Yu Gothic"/>
                          <a:ea typeface="Yu Gothic"/>
                          <a:cs typeface="Yu Gothic"/>
                        </a:rPr>
                        <a:t>mesh・time・model-form evidenceを統合</a:t>
                      </a:r>
                    </a:p>
                  </a:txBody>
                  <a:tcPr marL="91440" marR="91440" marT="45720" marB="45720">
                    <a:solidFill>
                      <a:srgbClr val="FFFFFF"/>
                    </a:solidFill>
                  </a:tcPr>
                </a:tc>
                <a:tc>
                  <a:txBody>
                    <a:bodyPr/>
                    <a:lstStyle/>
                    <a:p>
                      <a:r>
                        <a:rPr sz="855">
                          <a:solidFill>
                            <a:srgbClr val="5B5B5B"/>
                          </a:solidFill>
                          <a:latin typeface="Yu Gothic"/>
                          <a:ea typeface="Yu Gothic"/>
                          <a:cs typeface="Yu Gothic"/>
                        </a:rPr>
                        <a:t>採用gateと再評価条件</a:t>
                      </a:r>
                    </a:p>
                  </a:txBody>
                  <a:tcPr marL="91440" marR="91440" marT="45720" marB="45720">
                    <a:solidFill>
                      <a:srgbClr val="FFFFFF"/>
                    </a:solidFill>
                  </a:tcPr>
                </a:tc>
                <a:tc>
                  <a:txBody>
                    <a:bodyPr/>
                    <a:lstStyle/>
                    <a:p>
                      <a:r>
                        <a:rPr sz="855" b="1">
                          <a:solidFill>
                            <a:srgbClr val="7B2DAF"/>
                          </a:solidFill>
                          <a:latin typeface="Yu Gothic"/>
                          <a:ea typeface="Yu Gothic"/>
                          <a:cs typeface="Yu Gothic"/>
                        </a:rPr>
                        <a:t>評価系</a:t>
                      </a:r>
                    </a:p>
                  </a:txBody>
                  <a:tcPr marL="91440" marR="91440" marT="45720" marB="45720">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252BD77B-5235-4747-94AF-5E2C5370E88A}"/>
              </a:ext>
            </a:extLst>
          </p:cNvPr>
          <p:cNvSpPr>
            <a:spLocks xmlns:a="http://schemas.openxmlformats.org/drawingml/2006/main" noGrp="1"/>
          </p:cNvSpPr>
          <p:nvPr/>
        </p:nvSpPr>
        <p:spPr>
          <a:xfrm xmlns:a="http://schemas.openxmlformats.org/drawingml/2006/main">
            <a:off x="552450" y="4829175"/>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同じ基盤から可能になること</a:t>
            </a:r>
          </a:p>
        </p:txBody>
      </p:sp>
      <p:sp>
        <p:nvSpPr>
          <p:cNvPr id="11" name="">
            <a:extLst xmlns:a="http://schemas.openxmlformats.org/drawingml/2006/main">
              <a:ext uri="{FF2B5EF4-FFF2-40B4-BE49-F238E27FC236}">
                <a16:creationId xmlns:a16="http://schemas.microsoft.com/office/drawing/2014/main" id="{54612357-142D-4027-9784-B2A9F174BBD8}"/>
              </a:ext>
            </a:extLst>
          </p:cNvPr>
          <p:cNvSpPr>
            <a:spLocks xmlns:a="http://schemas.openxmlformats.org/drawingml/2006/main" noGrp="1"/>
          </p:cNvSpPr>
          <p:nvPr/>
        </p:nvSpPr>
        <p:spPr>
          <a:xfrm xmlns:a="http://schemas.openxmlformats.org/drawingml/2006/main">
            <a:off x="552450" y="5191125"/>
            <a:ext cx="3524250" cy="628650"/>
          </a:xfrm>
          <a:prstGeom xmlns:a="http://schemas.openxmlformats.org/drawingml/2006/main" prst="rect">
            <a:avLst/>
          </a:prstGeom>
          <a:solidFill xmlns:a="http://schemas.openxmlformats.org/drawingml/2006/main">
            <a:srgbClr val="E5F6FB"/>
          </a:solidFill>
          <a:ln xmlns:a="http://schemas.openxmlformats.org/drawingml/2006/main" w="9525">
            <a:solidFill>
              <a:srgbClr val="00A5D8"/>
            </a:solidFill>
            <a:prstDash val="solid"/>
          </a:ln>
        </p:spPr>
      </p:sp>
      <p:sp>
        <p:nvSpPr>
          <p:cNvPr id="12" name="">
            <a:extLst xmlns:a="http://schemas.openxmlformats.org/drawingml/2006/main">
              <a:ext uri="{FF2B5EF4-FFF2-40B4-BE49-F238E27FC236}">
                <a16:creationId xmlns:a16="http://schemas.microsoft.com/office/drawing/2014/main" id="{001E6E1F-8ECD-457E-AAA9-0E9108207AAC}"/>
              </a:ext>
            </a:extLst>
          </p:cNvPr>
          <p:cNvSpPr>
            <a:spLocks xmlns:a="http://schemas.openxmlformats.org/drawingml/2006/main" noGrp="1"/>
          </p:cNvSpPr>
          <p:nvPr/>
        </p:nvSpPr>
        <p:spPr>
          <a:xfrm xmlns:a="http://schemas.openxmlformats.org/drawingml/2006/main">
            <a:off x="676275" y="5314950"/>
            <a:ext cx="685800" cy="238125"/>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00A5D8"/>
            </a:solidFill>
            <a:prstDash val="solid"/>
          </a:ln>
        </p:spPr>
      </p:sp>
      <p:sp>
        <p:nvSpPr>
          <p:cNvPr id="13" name="">
            <a:extLst xmlns:a="http://schemas.openxmlformats.org/drawingml/2006/main">
              <a:ext uri="{FF2B5EF4-FFF2-40B4-BE49-F238E27FC236}">
                <a16:creationId xmlns:a16="http://schemas.microsoft.com/office/drawing/2014/main" id="{F6EFF22D-3FFE-4DE5-BD6C-3B61A9526AEE}"/>
              </a:ext>
            </a:extLst>
          </p:cNvPr>
          <p:cNvSpPr>
            <a:spLocks xmlns:a="http://schemas.openxmlformats.org/drawingml/2006/main" noGrp="1"/>
          </p:cNvSpPr>
          <p:nvPr/>
        </p:nvSpPr>
        <p:spPr>
          <a:xfrm xmlns:a="http://schemas.openxmlformats.org/drawingml/2006/main">
            <a:off x="723900" y="532447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00A5D8"/>
                </a:solidFill>
                <a:latin typeface="Yu Gothic"/>
                <a:ea typeface="Yu Gothic"/>
                <a:cs typeface="Yu Gothic"/>
              </a:defRPr>
            </a:pPr>
            <a:r>
              <a:rPr sz="788" b="1" i="0">
                <a:solidFill>
                  <a:srgbClr val="00A5D8"/>
                </a:solidFill>
                <a:latin typeface="Yu Gothic"/>
                <a:ea typeface="Yu Gothic"/>
                <a:cs typeface="Yu Gothic"/>
              </a:rPr>
              <a:t>設計</a:t>
            </a:r>
          </a:p>
        </p:txBody>
      </p:sp>
      <p:sp>
        <p:nvSpPr>
          <p:cNvPr id="14" name="">
            <a:extLst xmlns:a="http://schemas.openxmlformats.org/drawingml/2006/main">
              <a:ext uri="{FF2B5EF4-FFF2-40B4-BE49-F238E27FC236}">
                <a16:creationId xmlns:a16="http://schemas.microsoft.com/office/drawing/2014/main" id="{6CFCCB02-49D6-424A-ADE3-60C1A88C359A}"/>
              </a:ext>
            </a:extLst>
          </p:cNvPr>
          <p:cNvSpPr>
            <a:spLocks xmlns:a="http://schemas.openxmlformats.org/drawingml/2006/main" noGrp="1"/>
          </p:cNvSpPr>
          <p:nvPr/>
        </p:nvSpPr>
        <p:spPr>
          <a:xfrm xmlns:a="http://schemas.openxmlformats.org/drawingml/2006/main">
            <a:off x="1447800" y="5267325"/>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1" i="0">
                <a:solidFill>
                  <a:srgbClr val="5B5B5B"/>
                </a:solidFill>
                <a:latin typeface="Yu Gothic"/>
                <a:ea typeface="Yu Gothic"/>
                <a:cs typeface="Yu Gothic"/>
              </a:defRPr>
            </a:pPr>
            <a:r>
              <a:rPr sz="878" b="1" i="0">
                <a:solidFill>
                  <a:srgbClr val="5B5B5B"/>
                </a:solidFill>
                <a:latin typeface="Yu Gothic"/>
                <a:ea typeface="Yu Gothic"/>
                <a:cs typeface="Yu Gothic"/>
              </a:rPr>
              <a:t>DOE候補のscreening / 係数感度 / model gapの発見</a:t>
            </a:r>
          </a:p>
        </p:txBody>
      </p:sp>
      <p:sp>
        <p:nvSpPr>
          <p:cNvPr id="15" name="">
            <a:extLst xmlns:a="http://schemas.openxmlformats.org/drawingml/2006/main">
              <a:ext uri="{FF2B5EF4-FFF2-40B4-BE49-F238E27FC236}">
                <a16:creationId xmlns:a16="http://schemas.microsoft.com/office/drawing/2014/main" id="{D67E51AE-D549-4AB4-B0F9-1FBCEEC9703E}"/>
              </a:ext>
            </a:extLst>
          </p:cNvPr>
          <p:cNvSpPr>
            <a:spLocks xmlns:a="http://schemas.openxmlformats.org/drawingml/2006/main" noGrp="1"/>
          </p:cNvSpPr>
          <p:nvPr/>
        </p:nvSpPr>
        <p:spPr>
          <a:xfrm xmlns:a="http://schemas.openxmlformats.org/drawingml/2006/main">
            <a:off x="4248150" y="5191125"/>
            <a:ext cx="3524250" cy="628650"/>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16" name="">
            <a:extLst xmlns:a="http://schemas.openxmlformats.org/drawingml/2006/main">
              <a:ext uri="{FF2B5EF4-FFF2-40B4-BE49-F238E27FC236}">
                <a16:creationId xmlns:a16="http://schemas.microsoft.com/office/drawing/2014/main" id="{2EA7CC83-D500-4184-B582-8F61A7C4300D}"/>
              </a:ext>
            </a:extLst>
          </p:cNvPr>
          <p:cNvSpPr>
            <a:spLocks xmlns:a="http://schemas.openxmlformats.org/drawingml/2006/main" noGrp="1"/>
          </p:cNvSpPr>
          <p:nvPr/>
        </p:nvSpPr>
        <p:spPr>
          <a:xfrm xmlns:a="http://schemas.openxmlformats.org/drawingml/2006/main">
            <a:off x="4371975" y="5314950"/>
            <a:ext cx="685800" cy="238125"/>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76BE18"/>
            </a:solidFill>
            <a:prstDash val="solid"/>
          </a:ln>
        </p:spPr>
      </p:sp>
      <p:sp>
        <p:nvSpPr>
          <p:cNvPr id="17" name="">
            <a:extLst xmlns:a="http://schemas.openxmlformats.org/drawingml/2006/main">
              <a:ext uri="{FF2B5EF4-FFF2-40B4-BE49-F238E27FC236}">
                <a16:creationId xmlns:a16="http://schemas.microsoft.com/office/drawing/2014/main" id="{2B18602F-1EED-4FE5-9230-E99A0868CB1C}"/>
              </a:ext>
            </a:extLst>
          </p:cNvPr>
          <p:cNvSpPr>
            <a:spLocks xmlns:a="http://schemas.openxmlformats.org/drawingml/2006/main" noGrp="1"/>
          </p:cNvSpPr>
          <p:nvPr/>
        </p:nvSpPr>
        <p:spPr>
          <a:xfrm xmlns:a="http://schemas.openxmlformats.org/drawingml/2006/main">
            <a:off x="4419600" y="532447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76BE18"/>
                </a:solidFill>
                <a:latin typeface="Yu Gothic"/>
                <a:ea typeface="Yu Gothic"/>
                <a:cs typeface="Yu Gothic"/>
              </a:defRPr>
            </a:pPr>
            <a:r>
              <a:rPr sz="788" b="1" i="0">
                <a:solidFill>
                  <a:srgbClr val="76BE18"/>
                </a:solidFill>
                <a:latin typeface="Yu Gothic"/>
                <a:ea typeface="Yu Gothic"/>
                <a:cs typeface="Yu Gothic"/>
              </a:rPr>
              <a:t>運用</a:t>
            </a:r>
          </a:p>
        </p:txBody>
      </p:sp>
      <p:sp>
        <p:nvSpPr>
          <p:cNvPr id="18" name="">
            <a:extLst xmlns:a="http://schemas.openxmlformats.org/drawingml/2006/main">
              <a:ext uri="{FF2B5EF4-FFF2-40B4-BE49-F238E27FC236}">
                <a16:creationId xmlns:a16="http://schemas.microsoft.com/office/drawing/2014/main" id="{0262C464-9425-4D2E-B824-AD624CA5B829}"/>
              </a:ext>
            </a:extLst>
          </p:cNvPr>
          <p:cNvSpPr>
            <a:spLocks xmlns:a="http://schemas.openxmlformats.org/drawingml/2006/main" noGrp="1"/>
          </p:cNvSpPr>
          <p:nvPr/>
        </p:nvSpPr>
        <p:spPr>
          <a:xfrm xmlns:a="http://schemas.openxmlformats.org/drawingml/2006/main">
            <a:off x="5143500" y="5267325"/>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1" i="0">
                <a:solidFill>
                  <a:srgbClr val="5B5B5B"/>
                </a:solidFill>
                <a:latin typeface="Yu Gothic"/>
                <a:ea typeface="Yu Gothic"/>
                <a:cs typeface="Yu Gothic"/>
              </a:defRPr>
            </a:pPr>
            <a:r>
              <a:rPr sz="878" b="1" i="0">
                <a:solidFill>
                  <a:srgbClr val="5B5B5B"/>
                </a:solidFill>
                <a:latin typeface="Yu Gothic"/>
                <a:ea typeface="Yu Gothic"/>
                <a:cs typeface="Yu Gothic"/>
              </a:rPr>
              <a:t>warm-up終了予測 / virtual sensor / sensor欠測継続</a:t>
            </a:r>
          </a:p>
        </p:txBody>
      </p:sp>
      <p:sp>
        <p:nvSpPr>
          <p:cNvPr id="19" name="">
            <a:extLst xmlns:a="http://schemas.openxmlformats.org/drawingml/2006/main">
              <a:ext uri="{FF2B5EF4-FFF2-40B4-BE49-F238E27FC236}">
                <a16:creationId xmlns:a16="http://schemas.microsoft.com/office/drawing/2014/main" id="{3448D17E-48BB-4F40-8D6F-BB095A0BBF99}"/>
              </a:ext>
            </a:extLst>
          </p:cNvPr>
          <p:cNvSpPr>
            <a:spLocks xmlns:a="http://schemas.openxmlformats.org/drawingml/2006/main" noGrp="1"/>
          </p:cNvSpPr>
          <p:nvPr/>
        </p:nvSpPr>
        <p:spPr>
          <a:xfrm xmlns:a="http://schemas.openxmlformats.org/drawingml/2006/main">
            <a:off x="7943850" y="5191125"/>
            <a:ext cx="3524250" cy="628650"/>
          </a:xfrm>
          <a:prstGeom xmlns:a="http://schemas.openxmlformats.org/drawingml/2006/main" prst="rect">
            <a:avLst/>
          </a:prstGeom>
          <a:solidFill xmlns:a="http://schemas.openxmlformats.org/drawingml/2006/main">
            <a:srgbClr val="EFE5F6"/>
          </a:solidFill>
          <a:ln xmlns:a="http://schemas.openxmlformats.org/drawingml/2006/main" w="9525">
            <a:solidFill>
              <a:srgbClr val="7B2DAF"/>
            </a:solidFill>
            <a:prstDash val="solid"/>
          </a:ln>
        </p:spPr>
      </p:sp>
      <p:sp>
        <p:nvSpPr>
          <p:cNvPr id="20" name="">
            <a:extLst xmlns:a="http://schemas.openxmlformats.org/drawingml/2006/main">
              <a:ext uri="{FF2B5EF4-FFF2-40B4-BE49-F238E27FC236}">
                <a16:creationId xmlns:a16="http://schemas.microsoft.com/office/drawing/2014/main" id="{65D66AD7-00D2-497E-8C5F-17981F14E210}"/>
              </a:ext>
            </a:extLst>
          </p:cNvPr>
          <p:cNvSpPr>
            <a:spLocks xmlns:a="http://schemas.openxmlformats.org/drawingml/2006/main" noGrp="1"/>
          </p:cNvSpPr>
          <p:nvPr/>
        </p:nvSpPr>
        <p:spPr>
          <a:xfrm xmlns:a="http://schemas.openxmlformats.org/drawingml/2006/main">
            <a:off x="8067675" y="5314950"/>
            <a:ext cx="685800" cy="238125"/>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7B2DAF"/>
            </a:solidFill>
            <a:prstDash val="solid"/>
          </a:ln>
        </p:spPr>
      </p:sp>
      <p:sp>
        <p:nvSpPr>
          <p:cNvPr id="21" name="">
            <a:extLst xmlns:a="http://schemas.openxmlformats.org/drawingml/2006/main">
              <a:ext uri="{FF2B5EF4-FFF2-40B4-BE49-F238E27FC236}">
                <a16:creationId xmlns:a16="http://schemas.microsoft.com/office/drawing/2014/main" id="{CAF78922-BF6A-40F7-BF26-FBB8B144AD7A}"/>
              </a:ext>
            </a:extLst>
          </p:cNvPr>
          <p:cNvSpPr>
            <a:spLocks xmlns:a="http://schemas.openxmlformats.org/drawingml/2006/main" noGrp="1"/>
          </p:cNvSpPr>
          <p:nvPr/>
        </p:nvSpPr>
        <p:spPr>
          <a:xfrm xmlns:a="http://schemas.openxmlformats.org/drawingml/2006/main">
            <a:off x="8115300" y="532447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7B2DAF"/>
                </a:solidFill>
                <a:latin typeface="Yu Gothic"/>
                <a:ea typeface="Yu Gothic"/>
                <a:cs typeface="Yu Gothic"/>
              </a:defRPr>
            </a:pPr>
            <a:r>
              <a:rPr sz="788" b="1" i="0">
                <a:solidFill>
                  <a:srgbClr val="7B2DAF"/>
                </a:solidFill>
                <a:latin typeface="Yu Gothic"/>
                <a:ea typeface="Yu Gothic"/>
                <a:cs typeface="Yu Gothic"/>
              </a:rPr>
              <a:t>保全</a:t>
            </a:r>
          </a:p>
        </p:txBody>
      </p:sp>
      <p:sp>
        <p:nvSpPr>
          <p:cNvPr id="22" name="">
            <a:extLst xmlns:a="http://schemas.openxmlformats.org/drawingml/2006/main">
              <a:ext uri="{FF2B5EF4-FFF2-40B4-BE49-F238E27FC236}">
                <a16:creationId xmlns:a16="http://schemas.microsoft.com/office/drawing/2014/main" id="{39733FCC-0C72-49EC-A1AA-9260A8144A85}"/>
              </a:ext>
            </a:extLst>
          </p:cNvPr>
          <p:cNvSpPr>
            <a:spLocks xmlns:a="http://schemas.openxmlformats.org/drawingml/2006/main" noGrp="1"/>
          </p:cNvSpPr>
          <p:nvPr/>
        </p:nvSpPr>
        <p:spPr>
          <a:xfrm xmlns:a="http://schemas.openxmlformats.org/drawingml/2006/main">
            <a:off x="8839200" y="5267325"/>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1" i="0">
                <a:solidFill>
                  <a:srgbClr val="5B5B5B"/>
                </a:solidFill>
                <a:latin typeface="Yu Gothic"/>
                <a:ea typeface="Yu Gothic"/>
                <a:cs typeface="Yu Gothic"/>
              </a:defRPr>
            </a:pPr>
            <a:r>
              <a:rPr sz="878" b="1" i="0">
                <a:solidFill>
                  <a:srgbClr val="5B5B5B"/>
                </a:solidFill>
                <a:latin typeface="Yu Gothic"/>
                <a:ea typeface="Yu Gothic"/>
                <a:cs typeface="Yu Gothic"/>
              </a:rPr>
              <a:t>未指令発熱 / relative drift / gross faultの切り分け</a:t>
            </a:r>
          </a:p>
        </p:txBody>
      </p:sp>
      <p:sp>
        <p:nvSpPr>
          <p:cNvPr id="23" name="">
            <a:extLst xmlns:a="http://schemas.openxmlformats.org/drawingml/2006/main">
              <a:ext uri="{FF2B5EF4-FFF2-40B4-BE49-F238E27FC236}">
                <a16:creationId xmlns:a16="http://schemas.microsoft.com/office/drawing/2014/main" id="{0A6B3F35-0329-4E53-ACD3-7573949C121C}"/>
              </a:ext>
            </a:extLst>
          </p:cNvPr>
          <p:cNvSpPr>
            <a:spLocks xmlns:a="http://schemas.openxmlformats.org/drawingml/2006/main" noGrp="1"/>
          </p:cNvSpPr>
          <p:nvPr/>
        </p:nvSpPr>
        <p:spPr>
          <a:xfrm xmlns:a="http://schemas.openxmlformats.org/drawingml/2006/main">
            <a:off x="552450" y="5962650"/>
            <a:ext cx="11087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63" b="0" i="0">
                <a:solidFill>
                  <a:srgbClr val="C4493D"/>
                </a:solidFill>
                <a:latin typeface="Yu Gothic"/>
                <a:ea typeface="Yu Gothic"/>
                <a:cs typeface="Yu Gothic"/>
              </a:defRPr>
            </a:pPr>
            <a:r>
              <a:rPr sz="863" b="0" i="0">
                <a:solidFill>
                  <a:srgbClr val="C4493D"/>
                </a:solidFill>
                <a:latin typeface="Yu Gothic"/>
                <a:ea typeface="Yu Gothic"/>
                <a:cs typeface="Yu Gothic"/>
              </a:rPr>
              <a:t>拡張候補（未実装）：parameter uncertainty、sparse演算、階層同定、複数対象で再現する非線形law。</a:t>
            </a:r>
          </a:p>
        </p:txBody>
      </p:sp>
    </p:spTree>
    <p:extLst>
      <p:ext uri="{BB962C8B-B14F-4D97-AF65-F5344CB8AC3E}">
        <p14:creationId xmlns:p14="http://schemas.microsoft.com/office/powerpoint/2010/main" val="18106791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60775B64-337D-4372-98FC-81201C5AADED}"/>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5CCB586-F4F0-428A-BFBA-E39C286A606C}"/>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EXECUTIVE VIEW</a:t>
            </a:r>
          </a:p>
        </p:txBody>
      </p:sp>
      <p:sp>
        <p:nvSpPr>
          <p:cNvPr id="3" name="">
            <a:extLst xmlns:a="http://schemas.openxmlformats.org/drawingml/2006/main">
              <a:ext uri="{FF2B5EF4-FFF2-40B4-BE49-F238E27FC236}">
                <a16:creationId xmlns:a16="http://schemas.microsoft.com/office/drawing/2014/main" id="{223233F7-69FA-4E29-8C10-1A3270DB4026}"/>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装置適用の価値は高いが、平均温度精度と局所安全性は分けて判定する</a:t>
            </a:r>
          </a:p>
        </p:txBody>
      </p:sp>
      <p:sp>
        <p:nvSpPr>
          <p:cNvPr id="4" name="">
            <a:extLst xmlns:a="http://schemas.openxmlformats.org/drawingml/2006/main">
              <a:ext uri="{FF2B5EF4-FFF2-40B4-BE49-F238E27FC236}">
                <a16:creationId xmlns:a16="http://schemas.microsoft.com/office/drawing/2014/main" id="{71510212-4A5D-4E99-A2E6-819565EA92C0}"/>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結論は「screeningに有効、製品保証には装置別V&amp;Vが必要」である</a:t>
            </a:r>
          </a:p>
        </p:txBody>
      </p:sp>
      <p:sp>
        <p:nvSpPr>
          <p:cNvPr id="5" name="">
            <a:extLst xmlns:a="http://schemas.openxmlformats.org/drawingml/2006/main">
              <a:ext uri="{FF2B5EF4-FFF2-40B4-BE49-F238E27FC236}">
                <a16:creationId xmlns:a16="http://schemas.microsoft.com/office/drawing/2014/main" id="{318FEEE2-7CAB-418C-8003-AB4F5170EB0B}"/>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B625CEED-AF40-4F5C-9B23-5763FF4BF792}"/>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AEF73512-DE18-43BB-A013-0E05A0E1D91B}"/>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FEE541A4-8BF5-4C91-B1FB-4524146ACD15}"/>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6</a:t>
            </a:r>
          </a:p>
        </p:txBody>
      </p:sp>
      <p:sp>
        <p:nvSpPr>
          <p:cNvPr id="9" name="">
            <a:extLst xmlns:a="http://schemas.openxmlformats.org/drawingml/2006/main">
              <a:ext uri="{FF2B5EF4-FFF2-40B4-BE49-F238E27FC236}">
                <a16:creationId xmlns:a16="http://schemas.microsoft.com/office/drawing/2014/main" id="{9D9A5106-4F60-4C1F-AA0B-E34A4B4A986E}"/>
              </a:ext>
            </a:extLst>
          </p:cNvPr>
          <p:cNvSpPr>
            <a:spLocks xmlns:a="http://schemas.openxmlformats.org/drawingml/2006/main" noGrp="1"/>
          </p:cNvSpPr>
          <p:nvPr/>
        </p:nvSpPr>
        <p:spPr>
          <a:xfrm xmlns:a="http://schemas.openxmlformats.org/drawingml/2006/main">
            <a:off x="552450" y="1457325"/>
            <a:ext cx="3409950" cy="26098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231E3522-9874-470D-9814-82E3FD3208F8}"/>
              </a:ext>
            </a:extLst>
          </p:cNvPr>
          <p:cNvSpPr>
            <a:spLocks xmlns:a="http://schemas.openxmlformats.org/drawingml/2006/main" noGrp="1"/>
          </p:cNvSpPr>
          <p:nvPr/>
        </p:nvSpPr>
        <p:spPr>
          <a:xfrm xmlns:a="http://schemas.openxmlformats.org/drawingml/2006/main">
            <a:off x="552450" y="1457325"/>
            <a:ext cx="3409950" cy="762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9A02ADD-231A-4D63-A562-8DD971F018D9}"/>
              </a:ext>
            </a:extLst>
          </p:cNvPr>
          <p:cNvSpPr>
            <a:spLocks xmlns:a="http://schemas.openxmlformats.org/drawingml/2006/main" noGrp="1"/>
          </p:cNvSpPr>
          <p:nvPr/>
        </p:nvSpPr>
        <p:spPr>
          <a:xfrm xmlns:a="http://schemas.openxmlformats.org/drawingml/2006/main">
            <a:off x="742950" y="1695450"/>
            <a:ext cx="3028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575" b="1" i="0">
                <a:solidFill>
                  <a:srgbClr val="3F3F3F"/>
                </a:solidFill>
                <a:latin typeface="Yu Gothic"/>
                <a:ea typeface="Yu Gothic"/>
                <a:cs typeface="Yu Gothic"/>
              </a:defRPr>
            </a:pPr>
            <a:r>
              <a:rPr sz="1575" b="1" i="0">
                <a:solidFill>
                  <a:srgbClr val="3F3F3F"/>
                </a:solidFill>
                <a:latin typeface="Yu Gothic"/>
                <a:ea typeface="Yu Gothic"/>
                <a:cs typeface="Yu Gothic"/>
              </a:rPr>
              <a:t>物理モデル</a:t>
            </a:r>
          </a:p>
        </p:txBody>
      </p:sp>
      <p:sp>
        <p:nvSpPr>
          <p:cNvPr id="12" name="">
            <a:extLst xmlns:a="http://schemas.openxmlformats.org/drawingml/2006/main">
              <a:ext uri="{FF2B5EF4-FFF2-40B4-BE49-F238E27FC236}">
                <a16:creationId xmlns:a16="http://schemas.microsoft.com/office/drawing/2014/main" id="{F3D69D0C-ED22-491D-B685-9F505F40CB70}"/>
              </a:ext>
            </a:extLst>
          </p:cNvPr>
          <p:cNvSpPr>
            <a:spLocks xmlns:a="http://schemas.openxmlformats.org/drawingml/2006/main" noGrp="1"/>
          </p:cNvSpPr>
          <p:nvPr/>
        </p:nvSpPr>
        <p:spPr>
          <a:xfrm xmlns:a="http://schemas.openxmlformats.org/drawingml/2006/main">
            <a:off x="742950" y="2133600"/>
            <a:ext cx="30289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8000"/>
              </a:lnSpc>
              <a:buNone/>
              <a:defRPr sz="1200" b="1" i="0">
                <a:solidFill>
                  <a:srgbClr val="00A5D8"/>
                </a:solidFill>
                <a:latin typeface="Yu Gothic"/>
                <a:ea typeface="Yu Gothic"/>
                <a:cs typeface="Yu Gothic"/>
              </a:defRPr>
            </a:pPr>
            <a:r>
              <a:rPr sz="1200" b="1" i="0">
                <a:solidFill>
                  <a:srgbClr val="00A5D8"/>
                </a:solidFill>
                <a:latin typeface="Yu Gothic"/>
                <a:ea typeface="Yu Gothic"/>
                <a:cs typeface="Yu Gothic"/>
              </a:rPr>
              <a:t>小自由度でも、保存則と散逸性を構造として保持</a:t>
            </a:r>
          </a:p>
        </p:txBody>
      </p:sp>
      <p:sp>
        <p:nvSpPr>
          <p:cNvPr id="13" name="">
            <a:extLst xmlns:a="http://schemas.openxmlformats.org/drawingml/2006/main">
              <a:ext uri="{FF2B5EF4-FFF2-40B4-BE49-F238E27FC236}">
                <a16:creationId xmlns:a16="http://schemas.microsoft.com/office/drawing/2014/main" id="{6B505C24-2D65-49EA-B034-116C682A938F}"/>
              </a:ext>
            </a:extLst>
          </p:cNvPr>
          <p:cNvSpPr>
            <a:spLocks xmlns:a="http://schemas.openxmlformats.org/drawingml/2006/main" noGrp="1"/>
          </p:cNvSpPr>
          <p:nvPr/>
        </p:nvSpPr>
        <p:spPr>
          <a:xfrm xmlns:a="http://schemas.openxmlformats.org/drawingml/2006/main">
            <a:off x="742950" y="2876550"/>
            <a:ext cx="30289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8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熱容量 C、コンダクタンス G、境界熱伝達 h を正値化して同定。exact/implicit積分により運転条件に応じた安定計算を行う。</a:t>
            </a:r>
          </a:p>
        </p:txBody>
      </p:sp>
      <p:sp>
        <p:nvSpPr>
          <p:cNvPr id="14" name="">
            <a:extLst xmlns:a="http://schemas.openxmlformats.org/drawingml/2006/main">
              <a:ext uri="{FF2B5EF4-FFF2-40B4-BE49-F238E27FC236}">
                <a16:creationId xmlns:a16="http://schemas.microsoft.com/office/drawing/2014/main" id="{FFA6E078-AF32-4A57-858F-21EB6C61DB76}"/>
              </a:ext>
            </a:extLst>
          </p:cNvPr>
          <p:cNvSpPr>
            <a:spLocks xmlns:a="http://schemas.openxmlformats.org/drawingml/2006/main" noGrp="1"/>
          </p:cNvSpPr>
          <p:nvPr/>
        </p:nvSpPr>
        <p:spPr>
          <a:xfrm xmlns:a="http://schemas.openxmlformats.org/drawingml/2006/main">
            <a:off x="4210050" y="1457325"/>
            <a:ext cx="3409950" cy="26098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5" name="">
            <a:extLst xmlns:a="http://schemas.openxmlformats.org/drawingml/2006/main">
              <a:ext uri="{FF2B5EF4-FFF2-40B4-BE49-F238E27FC236}">
                <a16:creationId xmlns:a16="http://schemas.microsoft.com/office/drawing/2014/main" id="{4E4E6F56-7784-4951-B2B5-1ACCC5739292}"/>
              </a:ext>
            </a:extLst>
          </p:cNvPr>
          <p:cNvSpPr>
            <a:spLocks xmlns:a="http://schemas.openxmlformats.org/drawingml/2006/main" noGrp="1"/>
          </p:cNvSpPr>
          <p:nvPr/>
        </p:nvSpPr>
        <p:spPr>
          <a:xfrm xmlns:a="http://schemas.openxmlformats.org/drawingml/2006/main">
            <a:off x="4210050" y="1457325"/>
            <a:ext cx="3409950" cy="762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26E34E9-99F3-4A50-AEFA-7A02E5EFA1D1}"/>
              </a:ext>
            </a:extLst>
          </p:cNvPr>
          <p:cNvSpPr>
            <a:spLocks xmlns:a="http://schemas.openxmlformats.org/drawingml/2006/main" noGrp="1"/>
          </p:cNvSpPr>
          <p:nvPr/>
        </p:nvSpPr>
        <p:spPr>
          <a:xfrm xmlns:a="http://schemas.openxmlformats.org/drawingml/2006/main">
            <a:off x="4400550" y="1695450"/>
            <a:ext cx="3028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575" b="1" i="0">
                <a:solidFill>
                  <a:srgbClr val="3F3F3F"/>
                </a:solidFill>
                <a:latin typeface="Yu Gothic"/>
                <a:ea typeface="Yu Gothic"/>
                <a:cs typeface="Yu Gothic"/>
              </a:defRPr>
            </a:pPr>
            <a:r>
              <a:rPr sz="1575" b="1" i="0">
                <a:solidFill>
                  <a:srgbClr val="3F3F3F"/>
                </a:solidFill>
                <a:latin typeface="Yu Gothic"/>
                <a:ea typeface="Yu Gothic"/>
                <a:cs typeface="Yu Gothic"/>
              </a:rPr>
              <a:t>検証エビデンス</a:t>
            </a:r>
          </a:p>
        </p:txBody>
      </p:sp>
      <p:sp>
        <p:nvSpPr>
          <p:cNvPr id="17" name="">
            <a:extLst xmlns:a="http://schemas.openxmlformats.org/drawingml/2006/main">
              <a:ext uri="{FF2B5EF4-FFF2-40B4-BE49-F238E27FC236}">
                <a16:creationId xmlns:a16="http://schemas.microsoft.com/office/drawing/2014/main" id="{82543215-2BC5-46CF-A93D-ABE373C89339}"/>
              </a:ext>
            </a:extLst>
          </p:cNvPr>
          <p:cNvSpPr>
            <a:spLocks xmlns:a="http://schemas.openxmlformats.org/drawingml/2006/main" noGrp="1"/>
          </p:cNvSpPr>
          <p:nvPr/>
        </p:nvSpPr>
        <p:spPr>
          <a:xfrm xmlns:a="http://schemas.openxmlformats.org/drawingml/2006/main">
            <a:off x="4400550" y="2133600"/>
            <a:ext cx="30289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8000"/>
              </a:lnSpc>
              <a:buNone/>
              <a:defRPr sz="1200" b="1" i="0">
                <a:solidFill>
                  <a:srgbClr val="76BE18"/>
                </a:solidFill>
                <a:latin typeface="Yu Gothic"/>
                <a:ea typeface="Yu Gothic"/>
                <a:cs typeface="Yu Gothic"/>
              </a:defRPr>
            </a:pPr>
            <a:r>
              <a:rPr sz="1200" b="1" i="0">
                <a:solidFill>
                  <a:srgbClr val="76BE18"/>
                </a:solidFill>
                <a:latin typeface="Yu Gothic"/>
                <a:ea typeface="Yu Gothic"/>
                <a:cs typeface="Yu Gothic"/>
              </a:rPr>
              <a:t>合成 → 線形CAE → 高忠実度CAEの段階評価</a:t>
            </a:r>
          </a:p>
        </p:txBody>
      </p:sp>
      <p:sp>
        <p:nvSpPr>
          <p:cNvPr id="18" name="">
            <a:extLst xmlns:a="http://schemas.openxmlformats.org/drawingml/2006/main">
              <a:ext uri="{FF2B5EF4-FFF2-40B4-BE49-F238E27FC236}">
                <a16:creationId xmlns:a16="http://schemas.microsoft.com/office/drawing/2014/main" id="{D24DBD4B-1E9A-4594-A9C0-A52C28A90A06}"/>
              </a:ext>
            </a:extLst>
          </p:cNvPr>
          <p:cNvSpPr>
            <a:spLocks xmlns:a="http://schemas.openxmlformats.org/drawingml/2006/main" noGrp="1"/>
          </p:cNvSpPr>
          <p:nvPr/>
        </p:nvSpPr>
        <p:spPr>
          <a:xfrm xmlns:a="http://schemas.openxmlformats.org/drawingml/2006/main">
            <a:off x="4400550" y="2876550"/>
            <a:ext cx="30289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8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TopCell core平均 0.143 K、線形COMSOL平均 0.036 K、高忠実度2ケース平均 0.0956 K。model gapとmesh未収束を別枠で保持。</a:t>
            </a:r>
          </a:p>
        </p:txBody>
      </p:sp>
      <p:sp>
        <p:nvSpPr>
          <p:cNvPr id="19" name="">
            <a:extLst xmlns:a="http://schemas.openxmlformats.org/drawingml/2006/main">
              <a:ext uri="{FF2B5EF4-FFF2-40B4-BE49-F238E27FC236}">
                <a16:creationId xmlns:a16="http://schemas.microsoft.com/office/drawing/2014/main" id="{48C9FBA9-2826-4104-8932-8CCD4F47B36F}"/>
              </a:ext>
            </a:extLst>
          </p:cNvPr>
          <p:cNvSpPr>
            <a:spLocks xmlns:a="http://schemas.openxmlformats.org/drawingml/2006/main" noGrp="1"/>
          </p:cNvSpPr>
          <p:nvPr/>
        </p:nvSpPr>
        <p:spPr>
          <a:xfrm xmlns:a="http://schemas.openxmlformats.org/drawingml/2006/main">
            <a:off x="7867650" y="1457325"/>
            <a:ext cx="3771900" cy="26098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0" name="">
            <a:extLst xmlns:a="http://schemas.openxmlformats.org/drawingml/2006/main">
              <a:ext uri="{FF2B5EF4-FFF2-40B4-BE49-F238E27FC236}">
                <a16:creationId xmlns:a16="http://schemas.microsoft.com/office/drawing/2014/main" id="{20FE3C74-E6AD-4C88-A7F4-E7A9BCAC7A27}"/>
              </a:ext>
            </a:extLst>
          </p:cNvPr>
          <p:cNvSpPr>
            <a:spLocks xmlns:a="http://schemas.openxmlformats.org/drawingml/2006/main" noGrp="1"/>
          </p:cNvSpPr>
          <p:nvPr/>
        </p:nvSpPr>
        <p:spPr>
          <a:xfrm xmlns:a="http://schemas.openxmlformats.org/drawingml/2006/main">
            <a:off x="7867650" y="1457325"/>
            <a:ext cx="3771900" cy="762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A548CEF-ACFA-454E-8BB0-DF75BA7B9C90}"/>
              </a:ext>
            </a:extLst>
          </p:cNvPr>
          <p:cNvSpPr>
            <a:spLocks xmlns:a="http://schemas.openxmlformats.org/drawingml/2006/main" noGrp="1"/>
          </p:cNvSpPr>
          <p:nvPr/>
        </p:nvSpPr>
        <p:spPr>
          <a:xfrm xmlns:a="http://schemas.openxmlformats.org/drawingml/2006/main">
            <a:off x="8058150" y="1695450"/>
            <a:ext cx="3390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575" b="1" i="0">
                <a:solidFill>
                  <a:srgbClr val="3F3F3F"/>
                </a:solidFill>
                <a:latin typeface="Yu Gothic"/>
                <a:ea typeface="Yu Gothic"/>
                <a:cs typeface="Yu Gothic"/>
              </a:defRPr>
            </a:pPr>
            <a:r>
              <a:rPr sz="1575" b="1" i="0">
                <a:solidFill>
                  <a:srgbClr val="3F3F3F"/>
                </a:solidFill>
                <a:latin typeface="Yu Gothic"/>
                <a:ea typeface="Yu Gothic"/>
                <a:cs typeface="Yu Gothic"/>
              </a:rPr>
              <a:t>装置実装</a:t>
            </a:r>
          </a:p>
        </p:txBody>
      </p:sp>
      <p:sp>
        <p:nvSpPr>
          <p:cNvPr id="22" name="">
            <a:extLst xmlns:a="http://schemas.openxmlformats.org/drawingml/2006/main">
              <a:ext uri="{FF2B5EF4-FFF2-40B4-BE49-F238E27FC236}">
                <a16:creationId xmlns:a16="http://schemas.microsoft.com/office/drawing/2014/main" id="{AC051883-3739-407E-A50E-71BFE4CF5304}"/>
              </a:ext>
            </a:extLst>
          </p:cNvPr>
          <p:cNvSpPr>
            <a:spLocks xmlns:a="http://schemas.openxmlformats.org/drawingml/2006/main" noGrp="1"/>
          </p:cNvSpPr>
          <p:nvPr/>
        </p:nvSpPr>
        <p:spPr>
          <a:xfrm xmlns:a="http://schemas.openxmlformats.org/drawingml/2006/main">
            <a:off x="8058150" y="2133600"/>
            <a:ext cx="3390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8000"/>
              </a:lnSpc>
              <a:buNone/>
              <a:defRPr sz="1200" b="1" i="0">
                <a:solidFill>
                  <a:srgbClr val="7B2DAF"/>
                </a:solidFill>
                <a:latin typeface="Yu Gothic"/>
                <a:ea typeface="Yu Gothic"/>
                <a:cs typeface="Yu Gothic"/>
              </a:defRPr>
            </a:pPr>
            <a:r>
              <a:rPr sz="1200" b="1" i="0">
                <a:solidFill>
                  <a:srgbClr val="7B2DAF"/>
                </a:solidFill>
                <a:latin typeface="Yu Gothic"/>
                <a:ea typeface="Yu Gothic"/>
                <a:cs typeface="Yu Gothic"/>
              </a:rPr>
              <a:t>予測・virtual sensor・異常検知を同じ状態定義で接続</a:t>
            </a:r>
          </a:p>
        </p:txBody>
      </p:sp>
      <p:sp>
        <p:nvSpPr>
          <p:cNvPr id="23" name="">
            <a:extLst xmlns:a="http://schemas.openxmlformats.org/drawingml/2006/main">
              <a:ext uri="{FF2B5EF4-FFF2-40B4-BE49-F238E27FC236}">
                <a16:creationId xmlns:a16="http://schemas.microsoft.com/office/drawing/2014/main" id="{6D693D94-AAC9-4C76-843A-9F0E3B773C7C}"/>
              </a:ext>
            </a:extLst>
          </p:cNvPr>
          <p:cNvSpPr>
            <a:spLocks xmlns:a="http://schemas.openxmlformats.org/drawingml/2006/main" noGrp="1"/>
          </p:cNvSpPr>
          <p:nvPr/>
        </p:nvSpPr>
        <p:spPr>
          <a:xfrm xmlns:a="http://schemas.openxmlformats.org/drawingml/2006/main">
            <a:off x="8058150" y="2876550"/>
            <a:ext cx="33909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8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warm-up/cool-down予測、欠測補完、未知発熱とsensor biasの推定に利用可能。運転域、sensor帯域、hotspot marginは装置ごとに固定する。</a:t>
            </a:r>
          </a:p>
        </p:txBody>
      </p:sp>
      <p:sp>
        <p:nvSpPr>
          <p:cNvPr id="24" name="">
            <a:extLst xmlns:a="http://schemas.openxmlformats.org/drawingml/2006/main">
              <a:ext uri="{FF2B5EF4-FFF2-40B4-BE49-F238E27FC236}">
                <a16:creationId xmlns:a16="http://schemas.microsoft.com/office/drawing/2014/main" id="{C83CFCA0-3AF2-462D-BEC2-47E7AFEB314C}"/>
              </a:ext>
            </a:extLst>
          </p:cNvPr>
          <p:cNvSpPr>
            <a:spLocks xmlns:a="http://schemas.openxmlformats.org/drawingml/2006/main" noGrp="1"/>
          </p:cNvSpPr>
          <p:nvPr/>
        </p:nvSpPr>
        <p:spPr>
          <a:xfrm xmlns:a="http://schemas.openxmlformats.org/drawingml/2006/main">
            <a:off x="552450" y="4333875"/>
            <a:ext cx="2590800" cy="13335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5" name="">
            <a:extLst xmlns:a="http://schemas.openxmlformats.org/drawingml/2006/main">
              <a:ext uri="{FF2B5EF4-FFF2-40B4-BE49-F238E27FC236}">
                <a16:creationId xmlns:a16="http://schemas.microsoft.com/office/drawing/2014/main" id="{B3E5237B-CB33-4002-8314-EAD7E2BC8E55}"/>
              </a:ext>
            </a:extLst>
          </p:cNvPr>
          <p:cNvSpPr>
            <a:spLocks xmlns:a="http://schemas.openxmlformats.org/drawingml/2006/main" noGrp="1"/>
          </p:cNvSpPr>
          <p:nvPr/>
        </p:nvSpPr>
        <p:spPr>
          <a:xfrm xmlns:a="http://schemas.openxmlformats.org/drawingml/2006/main">
            <a:off x="552450" y="4333875"/>
            <a:ext cx="66675" cy="13335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C62B821-F7FC-4B0A-94E5-ED7699FD907E}"/>
              </a:ext>
            </a:extLst>
          </p:cNvPr>
          <p:cNvSpPr>
            <a:spLocks xmlns:a="http://schemas.openxmlformats.org/drawingml/2006/main" noGrp="1"/>
          </p:cNvSpPr>
          <p:nvPr/>
        </p:nvSpPr>
        <p:spPr>
          <a:xfrm xmlns:a="http://schemas.openxmlformats.org/drawingml/2006/main">
            <a:off x="742950" y="4429125"/>
            <a:ext cx="2305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0.036 K</a:t>
            </a:r>
          </a:p>
        </p:txBody>
      </p:sp>
      <p:sp>
        <p:nvSpPr>
          <p:cNvPr id="27" name="">
            <a:extLst xmlns:a="http://schemas.openxmlformats.org/drawingml/2006/main">
              <a:ext uri="{FF2B5EF4-FFF2-40B4-BE49-F238E27FC236}">
                <a16:creationId xmlns:a16="http://schemas.microsoft.com/office/drawing/2014/main" id="{BA5B5B7D-22DC-417C-B55E-BB4C6ADCCE4A}"/>
              </a:ext>
            </a:extLst>
          </p:cNvPr>
          <p:cNvSpPr>
            <a:spLocks xmlns:a="http://schemas.openxmlformats.org/drawingml/2006/main" noGrp="1"/>
          </p:cNvSpPr>
          <p:nvPr/>
        </p:nvSpPr>
        <p:spPr>
          <a:xfrm xmlns:a="http://schemas.openxmlformats.org/drawingml/2006/main">
            <a:off x="742950" y="4810125"/>
            <a:ext cx="2305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線形COMSOL平均RMSE</a:t>
            </a:r>
          </a:p>
        </p:txBody>
      </p:sp>
      <p:sp>
        <p:nvSpPr>
          <p:cNvPr id="28" name="">
            <a:extLst xmlns:a="http://schemas.openxmlformats.org/drawingml/2006/main">
              <a:ext uri="{FF2B5EF4-FFF2-40B4-BE49-F238E27FC236}">
                <a16:creationId xmlns:a16="http://schemas.microsoft.com/office/drawing/2014/main" id="{560BA911-195C-43ED-BA9A-2FCDB3EF9B19}"/>
              </a:ext>
            </a:extLst>
          </p:cNvPr>
          <p:cNvSpPr>
            <a:spLocks xmlns:a="http://schemas.openxmlformats.org/drawingml/2006/main" noGrp="1"/>
          </p:cNvSpPr>
          <p:nvPr/>
        </p:nvSpPr>
        <p:spPr>
          <a:xfrm xmlns:a="http://schemas.openxmlformats.org/drawingml/2006/main">
            <a:off x="742950" y="5095875"/>
            <a:ext cx="2305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外部forecast 8ケース。最大0.083 K。</a:t>
            </a:r>
          </a:p>
        </p:txBody>
      </p:sp>
      <p:sp>
        <p:nvSpPr>
          <p:cNvPr id="29" name="">
            <a:extLst xmlns:a="http://schemas.openxmlformats.org/drawingml/2006/main">
              <a:ext uri="{FF2B5EF4-FFF2-40B4-BE49-F238E27FC236}">
                <a16:creationId xmlns:a16="http://schemas.microsoft.com/office/drawing/2014/main" id="{7F469F77-CF73-41D1-91CD-DECBD00EA9FC}"/>
              </a:ext>
            </a:extLst>
          </p:cNvPr>
          <p:cNvSpPr>
            <a:spLocks xmlns:a="http://schemas.openxmlformats.org/drawingml/2006/main" noGrp="1"/>
          </p:cNvSpPr>
          <p:nvPr/>
        </p:nvSpPr>
        <p:spPr>
          <a:xfrm xmlns:a="http://schemas.openxmlformats.org/drawingml/2006/main">
            <a:off x="3333750" y="4333875"/>
            <a:ext cx="2590800" cy="13335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0" name="">
            <a:extLst xmlns:a="http://schemas.openxmlformats.org/drawingml/2006/main">
              <a:ext uri="{FF2B5EF4-FFF2-40B4-BE49-F238E27FC236}">
                <a16:creationId xmlns:a16="http://schemas.microsoft.com/office/drawing/2014/main" id="{C64EC2B0-17B0-4C32-BAE2-458C1CCB11ED}"/>
              </a:ext>
            </a:extLst>
          </p:cNvPr>
          <p:cNvSpPr>
            <a:spLocks xmlns:a="http://schemas.openxmlformats.org/drawingml/2006/main" noGrp="1"/>
          </p:cNvSpPr>
          <p:nvPr/>
        </p:nvSpPr>
        <p:spPr>
          <a:xfrm xmlns:a="http://schemas.openxmlformats.org/drawingml/2006/main">
            <a:off x="3333750" y="4333875"/>
            <a:ext cx="66675" cy="13335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AD43AE1-CBB0-40DB-8EED-80BD4CA8A796}"/>
              </a:ext>
            </a:extLst>
          </p:cNvPr>
          <p:cNvSpPr>
            <a:spLocks xmlns:a="http://schemas.openxmlformats.org/drawingml/2006/main" noGrp="1"/>
          </p:cNvSpPr>
          <p:nvPr/>
        </p:nvSpPr>
        <p:spPr>
          <a:xfrm xmlns:a="http://schemas.openxmlformats.org/drawingml/2006/main">
            <a:off x="3524250" y="4429125"/>
            <a:ext cx="2305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0.143 K</a:t>
            </a:r>
          </a:p>
        </p:txBody>
      </p:sp>
      <p:sp>
        <p:nvSpPr>
          <p:cNvPr id="32" name="">
            <a:extLst xmlns:a="http://schemas.openxmlformats.org/drawingml/2006/main">
              <a:ext uri="{FF2B5EF4-FFF2-40B4-BE49-F238E27FC236}">
                <a16:creationId xmlns:a16="http://schemas.microsoft.com/office/drawing/2014/main" id="{A3D85350-F9BE-433F-9FC7-876943C2AF05}"/>
              </a:ext>
            </a:extLst>
          </p:cNvPr>
          <p:cNvSpPr>
            <a:spLocks xmlns:a="http://schemas.openxmlformats.org/drawingml/2006/main" noGrp="1"/>
          </p:cNvSpPr>
          <p:nvPr/>
        </p:nvSpPr>
        <p:spPr>
          <a:xfrm xmlns:a="http://schemas.openxmlformats.org/drawingml/2006/main">
            <a:off x="3524250" y="4810125"/>
            <a:ext cx="2305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TopCell core平均RMSE</a:t>
            </a:r>
          </a:p>
        </p:txBody>
      </p:sp>
      <p:sp>
        <p:nvSpPr>
          <p:cNvPr id="33" name="">
            <a:extLst xmlns:a="http://schemas.openxmlformats.org/drawingml/2006/main">
              <a:ext uri="{FF2B5EF4-FFF2-40B4-BE49-F238E27FC236}">
                <a16:creationId xmlns:a16="http://schemas.microsoft.com/office/drawing/2014/main" id="{BF356D27-507E-404E-82E4-D54F8264C831}"/>
              </a:ext>
            </a:extLst>
          </p:cNvPr>
          <p:cNvSpPr>
            <a:spLocks xmlns:a="http://schemas.openxmlformats.org/drawingml/2006/main" noGrp="1"/>
          </p:cNvSpPr>
          <p:nvPr/>
        </p:nvSpPr>
        <p:spPr>
          <a:xfrm xmlns:a="http://schemas.openxmlformats.org/drawingml/2006/main">
            <a:off x="3524250" y="5095875"/>
            <a:ext cx="2305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初期観測が疎なF09がworst 1.303 K。</a:t>
            </a:r>
          </a:p>
        </p:txBody>
      </p:sp>
      <p:sp>
        <p:nvSpPr>
          <p:cNvPr id="34" name="">
            <a:extLst xmlns:a="http://schemas.openxmlformats.org/drawingml/2006/main">
              <a:ext uri="{FF2B5EF4-FFF2-40B4-BE49-F238E27FC236}">
                <a16:creationId xmlns:a16="http://schemas.microsoft.com/office/drawing/2014/main" id="{E0A482A9-0111-4220-91B6-6F8BAC1FB99B}"/>
              </a:ext>
            </a:extLst>
          </p:cNvPr>
          <p:cNvSpPr>
            <a:spLocks xmlns:a="http://schemas.openxmlformats.org/drawingml/2006/main" noGrp="1"/>
          </p:cNvSpPr>
          <p:nvPr/>
        </p:nvSpPr>
        <p:spPr>
          <a:xfrm xmlns:a="http://schemas.openxmlformats.org/drawingml/2006/main">
            <a:off x="6115050" y="4333875"/>
            <a:ext cx="2590800" cy="13335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5" name="">
            <a:extLst xmlns:a="http://schemas.openxmlformats.org/drawingml/2006/main">
              <a:ext uri="{FF2B5EF4-FFF2-40B4-BE49-F238E27FC236}">
                <a16:creationId xmlns:a16="http://schemas.microsoft.com/office/drawing/2014/main" id="{1E12801B-7562-4ADF-BD86-C089B3B3E388}"/>
              </a:ext>
            </a:extLst>
          </p:cNvPr>
          <p:cNvSpPr>
            <a:spLocks xmlns:a="http://schemas.openxmlformats.org/drawingml/2006/main" noGrp="1"/>
          </p:cNvSpPr>
          <p:nvPr/>
        </p:nvSpPr>
        <p:spPr>
          <a:xfrm xmlns:a="http://schemas.openxmlformats.org/drawingml/2006/main">
            <a:off x="6115050" y="4333875"/>
            <a:ext cx="66675" cy="13335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DFEE59C4-27BF-499F-83BE-276833A343A9}"/>
              </a:ext>
            </a:extLst>
          </p:cNvPr>
          <p:cNvSpPr>
            <a:spLocks xmlns:a="http://schemas.openxmlformats.org/drawingml/2006/main" noGrp="1"/>
          </p:cNvSpPr>
          <p:nvPr/>
        </p:nvSpPr>
        <p:spPr>
          <a:xfrm xmlns:a="http://schemas.openxmlformats.org/drawingml/2006/main">
            <a:off x="6305550" y="4429125"/>
            <a:ext cx="2305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0.0956 K</a:t>
            </a:r>
          </a:p>
        </p:txBody>
      </p:sp>
      <p:sp>
        <p:nvSpPr>
          <p:cNvPr id="37" name="">
            <a:extLst xmlns:a="http://schemas.openxmlformats.org/drawingml/2006/main">
              <a:ext uri="{FF2B5EF4-FFF2-40B4-BE49-F238E27FC236}">
                <a16:creationId xmlns:a16="http://schemas.microsoft.com/office/drawing/2014/main" id="{5AE986CC-D36F-4763-B7BA-13E5DB4F8A92}"/>
              </a:ext>
            </a:extLst>
          </p:cNvPr>
          <p:cNvSpPr>
            <a:spLocks xmlns:a="http://schemas.openxmlformats.org/drawingml/2006/main" noGrp="1"/>
          </p:cNvSpPr>
          <p:nvPr/>
        </p:nvSpPr>
        <p:spPr>
          <a:xfrm xmlns:a="http://schemas.openxmlformats.org/drawingml/2006/main">
            <a:off x="6305550" y="4810125"/>
            <a:ext cx="2305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高忠実度2ケース平均RMSE</a:t>
            </a:r>
          </a:p>
        </p:txBody>
      </p:sp>
      <p:sp>
        <p:nvSpPr>
          <p:cNvPr id="38" name="">
            <a:extLst xmlns:a="http://schemas.openxmlformats.org/drawingml/2006/main">
              <a:ext uri="{FF2B5EF4-FFF2-40B4-BE49-F238E27FC236}">
                <a16:creationId xmlns:a16="http://schemas.microsoft.com/office/drawing/2014/main" id="{071C878F-39D1-4FB7-A013-F2BADFDD1F19}"/>
              </a:ext>
            </a:extLst>
          </p:cNvPr>
          <p:cNvSpPr>
            <a:spLocks xmlns:a="http://schemas.openxmlformats.org/drawingml/2006/main" noGrp="1"/>
          </p:cNvSpPr>
          <p:nvPr/>
        </p:nvSpPr>
        <p:spPr>
          <a:xfrm xmlns:a="http://schemas.openxmlformats.org/drawingml/2006/main">
            <a:off x="6305550" y="5095875"/>
            <a:ext cx="2305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mesh/time/experiment strict validationは未完了。</a:t>
            </a:r>
          </a:p>
        </p:txBody>
      </p:sp>
      <p:sp>
        <p:nvSpPr>
          <p:cNvPr id="39" name="">
            <a:extLst xmlns:a="http://schemas.openxmlformats.org/drawingml/2006/main">
              <a:ext uri="{FF2B5EF4-FFF2-40B4-BE49-F238E27FC236}">
                <a16:creationId xmlns:a16="http://schemas.microsoft.com/office/drawing/2014/main" id="{FEC82DC0-69EE-47CA-A31C-1CB6D7DA7315}"/>
              </a:ext>
            </a:extLst>
          </p:cNvPr>
          <p:cNvSpPr>
            <a:spLocks xmlns:a="http://schemas.openxmlformats.org/drawingml/2006/main" noGrp="1"/>
          </p:cNvSpPr>
          <p:nvPr/>
        </p:nvSpPr>
        <p:spPr>
          <a:xfrm xmlns:a="http://schemas.openxmlformats.org/drawingml/2006/main">
            <a:off x="8896350" y="4333875"/>
            <a:ext cx="2743200" cy="1333500"/>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313427B2-17F5-483A-9469-6E527DB7E60C}"/>
              </a:ext>
            </a:extLst>
          </p:cNvPr>
          <p:cNvSpPr>
            <a:spLocks xmlns:a="http://schemas.openxmlformats.org/drawingml/2006/main" noGrp="1"/>
          </p:cNvSpPr>
          <p:nvPr/>
        </p:nvSpPr>
        <p:spPr>
          <a:xfrm xmlns:a="http://schemas.openxmlformats.org/drawingml/2006/main">
            <a:off x="9086850" y="4476750"/>
            <a:ext cx="2381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6BE18"/>
                </a:solidFill>
                <a:latin typeface="Yu Gothic"/>
                <a:ea typeface="Yu Gothic"/>
                <a:cs typeface="Yu Gothic"/>
              </a:defRPr>
            </a:pPr>
            <a:r>
              <a:rPr sz="975" b="1" i="0">
                <a:solidFill>
                  <a:srgbClr val="76BE18"/>
                </a:solidFill>
                <a:latin typeface="Yu Gothic"/>
                <a:ea typeface="Yu Gothic"/>
                <a:cs typeface="Yu Gothic"/>
              </a:rPr>
              <a:t>工学判断</a:t>
            </a:r>
          </a:p>
        </p:txBody>
      </p:sp>
      <p:sp>
        <p:nvSpPr>
          <p:cNvPr id="41" name="">
            <a:extLst xmlns:a="http://schemas.openxmlformats.org/drawingml/2006/main">
              <a:ext uri="{FF2B5EF4-FFF2-40B4-BE49-F238E27FC236}">
                <a16:creationId xmlns:a16="http://schemas.microsoft.com/office/drawing/2014/main" id="{91243D32-8B93-4859-9BEF-0A55FF909972}"/>
              </a:ext>
            </a:extLst>
          </p:cNvPr>
          <p:cNvSpPr>
            <a:spLocks xmlns:a="http://schemas.openxmlformats.org/drawingml/2006/main" noGrp="1"/>
          </p:cNvSpPr>
          <p:nvPr/>
        </p:nvSpPr>
        <p:spPr>
          <a:xfrm xmlns:a="http://schemas.openxmlformats.org/drawingml/2006/main">
            <a:off x="9086850" y="4791075"/>
            <a:ext cx="2381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4000"/>
              </a:lnSpc>
              <a:buNone/>
              <a:defRPr sz="1500" b="1" i="0">
                <a:solidFill>
                  <a:srgbClr val="FFFFFF"/>
                </a:solidFill>
                <a:latin typeface="Yu Gothic"/>
                <a:ea typeface="Yu Gothic"/>
                <a:cs typeface="Yu Gothic"/>
              </a:defRPr>
            </a:pPr>
            <a:r>
              <a:rPr sz="1500" b="1" i="0">
                <a:solidFill>
                  <a:srgbClr val="FFFFFF"/>
                </a:solidFill>
                <a:latin typeface="Yu Gothic"/>
                <a:ea typeface="Yu Gothic"/>
                <a:cs typeface="Yu Gothic"/>
              </a:rPr>
              <a:t>体積平均の高精度を</a:t>
            </a:r>
          </a:p>
          <a:p xmlns:a="http://schemas.openxmlformats.org/drawingml/2006/main">
            <a:pPr algn="l">
              <a:lnSpc>
                <a:spcPct val="104000"/>
              </a:lnSpc>
              <a:buNone/>
              <a:defRPr sz="1500" b="1" i="0">
                <a:solidFill>
                  <a:srgbClr val="FFFFFF"/>
                </a:solidFill>
                <a:latin typeface="Yu Gothic"/>
                <a:ea typeface="Yu Gothic"/>
                <a:cs typeface="Yu Gothic"/>
              </a:defRPr>
            </a:pPr>
            <a:r>
              <a:rPr sz="1500" b="1" i="0">
                <a:solidFill>
                  <a:srgbClr val="FFFFFF"/>
                </a:solidFill>
                <a:latin typeface="Yu Gothic"/>
                <a:ea typeface="Yu Gothic"/>
                <a:cs typeface="Yu Gothic"/>
              </a:rPr>
              <a:t>hotspot保証へ外挿しない</a:t>
            </a:r>
          </a:p>
        </p:txBody>
      </p:sp>
      <p:sp>
        <p:nvSpPr>
          <p:cNvPr id="42" name="">
            <a:extLst xmlns:a="http://schemas.openxmlformats.org/drawingml/2006/main">
              <a:ext uri="{FF2B5EF4-FFF2-40B4-BE49-F238E27FC236}">
                <a16:creationId xmlns:a16="http://schemas.microsoft.com/office/drawing/2014/main" id="{702C8CB6-5E8F-44EF-87C1-052DA1B2DB24}"/>
              </a:ext>
            </a:extLst>
          </p:cNvPr>
          <p:cNvSpPr>
            <a:spLocks xmlns:a="http://schemas.openxmlformats.org/drawingml/2006/main" noGrp="1"/>
          </p:cNvSpPr>
          <p:nvPr/>
        </p:nvSpPr>
        <p:spPr>
          <a:xfrm xmlns:a="http://schemas.openxmlformats.org/drawingml/2006/main">
            <a:off x="9086850" y="5410200"/>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D8D0E8"/>
                </a:solidFill>
                <a:latin typeface="Yu Gothic"/>
                <a:ea typeface="Yu Gothic"/>
                <a:cs typeface="Yu Gothic"/>
              </a:defRPr>
            </a:pPr>
            <a:r>
              <a:rPr sz="788" b="0" i="0">
                <a:solidFill>
                  <a:srgbClr val="D8D0E8"/>
                </a:solidFill>
                <a:latin typeface="Yu Gothic"/>
                <a:ea typeface="Yu Gothic"/>
                <a:cs typeface="Yu Gothic"/>
              </a:rPr>
              <a:t>最大hotspot過小評価 0.328 K</a:t>
            </a:r>
          </a:p>
        </p:txBody>
      </p:sp>
    </p:spTree>
    <p:extLst>
      <p:ext uri="{BB962C8B-B14F-4D97-AF65-F5344CB8AC3E}">
        <p14:creationId xmlns:p14="http://schemas.microsoft.com/office/powerpoint/2010/main" val="49340774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8" name="">
            <a:extLst xmlns:a="http://schemas.openxmlformats.org/drawingml/2006/main">
              <a:ext uri="{FF2B5EF4-FFF2-40B4-BE49-F238E27FC236}">
                <a16:creationId xmlns:a16="http://schemas.microsoft.com/office/drawing/2014/main" id="{49E24D70-EDCB-4678-B484-25CA0CBF5206}"/>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A10DB02-0ABD-4AD7-939E-E3DC17341430}"/>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EQUIPMENT CONTEXT</a:t>
            </a:r>
          </a:p>
        </p:txBody>
      </p:sp>
      <p:sp>
        <p:nvSpPr>
          <p:cNvPr id="3" name="">
            <a:extLst xmlns:a="http://schemas.openxmlformats.org/drawingml/2006/main">
              <a:ext uri="{FF2B5EF4-FFF2-40B4-BE49-F238E27FC236}">
                <a16:creationId xmlns:a16="http://schemas.microsoft.com/office/drawing/2014/main" id="{E5EEFD68-653D-445C-B7A1-D9332040AFD1}"/>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半導体装置では、熱源・熱経路・計測点を装置構成に対応付けて使う</a:t>
            </a:r>
          </a:p>
        </p:txBody>
      </p:sp>
      <p:sp>
        <p:nvSpPr>
          <p:cNvPr id="4" name="">
            <a:extLst xmlns:a="http://schemas.openxmlformats.org/drawingml/2006/main">
              <a:ext uri="{FF2B5EF4-FFF2-40B4-BE49-F238E27FC236}">
                <a16:creationId xmlns:a16="http://schemas.microsoft.com/office/drawing/2014/main" id="{6B5C6927-6981-4EC8-B116-9B8DF9271CEF}"/>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モデルはCAEの代替ではなく、制御周期で扱える状態推定・予測層として配置する</a:t>
            </a:r>
          </a:p>
        </p:txBody>
      </p:sp>
      <p:sp>
        <p:nvSpPr>
          <p:cNvPr id="5" name="">
            <a:extLst xmlns:a="http://schemas.openxmlformats.org/drawingml/2006/main">
              <a:ext uri="{FF2B5EF4-FFF2-40B4-BE49-F238E27FC236}">
                <a16:creationId xmlns:a16="http://schemas.microsoft.com/office/drawing/2014/main" id="{FAF04AE1-AEB0-45EF-B752-C8FEF677A681}"/>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028F6067-4C18-4B1E-AF0C-135241015DF9}"/>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A01EEC85-7FEB-44E1-820A-920679774635}"/>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8A238EE9-AB89-41DB-ACB4-78B616262D6E}"/>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7</a:t>
            </a:r>
          </a:p>
        </p:txBody>
      </p:sp>
      <p:sp>
        <p:nvSpPr>
          <p:cNvPr id="9" name="">
            <a:extLst xmlns:a="http://schemas.openxmlformats.org/drawingml/2006/main">
              <a:ext uri="{FF2B5EF4-FFF2-40B4-BE49-F238E27FC236}">
                <a16:creationId xmlns:a16="http://schemas.microsoft.com/office/drawing/2014/main" id="{5F5DBABC-4D8F-47EC-955F-682F13BEC84E}"/>
              </a:ext>
            </a:extLst>
          </p:cNvPr>
          <p:cNvSpPr>
            <a:spLocks xmlns:a="http://schemas.openxmlformats.org/drawingml/2006/main" noGrp="1"/>
          </p:cNvSpPr>
          <p:nvPr/>
        </p:nvSpPr>
        <p:spPr>
          <a:xfrm xmlns:a="http://schemas.openxmlformats.org/drawingml/2006/main">
            <a:off x="552450" y="1381125"/>
            <a:ext cx="542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装置断面の概念対応</a:t>
            </a:r>
          </a:p>
        </p:txBody>
      </p:sp>
      <p:sp>
        <p:nvSpPr>
          <p:cNvPr id="10" name="">
            <a:extLst xmlns:a="http://schemas.openxmlformats.org/drawingml/2006/main">
              <a:ext uri="{FF2B5EF4-FFF2-40B4-BE49-F238E27FC236}">
                <a16:creationId xmlns:a16="http://schemas.microsoft.com/office/drawing/2014/main" id="{12EE1BB8-32F7-46D9-AA9E-BEFAA7C1E980}"/>
              </a:ext>
            </a:extLst>
          </p:cNvPr>
          <p:cNvSpPr>
            <a:spLocks xmlns:a="http://schemas.openxmlformats.org/drawingml/2006/main" noGrp="1"/>
          </p:cNvSpPr>
          <p:nvPr/>
        </p:nvSpPr>
        <p:spPr>
          <a:xfrm xmlns:a="http://schemas.openxmlformats.org/drawingml/2006/main">
            <a:off x="781050" y="1809750"/>
            <a:ext cx="5143500" cy="3476625"/>
          </a:xfrm>
          <a:prstGeom xmlns:a="http://schemas.openxmlformats.org/drawingml/2006/main" prst="rect">
            <a:avLst/>
          </a:prstGeom>
          <a:solidFill xmlns:a="http://schemas.openxmlformats.org/drawingml/2006/main">
            <a:srgbClr val="F8F8F8"/>
          </a:solidFill>
          <a:ln xmlns:a="http://schemas.openxmlformats.org/drawingml/2006/main" w="19050">
            <a:solidFill>
              <a:srgbClr val="3F3F3F"/>
            </a:solidFill>
            <a:prstDash val="solid"/>
          </a:ln>
        </p:spPr>
      </p:sp>
      <p:sp>
        <p:nvSpPr>
          <p:cNvPr id="11" name="">
            <a:extLst xmlns:a="http://schemas.openxmlformats.org/drawingml/2006/main">
              <a:ext uri="{FF2B5EF4-FFF2-40B4-BE49-F238E27FC236}">
                <a16:creationId xmlns:a16="http://schemas.microsoft.com/office/drawing/2014/main" id="{D610A79C-3344-4D1F-8E80-ADB34F0F2BD7}"/>
              </a:ext>
            </a:extLst>
          </p:cNvPr>
          <p:cNvSpPr>
            <a:spLocks xmlns:a="http://schemas.openxmlformats.org/drawingml/2006/main" noGrp="1"/>
          </p:cNvSpPr>
          <p:nvPr/>
        </p:nvSpPr>
        <p:spPr>
          <a:xfrm xmlns:a="http://schemas.openxmlformats.org/drawingml/2006/main">
            <a:off x="952500" y="1933575"/>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777777"/>
                </a:solidFill>
                <a:latin typeface="Yu Gothic"/>
                <a:ea typeface="Yu Gothic"/>
                <a:cs typeface="Yu Gothic"/>
              </a:defRPr>
            </a:pPr>
            <a:r>
              <a:rPr sz="825" b="1" i="0">
                <a:solidFill>
                  <a:srgbClr val="777777"/>
                </a:solidFill>
                <a:latin typeface="Yu Gothic"/>
                <a:ea typeface="Yu Gothic"/>
                <a:cs typeface="Yu Gothic"/>
              </a:rPr>
              <a:t>process chamber</a:t>
            </a:r>
          </a:p>
        </p:txBody>
      </p:sp>
      <p:sp>
        <p:nvSpPr>
          <p:cNvPr id="12" name="">
            <a:extLst xmlns:a="http://schemas.openxmlformats.org/drawingml/2006/main">
              <a:ext uri="{FF2B5EF4-FFF2-40B4-BE49-F238E27FC236}">
                <a16:creationId xmlns:a16="http://schemas.microsoft.com/office/drawing/2014/main" id="{08E3159E-B8FA-41A5-A1AC-D94B37339876}"/>
              </a:ext>
            </a:extLst>
          </p:cNvPr>
          <p:cNvSpPr>
            <a:spLocks xmlns:a="http://schemas.openxmlformats.org/drawingml/2006/main" noGrp="1"/>
          </p:cNvSpPr>
          <p:nvPr/>
        </p:nvSpPr>
        <p:spPr>
          <a:xfrm xmlns:a="http://schemas.openxmlformats.org/drawingml/2006/main">
            <a:off x="2771775" y="1438275"/>
            <a:ext cx="1143000" cy="400050"/>
          </a:xfrm>
          <a:prstGeom xmlns:a="http://schemas.openxmlformats.org/drawingml/2006/main" prst="rect">
            <a:avLst/>
          </a:prstGeom>
          <a:solidFill xmlns:a="http://schemas.openxmlformats.org/drawingml/2006/main">
            <a:srgbClr val="E5F6FB"/>
          </a:solidFill>
          <a:ln xmlns:a="http://schemas.openxmlformats.org/drawingml/2006/main" w="19050">
            <a:solidFill>
              <a:srgbClr val="00A5D8"/>
            </a:solidFill>
            <a:prstDash val="solid"/>
          </a:ln>
        </p:spPr>
      </p:sp>
      <p:sp>
        <p:nvSpPr>
          <p:cNvPr id="13" name="">
            <a:extLst xmlns:a="http://schemas.openxmlformats.org/drawingml/2006/main">
              <a:ext uri="{FF2B5EF4-FFF2-40B4-BE49-F238E27FC236}">
                <a16:creationId xmlns:a16="http://schemas.microsoft.com/office/drawing/2014/main" id="{59971B0A-E5EC-4CD5-899F-C7C85F26B367}"/>
              </a:ext>
            </a:extLst>
          </p:cNvPr>
          <p:cNvSpPr>
            <a:spLocks xmlns:a="http://schemas.openxmlformats.org/drawingml/2006/main" noGrp="1"/>
          </p:cNvSpPr>
          <p:nvPr/>
        </p:nvSpPr>
        <p:spPr>
          <a:xfrm xmlns:a="http://schemas.openxmlformats.org/drawingml/2006/main">
            <a:off x="2857500" y="1514475"/>
            <a:ext cx="971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007FA8"/>
                </a:solidFill>
                <a:latin typeface="Yu Gothic"/>
                <a:ea typeface="Yu Gothic"/>
                <a:cs typeface="Yu Gothic"/>
              </a:defRPr>
            </a:pPr>
            <a:r>
              <a:rPr sz="900" b="1" i="0">
                <a:solidFill>
                  <a:srgbClr val="007FA8"/>
                </a:solidFill>
                <a:latin typeface="Yu Gothic"/>
                <a:ea typeface="Yu Gothic"/>
                <a:cs typeface="Yu Gothic"/>
              </a:rPr>
              <a:t>gas / plasma</a:t>
            </a:r>
          </a:p>
        </p:txBody>
      </p:sp>
      <p:sp>
        <p:nvSpPr>
          <p:cNvPr id="14" name="">
            <a:extLst xmlns:a="http://schemas.openxmlformats.org/drawingml/2006/main">
              <a:ext uri="{FF2B5EF4-FFF2-40B4-BE49-F238E27FC236}">
                <a16:creationId xmlns:a16="http://schemas.microsoft.com/office/drawing/2014/main" id="{EC2E9AB7-62B3-4DCD-BD18-8AB59D99B6C8}"/>
              </a:ext>
            </a:extLst>
          </p:cNvPr>
          <p:cNvSpPr>
            <a:spLocks xmlns:a="http://schemas.openxmlformats.org/drawingml/2006/main" noGrp="1"/>
          </p:cNvSpPr>
          <p:nvPr/>
        </p:nvSpPr>
        <p:spPr>
          <a:xfrm xmlns:a="http://schemas.openxmlformats.org/drawingml/2006/main">
            <a:off x="3343275" y="1838325"/>
            <a:ext cx="0" cy="590550"/>
          </a:xfrm>
          <a:prstGeom xmlns:a="http://schemas.openxmlformats.org/drawingml/2006/main" prst="line">
            <a:avLst/>
          </a:prstGeom>
          <a:noFill xmlns:a="http://schemas.openxmlformats.org/drawingml/2006/main"/>
          <a:ln xmlns:a="http://schemas.openxmlformats.org/drawingml/2006/main" w="28575">
            <a:solidFill>
              <a:srgbClr val="00A5D8"/>
            </a:solidFill>
            <a:prstDash val="solid"/>
          </a:ln>
        </p:spPr>
      </p:sp>
      <p:sp>
        <p:nvSpPr>
          <p:cNvPr id="15" name="">
            <a:extLst xmlns:a="http://schemas.openxmlformats.org/drawingml/2006/main">
              <a:ext uri="{FF2B5EF4-FFF2-40B4-BE49-F238E27FC236}">
                <a16:creationId xmlns:a16="http://schemas.microsoft.com/office/drawing/2014/main" id="{BA81E51E-BA42-4352-B30B-C576E9E6D815}"/>
              </a:ext>
            </a:extLst>
          </p:cNvPr>
          <p:cNvSpPr>
            <a:spLocks xmlns:a="http://schemas.openxmlformats.org/drawingml/2006/main" noGrp="1"/>
          </p:cNvSpPr>
          <p:nvPr/>
        </p:nvSpPr>
        <p:spPr>
          <a:xfrm xmlns:a="http://schemas.openxmlformats.org/drawingml/2006/main">
            <a:off x="1790700" y="2571750"/>
            <a:ext cx="3124200" cy="361950"/>
          </a:xfrm>
          <a:prstGeom xmlns:a="http://schemas.openxmlformats.org/drawingml/2006/main" prst="ellipse">
            <a:avLst/>
          </a:prstGeom>
          <a:solidFill xmlns:a="http://schemas.openxmlformats.org/drawingml/2006/main">
            <a:srgbClr val="BBDDE7"/>
          </a:solidFill>
          <a:ln xmlns:a="http://schemas.openxmlformats.org/drawingml/2006/main" w="19050">
            <a:solidFill>
              <a:srgbClr val="007FA8"/>
            </a:solidFill>
            <a:prstDash val="solid"/>
          </a:ln>
        </p:spPr>
      </p:sp>
      <p:sp>
        <p:nvSpPr>
          <p:cNvPr id="16" name="">
            <a:extLst xmlns:a="http://schemas.openxmlformats.org/drawingml/2006/main">
              <a:ext uri="{FF2B5EF4-FFF2-40B4-BE49-F238E27FC236}">
                <a16:creationId xmlns:a16="http://schemas.microsoft.com/office/drawing/2014/main" id="{C1C3DAC0-D934-40F6-960C-E0B7E754444A}"/>
              </a:ext>
            </a:extLst>
          </p:cNvPr>
          <p:cNvSpPr>
            <a:spLocks xmlns:a="http://schemas.openxmlformats.org/drawingml/2006/main" noGrp="1"/>
          </p:cNvSpPr>
          <p:nvPr/>
        </p:nvSpPr>
        <p:spPr>
          <a:xfrm xmlns:a="http://schemas.openxmlformats.org/drawingml/2006/main">
            <a:off x="2400300" y="2609850"/>
            <a:ext cx="190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75" b="1" i="0">
                <a:solidFill>
                  <a:srgbClr val="007FA8"/>
                </a:solidFill>
                <a:latin typeface="Yu Gothic"/>
                <a:ea typeface="Yu Gothic"/>
                <a:cs typeface="Yu Gothic"/>
              </a:defRPr>
            </a:pPr>
            <a:r>
              <a:rPr sz="975" b="1" i="0">
                <a:solidFill>
                  <a:srgbClr val="007FA8"/>
                </a:solidFill>
                <a:latin typeface="Yu Gothic"/>
                <a:ea typeface="Yu Gothic"/>
                <a:cs typeface="Yu Gothic"/>
              </a:rPr>
              <a:t>wafer / workpiece</a:t>
            </a:r>
          </a:p>
        </p:txBody>
      </p:sp>
      <p:sp>
        <p:nvSpPr>
          <p:cNvPr id="17" name="">
            <a:extLst xmlns:a="http://schemas.openxmlformats.org/drawingml/2006/main">
              <a:ext uri="{FF2B5EF4-FFF2-40B4-BE49-F238E27FC236}">
                <a16:creationId xmlns:a16="http://schemas.microsoft.com/office/drawing/2014/main" id="{59C7974F-6FAA-48B2-B202-7F4375D94CB5}"/>
              </a:ext>
            </a:extLst>
          </p:cNvPr>
          <p:cNvSpPr>
            <a:spLocks xmlns:a="http://schemas.openxmlformats.org/drawingml/2006/main" noGrp="1"/>
          </p:cNvSpPr>
          <p:nvPr/>
        </p:nvSpPr>
        <p:spPr>
          <a:xfrm xmlns:a="http://schemas.openxmlformats.org/drawingml/2006/main">
            <a:off x="1619250" y="2971800"/>
            <a:ext cx="3467100" cy="1000125"/>
          </a:xfrm>
          <a:prstGeom xmlns:a="http://schemas.openxmlformats.org/drawingml/2006/main" prst="rect">
            <a:avLst/>
          </a:prstGeom>
          <a:solidFill xmlns:a="http://schemas.openxmlformats.org/drawingml/2006/main">
            <a:srgbClr val="EFE5F6"/>
          </a:solidFill>
          <a:ln xmlns:a="http://schemas.openxmlformats.org/drawingml/2006/main" w="19050">
            <a:solidFill>
              <a:srgbClr val="7B2DAF"/>
            </a:solidFill>
            <a:prstDash val="solid"/>
          </a:ln>
        </p:spPr>
      </p:sp>
      <p:sp>
        <p:nvSpPr>
          <p:cNvPr id="18" name="">
            <a:extLst xmlns:a="http://schemas.openxmlformats.org/drawingml/2006/main">
              <a:ext uri="{FF2B5EF4-FFF2-40B4-BE49-F238E27FC236}">
                <a16:creationId xmlns:a16="http://schemas.microsoft.com/office/drawing/2014/main" id="{172E9D81-610E-46A8-A1C5-F37439A78745}"/>
              </a:ext>
            </a:extLst>
          </p:cNvPr>
          <p:cNvSpPr>
            <a:spLocks xmlns:a="http://schemas.openxmlformats.org/drawingml/2006/main" noGrp="1"/>
          </p:cNvSpPr>
          <p:nvPr/>
        </p:nvSpPr>
        <p:spPr>
          <a:xfrm xmlns:a="http://schemas.openxmlformats.org/drawingml/2006/main">
            <a:off x="1981200" y="3095625"/>
            <a:ext cx="2743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7B2DAF"/>
                </a:solidFill>
                <a:latin typeface="Yu Gothic"/>
                <a:ea typeface="Yu Gothic"/>
                <a:cs typeface="Yu Gothic"/>
              </a:defRPr>
            </a:pPr>
            <a:r>
              <a:rPr sz="1200" b="1" i="0">
                <a:solidFill>
                  <a:srgbClr val="7B2DAF"/>
                </a:solidFill>
                <a:latin typeface="Yu Gothic"/>
                <a:ea typeface="Yu Gothic"/>
                <a:cs typeface="Yu Gothic"/>
              </a:rPr>
              <a:t>stage / ESC / heater body</a:t>
            </a:r>
          </a:p>
        </p:txBody>
      </p:sp>
      <p:sp>
        <p:nvSpPr>
          <p:cNvPr id="19" name="">
            <a:extLst xmlns:a="http://schemas.openxmlformats.org/drawingml/2006/main">
              <a:ext uri="{FF2B5EF4-FFF2-40B4-BE49-F238E27FC236}">
                <a16:creationId xmlns:a16="http://schemas.microsoft.com/office/drawing/2014/main" id="{17BB5089-E644-4493-BC28-AEB082C27157}"/>
              </a:ext>
            </a:extLst>
          </p:cNvPr>
          <p:cNvSpPr>
            <a:spLocks xmlns:a="http://schemas.openxmlformats.org/drawingml/2006/main" noGrp="1"/>
          </p:cNvSpPr>
          <p:nvPr/>
        </p:nvSpPr>
        <p:spPr>
          <a:xfrm xmlns:a="http://schemas.openxmlformats.org/drawingml/2006/main">
            <a:off x="1847850" y="3495675"/>
            <a:ext cx="3009900" cy="17145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0DE4BC2-1CFB-4746-B471-DC81006FEA74}"/>
              </a:ext>
            </a:extLst>
          </p:cNvPr>
          <p:cNvSpPr>
            <a:spLocks xmlns:a="http://schemas.openxmlformats.org/drawingml/2006/main" noGrp="1"/>
          </p:cNvSpPr>
          <p:nvPr/>
        </p:nvSpPr>
        <p:spPr>
          <a:xfrm xmlns:a="http://schemas.openxmlformats.org/drawingml/2006/main">
            <a:off x="2466975" y="3667125"/>
            <a:ext cx="1790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25" b="0" i="0">
                <a:solidFill>
                  <a:srgbClr val="806000"/>
                </a:solidFill>
                <a:latin typeface="Yu Gothic"/>
                <a:ea typeface="Yu Gothic"/>
                <a:cs typeface="Yu Gothic"/>
              </a:defRPr>
            </a:pPr>
            <a:r>
              <a:rPr sz="825" b="0" i="0">
                <a:solidFill>
                  <a:srgbClr val="806000"/>
                </a:solidFill>
                <a:latin typeface="Yu Gothic"/>
                <a:ea typeface="Yu Gothic"/>
                <a:cs typeface="Yu Gothic"/>
              </a:rPr>
              <a:t>heater zones</a:t>
            </a:r>
          </a:p>
        </p:txBody>
      </p:sp>
      <p:sp>
        <p:nvSpPr>
          <p:cNvPr id="21" name="">
            <a:extLst xmlns:a="http://schemas.openxmlformats.org/drawingml/2006/main">
              <a:ext uri="{FF2B5EF4-FFF2-40B4-BE49-F238E27FC236}">
                <a16:creationId xmlns:a16="http://schemas.microsoft.com/office/drawing/2014/main" id="{9191C19F-FEB4-42E0-84D5-E7501D39D548}"/>
              </a:ext>
            </a:extLst>
          </p:cNvPr>
          <p:cNvSpPr>
            <a:spLocks xmlns:a="http://schemas.openxmlformats.org/drawingml/2006/main" noGrp="1"/>
          </p:cNvSpPr>
          <p:nvPr/>
        </p:nvSpPr>
        <p:spPr>
          <a:xfrm xmlns:a="http://schemas.openxmlformats.org/drawingml/2006/main">
            <a:off x="1800225" y="4133850"/>
            <a:ext cx="3105150" cy="400050"/>
          </a:xfrm>
          <a:prstGeom xmlns:a="http://schemas.openxmlformats.org/drawingml/2006/main" prst="rect">
            <a:avLst/>
          </a:prstGeom>
          <a:solidFill xmlns:a="http://schemas.openxmlformats.org/drawingml/2006/main">
            <a:srgbClr val="E5F6FB"/>
          </a:solidFill>
          <a:ln xmlns:a="http://schemas.openxmlformats.org/drawingml/2006/main" w="19050">
            <a:solidFill>
              <a:srgbClr val="00A5D8"/>
            </a:solidFill>
            <a:prstDash val="solid"/>
          </a:ln>
        </p:spPr>
      </p:sp>
      <p:sp>
        <p:nvSpPr>
          <p:cNvPr id="22" name="">
            <a:extLst xmlns:a="http://schemas.openxmlformats.org/drawingml/2006/main">
              <a:ext uri="{FF2B5EF4-FFF2-40B4-BE49-F238E27FC236}">
                <a16:creationId xmlns:a16="http://schemas.microsoft.com/office/drawing/2014/main" id="{7C3FD66D-D756-4AF2-BD93-6C89D96C555D}"/>
              </a:ext>
            </a:extLst>
          </p:cNvPr>
          <p:cNvSpPr>
            <a:spLocks xmlns:a="http://schemas.openxmlformats.org/drawingml/2006/main" noGrp="1"/>
          </p:cNvSpPr>
          <p:nvPr/>
        </p:nvSpPr>
        <p:spPr>
          <a:xfrm xmlns:a="http://schemas.openxmlformats.org/drawingml/2006/main">
            <a:off x="1962150" y="4238625"/>
            <a:ext cx="323850" cy="171450"/>
          </a:xfrm>
          <a:prstGeom xmlns:a="http://schemas.openxmlformats.org/drawingml/2006/main" prst="roundRect">
            <a:avLst>
              <a:gd name="adj" fmla="val 50000"/>
            </a:avLst>
          </a:prstGeom>
          <a:solidFill xmlns:a="http://schemas.openxmlformats.org/drawingml/2006/main">
            <a:srgbClr val="00A5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83BBEBA-7229-4B3D-A38B-002F92C955DA}"/>
              </a:ext>
            </a:extLst>
          </p:cNvPr>
          <p:cNvSpPr>
            <a:spLocks xmlns:a="http://schemas.openxmlformats.org/drawingml/2006/main" noGrp="1"/>
          </p:cNvSpPr>
          <p:nvPr/>
        </p:nvSpPr>
        <p:spPr>
          <a:xfrm xmlns:a="http://schemas.openxmlformats.org/drawingml/2006/main">
            <a:off x="2438400" y="4238625"/>
            <a:ext cx="323850" cy="171450"/>
          </a:xfrm>
          <a:prstGeom xmlns:a="http://schemas.openxmlformats.org/drawingml/2006/main" prst="roundRect">
            <a:avLst>
              <a:gd name="adj" fmla="val 50000"/>
            </a:avLst>
          </a:prstGeom>
          <a:solidFill xmlns:a="http://schemas.openxmlformats.org/drawingml/2006/main">
            <a:srgbClr val="00A5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FB58E86-3675-484A-BED4-A42961A064BC}"/>
              </a:ext>
            </a:extLst>
          </p:cNvPr>
          <p:cNvSpPr>
            <a:spLocks xmlns:a="http://schemas.openxmlformats.org/drawingml/2006/main" noGrp="1"/>
          </p:cNvSpPr>
          <p:nvPr/>
        </p:nvSpPr>
        <p:spPr>
          <a:xfrm xmlns:a="http://schemas.openxmlformats.org/drawingml/2006/main">
            <a:off x="2914650" y="4238625"/>
            <a:ext cx="323850" cy="171450"/>
          </a:xfrm>
          <a:prstGeom xmlns:a="http://schemas.openxmlformats.org/drawingml/2006/main" prst="roundRect">
            <a:avLst>
              <a:gd name="adj" fmla="val 50000"/>
            </a:avLst>
          </a:prstGeom>
          <a:solidFill xmlns:a="http://schemas.openxmlformats.org/drawingml/2006/main">
            <a:srgbClr val="00A5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68D65BC-B367-4C60-9AA0-8451E354E90C}"/>
              </a:ext>
            </a:extLst>
          </p:cNvPr>
          <p:cNvSpPr>
            <a:spLocks xmlns:a="http://schemas.openxmlformats.org/drawingml/2006/main" noGrp="1"/>
          </p:cNvSpPr>
          <p:nvPr/>
        </p:nvSpPr>
        <p:spPr>
          <a:xfrm xmlns:a="http://schemas.openxmlformats.org/drawingml/2006/main">
            <a:off x="3390900" y="4238625"/>
            <a:ext cx="323850" cy="171450"/>
          </a:xfrm>
          <a:prstGeom xmlns:a="http://schemas.openxmlformats.org/drawingml/2006/main" prst="roundRect">
            <a:avLst>
              <a:gd name="adj" fmla="val 50000"/>
            </a:avLst>
          </a:prstGeom>
          <a:solidFill xmlns:a="http://schemas.openxmlformats.org/drawingml/2006/main">
            <a:srgbClr val="00A5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EE2CE4E-4E41-4D5B-9B54-8431B1E45C72}"/>
              </a:ext>
            </a:extLst>
          </p:cNvPr>
          <p:cNvSpPr>
            <a:spLocks xmlns:a="http://schemas.openxmlformats.org/drawingml/2006/main" noGrp="1"/>
          </p:cNvSpPr>
          <p:nvPr/>
        </p:nvSpPr>
        <p:spPr>
          <a:xfrm xmlns:a="http://schemas.openxmlformats.org/drawingml/2006/main">
            <a:off x="3867150" y="4238625"/>
            <a:ext cx="323850" cy="171450"/>
          </a:xfrm>
          <a:prstGeom xmlns:a="http://schemas.openxmlformats.org/drawingml/2006/main" prst="roundRect">
            <a:avLst>
              <a:gd name="adj" fmla="val 50000"/>
            </a:avLst>
          </a:prstGeom>
          <a:solidFill xmlns:a="http://schemas.openxmlformats.org/drawingml/2006/main">
            <a:srgbClr val="00A5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353BD12-942F-48FA-9981-B7F6D1EE61B1}"/>
              </a:ext>
            </a:extLst>
          </p:cNvPr>
          <p:cNvSpPr>
            <a:spLocks xmlns:a="http://schemas.openxmlformats.org/drawingml/2006/main" noGrp="1"/>
          </p:cNvSpPr>
          <p:nvPr/>
        </p:nvSpPr>
        <p:spPr>
          <a:xfrm xmlns:a="http://schemas.openxmlformats.org/drawingml/2006/main">
            <a:off x="4343400" y="4238625"/>
            <a:ext cx="323850" cy="171450"/>
          </a:xfrm>
          <a:prstGeom xmlns:a="http://schemas.openxmlformats.org/drawingml/2006/main" prst="roundRect">
            <a:avLst>
              <a:gd name="adj" fmla="val 50000"/>
            </a:avLst>
          </a:prstGeom>
          <a:solidFill xmlns:a="http://schemas.openxmlformats.org/drawingml/2006/main">
            <a:srgbClr val="00A5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C96C1AF-F798-4CAE-BBDC-9D36A19CD7BB}"/>
              </a:ext>
            </a:extLst>
          </p:cNvPr>
          <p:cNvSpPr>
            <a:spLocks xmlns:a="http://schemas.openxmlformats.org/drawingml/2006/main" noGrp="1"/>
          </p:cNvSpPr>
          <p:nvPr/>
        </p:nvSpPr>
        <p:spPr>
          <a:xfrm xmlns:a="http://schemas.openxmlformats.org/drawingml/2006/main">
            <a:off x="2333625" y="4562475"/>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25" b="0" i="0">
                <a:solidFill>
                  <a:srgbClr val="007FA8"/>
                </a:solidFill>
                <a:latin typeface="Yu Gothic"/>
                <a:ea typeface="Yu Gothic"/>
                <a:cs typeface="Yu Gothic"/>
              </a:defRPr>
            </a:pPr>
            <a:r>
              <a:rPr sz="825" b="0" i="0">
                <a:solidFill>
                  <a:srgbClr val="007FA8"/>
                </a:solidFill>
                <a:latin typeface="Yu Gothic"/>
                <a:ea typeface="Yu Gothic"/>
                <a:cs typeface="Yu Gothic"/>
              </a:rPr>
              <a:t>coolant channel</a:t>
            </a:r>
          </a:p>
        </p:txBody>
      </p:sp>
      <p:sp>
        <p:nvSpPr>
          <p:cNvPr id="29" name="">
            <a:extLst xmlns:a="http://schemas.openxmlformats.org/drawingml/2006/main">
              <a:ext uri="{FF2B5EF4-FFF2-40B4-BE49-F238E27FC236}">
                <a16:creationId xmlns:a16="http://schemas.microsoft.com/office/drawing/2014/main" id="{6BA177E2-CF7B-456A-84F9-3D0E78AA3BD4}"/>
              </a:ext>
            </a:extLst>
          </p:cNvPr>
          <p:cNvSpPr>
            <a:spLocks xmlns:a="http://schemas.openxmlformats.org/drawingml/2006/main" noGrp="1"/>
          </p:cNvSpPr>
          <p:nvPr/>
        </p:nvSpPr>
        <p:spPr>
          <a:xfrm xmlns:a="http://schemas.openxmlformats.org/drawingml/2006/main">
            <a:off x="2095500" y="2847975"/>
            <a:ext cx="171450" cy="171450"/>
          </a:xfrm>
          <a:prstGeom xmlns:a="http://schemas.openxmlformats.org/drawingml/2006/main" prst="ellipse">
            <a:avLst/>
          </a:prstGeom>
          <a:solidFill xmlns:a="http://schemas.openxmlformats.org/drawingml/2006/main">
            <a:srgbClr val="76BE18"/>
          </a:solidFill>
          <a:ln xmlns:a="http://schemas.openxmlformats.org/drawingml/2006/main" w="9525">
            <a:solidFill>
              <a:srgbClr val="4D8710"/>
            </a:solidFill>
            <a:prstDash val="solid"/>
          </a:ln>
        </p:spPr>
      </p:sp>
      <p:sp>
        <p:nvSpPr>
          <p:cNvPr id="30" name="">
            <a:extLst xmlns:a="http://schemas.openxmlformats.org/drawingml/2006/main">
              <a:ext uri="{FF2B5EF4-FFF2-40B4-BE49-F238E27FC236}">
                <a16:creationId xmlns:a16="http://schemas.microsoft.com/office/drawing/2014/main" id="{2393D26D-9C4E-4C91-8459-8E3BE0C4FEDF}"/>
              </a:ext>
            </a:extLst>
          </p:cNvPr>
          <p:cNvSpPr>
            <a:spLocks xmlns:a="http://schemas.openxmlformats.org/drawingml/2006/main" noGrp="1"/>
          </p:cNvSpPr>
          <p:nvPr/>
        </p:nvSpPr>
        <p:spPr>
          <a:xfrm xmlns:a="http://schemas.openxmlformats.org/drawingml/2006/main">
            <a:off x="3352800" y="3228975"/>
            <a:ext cx="171450" cy="171450"/>
          </a:xfrm>
          <a:prstGeom xmlns:a="http://schemas.openxmlformats.org/drawingml/2006/main" prst="ellipse">
            <a:avLst/>
          </a:prstGeom>
          <a:solidFill xmlns:a="http://schemas.openxmlformats.org/drawingml/2006/main">
            <a:srgbClr val="76BE18"/>
          </a:solidFill>
          <a:ln xmlns:a="http://schemas.openxmlformats.org/drawingml/2006/main" w="9525">
            <a:solidFill>
              <a:srgbClr val="4D8710"/>
            </a:solidFill>
            <a:prstDash val="solid"/>
          </a:ln>
        </p:spPr>
      </p:sp>
      <p:sp>
        <p:nvSpPr>
          <p:cNvPr id="31" name="">
            <a:extLst xmlns:a="http://schemas.openxmlformats.org/drawingml/2006/main">
              <a:ext uri="{FF2B5EF4-FFF2-40B4-BE49-F238E27FC236}">
                <a16:creationId xmlns:a16="http://schemas.microsoft.com/office/drawing/2014/main" id="{3E94FF32-A2E6-4234-AC61-0539B95C96B7}"/>
              </a:ext>
            </a:extLst>
          </p:cNvPr>
          <p:cNvSpPr>
            <a:spLocks xmlns:a="http://schemas.openxmlformats.org/drawingml/2006/main" noGrp="1"/>
          </p:cNvSpPr>
          <p:nvPr/>
        </p:nvSpPr>
        <p:spPr>
          <a:xfrm xmlns:a="http://schemas.openxmlformats.org/drawingml/2006/main">
            <a:off x="4610100" y="3609975"/>
            <a:ext cx="171450" cy="171450"/>
          </a:xfrm>
          <a:prstGeom xmlns:a="http://schemas.openxmlformats.org/drawingml/2006/main" prst="ellipse">
            <a:avLst/>
          </a:prstGeom>
          <a:solidFill xmlns:a="http://schemas.openxmlformats.org/drawingml/2006/main">
            <a:srgbClr val="76BE18"/>
          </a:solidFill>
          <a:ln xmlns:a="http://schemas.openxmlformats.org/drawingml/2006/main" w="9525">
            <a:solidFill>
              <a:srgbClr val="4D8710"/>
            </a:solidFill>
            <a:prstDash val="solid"/>
          </a:ln>
        </p:spPr>
      </p:sp>
      <p:sp>
        <p:nvSpPr>
          <p:cNvPr id="32" name="">
            <a:extLst xmlns:a="http://schemas.openxmlformats.org/drawingml/2006/main">
              <a:ext uri="{FF2B5EF4-FFF2-40B4-BE49-F238E27FC236}">
                <a16:creationId xmlns:a16="http://schemas.microsoft.com/office/drawing/2014/main" id="{9EA7651F-96C1-4B20-918B-F70C37563F26}"/>
              </a:ext>
            </a:extLst>
          </p:cNvPr>
          <p:cNvSpPr>
            <a:spLocks xmlns:a="http://schemas.openxmlformats.org/drawingml/2006/main" noGrp="1"/>
          </p:cNvSpPr>
          <p:nvPr/>
        </p:nvSpPr>
        <p:spPr>
          <a:xfrm xmlns:a="http://schemas.openxmlformats.org/drawingml/2006/main">
            <a:off x="904875" y="4953000"/>
            <a:ext cx="161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0" i="0">
                <a:solidFill>
                  <a:srgbClr val="4D8710"/>
                </a:solidFill>
                <a:latin typeface="Yu Gothic"/>
                <a:ea typeface="Yu Gothic"/>
                <a:cs typeface="Yu Gothic"/>
              </a:defRPr>
            </a:pPr>
            <a:r>
              <a:rPr sz="825" b="0" i="0">
                <a:solidFill>
                  <a:srgbClr val="4D8710"/>
                </a:solidFill>
                <a:latin typeface="Yu Gothic"/>
                <a:ea typeface="Yu Gothic"/>
                <a:cs typeface="Yu Gothic"/>
              </a:rPr>
              <a:t>temperature sensors</a:t>
            </a:r>
          </a:p>
        </p:txBody>
      </p:sp>
      <p:sp>
        <p:nvSpPr>
          <p:cNvPr id="33" name="">
            <a:extLst xmlns:a="http://schemas.openxmlformats.org/drawingml/2006/main">
              <a:ext uri="{FF2B5EF4-FFF2-40B4-BE49-F238E27FC236}">
                <a16:creationId xmlns:a16="http://schemas.microsoft.com/office/drawing/2014/main" id="{B7F8FE6C-7880-403B-B583-FF3185A0BA3B}"/>
              </a:ext>
            </a:extLst>
          </p:cNvPr>
          <p:cNvSpPr>
            <a:spLocks xmlns:a="http://schemas.openxmlformats.org/drawingml/2006/main" noGrp="1"/>
          </p:cNvSpPr>
          <p:nvPr/>
        </p:nvSpPr>
        <p:spPr>
          <a:xfrm xmlns:a="http://schemas.openxmlformats.org/drawingml/2006/main">
            <a:off x="1962150" y="4029075"/>
            <a:ext cx="266700" cy="1000125"/>
          </a:xfrm>
          <a:prstGeom xmlns:a="http://schemas.openxmlformats.org/drawingml/2006/main" prst="line">
            <a:avLst/>
          </a:prstGeom>
          <a:noFill xmlns:a="http://schemas.openxmlformats.org/drawingml/2006/main"/>
          <a:ln xmlns:a="http://schemas.openxmlformats.org/drawingml/2006/main" w="9525">
            <a:solidFill>
              <a:srgbClr val="76BE18"/>
            </a:solidFill>
            <a:prstDash val="dash"/>
          </a:ln>
        </p:spPr>
      </p:sp>
      <p:sp>
        <p:nvSpPr>
          <p:cNvPr id="34" name="">
            <a:extLst xmlns:a="http://schemas.openxmlformats.org/drawingml/2006/main">
              <a:ext uri="{FF2B5EF4-FFF2-40B4-BE49-F238E27FC236}">
                <a16:creationId xmlns:a16="http://schemas.microsoft.com/office/drawing/2014/main" id="{CB2E17E6-CAD2-44D6-A46C-A53DCE3F359A}"/>
              </a:ext>
            </a:extLst>
          </p:cNvPr>
          <p:cNvSpPr>
            <a:spLocks xmlns:a="http://schemas.openxmlformats.org/drawingml/2006/main" noGrp="1"/>
          </p:cNvSpPr>
          <p:nvPr/>
        </p:nvSpPr>
        <p:spPr>
          <a:xfrm xmlns:a="http://schemas.openxmlformats.org/drawingml/2006/main">
            <a:off x="6381750" y="1381125"/>
            <a:ext cx="525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状態モデルへの写像</a:t>
            </a:r>
          </a:p>
        </p:txBody>
      </p:sp>
      <p:sp>
        <p:nvSpPr>
          <p:cNvPr id="35" name="">
            <a:extLst xmlns:a="http://schemas.openxmlformats.org/drawingml/2006/main">
              <a:ext uri="{FF2B5EF4-FFF2-40B4-BE49-F238E27FC236}">
                <a16:creationId xmlns:a16="http://schemas.microsoft.com/office/drawing/2014/main" id="{A3C70A87-0154-424B-82F6-6AF68F82755D}"/>
              </a:ext>
            </a:extLst>
          </p:cNvPr>
          <p:cNvSpPr>
            <a:spLocks xmlns:a="http://schemas.openxmlformats.org/drawingml/2006/main" noGrp="1"/>
          </p:cNvSpPr>
          <p:nvPr/>
        </p:nvSpPr>
        <p:spPr>
          <a:xfrm xmlns:a="http://schemas.openxmlformats.org/drawingml/2006/main">
            <a:off x="6381750" y="1790700"/>
            <a:ext cx="52578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6" name="">
            <a:extLst xmlns:a="http://schemas.openxmlformats.org/drawingml/2006/main">
              <a:ext uri="{FF2B5EF4-FFF2-40B4-BE49-F238E27FC236}">
                <a16:creationId xmlns:a16="http://schemas.microsoft.com/office/drawing/2014/main" id="{CFDA687E-114F-4261-B909-C613724EFDEA}"/>
              </a:ext>
            </a:extLst>
          </p:cNvPr>
          <p:cNvSpPr>
            <a:spLocks xmlns:a="http://schemas.openxmlformats.org/drawingml/2006/main" noGrp="1"/>
          </p:cNvSpPr>
          <p:nvPr/>
        </p:nvSpPr>
        <p:spPr>
          <a:xfrm xmlns:a="http://schemas.openxmlformats.org/drawingml/2006/main">
            <a:off x="6381750" y="1790700"/>
            <a:ext cx="76200" cy="68580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D56A5E45-2929-42A1-BB9F-D1F622870BB6}"/>
              </a:ext>
            </a:extLst>
          </p:cNvPr>
          <p:cNvSpPr>
            <a:spLocks xmlns:a="http://schemas.openxmlformats.org/drawingml/2006/main" noGrp="1"/>
          </p:cNvSpPr>
          <p:nvPr/>
        </p:nvSpPr>
        <p:spPr>
          <a:xfrm xmlns:a="http://schemas.openxmlformats.org/drawingml/2006/main">
            <a:off x="6600825" y="18764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E5A900"/>
                </a:solidFill>
                <a:latin typeface="Cambria Math"/>
                <a:ea typeface="Cambria Math"/>
                <a:cs typeface="Cambria Math"/>
              </a:defRPr>
            </a:pPr>
            <a:r>
              <a:rPr sz="1200" b="1" i="0">
                <a:solidFill>
                  <a:srgbClr val="E5A900"/>
                </a:solidFill>
                <a:latin typeface="Cambria Math"/>
                <a:ea typeface="Cambria Math"/>
                <a:cs typeface="Cambria Math"/>
              </a:rPr>
              <a:t>熱源 q(t)</a:t>
            </a:r>
          </a:p>
        </p:txBody>
      </p:sp>
      <p:sp>
        <p:nvSpPr>
          <p:cNvPr id="38" name="">
            <a:extLst xmlns:a="http://schemas.openxmlformats.org/drawingml/2006/main">
              <a:ext uri="{FF2B5EF4-FFF2-40B4-BE49-F238E27FC236}">
                <a16:creationId xmlns:a16="http://schemas.microsoft.com/office/drawing/2014/main" id="{8EB8FEDB-B98C-4FD3-B349-9BB9BD25740D}"/>
              </a:ext>
            </a:extLst>
          </p:cNvPr>
          <p:cNvSpPr>
            <a:spLocks xmlns:a="http://schemas.openxmlformats.org/drawingml/2006/main" noGrp="1"/>
          </p:cNvSpPr>
          <p:nvPr/>
        </p:nvSpPr>
        <p:spPr>
          <a:xfrm xmlns:a="http://schemas.openxmlformats.org/drawingml/2006/main">
            <a:off x="7962900" y="1876425"/>
            <a:ext cx="3371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3F3F3F"/>
                </a:solidFill>
                <a:latin typeface="Yu Gothic"/>
                <a:ea typeface="Yu Gothic"/>
                <a:cs typeface="Yu Gothic"/>
              </a:defRPr>
            </a:pPr>
            <a:r>
              <a:rPr sz="975" b="1" i="0">
                <a:solidFill>
                  <a:srgbClr val="3F3F3F"/>
                </a:solidFill>
                <a:latin typeface="Yu Gothic"/>
                <a:ea typeface="Yu Gothic"/>
                <a:cs typeface="Yu Gothic"/>
              </a:rPr>
              <a:t>heater / plasma / chuck loss</a:t>
            </a:r>
          </a:p>
        </p:txBody>
      </p:sp>
      <p:sp>
        <p:nvSpPr>
          <p:cNvPr id="39" name="">
            <a:extLst xmlns:a="http://schemas.openxmlformats.org/drawingml/2006/main">
              <a:ext uri="{FF2B5EF4-FFF2-40B4-BE49-F238E27FC236}">
                <a16:creationId xmlns:a16="http://schemas.microsoft.com/office/drawing/2014/main" id="{52ACE5C8-F0BC-4830-9107-74DA277EB90B}"/>
              </a:ext>
            </a:extLst>
          </p:cNvPr>
          <p:cNvSpPr>
            <a:spLocks xmlns:a="http://schemas.openxmlformats.org/drawingml/2006/main" noGrp="1"/>
          </p:cNvSpPr>
          <p:nvPr/>
        </p:nvSpPr>
        <p:spPr>
          <a:xfrm xmlns:a="http://schemas.openxmlformats.org/drawingml/2006/main">
            <a:off x="6600825" y="2162175"/>
            <a:ext cx="4733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recipe変化の過渡温度を予測</a:t>
            </a:r>
          </a:p>
        </p:txBody>
      </p:sp>
      <p:sp>
        <p:nvSpPr>
          <p:cNvPr id="40" name="">
            <a:extLst xmlns:a="http://schemas.openxmlformats.org/drawingml/2006/main">
              <a:ext uri="{FF2B5EF4-FFF2-40B4-BE49-F238E27FC236}">
                <a16:creationId xmlns:a16="http://schemas.microsoft.com/office/drawing/2014/main" id="{8DE5F2B1-367E-41C9-AE17-C3933D6EE2C1}"/>
              </a:ext>
            </a:extLst>
          </p:cNvPr>
          <p:cNvSpPr>
            <a:spLocks xmlns:a="http://schemas.openxmlformats.org/drawingml/2006/main" noGrp="1"/>
          </p:cNvSpPr>
          <p:nvPr/>
        </p:nvSpPr>
        <p:spPr>
          <a:xfrm xmlns:a="http://schemas.openxmlformats.org/drawingml/2006/main">
            <a:off x="6381750" y="2628900"/>
            <a:ext cx="52578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1" name="">
            <a:extLst xmlns:a="http://schemas.openxmlformats.org/drawingml/2006/main">
              <a:ext uri="{FF2B5EF4-FFF2-40B4-BE49-F238E27FC236}">
                <a16:creationId xmlns:a16="http://schemas.microsoft.com/office/drawing/2014/main" id="{E13AB402-F8E6-4D73-A796-18942FD55956}"/>
              </a:ext>
            </a:extLst>
          </p:cNvPr>
          <p:cNvSpPr>
            <a:spLocks xmlns:a="http://schemas.openxmlformats.org/drawingml/2006/main" noGrp="1"/>
          </p:cNvSpPr>
          <p:nvPr/>
        </p:nvSpPr>
        <p:spPr>
          <a:xfrm xmlns:a="http://schemas.openxmlformats.org/drawingml/2006/main">
            <a:off x="6381750" y="2628900"/>
            <a:ext cx="76200" cy="6858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D9E52FAF-A78F-4BBC-BED0-4169B9D64E1F}"/>
              </a:ext>
            </a:extLst>
          </p:cNvPr>
          <p:cNvSpPr>
            <a:spLocks xmlns:a="http://schemas.openxmlformats.org/drawingml/2006/main" noGrp="1"/>
          </p:cNvSpPr>
          <p:nvPr/>
        </p:nvSpPr>
        <p:spPr>
          <a:xfrm xmlns:a="http://schemas.openxmlformats.org/drawingml/2006/main">
            <a:off x="6600825" y="27146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00A5D8"/>
                </a:solidFill>
                <a:latin typeface="Cambria Math"/>
                <a:ea typeface="Cambria Math"/>
                <a:cs typeface="Cambria Math"/>
              </a:defRPr>
            </a:pPr>
            <a:r>
              <a:rPr sz="1200" b="1" i="0">
                <a:solidFill>
                  <a:srgbClr val="00A5D8"/>
                </a:solidFill>
                <a:latin typeface="Cambria Math"/>
                <a:ea typeface="Cambria Math"/>
                <a:cs typeface="Cambria Math"/>
              </a:rPr>
              <a:t>熱経路 G</a:t>
            </a:r>
          </a:p>
        </p:txBody>
      </p:sp>
      <p:sp>
        <p:nvSpPr>
          <p:cNvPr id="43" name="">
            <a:extLst xmlns:a="http://schemas.openxmlformats.org/drawingml/2006/main">
              <a:ext uri="{FF2B5EF4-FFF2-40B4-BE49-F238E27FC236}">
                <a16:creationId xmlns:a16="http://schemas.microsoft.com/office/drawing/2014/main" id="{1C78B098-E6E4-4A76-BA2F-2E06F24517E1}"/>
              </a:ext>
            </a:extLst>
          </p:cNvPr>
          <p:cNvSpPr>
            <a:spLocks xmlns:a="http://schemas.openxmlformats.org/drawingml/2006/main" noGrp="1"/>
          </p:cNvSpPr>
          <p:nvPr/>
        </p:nvSpPr>
        <p:spPr>
          <a:xfrm xmlns:a="http://schemas.openxmlformats.org/drawingml/2006/main">
            <a:off x="7962900" y="2714625"/>
            <a:ext cx="3371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3F3F3F"/>
                </a:solidFill>
                <a:latin typeface="Yu Gothic"/>
                <a:ea typeface="Yu Gothic"/>
                <a:cs typeface="Yu Gothic"/>
              </a:defRPr>
            </a:pPr>
            <a:r>
              <a:rPr sz="975" b="1" i="0">
                <a:solidFill>
                  <a:srgbClr val="3F3F3F"/>
                </a:solidFill>
                <a:latin typeface="Yu Gothic"/>
                <a:ea typeface="Yu Gothic"/>
                <a:cs typeface="Yu Gothic"/>
              </a:rPr>
              <a:t>contact / interface / cooling path</a:t>
            </a:r>
          </a:p>
        </p:txBody>
      </p:sp>
      <p:sp>
        <p:nvSpPr>
          <p:cNvPr id="44" name="">
            <a:extLst xmlns:a="http://schemas.openxmlformats.org/drawingml/2006/main">
              <a:ext uri="{FF2B5EF4-FFF2-40B4-BE49-F238E27FC236}">
                <a16:creationId xmlns:a16="http://schemas.microsoft.com/office/drawing/2014/main" id="{D07A2376-DEDF-4090-B8C2-A11A105AD1B3}"/>
              </a:ext>
            </a:extLst>
          </p:cNvPr>
          <p:cNvSpPr>
            <a:spLocks xmlns:a="http://schemas.openxmlformats.org/drawingml/2006/main" noGrp="1"/>
          </p:cNvSpPr>
          <p:nvPr/>
        </p:nvSpPr>
        <p:spPr>
          <a:xfrm xmlns:a="http://schemas.openxmlformats.org/drawingml/2006/main">
            <a:off x="6600825" y="3000375"/>
            <a:ext cx="4733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接触劣化・冷却能力変化を識別</a:t>
            </a:r>
          </a:p>
        </p:txBody>
      </p:sp>
      <p:sp>
        <p:nvSpPr>
          <p:cNvPr id="45" name="">
            <a:extLst xmlns:a="http://schemas.openxmlformats.org/drawingml/2006/main">
              <a:ext uri="{FF2B5EF4-FFF2-40B4-BE49-F238E27FC236}">
                <a16:creationId xmlns:a16="http://schemas.microsoft.com/office/drawing/2014/main" id="{9B790166-FD9C-4F15-90D7-E3E0763D6B53}"/>
              </a:ext>
            </a:extLst>
          </p:cNvPr>
          <p:cNvSpPr>
            <a:spLocks xmlns:a="http://schemas.openxmlformats.org/drawingml/2006/main" noGrp="1"/>
          </p:cNvSpPr>
          <p:nvPr/>
        </p:nvSpPr>
        <p:spPr>
          <a:xfrm xmlns:a="http://schemas.openxmlformats.org/drawingml/2006/main">
            <a:off x="6381750" y="3467100"/>
            <a:ext cx="52578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6" name="">
            <a:extLst xmlns:a="http://schemas.openxmlformats.org/drawingml/2006/main">
              <a:ext uri="{FF2B5EF4-FFF2-40B4-BE49-F238E27FC236}">
                <a16:creationId xmlns:a16="http://schemas.microsoft.com/office/drawing/2014/main" id="{D4BA40FD-8DB5-4840-8307-6E8380E8A9A4}"/>
              </a:ext>
            </a:extLst>
          </p:cNvPr>
          <p:cNvSpPr>
            <a:spLocks xmlns:a="http://schemas.openxmlformats.org/drawingml/2006/main" noGrp="1"/>
          </p:cNvSpPr>
          <p:nvPr/>
        </p:nvSpPr>
        <p:spPr>
          <a:xfrm xmlns:a="http://schemas.openxmlformats.org/drawingml/2006/main">
            <a:off x="6381750" y="3467100"/>
            <a:ext cx="76200" cy="6858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D875566E-9C86-48F1-B3E0-B26E8BF38259}"/>
              </a:ext>
            </a:extLst>
          </p:cNvPr>
          <p:cNvSpPr>
            <a:spLocks xmlns:a="http://schemas.openxmlformats.org/drawingml/2006/main" noGrp="1"/>
          </p:cNvSpPr>
          <p:nvPr/>
        </p:nvSpPr>
        <p:spPr>
          <a:xfrm xmlns:a="http://schemas.openxmlformats.org/drawingml/2006/main">
            <a:off x="6600825" y="35528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7B2DAF"/>
                </a:solidFill>
                <a:latin typeface="Cambria Math"/>
                <a:ea typeface="Cambria Math"/>
                <a:cs typeface="Cambria Math"/>
              </a:defRPr>
            </a:pPr>
            <a:r>
              <a:rPr sz="1200" b="1" i="0">
                <a:solidFill>
                  <a:srgbClr val="7B2DAF"/>
                </a:solidFill>
                <a:latin typeface="Cambria Math"/>
                <a:ea typeface="Cambria Math"/>
                <a:cs typeface="Cambria Math"/>
              </a:rPr>
              <a:t>状態 T</a:t>
            </a:r>
          </a:p>
        </p:txBody>
      </p:sp>
      <p:sp>
        <p:nvSpPr>
          <p:cNvPr id="48" name="">
            <a:extLst xmlns:a="http://schemas.openxmlformats.org/drawingml/2006/main">
              <a:ext uri="{FF2B5EF4-FFF2-40B4-BE49-F238E27FC236}">
                <a16:creationId xmlns:a16="http://schemas.microsoft.com/office/drawing/2014/main" id="{5943824D-0DE7-4BAF-BE3F-665B635C42EF}"/>
              </a:ext>
            </a:extLst>
          </p:cNvPr>
          <p:cNvSpPr>
            <a:spLocks xmlns:a="http://schemas.openxmlformats.org/drawingml/2006/main" noGrp="1"/>
          </p:cNvSpPr>
          <p:nvPr/>
        </p:nvSpPr>
        <p:spPr>
          <a:xfrm xmlns:a="http://schemas.openxmlformats.org/drawingml/2006/main">
            <a:off x="7962900" y="3552825"/>
            <a:ext cx="3371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3F3F3F"/>
                </a:solidFill>
                <a:latin typeface="Yu Gothic"/>
                <a:ea typeface="Yu Gothic"/>
                <a:cs typeface="Yu Gothic"/>
              </a:defRPr>
            </a:pPr>
            <a:r>
              <a:rPr sz="975" b="1" i="0">
                <a:solidFill>
                  <a:srgbClr val="3F3F3F"/>
                </a:solidFill>
                <a:latin typeface="Yu Gothic"/>
                <a:ea typeface="Yu Gothic"/>
                <a:cs typeface="Yu Gothic"/>
              </a:rPr>
              <a:t>wafer近傍 / stage / wall</a:t>
            </a:r>
          </a:p>
        </p:txBody>
      </p:sp>
      <p:sp>
        <p:nvSpPr>
          <p:cNvPr id="49" name="">
            <a:extLst xmlns:a="http://schemas.openxmlformats.org/drawingml/2006/main">
              <a:ext uri="{FF2B5EF4-FFF2-40B4-BE49-F238E27FC236}">
                <a16:creationId xmlns:a16="http://schemas.microsoft.com/office/drawing/2014/main" id="{C3385C1A-0B34-420B-B440-E219D42A8B38}"/>
              </a:ext>
            </a:extLst>
          </p:cNvPr>
          <p:cNvSpPr>
            <a:spLocks xmlns:a="http://schemas.openxmlformats.org/drawingml/2006/main" noGrp="1"/>
          </p:cNvSpPr>
          <p:nvPr/>
        </p:nvSpPr>
        <p:spPr>
          <a:xfrm xmlns:a="http://schemas.openxmlformats.org/drawingml/2006/main">
            <a:off x="6600825" y="3838575"/>
            <a:ext cx="4733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virtual sensor・warm-up判定</a:t>
            </a:r>
          </a:p>
        </p:txBody>
      </p:sp>
      <p:sp>
        <p:nvSpPr>
          <p:cNvPr id="50" name="">
            <a:extLst xmlns:a="http://schemas.openxmlformats.org/drawingml/2006/main">
              <a:ext uri="{FF2B5EF4-FFF2-40B4-BE49-F238E27FC236}">
                <a16:creationId xmlns:a16="http://schemas.microsoft.com/office/drawing/2014/main" id="{7806135F-4565-43C4-8F7C-19363ECD525A}"/>
              </a:ext>
            </a:extLst>
          </p:cNvPr>
          <p:cNvSpPr>
            <a:spLocks xmlns:a="http://schemas.openxmlformats.org/drawingml/2006/main" noGrp="1"/>
          </p:cNvSpPr>
          <p:nvPr/>
        </p:nvSpPr>
        <p:spPr>
          <a:xfrm xmlns:a="http://schemas.openxmlformats.org/drawingml/2006/main">
            <a:off x="6381750" y="4305300"/>
            <a:ext cx="52578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51" name="">
            <a:extLst xmlns:a="http://schemas.openxmlformats.org/drawingml/2006/main">
              <a:ext uri="{FF2B5EF4-FFF2-40B4-BE49-F238E27FC236}">
                <a16:creationId xmlns:a16="http://schemas.microsoft.com/office/drawing/2014/main" id="{741CAA03-D65D-4E1D-AD59-DA5BB72324B4}"/>
              </a:ext>
            </a:extLst>
          </p:cNvPr>
          <p:cNvSpPr>
            <a:spLocks xmlns:a="http://schemas.openxmlformats.org/drawingml/2006/main" noGrp="1"/>
          </p:cNvSpPr>
          <p:nvPr/>
        </p:nvSpPr>
        <p:spPr>
          <a:xfrm xmlns:a="http://schemas.openxmlformats.org/drawingml/2006/main">
            <a:off x="6381750" y="4305300"/>
            <a:ext cx="76200" cy="6858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52" name="">
            <a:extLst xmlns:a="http://schemas.openxmlformats.org/drawingml/2006/main">
              <a:ext uri="{FF2B5EF4-FFF2-40B4-BE49-F238E27FC236}">
                <a16:creationId xmlns:a16="http://schemas.microsoft.com/office/drawing/2014/main" id="{147D2D05-8957-4B9B-9C40-9B60A7B962D2}"/>
              </a:ext>
            </a:extLst>
          </p:cNvPr>
          <p:cNvSpPr>
            <a:spLocks xmlns:a="http://schemas.openxmlformats.org/drawingml/2006/main" noGrp="1"/>
          </p:cNvSpPr>
          <p:nvPr/>
        </p:nvSpPr>
        <p:spPr>
          <a:xfrm xmlns:a="http://schemas.openxmlformats.org/drawingml/2006/main">
            <a:off x="6600825" y="43910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76BE18"/>
                </a:solidFill>
                <a:latin typeface="Cambria Math"/>
                <a:ea typeface="Cambria Math"/>
                <a:cs typeface="Cambria Math"/>
              </a:defRPr>
            </a:pPr>
            <a:r>
              <a:rPr sz="1200" b="1" i="0">
                <a:solidFill>
                  <a:srgbClr val="76BE18"/>
                </a:solidFill>
                <a:latin typeface="Cambria Math"/>
                <a:ea typeface="Cambria Math"/>
                <a:cs typeface="Cambria Math"/>
              </a:rPr>
              <a:t>観測 H</a:t>
            </a:r>
          </a:p>
        </p:txBody>
      </p:sp>
      <p:sp>
        <p:nvSpPr>
          <p:cNvPr id="53" name="">
            <a:extLst xmlns:a="http://schemas.openxmlformats.org/drawingml/2006/main">
              <a:ext uri="{FF2B5EF4-FFF2-40B4-BE49-F238E27FC236}">
                <a16:creationId xmlns:a16="http://schemas.microsoft.com/office/drawing/2014/main" id="{9BFE9BB0-051C-485E-8123-010E5D3BE73E}"/>
              </a:ext>
            </a:extLst>
          </p:cNvPr>
          <p:cNvSpPr>
            <a:spLocks xmlns:a="http://schemas.openxmlformats.org/drawingml/2006/main" noGrp="1"/>
          </p:cNvSpPr>
          <p:nvPr/>
        </p:nvSpPr>
        <p:spPr>
          <a:xfrm xmlns:a="http://schemas.openxmlformats.org/drawingml/2006/main">
            <a:off x="7962900" y="4391025"/>
            <a:ext cx="3371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3F3F3F"/>
                </a:solidFill>
                <a:latin typeface="Yu Gothic"/>
                <a:ea typeface="Yu Gothic"/>
                <a:cs typeface="Yu Gothic"/>
              </a:defRPr>
            </a:pPr>
            <a:r>
              <a:rPr sz="975" b="1" i="0">
                <a:solidFill>
                  <a:srgbClr val="3F3F3F"/>
                </a:solidFill>
                <a:latin typeface="Yu Gothic"/>
                <a:ea typeface="Yu Gothic"/>
                <a:cs typeface="Yu Gothic"/>
              </a:rPr>
              <a:t>TC / RTD / pyrometer</a:t>
            </a:r>
          </a:p>
        </p:txBody>
      </p:sp>
      <p:sp>
        <p:nvSpPr>
          <p:cNvPr id="54" name="">
            <a:extLst xmlns:a="http://schemas.openxmlformats.org/drawingml/2006/main">
              <a:ext uri="{FF2B5EF4-FFF2-40B4-BE49-F238E27FC236}">
                <a16:creationId xmlns:a16="http://schemas.microsoft.com/office/drawing/2014/main" id="{AE86B217-5BF3-438F-9351-EF78BBD36E7D}"/>
              </a:ext>
            </a:extLst>
          </p:cNvPr>
          <p:cNvSpPr>
            <a:spLocks xmlns:a="http://schemas.openxmlformats.org/drawingml/2006/main" noGrp="1"/>
          </p:cNvSpPr>
          <p:nvPr/>
        </p:nvSpPr>
        <p:spPr>
          <a:xfrm xmlns:a="http://schemas.openxmlformats.org/drawingml/2006/main">
            <a:off x="6600825" y="4676775"/>
            <a:ext cx="4733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欠測補完・sensor bias監視</a:t>
            </a:r>
          </a:p>
        </p:txBody>
      </p:sp>
      <p:sp>
        <p:nvSpPr>
          <p:cNvPr id="55" name="">
            <a:extLst xmlns:a="http://schemas.openxmlformats.org/drawingml/2006/main">
              <a:ext uri="{FF2B5EF4-FFF2-40B4-BE49-F238E27FC236}">
                <a16:creationId xmlns:a16="http://schemas.microsoft.com/office/drawing/2014/main" id="{A8625B95-412A-45DC-A568-BD18C5EB987F}"/>
              </a:ext>
            </a:extLst>
          </p:cNvPr>
          <p:cNvSpPr>
            <a:spLocks xmlns:a="http://schemas.openxmlformats.org/drawingml/2006/main" noGrp="1"/>
          </p:cNvSpPr>
          <p:nvPr/>
        </p:nvSpPr>
        <p:spPr>
          <a:xfrm xmlns:a="http://schemas.openxmlformats.org/drawingml/2006/main">
            <a:off x="6381750" y="5314950"/>
            <a:ext cx="5257800" cy="742950"/>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56" name="">
            <a:extLst xmlns:a="http://schemas.openxmlformats.org/drawingml/2006/main">
              <a:ext uri="{FF2B5EF4-FFF2-40B4-BE49-F238E27FC236}">
                <a16:creationId xmlns:a16="http://schemas.microsoft.com/office/drawing/2014/main" id="{D4FC6E8E-92E3-413B-B44D-CF5840B7879C}"/>
              </a:ext>
            </a:extLst>
          </p:cNvPr>
          <p:cNvSpPr>
            <a:spLocks xmlns:a="http://schemas.openxmlformats.org/drawingml/2006/main" noGrp="1"/>
          </p:cNvSpPr>
          <p:nvPr/>
        </p:nvSpPr>
        <p:spPr>
          <a:xfrm xmlns:a="http://schemas.openxmlformats.org/drawingml/2006/main">
            <a:off x="6572250" y="5438775"/>
            <a:ext cx="876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C4493D"/>
                </a:solidFill>
                <a:latin typeface="Yu Gothic"/>
                <a:ea typeface="Yu Gothic"/>
                <a:cs typeface="Yu Gothic"/>
              </a:defRPr>
            </a:pPr>
            <a:r>
              <a:rPr sz="975" b="1" i="0">
                <a:solidFill>
                  <a:srgbClr val="C4493D"/>
                </a:solidFill>
                <a:latin typeface="Yu Gothic"/>
                <a:ea typeface="Yu Gothic"/>
                <a:cs typeface="Yu Gothic"/>
              </a:rPr>
              <a:t>適用境界</a:t>
            </a:r>
          </a:p>
        </p:txBody>
      </p:sp>
      <p:sp>
        <p:nvSpPr>
          <p:cNvPr id="57" name="">
            <a:extLst xmlns:a="http://schemas.openxmlformats.org/drawingml/2006/main">
              <a:ext uri="{FF2B5EF4-FFF2-40B4-BE49-F238E27FC236}">
                <a16:creationId xmlns:a16="http://schemas.microsoft.com/office/drawing/2014/main" id="{936B1B67-7D42-48BE-9546-DEAEA44C4F56}"/>
              </a:ext>
            </a:extLst>
          </p:cNvPr>
          <p:cNvSpPr>
            <a:spLocks xmlns:a="http://schemas.openxmlformats.org/drawingml/2006/main" noGrp="1"/>
          </p:cNvSpPr>
          <p:nvPr/>
        </p:nvSpPr>
        <p:spPr>
          <a:xfrm xmlns:a="http://schemas.openxmlformats.org/drawingml/2006/main">
            <a:off x="7486650" y="54102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8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node温度は領域代表値。wafer面内分布、局所hotspot、放射view factorはCAE/実測で別途拘束する。</a:t>
            </a:r>
          </a:p>
        </p:txBody>
      </p:sp>
    </p:spTree>
    <p:extLst>
      <p:ext uri="{BB962C8B-B14F-4D97-AF65-F5344CB8AC3E}">
        <p14:creationId xmlns:p14="http://schemas.microsoft.com/office/powerpoint/2010/main" val="102360661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4F6C070-D926-4E08-8830-F332AE64AE8F}"/>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4A08249-5220-4A00-86CF-DA833192027F}"/>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EVIDENCE STRATEGY</a:t>
            </a:r>
          </a:p>
        </p:txBody>
      </p:sp>
      <p:sp>
        <p:nvSpPr>
          <p:cNvPr id="3" name="">
            <a:extLst xmlns:a="http://schemas.openxmlformats.org/drawingml/2006/main">
              <a:ext uri="{FF2B5EF4-FFF2-40B4-BE49-F238E27FC236}">
                <a16:creationId xmlns:a16="http://schemas.microsoft.com/office/drawing/2014/main" id="{4F7A398F-CAEB-4863-BA39-DC6C3C92F29D}"/>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証拠の階層を上げるたびに、主張できる範囲と未解決事項を更新する</a:t>
            </a:r>
          </a:p>
        </p:txBody>
      </p:sp>
      <p:sp>
        <p:nvSpPr>
          <p:cNvPr id="4" name="">
            <a:extLst xmlns:a="http://schemas.openxmlformats.org/drawingml/2006/main">
              <a:ext uri="{FF2B5EF4-FFF2-40B4-BE49-F238E27FC236}">
                <a16:creationId xmlns:a16="http://schemas.microsoft.com/office/drawing/2014/main" id="{4B07B6E2-F4D0-4877-AB86-EAAD2E0DE720}"/>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RMSE単独ではなく、model form・mesh・time・experimentの不確かさを分離する</a:t>
            </a:r>
          </a:p>
        </p:txBody>
      </p:sp>
      <p:sp>
        <p:nvSpPr>
          <p:cNvPr id="5" name="">
            <a:extLst xmlns:a="http://schemas.openxmlformats.org/drawingml/2006/main">
              <a:ext uri="{FF2B5EF4-FFF2-40B4-BE49-F238E27FC236}">
                <a16:creationId xmlns:a16="http://schemas.microsoft.com/office/drawing/2014/main" id="{1970D2EA-24FB-405C-86E9-33BBB1D4CBBC}"/>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B7B7913E-48EF-4CFE-9185-671B28B188FE}"/>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AB71B708-CB4E-48D5-8F93-2A7BF5B8B468}"/>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0315C623-3845-4E27-B7EB-B99C9F9FD66A}"/>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8</a:t>
            </a:r>
          </a:p>
        </p:txBody>
      </p:sp>
      <p:graphicFrame>
        <p:nvGraphicFramePr>
          <p:cNvPr id="29" name=""/>
          <p:cNvGraphicFramePr/>
          <p:nvPr/>
        </p:nvGraphicFramePr>
        <p:xfrm>
          <a:off xmlns:a="http://schemas.openxmlformats.org/drawingml/2006/main" x="552450" y="1457325"/>
          <a:ext xmlns:a="http://schemas.openxmlformats.org/drawingml/2006/main" cx="11087100" cy="3695700"/>
        </p:xfrm>
        <a:graphic xmlns:a="http://schemas.openxmlformats.org/drawingml/2006/main">
          <a:graphicData uri="http://schemas.openxmlformats.org/drawingml/2006/table">
            <a:tbl>
              <a:tblPr/>
              <a:tblGrid>
                <a:gridCol w="1428750"/>
                <a:gridCol w="2038350"/>
                <a:gridCol w="2686050"/>
                <a:gridCol w="2324100"/>
                <a:gridCol w="2609850"/>
              </a:tblGrid>
              <a:tr h="615950">
                <a:tc>
                  <a:txBody>
                    <a:bodyPr/>
                    <a:lstStyle/>
                    <a:p>
                      <a:r>
                        <a:rPr sz="938" b="1">
                          <a:solidFill>
                            <a:srgbClr val="FFFFFF"/>
                          </a:solidFill>
                          <a:latin typeface="Yu Gothic"/>
                          <a:ea typeface="Yu Gothic"/>
                          <a:cs typeface="Yu Gothic"/>
                        </a:rPr>
                        <a:t>Level</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目的</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確認済みの証拠</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主張できる範囲</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残課題</a:t>
                      </a:r>
                    </a:p>
                  </a:txBody>
                  <a:tcPr marL="91440" marR="91440" marT="45720" marB="45720">
                    <a:solidFill>
                      <a:srgbClr val="00A5D8"/>
                    </a:solidFill>
                  </a:tcPr>
                </a:tc>
              </a:tr>
              <a:tr h="615950">
                <a:tc>
                  <a:txBody>
                    <a:bodyPr/>
                    <a:lstStyle/>
                    <a:p>
                      <a:r>
                        <a:rPr sz="878" b="1">
                          <a:solidFill>
                            <a:srgbClr val="007FA8"/>
                          </a:solidFill>
                          <a:latin typeface="Yu Gothic"/>
                          <a:ea typeface="Yu Gothic"/>
                          <a:cs typeface="Yu Gothic"/>
                        </a:rPr>
                        <a:t>A  数理・実装</a:t>
                      </a:r>
                    </a:p>
                  </a:txBody>
                  <a:tcPr marL="91440" marR="91440" marT="45720" marB="45720">
                    <a:solidFill>
                      <a:srgbClr val="FFFFFF"/>
                    </a:solidFill>
                  </a:tcPr>
                </a:tc>
                <a:tc>
                  <a:txBody>
                    <a:bodyPr/>
                    <a:lstStyle/>
                    <a:p>
                      <a:r>
                        <a:rPr sz="878">
                          <a:solidFill>
                            <a:srgbClr val="5B5B5B"/>
                          </a:solidFill>
                          <a:latin typeface="Yu Gothic"/>
                          <a:ea typeface="Yu Gothic"/>
                          <a:cs typeface="Yu Gothic"/>
                        </a:rPr>
                        <a:t>保存則、正値性、数値安定</a:t>
                      </a:r>
                    </a:p>
                  </a:txBody>
                  <a:tcPr marL="91440" marR="91440" marT="45720" marB="45720">
                    <a:solidFill>
                      <a:srgbClr val="FFFFFF"/>
                    </a:solidFill>
                  </a:tcPr>
                </a:tc>
                <a:tc>
                  <a:txBody>
                    <a:bodyPr/>
                    <a:lstStyle/>
                    <a:p>
                      <a:r>
                        <a:rPr sz="878">
                          <a:solidFill>
                            <a:srgbClr val="5B5B5B"/>
                          </a:solidFill>
                          <a:latin typeface="Yu Gothic"/>
                          <a:ea typeface="Yu Gothic"/>
                          <a:cs typeface="Yu Gothic"/>
                        </a:rPr>
                        <a:t>unit / property / quality gate</a:t>
                      </a:r>
                    </a:p>
                  </a:txBody>
                  <a:tcPr marL="91440" marR="91440" marT="45720" marB="45720">
                    <a:solidFill>
                      <a:srgbClr val="FFFFFF"/>
                    </a:solidFill>
                  </a:tcPr>
                </a:tc>
                <a:tc>
                  <a:txBody>
                    <a:bodyPr/>
                    <a:lstStyle/>
                    <a:p>
                      <a:r>
                        <a:rPr sz="878">
                          <a:solidFill>
                            <a:srgbClr val="5B5B5B"/>
                          </a:solidFill>
                          <a:latin typeface="Yu Gothic"/>
                          <a:ea typeface="Yu Gothic"/>
                          <a:cs typeface="Yu Gothic"/>
                        </a:rPr>
                        <a:t>実装整合性</a:t>
                      </a:r>
                    </a:p>
                  </a:txBody>
                  <a:tcPr marL="91440" marR="91440" marT="45720" marB="45720">
                    <a:solidFill>
                      <a:srgbClr val="FFFFFF"/>
                    </a:solidFill>
                  </a:tcPr>
                </a:tc>
                <a:tc>
                  <a:txBody>
                    <a:bodyPr/>
                    <a:lstStyle/>
                    <a:p>
                      <a:r>
                        <a:rPr sz="878">
                          <a:solidFill>
                            <a:srgbClr val="5B5B5B"/>
                          </a:solidFill>
                          <a:latin typeface="Yu Gothic"/>
                          <a:ea typeface="Yu Gothic"/>
                          <a:cs typeface="Yu Gothic"/>
                        </a:rPr>
                        <a:t>装置物理は未証明</a:t>
                      </a:r>
                    </a:p>
                  </a:txBody>
                  <a:tcPr marL="91440" marR="91440" marT="45720" marB="45720">
                    <a:solidFill>
                      <a:srgbClr val="FFFFFF"/>
                    </a:solidFill>
                  </a:tcPr>
                </a:tc>
              </a:tr>
              <a:tr h="615950">
                <a:tc>
                  <a:txBody>
                    <a:bodyPr/>
                    <a:lstStyle/>
                    <a:p>
                      <a:r>
                        <a:rPr sz="878" b="1">
                          <a:solidFill>
                            <a:srgbClr val="007FA8"/>
                          </a:solidFill>
                          <a:latin typeface="Yu Gothic"/>
                          <a:ea typeface="Yu Gothic"/>
                          <a:cs typeface="Yu Gothic"/>
                        </a:rPr>
                        <a:t>B  TopCell</a:t>
                      </a:r>
                    </a:p>
                  </a:txBody>
                  <a:tcPr marL="91440" marR="91440" marT="45720" marB="45720">
                    <a:solidFill>
                      <a:srgbClr val="F8F8F8"/>
                    </a:solidFill>
                  </a:tcPr>
                </a:tc>
                <a:tc>
                  <a:txBody>
                    <a:bodyPr/>
                    <a:lstStyle/>
                    <a:p>
                      <a:r>
                        <a:rPr sz="878">
                          <a:solidFill>
                            <a:srgbClr val="5B5B5B"/>
                          </a:solidFill>
                          <a:latin typeface="Yu Gothic"/>
                          <a:ea typeface="Yu Gothic"/>
                          <a:cs typeface="Yu Gothic"/>
                        </a:rPr>
                        <a:t>真値既知で回帰試験</a:t>
                      </a:r>
                    </a:p>
                  </a:txBody>
                  <a:tcPr marL="91440" marR="91440" marT="45720" marB="45720">
                    <a:solidFill>
                      <a:srgbClr val="F8F8F8"/>
                    </a:solidFill>
                  </a:tcPr>
                </a:tc>
                <a:tc>
                  <a:txBody>
                    <a:bodyPr/>
                    <a:lstStyle/>
                    <a:p>
                      <a:r>
                        <a:rPr sz="878">
                          <a:solidFill>
                            <a:srgbClr val="5B5B5B"/>
                          </a:solidFill>
                          <a:latin typeface="Yu Gothic"/>
                          <a:ea typeface="Yu Gothic"/>
                          <a:cs typeface="Yu Gothic"/>
                        </a:rPr>
                        <a:t>core 11ケース平均 0.143 K</a:t>
                      </a:r>
                    </a:p>
                  </a:txBody>
                  <a:tcPr marL="91440" marR="91440" marT="45720" marB="45720">
                    <a:solidFill>
                      <a:srgbClr val="F8F8F8"/>
                    </a:solidFill>
                  </a:tcPr>
                </a:tc>
                <a:tc>
                  <a:txBody>
                    <a:bodyPr/>
                    <a:lstStyle/>
                    <a:p>
                      <a:r>
                        <a:rPr sz="878">
                          <a:solidFill>
                            <a:srgbClr val="5B5B5B"/>
                          </a:solidFill>
                          <a:latin typeface="Yu Gothic"/>
                          <a:ea typeface="Yu Gothic"/>
                          <a:cs typeface="Yu Gothic"/>
                        </a:rPr>
                        <a:t>同一model class内の性能</a:t>
                      </a:r>
                    </a:p>
                  </a:txBody>
                  <a:tcPr marL="91440" marR="91440" marT="45720" marB="45720">
                    <a:solidFill>
                      <a:srgbClr val="F8F8F8"/>
                    </a:solidFill>
                  </a:tcPr>
                </a:tc>
                <a:tc>
                  <a:txBody>
                    <a:bodyPr/>
                    <a:lstStyle/>
                    <a:p>
                      <a:r>
                        <a:rPr sz="878">
                          <a:solidFill>
                            <a:srgbClr val="5B5B5B"/>
                          </a:solidFill>
                          <a:latin typeface="Yu Gothic"/>
                          <a:ea typeface="Yu Gothic"/>
                          <a:cs typeface="Yu Gothic"/>
                        </a:rPr>
                        <a:t>F11 model gap 9.823 K</a:t>
                      </a:r>
                    </a:p>
                  </a:txBody>
                  <a:tcPr marL="91440" marR="91440" marT="45720" marB="45720">
                    <a:solidFill>
                      <a:srgbClr val="F8F8F8"/>
                    </a:solidFill>
                  </a:tcPr>
                </a:tc>
              </a:tr>
              <a:tr h="615950">
                <a:tc>
                  <a:txBody>
                    <a:bodyPr/>
                    <a:lstStyle/>
                    <a:p>
                      <a:r>
                        <a:rPr sz="878" b="1">
                          <a:solidFill>
                            <a:srgbClr val="007FA8"/>
                          </a:solidFill>
                          <a:latin typeface="Yu Gothic"/>
                          <a:ea typeface="Yu Gothic"/>
                          <a:cs typeface="Yu Gothic"/>
                        </a:rPr>
                        <a:t>C  線形COMSOL</a:t>
                      </a:r>
                    </a:p>
                  </a:txBody>
                  <a:tcPr marL="91440" marR="91440" marT="45720" marB="45720">
                    <a:solidFill>
                      <a:srgbClr val="FFFFFF"/>
                    </a:solidFill>
                  </a:tcPr>
                </a:tc>
                <a:tc>
                  <a:txBody>
                    <a:bodyPr/>
                    <a:lstStyle/>
                    <a:p>
                      <a:r>
                        <a:rPr sz="878">
                          <a:solidFill>
                            <a:srgbClr val="5B5B5B"/>
                          </a:solidFill>
                          <a:latin typeface="Yu Gothic"/>
                          <a:ea typeface="Yu Gothic"/>
                          <a:cs typeface="Yu Gothic"/>
                        </a:rPr>
                        <a:t>外部CAEへの転移</a:t>
                      </a:r>
                    </a:p>
                  </a:txBody>
                  <a:tcPr marL="91440" marR="91440" marT="45720" marB="45720">
                    <a:solidFill>
                      <a:srgbClr val="FFFFFF"/>
                    </a:solidFill>
                  </a:tcPr>
                </a:tc>
                <a:tc>
                  <a:txBody>
                    <a:bodyPr/>
                    <a:lstStyle/>
                    <a:p>
                      <a:r>
                        <a:rPr sz="878">
                          <a:solidFill>
                            <a:srgbClr val="5B5B5B"/>
                          </a:solidFill>
                          <a:latin typeface="Yu Gothic"/>
                          <a:ea typeface="Yu Gothic"/>
                          <a:cs typeface="Yu Gothic"/>
                        </a:rPr>
                        <a:t>8ケース平均 0.036 K</a:t>
                      </a:r>
                    </a:p>
                  </a:txBody>
                  <a:tcPr marL="91440" marR="91440" marT="45720" marB="45720">
                    <a:solidFill>
                      <a:srgbClr val="FFFFFF"/>
                    </a:solidFill>
                  </a:tcPr>
                </a:tc>
                <a:tc>
                  <a:txBody>
                    <a:bodyPr/>
                    <a:lstStyle/>
                    <a:p>
                      <a:r>
                        <a:rPr sz="878">
                          <a:solidFill>
                            <a:srgbClr val="5B5B5B"/>
                          </a:solidFill>
                          <a:latin typeface="Yu Gothic"/>
                          <a:ea typeface="Yu Gothic"/>
                          <a:cs typeface="Yu Gothic"/>
                        </a:rPr>
                        <a:t>体積平均・線形境界</a:t>
                      </a:r>
                    </a:p>
                  </a:txBody>
                  <a:tcPr marL="91440" marR="91440" marT="45720" marB="45720">
                    <a:solidFill>
                      <a:srgbClr val="FFFFFF"/>
                    </a:solidFill>
                  </a:tcPr>
                </a:tc>
                <a:tc>
                  <a:txBody>
                    <a:bodyPr/>
                    <a:lstStyle/>
                    <a:p>
                      <a:r>
                        <a:rPr sz="878">
                          <a:solidFill>
                            <a:srgbClr val="5B5B5B"/>
                          </a:solidFill>
                          <a:latin typeface="Yu Gothic"/>
                          <a:ea typeface="Yu Gothic"/>
                          <a:cs typeface="Yu Gothic"/>
                        </a:rPr>
                        <a:t>hotspot最大過小 0.328 K</a:t>
                      </a:r>
                    </a:p>
                  </a:txBody>
                  <a:tcPr marL="91440" marR="91440" marT="45720" marB="45720">
                    <a:solidFill>
                      <a:srgbClr val="FFFFFF"/>
                    </a:solidFill>
                  </a:tcPr>
                </a:tc>
              </a:tr>
              <a:tr h="615950">
                <a:tc>
                  <a:txBody>
                    <a:bodyPr/>
                    <a:lstStyle/>
                    <a:p>
                      <a:r>
                        <a:rPr sz="878" b="1">
                          <a:solidFill>
                            <a:srgbClr val="7B2DAF"/>
                          </a:solidFill>
                          <a:latin typeface="Yu Gothic"/>
                          <a:ea typeface="Yu Gothic"/>
                          <a:cs typeface="Yu Gothic"/>
                        </a:rPr>
                        <a:t>D  高忠実度CAE</a:t>
                      </a:r>
                    </a:p>
                  </a:txBody>
                  <a:tcPr marL="91440" marR="91440" marT="45720" marB="45720">
                    <a:solidFill>
                      <a:srgbClr val="F8F8F8"/>
                    </a:solidFill>
                  </a:tcPr>
                </a:tc>
                <a:tc>
                  <a:txBody>
                    <a:bodyPr/>
                    <a:lstStyle/>
                    <a:p>
                      <a:r>
                        <a:rPr sz="878">
                          <a:solidFill>
                            <a:srgbClr val="5B5B5B"/>
                          </a:solidFill>
                          <a:latin typeface="Yu Gothic"/>
                          <a:ea typeface="Yu Gothic"/>
                          <a:cs typeface="Yu Gothic"/>
                        </a:rPr>
                        <a:t>非線形・放射のscreening</a:t>
                      </a:r>
                    </a:p>
                  </a:txBody>
                  <a:tcPr marL="91440" marR="91440" marT="45720" marB="45720">
                    <a:solidFill>
                      <a:srgbClr val="F8F8F8"/>
                    </a:solidFill>
                  </a:tcPr>
                </a:tc>
                <a:tc>
                  <a:txBody>
                    <a:bodyPr/>
                    <a:lstStyle/>
                    <a:p>
                      <a:r>
                        <a:rPr sz="878">
                          <a:solidFill>
                            <a:srgbClr val="5B5B5B"/>
                          </a:solidFill>
                          <a:latin typeface="Yu Gothic"/>
                          <a:ea typeface="Yu Gothic"/>
                          <a:cs typeface="Yu Gothic"/>
                        </a:rPr>
                        <a:t>2ケース平均 0.0956 K</a:t>
                      </a:r>
                    </a:p>
                  </a:txBody>
                  <a:tcPr marL="91440" marR="91440" marT="45720" marB="45720">
                    <a:solidFill>
                      <a:srgbClr val="F8F8F8"/>
                    </a:solidFill>
                  </a:tcPr>
                </a:tc>
                <a:tc>
                  <a:txBody>
                    <a:bodyPr/>
                    <a:lstStyle/>
                    <a:p>
                      <a:r>
                        <a:rPr sz="878">
                          <a:solidFill>
                            <a:srgbClr val="5B5B5B"/>
                          </a:solidFill>
                          <a:latin typeface="Yu Gothic"/>
                          <a:ea typeface="Yu Gothic"/>
                          <a:cs typeface="Yu Gothic"/>
                        </a:rPr>
                        <a:t>model-form screening</a:t>
                      </a:r>
                    </a:p>
                  </a:txBody>
                  <a:tcPr marL="91440" marR="91440" marT="45720" marB="45720">
                    <a:solidFill>
                      <a:srgbClr val="F8F8F8"/>
                    </a:solidFill>
                  </a:tcPr>
                </a:tc>
                <a:tc>
                  <a:txBody>
                    <a:bodyPr/>
                    <a:lstStyle/>
                    <a:p>
                      <a:r>
                        <a:rPr sz="878">
                          <a:solidFill>
                            <a:srgbClr val="5B5B5B"/>
                          </a:solidFill>
                          <a:latin typeface="Yu Gothic"/>
                          <a:ea typeface="Yu Gothic"/>
                          <a:cs typeface="Yu Gothic"/>
                        </a:rPr>
                        <a:t>mesh/time strict未qualified</a:t>
                      </a:r>
                    </a:p>
                  </a:txBody>
                  <a:tcPr marL="91440" marR="91440" marT="45720" marB="45720">
                    <a:solidFill>
                      <a:srgbClr val="F8F8F8"/>
                    </a:solidFill>
                  </a:tcPr>
                </a:tc>
              </a:tr>
              <a:tr h="615950">
                <a:tc>
                  <a:txBody>
                    <a:bodyPr/>
                    <a:lstStyle/>
                    <a:p>
                      <a:r>
                        <a:rPr sz="878" b="1">
                          <a:solidFill>
                            <a:srgbClr val="C4493D"/>
                          </a:solidFill>
                          <a:latin typeface="Yu Gothic"/>
                          <a:ea typeface="Yu Gothic"/>
                          <a:cs typeface="Yu Gothic"/>
                        </a:rPr>
                        <a:t>E  装置データ</a:t>
                      </a:r>
                    </a:p>
                  </a:txBody>
                  <a:tcPr marL="91440" marR="91440" marT="45720" marB="45720">
                    <a:solidFill>
                      <a:srgbClr val="FFFFFF"/>
                    </a:solidFill>
                  </a:tcPr>
                </a:tc>
                <a:tc>
                  <a:txBody>
                    <a:bodyPr/>
                    <a:lstStyle/>
                    <a:p>
                      <a:r>
                        <a:rPr sz="878">
                          <a:solidFill>
                            <a:srgbClr val="5B5B5B"/>
                          </a:solidFill>
                          <a:latin typeface="Yu Gothic"/>
                          <a:ea typeface="Yu Gothic"/>
                          <a:cs typeface="Yu Gothic"/>
                        </a:rPr>
                        <a:t>製品運転域で妥当化</a:t>
                      </a:r>
                    </a:p>
                  </a:txBody>
                  <a:tcPr marL="91440" marR="91440" marT="45720" marB="45720">
                    <a:solidFill>
                      <a:srgbClr val="FFFFFF"/>
                    </a:solidFill>
                  </a:tcPr>
                </a:tc>
                <a:tc>
                  <a:txBody>
                    <a:bodyPr/>
                    <a:lstStyle/>
                    <a:p>
                      <a:r>
                        <a:rPr sz="878" b="1">
                          <a:solidFill>
                            <a:srgbClr val="C4493D"/>
                          </a:solidFill>
                          <a:latin typeface="Yu Gothic"/>
                          <a:ea typeface="Yu Gothic"/>
                          <a:cs typeface="Yu Gothic"/>
                        </a:rPr>
                        <a:t>未実施</a:t>
                      </a:r>
                    </a:p>
                  </a:txBody>
                  <a:tcPr marL="91440" marR="91440" marT="45720" marB="45720">
                    <a:solidFill>
                      <a:srgbClr val="FBE9E7"/>
                    </a:solidFill>
                  </a:tcPr>
                </a:tc>
                <a:tc>
                  <a:txBody>
                    <a:bodyPr/>
                    <a:lstStyle/>
                    <a:p>
                      <a:r>
                        <a:rPr sz="878">
                          <a:solidFill>
                            <a:srgbClr val="5B5B5B"/>
                          </a:solidFill>
                          <a:latin typeface="Yu Gothic"/>
                          <a:ea typeface="Yu Gothic"/>
                          <a:cs typeface="Yu Gothic"/>
                        </a:rPr>
                        <a:t>—</a:t>
                      </a:r>
                    </a:p>
                  </a:txBody>
                  <a:tcPr marL="91440" marR="91440" marT="45720" marB="45720">
                    <a:solidFill>
                      <a:srgbClr val="FFFFFF"/>
                    </a:solidFill>
                  </a:tcPr>
                </a:tc>
                <a:tc>
                  <a:txBody>
                    <a:bodyPr/>
                    <a:lstStyle/>
                    <a:p>
                      <a:r>
                        <a:rPr sz="878">
                          <a:solidFill>
                            <a:srgbClr val="5B5B5B"/>
                          </a:solidFill>
                          <a:latin typeface="Yu Gothic"/>
                          <a:ea typeface="Yu Gothic"/>
                          <a:cs typeface="Yu Gothic"/>
                        </a:rPr>
                        <a:t>DOE、sensor校正、holdout</a:t>
                      </a:r>
                    </a:p>
                  </a:txBody>
                  <a:tcPr marL="91440" marR="91440" marT="45720" marB="45720">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B7DB1381-25C9-4486-AC99-4D210E2B88A7}"/>
              </a:ext>
            </a:extLst>
          </p:cNvPr>
          <p:cNvSpPr>
            <a:spLocks xmlns:a="http://schemas.openxmlformats.org/drawingml/2006/main" noGrp="1"/>
          </p:cNvSpPr>
          <p:nvPr/>
        </p:nvSpPr>
        <p:spPr>
          <a:xfrm xmlns:a="http://schemas.openxmlformats.org/drawingml/2006/main">
            <a:off x="552450" y="5381625"/>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3F3F3F"/>
                </a:solidFill>
                <a:latin typeface="Yu Gothic"/>
                <a:ea typeface="Yu Gothic"/>
                <a:cs typeface="Yu Gothic"/>
              </a:defRPr>
            </a:pPr>
            <a:r>
              <a:rPr sz="1275" b="1" i="0">
                <a:solidFill>
                  <a:srgbClr val="3F3F3F"/>
                </a:solidFill>
                <a:latin typeface="Yu Gothic"/>
                <a:ea typeface="Yu Gothic"/>
                <a:cs typeface="Yu Gothic"/>
              </a:rPr>
              <a:t>主張の境界</a:t>
            </a:r>
          </a:p>
        </p:txBody>
      </p:sp>
      <p:sp>
        <p:nvSpPr>
          <p:cNvPr id="11" name="">
            <a:extLst xmlns:a="http://schemas.openxmlformats.org/drawingml/2006/main">
              <a:ext uri="{FF2B5EF4-FFF2-40B4-BE49-F238E27FC236}">
                <a16:creationId xmlns:a16="http://schemas.microsoft.com/office/drawing/2014/main" id="{C0629BDC-C944-414F-BB88-250F66C3747E}"/>
              </a:ext>
            </a:extLst>
          </p:cNvPr>
          <p:cNvSpPr>
            <a:spLocks xmlns:a="http://schemas.openxmlformats.org/drawingml/2006/main" noGrp="1"/>
          </p:cNvSpPr>
          <p:nvPr/>
        </p:nvSpPr>
        <p:spPr>
          <a:xfrm xmlns:a="http://schemas.openxmlformats.org/drawingml/2006/main">
            <a:off x="552450" y="5724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12" name="">
            <a:extLst xmlns:a="http://schemas.openxmlformats.org/drawingml/2006/main">
              <a:ext uri="{FF2B5EF4-FFF2-40B4-BE49-F238E27FC236}">
                <a16:creationId xmlns:a16="http://schemas.microsoft.com/office/drawing/2014/main" id="{EF2EF097-12B0-4BE2-985F-28CA1B747BD1}"/>
              </a:ext>
            </a:extLst>
          </p:cNvPr>
          <p:cNvSpPr>
            <a:spLocks xmlns:a="http://schemas.openxmlformats.org/drawingml/2006/main" noGrp="1"/>
          </p:cNvSpPr>
          <p:nvPr/>
        </p:nvSpPr>
        <p:spPr>
          <a:xfrm xmlns:a="http://schemas.openxmlformats.org/drawingml/2006/main">
            <a:off x="552450" y="5848350"/>
            <a:ext cx="685800" cy="238125"/>
          </a:xfrm>
          <a:prstGeom xmlns:a="http://schemas.openxmlformats.org/drawingml/2006/main" prst="roundRect">
            <a:avLst>
              <a:gd name="adj" fmla="val 50000"/>
            </a:avLst>
          </a:prstGeom>
          <a:solidFill xmlns:a="http://schemas.openxmlformats.org/drawingml/2006/main">
            <a:srgbClr val="EEF7DF"/>
          </a:solidFill>
          <a:ln xmlns:a="http://schemas.openxmlformats.org/drawingml/2006/main" w="9525">
            <a:solidFill>
              <a:srgbClr val="76BE18"/>
            </a:solidFill>
            <a:prstDash val="solid"/>
          </a:ln>
        </p:spPr>
      </p:sp>
      <p:sp>
        <p:nvSpPr>
          <p:cNvPr id="13" name="">
            <a:extLst xmlns:a="http://schemas.openxmlformats.org/drawingml/2006/main">
              <a:ext uri="{FF2B5EF4-FFF2-40B4-BE49-F238E27FC236}">
                <a16:creationId xmlns:a16="http://schemas.microsoft.com/office/drawing/2014/main" id="{DECD677A-D9C2-4B4D-92E8-6074C6146DF6}"/>
              </a:ext>
            </a:extLst>
          </p:cNvPr>
          <p:cNvSpPr>
            <a:spLocks xmlns:a="http://schemas.openxmlformats.org/drawingml/2006/main" noGrp="1"/>
          </p:cNvSpPr>
          <p:nvPr/>
        </p:nvSpPr>
        <p:spPr>
          <a:xfrm xmlns:a="http://schemas.openxmlformats.org/drawingml/2006/main">
            <a:off x="600075" y="585787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76BE18"/>
                </a:solidFill>
                <a:latin typeface="Yu Gothic"/>
                <a:ea typeface="Yu Gothic"/>
                <a:cs typeface="Yu Gothic"/>
              </a:defRPr>
            </a:pPr>
            <a:r>
              <a:rPr sz="788" b="1" i="0">
                <a:solidFill>
                  <a:srgbClr val="76BE18"/>
                </a:solidFill>
                <a:latin typeface="Yu Gothic"/>
                <a:ea typeface="Yu Gothic"/>
                <a:cs typeface="Yu Gothic"/>
              </a:rPr>
              <a:t>可</a:t>
            </a:r>
          </a:p>
        </p:txBody>
      </p:sp>
      <p:sp>
        <p:nvSpPr>
          <p:cNvPr id="14" name="">
            <a:extLst xmlns:a="http://schemas.openxmlformats.org/drawingml/2006/main">
              <a:ext uri="{FF2B5EF4-FFF2-40B4-BE49-F238E27FC236}">
                <a16:creationId xmlns:a16="http://schemas.microsoft.com/office/drawing/2014/main" id="{52D6390B-E484-4DA9-86C0-C8F93733C0C9}"/>
              </a:ext>
            </a:extLst>
          </p:cNvPr>
          <p:cNvSpPr>
            <a:spLocks xmlns:a="http://schemas.openxmlformats.org/drawingml/2006/main" noGrp="1"/>
          </p:cNvSpPr>
          <p:nvPr/>
        </p:nvSpPr>
        <p:spPr>
          <a:xfrm xmlns:a="http://schemas.openxmlformats.org/drawingml/2006/main">
            <a:off x="1333500" y="5819775"/>
            <a:ext cx="2743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集中定数モデルとしての因果予測・状態監視</a:t>
            </a:r>
          </a:p>
        </p:txBody>
      </p:sp>
      <p:sp>
        <p:nvSpPr>
          <p:cNvPr id="15" name="">
            <a:extLst xmlns:a="http://schemas.openxmlformats.org/drawingml/2006/main">
              <a:ext uri="{FF2B5EF4-FFF2-40B4-BE49-F238E27FC236}">
                <a16:creationId xmlns:a16="http://schemas.microsoft.com/office/drawing/2014/main" id="{ED380F6B-BC28-4537-97DC-90DD9C20B231}"/>
              </a:ext>
            </a:extLst>
          </p:cNvPr>
          <p:cNvSpPr>
            <a:spLocks xmlns:a="http://schemas.openxmlformats.org/drawingml/2006/main" noGrp="1"/>
          </p:cNvSpPr>
          <p:nvPr/>
        </p:nvSpPr>
        <p:spPr>
          <a:xfrm xmlns:a="http://schemas.openxmlformats.org/drawingml/2006/main">
            <a:off x="4248150" y="5848350"/>
            <a:ext cx="685800" cy="238125"/>
          </a:xfrm>
          <a:prstGeom xmlns:a="http://schemas.openxmlformats.org/drawingml/2006/main" prst="roundRect">
            <a:avLst>
              <a:gd name="adj" fmla="val 50000"/>
            </a:avLst>
          </a:prstGeom>
          <a:solidFill xmlns:a="http://schemas.openxmlformats.org/drawingml/2006/main">
            <a:srgbClr val="FFF5D7"/>
          </a:solidFill>
          <a:ln xmlns:a="http://schemas.openxmlformats.org/drawingml/2006/main" w="9525">
            <a:solidFill>
              <a:srgbClr val="E5A900"/>
            </a:solidFill>
            <a:prstDash val="solid"/>
          </a:ln>
        </p:spPr>
      </p:sp>
      <p:sp>
        <p:nvSpPr>
          <p:cNvPr id="16" name="">
            <a:extLst xmlns:a="http://schemas.openxmlformats.org/drawingml/2006/main">
              <a:ext uri="{FF2B5EF4-FFF2-40B4-BE49-F238E27FC236}">
                <a16:creationId xmlns:a16="http://schemas.microsoft.com/office/drawing/2014/main" id="{4D64724F-B12F-498E-9C3A-881E6A061D02}"/>
              </a:ext>
            </a:extLst>
          </p:cNvPr>
          <p:cNvSpPr>
            <a:spLocks xmlns:a="http://schemas.openxmlformats.org/drawingml/2006/main" noGrp="1"/>
          </p:cNvSpPr>
          <p:nvPr/>
        </p:nvSpPr>
        <p:spPr>
          <a:xfrm xmlns:a="http://schemas.openxmlformats.org/drawingml/2006/main">
            <a:off x="4295775" y="585787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E5A900"/>
                </a:solidFill>
                <a:latin typeface="Yu Gothic"/>
                <a:ea typeface="Yu Gothic"/>
                <a:cs typeface="Yu Gothic"/>
              </a:defRPr>
            </a:pPr>
            <a:r>
              <a:rPr sz="788" b="1" i="0">
                <a:solidFill>
                  <a:srgbClr val="E5A900"/>
                </a:solidFill>
                <a:latin typeface="Yu Gothic"/>
                <a:ea typeface="Yu Gothic"/>
                <a:cs typeface="Yu Gothic"/>
              </a:rPr>
              <a:t>条件付</a:t>
            </a:r>
          </a:p>
        </p:txBody>
      </p:sp>
      <p:sp>
        <p:nvSpPr>
          <p:cNvPr id="17" name="">
            <a:extLst xmlns:a="http://schemas.openxmlformats.org/drawingml/2006/main">
              <a:ext uri="{FF2B5EF4-FFF2-40B4-BE49-F238E27FC236}">
                <a16:creationId xmlns:a16="http://schemas.microsoft.com/office/drawing/2014/main" id="{630B40C4-6FBB-4729-9013-D175E953904C}"/>
              </a:ext>
            </a:extLst>
          </p:cNvPr>
          <p:cNvSpPr>
            <a:spLocks xmlns:a="http://schemas.openxmlformats.org/drawingml/2006/main" noGrp="1"/>
          </p:cNvSpPr>
          <p:nvPr/>
        </p:nvSpPr>
        <p:spPr>
          <a:xfrm xmlns:a="http://schemas.openxmlformats.org/drawingml/2006/main">
            <a:off x="5029200" y="5819775"/>
            <a:ext cx="2743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体積平均温度のscreening精度</a:t>
            </a:r>
          </a:p>
        </p:txBody>
      </p:sp>
      <p:sp>
        <p:nvSpPr>
          <p:cNvPr id="18" name="">
            <a:extLst xmlns:a="http://schemas.openxmlformats.org/drawingml/2006/main">
              <a:ext uri="{FF2B5EF4-FFF2-40B4-BE49-F238E27FC236}">
                <a16:creationId xmlns:a16="http://schemas.microsoft.com/office/drawing/2014/main" id="{E04728AE-D97E-4F9F-A618-734D6A7ACD49}"/>
              </a:ext>
            </a:extLst>
          </p:cNvPr>
          <p:cNvSpPr>
            <a:spLocks xmlns:a="http://schemas.openxmlformats.org/drawingml/2006/main" noGrp="1"/>
          </p:cNvSpPr>
          <p:nvPr/>
        </p:nvSpPr>
        <p:spPr>
          <a:xfrm xmlns:a="http://schemas.openxmlformats.org/drawingml/2006/main">
            <a:off x="7943850" y="5848350"/>
            <a:ext cx="685800" cy="238125"/>
          </a:xfrm>
          <a:prstGeom xmlns:a="http://schemas.openxmlformats.org/drawingml/2006/main" prst="roundRect">
            <a:avLst>
              <a:gd name="adj" fmla="val 50000"/>
            </a:avLst>
          </a:prstGeom>
          <a:solidFill xmlns:a="http://schemas.openxmlformats.org/drawingml/2006/main">
            <a:srgbClr val="FBE9E7"/>
          </a:solidFill>
          <a:ln xmlns:a="http://schemas.openxmlformats.org/drawingml/2006/main" w="9525">
            <a:solidFill>
              <a:srgbClr val="C4493D"/>
            </a:solidFill>
            <a:prstDash val="solid"/>
          </a:ln>
        </p:spPr>
      </p:sp>
      <p:sp>
        <p:nvSpPr>
          <p:cNvPr id="19" name="">
            <a:extLst xmlns:a="http://schemas.openxmlformats.org/drawingml/2006/main">
              <a:ext uri="{FF2B5EF4-FFF2-40B4-BE49-F238E27FC236}">
                <a16:creationId xmlns:a16="http://schemas.microsoft.com/office/drawing/2014/main" id="{8F95E253-6DB9-4F86-8EDD-A4FBC9C3C893}"/>
              </a:ext>
            </a:extLst>
          </p:cNvPr>
          <p:cNvSpPr>
            <a:spLocks xmlns:a="http://schemas.openxmlformats.org/drawingml/2006/main" noGrp="1"/>
          </p:cNvSpPr>
          <p:nvPr/>
        </p:nvSpPr>
        <p:spPr>
          <a:xfrm xmlns:a="http://schemas.openxmlformats.org/drawingml/2006/main">
            <a:off x="7991475" y="585787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C4493D"/>
                </a:solidFill>
                <a:latin typeface="Yu Gothic"/>
                <a:ea typeface="Yu Gothic"/>
                <a:cs typeface="Yu Gothic"/>
              </a:defRPr>
            </a:pPr>
            <a:r>
              <a:rPr sz="788" b="1" i="0">
                <a:solidFill>
                  <a:srgbClr val="C4493D"/>
                </a:solidFill>
                <a:latin typeface="Yu Gothic"/>
                <a:ea typeface="Yu Gothic"/>
                <a:cs typeface="Yu Gothic"/>
              </a:rPr>
              <a:t>不可</a:t>
            </a:r>
          </a:p>
        </p:txBody>
      </p:sp>
      <p:sp>
        <p:nvSpPr>
          <p:cNvPr id="20" name="">
            <a:extLst xmlns:a="http://schemas.openxmlformats.org/drawingml/2006/main">
              <a:ext uri="{FF2B5EF4-FFF2-40B4-BE49-F238E27FC236}">
                <a16:creationId xmlns:a16="http://schemas.microsoft.com/office/drawing/2014/main" id="{22F75D93-24FC-4B26-87F8-E89C0EC5140D}"/>
              </a:ext>
            </a:extLst>
          </p:cNvPr>
          <p:cNvSpPr>
            <a:spLocks xmlns:a="http://schemas.openxmlformats.org/drawingml/2006/main" noGrp="1"/>
          </p:cNvSpPr>
          <p:nvPr/>
        </p:nvSpPr>
        <p:spPr>
          <a:xfrm xmlns:a="http://schemas.openxmlformats.org/drawingml/2006/main">
            <a:off x="8724900" y="5819775"/>
            <a:ext cx="2743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9947"/>
          </a:bodyPr>
          <a:lstStyle xmlns:a="http://schemas.openxmlformats.org/drawingml/2006/main"/>
          <a:p xmlns:a="http://schemas.openxmlformats.org/drawingml/2006/main">
            <a:pPr algn="l">
              <a:lnSpc>
                <a:spcPct val="100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局所hotspot・wafer面内均一性・製品保証への直接外挿</a:t>
            </a:r>
          </a:p>
        </p:txBody>
      </p:sp>
    </p:spTree>
    <p:extLst>
      <p:ext uri="{BB962C8B-B14F-4D97-AF65-F5344CB8AC3E}">
        <p14:creationId xmlns:p14="http://schemas.microsoft.com/office/powerpoint/2010/main" val="12082055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9A5C1FD1-B512-439A-8972-EA3E3ADE8185}"/>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C7B1DDB-6F48-4F6C-9F87-7E479B421D05}"/>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PHYSICAL MODEL</a:t>
            </a:r>
          </a:p>
        </p:txBody>
      </p:sp>
      <p:sp>
        <p:nvSpPr>
          <p:cNvPr id="3" name="">
            <a:extLst xmlns:a="http://schemas.openxmlformats.org/drawingml/2006/main">
              <a:ext uri="{FF2B5EF4-FFF2-40B4-BE49-F238E27FC236}">
                <a16:creationId xmlns:a16="http://schemas.microsoft.com/office/drawing/2014/main" id="{019C2AF8-23A3-4622-96C7-07EBD9C9CC27}"/>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3ノード伝熱回路は、熱容量を固定し3つの熱伝達係数を同定する</a:t>
            </a:r>
          </a:p>
        </p:txBody>
      </p:sp>
      <p:sp>
        <p:nvSpPr>
          <p:cNvPr id="4" name="">
            <a:extLst xmlns:a="http://schemas.openxmlformats.org/drawingml/2006/main">
              <a:ext uri="{FF2B5EF4-FFF2-40B4-BE49-F238E27FC236}">
                <a16:creationId xmlns:a16="http://schemas.microsoft.com/office/drawing/2014/main" id="{416D5A1A-6EA2-487C-B91D-FFD51EA22B54}"/>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線形COMSOL評価モデル：chip → sink base → fins → coolant</a:t>
            </a:r>
          </a:p>
        </p:txBody>
      </p:sp>
      <p:sp>
        <p:nvSpPr>
          <p:cNvPr id="5" name="">
            <a:extLst xmlns:a="http://schemas.openxmlformats.org/drawingml/2006/main">
              <a:ext uri="{FF2B5EF4-FFF2-40B4-BE49-F238E27FC236}">
                <a16:creationId xmlns:a16="http://schemas.microsoft.com/office/drawing/2014/main" id="{6BB2191C-F67E-4551-8F7F-80196C86434A}"/>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EEA47B58-8441-49D9-A2F5-AC1C58FA5D14}"/>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B5BDDEFD-E4FC-49C3-B01B-92729DA2DFC0}"/>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3BDBD164-177B-4345-8AE5-E2ABF5FD7EC6}"/>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9</a:t>
            </a:r>
          </a:p>
        </p:txBody>
      </p:sp>
      <p:sp>
        <p:nvSpPr>
          <p:cNvPr id="9" name="">
            <a:extLst xmlns:a="http://schemas.openxmlformats.org/drawingml/2006/main">
              <a:ext uri="{FF2B5EF4-FFF2-40B4-BE49-F238E27FC236}">
                <a16:creationId xmlns:a16="http://schemas.microsoft.com/office/drawing/2014/main" id="{3F593764-606A-4542-88CC-3C4DA200BE8C}"/>
              </a:ext>
            </a:extLst>
          </p:cNvPr>
          <p:cNvSpPr>
            <a:spLocks xmlns:a="http://schemas.openxmlformats.org/drawingml/2006/main" noGrp="1"/>
          </p:cNvSpPr>
          <p:nvPr/>
        </p:nvSpPr>
        <p:spPr>
          <a:xfrm xmlns:a="http://schemas.openxmlformats.org/drawingml/2006/main">
            <a:off x="552450" y="1381125"/>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伝熱回路</a:t>
            </a:r>
          </a:p>
        </p:txBody>
      </p:sp>
      <p:sp>
        <p:nvSpPr>
          <p:cNvPr id="10" name="">
            <a:extLst xmlns:a="http://schemas.openxmlformats.org/drawingml/2006/main">
              <a:ext uri="{FF2B5EF4-FFF2-40B4-BE49-F238E27FC236}">
                <a16:creationId xmlns:a16="http://schemas.microsoft.com/office/drawing/2014/main" id="{EB9108B7-CF4E-437F-B9A6-EE95771E1957}"/>
              </a:ext>
            </a:extLst>
          </p:cNvPr>
          <p:cNvSpPr>
            <a:spLocks xmlns:a="http://schemas.openxmlformats.org/drawingml/2006/main" noGrp="1"/>
          </p:cNvSpPr>
          <p:nvPr/>
        </p:nvSpPr>
        <p:spPr>
          <a:xfrm xmlns:a="http://schemas.openxmlformats.org/drawingml/2006/main">
            <a:off x="552450" y="2600325"/>
            <a:ext cx="1009650" cy="533400"/>
          </a:xfrm>
          <a:prstGeom xmlns:a="http://schemas.openxmlformats.org/drawingml/2006/main" prst="roundRect">
            <a:avLst>
              <a:gd name="adj" fmla="val 50000"/>
            </a:avLst>
          </a:prstGeom>
          <a:solidFill xmlns:a="http://schemas.openxmlformats.org/drawingml/2006/main">
            <a:srgbClr val="FFF5D7"/>
          </a:solidFill>
          <a:ln xmlns:a="http://schemas.openxmlformats.org/drawingml/2006/main" w="19050">
            <a:solidFill>
              <a:srgbClr val="E5A900"/>
            </a:solidFill>
            <a:prstDash val="solid"/>
          </a:ln>
        </p:spPr>
      </p:sp>
      <p:sp>
        <p:nvSpPr>
          <p:cNvPr id="11" name="">
            <a:extLst xmlns:a="http://schemas.openxmlformats.org/drawingml/2006/main">
              <a:ext uri="{FF2B5EF4-FFF2-40B4-BE49-F238E27FC236}">
                <a16:creationId xmlns:a16="http://schemas.microsoft.com/office/drawing/2014/main" id="{CB4D65BA-BC83-463F-9070-05463CD1E885}"/>
              </a:ext>
            </a:extLst>
          </p:cNvPr>
          <p:cNvSpPr>
            <a:spLocks xmlns:a="http://schemas.openxmlformats.org/drawingml/2006/main" noGrp="1"/>
          </p:cNvSpPr>
          <p:nvPr/>
        </p:nvSpPr>
        <p:spPr>
          <a:xfrm xmlns:a="http://schemas.openxmlformats.org/drawingml/2006/main">
            <a:off x="647700" y="2686050"/>
            <a:ext cx="819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806000"/>
                </a:solidFill>
                <a:latin typeface="Cambria Math"/>
                <a:ea typeface="Cambria Math"/>
                <a:cs typeface="Cambria Math"/>
              </a:defRPr>
            </a:pPr>
            <a:r>
              <a:rPr sz="1275" b="1" i="0">
                <a:solidFill>
                  <a:srgbClr val="806000"/>
                </a:solidFill>
                <a:latin typeface="Cambria Math"/>
                <a:ea typeface="Cambria Math"/>
                <a:cs typeface="Cambria Math"/>
              </a:rPr>
              <a:t>Pchip(t)</a:t>
            </a:r>
          </a:p>
        </p:txBody>
      </p:sp>
      <p:sp>
        <p:nvSpPr>
          <p:cNvPr id="12" name="">
            <a:extLst xmlns:a="http://schemas.openxmlformats.org/drawingml/2006/main">
              <a:ext uri="{FF2B5EF4-FFF2-40B4-BE49-F238E27FC236}">
                <a16:creationId xmlns:a16="http://schemas.microsoft.com/office/drawing/2014/main" id="{07B0F277-0E1F-44E9-967B-ECBC0435C2EC}"/>
              </a:ext>
            </a:extLst>
          </p:cNvPr>
          <p:cNvSpPr>
            <a:spLocks xmlns:a="http://schemas.openxmlformats.org/drawingml/2006/main" noGrp="1"/>
          </p:cNvSpPr>
          <p:nvPr/>
        </p:nvSpPr>
        <p:spPr>
          <a:xfrm xmlns:a="http://schemas.openxmlformats.org/drawingml/2006/main">
            <a:off x="1952625" y="2076450"/>
            <a:ext cx="1543050" cy="1581150"/>
          </a:xfrm>
          <a:prstGeom xmlns:a="http://schemas.openxmlformats.org/drawingml/2006/main" prst="rect">
            <a:avLst/>
          </a:prstGeom>
          <a:solidFill xmlns:a="http://schemas.openxmlformats.org/drawingml/2006/main">
            <a:srgbClr val="EFE5F6"/>
          </a:solidFill>
          <a:ln xmlns:a="http://schemas.openxmlformats.org/drawingml/2006/main" w="19050">
            <a:solidFill>
              <a:srgbClr val="7B2DAF"/>
            </a:solidFill>
            <a:prstDash val="solid"/>
          </a:ln>
        </p:spPr>
      </p:sp>
      <p:sp>
        <p:nvSpPr>
          <p:cNvPr id="13" name="">
            <a:extLst xmlns:a="http://schemas.openxmlformats.org/drawingml/2006/main">
              <a:ext uri="{FF2B5EF4-FFF2-40B4-BE49-F238E27FC236}">
                <a16:creationId xmlns:a16="http://schemas.microsoft.com/office/drawing/2014/main" id="{0B9B1B7A-C2A6-4010-8BEA-55017CFA795D}"/>
              </a:ext>
            </a:extLst>
          </p:cNvPr>
          <p:cNvSpPr>
            <a:spLocks xmlns:a="http://schemas.openxmlformats.org/drawingml/2006/main" noGrp="1"/>
          </p:cNvSpPr>
          <p:nvPr/>
        </p:nvSpPr>
        <p:spPr>
          <a:xfrm xmlns:a="http://schemas.openxmlformats.org/drawingml/2006/main">
            <a:off x="2133600" y="2257425"/>
            <a:ext cx="1181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500" b="1" i="0">
                <a:solidFill>
                  <a:srgbClr val="7B2DAF"/>
                </a:solidFill>
                <a:latin typeface="Yu Gothic"/>
                <a:ea typeface="Yu Gothic"/>
                <a:cs typeface="Yu Gothic"/>
              </a:defRPr>
            </a:pPr>
            <a:r>
              <a:rPr sz="1500" b="1" i="0">
                <a:solidFill>
                  <a:srgbClr val="7B2DAF"/>
                </a:solidFill>
                <a:latin typeface="Yu Gothic"/>
                <a:ea typeface="Yu Gothic"/>
                <a:cs typeface="Yu Gothic"/>
              </a:rPr>
              <a:t>chip</a:t>
            </a:r>
          </a:p>
        </p:txBody>
      </p:sp>
      <p:sp>
        <p:nvSpPr>
          <p:cNvPr id="14" name="">
            <a:extLst xmlns:a="http://schemas.openxmlformats.org/drawingml/2006/main">
              <a:ext uri="{FF2B5EF4-FFF2-40B4-BE49-F238E27FC236}">
                <a16:creationId xmlns:a16="http://schemas.microsoft.com/office/drawing/2014/main" id="{778582C8-B589-40E2-B823-B534D0AE0621}"/>
              </a:ext>
            </a:extLst>
          </p:cNvPr>
          <p:cNvSpPr>
            <a:spLocks xmlns:a="http://schemas.openxmlformats.org/drawingml/2006/main" noGrp="1"/>
          </p:cNvSpPr>
          <p:nvPr/>
        </p:nvSpPr>
        <p:spPr>
          <a:xfrm xmlns:a="http://schemas.openxmlformats.org/drawingml/2006/main">
            <a:off x="2133600" y="2628900"/>
            <a:ext cx="1181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7701"/>
          </a:bodyPr>
          <a:lstStyle xmlns:a="http://schemas.openxmlformats.org/drawingml/2006/main"/>
          <a:p xmlns:a="http://schemas.openxmlformats.org/drawingml/2006/main">
            <a:pPr algn="ctr">
              <a:lnSpc>
                <a:spcPct val="100000"/>
              </a:lnSpc>
              <a:buNone/>
              <a:defRPr sz="2175" b="1" i="0">
                <a:solidFill>
                  <a:srgbClr val="3F3F3F"/>
                </a:solidFill>
                <a:latin typeface="Cambria Math"/>
                <a:ea typeface="Cambria Math"/>
                <a:cs typeface="Cambria Math"/>
              </a:defRPr>
            </a:pPr>
            <a:r>
              <a:rPr sz="2175" b="1" i="0">
                <a:solidFill>
                  <a:srgbClr val="3F3F3F"/>
                </a:solidFill>
                <a:latin typeface="Cambria Math"/>
                <a:ea typeface="Cambria Math"/>
                <a:cs typeface="Cambria Math"/>
              </a:rPr>
              <a:t>T₁</a:t>
            </a:r>
          </a:p>
        </p:txBody>
      </p:sp>
      <p:sp>
        <p:nvSpPr>
          <p:cNvPr id="15" name="">
            <a:extLst xmlns:a="http://schemas.openxmlformats.org/drawingml/2006/main">
              <a:ext uri="{FF2B5EF4-FFF2-40B4-BE49-F238E27FC236}">
                <a16:creationId xmlns:a16="http://schemas.microsoft.com/office/drawing/2014/main" id="{02A75CC4-22C6-400E-B230-2F99976DAFDD}"/>
              </a:ext>
            </a:extLst>
          </p:cNvPr>
          <p:cNvSpPr>
            <a:spLocks xmlns:a="http://schemas.openxmlformats.org/drawingml/2006/main" noGrp="1"/>
          </p:cNvSpPr>
          <p:nvPr/>
        </p:nvSpPr>
        <p:spPr>
          <a:xfrm xmlns:a="http://schemas.openxmlformats.org/drawingml/2006/main">
            <a:off x="2047875" y="3143250"/>
            <a:ext cx="1352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0" i="0">
                <a:solidFill>
                  <a:srgbClr val="5B5B5B"/>
                </a:solidFill>
                <a:latin typeface="Yu Gothic"/>
                <a:ea typeface="Yu Gothic"/>
                <a:cs typeface="Yu Gothic"/>
              </a:defRPr>
            </a:pPr>
            <a:r>
              <a:rPr sz="900" b="0" i="0">
                <a:solidFill>
                  <a:srgbClr val="5B5B5B"/>
                </a:solidFill>
                <a:latin typeface="Yu Gothic"/>
                <a:ea typeface="Yu Gothic"/>
                <a:cs typeface="Yu Gothic"/>
              </a:rPr>
              <a:t>C₁ = 10.43392 J/K</a:t>
            </a:r>
          </a:p>
        </p:txBody>
      </p:sp>
      <p:sp>
        <p:nvSpPr>
          <p:cNvPr id="16" name="">
            <a:extLst xmlns:a="http://schemas.openxmlformats.org/drawingml/2006/main">
              <a:ext uri="{FF2B5EF4-FFF2-40B4-BE49-F238E27FC236}">
                <a16:creationId xmlns:a16="http://schemas.microsoft.com/office/drawing/2014/main" id="{12942B4C-5F0E-40FA-85EF-9E8D908B567E}"/>
              </a:ext>
            </a:extLst>
          </p:cNvPr>
          <p:cNvSpPr>
            <a:spLocks xmlns:a="http://schemas.openxmlformats.org/drawingml/2006/main" noGrp="1"/>
          </p:cNvSpPr>
          <p:nvPr/>
        </p:nvSpPr>
        <p:spPr>
          <a:xfrm xmlns:a="http://schemas.openxmlformats.org/drawingml/2006/main">
            <a:off x="3752850" y="2600325"/>
            <a:ext cx="1066800" cy="533400"/>
          </a:xfrm>
          <a:prstGeom xmlns:a="http://schemas.openxmlformats.org/drawingml/2006/main" prst="rect">
            <a:avLst/>
          </a:prstGeom>
          <a:solidFill xmlns:a="http://schemas.openxmlformats.org/drawingml/2006/main">
            <a:srgbClr val="FFFFFF"/>
          </a:solidFill>
          <a:ln xmlns:a="http://schemas.openxmlformats.org/drawingml/2006/main" w="19050">
            <a:solidFill>
              <a:srgbClr val="00A5D8"/>
            </a:solidFill>
            <a:prstDash val="solid"/>
          </a:ln>
        </p:spPr>
      </p:sp>
      <p:sp>
        <p:nvSpPr>
          <p:cNvPr id="17" name="">
            <a:extLst xmlns:a="http://schemas.openxmlformats.org/drawingml/2006/main">
              <a:ext uri="{FF2B5EF4-FFF2-40B4-BE49-F238E27FC236}">
                <a16:creationId xmlns:a16="http://schemas.microsoft.com/office/drawing/2014/main" id="{50B98914-5BBE-484D-A2A3-3498CD4F397B}"/>
              </a:ext>
            </a:extLst>
          </p:cNvPr>
          <p:cNvSpPr>
            <a:spLocks xmlns:a="http://schemas.openxmlformats.org/drawingml/2006/main" noGrp="1"/>
          </p:cNvSpPr>
          <p:nvPr/>
        </p:nvSpPr>
        <p:spPr>
          <a:xfrm xmlns:a="http://schemas.openxmlformats.org/drawingml/2006/main">
            <a:off x="3810000" y="266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5238"/>
          </a:bodyPr>
          <a:lstStyle xmlns:a="http://schemas.openxmlformats.org/drawingml/2006/main"/>
          <a:p xmlns:a="http://schemas.openxmlformats.org/drawingml/2006/main">
            <a:pPr algn="ctr">
              <a:lnSpc>
                <a:spcPct val="100000"/>
              </a:lnSpc>
              <a:buNone/>
              <a:defRPr sz="1050" b="1" i="0">
                <a:solidFill>
                  <a:srgbClr val="007FA8"/>
                </a:solidFill>
                <a:latin typeface="Cambria Math"/>
                <a:ea typeface="Cambria Math"/>
                <a:cs typeface="Cambria Math"/>
              </a:defRPr>
            </a:pPr>
            <a:r>
              <a:rPr sz="1050" b="1" i="0">
                <a:solidFill>
                  <a:srgbClr val="007FA8"/>
                </a:solidFill>
                <a:latin typeface="Cambria Math"/>
                <a:ea typeface="Cambria Math"/>
                <a:cs typeface="Cambria Math"/>
              </a:rPr>
              <a:t>G₁ = 38.220</a:t>
            </a:r>
          </a:p>
        </p:txBody>
      </p:sp>
      <p:sp>
        <p:nvSpPr>
          <p:cNvPr id="18" name="">
            <a:extLst xmlns:a="http://schemas.openxmlformats.org/drawingml/2006/main">
              <a:ext uri="{FF2B5EF4-FFF2-40B4-BE49-F238E27FC236}">
                <a16:creationId xmlns:a16="http://schemas.microsoft.com/office/drawing/2014/main" id="{4722A38A-C68B-42E8-9B8D-8E897B85FE9E}"/>
              </a:ext>
            </a:extLst>
          </p:cNvPr>
          <p:cNvSpPr>
            <a:spLocks xmlns:a="http://schemas.openxmlformats.org/drawingml/2006/main" noGrp="1"/>
          </p:cNvSpPr>
          <p:nvPr/>
        </p:nvSpPr>
        <p:spPr>
          <a:xfrm xmlns:a="http://schemas.openxmlformats.org/drawingml/2006/main">
            <a:off x="3810000" y="2876550"/>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50" b="0" i="0">
                <a:solidFill>
                  <a:srgbClr val="777777"/>
                </a:solidFill>
                <a:latin typeface="Yu Gothic"/>
                <a:ea typeface="Yu Gothic"/>
                <a:cs typeface="Yu Gothic"/>
              </a:defRPr>
            </a:pPr>
            <a:r>
              <a:rPr sz="750" b="0" i="0">
                <a:solidFill>
                  <a:srgbClr val="777777"/>
                </a:solidFill>
                <a:latin typeface="Yu Gothic"/>
                <a:ea typeface="Yu Gothic"/>
                <a:cs typeface="Yu Gothic"/>
              </a:rPr>
              <a:t>W/K</a:t>
            </a:r>
          </a:p>
        </p:txBody>
      </p:sp>
      <p:sp>
        <p:nvSpPr>
          <p:cNvPr id="19" name="">
            <a:extLst xmlns:a="http://schemas.openxmlformats.org/drawingml/2006/main">
              <a:ext uri="{FF2B5EF4-FFF2-40B4-BE49-F238E27FC236}">
                <a16:creationId xmlns:a16="http://schemas.microsoft.com/office/drawing/2014/main" id="{A0ED7D22-FC21-44C7-B609-582187E03D50}"/>
              </a:ext>
            </a:extLst>
          </p:cNvPr>
          <p:cNvSpPr>
            <a:spLocks xmlns:a="http://schemas.openxmlformats.org/drawingml/2006/main" noGrp="1"/>
          </p:cNvSpPr>
          <p:nvPr/>
        </p:nvSpPr>
        <p:spPr>
          <a:xfrm xmlns:a="http://schemas.openxmlformats.org/drawingml/2006/main">
            <a:off x="5086350" y="2076450"/>
            <a:ext cx="1543050" cy="1581150"/>
          </a:xfrm>
          <a:prstGeom xmlns:a="http://schemas.openxmlformats.org/drawingml/2006/main" prst="rect">
            <a:avLst/>
          </a:prstGeom>
          <a:solidFill xmlns:a="http://schemas.openxmlformats.org/drawingml/2006/main">
            <a:srgbClr val="E5F6FB"/>
          </a:solidFill>
          <a:ln xmlns:a="http://schemas.openxmlformats.org/drawingml/2006/main" w="19050">
            <a:solidFill>
              <a:srgbClr val="00A5D8"/>
            </a:solidFill>
            <a:prstDash val="solid"/>
          </a:ln>
        </p:spPr>
      </p:sp>
      <p:sp>
        <p:nvSpPr>
          <p:cNvPr id="20" name="">
            <a:extLst xmlns:a="http://schemas.openxmlformats.org/drawingml/2006/main">
              <a:ext uri="{FF2B5EF4-FFF2-40B4-BE49-F238E27FC236}">
                <a16:creationId xmlns:a16="http://schemas.microsoft.com/office/drawing/2014/main" id="{A6056E6A-7FCB-475A-9E02-AA5001187F0F}"/>
              </a:ext>
            </a:extLst>
          </p:cNvPr>
          <p:cNvSpPr>
            <a:spLocks xmlns:a="http://schemas.openxmlformats.org/drawingml/2006/main" noGrp="1"/>
          </p:cNvSpPr>
          <p:nvPr/>
        </p:nvSpPr>
        <p:spPr>
          <a:xfrm xmlns:a="http://schemas.openxmlformats.org/drawingml/2006/main">
            <a:off x="5267325" y="2257425"/>
            <a:ext cx="1181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350" b="1" i="0">
                <a:solidFill>
                  <a:srgbClr val="007FA8"/>
                </a:solidFill>
                <a:latin typeface="Yu Gothic"/>
                <a:ea typeface="Yu Gothic"/>
                <a:cs typeface="Yu Gothic"/>
              </a:defRPr>
            </a:pPr>
            <a:r>
              <a:rPr sz="1350" b="1" i="0">
                <a:solidFill>
                  <a:srgbClr val="007FA8"/>
                </a:solidFill>
                <a:latin typeface="Yu Gothic"/>
                <a:ea typeface="Yu Gothic"/>
                <a:cs typeface="Yu Gothic"/>
              </a:rPr>
              <a:t>sink base</a:t>
            </a:r>
          </a:p>
        </p:txBody>
      </p:sp>
      <p:sp>
        <p:nvSpPr>
          <p:cNvPr id="21" name="">
            <a:extLst xmlns:a="http://schemas.openxmlformats.org/drawingml/2006/main">
              <a:ext uri="{FF2B5EF4-FFF2-40B4-BE49-F238E27FC236}">
                <a16:creationId xmlns:a16="http://schemas.microsoft.com/office/drawing/2014/main" id="{B8CD0DB1-4932-4CAB-9C89-00F1E225F214}"/>
              </a:ext>
            </a:extLst>
          </p:cNvPr>
          <p:cNvSpPr>
            <a:spLocks xmlns:a="http://schemas.openxmlformats.org/drawingml/2006/main" noGrp="1"/>
          </p:cNvSpPr>
          <p:nvPr/>
        </p:nvSpPr>
        <p:spPr>
          <a:xfrm xmlns:a="http://schemas.openxmlformats.org/drawingml/2006/main">
            <a:off x="5267325" y="2628900"/>
            <a:ext cx="1181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7701"/>
          </a:bodyPr>
          <a:lstStyle xmlns:a="http://schemas.openxmlformats.org/drawingml/2006/main"/>
          <a:p xmlns:a="http://schemas.openxmlformats.org/drawingml/2006/main">
            <a:pPr algn="ctr">
              <a:lnSpc>
                <a:spcPct val="100000"/>
              </a:lnSpc>
              <a:buNone/>
              <a:defRPr sz="2175" b="1" i="0">
                <a:solidFill>
                  <a:srgbClr val="3F3F3F"/>
                </a:solidFill>
                <a:latin typeface="Cambria Math"/>
                <a:ea typeface="Cambria Math"/>
                <a:cs typeface="Cambria Math"/>
              </a:defRPr>
            </a:pPr>
            <a:r>
              <a:rPr sz="2175" b="1" i="0">
                <a:solidFill>
                  <a:srgbClr val="3F3F3F"/>
                </a:solidFill>
                <a:latin typeface="Cambria Math"/>
                <a:ea typeface="Cambria Math"/>
                <a:cs typeface="Cambria Math"/>
              </a:rPr>
              <a:t>T₂</a:t>
            </a:r>
          </a:p>
        </p:txBody>
      </p:sp>
      <p:sp>
        <p:nvSpPr>
          <p:cNvPr id="22" name="">
            <a:extLst xmlns:a="http://schemas.openxmlformats.org/drawingml/2006/main">
              <a:ext uri="{FF2B5EF4-FFF2-40B4-BE49-F238E27FC236}">
                <a16:creationId xmlns:a16="http://schemas.microsoft.com/office/drawing/2014/main" id="{C3B8E389-3EF3-4A76-9600-610782B23317}"/>
              </a:ext>
            </a:extLst>
          </p:cNvPr>
          <p:cNvSpPr>
            <a:spLocks xmlns:a="http://schemas.openxmlformats.org/drawingml/2006/main" noGrp="1"/>
          </p:cNvSpPr>
          <p:nvPr/>
        </p:nvSpPr>
        <p:spPr>
          <a:xfrm xmlns:a="http://schemas.openxmlformats.org/drawingml/2006/main">
            <a:off x="5181600" y="3143250"/>
            <a:ext cx="1352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0" i="0">
                <a:solidFill>
                  <a:srgbClr val="5B5B5B"/>
                </a:solidFill>
                <a:latin typeface="Yu Gothic"/>
                <a:ea typeface="Yu Gothic"/>
                <a:cs typeface="Yu Gothic"/>
              </a:defRPr>
            </a:pPr>
            <a:r>
              <a:rPr sz="900" b="0" i="0">
                <a:solidFill>
                  <a:srgbClr val="5B5B5B"/>
                </a:solidFill>
                <a:latin typeface="Yu Gothic"/>
                <a:ea typeface="Yu Gothic"/>
                <a:cs typeface="Yu Gothic"/>
              </a:rPr>
              <a:t>C₂ = 24.3 J/K</a:t>
            </a:r>
          </a:p>
        </p:txBody>
      </p:sp>
      <p:sp>
        <p:nvSpPr>
          <p:cNvPr id="23" name="">
            <a:extLst xmlns:a="http://schemas.openxmlformats.org/drawingml/2006/main">
              <a:ext uri="{FF2B5EF4-FFF2-40B4-BE49-F238E27FC236}">
                <a16:creationId xmlns:a16="http://schemas.microsoft.com/office/drawing/2014/main" id="{667F04B4-326A-4FE1-88EC-3AF4A7DDD418}"/>
              </a:ext>
            </a:extLst>
          </p:cNvPr>
          <p:cNvSpPr>
            <a:spLocks xmlns:a="http://schemas.openxmlformats.org/drawingml/2006/main" noGrp="1"/>
          </p:cNvSpPr>
          <p:nvPr/>
        </p:nvSpPr>
        <p:spPr>
          <a:xfrm xmlns:a="http://schemas.openxmlformats.org/drawingml/2006/main">
            <a:off x="6886575" y="2600325"/>
            <a:ext cx="1066800" cy="533400"/>
          </a:xfrm>
          <a:prstGeom xmlns:a="http://schemas.openxmlformats.org/drawingml/2006/main" prst="rect">
            <a:avLst/>
          </a:prstGeom>
          <a:solidFill xmlns:a="http://schemas.openxmlformats.org/drawingml/2006/main">
            <a:srgbClr val="FFFFFF"/>
          </a:solidFill>
          <a:ln xmlns:a="http://schemas.openxmlformats.org/drawingml/2006/main" w="19050">
            <a:solidFill>
              <a:srgbClr val="00A89D"/>
            </a:solidFill>
            <a:prstDash val="solid"/>
          </a:ln>
        </p:spPr>
      </p:sp>
      <p:sp>
        <p:nvSpPr>
          <p:cNvPr id="24" name="">
            <a:extLst xmlns:a="http://schemas.openxmlformats.org/drawingml/2006/main">
              <a:ext uri="{FF2B5EF4-FFF2-40B4-BE49-F238E27FC236}">
                <a16:creationId xmlns:a16="http://schemas.microsoft.com/office/drawing/2014/main" id="{FC0CD7B9-BDB6-46A8-90C3-DEC16EC1DFCA}"/>
              </a:ext>
            </a:extLst>
          </p:cNvPr>
          <p:cNvSpPr>
            <a:spLocks xmlns:a="http://schemas.openxmlformats.org/drawingml/2006/main" noGrp="1"/>
          </p:cNvSpPr>
          <p:nvPr/>
        </p:nvSpPr>
        <p:spPr>
          <a:xfrm xmlns:a="http://schemas.openxmlformats.org/drawingml/2006/main">
            <a:off x="6943725" y="266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5238"/>
          </a:bodyPr>
          <a:lstStyle xmlns:a="http://schemas.openxmlformats.org/drawingml/2006/main"/>
          <a:p xmlns:a="http://schemas.openxmlformats.org/drawingml/2006/main">
            <a:pPr algn="ctr">
              <a:lnSpc>
                <a:spcPct val="100000"/>
              </a:lnSpc>
              <a:buNone/>
              <a:defRPr sz="1050" b="1" i="0">
                <a:solidFill>
                  <a:srgbClr val="00A89D"/>
                </a:solidFill>
                <a:latin typeface="Cambria Math"/>
                <a:ea typeface="Cambria Math"/>
                <a:cs typeface="Cambria Math"/>
              </a:defRPr>
            </a:pPr>
            <a:r>
              <a:rPr sz="1050" b="1" i="0">
                <a:solidFill>
                  <a:srgbClr val="00A89D"/>
                </a:solidFill>
                <a:latin typeface="Cambria Math"/>
                <a:ea typeface="Cambria Math"/>
                <a:cs typeface="Cambria Math"/>
              </a:rPr>
              <a:t>G₂ = 9.992</a:t>
            </a:r>
          </a:p>
        </p:txBody>
      </p:sp>
      <p:sp>
        <p:nvSpPr>
          <p:cNvPr id="25" name="">
            <a:extLst xmlns:a="http://schemas.openxmlformats.org/drawingml/2006/main">
              <a:ext uri="{FF2B5EF4-FFF2-40B4-BE49-F238E27FC236}">
                <a16:creationId xmlns:a16="http://schemas.microsoft.com/office/drawing/2014/main" id="{BF17F5A5-A9A7-40D9-8F6A-6F5D1E37C643}"/>
              </a:ext>
            </a:extLst>
          </p:cNvPr>
          <p:cNvSpPr>
            <a:spLocks xmlns:a="http://schemas.openxmlformats.org/drawingml/2006/main" noGrp="1"/>
          </p:cNvSpPr>
          <p:nvPr/>
        </p:nvSpPr>
        <p:spPr>
          <a:xfrm xmlns:a="http://schemas.openxmlformats.org/drawingml/2006/main">
            <a:off x="6943725" y="2876550"/>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50" b="0" i="0">
                <a:solidFill>
                  <a:srgbClr val="777777"/>
                </a:solidFill>
                <a:latin typeface="Yu Gothic"/>
                <a:ea typeface="Yu Gothic"/>
                <a:cs typeface="Yu Gothic"/>
              </a:defRPr>
            </a:pPr>
            <a:r>
              <a:rPr sz="750" b="0" i="0">
                <a:solidFill>
                  <a:srgbClr val="777777"/>
                </a:solidFill>
                <a:latin typeface="Yu Gothic"/>
                <a:ea typeface="Yu Gothic"/>
                <a:cs typeface="Yu Gothic"/>
              </a:rPr>
              <a:t>W/K</a:t>
            </a:r>
          </a:p>
        </p:txBody>
      </p:sp>
      <p:sp>
        <p:nvSpPr>
          <p:cNvPr id="26" name="">
            <a:extLst xmlns:a="http://schemas.openxmlformats.org/drawingml/2006/main">
              <a:ext uri="{FF2B5EF4-FFF2-40B4-BE49-F238E27FC236}">
                <a16:creationId xmlns:a16="http://schemas.microsoft.com/office/drawing/2014/main" id="{52F789A7-74D6-4DDD-A0AE-E0EAF17DA79E}"/>
              </a:ext>
            </a:extLst>
          </p:cNvPr>
          <p:cNvSpPr>
            <a:spLocks xmlns:a="http://schemas.openxmlformats.org/drawingml/2006/main" noGrp="1"/>
          </p:cNvSpPr>
          <p:nvPr/>
        </p:nvSpPr>
        <p:spPr>
          <a:xfrm xmlns:a="http://schemas.openxmlformats.org/drawingml/2006/main">
            <a:off x="8220075" y="2076450"/>
            <a:ext cx="1543050" cy="1581150"/>
          </a:xfrm>
          <a:prstGeom xmlns:a="http://schemas.openxmlformats.org/drawingml/2006/main" prst="rect">
            <a:avLst/>
          </a:prstGeom>
          <a:solidFill xmlns:a="http://schemas.openxmlformats.org/drawingml/2006/main">
            <a:srgbClr val="EEF7DF"/>
          </a:solidFill>
          <a:ln xmlns:a="http://schemas.openxmlformats.org/drawingml/2006/main" w="19050">
            <a:solidFill>
              <a:srgbClr val="76BE18"/>
            </a:solidFill>
            <a:prstDash val="solid"/>
          </a:ln>
        </p:spPr>
      </p:sp>
      <p:sp>
        <p:nvSpPr>
          <p:cNvPr id="27" name="">
            <a:extLst xmlns:a="http://schemas.openxmlformats.org/drawingml/2006/main">
              <a:ext uri="{FF2B5EF4-FFF2-40B4-BE49-F238E27FC236}">
                <a16:creationId xmlns:a16="http://schemas.microsoft.com/office/drawing/2014/main" id="{CCEDC3A7-02A0-49FB-A0FB-369D6036ABD1}"/>
              </a:ext>
            </a:extLst>
          </p:cNvPr>
          <p:cNvSpPr>
            <a:spLocks xmlns:a="http://schemas.openxmlformats.org/drawingml/2006/main" noGrp="1"/>
          </p:cNvSpPr>
          <p:nvPr/>
        </p:nvSpPr>
        <p:spPr>
          <a:xfrm xmlns:a="http://schemas.openxmlformats.org/drawingml/2006/main">
            <a:off x="8401050" y="2257425"/>
            <a:ext cx="1181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500" b="1" i="0">
                <a:solidFill>
                  <a:srgbClr val="4D8710"/>
                </a:solidFill>
                <a:latin typeface="Yu Gothic"/>
                <a:ea typeface="Yu Gothic"/>
                <a:cs typeface="Yu Gothic"/>
              </a:defRPr>
            </a:pPr>
            <a:r>
              <a:rPr sz="1500" b="1" i="0">
                <a:solidFill>
                  <a:srgbClr val="4D8710"/>
                </a:solidFill>
                <a:latin typeface="Yu Gothic"/>
                <a:ea typeface="Yu Gothic"/>
                <a:cs typeface="Yu Gothic"/>
              </a:rPr>
              <a:t>fins</a:t>
            </a:r>
          </a:p>
        </p:txBody>
      </p:sp>
      <p:sp>
        <p:nvSpPr>
          <p:cNvPr id="28" name="">
            <a:extLst xmlns:a="http://schemas.openxmlformats.org/drawingml/2006/main">
              <a:ext uri="{FF2B5EF4-FFF2-40B4-BE49-F238E27FC236}">
                <a16:creationId xmlns:a16="http://schemas.microsoft.com/office/drawing/2014/main" id="{20B66D7A-E6D9-4D22-A2AE-5ECA9614DBFD}"/>
              </a:ext>
            </a:extLst>
          </p:cNvPr>
          <p:cNvSpPr>
            <a:spLocks xmlns:a="http://schemas.openxmlformats.org/drawingml/2006/main" noGrp="1"/>
          </p:cNvSpPr>
          <p:nvPr/>
        </p:nvSpPr>
        <p:spPr>
          <a:xfrm xmlns:a="http://schemas.openxmlformats.org/drawingml/2006/main">
            <a:off x="8401050" y="2628900"/>
            <a:ext cx="1181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7701"/>
          </a:bodyPr>
          <a:lstStyle xmlns:a="http://schemas.openxmlformats.org/drawingml/2006/main"/>
          <a:p xmlns:a="http://schemas.openxmlformats.org/drawingml/2006/main">
            <a:pPr algn="ctr">
              <a:lnSpc>
                <a:spcPct val="100000"/>
              </a:lnSpc>
              <a:buNone/>
              <a:defRPr sz="2175" b="1" i="0">
                <a:solidFill>
                  <a:srgbClr val="3F3F3F"/>
                </a:solidFill>
                <a:latin typeface="Cambria Math"/>
                <a:ea typeface="Cambria Math"/>
                <a:cs typeface="Cambria Math"/>
              </a:defRPr>
            </a:pPr>
            <a:r>
              <a:rPr sz="2175" b="1" i="0">
                <a:solidFill>
                  <a:srgbClr val="3F3F3F"/>
                </a:solidFill>
                <a:latin typeface="Cambria Math"/>
                <a:ea typeface="Cambria Math"/>
                <a:cs typeface="Cambria Math"/>
              </a:rPr>
              <a:t>T₃</a:t>
            </a:r>
          </a:p>
        </p:txBody>
      </p:sp>
      <p:sp>
        <p:nvSpPr>
          <p:cNvPr id="29" name="">
            <a:extLst xmlns:a="http://schemas.openxmlformats.org/drawingml/2006/main">
              <a:ext uri="{FF2B5EF4-FFF2-40B4-BE49-F238E27FC236}">
                <a16:creationId xmlns:a16="http://schemas.microsoft.com/office/drawing/2014/main" id="{DCBFDE57-4FDB-4BBC-AB24-B8981712E645}"/>
              </a:ext>
            </a:extLst>
          </p:cNvPr>
          <p:cNvSpPr>
            <a:spLocks xmlns:a="http://schemas.openxmlformats.org/drawingml/2006/main" noGrp="1"/>
          </p:cNvSpPr>
          <p:nvPr/>
        </p:nvSpPr>
        <p:spPr>
          <a:xfrm xmlns:a="http://schemas.openxmlformats.org/drawingml/2006/main">
            <a:off x="8315325" y="3143250"/>
            <a:ext cx="1352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0" i="0">
                <a:solidFill>
                  <a:srgbClr val="5B5B5B"/>
                </a:solidFill>
                <a:latin typeface="Yu Gothic"/>
                <a:ea typeface="Yu Gothic"/>
                <a:cs typeface="Yu Gothic"/>
              </a:defRPr>
            </a:pPr>
            <a:r>
              <a:rPr sz="900" b="0" i="0">
                <a:solidFill>
                  <a:srgbClr val="5B5B5B"/>
                </a:solidFill>
                <a:latin typeface="Yu Gothic"/>
                <a:ea typeface="Yu Gothic"/>
                <a:cs typeface="Yu Gothic"/>
              </a:rPr>
              <a:t>C₃ = 46.17 J/K</a:t>
            </a:r>
          </a:p>
        </p:txBody>
      </p:sp>
      <p:sp>
        <p:nvSpPr>
          <p:cNvPr id="30" name="">
            <a:extLst xmlns:a="http://schemas.openxmlformats.org/drawingml/2006/main">
              <a:ext uri="{FF2B5EF4-FFF2-40B4-BE49-F238E27FC236}">
                <a16:creationId xmlns:a16="http://schemas.microsoft.com/office/drawing/2014/main" id="{05EF3E18-72B5-4CF4-85CD-06D00DE725FF}"/>
              </a:ext>
            </a:extLst>
          </p:cNvPr>
          <p:cNvSpPr>
            <a:spLocks xmlns:a="http://schemas.openxmlformats.org/drawingml/2006/main" noGrp="1"/>
          </p:cNvSpPr>
          <p:nvPr/>
        </p:nvSpPr>
        <p:spPr>
          <a:xfrm xmlns:a="http://schemas.openxmlformats.org/drawingml/2006/main">
            <a:off x="9982200" y="3419475"/>
            <a:ext cx="95250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76BE18"/>
            </a:solidFill>
            <a:prstDash val="solid"/>
          </a:ln>
        </p:spPr>
      </p:sp>
      <p:sp>
        <p:nvSpPr>
          <p:cNvPr id="31" name="">
            <a:extLst xmlns:a="http://schemas.openxmlformats.org/drawingml/2006/main">
              <a:ext uri="{FF2B5EF4-FFF2-40B4-BE49-F238E27FC236}">
                <a16:creationId xmlns:a16="http://schemas.microsoft.com/office/drawing/2014/main" id="{4E35CA9C-D57B-4B21-9795-FB777134AC6B}"/>
              </a:ext>
            </a:extLst>
          </p:cNvPr>
          <p:cNvSpPr>
            <a:spLocks xmlns:a="http://schemas.openxmlformats.org/drawingml/2006/main" noGrp="1"/>
          </p:cNvSpPr>
          <p:nvPr/>
        </p:nvSpPr>
        <p:spPr>
          <a:xfrm xmlns:a="http://schemas.openxmlformats.org/drawingml/2006/main">
            <a:off x="10029825" y="3476625"/>
            <a:ext cx="857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9947"/>
          </a:bodyPr>
          <a:lstStyle xmlns:a="http://schemas.openxmlformats.org/drawingml/2006/main"/>
          <a:p xmlns:a="http://schemas.openxmlformats.org/drawingml/2006/main">
            <a:pPr algn="ctr">
              <a:lnSpc>
                <a:spcPct val="100000"/>
              </a:lnSpc>
              <a:buNone/>
              <a:defRPr sz="938" b="1" i="0">
                <a:solidFill>
                  <a:srgbClr val="4D8710"/>
                </a:solidFill>
                <a:latin typeface="Cambria Math"/>
                <a:ea typeface="Cambria Math"/>
                <a:cs typeface="Cambria Math"/>
              </a:defRPr>
            </a:pPr>
            <a:r>
              <a:rPr sz="938" b="1" i="0">
                <a:solidFill>
                  <a:srgbClr val="4D8710"/>
                </a:solidFill>
                <a:latin typeface="Cambria Math"/>
                <a:ea typeface="Cambria Math"/>
                <a:cs typeface="Cambria Math"/>
              </a:rPr>
              <a:t>hA = 0.1906</a:t>
            </a:r>
          </a:p>
        </p:txBody>
      </p:sp>
      <p:sp>
        <p:nvSpPr>
          <p:cNvPr id="32" name="">
            <a:extLst xmlns:a="http://schemas.openxmlformats.org/drawingml/2006/main">
              <a:ext uri="{FF2B5EF4-FFF2-40B4-BE49-F238E27FC236}">
                <a16:creationId xmlns:a16="http://schemas.microsoft.com/office/drawing/2014/main" id="{FDDDF640-4325-4E36-9AAD-E154E192B3BE}"/>
              </a:ext>
            </a:extLst>
          </p:cNvPr>
          <p:cNvSpPr>
            <a:spLocks xmlns:a="http://schemas.openxmlformats.org/drawingml/2006/main" noGrp="1"/>
          </p:cNvSpPr>
          <p:nvPr/>
        </p:nvSpPr>
        <p:spPr>
          <a:xfrm xmlns:a="http://schemas.openxmlformats.org/drawingml/2006/main">
            <a:off x="10029825" y="3667125"/>
            <a:ext cx="8572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W/K</a:t>
            </a:r>
          </a:p>
        </p:txBody>
      </p:sp>
      <p:sp>
        <p:nvSpPr>
          <p:cNvPr id="33" name="">
            <a:extLst xmlns:a="http://schemas.openxmlformats.org/drawingml/2006/main">
              <a:ext uri="{FF2B5EF4-FFF2-40B4-BE49-F238E27FC236}">
                <a16:creationId xmlns:a16="http://schemas.microsoft.com/office/drawing/2014/main" id="{625E569B-339A-49F4-88FA-E6ACE47FD244}"/>
              </a:ext>
            </a:extLst>
          </p:cNvPr>
          <p:cNvSpPr>
            <a:spLocks xmlns:a="http://schemas.openxmlformats.org/drawingml/2006/main" noGrp="1"/>
          </p:cNvSpPr>
          <p:nvPr/>
        </p:nvSpPr>
        <p:spPr>
          <a:xfrm xmlns:a="http://schemas.openxmlformats.org/drawingml/2006/main">
            <a:off x="11106150" y="3276600"/>
            <a:ext cx="533400" cy="762000"/>
          </a:xfrm>
          <a:prstGeom xmlns:a="http://schemas.openxmlformats.org/drawingml/2006/main" prst="rect">
            <a:avLst/>
          </a:prstGeom>
          <a:solidFill xmlns:a="http://schemas.openxmlformats.org/drawingml/2006/main">
            <a:srgbClr val="007FA8"/>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BB1E06F8-E9D5-4BC5-B863-C3D16269CEA5}"/>
              </a:ext>
            </a:extLst>
          </p:cNvPr>
          <p:cNvSpPr>
            <a:spLocks xmlns:a="http://schemas.openxmlformats.org/drawingml/2006/main" noGrp="1"/>
          </p:cNvSpPr>
          <p:nvPr/>
        </p:nvSpPr>
        <p:spPr>
          <a:xfrm xmlns:a="http://schemas.openxmlformats.org/drawingml/2006/main">
            <a:off x="11153775" y="3352800"/>
            <a:ext cx="4381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75" b="1" i="0">
                <a:solidFill>
                  <a:srgbClr val="FFFFFF"/>
                </a:solidFill>
                <a:latin typeface="Cambria Math"/>
                <a:ea typeface="Cambria Math"/>
                <a:cs typeface="Cambria Math"/>
              </a:defRPr>
            </a:pPr>
            <a:r>
              <a:rPr sz="975" b="1" i="0">
                <a:solidFill>
                  <a:srgbClr val="FFFFFF"/>
                </a:solidFill>
                <a:latin typeface="Cambria Math"/>
                <a:ea typeface="Cambria Math"/>
                <a:cs typeface="Cambria Math"/>
              </a:rPr>
              <a:t>Tcool</a:t>
            </a:r>
          </a:p>
        </p:txBody>
      </p:sp>
      <p:sp>
        <p:nvSpPr>
          <p:cNvPr id="35" name="">
            <a:extLst xmlns:a="http://schemas.openxmlformats.org/drawingml/2006/main">
              <a:ext uri="{FF2B5EF4-FFF2-40B4-BE49-F238E27FC236}">
                <a16:creationId xmlns:a16="http://schemas.microsoft.com/office/drawing/2014/main" id="{DD6D4395-BCC4-4461-B4CE-00D60F092B90}"/>
              </a:ext>
            </a:extLst>
          </p:cNvPr>
          <p:cNvSpPr>
            <a:spLocks xmlns:a="http://schemas.openxmlformats.org/drawingml/2006/main" noGrp="1"/>
          </p:cNvSpPr>
          <p:nvPr/>
        </p:nvSpPr>
        <p:spPr>
          <a:xfrm xmlns:a="http://schemas.openxmlformats.org/drawingml/2006/main">
            <a:off x="11153775" y="3667125"/>
            <a:ext cx="438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638" b="0" i="0">
                <a:solidFill>
                  <a:srgbClr val="FFFFFF"/>
                </a:solidFill>
                <a:latin typeface="Yu Gothic"/>
                <a:ea typeface="Yu Gothic"/>
                <a:cs typeface="Yu Gothic"/>
              </a:defRPr>
            </a:pPr>
            <a:r>
              <a:rPr sz="638" b="0" i="0">
                <a:solidFill>
                  <a:srgbClr val="FFFFFF"/>
                </a:solidFill>
                <a:latin typeface="Yu Gothic"/>
                <a:ea typeface="Yu Gothic"/>
                <a:cs typeface="Yu Gothic"/>
              </a:rPr>
              <a:t>reservoir</a:t>
            </a:r>
          </a:p>
        </p:txBody>
      </p:sp>
      <p:cxnSp>
        <p:nvCxnSpPr>
          <p:cNvPr id="84" name=""/>
          <p:cNvCxnSpPr>
            <a:stCxn xmlns:a="http://schemas.openxmlformats.org/drawingml/2006/main" id="10" idx="3"/>
            <a:endCxn xmlns:a="http://schemas.openxmlformats.org/drawingml/2006/main" id="12" idx="1"/>
          </p:cNvCxnSpPr>
          <p:nvPr/>
        </p:nvCxnSpPr>
        <p:spPr>
          <a:xfrm xmlns:a="http://schemas.openxmlformats.org/drawingml/2006/main">
            <a:off x="1562100" y="2867025"/>
            <a:ext cx="390525" cy="0"/>
          </a:xfrm>
          <a:prstGeom xmlns:a="http://schemas.openxmlformats.org/drawingml/2006/main" prst="straightConnector1">
            <a:avLst/>
          </a:prstGeom>
          <a:ln xmlns:a="http://schemas.openxmlformats.org/drawingml/2006/main" w="28575">
            <a:solidFill>
              <a:srgbClr val="E5A900"/>
            </a:solidFill>
            <a:prstDash val="solid"/>
            <a:tailEnd type="triangle" w="sm" len="sm"/>
          </a:ln>
        </p:spPr>
      </p:cxnSp>
      <p:cxnSp>
        <p:nvCxnSpPr>
          <p:cNvPr id="85" name=""/>
          <p:cNvCxnSpPr>
            <a:stCxn xmlns:a="http://schemas.openxmlformats.org/drawingml/2006/main" id="12" idx="3"/>
            <a:endCxn xmlns:a="http://schemas.openxmlformats.org/drawingml/2006/main" id="16" idx="1"/>
          </p:cNvCxnSpPr>
          <p:nvPr/>
        </p:nvCxnSpPr>
        <p:spPr>
          <a:xfrm xmlns:a="http://schemas.openxmlformats.org/drawingml/2006/main">
            <a:off x="3495675" y="2867025"/>
            <a:ext cx="257175" cy="0"/>
          </a:xfrm>
          <a:prstGeom xmlns:a="http://schemas.openxmlformats.org/drawingml/2006/main" prst="straightConnector1">
            <a:avLst/>
          </a:prstGeom>
          <a:ln xmlns:a="http://schemas.openxmlformats.org/drawingml/2006/main" w="28575">
            <a:solidFill>
              <a:srgbClr val="00A5D8"/>
            </a:solidFill>
            <a:prstDash val="solid"/>
          </a:ln>
        </p:spPr>
      </p:cxnSp>
      <p:cxnSp>
        <p:nvCxnSpPr>
          <p:cNvPr id="86" name=""/>
          <p:cNvCxnSpPr>
            <a:stCxn xmlns:a="http://schemas.openxmlformats.org/drawingml/2006/main" id="16" idx="3"/>
            <a:endCxn xmlns:a="http://schemas.openxmlformats.org/drawingml/2006/main" id="19" idx="1"/>
          </p:cNvCxnSpPr>
          <p:nvPr/>
        </p:nvCxnSpPr>
        <p:spPr>
          <a:xfrm xmlns:a="http://schemas.openxmlformats.org/drawingml/2006/main">
            <a:off x="4819650" y="2867025"/>
            <a:ext cx="266700" cy="0"/>
          </a:xfrm>
          <a:prstGeom xmlns:a="http://schemas.openxmlformats.org/drawingml/2006/main" prst="straightConnector1">
            <a:avLst/>
          </a:prstGeom>
          <a:ln xmlns:a="http://schemas.openxmlformats.org/drawingml/2006/main" w="28575">
            <a:solidFill>
              <a:srgbClr val="00A5D8"/>
            </a:solidFill>
            <a:prstDash val="solid"/>
          </a:ln>
        </p:spPr>
      </p:cxnSp>
      <p:cxnSp>
        <p:nvCxnSpPr>
          <p:cNvPr id="87" name=""/>
          <p:cNvCxnSpPr>
            <a:stCxn xmlns:a="http://schemas.openxmlformats.org/drawingml/2006/main" id="19" idx="3"/>
            <a:endCxn xmlns:a="http://schemas.openxmlformats.org/drawingml/2006/main" id="23" idx="1"/>
          </p:cNvCxnSpPr>
          <p:nvPr/>
        </p:nvCxnSpPr>
        <p:spPr>
          <a:xfrm xmlns:a="http://schemas.openxmlformats.org/drawingml/2006/main">
            <a:off x="6629400" y="2867025"/>
            <a:ext cx="257175" cy="0"/>
          </a:xfrm>
          <a:prstGeom xmlns:a="http://schemas.openxmlformats.org/drawingml/2006/main" prst="straightConnector1">
            <a:avLst/>
          </a:prstGeom>
          <a:ln xmlns:a="http://schemas.openxmlformats.org/drawingml/2006/main" w="28575">
            <a:solidFill>
              <a:srgbClr val="00A89D"/>
            </a:solidFill>
            <a:prstDash val="solid"/>
          </a:ln>
        </p:spPr>
      </p:cxnSp>
      <p:cxnSp>
        <p:nvCxnSpPr>
          <p:cNvPr id="88" name=""/>
          <p:cNvCxnSpPr>
            <a:stCxn xmlns:a="http://schemas.openxmlformats.org/drawingml/2006/main" id="23" idx="3"/>
            <a:endCxn xmlns:a="http://schemas.openxmlformats.org/drawingml/2006/main" id="26" idx="1"/>
          </p:cNvCxnSpPr>
          <p:nvPr/>
        </p:nvCxnSpPr>
        <p:spPr>
          <a:xfrm xmlns:a="http://schemas.openxmlformats.org/drawingml/2006/main">
            <a:off x="7953375" y="2867025"/>
            <a:ext cx="266700" cy="0"/>
          </a:xfrm>
          <a:prstGeom xmlns:a="http://schemas.openxmlformats.org/drawingml/2006/main" prst="straightConnector1">
            <a:avLst/>
          </a:prstGeom>
          <a:ln xmlns:a="http://schemas.openxmlformats.org/drawingml/2006/main" w="28575">
            <a:solidFill>
              <a:srgbClr val="00A89D"/>
            </a:solidFill>
            <a:prstDash val="solid"/>
          </a:ln>
        </p:spPr>
      </p:cxnSp>
      <p:cxnSp>
        <p:nvCxnSpPr>
          <p:cNvPr id="89" name=""/>
          <p:cNvCxnSpPr>
            <a:stCxn xmlns:a="http://schemas.openxmlformats.org/drawingml/2006/main" id="19" idx="2"/>
            <a:endCxn xmlns:a="http://schemas.openxmlformats.org/drawingml/2006/main" id="30" idx="1"/>
          </p:cNvCxnSpPr>
          <p:nvPr/>
        </p:nvCxnSpPr>
        <p:spPr>
          <a:xfrm xmlns:a="http://schemas.openxmlformats.org/drawingml/2006/main">
            <a:off x="5857875" y="3657600"/>
            <a:ext cx="4124325" cy="0"/>
          </a:xfrm>
          <a:prstGeom xmlns:a="http://schemas.openxmlformats.org/drawingml/2006/main" prst="straightConnector1">
            <a:avLst/>
          </a:prstGeom>
          <a:ln xmlns:a="http://schemas.openxmlformats.org/drawingml/2006/main" w="19050">
            <a:solidFill>
              <a:srgbClr val="76BE18"/>
            </a:solidFill>
            <a:prstDash val="dash"/>
          </a:ln>
        </p:spPr>
      </p:cxnSp>
      <p:cxnSp>
        <p:nvCxnSpPr>
          <p:cNvPr id="90" name=""/>
          <p:cNvCxnSpPr>
            <a:stCxn xmlns:a="http://schemas.openxmlformats.org/drawingml/2006/main" id="26" idx="2"/>
            <a:endCxn xmlns:a="http://schemas.openxmlformats.org/drawingml/2006/main" id="30" idx="0"/>
          </p:cNvCxnSpPr>
          <p:nvPr/>
        </p:nvCxnSpPr>
        <p:spPr>
          <a:xfrm xmlns:a="http://schemas.openxmlformats.org/drawingml/2006/main" flipV="1">
            <a:off x="8991600" y="3419475"/>
            <a:ext cx="1466850" cy="238125"/>
          </a:xfrm>
          <a:prstGeom xmlns:a="http://schemas.openxmlformats.org/drawingml/2006/main" prst="straightConnector1">
            <a:avLst/>
          </a:prstGeom>
          <a:ln xmlns:a="http://schemas.openxmlformats.org/drawingml/2006/main" w="19050">
            <a:solidFill>
              <a:srgbClr val="76BE18"/>
            </a:solidFill>
            <a:prstDash val="dash"/>
          </a:ln>
        </p:spPr>
      </p:cxnSp>
      <p:cxnSp>
        <p:nvCxnSpPr>
          <p:cNvPr id="91" name=""/>
          <p:cNvCxnSpPr>
            <a:stCxn xmlns:a="http://schemas.openxmlformats.org/drawingml/2006/main" id="30" idx="3"/>
            <a:endCxn xmlns:a="http://schemas.openxmlformats.org/drawingml/2006/main" id="33" idx="1"/>
          </p:cNvCxnSpPr>
          <p:nvPr/>
        </p:nvCxnSpPr>
        <p:spPr>
          <a:xfrm xmlns:a="http://schemas.openxmlformats.org/drawingml/2006/main">
            <a:off x="10934700" y="3657600"/>
            <a:ext cx="171450" cy="0"/>
          </a:xfrm>
          <a:prstGeom xmlns:a="http://schemas.openxmlformats.org/drawingml/2006/main" prst="straightConnector1">
            <a:avLst/>
          </a:prstGeom>
          <a:ln xmlns:a="http://schemas.openxmlformats.org/drawingml/2006/main" w="28575">
            <a:solidFill>
              <a:srgbClr val="76BE18"/>
            </a:solidFill>
            <a:prstDash val="solid"/>
          </a:ln>
        </p:spPr>
      </p:cxnSp>
      <p:sp>
        <p:nvSpPr>
          <p:cNvPr id="44" name="">
            <a:extLst xmlns:a="http://schemas.openxmlformats.org/drawingml/2006/main">
              <a:ext uri="{FF2B5EF4-FFF2-40B4-BE49-F238E27FC236}">
                <a16:creationId xmlns:a16="http://schemas.microsoft.com/office/drawing/2014/main" id="{120585C7-807A-46B3-A1B0-0E331E278976}"/>
              </a:ext>
            </a:extLst>
          </p:cNvPr>
          <p:cNvSpPr>
            <a:spLocks xmlns:a="http://schemas.openxmlformats.org/drawingml/2006/main" noGrp="1"/>
          </p:cNvSpPr>
          <p:nvPr/>
        </p:nvSpPr>
        <p:spPr>
          <a:xfrm xmlns:a="http://schemas.openxmlformats.org/drawingml/2006/main">
            <a:off x="7419975" y="3990975"/>
            <a:ext cx="3562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共有境界weight: base 0.091 / fins 0.909</a:t>
            </a:r>
          </a:p>
        </p:txBody>
      </p:sp>
      <p:graphicFrame>
        <p:nvGraphicFramePr>
          <p:cNvPr id="93" name=""/>
          <p:cNvGraphicFramePr/>
          <p:nvPr/>
        </p:nvGraphicFramePr>
        <p:xfrm>
          <a:off xmlns:a="http://schemas.openxmlformats.org/drawingml/2006/main" x="552450" y="4276725"/>
          <a:ext xmlns:a="http://schemas.openxmlformats.org/drawingml/2006/main" cx="11087100" cy="1390650"/>
        </p:xfrm>
        <a:graphic xmlns:a="http://schemas.openxmlformats.org/drawingml/2006/main">
          <a:graphicData uri="http://schemas.openxmlformats.org/drawingml/2006/table">
            <a:tbl>
              <a:tblPr/>
              <a:tblGrid>
                <a:gridCol w="2095500"/>
                <a:gridCol w="1381125"/>
                <a:gridCol w="1714500"/>
                <a:gridCol w="1381125"/>
                <a:gridCol w="4514850"/>
              </a:tblGrid>
              <a:tr h="347663">
                <a:tc>
                  <a:txBody>
                    <a:bodyPr/>
                    <a:lstStyle/>
                    <a:p>
                      <a:r>
                        <a:rPr sz="938" b="1">
                          <a:solidFill>
                            <a:srgbClr val="FFFFFF"/>
                          </a:solidFill>
                          <a:latin typeface="Yu Gothic"/>
                          <a:ea typeface="Yu Gothic"/>
                          <a:cs typeface="Yu Gothic"/>
                        </a:rPr>
                        <a:t>learnable係数</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prior</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fitted</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変化</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物理解釈</a:t>
                      </a:r>
                    </a:p>
                  </a:txBody>
                  <a:tcPr marL="91440" marR="91440" marT="45720" marB="45720">
                    <a:solidFill>
                      <a:srgbClr val="007FA8"/>
                    </a:solidFill>
                  </a:tcPr>
                </a:tc>
              </a:tr>
              <a:tr h="347663">
                <a:tc>
                  <a:txBody>
                    <a:bodyPr/>
                    <a:lstStyle/>
                    <a:p>
                      <a:r>
                        <a:rPr sz="863">
                          <a:solidFill>
                            <a:srgbClr val="5B5B5B"/>
                          </a:solidFill>
                          <a:latin typeface="Yu Gothic"/>
                          <a:ea typeface="Yu Gothic"/>
                          <a:cs typeface="Yu Gothic"/>
                        </a:rPr>
                        <a:t>G chip–base</a:t>
                      </a:r>
                    </a:p>
                  </a:txBody>
                  <a:tcPr marL="91440" marR="91440" marT="45720" marB="45720">
                    <a:solidFill>
                      <a:srgbClr val="FFFFFF"/>
                    </a:solidFill>
                  </a:tcPr>
                </a:tc>
                <a:tc>
                  <a:txBody>
                    <a:bodyPr/>
                    <a:lstStyle/>
                    <a:p>
                      <a:r>
                        <a:rPr sz="863">
                          <a:solidFill>
                            <a:srgbClr val="5B5B5B"/>
                          </a:solidFill>
                          <a:latin typeface="Yu Gothic"/>
                          <a:ea typeface="Yu Gothic"/>
                          <a:cs typeface="Yu Gothic"/>
                        </a:rPr>
                        <a:t>40.000</a:t>
                      </a:r>
                    </a:p>
                  </a:txBody>
                  <a:tcPr marL="91440" marR="91440" marT="45720" marB="45720">
                    <a:solidFill>
                      <a:srgbClr val="FFFFFF"/>
                    </a:solidFill>
                  </a:tcPr>
                </a:tc>
                <a:tc>
                  <a:txBody>
                    <a:bodyPr/>
                    <a:lstStyle/>
                    <a:p>
                      <a:r>
                        <a:rPr sz="863">
                          <a:solidFill>
                            <a:srgbClr val="5B5B5B"/>
                          </a:solidFill>
                          <a:latin typeface="Yu Gothic"/>
                          <a:ea typeface="Yu Gothic"/>
                          <a:cs typeface="Yu Gothic"/>
                        </a:rPr>
                        <a:t>38.220 W/K</a:t>
                      </a:r>
                    </a:p>
                  </a:txBody>
                  <a:tcPr marL="91440" marR="91440" marT="45720" marB="45720">
                    <a:solidFill>
                      <a:srgbClr val="FFFFFF"/>
                    </a:solidFill>
                  </a:tcPr>
                </a:tc>
                <a:tc>
                  <a:txBody>
                    <a:bodyPr/>
                    <a:lstStyle/>
                    <a:p>
                      <a:r>
                        <a:rPr sz="863">
                          <a:solidFill>
                            <a:srgbClr val="5B5B5B"/>
                          </a:solidFill>
                          <a:latin typeface="Yu Gothic"/>
                          <a:ea typeface="Yu Gothic"/>
                          <a:cs typeface="Yu Gothic"/>
                        </a:rPr>
                        <a:t>−4.45%</a:t>
                      </a:r>
                    </a:p>
                  </a:txBody>
                  <a:tcPr marL="91440" marR="91440" marT="45720" marB="45720">
                    <a:solidFill>
                      <a:srgbClr val="FFFFFF"/>
                    </a:solidFill>
                  </a:tcPr>
                </a:tc>
                <a:tc>
                  <a:txBody>
                    <a:bodyPr/>
                    <a:lstStyle/>
                    <a:p>
                      <a:r>
                        <a:rPr sz="863">
                          <a:solidFill>
                            <a:srgbClr val="5B5B5B"/>
                          </a:solidFill>
                          <a:latin typeface="Yu Gothic"/>
                          <a:ea typeface="Yu Gothic"/>
                          <a:cs typeface="Yu Gothic"/>
                        </a:rPr>
                        <a:t>interfaceを含む有効熱伝達</a:t>
                      </a:r>
                    </a:p>
                  </a:txBody>
                  <a:tcPr marL="91440" marR="91440" marT="45720" marB="45720">
                    <a:solidFill>
                      <a:srgbClr val="FFFFFF"/>
                    </a:solidFill>
                  </a:tcPr>
                </a:tc>
              </a:tr>
              <a:tr h="347663">
                <a:tc>
                  <a:txBody>
                    <a:bodyPr/>
                    <a:lstStyle/>
                    <a:p>
                      <a:r>
                        <a:rPr sz="863">
                          <a:solidFill>
                            <a:srgbClr val="5B5B5B"/>
                          </a:solidFill>
                          <a:latin typeface="Yu Gothic"/>
                          <a:ea typeface="Yu Gothic"/>
                          <a:cs typeface="Yu Gothic"/>
                        </a:rPr>
                        <a:t>G base–fins</a:t>
                      </a:r>
                    </a:p>
                  </a:txBody>
                  <a:tcPr marL="91440" marR="91440" marT="45720" marB="45720">
                    <a:solidFill>
                      <a:srgbClr val="F8F8F8"/>
                    </a:solidFill>
                  </a:tcPr>
                </a:tc>
                <a:tc>
                  <a:txBody>
                    <a:bodyPr/>
                    <a:lstStyle/>
                    <a:p>
                      <a:r>
                        <a:rPr sz="863">
                          <a:solidFill>
                            <a:srgbClr val="5B5B5B"/>
                          </a:solidFill>
                          <a:latin typeface="Yu Gothic"/>
                          <a:ea typeface="Yu Gothic"/>
                          <a:cs typeface="Yu Gothic"/>
                        </a:rPr>
                        <a:t>12.000</a:t>
                      </a:r>
                    </a:p>
                  </a:txBody>
                  <a:tcPr marL="91440" marR="91440" marT="45720" marB="45720">
                    <a:solidFill>
                      <a:srgbClr val="F8F8F8"/>
                    </a:solidFill>
                  </a:tcPr>
                </a:tc>
                <a:tc>
                  <a:txBody>
                    <a:bodyPr/>
                    <a:lstStyle/>
                    <a:p>
                      <a:r>
                        <a:rPr sz="863">
                          <a:solidFill>
                            <a:srgbClr val="5B5B5B"/>
                          </a:solidFill>
                          <a:latin typeface="Yu Gothic"/>
                          <a:ea typeface="Yu Gothic"/>
                          <a:cs typeface="Yu Gothic"/>
                        </a:rPr>
                        <a:t>9.992 W/K</a:t>
                      </a:r>
                    </a:p>
                  </a:txBody>
                  <a:tcPr marL="91440" marR="91440" marT="45720" marB="45720">
                    <a:solidFill>
                      <a:srgbClr val="F8F8F8"/>
                    </a:solidFill>
                  </a:tcPr>
                </a:tc>
                <a:tc>
                  <a:txBody>
                    <a:bodyPr/>
                    <a:lstStyle/>
                    <a:p>
                      <a:r>
                        <a:rPr sz="863">
                          <a:solidFill>
                            <a:srgbClr val="5B5B5B"/>
                          </a:solidFill>
                          <a:latin typeface="Yu Gothic"/>
                          <a:ea typeface="Yu Gothic"/>
                          <a:cs typeface="Yu Gothic"/>
                        </a:rPr>
                        <a:t>−16.74%</a:t>
                      </a:r>
                    </a:p>
                  </a:txBody>
                  <a:tcPr marL="91440" marR="91440" marT="45720" marB="45720">
                    <a:solidFill>
                      <a:srgbClr val="F8F8F8"/>
                    </a:solidFill>
                  </a:tcPr>
                </a:tc>
                <a:tc>
                  <a:txBody>
                    <a:bodyPr/>
                    <a:lstStyle/>
                    <a:p>
                      <a:r>
                        <a:rPr sz="863">
                          <a:solidFill>
                            <a:srgbClr val="5B5B5B"/>
                          </a:solidFill>
                          <a:latin typeface="Yu Gothic"/>
                          <a:ea typeface="Yu Gothic"/>
                          <a:cs typeface="Yu Gothic"/>
                        </a:rPr>
                        <a:t>拡散・接触を含む中間経路</a:t>
                      </a:r>
                    </a:p>
                  </a:txBody>
                  <a:tcPr marL="91440" marR="91440" marT="45720" marB="45720">
                    <a:solidFill>
                      <a:srgbClr val="F8F8F8"/>
                    </a:solidFill>
                  </a:tcPr>
                </a:tc>
              </a:tr>
              <a:tr h="347663">
                <a:tc>
                  <a:txBody>
                    <a:bodyPr/>
                    <a:lstStyle/>
                    <a:p>
                      <a:r>
                        <a:rPr sz="863">
                          <a:solidFill>
                            <a:srgbClr val="5B5B5B"/>
                          </a:solidFill>
                          <a:latin typeface="Yu Gothic"/>
                          <a:ea typeface="Yu Gothic"/>
                          <a:cs typeface="Yu Gothic"/>
                        </a:rPr>
                        <a:t>hA coolant</a:t>
                      </a:r>
                    </a:p>
                  </a:txBody>
                  <a:tcPr marL="91440" marR="91440" marT="45720" marB="45720">
                    <a:solidFill>
                      <a:srgbClr val="FFFFFF"/>
                    </a:solidFill>
                  </a:tcPr>
                </a:tc>
                <a:tc>
                  <a:txBody>
                    <a:bodyPr/>
                    <a:lstStyle/>
                    <a:p>
                      <a:r>
                        <a:rPr sz="863">
                          <a:solidFill>
                            <a:srgbClr val="5B5B5B"/>
                          </a:solidFill>
                          <a:latin typeface="Yu Gothic"/>
                          <a:ea typeface="Yu Gothic"/>
                          <a:cs typeface="Yu Gothic"/>
                        </a:rPr>
                        <a:t>0.440</a:t>
                      </a:r>
                    </a:p>
                  </a:txBody>
                  <a:tcPr marL="91440" marR="91440" marT="45720" marB="45720">
                    <a:solidFill>
                      <a:srgbClr val="FFFFFF"/>
                    </a:solidFill>
                  </a:tcPr>
                </a:tc>
                <a:tc>
                  <a:txBody>
                    <a:bodyPr/>
                    <a:lstStyle/>
                    <a:p>
                      <a:r>
                        <a:rPr sz="863">
                          <a:solidFill>
                            <a:srgbClr val="5B5B5B"/>
                          </a:solidFill>
                          <a:latin typeface="Yu Gothic"/>
                          <a:ea typeface="Yu Gothic"/>
                          <a:cs typeface="Yu Gothic"/>
                        </a:rPr>
                        <a:t>0.1906 W/K</a:t>
                      </a:r>
                    </a:p>
                  </a:txBody>
                  <a:tcPr marL="91440" marR="91440" marT="45720" marB="45720">
                    <a:solidFill>
                      <a:srgbClr val="FFFFFF"/>
                    </a:solidFill>
                  </a:tcPr>
                </a:tc>
                <a:tc>
                  <a:txBody>
                    <a:bodyPr/>
                    <a:lstStyle/>
                    <a:p>
                      <a:r>
                        <a:rPr sz="863">
                          <a:solidFill>
                            <a:srgbClr val="5B5B5B"/>
                          </a:solidFill>
                          <a:latin typeface="Yu Gothic"/>
                          <a:ea typeface="Yu Gothic"/>
                          <a:cs typeface="Yu Gothic"/>
                        </a:rPr>
                        <a:t>−56.67%</a:t>
                      </a:r>
                    </a:p>
                  </a:txBody>
                  <a:tcPr marL="91440" marR="91440" marT="45720" marB="45720">
                    <a:solidFill>
                      <a:srgbClr val="FFFFFF"/>
                    </a:solidFill>
                  </a:tcPr>
                </a:tc>
                <a:tc>
                  <a:txBody>
                    <a:bodyPr/>
                    <a:lstStyle/>
                    <a:p>
                      <a:r>
                        <a:rPr sz="863">
                          <a:solidFill>
                            <a:srgbClr val="5B5B5B"/>
                          </a:solidFill>
                          <a:latin typeface="Yu Gothic"/>
                          <a:ea typeface="Yu Gothic"/>
                          <a:cs typeface="Yu Gothic"/>
                        </a:rPr>
                        <a:t>長時間応答を支配する境界</a:t>
                      </a:r>
                    </a:p>
                  </a:txBody>
                  <a:tcPr marL="91440" marR="91440" marT="45720" marB="45720">
                    <a:solidFill>
                      <a:srgbClr val="FFFFFF"/>
                    </a:solidFill>
                  </a:tcPr>
                </a:tc>
              </a:tr>
            </a:tbl>
          </a:graphicData>
        </a:graphic>
      </p:graphicFrame>
      <p:sp>
        <p:nvSpPr>
          <p:cNvPr id="46" name="">
            <a:extLst xmlns:a="http://schemas.openxmlformats.org/drawingml/2006/main">
              <a:ext uri="{FF2B5EF4-FFF2-40B4-BE49-F238E27FC236}">
                <a16:creationId xmlns:a16="http://schemas.microsoft.com/office/drawing/2014/main" id="{B330CAE4-11C5-45F5-88CF-96F76D2BB259}"/>
              </a:ext>
            </a:extLst>
          </p:cNvPr>
          <p:cNvSpPr>
            <a:spLocks xmlns:a="http://schemas.openxmlformats.org/drawingml/2006/main" noGrp="1"/>
          </p:cNvSpPr>
          <p:nvPr/>
        </p:nvSpPr>
        <p:spPr>
          <a:xfrm xmlns:a="http://schemas.openxmlformats.org/drawingml/2006/main">
            <a:off x="552450" y="5838825"/>
            <a:ext cx="11087100" cy="409575"/>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47" name="">
            <a:extLst xmlns:a="http://schemas.openxmlformats.org/drawingml/2006/main">
              <a:ext uri="{FF2B5EF4-FFF2-40B4-BE49-F238E27FC236}">
                <a16:creationId xmlns:a16="http://schemas.microsoft.com/office/drawing/2014/main" id="{13DE56A4-79A2-401C-83F8-58D481F61D08}"/>
              </a:ext>
            </a:extLst>
          </p:cNvPr>
          <p:cNvSpPr>
            <a:spLocks xmlns:a="http://schemas.openxmlformats.org/drawingml/2006/main" noGrp="1"/>
          </p:cNvSpPr>
          <p:nvPr/>
        </p:nvSpPr>
        <p:spPr>
          <a:xfrm xmlns:a="http://schemas.openxmlformats.org/drawingml/2006/main">
            <a:off x="695325" y="592455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C4493D"/>
                </a:solidFill>
                <a:latin typeface="Yu Gothic"/>
                <a:ea typeface="Yu Gothic"/>
                <a:cs typeface="Yu Gothic"/>
              </a:defRPr>
            </a:pPr>
            <a:r>
              <a:rPr sz="900" b="1" i="0">
                <a:solidFill>
                  <a:srgbClr val="C4493D"/>
                </a:solidFill>
                <a:latin typeface="Yu Gothic"/>
                <a:ea typeface="Yu Gothic"/>
                <a:cs typeface="Yu Gothic"/>
              </a:rPr>
              <a:t>注意</a:t>
            </a:r>
          </a:p>
        </p:txBody>
      </p:sp>
      <p:sp>
        <p:nvSpPr>
          <p:cNvPr id="48" name="">
            <a:extLst xmlns:a="http://schemas.openxmlformats.org/drawingml/2006/main">
              <a:ext uri="{FF2B5EF4-FFF2-40B4-BE49-F238E27FC236}">
                <a16:creationId xmlns:a16="http://schemas.microsoft.com/office/drawing/2014/main" id="{F14017BD-F5B3-47F1-816E-F5160DC1CD5E}"/>
              </a:ext>
            </a:extLst>
          </p:cNvPr>
          <p:cNvSpPr>
            <a:spLocks xmlns:a="http://schemas.openxmlformats.org/drawingml/2006/main" noGrp="1"/>
          </p:cNvSpPr>
          <p:nvPr/>
        </p:nvSpPr>
        <p:spPr>
          <a:xfrm xmlns:a="http://schemas.openxmlformats.org/drawingml/2006/main">
            <a:off x="1323975" y="5895975"/>
            <a:ext cx="10144125"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T₁–T₃は領域平均。chip hotspot・wafer面内分布は同じ状態量ではない。</a:t>
            </a:r>
          </a:p>
        </p:txBody>
      </p:sp>
    </p:spTree>
    <p:extLst>
      <p:ext uri="{BB962C8B-B14F-4D97-AF65-F5344CB8AC3E}">
        <p14:creationId xmlns:p14="http://schemas.microsoft.com/office/powerpoint/2010/main" val="12121159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4155149A-5AEA-4687-9368-368CB4099B41}"/>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693E513-399B-4E7B-BD38-C055E6BDE052}"/>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GOVERNING EQUATIONS</a:t>
            </a:r>
          </a:p>
        </p:txBody>
      </p:sp>
      <p:sp>
        <p:nvSpPr>
          <p:cNvPr id="3" name="">
            <a:extLst xmlns:a="http://schemas.openxmlformats.org/drawingml/2006/main">
              <a:ext uri="{FF2B5EF4-FFF2-40B4-BE49-F238E27FC236}">
                <a16:creationId xmlns:a16="http://schemas.microsoft.com/office/drawing/2014/main" id="{BDDD6B9D-F318-4608-80A5-99C98C1C9224}"/>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第一法則を離散化し、保存・散逸・正値性をモデル構造で保証する</a:t>
            </a:r>
          </a:p>
        </p:txBody>
      </p:sp>
      <p:sp>
        <p:nvSpPr>
          <p:cNvPr id="4" name="">
            <a:extLst xmlns:a="http://schemas.openxmlformats.org/drawingml/2006/main">
              <a:ext uri="{FF2B5EF4-FFF2-40B4-BE49-F238E27FC236}">
                <a16:creationId xmlns:a16="http://schemas.microsoft.com/office/drawing/2014/main" id="{27909B7A-D158-42AA-9A6A-35D1324DA5AE}"/>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学習器に物理を後付けするのではなく、許容する状態遷移そのものを制約する</a:t>
            </a:r>
          </a:p>
        </p:txBody>
      </p:sp>
      <p:sp>
        <p:nvSpPr>
          <p:cNvPr id="5" name="">
            <a:extLst xmlns:a="http://schemas.openxmlformats.org/drawingml/2006/main">
              <a:ext uri="{FF2B5EF4-FFF2-40B4-BE49-F238E27FC236}">
                <a16:creationId xmlns:a16="http://schemas.microsoft.com/office/drawing/2014/main" id="{E318A669-BD91-4100-A880-A0439B33B73D}"/>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AC6D4771-94DB-42D3-A93E-C14416CD9780}"/>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59F6EE37-C33C-431E-AFE6-3A160F27B074}"/>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3965258F-68F1-47EA-B2ED-C8F38CECEC57}"/>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10</a:t>
            </a:r>
          </a:p>
        </p:txBody>
      </p:sp>
      <p:sp>
        <p:nvSpPr>
          <p:cNvPr id="9" name="">
            <a:extLst xmlns:a="http://schemas.openxmlformats.org/drawingml/2006/main">
              <a:ext uri="{FF2B5EF4-FFF2-40B4-BE49-F238E27FC236}">
                <a16:creationId xmlns:a16="http://schemas.microsoft.com/office/drawing/2014/main" id="{F07CED76-85C0-440B-8A26-C57C9DC11F25}"/>
              </a:ext>
            </a:extLst>
          </p:cNvPr>
          <p:cNvSpPr>
            <a:spLocks xmlns:a="http://schemas.openxmlformats.org/drawingml/2006/main" noGrp="1"/>
          </p:cNvSpPr>
          <p:nvPr/>
        </p:nvSpPr>
        <p:spPr>
          <a:xfrm xmlns:a="http://schemas.openxmlformats.org/drawingml/2006/main">
            <a:off x="552450" y="1438275"/>
            <a:ext cx="6953250" cy="157162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CB1B9D05-CDD8-42E9-9272-668576E680D1}"/>
              </a:ext>
            </a:extLst>
          </p:cNvPr>
          <p:cNvSpPr>
            <a:spLocks xmlns:a="http://schemas.openxmlformats.org/drawingml/2006/main" noGrp="1"/>
          </p:cNvSpPr>
          <p:nvPr/>
        </p:nvSpPr>
        <p:spPr>
          <a:xfrm xmlns:a="http://schemas.openxmlformats.org/drawingml/2006/main">
            <a:off x="742950" y="1609725"/>
            <a:ext cx="1619250" cy="238125"/>
          </a:xfrm>
          <a:prstGeom xmlns:a="http://schemas.openxmlformats.org/drawingml/2006/main" prst="roundRect">
            <a:avLst>
              <a:gd name="adj" fmla="val 50000"/>
            </a:avLst>
          </a:prstGeom>
          <a:solidFill xmlns:a="http://schemas.openxmlformats.org/drawingml/2006/main">
            <a:srgbClr val="E5F6FB"/>
          </a:solidFill>
          <a:ln xmlns:a="http://schemas.openxmlformats.org/drawingml/2006/main" w="9525">
            <a:solidFill>
              <a:srgbClr val="00A5D8"/>
            </a:solidFill>
            <a:prstDash val="solid"/>
          </a:ln>
        </p:spPr>
      </p:sp>
      <p:sp>
        <p:nvSpPr>
          <p:cNvPr id="11" name="">
            <a:extLst xmlns:a="http://schemas.openxmlformats.org/drawingml/2006/main">
              <a:ext uri="{FF2B5EF4-FFF2-40B4-BE49-F238E27FC236}">
                <a16:creationId xmlns:a16="http://schemas.microsoft.com/office/drawing/2014/main" id="{6EB5F95B-C6F1-4F91-B556-8D9954543601}"/>
              </a:ext>
            </a:extLst>
          </p:cNvPr>
          <p:cNvSpPr>
            <a:spLocks xmlns:a="http://schemas.openxmlformats.org/drawingml/2006/main" noGrp="1"/>
          </p:cNvSpPr>
          <p:nvPr/>
        </p:nvSpPr>
        <p:spPr>
          <a:xfrm xmlns:a="http://schemas.openxmlformats.org/drawingml/2006/main">
            <a:off x="790575" y="1619250"/>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00A5D8"/>
                </a:solidFill>
                <a:latin typeface="Yu Gothic"/>
                <a:ea typeface="Yu Gothic"/>
                <a:cs typeface="Yu Gothic"/>
              </a:defRPr>
            </a:pPr>
            <a:r>
              <a:rPr sz="788" b="1" i="0">
                <a:solidFill>
                  <a:srgbClr val="00A5D8"/>
                </a:solidFill>
                <a:latin typeface="Yu Gothic"/>
                <a:ea typeface="Yu Gothic"/>
                <a:cs typeface="Yu Gothic"/>
              </a:rPr>
              <a:t>NODE ENERGY BALANCE</a:t>
            </a:r>
          </a:p>
        </p:txBody>
      </p:sp>
      <p:sp>
        <p:nvSpPr>
          <p:cNvPr id="12" name="">
            <a:extLst xmlns:a="http://schemas.openxmlformats.org/drawingml/2006/main">
              <a:ext uri="{FF2B5EF4-FFF2-40B4-BE49-F238E27FC236}">
                <a16:creationId xmlns:a16="http://schemas.microsoft.com/office/drawing/2014/main" id="{44A57845-C03A-4E62-B563-9A5AF4946B63}"/>
              </a:ext>
            </a:extLst>
          </p:cNvPr>
          <p:cNvSpPr>
            <a:spLocks xmlns:a="http://schemas.openxmlformats.org/drawingml/2006/main" noGrp="1"/>
          </p:cNvSpPr>
          <p:nvPr/>
        </p:nvSpPr>
        <p:spPr>
          <a:xfrm xmlns:a="http://schemas.openxmlformats.org/drawingml/2006/main">
            <a:off x="800100" y="2085975"/>
            <a:ext cx="6438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800" b="1" i="0">
                <a:solidFill>
                  <a:srgbClr val="3F3F3F"/>
                </a:solidFill>
                <a:latin typeface="Cambria Math"/>
                <a:ea typeface="Cambria Math"/>
                <a:cs typeface="Cambria Math"/>
              </a:defRPr>
            </a:pPr>
            <a:r>
              <a:rPr sz="1800" b="1" i="0">
                <a:solidFill>
                  <a:srgbClr val="3F3F3F"/>
                </a:solidFill>
                <a:latin typeface="Cambria Math"/>
                <a:ea typeface="Cambria Math"/>
                <a:cs typeface="Cambria Math"/>
              </a:rPr>
              <a:t>Cᵢ dTᵢ/dt = Σⱼ Gᵢⱼ(Tⱼ − Tᵢ) + qᵢ + hᵢ(Tᵣ − Tᵢ) + (Wᵀd)ᵢ</a:t>
            </a:r>
          </a:p>
        </p:txBody>
      </p:sp>
      <p:sp>
        <p:nvSpPr>
          <p:cNvPr id="13" name="">
            <a:extLst xmlns:a="http://schemas.openxmlformats.org/drawingml/2006/main">
              <a:ext uri="{FF2B5EF4-FFF2-40B4-BE49-F238E27FC236}">
                <a16:creationId xmlns:a16="http://schemas.microsoft.com/office/drawing/2014/main" id="{EEBF4F22-EB95-4C7B-A108-043BEBA6B000}"/>
              </a:ext>
            </a:extLst>
          </p:cNvPr>
          <p:cNvSpPr>
            <a:spLocks xmlns:a="http://schemas.openxmlformats.org/drawingml/2006/main" noGrp="1"/>
          </p:cNvSpPr>
          <p:nvPr/>
        </p:nvSpPr>
        <p:spPr>
          <a:xfrm xmlns:a="http://schemas.openxmlformats.org/drawingml/2006/main">
            <a:off x="809625" y="2647950"/>
            <a:ext cx="64198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38" b="0" i="0">
                <a:solidFill>
                  <a:srgbClr val="777777"/>
                </a:solidFill>
                <a:latin typeface="Yu Gothic"/>
                <a:ea typeface="Yu Gothic"/>
                <a:cs typeface="Yu Gothic"/>
              </a:defRPr>
            </a:pPr>
            <a:r>
              <a:rPr sz="938" b="0" i="0">
                <a:solidFill>
                  <a:srgbClr val="777777"/>
                </a:solidFill>
                <a:latin typeface="Yu Gothic"/>
                <a:ea typeface="Yu Gothic"/>
                <a:cs typeface="Yu Gothic"/>
              </a:rPr>
              <a:t>[J/K]·[K/s] = [W]  —  全項を熱流率で統一</a:t>
            </a:r>
          </a:p>
        </p:txBody>
      </p:sp>
      <p:sp>
        <p:nvSpPr>
          <p:cNvPr id="14" name="">
            <a:extLst xmlns:a="http://schemas.openxmlformats.org/drawingml/2006/main">
              <a:ext uri="{FF2B5EF4-FFF2-40B4-BE49-F238E27FC236}">
                <a16:creationId xmlns:a16="http://schemas.microsoft.com/office/drawing/2014/main" id="{656D4560-6375-4B9C-8933-83F856CAC489}"/>
              </a:ext>
            </a:extLst>
          </p:cNvPr>
          <p:cNvSpPr>
            <a:spLocks xmlns:a="http://schemas.openxmlformats.org/drawingml/2006/main" noGrp="1"/>
          </p:cNvSpPr>
          <p:nvPr/>
        </p:nvSpPr>
        <p:spPr>
          <a:xfrm xmlns:a="http://schemas.openxmlformats.org/drawingml/2006/main">
            <a:off x="552450" y="3200400"/>
            <a:ext cx="6953250" cy="195262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D89E83C-B0B4-4A0C-AED8-88626DE2A61E}"/>
              </a:ext>
            </a:extLst>
          </p:cNvPr>
          <p:cNvSpPr>
            <a:spLocks xmlns:a="http://schemas.openxmlformats.org/drawingml/2006/main" noGrp="1"/>
          </p:cNvSpPr>
          <p:nvPr/>
        </p:nvSpPr>
        <p:spPr>
          <a:xfrm xmlns:a="http://schemas.openxmlformats.org/drawingml/2006/main">
            <a:off x="742950" y="3371850"/>
            <a:ext cx="1190625" cy="238125"/>
          </a:xfrm>
          <a:prstGeom xmlns:a="http://schemas.openxmlformats.org/drawingml/2006/main" prst="roundRect">
            <a:avLst>
              <a:gd name="adj" fmla="val 50000"/>
            </a:avLst>
          </a:prstGeom>
          <a:solidFill xmlns:a="http://schemas.openxmlformats.org/drawingml/2006/main">
            <a:srgbClr val="2C2255"/>
          </a:solidFill>
          <a:ln xmlns:a="http://schemas.openxmlformats.org/drawingml/2006/main" w="9525">
            <a:solidFill>
              <a:srgbClr val="76BE18"/>
            </a:solidFill>
            <a:prstDash val="solid"/>
          </a:ln>
        </p:spPr>
      </p:sp>
      <p:sp>
        <p:nvSpPr>
          <p:cNvPr id="16" name="">
            <a:extLst xmlns:a="http://schemas.openxmlformats.org/drawingml/2006/main">
              <a:ext uri="{FF2B5EF4-FFF2-40B4-BE49-F238E27FC236}">
                <a16:creationId xmlns:a16="http://schemas.microsoft.com/office/drawing/2014/main" id="{1E1B5241-6DF0-46FB-B3F4-BF849FC27639}"/>
              </a:ext>
            </a:extLst>
          </p:cNvPr>
          <p:cNvSpPr>
            <a:spLocks xmlns:a="http://schemas.openxmlformats.org/drawingml/2006/main" noGrp="1"/>
          </p:cNvSpPr>
          <p:nvPr/>
        </p:nvSpPr>
        <p:spPr>
          <a:xfrm xmlns:a="http://schemas.openxmlformats.org/drawingml/2006/main">
            <a:off x="790575" y="3381375"/>
            <a:ext cx="1095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76BE18"/>
                </a:solidFill>
                <a:latin typeface="Yu Gothic"/>
                <a:ea typeface="Yu Gothic"/>
                <a:cs typeface="Yu Gothic"/>
              </a:defRPr>
            </a:pPr>
            <a:r>
              <a:rPr sz="788" b="1" i="0">
                <a:solidFill>
                  <a:srgbClr val="76BE18"/>
                </a:solidFill>
                <a:latin typeface="Yu Gothic"/>
                <a:ea typeface="Yu Gothic"/>
                <a:cs typeface="Yu Gothic"/>
              </a:rPr>
              <a:t>MATRIX FORM</a:t>
            </a:r>
          </a:p>
        </p:txBody>
      </p:sp>
      <p:sp>
        <p:nvSpPr>
          <p:cNvPr id="17" name="">
            <a:extLst xmlns:a="http://schemas.openxmlformats.org/drawingml/2006/main">
              <a:ext uri="{FF2B5EF4-FFF2-40B4-BE49-F238E27FC236}">
                <a16:creationId xmlns:a16="http://schemas.microsoft.com/office/drawing/2014/main" id="{4F54299E-C6B6-44C9-8F38-086932566187}"/>
              </a:ext>
            </a:extLst>
          </p:cNvPr>
          <p:cNvSpPr>
            <a:spLocks xmlns:a="http://schemas.openxmlformats.org/drawingml/2006/main" noGrp="1"/>
          </p:cNvSpPr>
          <p:nvPr/>
        </p:nvSpPr>
        <p:spPr>
          <a:xfrm xmlns:a="http://schemas.openxmlformats.org/drawingml/2006/main">
            <a:off x="781050" y="3800475"/>
            <a:ext cx="6286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875" b="1" i="0">
                <a:solidFill>
                  <a:srgbClr val="FFFFFF"/>
                </a:solidFill>
                <a:latin typeface="Cambria Math"/>
                <a:ea typeface="Cambria Math"/>
                <a:cs typeface="Cambria Math"/>
              </a:defRPr>
            </a:pPr>
            <a:r>
              <a:rPr sz="1875" b="1" i="0">
                <a:solidFill>
                  <a:srgbClr val="FFFFFF"/>
                </a:solidFill>
                <a:latin typeface="Cambria Math"/>
                <a:ea typeface="Cambria Math"/>
                <a:cs typeface="Cambria Math"/>
              </a:rPr>
              <a:t>L = Bₑᵀ diag(g) Bₑ</a:t>
            </a:r>
          </a:p>
        </p:txBody>
      </p:sp>
      <p:sp>
        <p:nvSpPr>
          <p:cNvPr id="18" name="">
            <a:extLst xmlns:a="http://schemas.openxmlformats.org/drawingml/2006/main">
              <a:ext uri="{FF2B5EF4-FFF2-40B4-BE49-F238E27FC236}">
                <a16:creationId xmlns:a16="http://schemas.microsoft.com/office/drawing/2014/main" id="{4D1707FB-7C78-4E0B-862D-A2A0D5B631BC}"/>
              </a:ext>
            </a:extLst>
          </p:cNvPr>
          <p:cNvSpPr>
            <a:spLocks xmlns:a="http://schemas.openxmlformats.org/drawingml/2006/main" noGrp="1"/>
          </p:cNvSpPr>
          <p:nvPr/>
        </p:nvSpPr>
        <p:spPr>
          <a:xfrm xmlns:a="http://schemas.openxmlformats.org/drawingml/2006/main">
            <a:off x="781050" y="4229100"/>
            <a:ext cx="628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800" b="0" i="0">
                <a:solidFill>
                  <a:srgbClr val="FFFFFF"/>
                </a:solidFill>
                <a:latin typeface="Cambria Math"/>
                <a:ea typeface="Cambria Math"/>
                <a:cs typeface="Cambria Math"/>
              </a:defRPr>
            </a:pPr>
            <a:r>
              <a:rPr sz="1800" b="0" i="0">
                <a:solidFill>
                  <a:srgbClr val="FFFFFF"/>
                </a:solidFill>
                <a:latin typeface="Cambria Math"/>
                <a:ea typeface="Cambria Math"/>
                <a:cs typeface="Cambria Math"/>
              </a:rPr>
              <a:t>C Ṫ = −L T + q + h ⊙ (Tᵣ1 − T) + Wᵀd</a:t>
            </a:r>
          </a:p>
        </p:txBody>
      </p:sp>
      <p:sp>
        <p:nvSpPr>
          <p:cNvPr id="19" name="">
            <a:extLst xmlns:a="http://schemas.openxmlformats.org/drawingml/2006/main">
              <a:ext uri="{FF2B5EF4-FFF2-40B4-BE49-F238E27FC236}">
                <a16:creationId xmlns:a16="http://schemas.microsoft.com/office/drawing/2014/main" id="{E5000969-C302-43C8-AA37-7E7AD8AB7544}"/>
              </a:ext>
            </a:extLst>
          </p:cNvPr>
          <p:cNvSpPr>
            <a:spLocks xmlns:a="http://schemas.openxmlformats.org/drawingml/2006/main" noGrp="1"/>
          </p:cNvSpPr>
          <p:nvPr/>
        </p:nvSpPr>
        <p:spPr>
          <a:xfrm xmlns:a="http://schemas.openxmlformats.org/drawingml/2006/main">
            <a:off x="781050" y="46958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800" b="1" i="0">
                <a:solidFill>
                  <a:srgbClr val="76BE18"/>
                </a:solidFill>
                <a:latin typeface="Cambria Math"/>
                <a:ea typeface="Cambria Math"/>
                <a:cs typeface="Cambria Math"/>
              </a:defRPr>
            </a:pPr>
            <a:r>
              <a:rPr sz="1800" b="1" i="0">
                <a:solidFill>
                  <a:srgbClr val="76BE18"/>
                </a:solidFill>
                <a:latin typeface="Cambria Math"/>
                <a:ea typeface="Cambria Math"/>
                <a:cs typeface="Cambria Math"/>
              </a:rPr>
              <a:t>Ṫ = A(a)T + b(a)</a:t>
            </a:r>
          </a:p>
        </p:txBody>
      </p:sp>
      <p:sp>
        <p:nvSpPr>
          <p:cNvPr id="20" name="">
            <a:extLst xmlns:a="http://schemas.openxmlformats.org/drawingml/2006/main">
              <a:ext uri="{FF2B5EF4-FFF2-40B4-BE49-F238E27FC236}">
                <a16:creationId xmlns:a16="http://schemas.microsoft.com/office/drawing/2014/main" id="{1AC699C9-9AC5-4174-9062-F669121ADFDF}"/>
              </a:ext>
            </a:extLst>
          </p:cNvPr>
          <p:cNvSpPr>
            <a:spLocks xmlns:a="http://schemas.openxmlformats.org/drawingml/2006/main" noGrp="1"/>
          </p:cNvSpPr>
          <p:nvPr/>
        </p:nvSpPr>
        <p:spPr>
          <a:xfrm xmlns:a="http://schemas.openxmlformats.org/drawingml/2006/main">
            <a:off x="7791450" y="1438275"/>
            <a:ext cx="3848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構造的な検査項目</a:t>
            </a:r>
          </a:p>
        </p:txBody>
      </p:sp>
      <p:sp>
        <p:nvSpPr>
          <p:cNvPr id="21" name="">
            <a:extLst xmlns:a="http://schemas.openxmlformats.org/drawingml/2006/main">
              <a:ext uri="{FF2B5EF4-FFF2-40B4-BE49-F238E27FC236}">
                <a16:creationId xmlns:a16="http://schemas.microsoft.com/office/drawing/2014/main" id="{1DBF78F7-787F-4514-8892-83EBB51DE452}"/>
              </a:ext>
            </a:extLst>
          </p:cNvPr>
          <p:cNvSpPr>
            <a:spLocks xmlns:a="http://schemas.openxmlformats.org/drawingml/2006/main" noGrp="1"/>
          </p:cNvSpPr>
          <p:nvPr/>
        </p:nvSpPr>
        <p:spPr>
          <a:xfrm xmlns:a="http://schemas.openxmlformats.org/drawingml/2006/main">
            <a:off x="7791450" y="1828800"/>
            <a:ext cx="38481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2" name="">
            <a:extLst xmlns:a="http://schemas.openxmlformats.org/drawingml/2006/main">
              <a:ext uri="{FF2B5EF4-FFF2-40B4-BE49-F238E27FC236}">
                <a16:creationId xmlns:a16="http://schemas.microsoft.com/office/drawing/2014/main" id="{25AF5A92-DC0C-4EBA-8C9C-45A0FF3E65D3}"/>
              </a:ext>
            </a:extLst>
          </p:cNvPr>
          <p:cNvSpPr>
            <a:spLocks xmlns:a="http://schemas.openxmlformats.org/drawingml/2006/main" noGrp="1"/>
          </p:cNvSpPr>
          <p:nvPr/>
        </p:nvSpPr>
        <p:spPr>
          <a:xfrm xmlns:a="http://schemas.openxmlformats.org/drawingml/2006/main">
            <a:off x="7791450" y="1828800"/>
            <a:ext cx="66675" cy="6858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A837540-19C8-471A-9CF1-97E5E0D5D334}"/>
              </a:ext>
            </a:extLst>
          </p:cNvPr>
          <p:cNvSpPr>
            <a:spLocks xmlns:a="http://schemas.openxmlformats.org/drawingml/2006/main" noGrp="1"/>
          </p:cNvSpPr>
          <p:nvPr/>
        </p:nvSpPr>
        <p:spPr>
          <a:xfrm xmlns:a="http://schemas.openxmlformats.org/drawingml/2006/main">
            <a:off x="7981950" y="19050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00A5D8"/>
                </a:solidFill>
                <a:latin typeface="Yu Gothic"/>
                <a:ea typeface="Yu Gothic"/>
                <a:cs typeface="Yu Gothic"/>
              </a:defRPr>
            </a:pPr>
            <a:r>
              <a:rPr sz="1050" b="1" i="0">
                <a:solidFill>
                  <a:srgbClr val="00A5D8"/>
                </a:solidFill>
                <a:latin typeface="Yu Gothic"/>
                <a:ea typeface="Yu Gothic"/>
                <a:cs typeface="Yu Gothic"/>
              </a:rPr>
              <a:t>相反性</a:t>
            </a:r>
          </a:p>
        </p:txBody>
      </p:sp>
      <p:sp>
        <p:nvSpPr>
          <p:cNvPr id="24" name="">
            <a:extLst xmlns:a="http://schemas.openxmlformats.org/drawingml/2006/main">
              <a:ext uri="{FF2B5EF4-FFF2-40B4-BE49-F238E27FC236}">
                <a16:creationId xmlns:a16="http://schemas.microsoft.com/office/drawing/2014/main" id="{9E61D908-2CFE-4CC7-8425-7194FCCA8F19}"/>
              </a:ext>
            </a:extLst>
          </p:cNvPr>
          <p:cNvSpPr>
            <a:spLocks xmlns:a="http://schemas.openxmlformats.org/drawingml/2006/main" noGrp="1"/>
          </p:cNvSpPr>
          <p:nvPr/>
        </p:nvSpPr>
        <p:spPr>
          <a:xfrm xmlns:a="http://schemas.openxmlformats.org/drawingml/2006/main">
            <a:off x="8915400" y="1895475"/>
            <a:ext cx="2533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Cambria Math"/>
                <a:ea typeface="Cambria Math"/>
                <a:cs typeface="Cambria Math"/>
              </a:defRPr>
            </a:pPr>
            <a:r>
              <a:rPr sz="1200" b="1" i="0">
                <a:solidFill>
                  <a:srgbClr val="3F3F3F"/>
                </a:solidFill>
                <a:latin typeface="Cambria Math"/>
                <a:ea typeface="Cambria Math"/>
                <a:cs typeface="Cambria Math"/>
              </a:rPr>
              <a:t>qᵢ←ⱼ = −qⱼ←ᵢ</a:t>
            </a:r>
          </a:p>
        </p:txBody>
      </p:sp>
      <p:sp>
        <p:nvSpPr>
          <p:cNvPr id="25" name="">
            <a:extLst xmlns:a="http://schemas.openxmlformats.org/drawingml/2006/main">
              <a:ext uri="{FF2B5EF4-FFF2-40B4-BE49-F238E27FC236}">
                <a16:creationId xmlns:a16="http://schemas.microsoft.com/office/drawing/2014/main" id="{957E8FED-E563-4906-A573-D1783D1162D8}"/>
              </a:ext>
            </a:extLst>
          </p:cNvPr>
          <p:cNvSpPr>
            <a:spLocks xmlns:a="http://schemas.openxmlformats.org/drawingml/2006/main" noGrp="1"/>
          </p:cNvSpPr>
          <p:nvPr/>
        </p:nvSpPr>
        <p:spPr>
          <a:xfrm xmlns:a="http://schemas.openxmlformats.org/drawingml/2006/main">
            <a:off x="7981950" y="2200275"/>
            <a:ext cx="34671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内部熱流の二重計上を防止</a:t>
            </a:r>
          </a:p>
        </p:txBody>
      </p:sp>
      <p:sp>
        <p:nvSpPr>
          <p:cNvPr id="26" name="">
            <a:extLst xmlns:a="http://schemas.openxmlformats.org/drawingml/2006/main">
              <a:ext uri="{FF2B5EF4-FFF2-40B4-BE49-F238E27FC236}">
                <a16:creationId xmlns:a16="http://schemas.microsoft.com/office/drawing/2014/main" id="{6BB2A7A0-8216-438A-9038-8984F47571C4}"/>
              </a:ext>
            </a:extLst>
          </p:cNvPr>
          <p:cNvSpPr>
            <a:spLocks xmlns:a="http://schemas.openxmlformats.org/drawingml/2006/main" noGrp="1"/>
          </p:cNvSpPr>
          <p:nvPr/>
        </p:nvSpPr>
        <p:spPr>
          <a:xfrm xmlns:a="http://schemas.openxmlformats.org/drawingml/2006/main">
            <a:off x="7791450" y="2638425"/>
            <a:ext cx="38481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7" name="">
            <a:extLst xmlns:a="http://schemas.openxmlformats.org/drawingml/2006/main">
              <a:ext uri="{FF2B5EF4-FFF2-40B4-BE49-F238E27FC236}">
                <a16:creationId xmlns:a16="http://schemas.microsoft.com/office/drawing/2014/main" id="{C50F15C5-2148-48B3-A3E1-FB1FF9C3EFF5}"/>
              </a:ext>
            </a:extLst>
          </p:cNvPr>
          <p:cNvSpPr>
            <a:spLocks xmlns:a="http://schemas.openxmlformats.org/drawingml/2006/main" noGrp="1"/>
          </p:cNvSpPr>
          <p:nvPr/>
        </p:nvSpPr>
        <p:spPr>
          <a:xfrm xmlns:a="http://schemas.openxmlformats.org/drawingml/2006/main">
            <a:off x="7791450" y="2638425"/>
            <a:ext cx="66675" cy="6858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BC5868B-5131-4660-9C7B-E11E356F7A35}"/>
              </a:ext>
            </a:extLst>
          </p:cNvPr>
          <p:cNvSpPr>
            <a:spLocks xmlns:a="http://schemas.openxmlformats.org/drawingml/2006/main" noGrp="1"/>
          </p:cNvSpPr>
          <p:nvPr/>
        </p:nvSpPr>
        <p:spPr>
          <a:xfrm xmlns:a="http://schemas.openxmlformats.org/drawingml/2006/main">
            <a:off x="7981950" y="2714625"/>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76BE18"/>
                </a:solidFill>
                <a:latin typeface="Yu Gothic"/>
                <a:ea typeface="Yu Gothic"/>
                <a:cs typeface="Yu Gothic"/>
              </a:defRPr>
            </a:pPr>
            <a:r>
              <a:rPr sz="1050" b="1" i="0">
                <a:solidFill>
                  <a:srgbClr val="76BE18"/>
                </a:solidFill>
                <a:latin typeface="Yu Gothic"/>
                <a:ea typeface="Yu Gothic"/>
                <a:cs typeface="Yu Gothic"/>
              </a:rPr>
              <a:t>閉系保存</a:t>
            </a:r>
          </a:p>
        </p:txBody>
      </p:sp>
      <p:sp>
        <p:nvSpPr>
          <p:cNvPr id="29" name="">
            <a:extLst xmlns:a="http://schemas.openxmlformats.org/drawingml/2006/main">
              <a:ext uri="{FF2B5EF4-FFF2-40B4-BE49-F238E27FC236}">
                <a16:creationId xmlns:a16="http://schemas.microsoft.com/office/drawing/2014/main" id="{33016F3C-C636-47D0-BC27-21D950DACD0B}"/>
              </a:ext>
            </a:extLst>
          </p:cNvPr>
          <p:cNvSpPr>
            <a:spLocks xmlns:a="http://schemas.openxmlformats.org/drawingml/2006/main" noGrp="1"/>
          </p:cNvSpPr>
          <p:nvPr/>
        </p:nvSpPr>
        <p:spPr>
          <a:xfrm xmlns:a="http://schemas.openxmlformats.org/drawingml/2006/main">
            <a:off x="8915400" y="2705100"/>
            <a:ext cx="2533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Cambria Math"/>
                <a:ea typeface="Cambria Math"/>
                <a:cs typeface="Cambria Math"/>
              </a:defRPr>
            </a:pPr>
            <a:r>
              <a:rPr sz="1200" b="1" i="0">
                <a:solidFill>
                  <a:srgbClr val="3F3F3F"/>
                </a:solidFill>
                <a:latin typeface="Cambria Math"/>
                <a:ea typeface="Cambria Math"/>
                <a:cs typeface="Cambria Math"/>
              </a:rPr>
              <a:t>d(1ᵀCT)/dt = 0</a:t>
            </a:r>
          </a:p>
        </p:txBody>
      </p:sp>
      <p:sp>
        <p:nvSpPr>
          <p:cNvPr id="30" name="">
            <a:extLst xmlns:a="http://schemas.openxmlformats.org/drawingml/2006/main">
              <a:ext uri="{FF2B5EF4-FFF2-40B4-BE49-F238E27FC236}">
                <a16:creationId xmlns:a16="http://schemas.microsoft.com/office/drawing/2014/main" id="{D4D7E912-BD7B-422A-891E-00C11006DFC2}"/>
              </a:ext>
            </a:extLst>
          </p:cNvPr>
          <p:cNvSpPr>
            <a:spLocks xmlns:a="http://schemas.openxmlformats.org/drawingml/2006/main" noGrp="1"/>
          </p:cNvSpPr>
          <p:nvPr/>
        </p:nvSpPr>
        <p:spPr>
          <a:xfrm xmlns:a="http://schemas.openxmlformats.org/drawingml/2006/main">
            <a:off x="7981950" y="3009900"/>
            <a:ext cx="34671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境界・熱源なしで総エネルギー一定</a:t>
            </a:r>
          </a:p>
        </p:txBody>
      </p:sp>
      <p:sp>
        <p:nvSpPr>
          <p:cNvPr id="31" name="">
            <a:extLst xmlns:a="http://schemas.openxmlformats.org/drawingml/2006/main">
              <a:ext uri="{FF2B5EF4-FFF2-40B4-BE49-F238E27FC236}">
                <a16:creationId xmlns:a16="http://schemas.microsoft.com/office/drawing/2014/main" id="{479EEDA9-6609-47F9-AFAD-D345A089BC16}"/>
              </a:ext>
            </a:extLst>
          </p:cNvPr>
          <p:cNvSpPr>
            <a:spLocks xmlns:a="http://schemas.openxmlformats.org/drawingml/2006/main" noGrp="1"/>
          </p:cNvSpPr>
          <p:nvPr/>
        </p:nvSpPr>
        <p:spPr>
          <a:xfrm xmlns:a="http://schemas.openxmlformats.org/drawingml/2006/main">
            <a:off x="7791450" y="3448050"/>
            <a:ext cx="38481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2" name="">
            <a:extLst xmlns:a="http://schemas.openxmlformats.org/drawingml/2006/main">
              <a:ext uri="{FF2B5EF4-FFF2-40B4-BE49-F238E27FC236}">
                <a16:creationId xmlns:a16="http://schemas.microsoft.com/office/drawing/2014/main" id="{BD0D82E1-25DB-4FD7-AB01-4E6B9E875111}"/>
              </a:ext>
            </a:extLst>
          </p:cNvPr>
          <p:cNvSpPr>
            <a:spLocks xmlns:a="http://schemas.openxmlformats.org/drawingml/2006/main" noGrp="1"/>
          </p:cNvSpPr>
          <p:nvPr/>
        </p:nvSpPr>
        <p:spPr>
          <a:xfrm xmlns:a="http://schemas.openxmlformats.org/drawingml/2006/main">
            <a:off x="7791450" y="3448050"/>
            <a:ext cx="66675" cy="6858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B00C65DD-F229-45BD-8C6A-729DB4B786C3}"/>
              </a:ext>
            </a:extLst>
          </p:cNvPr>
          <p:cNvSpPr>
            <a:spLocks xmlns:a="http://schemas.openxmlformats.org/drawingml/2006/main" noGrp="1"/>
          </p:cNvSpPr>
          <p:nvPr/>
        </p:nvSpPr>
        <p:spPr>
          <a:xfrm xmlns:a="http://schemas.openxmlformats.org/drawingml/2006/main">
            <a:off x="7981950" y="352425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7B2DAF"/>
                </a:solidFill>
                <a:latin typeface="Yu Gothic"/>
                <a:ea typeface="Yu Gothic"/>
                <a:cs typeface="Yu Gothic"/>
              </a:defRPr>
            </a:pPr>
            <a:r>
              <a:rPr sz="1050" b="1" i="0">
                <a:solidFill>
                  <a:srgbClr val="7B2DAF"/>
                </a:solidFill>
                <a:latin typeface="Yu Gothic"/>
                <a:ea typeface="Yu Gothic"/>
                <a:cs typeface="Yu Gothic"/>
              </a:rPr>
              <a:t>散逸性</a:t>
            </a:r>
          </a:p>
        </p:txBody>
      </p:sp>
      <p:sp>
        <p:nvSpPr>
          <p:cNvPr id="34" name="">
            <a:extLst xmlns:a="http://schemas.openxmlformats.org/drawingml/2006/main">
              <a:ext uri="{FF2B5EF4-FFF2-40B4-BE49-F238E27FC236}">
                <a16:creationId xmlns:a16="http://schemas.microsoft.com/office/drawing/2014/main" id="{46291351-87F2-4123-88BC-7CA2F372EC6C}"/>
              </a:ext>
            </a:extLst>
          </p:cNvPr>
          <p:cNvSpPr>
            <a:spLocks xmlns:a="http://schemas.openxmlformats.org/drawingml/2006/main" noGrp="1"/>
          </p:cNvSpPr>
          <p:nvPr/>
        </p:nvSpPr>
        <p:spPr>
          <a:xfrm xmlns:a="http://schemas.openxmlformats.org/drawingml/2006/main">
            <a:off x="8915400" y="3514725"/>
            <a:ext cx="2533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Cambria Math"/>
                <a:ea typeface="Cambria Math"/>
                <a:cs typeface="Cambria Math"/>
              </a:defRPr>
            </a:pPr>
            <a:r>
              <a:rPr sz="1200" b="1" i="0">
                <a:solidFill>
                  <a:srgbClr val="3F3F3F"/>
                </a:solidFill>
                <a:latin typeface="Cambria Math"/>
                <a:ea typeface="Cambria Math"/>
                <a:cs typeface="Cambria Math"/>
              </a:rPr>
              <a:t>TᵀLT = Σ Gₑ(ΔTₑ)² ≥ 0</a:t>
            </a:r>
          </a:p>
        </p:txBody>
      </p:sp>
      <p:sp>
        <p:nvSpPr>
          <p:cNvPr id="35" name="">
            <a:extLst xmlns:a="http://schemas.openxmlformats.org/drawingml/2006/main">
              <a:ext uri="{FF2B5EF4-FFF2-40B4-BE49-F238E27FC236}">
                <a16:creationId xmlns:a16="http://schemas.microsoft.com/office/drawing/2014/main" id="{BB36506F-0EAC-4DCD-A1AC-EB5B3492E009}"/>
              </a:ext>
            </a:extLst>
          </p:cNvPr>
          <p:cNvSpPr>
            <a:spLocks xmlns:a="http://schemas.openxmlformats.org/drawingml/2006/main" noGrp="1"/>
          </p:cNvSpPr>
          <p:nvPr/>
        </p:nvSpPr>
        <p:spPr>
          <a:xfrm xmlns:a="http://schemas.openxmlformats.org/drawingml/2006/main">
            <a:off x="7981950" y="3819525"/>
            <a:ext cx="34671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温度差は自発的に増幅しない</a:t>
            </a:r>
          </a:p>
        </p:txBody>
      </p:sp>
      <p:sp>
        <p:nvSpPr>
          <p:cNvPr id="36" name="">
            <a:extLst xmlns:a="http://schemas.openxmlformats.org/drawingml/2006/main">
              <a:ext uri="{FF2B5EF4-FFF2-40B4-BE49-F238E27FC236}">
                <a16:creationId xmlns:a16="http://schemas.microsoft.com/office/drawing/2014/main" id="{BB56B7B0-51D3-4838-930A-FCE2069D53C2}"/>
              </a:ext>
            </a:extLst>
          </p:cNvPr>
          <p:cNvSpPr>
            <a:spLocks xmlns:a="http://schemas.openxmlformats.org/drawingml/2006/main" noGrp="1"/>
          </p:cNvSpPr>
          <p:nvPr/>
        </p:nvSpPr>
        <p:spPr>
          <a:xfrm xmlns:a="http://schemas.openxmlformats.org/drawingml/2006/main">
            <a:off x="7791450" y="4257675"/>
            <a:ext cx="38481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7" name="">
            <a:extLst xmlns:a="http://schemas.openxmlformats.org/drawingml/2006/main">
              <a:ext uri="{FF2B5EF4-FFF2-40B4-BE49-F238E27FC236}">
                <a16:creationId xmlns:a16="http://schemas.microsoft.com/office/drawing/2014/main" id="{648FFC89-0713-4422-903F-10ED40A5175F}"/>
              </a:ext>
            </a:extLst>
          </p:cNvPr>
          <p:cNvSpPr>
            <a:spLocks xmlns:a="http://schemas.openxmlformats.org/drawingml/2006/main" noGrp="1"/>
          </p:cNvSpPr>
          <p:nvPr/>
        </p:nvSpPr>
        <p:spPr>
          <a:xfrm xmlns:a="http://schemas.openxmlformats.org/drawingml/2006/main">
            <a:off x="7791450" y="4257675"/>
            <a:ext cx="66675" cy="68580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475E2322-814A-428A-881E-C57171FC9DFF}"/>
              </a:ext>
            </a:extLst>
          </p:cNvPr>
          <p:cNvSpPr>
            <a:spLocks xmlns:a="http://schemas.openxmlformats.org/drawingml/2006/main" noGrp="1"/>
          </p:cNvSpPr>
          <p:nvPr/>
        </p:nvSpPr>
        <p:spPr>
          <a:xfrm xmlns:a="http://schemas.openxmlformats.org/drawingml/2006/main">
            <a:off x="7981950" y="4333875"/>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E5A900"/>
                </a:solidFill>
                <a:latin typeface="Yu Gothic"/>
                <a:ea typeface="Yu Gothic"/>
                <a:cs typeface="Yu Gothic"/>
              </a:defRPr>
            </a:pPr>
            <a:r>
              <a:rPr sz="1050" b="1" i="0">
                <a:solidFill>
                  <a:srgbClr val="E5A900"/>
                </a:solidFill>
                <a:latin typeface="Yu Gothic"/>
                <a:ea typeface="Yu Gothic"/>
                <a:cs typeface="Yu Gothic"/>
              </a:rPr>
              <a:t>正値性</a:t>
            </a:r>
          </a:p>
        </p:txBody>
      </p:sp>
      <p:sp>
        <p:nvSpPr>
          <p:cNvPr id="39" name="">
            <a:extLst xmlns:a="http://schemas.openxmlformats.org/drawingml/2006/main">
              <a:ext uri="{FF2B5EF4-FFF2-40B4-BE49-F238E27FC236}">
                <a16:creationId xmlns:a16="http://schemas.microsoft.com/office/drawing/2014/main" id="{803BD20E-8F04-4AC1-B66B-0F3560E53CE8}"/>
              </a:ext>
            </a:extLst>
          </p:cNvPr>
          <p:cNvSpPr>
            <a:spLocks xmlns:a="http://schemas.openxmlformats.org/drawingml/2006/main" noGrp="1"/>
          </p:cNvSpPr>
          <p:nvPr/>
        </p:nvSpPr>
        <p:spPr>
          <a:xfrm xmlns:a="http://schemas.openxmlformats.org/drawingml/2006/main">
            <a:off x="8915400" y="4324350"/>
            <a:ext cx="2533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Cambria Math"/>
                <a:ea typeface="Cambria Math"/>
                <a:cs typeface="Cambria Math"/>
              </a:defRPr>
            </a:pPr>
            <a:r>
              <a:rPr sz="1200" b="1" i="0">
                <a:solidFill>
                  <a:srgbClr val="3F3F3F"/>
                </a:solidFill>
                <a:latin typeface="Cambria Math"/>
                <a:ea typeface="Cambria Math"/>
                <a:cs typeface="Cambria Math"/>
              </a:rPr>
              <a:t>p = p₀ exp(ℓ) &gt; 0</a:t>
            </a:r>
          </a:p>
        </p:txBody>
      </p:sp>
      <p:sp>
        <p:nvSpPr>
          <p:cNvPr id="40" name="">
            <a:extLst xmlns:a="http://schemas.openxmlformats.org/drawingml/2006/main">
              <a:ext uri="{FF2B5EF4-FFF2-40B4-BE49-F238E27FC236}">
                <a16:creationId xmlns:a16="http://schemas.microsoft.com/office/drawing/2014/main" id="{879C8627-49A6-4567-91CD-2E307A92AEFD}"/>
              </a:ext>
            </a:extLst>
          </p:cNvPr>
          <p:cNvSpPr>
            <a:spLocks xmlns:a="http://schemas.openxmlformats.org/drawingml/2006/main" noGrp="1"/>
          </p:cNvSpPr>
          <p:nvPr/>
        </p:nvSpPr>
        <p:spPr>
          <a:xfrm xmlns:a="http://schemas.openxmlformats.org/drawingml/2006/main">
            <a:off x="7981950" y="4629150"/>
            <a:ext cx="34671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負の熱容量・負のconductanceを排除</a:t>
            </a:r>
          </a:p>
        </p:txBody>
      </p:sp>
      <p:sp>
        <p:nvSpPr>
          <p:cNvPr id="41" name="">
            <a:extLst xmlns:a="http://schemas.openxmlformats.org/drawingml/2006/main">
              <a:ext uri="{FF2B5EF4-FFF2-40B4-BE49-F238E27FC236}">
                <a16:creationId xmlns:a16="http://schemas.microsoft.com/office/drawing/2014/main" id="{7F609353-1A2B-46D9-A1A7-EE8CD3D5A994}"/>
              </a:ext>
            </a:extLst>
          </p:cNvPr>
          <p:cNvSpPr>
            <a:spLocks xmlns:a="http://schemas.openxmlformats.org/drawingml/2006/main" noGrp="1"/>
          </p:cNvSpPr>
          <p:nvPr/>
        </p:nvSpPr>
        <p:spPr>
          <a:xfrm xmlns:a="http://schemas.openxmlformats.org/drawingml/2006/main">
            <a:off x="552450" y="5391150"/>
            <a:ext cx="11087100" cy="857250"/>
          </a:xfrm>
          <a:prstGeom xmlns:a="http://schemas.openxmlformats.org/drawingml/2006/main" prst="rect">
            <a:avLst/>
          </a:prstGeom>
          <a:solidFill xmlns:a="http://schemas.openxmlformats.org/drawingml/2006/main">
            <a:srgbClr val="E5F6FB"/>
          </a:solidFill>
          <a:ln xmlns:a="http://schemas.openxmlformats.org/drawingml/2006/main" w="9525">
            <a:solidFill>
              <a:srgbClr val="00A5D8"/>
            </a:solidFill>
            <a:prstDash val="solid"/>
          </a:ln>
        </p:spPr>
      </p:sp>
      <p:sp>
        <p:nvSpPr>
          <p:cNvPr id="42" name="">
            <a:extLst xmlns:a="http://schemas.openxmlformats.org/drawingml/2006/main">
              <a:ext uri="{FF2B5EF4-FFF2-40B4-BE49-F238E27FC236}">
                <a16:creationId xmlns:a16="http://schemas.microsoft.com/office/drawing/2014/main" id="{4CA8B709-56CA-4B17-BC93-620217A31104}"/>
              </a:ext>
            </a:extLst>
          </p:cNvPr>
          <p:cNvSpPr>
            <a:spLocks xmlns:a="http://schemas.openxmlformats.org/drawingml/2006/main" noGrp="1"/>
          </p:cNvSpPr>
          <p:nvPr/>
        </p:nvSpPr>
        <p:spPr>
          <a:xfrm xmlns:a="http://schemas.openxmlformats.org/drawingml/2006/main">
            <a:off x="742950" y="55245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007FA8"/>
                </a:solidFill>
                <a:latin typeface="Yu Gothic"/>
                <a:ea typeface="Yu Gothic"/>
                <a:cs typeface="Yu Gothic"/>
              </a:defRPr>
            </a:pPr>
            <a:r>
              <a:rPr sz="1050" b="1" i="0">
                <a:solidFill>
                  <a:srgbClr val="007FA8"/>
                </a:solidFill>
                <a:latin typeface="Yu Gothic"/>
                <a:ea typeface="Yu Gothic"/>
                <a:cs typeface="Yu Gothic"/>
              </a:rPr>
              <a:t>集中定数化の妥当性</a:t>
            </a:r>
          </a:p>
        </p:txBody>
      </p:sp>
      <p:sp>
        <p:nvSpPr>
          <p:cNvPr id="43" name="">
            <a:extLst xmlns:a="http://schemas.openxmlformats.org/drawingml/2006/main">
              <a:ext uri="{FF2B5EF4-FFF2-40B4-BE49-F238E27FC236}">
                <a16:creationId xmlns:a16="http://schemas.microsoft.com/office/drawing/2014/main" id="{AF40671A-B70C-4C38-98DF-E302276A7CFD}"/>
              </a:ext>
            </a:extLst>
          </p:cNvPr>
          <p:cNvSpPr>
            <a:spLocks xmlns:a="http://schemas.openxmlformats.org/drawingml/2006/main" noGrp="1"/>
          </p:cNvSpPr>
          <p:nvPr/>
        </p:nvSpPr>
        <p:spPr>
          <a:xfrm xmlns:a="http://schemas.openxmlformats.org/drawingml/2006/main">
            <a:off x="2686050" y="5495925"/>
            <a:ext cx="20955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650" b="1" i="0">
                <a:solidFill>
                  <a:srgbClr val="3F3F3F"/>
                </a:solidFill>
                <a:latin typeface="Cambria Math"/>
                <a:ea typeface="Cambria Math"/>
                <a:cs typeface="Cambria Math"/>
              </a:defRPr>
            </a:pPr>
            <a:r>
              <a:rPr sz="1650" b="1" i="0">
                <a:solidFill>
                  <a:srgbClr val="3F3F3F"/>
                </a:solidFill>
                <a:latin typeface="Cambria Math"/>
                <a:ea typeface="Cambria Math"/>
                <a:cs typeface="Cambria Math"/>
              </a:rPr>
              <a:t>Bi = hLᶜ/k ≪ 0.1</a:t>
            </a:r>
          </a:p>
        </p:txBody>
      </p:sp>
      <p:sp>
        <p:nvSpPr>
          <p:cNvPr id="44" name="">
            <a:extLst xmlns:a="http://schemas.openxmlformats.org/drawingml/2006/main">
              <a:ext uri="{FF2B5EF4-FFF2-40B4-BE49-F238E27FC236}">
                <a16:creationId xmlns:a16="http://schemas.microsoft.com/office/drawing/2014/main" id="{2D701D82-3863-42D9-8553-C25AC36AB3A8}"/>
              </a:ext>
            </a:extLst>
          </p:cNvPr>
          <p:cNvSpPr>
            <a:spLocks xmlns:a="http://schemas.openxmlformats.org/drawingml/2006/main" noGrp="1"/>
          </p:cNvSpPr>
          <p:nvPr/>
        </p:nvSpPr>
        <p:spPr>
          <a:xfrm xmlns:a="http://schemas.openxmlformats.org/drawingml/2006/main">
            <a:off x="4905375" y="5505450"/>
            <a:ext cx="647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を目安に各node内の温度一様性を確認。成立しない領域はnode分割、局所CAE、hotspot marginで補う。</a:t>
            </a:r>
          </a:p>
        </p:txBody>
      </p:sp>
      <p:sp>
        <p:nvSpPr>
          <p:cNvPr id="45" name="">
            <a:extLst xmlns:a="http://schemas.openxmlformats.org/drawingml/2006/main">
              <a:ext uri="{FF2B5EF4-FFF2-40B4-BE49-F238E27FC236}">
                <a16:creationId xmlns:a16="http://schemas.microsoft.com/office/drawing/2014/main" id="{E44E0046-878D-49EE-B4C1-23A700183883}"/>
              </a:ext>
            </a:extLst>
          </p:cNvPr>
          <p:cNvSpPr>
            <a:spLocks xmlns:a="http://schemas.openxmlformats.org/drawingml/2006/main" noGrp="1"/>
          </p:cNvSpPr>
          <p:nvPr/>
        </p:nvSpPr>
        <p:spPr>
          <a:xfrm xmlns:a="http://schemas.openxmlformats.org/drawingml/2006/main">
            <a:off x="742950" y="5867400"/>
            <a:ext cx="106394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実運用では energy residual  r_E = CΔT/Δt − (−LT + b) も監視し、入力欠落・単位不整合を検出する。</a:t>
            </a:r>
          </a:p>
        </p:txBody>
      </p:sp>
    </p:spTree>
    <p:extLst>
      <p:ext uri="{BB962C8B-B14F-4D97-AF65-F5344CB8AC3E}">
        <p14:creationId xmlns:p14="http://schemas.microsoft.com/office/powerpoint/2010/main" val="144536913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433517C5-9CCA-413B-8FE8-97B1053DD172}"/>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A6D9F80-2173-4301-98DF-51BAD4DAC185}"/>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THERMAL MODEL</a:t>
            </a:r>
          </a:p>
        </p:txBody>
      </p:sp>
      <p:sp>
        <p:nvSpPr>
          <p:cNvPr id="3" name="">
            <a:extLst xmlns:a="http://schemas.openxmlformats.org/drawingml/2006/main">
              <a:ext uri="{FF2B5EF4-FFF2-40B4-BE49-F238E27FC236}">
                <a16:creationId xmlns:a16="http://schemas.microsoft.com/office/drawing/2014/main" id="{CBE0446B-8187-4BAE-8ECD-FC55A166BDF5}"/>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96853"/>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熱経路をscalar lawとして共通化し、edge・source・boundaryへ同じ非負応答を配置する</a:t>
            </a:r>
          </a:p>
        </p:txBody>
      </p:sp>
      <p:sp>
        <p:nvSpPr>
          <p:cNvPr id="4" name="">
            <a:extLst xmlns:a="http://schemas.openxmlformats.org/drawingml/2006/main">
              <a:ext uri="{FF2B5EF4-FFF2-40B4-BE49-F238E27FC236}">
                <a16:creationId xmlns:a16="http://schemas.microsoft.com/office/drawing/2014/main" id="{8F46AAC8-EA4B-415B-8CBE-E997C9EF5EEE}"/>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装置部品名をcoreへ埋め込まず、入力依存性と物理単位をsystem.yamlで定義する</a:t>
            </a:r>
          </a:p>
        </p:txBody>
      </p:sp>
      <p:sp>
        <p:nvSpPr>
          <p:cNvPr id="5" name="">
            <a:extLst xmlns:a="http://schemas.openxmlformats.org/drawingml/2006/main">
              <a:ext uri="{FF2B5EF4-FFF2-40B4-BE49-F238E27FC236}">
                <a16:creationId xmlns:a16="http://schemas.microsoft.com/office/drawing/2014/main" id="{0F4B87C9-7B3B-4A8F-92BD-038B8761D48F}"/>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3370CAB6-58D6-4B38-959B-C4DD45DECD79}"/>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A5F0BD5C-15A2-403E-8ADC-75B5C867C5CB}"/>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23AAE28C-8FA9-4990-88DB-F0F48029A766}"/>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11</a:t>
            </a:r>
          </a:p>
        </p:txBody>
      </p:sp>
      <p:graphicFrame>
        <p:nvGraphicFramePr>
          <p:cNvPr id="40" name=""/>
          <p:cNvGraphicFramePr/>
          <p:nvPr/>
        </p:nvGraphicFramePr>
        <p:xfrm>
          <a:off xmlns:a="http://schemas.openxmlformats.org/drawingml/2006/main" x="552450" y="1457325"/>
          <a:ext xmlns:a="http://schemas.openxmlformats.org/drawingml/2006/main" cx="11087100" cy="2647950"/>
        </p:xfrm>
        <a:graphic xmlns:a="http://schemas.openxmlformats.org/drawingml/2006/main">
          <a:graphicData uri="http://schemas.openxmlformats.org/drawingml/2006/table">
            <a:tbl>
              <a:tblPr/>
              <a:tblGrid>
                <a:gridCol w="1638300"/>
                <a:gridCol w="2781300"/>
                <a:gridCol w="2457450"/>
                <a:gridCol w="1981200"/>
                <a:gridCol w="2228850"/>
              </a:tblGrid>
              <a:tr h="529590">
                <a:tc>
                  <a:txBody>
                    <a:bodyPr/>
                    <a:lstStyle/>
                    <a:p>
                      <a:r>
                        <a:rPr sz="938" b="1">
                          <a:solidFill>
                            <a:srgbClr val="FFFFFF"/>
                          </a:solidFill>
                          <a:latin typeface="Yu Gothic"/>
                          <a:ea typeface="Yu Gothic"/>
                          <a:cs typeface="Yu Gothic"/>
                        </a:rPr>
                        <a:t>要素</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構成式</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主な用途</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学習対象</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数値解法上の条件</a:t>
                      </a:r>
                    </a:p>
                  </a:txBody>
                  <a:tcPr marL="91440" marR="91440" marT="45720" marB="45720">
                    <a:solidFill>
                      <a:srgbClr val="007FA8"/>
                    </a:solidFill>
                  </a:tcPr>
                </a:tc>
              </a:tr>
              <a:tr h="529590">
                <a:tc>
                  <a:txBody>
                    <a:bodyPr/>
                    <a:lstStyle/>
                    <a:p>
                      <a:r>
                        <a:rPr sz="840" b="1">
                          <a:solidFill>
                            <a:srgbClr val="007FA8"/>
                          </a:solidFill>
                          <a:latin typeface="Yu Gothic"/>
                          <a:ea typeface="Yu Gothic"/>
                          <a:cs typeface="Yu Gothic"/>
                        </a:rPr>
                        <a:t>constant</a:t>
                      </a:r>
                    </a:p>
                  </a:txBody>
                  <a:tcPr marL="91440" marR="91440" marT="45720" marB="45720">
                    <a:solidFill>
                      <a:srgbClr val="FFFFFF"/>
                    </a:solidFill>
                  </a:tcPr>
                </a:tc>
                <a:tc>
                  <a:txBody>
                    <a:bodyPr/>
                    <a:lstStyle/>
                    <a:p>
                      <a:r>
                        <a:rPr sz="840">
                          <a:solidFill>
                            <a:srgbClr val="5B5B5B"/>
                          </a:solidFill>
                          <a:latin typeface="Yu Gothic"/>
                          <a:ea typeface="Yu Gothic"/>
                          <a:cs typeface="Yu Gothic"/>
                        </a:rPr>
                        <a:t>λ(u)=β</a:t>
                      </a:r>
                    </a:p>
                  </a:txBody>
                  <a:tcPr marL="91440" marR="91440" marT="45720" marB="45720">
                    <a:solidFill>
                      <a:srgbClr val="FFFFFF"/>
                    </a:solidFill>
                  </a:tcPr>
                </a:tc>
                <a:tc>
                  <a:txBody>
                    <a:bodyPr/>
                    <a:lstStyle/>
                    <a:p>
                      <a:r>
                        <a:rPr sz="840">
                          <a:solidFill>
                            <a:srgbClr val="5B5B5B"/>
                          </a:solidFill>
                          <a:latin typeface="Yu Gothic"/>
                          <a:ea typeface="Yu Gothic"/>
                          <a:cs typeface="Yu Gothic"/>
                        </a:rPr>
                        <a:t>固定G [W/K] / 固定q [W]</a:t>
                      </a:r>
                    </a:p>
                  </a:txBody>
                  <a:tcPr marL="91440" marR="91440" marT="45720" marB="45720">
                    <a:solidFill>
                      <a:srgbClr val="FFFFFF"/>
                    </a:solidFill>
                  </a:tcPr>
                </a:tc>
                <a:tc>
                  <a:txBody>
                    <a:bodyPr/>
                    <a:lstStyle/>
                    <a:p>
                      <a:r>
                        <a:rPr sz="840">
                          <a:solidFill>
                            <a:srgbClr val="5B5B5B"/>
                          </a:solidFill>
                          <a:latin typeface="Yu Gothic"/>
                          <a:ea typeface="Yu Gothic"/>
                          <a:cs typeface="Yu Gothic"/>
                        </a:rPr>
                        <a:t>β（任意）</a:t>
                      </a:r>
                    </a:p>
                  </a:txBody>
                  <a:tcPr marL="91440" marR="91440" marT="45720" marB="45720">
                    <a:solidFill>
                      <a:srgbClr val="FFFFFF"/>
                    </a:solidFill>
                  </a:tcPr>
                </a:tc>
                <a:tc>
                  <a:txBody>
                    <a:bodyPr/>
                    <a:lstStyle/>
                    <a:p>
                      <a:r>
                        <a:rPr sz="840">
                          <a:solidFill>
                            <a:srgbClr val="5B5B5B"/>
                          </a:solidFill>
                          <a:latin typeface="Yu Gothic"/>
                          <a:ea typeface="Yu Gothic"/>
                          <a:cs typeface="Yu Gothic"/>
                        </a:rPr>
                        <a:t>exact / implicit</a:t>
                      </a:r>
                    </a:p>
                  </a:txBody>
                  <a:tcPr marL="91440" marR="91440" marT="45720" marB="45720">
                    <a:solidFill>
                      <a:srgbClr val="FFFFFF"/>
                    </a:solidFill>
                  </a:tcPr>
                </a:tc>
              </a:tr>
              <a:tr h="529590">
                <a:tc>
                  <a:txBody>
                    <a:bodyPr/>
                    <a:lstStyle/>
                    <a:p>
                      <a:r>
                        <a:rPr sz="840" b="1">
                          <a:solidFill>
                            <a:srgbClr val="4D8710"/>
                          </a:solidFill>
                          <a:latin typeface="Yu Gothic"/>
                          <a:ea typeface="Yu Gothic"/>
                          <a:cs typeface="Yu Gothic"/>
                        </a:rPr>
                        <a:t>positive_part</a:t>
                      </a:r>
                    </a:p>
                  </a:txBody>
                  <a:tcPr marL="91440" marR="91440" marT="45720" marB="45720">
                    <a:solidFill>
                      <a:srgbClr val="F8F8F8"/>
                    </a:solidFill>
                  </a:tcPr>
                </a:tc>
                <a:tc>
                  <a:txBody>
                    <a:bodyPr/>
                    <a:lstStyle/>
                    <a:p>
                      <a:r>
                        <a:rPr sz="840">
                          <a:solidFill>
                            <a:srgbClr val="5B5B5B"/>
                          </a:solidFill>
                          <a:latin typeface="Yu Gothic"/>
                          <a:ea typeface="Yu Gothic"/>
                          <a:cs typeface="Yu Gothic"/>
                        </a:rPr>
                        <a:t>λ(u)=κ max(u−uₜₕ,0)</a:t>
                      </a:r>
                    </a:p>
                  </a:txBody>
                  <a:tcPr marL="91440" marR="91440" marT="45720" marB="45720">
                    <a:solidFill>
                      <a:srgbClr val="F8F8F8"/>
                    </a:solidFill>
                  </a:tcPr>
                </a:tc>
                <a:tc>
                  <a:txBody>
                    <a:bodyPr/>
                    <a:lstStyle/>
                    <a:p>
                      <a:r>
                        <a:rPr sz="840">
                          <a:solidFill>
                            <a:srgbClr val="5B5B5B"/>
                          </a:solidFill>
                          <a:latin typeface="Yu Gothic"/>
                          <a:ea typeface="Yu Gothic"/>
                          <a:cs typeface="Yu Gothic"/>
                        </a:rPr>
                        <a:t>heater・plasmaのdead band</a:t>
                      </a:r>
                    </a:p>
                  </a:txBody>
                  <a:tcPr marL="91440" marR="91440" marT="45720" marB="45720">
                    <a:solidFill>
                      <a:srgbClr val="F8F8F8"/>
                    </a:solidFill>
                  </a:tcPr>
                </a:tc>
                <a:tc>
                  <a:txBody>
                    <a:bodyPr/>
                    <a:lstStyle/>
                    <a:p>
                      <a:r>
                        <a:rPr sz="840">
                          <a:solidFill>
                            <a:srgbClr val="5B5B5B"/>
                          </a:solidFill>
                          <a:latin typeface="Yu Gothic"/>
                          <a:ea typeface="Yu Gothic"/>
                          <a:cs typeface="Yu Gothic"/>
                        </a:rPr>
                        <a:t>κ；uₜₕは固定</a:t>
                      </a:r>
                    </a:p>
                  </a:txBody>
                  <a:tcPr marL="91440" marR="91440" marT="45720" marB="45720">
                    <a:solidFill>
                      <a:srgbClr val="F8F8F8"/>
                    </a:solidFill>
                  </a:tcPr>
                </a:tc>
                <a:tc>
                  <a:txBody>
                    <a:bodyPr/>
                    <a:lstStyle/>
                    <a:p>
                      <a:r>
                        <a:rPr sz="840">
                          <a:solidFill>
                            <a:srgbClr val="5B5B5B"/>
                          </a:solidFill>
                          <a:latin typeface="Yu Gothic"/>
                          <a:ea typeface="Yu Gothic"/>
                          <a:cs typeface="Yu Gothic"/>
                        </a:rPr>
                        <a:t>lag付きsourceでもthreshold crossing分割</a:t>
                      </a:r>
                    </a:p>
                  </a:txBody>
                  <a:tcPr marL="91440" marR="91440" marT="45720" marB="45720">
                    <a:solidFill>
                      <a:srgbClr val="F8F8F8"/>
                    </a:solidFill>
                  </a:tcPr>
                </a:tc>
              </a:tr>
              <a:tr h="529590">
                <a:tc>
                  <a:txBody>
                    <a:bodyPr/>
                    <a:lstStyle/>
                    <a:p>
                      <a:r>
                        <a:rPr sz="840" b="1">
                          <a:solidFill>
                            <a:srgbClr val="7B2DAF"/>
                          </a:solidFill>
                          <a:latin typeface="Yu Gothic"/>
                          <a:ea typeface="Yu Gothic"/>
                          <a:cs typeface="Yu Gothic"/>
                        </a:rPr>
                        <a:t>power_law</a:t>
                      </a:r>
                    </a:p>
                  </a:txBody>
                  <a:tcPr marL="91440" marR="91440" marT="45720" marB="45720">
                    <a:solidFill>
                      <a:srgbClr val="FFFFFF"/>
                    </a:solidFill>
                  </a:tcPr>
                </a:tc>
                <a:tc>
                  <a:txBody>
                    <a:bodyPr/>
                    <a:lstStyle/>
                    <a:p>
                      <a:r>
                        <a:rPr sz="840">
                          <a:solidFill>
                            <a:srgbClr val="5B5B5B"/>
                          </a:solidFill>
                          <a:latin typeface="Yu Gothic"/>
                          <a:ea typeface="Yu Gothic"/>
                          <a:cs typeface="Yu Gothic"/>
                        </a:rPr>
                        <a:t>λ(u)=β+κ(max(u,0)/uᵣ)ⁿ</a:t>
                      </a:r>
                    </a:p>
                  </a:txBody>
                  <a:tcPr marL="91440" marR="91440" marT="45720" marB="45720">
                    <a:solidFill>
                      <a:srgbClr val="FFFFFF"/>
                    </a:solidFill>
                  </a:tcPr>
                </a:tc>
                <a:tc>
                  <a:txBody>
                    <a:bodyPr/>
                    <a:lstStyle/>
                    <a:p>
                      <a:r>
                        <a:rPr sz="840">
                          <a:solidFill>
                            <a:srgbClr val="5B5B5B"/>
                          </a:solidFill>
                          <a:latin typeface="Yu Gothic"/>
                          <a:ea typeface="Yu Gothic"/>
                          <a:cs typeface="Yu Gothic"/>
                        </a:rPr>
                        <a:t>流量・電力に対する非線形応答</a:t>
                      </a:r>
                    </a:p>
                  </a:txBody>
                  <a:tcPr marL="91440" marR="91440" marT="45720" marB="45720">
                    <a:solidFill>
                      <a:srgbClr val="FFFFFF"/>
                    </a:solidFill>
                  </a:tcPr>
                </a:tc>
                <a:tc>
                  <a:txBody>
                    <a:bodyPr/>
                    <a:lstStyle/>
                    <a:p>
                      <a:r>
                        <a:rPr sz="840">
                          <a:solidFill>
                            <a:srgbClr val="5B5B5B"/>
                          </a:solidFill>
                          <a:latin typeface="Yu Gothic"/>
                          <a:ea typeface="Yu Gothic"/>
                          <a:cs typeface="Yu Gothic"/>
                        </a:rPr>
                        <a:t>β, κ, nを個別指定</a:t>
                      </a:r>
                    </a:p>
                  </a:txBody>
                  <a:tcPr marL="91440" marR="91440" marT="45720" marB="45720">
                    <a:solidFill>
                      <a:srgbClr val="FFFFFF"/>
                    </a:solidFill>
                  </a:tcPr>
                </a:tc>
                <a:tc>
                  <a:txBody>
                    <a:bodyPr/>
                    <a:lstStyle/>
                    <a:p>
                      <a:r>
                        <a:rPr sz="840">
                          <a:solidFill>
                            <a:srgbClr val="5B5B5B"/>
                          </a:solidFill>
                          <a:latin typeface="Yu Gothic"/>
                          <a:ea typeface="Yu Gothic"/>
                          <a:cs typeface="Yu Gothic"/>
                        </a:rPr>
                        <a:t>lagged coefficientはimplicit</a:t>
                      </a:r>
                    </a:p>
                  </a:txBody>
                  <a:tcPr marL="91440" marR="91440" marT="45720" marB="45720">
                    <a:solidFill>
                      <a:srgbClr val="FFFFFF"/>
                    </a:solidFill>
                  </a:tcPr>
                </a:tc>
              </a:tr>
              <a:tr h="529590">
                <a:tc>
                  <a:txBody>
                    <a:bodyPr/>
                    <a:lstStyle/>
                    <a:p>
                      <a:r>
                        <a:rPr sz="840" b="1">
                          <a:solidFill>
                            <a:srgbClr val="E5A900"/>
                          </a:solidFill>
                          <a:latin typeface="Yu Gothic"/>
                          <a:ea typeface="Yu Gothic"/>
                          <a:cs typeface="Yu Gothic"/>
                        </a:rPr>
                        <a:t>actuator lag</a:t>
                      </a:r>
                    </a:p>
                  </a:txBody>
                  <a:tcPr marL="91440" marR="91440" marT="45720" marB="45720">
                    <a:solidFill>
                      <a:srgbClr val="F8F8F8"/>
                    </a:solidFill>
                  </a:tcPr>
                </a:tc>
                <a:tc>
                  <a:txBody>
                    <a:bodyPr/>
                    <a:lstStyle/>
                    <a:p>
                      <a:r>
                        <a:rPr sz="840">
                          <a:solidFill>
                            <a:srgbClr val="5B5B5B"/>
                          </a:solidFill>
                          <a:latin typeface="Yu Gothic"/>
                          <a:ea typeface="Yu Gothic"/>
                          <a:cs typeface="Yu Gothic"/>
                        </a:rPr>
                        <a:t>τ da/dt=u−a</a:t>
                      </a:r>
                    </a:p>
                  </a:txBody>
                  <a:tcPr marL="91440" marR="91440" marT="45720" marB="45720">
                    <a:solidFill>
                      <a:srgbClr val="F8F8F8"/>
                    </a:solidFill>
                  </a:tcPr>
                </a:tc>
                <a:tc>
                  <a:txBody>
                    <a:bodyPr/>
                    <a:lstStyle/>
                    <a:p>
                      <a:r>
                        <a:rPr sz="840">
                          <a:solidFill>
                            <a:srgbClr val="5B5B5B"/>
                          </a:solidFill>
                          <a:latin typeface="Yu Gothic"/>
                          <a:ea typeface="Yu Gothic"/>
                          <a:cs typeface="Yu Gothic"/>
                        </a:rPr>
                        <a:t>commandと実効熱入力の遅れ</a:t>
                      </a:r>
                    </a:p>
                  </a:txBody>
                  <a:tcPr marL="91440" marR="91440" marT="45720" marB="45720">
                    <a:solidFill>
                      <a:srgbClr val="F8F8F8"/>
                    </a:solidFill>
                  </a:tcPr>
                </a:tc>
                <a:tc>
                  <a:txBody>
                    <a:bodyPr/>
                    <a:lstStyle/>
                    <a:p>
                      <a:r>
                        <a:rPr sz="840">
                          <a:solidFill>
                            <a:srgbClr val="5B5B5B"/>
                          </a:solidFill>
                          <a:latin typeface="Yu Gothic"/>
                          <a:ea typeface="Yu Gothic"/>
                          <a:cs typeface="Yu Gothic"/>
                        </a:rPr>
                        <a:t>τ（正のprior倍率）</a:t>
                      </a:r>
                    </a:p>
                  </a:txBody>
                  <a:tcPr marL="91440" marR="91440" marT="45720" marB="45720">
                    <a:solidFill>
                      <a:srgbClr val="F8F8F8"/>
                    </a:solidFill>
                  </a:tcPr>
                </a:tc>
                <a:tc>
                  <a:txBody>
                    <a:bodyPr/>
                    <a:lstStyle/>
                    <a:p>
                      <a:r>
                        <a:rPr sz="840">
                          <a:solidFill>
                            <a:srgbClr val="5B5B5B"/>
                          </a:solidFill>
                          <a:latin typeface="Yu Gothic"/>
                          <a:ea typeface="Yu Gothic"/>
                          <a:cs typeface="Yu Gothic"/>
                        </a:rPr>
                        <a:t>区間内は解析解</a:t>
                      </a:r>
                    </a:p>
                  </a:txBody>
                  <a:tcPr marL="91440" marR="91440" marT="45720" marB="45720">
                    <a:solidFill>
                      <a:srgbClr val="F8F8F8"/>
                    </a:solidFill>
                  </a:tcPr>
                </a:tc>
              </a:tr>
            </a:tbl>
          </a:graphicData>
        </a:graphic>
      </p:graphicFrame>
      <p:sp>
        <p:nvSpPr>
          <p:cNvPr id="10" name="">
            <a:extLst xmlns:a="http://schemas.openxmlformats.org/drawingml/2006/main">
              <a:ext uri="{FF2B5EF4-FFF2-40B4-BE49-F238E27FC236}">
                <a16:creationId xmlns:a16="http://schemas.microsoft.com/office/drawing/2014/main" id="{A3B7C1CB-8D96-443E-BAC9-021A1E9A087B}"/>
              </a:ext>
            </a:extLst>
          </p:cNvPr>
          <p:cNvSpPr>
            <a:spLocks xmlns:a="http://schemas.openxmlformats.org/drawingml/2006/main" noGrp="1"/>
          </p:cNvSpPr>
          <p:nvPr/>
        </p:nvSpPr>
        <p:spPr>
          <a:xfrm xmlns:a="http://schemas.openxmlformats.org/drawingml/2006/main">
            <a:off x="552450" y="4324350"/>
            <a:ext cx="1524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3F3F3F"/>
                </a:solidFill>
                <a:latin typeface="Yu Gothic"/>
                <a:ea typeface="Yu Gothic"/>
                <a:cs typeface="Yu Gothic"/>
              </a:defRPr>
            </a:pPr>
            <a:r>
              <a:rPr sz="1275" b="1" i="0">
                <a:solidFill>
                  <a:srgbClr val="3F3F3F"/>
                </a:solidFill>
                <a:latin typeface="Yu Gothic"/>
                <a:ea typeface="Yu Gothic"/>
                <a:cs typeface="Yu Gothic"/>
              </a:rPr>
              <a:t>model assembly</a:t>
            </a:r>
          </a:p>
        </p:txBody>
      </p:sp>
      <p:sp>
        <p:nvSpPr>
          <p:cNvPr id="11" name="">
            <a:extLst xmlns:a="http://schemas.openxmlformats.org/drawingml/2006/main">
              <a:ext uri="{FF2B5EF4-FFF2-40B4-BE49-F238E27FC236}">
                <a16:creationId xmlns:a16="http://schemas.microsoft.com/office/drawing/2014/main" id="{22689FE8-5931-473D-9D7A-3E2DB05B55D3}"/>
              </a:ext>
            </a:extLst>
          </p:cNvPr>
          <p:cNvSpPr>
            <a:spLocks xmlns:a="http://schemas.openxmlformats.org/drawingml/2006/main" noGrp="1"/>
          </p:cNvSpPr>
          <p:nvPr/>
        </p:nvSpPr>
        <p:spPr>
          <a:xfrm xmlns:a="http://schemas.openxmlformats.org/drawingml/2006/main">
            <a:off x="552450" y="4733925"/>
            <a:ext cx="1866900" cy="9429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2" name="">
            <a:extLst xmlns:a="http://schemas.openxmlformats.org/drawingml/2006/main">
              <a:ext uri="{FF2B5EF4-FFF2-40B4-BE49-F238E27FC236}">
                <a16:creationId xmlns:a16="http://schemas.microsoft.com/office/drawing/2014/main" id="{DDF0F465-CF19-47A9-B6DE-F90456955912}"/>
              </a:ext>
            </a:extLst>
          </p:cNvPr>
          <p:cNvSpPr>
            <a:spLocks xmlns:a="http://schemas.openxmlformats.org/drawingml/2006/main" noGrp="1"/>
          </p:cNvSpPr>
          <p:nvPr/>
        </p:nvSpPr>
        <p:spPr>
          <a:xfrm xmlns:a="http://schemas.openxmlformats.org/drawingml/2006/main">
            <a:off x="714375" y="4886325"/>
            <a:ext cx="1543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3F3F3F"/>
                </a:solidFill>
                <a:latin typeface="Cambria Math"/>
                <a:ea typeface="Cambria Math"/>
                <a:cs typeface="Cambria Math"/>
              </a:defRPr>
            </a:pPr>
            <a:r>
              <a:rPr sz="1200" b="1" i="0">
                <a:solidFill>
                  <a:srgbClr val="3F3F3F"/>
                </a:solidFill>
                <a:latin typeface="Cambria Math"/>
                <a:ea typeface="Cambria Math"/>
                <a:cs typeface="Cambria Math"/>
              </a:rPr>
              <a:t>command u(t)</a:t>
            </a:r>
          </a:p>
        </p:txBody>
      </p:sp>
      <p:sp>
        <p:nvSpPr>
          <p:cNvPr id="13" name="">
            <a:extLst xmlns:a="http://schemas.openxmlformats.org/drawingml/2006/main">
              <a:ext uri="{FF2B5EF4-FFF2-40B4-BE49-F238E27FC236}">
                <a16:creationId xmlns:a16="http://schemas.microsoft.com/office/drawing/2014/main" id="{2AB0E310-7443-47A1-94B9-FC3EC0B37765}"/>
              </a:ext>
            </a:extLst>
          </p:cNvPr>
          <p:cNvSpPr>
            <a:spLocks xmlns:a="http://schemas.openxmlformats.org/drawingml/2006/main" noGrp="1"/>
          </p:cNvSpPr>
          <p:nvPr/>
        </p:nvSpPr>
        <p:spPr>
          <a:xfrm xmlns:a="http://schemas.openxmlformats.org/drawingml/2006/main">
            <a:off x="714375" y="5238750"/>
            <a:ext cx="1543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10" b="0" i="0">
                <a:solidFill>
                  <a:srgbClr val="777777"/>
                </a:solidFill>
                <a:latin typeface="Yu Gothic"/>
                <a:ea typeface="Yu Gothic"/>
                <a:cs typeface="Yu Gothic"/>
              </a:defRPr>
            </a:pPr>
            <a:r>
              <a:rPr sz="810" b="0" i="0">
                <a:solidFill>
                  <a:srgbClr val="777777"/>
                </a:solidFill>
                <a:latin typeface="Yu Gothic"/>
                <a:ea typeface="Yu Gothic"/>
                <a:cs typeface="Yu Gothic"/>
              </a:rPr>
              <a:t>left ZOH / variable Δt</a:t>
            </a:r>
          </a:p>
        </p:txBody>
      </p:sp>
      <p:sp>
        <p:nvSpPr>
          <p:cNvPr id="14" name="">
            <a:extLst xmlns:a="http://schemas.openxmlformats.org/drawingml/2006/main">
              <a:ext uri="{FF2B5EF4-FFF2-40B4-BE49-F238E27FC236}">
                <a16:creationId xmlns:a16="http://schemas.microsoft.com/office/drawing/2014/main" id="{EF91A167-154C-4A9B-9784-A792ED038785}"/>
              </a:ext>
            </a:extLst>
          </p:cNvPr>
          <p:cNvSpPr>
            <a:spLocks xmlns:a="http://schemas.openxmlformats.org/drawingml/2006/main" noGrp="1"/>
          </p:cNvSpPr>
          <p:nvPr/>
        </p:nvSpPr>
        <p:spPr>
          <a:xfrm xmlns:a="http://schemas.openxmlformats.org/drawingml/2006/main">
            <a:off x="2857500" y="4733925"/>
            <a:ext cx="1866900" cy="942975"/>
          </a:xfrm>
          <a:prstGeom xmlns:a="http://schemas.openxmlformats.org/drawingml/2006/main" prst="rect">
            <a:avLst/>
          </a:prstGeom>
          <a:solidFill xmlns:a="http://schemas.openxmlformats.org/drawingml/2006/main">
            <a:srgbClr val="FFF5D7"/>
          </a:solidFill>
          <a:ln xmlns:a="http://schemas.openxmlformats.org/drawingml/2006/main" w="9525">
            <a:solidFill>
              <a:srgbClr val="E5A900"/>
            </a:solidFill>
            <a:prstDash val="solid"/>
          </a:ln>
        </p:spPr>
      </p:sp>
      <p:sp>
        <p:nvSpPr>
          <p:cNvPr id="15" name="">
            <a:extLst xmlns:a="http://schemas.openxmlformats.org/drawingml/2006/main">
              <a:ext uri="{FF2B5EF4-FFF2-40B4-BE49-F238E27FC236}">
                <a16:creationId xmlns:a16="http://schemas.microsoft.com/office/drawing/2014/main" id="{DA5DF05E-C261-48B8-98C6-BBFD821E4CD7}"/>
              </a:ext>
            </a:extLst>
          </p:cNvPr>
          <p:cNvSpPr>
            <a:spLocks xmlns:a="http://schemas.openxmlformats.org/drawingml/2006/main" noGrp="1"/>
          </p:cNvSpPr>
          <p:nvPr/>
        </p:nvSpPr>
        <p:spPr>
          <a:xfrm xmlns:a="http://schemas.openxmlformats.org/drawingml/2006/main">
            <a:off x="3019425" y="4886325"/>
            <a:ext cx="1543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806000"/>
                </a:solidFill>
                <a:latin typeface="Cambria Math"/>
                <a:ea typeface="Cambria Math"/>
                <a:cs typeface="Cambria Math"/>
              </a:defRPr>
            </a:pPr>
            <a:r>
              <a:rPr sz="1200" b="1" i="0">
                <a:solidFill>
                  <a:srgbClr val="806000"/>
                </a:solidFill>
                <a:latin typeface="Cambria Math"/>
                <a:ea typeface="Cambria Math"/>
                <a:cs typeface="Cambria Math"/>
              </a:rPr>
              <a:t>actuator a(t)</a:t>
            </a:r>
          </a:p>
        </p:txBody>
      </p:sp>
      <p:sp>
        <p:nvSpPr>
          <p:cNvPr id="16" name="">
            <a:extLst xmlns:a="http://schemas.openxmlformats.org/drawingml/2006/main">
              <a:ext uri="{FF2B5EF4-FFF2-40B4-BE49-F238E27FC236}">
                <a16:creationId xmlns:a16="http://schemas.microsoft.com/office/drawing/2014/main" id="{3200FB78-60C1-4DAB-B93A-957800576B12}"/>
              </a:ext>
            </a:extLst>
          </p:cNvPr>
          <p:cNvSpPr>
            <a:spLocks xmlns:a="http://schemas.openxmlformats.org/drawingml/2006/main" noGrp="1"/>
          </p:cNvSpPr>
          <p:nvPr/>
        </p:nvSpPr>
        <p:spPr>
          <a:xfrm xmlns:a="http://schemas.openxmlformats.org/drawingml/2006/main">
            <a:off x="3019425" y="5238750"/>
            <a:ext cx="1543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τ=0 direct / τ&gt;0 lag</a:t>
            </a:r>
          </a:p>
        </p:txBody>
      </p:sp>
      <p:sp>
        <p:nvSpPr>
          <p:cNvPr id="17" name="">
            <a:extLst xmlns:a="http://schemas.openxmlformats.org/drawingml/2006/main">
              <a:ext uri="{FF2B5EF4-FFF2-40B4-BE49-F238E27FC236}">
                <a16:creationId xmlns:a16="http://schemas.microsoft.com/office/drawing/2014/main" id="{C2106AC2-6082-483A-86BF-AE055761FBC0}"/>
              </a:ext>
            </a:extLst>
          </p:cNvPr>
          <p:cNvSpPr>
            <a:spLocks xmlns:a="http://schemas.openxmlformats.org/drawingml/2006/main" noGrp="1"/>
          </p:cNvSpPr>
          <p:nvPr/>
        </p:nvSpPr>
        <p:spPr>
          <a:xfrm xmlns:a="http://schemas.openxmlformats.org/drawingml/2006/main">
            <a:off x="5162550" y="4733925"/>
            <a:ext cx="1866900" cy="942975"/>
          </a:xfrm>
          <a:prstGeom xmlns:a="http://schemas.openxmlformats.org/drawingml/2006/main" prst="rect">
            <a:avLst/>
          </a:prstGeom>
          <a:solidFill xmlns:a="http://schemas.openxmlformats.org/drawingml/2006/main">
            <a:srgbClr val="E5F6FB"/>
          </a:solidFill>
          <a:ln xmlns:a="http://schemas.openxmlformats.org/drawingml/2006/main" w="9525">
            <a:solidFill>
              <a:srgbClr val="00A5D8"/>
            </a:solidFill>
            <a:prstDash val="solid"/>
          </a:ln>
        </p:spPr>
      </p:sp>
      <p:sp>
        <p:nvSpPr>
          <p:cNvPr id="18" name="">
            <a:extLst xmlns:a="http://schemas.openxmlformats.org/drawingml/2006/main">
              <a:ext uri="{FF2B5EF4-FFF2-40B4-BE49-F238E27FC236}">
                <a16:creationId xmlns:a16="http://schemas.microsoft.com/office/drawing/2014/main" id="{A69282A2-DE1E-4589-8628-47808234C576}"/>
              </a:ext>
            </a:extLst>
          </p:cNvPr>
          <p:cNvSpPr>
            <a:spLocks xmlns:a="http://schemas.openxmlformats.org/drawingml/2006/main" noGrp="1"/>
          </p:cNvSpPr>
          <p:nvPr/>
        </p:nvSpPr>
        <p:spPr>
          <a:xfrm xmlns:a="http://schemas.openxmlformats.org/drawingml/2006/main">
            <a:off x="5324475" y="4886325"/>
            <a:ext cx="1543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007FA8"/>
                </a:solidFill>
                <a:latin typeface="Cambria Math"/>
                <a:ea typeface="Cambria Math"/>
                <a:cs typeface="Cambria Math"/>
              </a:defRPr>
            </a:pPr>
            <a:r>
              <a:rPr sz="1200" b="1" i="0">
                <a:solidFill>
                  <a:srgbClr val="007FA8"/>
                </a:solidFill>
                <a:latin typeface="Cambria Math"/>
                <a:ea typeface="Cambria Math"/>
                <a:cs typeface="Cambria Math"/>
              </a:rPr>
              <a:t>scalar laws λ(a)</a:t>
            </a:r>
          </a:p>
        </p:txBody>
      </p:sp>
      <p:sp>
        <p:nvSpPr>
          <p:cNvPr id="19" name="">
            <a:extLst xmlns:a="http://schemas.openxmlformats.org/drawingml/2006/main">
              <a:ext uri="{FF2B5EF4-FFF2-40B4-BE49-F238E27FC236}">
                <a16:creationId xmlns:a16="http://schemas.microsoft.com/office/drawing/2014/main" id="{FCD5550C-2A35-41DC-B22D-4863755D4F87}"/>
              </a:ext>
            </a:extLst>
          </p:cNvPr>
          <p:cNvSpPr>
            <a:spLocks xmlns:a="http://schemas.openxmlformats.org/drawingml/2006/main" noGrp="1"/>
          </p:cNvSpPr>
          <p:nvPr/>
        </p:nvSpPr>
        <p:spPr>
          <a:xfrm xmlns:a="http://schemas.openxmlformats.org/drawingml/2006/main">
            <a:off x="5324475" y="5238750"/>
            <a:ext cx="1543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edge / source / boundary</a:t>
            </a:r>
          </a:p>
        </p:txBody>
      </p:sp>
      <p:sp>
        <p:nvSpPr>
          <p:cNvPr id="20" name="">
            <a:extLst xmlns:a="http://schemas.openxmlformats.org/drawingml/2006/main">
              <a:ext uri="{FF2B5EF4-FFF2-40B4-BE49-F238E27FC236}">
                <a16:creationId xmlns:a16="http://schemas.microsoft.com/office/drawing/2014/main" id="{F3BFE7DE-FDAD-41B5-B164-715CDC2B6E60}"/>
              </a:ext>
            </a:extLst>
          </p:cNvPr>
          <p:cNvSpPr>
            <a:spLocks xmlns:a="http://schemas.openxmlformats.org/drawingml/2006/main" noGrp="1"/>
          </p:cNvSpPr>
          <p:nvPr/>
        </p:nvSpPr>
        <p:spPr>
          <a:xfrm xmlns:a="http://schemas.openxmlformats.org/drawingml/2006/main">
            <a:off x="7467600" y="4733925"/>
            <a:ext cx="1866900" cy="942975"/>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21" name="">
            <a:extLst xmlns:a="http://schemas.openxmlformats.org/drawingml/2006/main">
              <a:ext uri="{FF2B5EF4-FFF2-40B4-BE49-F238E27FC236}">
                <a16:creationId xmlns:a16="http://schemas.microsoft.com/office/drawing/2014/main" id="{4DBA6D3E-155D-442C-B183-00B5D576028F}"/>
              </a:ext>
            </a:extLst>
          </p:cNvPr>
          <p:cNvSpPr>
            <a:spLocks xmlns:a="http://schemas.openxmlformats.org/drawingml/2006/main" noGrp="1"/>
          </p:cNvSpPr>
          <p:nvPr/>
        </p:nvSpPr>
        <p:spPr>
          <a:xfrm xmlns:a="http://schemas.openxmlformats.org/drawingml/2006/main">
            <a:off x="7629525" y="4886325"/>
            <a:ext cx="1543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4D8710"/>
                </a:solidFill>
                <a:latin typeface="Cambria Math"/>
                <a:ea typeface="Cambria Math"/>
                <a:cs typeface="Cambria Math"/>
              </a:defRPr>
            </a:pPr>
            <a:r>
              <a:rPr sz="1275" b="1" i="0">
                <a:solidFill>
                  <a:srgbClr val="4D8710"/>
                </a:solidFill>
                <a:latin typeface="Cambria Math"/>
                <a:ea typeface="Cambria Math"/>
                <a:cs typeface="Cambria Math"/>
              </a:rPr>
              <a:t>A(a), b(a)</a:t>
            </a:r>
          </a:p>
        </p:txBody>
      </p:sp>
      <p:sp>
        <p:nvSpPr>
          <p:cNvPr id="22" name="">
            <a:extLst xmlns:a="http://schemas.openxmlformats.org/drawingml/2006/main">
              <a:ext uri="{FF2B5EF4-FFF2-40B4-BE49-F238E27FC236}">
                <a16:creationId xmlns:a16="http://schemas.microsoft.com/office/drawing/2014/main" id="{A6DBD6D9-F96F-4663-A501-219DDE3F9E47}"/>
              </a:ext>
            </a:extLst>
          </p:cNvPr>
          <p:cNvSpPr>
            <a:spLocks xmlns:a="http://schemas.openxmlformats.org/drawingml/2006/main" noGrp="1"/>
          </p:cNvSpPr>
          <p:nvPr/>
        </p:nvSpPr>
        <p:spPr>
          <a:xfrm xmlns:a="http://schemas.openxmlformats.org/drawingml/2006/main">
            <a:off x="7629525" y="5238750"/>
            <a:ext cx="1543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C⁻¹L / heat forcing</a:t>
            </a:r>
          </a:p>
        </p:txBody>
      </p:sp>
      <p:sp>
        <p:nvSpPr>
          <p:cNvPr id="23" name="">
            <a:extLst xmlns:a="http://schemas.openxmlformats.org/drawingml/2006/main">
              <a:ext uri="{FF2B5EF4-FFF2-40B4-BE49-F238E27FC236}">
                <a16:creationId xmlns:a16="http://schemas.microsoft.com/office/drawing/2014/main" id="{B316C58B-0FA0-4F2A-9E56-58442E268896}"/>
              </a:ext>
            </a:extLst>
          </p:cNvPr>
          <p:cNvSpPr>
            <a:spLocks xmlns:a="http://schemas.openxmlformats.org/drawingml/2006/main" noGrp="1"/>
          </p:cNvSpPr>
          <p:nvPr/>
        </p:nvSpPr>
        <p:spPr>
          <a:xfrm xmlns:a="http://schemas.openxmlformats.org/drawingml/2006/main">
            <a:off x="9772650" y="4733925"/>
            <a:ext cx="1866900" cy="94297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8A91714-5C71-4B55-9611-13F718AEC649}"/>
              </a:ext>
            </a:extLst>
          </p:cNvPr>
          <p:cNvSpPr>
            <a:spLocks xmlns:a="http://schemas.openxmlformats.org/drawingml/2006/main" noGrp="1"/>
          </p:cNvSpPr>
          <p:nvPr/>
        </p:nvSpPr>
        <p:spPr>
          <a:xfrm xmlns:a="http://schemas.openxmlformats.org/drawingml/2006/main">
            <a:off x="9934575" y="4867275"/>
            <a:ext cx="15430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0000"/>
          </a:bodyPr>
          <a:lstStyle xmlns:a="http://schemas.openxmlformats.org/drawingml/2006/main"/>
          <a:p xmlns:a="http://schemas.openxmlformats.org/drawingml/2006/main">
            <a:pPr algn="ctr">
              <a:lnSpc>
                <a:spcPct val="100000"/>
              </a:lnSpc>
              <a:buNone/>
              <a:defRPr sz="1875" b="1" i="0">
                <a:solidFill>
                  <a:srgbClr val="FFFFFF"/>
                </a:solidFill>
                <a:latin typeface="Cambria Math"/>
                <a:ea typeface="Cambria Math"/>
                <a:cs typeface="Cambria Math"/>
              </a:defRPr>
            </a:pPr>
            <a:r>
              <a:rPr sz="1875" b="1" i="0">
                <a:solidFill>
                  <a:srgbClr val="FFFFFF"/>
                </a:solidFill>
                <a:latin typeface="Cambria Math"/>
                <a:ea typeface="Cambria Math"/>
                <a:cs typeface="Cambria Math"/>
              </a:rPr>
              <a:t>Tₖ₊₁</a:t>
            </a:r>
          </a:p>
        </p:txBody>
      </p:sp>
      <p:sp>
        <p:nvSpPr>
          <p:cNvPr id="25" name="">
            <a:extLst xmlns:a="http://schemas.openxmlformats.org/drawingml/2006/main">
              <a:ext uri="{FF2B5EF4-FFF2-40B4-BE49-F238E27FC236}">
                <a16:creationId xmlns:a16="http://schemas.microsoft.com/office/drawing/2014/main" id="{43D46E8B-F90D-4E7A-819A-1E37467663B9}"/>
              </a:ext>
            </a:extLst>
          </p:cNvPr>
          <p:cNvSpPr>
            <a:spLocks xmlns:a="http://schemas.openxmlformats.org/drawingml/2006/main" noGrp="1"/>
          </p:cNvSpPr>
          <p:nvPr/>
        </p:nvSpPr>
        <p:spPr>
          <a:xfrm xmlns:a="http://schemas.openxmlformats.org/drawingml/2006/main">
            <a:off x="9934575" y="5238750"/>
            <a:ext cx="1543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25" b="0" i="0">
                <a:solidFill>
                  <a:srgbClr val="D8D0E8"/>
                </a:solidFill>
                <a:latin typeface="Yu Gothic"/>
                <a:ea typeface="Yu Gothic"/>
                <a:cs typeface="Yu Gothic"/>
              </a:defRPr>
            </a:pPr>
            <a:r>
              <a:rPr sz="825" b="0" i="0">
                <a:solidFill>
                  <a:srgbClr val="D8D0E8"/>
                </a:solidFill>
                <a:latin typeface="Yu Gothic"/>
                <a:ea typeface="Yu Gothic"/>
                <a:cs typeface="Yu Gothic"/>
              </a:rPr>
              <a:t>exact / implicit</a:t>
            </a:r>
          </a:p>
        </p:txBody>
      </p:sp>
      <p:cxnSp>
        <p:nvCxnSpPr>
          <p:cNvPr id="57" name=""/>
          <p:cNvCxnSpPr>
            <a:stCxn xmlns:a="http://schemas.openxmlformats.org/drawingml/2006/main" id="11" idx="3"/>
            <a:endCxn xmlns:a="http://schemas.openxmlformats.org/drawingml/2006/main" id="14" idx="1"/>
          </p:cNvCxnSpPr>
          <p:nvPr/>
        </p:nvCxnSpPr>
        <p:spPr>
          <a:xfrm xmlns:a="http://schemas.openxmlformats.org/drawingml/2006/main">
            <a:off x="2419350" y="5205413"/>
            <a:ext cx="4381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58" name=""/>
          <p:cNvCxnSpPr>
            <a:stCxn xmlns:a="http://schemas.openxmlformats.org/drawingml/2006/main" id="14" idx="3"/>
            <a:endCxn xmlns:a="http://schemas.openxmlformats.org/drawingml/2006/main" id="17" idx="1"/>
          </p:cNvCxnSpPr>
          <p:nvPr/>
        </p:nvCxnSpPr>
        <p:spPr>
          <a:xfrm xmlns:a="http://schemas.openxmlformats.org/drawingml/2006/main">
            <a:off x="4724400" y="5205413"/>
            <a:ext cx="4381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59" name=""/>
          <p:cNvCxnSpPr>
            <a:stCxn xmlns:a="http://schemas.openxmlformats.org/drawingml/2006/main" id="17" idx="3"/>
            <a:endCxn xmlns:a="http://schemas.openxmlformats.org/drawingml/2006/main" id="20" idx="1"/>
          </p:cNvCxnSpPr>
          <p:nvPr/>
        </p:nvCxnSpPr>
        <p:spPr>
          <a:xfrm xmlns:a="http://schemas.openxmlformats.org/drawingml/2006/main">
            <a:off x="7029450" y="5205413"/>
            <a:ext cx="4381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60" name=""/>
          <p:cNvCxnSpPr>
            <a:stCxn xmlns:a="http://schemas.openxmlformats.org/drawingml/2006/main" id="20" idx="3"/>
            <a:endCxn xmlns:a="http://schemas.openxmlformats.org/drawingml/2006/main" id="23" idx="1"/>
          </p:cNvCxnSpPr>
          <p:nvPr/>
        </p:nvCxnSpPr>
        <p:spPr>
          <a:xfrm xmlns:a="http://schemas.openxmlformats.org/drawingml/2006/main">
            <a:off x="9334500" y="5205413"/>
            <a:ext cx="4381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sp>
        <p:nvSpPr>
          <p:cNvPr id="30" name="">
            <a:extLst xmlns:a="http://schemas.openxmlformats.org/drawingml/2006/main">
              <a:ext uri="{FF2B5EF4-FFF2-40B4-BE49-F238E27FC236}">
                <a16:creationId xmlns:a16="http://schemas.microsoft.com/office/drawing/2014/main" id="{709A0905-3F5E-4C6B-8F64-4D5FA80B34E5}"/>
              </a:ext>
            </a:extLst>
          </p:cNvPr>
          <p:cNvSpPr>
            <a:spLocks xmlns:a="http://schemas.openxmlformats.org/drawingml/2006/main" noGrp="1"/>
          </p:cNvSpPr>
          <p:nvPr/>
        </p:nvSpPr>
        <p:spPr>
          <a:xfrm xmlns:a="http://schemas.openxmlformats.org/drawingml/2006/main">
            <a:off x="552450" y="5867400"/>
            <a:ext cx="11087100" cy="381000"/>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31" name="">
            <a:extLst xmlns:a="http://schemas.openxmlformats.org/drawingml/2006/main">
              <a:ext uri="{FF2B5EF4-FFF2-40B4-BE49-F238E27FC236}">
                <a16:creationId xmlns:a16="http://schemas.microsoft.com/office/drawing/2014/main" id="{ED5D80D6-EF75-4BE4-A66A-CB93358F1A26}"/>
              </a:ext>
            </a:extLst>
          </p:cNvPr>
          <p:cNvSpPr>
            <a:spLocks xmlns:a="http://schemas.openxmlformats.org/drawingml/2006/main" noGrp="1"/>
          </p:cNvSpPr>
          <p:nvPr/>
        </p:nvSpPr>
        <p:spPr>
          <a:xfrm xmlns:a="http://schemas.openxmlformats.org/drawingml/2006/main">
            <a:off x="695325" y="5934075"/>
            <a:ext cx="10801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85" b="1" i="0">
                <a:solidFill>
                  <a:srgbClr val="C4493D"/>
                </a:solidFill>
                <a:latin typeface="Yu Gothic"/>
                <a:ea typeface="Yu Gothic"/>
                <a:cs typeface="Yu Gothic"/>
              </a:defRPr>
            </a:pPr>
            <a:r>
              <a:rPr sz="885" b="1" i="0">
                <a:solidFill>
                  <a:srgbClr val="C4493D"/>
                </a:solidFill>
                <a:latin typeface="Yu Gothic"/>
                <a:ea typeface="Yu Gothic"/>
                <a:cs typeface="Yu Gothic"/>
              </a:rPr>
              <a:t>現行境界：温度状態には線形。T⁴放射、相変化、温度依存物性は独立したfirst-class termとしては未実装。</a:t>
            </a:r>
          </a:p>
        </p:txBody>
      </p:sp>
    </p:spTree>
    <p:extLst>
      <p:ext uri="{BB962C8B-B14F-4D97-AF65-F5344CB8AC3E}">
        <p14:creationId xmlns:p14="http://schemas.microsoft.com/office/powerpoint/2010/main" val="9497887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60EBE818-C687-4871-9EFE-317A647D9BDE}"/>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9BE1E71-21D0-432F-9033-CECE00F3027B}"/>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DYNAMIC INTERPRETATION</a:t>
            </a:r>
          </a:p>
        </p:txBody>
      </p:sp>
      <p:sp>
        <p:nvSpPr>
          <p:cNvPr id="3" name="">
            <a:extLst xmlns:a="http://schemas.openxmlformats.org/drawingml/2006/main">
              <a:ext uri="{FF2B5EF4-FFF2-40B4-BE49-F238E27FC236}">
                <a16:creationId xmlns:a16="http://schemas.microsoft.com/office/drawing/2014/main" id="{AB68886A-B9E1-47CC-A23C-E05779715724}"/>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99698"/>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固有時定数は0.186 s、2.03 s、425 s — 同じデータで3モードを識別できるとは限らない</a:t>
            </a:r>
          </a:p>
        </p:txBody>
      </p:sp>
      <p:sp>
        <p:nvSpPr>
          <p:cNvPr id="4" name="">
            <a:extLst xmlns:a="http://schemas.openxmlformats.org/drawingml/2006/main">
              <a:ext uri="{FF2B5EF4-FFF2-40B4-BE49-F238E27FC236}">
                <a16:creationId xmlns:a16="http://schemas.microsoft.com/office/drawing/2014/main" id="{AA409A0D-0EEA-49E3-A6DF-3BE36602DD48}"/>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exact積分は数値誤差を抑えるが、samplingで失われた情報は復元しない</a:t>
            </a:r>
          </a:p>
        </p:txBody>
      </p:sp>
      <p:sp>
        <p:nvSpPr>
          <p:cNvPr id="5" name="">
            <a:extLst xmlns:a="http://schemas.openxmlformats.org/drawingml/2006/main">
              <a:ext uri="{FF2B5EF4-FFF2-40B4-BE49-F238E27FC236}">
                <a16:creationId xmlns:a16="http://schemas.microsoft.com/office/drawing/2014/main" id="{1E54C3ED-9559-4AFF-A29A-6D45645962BC}"/>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90F1D346-001E-4A23-8FFC-E3ECAA6C57A0}"/>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2676CDA0-00FB-4C6D-BEE7-A932EC2B670C}"/>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7EE55F52-FB02-4CE7-947F-89D54A4440DD}"/>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12</a:t>
            </a:r>
          </a:p>
        </p:txBody>
      </p:sp>
      <p:sp>
        <p:nvSpPr>
          <p:cNvPr id="9" name="">
            <a:extLst xmlns:a="http://schemas.openxmlformats.org/drawingml/2006/main">
              <a:ext uri="{FF2B5EF4-FFF2-40B4-BE49-F238E27FC236}">
                <a16:creationId xmlns:a16="http://schemas.microsoft.com/office/drawing/2014/main" id="{089B888B-FB1B-4F5A-BC3F-F459FFDF71B5}"/>
              </a:ext>
            </a:extLst>
          </p:cNvPr>
          <p:cNvSpPr>
            <a:spLocks xmlns:a="http://schemas.openxmlformats.org/drawingml/2006/main" noGrp="1"/>
          </p:cNvSpPr>
          <p:nvPr/>
        </p:nvSpPr>
        <p:spPr>
          <a:xfrm xmlns:a="http://schemas.openxmlformats.org/drawingml/2006/main">
            <a:off x="552450" y="1438275"/>
            <a:ext cx="11087100" cy="2876550"/>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25C3C93B-949B-45BA-B49E-811DC67FDE43}"/>
              </a:ext>
            </a:extLst>
          </p:cNvPr>
          <p:cNvSpPr>
            <a:spLocks xmlns:a="http://schemas.openxmlformats.org/drawingml/2006/main" noGrp="1"/>
          </p:cNvSpPr>
          <p:nvPr/>
        </p:nvSpPr>
        <p:spPr>
          <a:xfrm xmlns:a="http://schemas.openxmlformats.org/drawingml/2006/main">
            <a:off x="742950" y="16002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007FA8"/>
                </a:solidFill>
                <a:latin typeface="Yu Gothic"/>
                <a:ea typeface="Yu Gothic"/>
                <a:cs typeface="Yu Gothic"/>
              </a:defRPr>
            </a:pPr>
            <a:r>
              <a:rPr sz="975" b="1" i="0">
                <a:solidFill>
                  <a:srgbClr val="007FA8"/>
                </a:solidFill>
                <a:latin typeface="Yu Gothic"/>
                <a:ea typeface="Yu Gothic"/>
                <a:cs typeface="Yu Gothic"/>
              </a:rPr>
              <a:t>一般化固有値問題</a:t>
            </a:r>
          </a:p>
        </p:txBody>
      </p:sp>
      <p:sp>
        <p:nvSpPr>
          <p:cNvPr id="11" name="">
            <a:extLst xmlns:a="http://schemas.openxmlformats.org/drawingml/2006/main">
              <a:ext uri="{FF2B5EF4-FFF2-40B4-BE49-F238E27FC236}">
                <a16:creationId xmlns:a16="http://schemas.microsoft.com/office/drawing/2014/main" id="{AAE7F8DC-FFD5-4F0D-B40D-6BB28DD90E26}"/>
              </a:ext>
            </a:extLst>
          </p:cNvPr>
          <p:cNvSpPr>
            <a:spLocks xmlns:a="http://schemas.openxmlformats.org/drawingml/2006/main" noGrp="1"/>
          </p:cNvSpPr>
          <p:nvPr/>
        </p:nvSpPr>
        <p:spPr>
          <a:xfrm xmlns:a="http://schemas.openxmlformats.org/drawingml/2006/main">
            <a:off x="2457450" y="1562100"/>
            <a:ext cx="3143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650" b="1" i="0">
                <a:solidFill>
                  <a:srgbClr val="3F3F3F"/>
                </a:solidFill>
                <a:latin typeface="Cambria Math"/>
                <a:ea typeface="Cambria Math"/>
                <a:cs typeface="Cambria Math"/>
              </a:defRPr>
            </a:pPr>
            <a:r>
              <a:rPr sz="1650" b="1" i="0">
                <a:solidFill>
                  <a:srgbClr val="3F3F3F"/>
                </a:solidFill>
                <a:latin typeface="Cambria Math"/>
                <a:ea typeface="Cambria Math"/>
                <a:cs typeface="Cambria Math"/>
              </a:rPr>
              <a:t>Kφ = λCφ,    τ = 1/λ</a:t>
            </a:r>
          </a:p>
        </p:txBody>
      </p:sp>
      <p:sp>
        <p:nvSpPr>
          <p:cNvPr id="12" name="">
            <a:extLst xmlns:a="http://schemas.openxmlformats.org/drawingml/2006/main">
              <a:ext uri="{FF2B5EF4-FFF2-40B4-BE49-F238E27FC236}">
                <a16:creationId xmlns:a16="http://schemas.microsoft.com/office/drawing/2014/main" id="{C05B4F5C-F207-444B-A678-D523CD81E3F8}"/>
              </a:ext>
            </a:extLst>
          </p:cNvPr>
          <p:cNvSpPr>
            <a:spLocks xmlns:a="http://schemas.openxmlformats.org/drawingml/2006/main" noGrp="1"/>
          </p:cNvSpPr>
          <p:nvPr/>
        </p:nvSpPr>
        <p:spPr>
          <a:xfrm xmlns:a="http://schemas.openxmlformats.org/drawingml/2006/main">
            <a:off x="8115300" y="1600200"/>
            <a:ext cx="3238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fitted linear model / nominal boundary</a:t>
            </a:r>
          </a:p>
        </p:txBody>
      </p:sp>
      <p:sp>
        <p:nvSpPr>
          <p:cNvPr id="13" name="">
            <a:extLst xmlns:a="http://schemas.openxmlformats.org/drawingml/2006/main">
              <a:ext uri="{FF2B5EF4-FFF2-40B4-BE49-F238E27FC236}">
                <a16:creationId xmlns:a16="http://schemas.microsoft.com/office/drawing/2014/main" id="{86CC94B3-3765-4FC0-AA72-877C13A50703}"/>
              </a:ext>
            </a:extLst>
          </p:cNvPr>
          <p:cNvSpPr>
            <a:spLocks xmlns:a="http://schemas.openxmlformats.org/drawingml/2006/main" noGrp="1"/>
          </p:cNvSpPr>
          <p:nvPr/>
        </p:nvSpPr>
        <p:spPr>
          <a:xfrm xmlns:a="http://schemas.openxmlformats.org/drawingml/2006/main">
            <a:off x="990600" y="2990850"/>
            <a:ext cx="10191750" cy="0"/>
          </a:xfrm>
          <a:prstGeom xmlns:a="http://schemas.openxmlformats.org/drawingml/2006/main" prst="line">
            <a:avLst/>
          </a:prstGeom>
          <a:noFill xmlns:a="http://schemas.openxmlformats.org/drawingml/2006/main"/>
          <a:ln xmlns:a="http://schemas.openxmlformats.org/drawingml/2006/main" w="19050">
            <a:solidFill>
              <a:srgbClr val="3F3F3F"/>
            </a:solidFill>
            <a:prstDash val="solid"/>
          </a:ln>
        </p:spPr>
      </p:sp>
      <p:sp>
        <p:nvSpPr>
          <p:cNvPr id="14" name="">
            <a:extLst xmlns:a="http://schemas.openxmlformats.org/drawingml/2006/main">
              <a:ext uri="{FF2B5EF4-FFF2-40B4-BE49-F238E27FC236}">
                <a16:creationId xmlns:a16="http://schemas.microsoft.com/office/drawing/2014/main" id="{EEF8DBA9-C7C5-4EA8-9E3F-5212868C9CFD}"/>
              </a:ext>
            </a:extLst>
          </p:cNvPr>
          <p:cNvSpPr>
            <a:spLocks xmlns:a="http://schemas.openxmlformats.org/drawingml/2006/main" noGrp="1"/>
          </p:cNvSpPr>
          <p:nvPr/>
        </p:nvSpPr>
        <p:spPr>
          <a:xfrm xmlns:a="http://schemas.openxmlformats.org/drawingml/2006/main">
            <a:off x="990600" y="2914650"/>
            <a:ext cx="0" cy="152400"/>
          </a:xfrm>
          <a:prstGeom xmlns:a="http://schemas.openxmlformats.org/drawingml/2006/main" prst="line">
            <a:avLst/>
          </a:prstGeom>
          <a:noFill xmlns:a="http://schemas.openxmlformats.org/drawingml/2006/main"/>
          <a:ln xmlns:a="http://schemas.openxmlformats.org/drawingml/2006/main" w="9525">
            <a:solidFill>
              <a:srgbClr val="3F3F3F"/>
            </a:solidFill>
            <a:prstDash val="solid"/>
          </a:ln>
        </p:spPr>
      </p:sp>
      <p:sp>
        <p:nvSpPr>
          <p:cNvPr id="15" name="">
            <a:extLst xmlns:a="http://schemas.openxmlformats.org/drawingml/2006/main">
              <a:ext uri="{FF2B5EF4-FFF2-40B4-BE49-F238E27FC236}">
                <a16:creationId xmlns:a16="http://schemas.microsoft.com/office/drawing/2014/main" id="{0947F831-4898-4570-9013-F611C017D330}"/>
              </a:ext>
            </a:extLst>
          </p:cNvPr>
          <p:cNvSpPr>
            <a:spLocks xmlns:a="http://schemas.openxmlformats.org/drawingml/2006/main" noGrp="1"/>
          </p:cNvSpPr>
          <p:nvPr/>
        </p:nvSpPr>
        <p:spPr>
          <a:xfrm xmlns:a="http://schemas.openxmlformats.org/drawingml/2006/main">
            <a:off x="685800" y="31242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ct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0.1</a:t>
            </a:r>
          </a:p>
        </p:txBody>
      </p:sp>
      <p:sp>
        <p:nvSpPr>
          <p:cNvPr id="16" name="">
            <a:extLst xmlns:a="http://schemas.openxmlformats.org/drawingml/2006/main">
              <a:ext uri="{FF2B5EF4-FFF2-40B4-BE49-F238E27FC236}">
                <a16:creationId xmlns:a16="http://schemas.microsoft.com/office/drawing/2014/main" id="{F267C3EA-5F08-447A-BC20-6A1AE9BC7FDD}"/>
              </a:ext>
            </a:extLst>
          </p:cNvPr>
          <p:cNvSpPr>
            <a:spLocks xmlns:a="http://schemas.openxmlformats.org/drawingml/2006/main" noGrp="1"/>
          </p:cNvSpPr>
          <p:nvPr/>
        </p:nvSpPr>
        <p:spPr>
          <a:xfrm xmlns:a="http://schemas.openxmlformats.org/drawingml/2006/main">
            <a:off x="3538538" y="2914650"/>
            <a:ext cx="0" cy="152400"/>
          </a:xfrm>
          <a:prstGeom xmlns:a="http://schemas.openxmlformats.org/drawingml/2006/main" prst="line">
            <a:avLst/>
          </a:prstGeom>
          <a:noFill xmlns:a="http://schemas.openxmlformats.org/drawingml/2006/main"/>
          <a:ln xmlns:a="http://schemas.openxmlformats.org/drawingml/2006/main" w="9525">
            <a:solidFill>
              <a:srgbClr val="3F3F3F"/>
            </a:solidFill>
            <a:prstDash val="solid"/>
          </a:ln>
        </p:spPr>
      </p:sp>
      <p:sp>
        <p:nvSpPr>
          <p:cNvPr id="17" name="">
            <a:extLst xmlns:a="http://schemas.openxmlformats.org/drawingml/2006/main">
              <a:ext uri="{FF2B5EF4-FFF2-40B4-BE49-F238E27FC236}">
                <a16:creationId xmlns:a16="http://schemas.microsoft.com/office/drawing/2014/main" id="{17121F4E-56E0-4036-B256-C32EF6DA2363}"/>
              </a:ext>
            </a:extLst>
          </p:cNvPr>
          <p:cNvSpPr>
            <a:spLocks xmlns:a="http://schemas.openxmlformats.org/drawingml/2006/main" noGrp="1"/>
          </p:cNvSpPr>
          <p:nvPr/>
        </p:nvSpPr>
        <p:spPr>
          <a:xfrm xmlns:a="http://schemas.openxmlformats.org/drawingml/2006/main">
            <a:off x="3233738" y="31242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ct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1</a:t>
            </a:r>
          </a:p>
        </p:txBody>
      </p:sp>
      <p:sp>
        <p:nvSpPr>
          <p:cNvPr id="18" name="">
            <a:extLst xmlns:a="http://schemas.openxmlformats.org/drawingml/2006/main">
              <a:ext uri="{FF2B5EF4-FFF2-40B4-BE49-F238E27FC236}">
                <a16:creationId xmlns:a16="http://schemas.microsoft.com/office/drawing/2014/main" id="{83500E1A-8602-46F7-AD1B-1EB56AF572FD}"/>
              </a:ext>
            </a:extLst>
          </p:cNvPr>
          <p:cNvSpPr>
            <a:spLocks xmlns:a="http://schemas.openxmlformats.org/drawingml/2006/main" noGrp="1"/>
          </p:cNvSpPr>
          <p:nvPr/>
        </p:nvSpPr>
        <p:spPr>
          <a:xfrm xmlns:a="http://schemas.openxmlformats.org/drawingml/2006/main">
            <a:off x="6086475" y="2914650"/>
            <a:ext cx="0" cy="152400"/>
          </a:xfrm>
          <a:prstGeom xmlns:a="http://schemas.openxmlformats.org/drawingml/2006/main" prst="line">
            <a:avLst/>
          </a:prstGeom>
          <a:noFill xmlns:a="http://schemas.openxmlformats.org/drawingml/2006/main"/>
          <a:ln xmlns:a="http://schemas.openxmlformats.org/drawingml/2006/main" w="9525">
            <a:solidFill>
              <a:srgbClr val="3F3F3F"/>
            </a:solidFill>
            <a:prstDash val="solid"/>
          </a:ln>
        </p:spPr>
      </p:sp>
      <p:sp>
        <p:nvSpPr>
          <p:cNvPr id="19" name="">
            <a:extLst xmlns:a="http://schemas.openxmlformats.org/drawingml/2006/main">
              <a:ext uri="{FF2B5EF4-FFF2-40B4-BE49-F238E27FC236}">
                <a16:creationId xmlns:a16="http://schemas.microsoft.com/office/drawing/2014/main" id="{5C99D8D6-2330-4524-944F-35B839CE67F4}"/>
              </a:ext>
            </a:extLst>
          </p:cNvPr>
          <p:cNvSpPr>
            <a:spLocks xmlns:a="http://schemas.openxmlformats.org/drawingml/2006/main" noGrp="1"/>
          </p:cNvSpPr>
          <p:nvPr/>
        </p:nvSpPr>
        <p:spPr>
          <a:xfrm xmlns:a="http://schemas.openxmlformats.org/drawingml/2006/main">
            <a:off x="5781675" y="31242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ct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10</a:t>
            </a:r>
          </a:p>
        </p:txBody>
      </p:sp>
      <p:sp>
        <p:nvSpPr>
          <p:cNvPr id="20" name="">
            <a:extLst xmlns:a="http://schemas.openxmlformats.org/drawingml/2006/main">
              <a:ext uri="{FF2B5EF4-FFF2-40B4-BE49-F238E27FC236}">
                <a16:creationId xmlns:a16="http://schemas.microsoft.com/office/drawing/2014/main" id="{4B7082AB-6D24-4B29-B7CD-6B244B0270A5}"/>
              </a:ext>
            </a:extLst>
          </p:cNvPr>
          <p:cNvSpPr>
            <a:spLocks xmlns:a="http://schemas.openxmlformats.org/drawingml/2006/main" noGrp="1"/>
          </p:cNvSpPr>
          <p:nvPr/>
        </p:nvSpPr>
        <p:spPr>
          <a:xfrm xmlns:a="http://schemas.openxmlformats.org/drawingml/2006/main">
            <a:off x="8634413" y="2914650"/>
            <a:ext cx="0" cy="152400"/>
          </a:xfrm>
          <a:prstGeom xmlns:a="http://schemas.openxmlformats.org/drawingml/2006/main" prst="line">
            <a:avLst/>
          </a:prstGeom>
          <a:noFill xmlns:a="http://schemas.openxmlformats.org/drawingml/2006/main"/>
          <a:ln xmlns:a="http://schemas.openxmlformats.org/drawingml/2006/main" w="9525">
            <a:solidFill>
              <a:srgbClr val="3F3F3F"/>
            </a:solidFill>
            <a:prstDash val="solid"/>
          </a:ln>
        </p:spPr>
      </p:sp>
      <p:sp>
        <p:nvSpPr>
          <p:cNvPr id="21" name="">
            <a:extLst xmlns:a="http://schemas.openxmlformats.org/drawingml/2006/main">
              <a:ext uri="{FF2B5EF4-FFF2-40B4-BE49-F238E27FC236}">
                <a16:creationId xmlns:a16="http://schemas.microsoft.com/office/drawing/2014/main" id="{92EE9ADF-A438-4DAE-B4AC-FD83F27AE841}"/>
              </a:ext>
            </a:extLst>
          </p:cNvPr>
          <p:cNvSpPr>
            <a:spLocks xmlns:a="http://schemas.openxmlformats.org/drawingml/2006/main" noGrp="1"/>
          </p:cNvSpPr>
          <p:nvPr/>
        </p:nvSpPr>
        <p:spPr>
          <a:xfrm xmlns:a="http://schemas.openxmlformats.org/drawingml/2006/main">
            <a:off x="8329613" y="31242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ct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100</a:t>
            </a:r>
          </a:p>
        </p:txBody>
      </p:sp>
      <p:sp>
        <p:nvSpPr>
          <p:cNvPr id="22" name="">
            <a:extLst xmlns:a="http://schemas.openxmlformats.org/drawingml/2006/main">
              <a:ext uri="{FF2B5EF4-FFF2-40B4-BE49-F238E27FC236}">
                <a16:creationId xmlns:a16="http://schemas.microsoft.com/office/drawing/2014/main" id="{57268F93-6D5B-4AD9-BD1B-E9AC579C4A8F}"/>
              </a:ext>
            </a:extLst>
          </p:cNvPr>
          <p:cNvSpPr>
            <a:spLocks xmlns:a="http://schemas.openxmlformats.org/drawingml/2006/main" noGrp="1"/>
          </p:cNvSpPr>
          <p:nvPr/>
        </p:nvSpPr>
        <p:spPr>
          <a:xfrm xmlns:a="http://schemas.openxmlformats.org/drawingml/2006/main">
            <a:off x="11182350" y="2914650"/>
            <a:ext cx="0" cy="152400"/>
          </a:xfrm>
          <a:prstGeom xmlns:a="http://schemas.openxmlformats.org/drawingml/2006/main" prst="line">
            <a:avLst/>
          </a:prstGeom>
          <a:noFill xmlns:a="http://schemas.openxmlformats.org/drawingml/2006/main"/>
          <a:ln xmlns:a="http://schemas.openxmlformats.org/drawingml/2006/main" w="9525">
            <a:solidFill>
              <a:srgbClr val="3F3F3F"/>
            </a:solidFill>
            <a:prstDash val="solid"/>
          </a:ln>
        </p:spPr>
      </p:sp>
      <p:sp>
        <p:nvSpPr>
          <p:cNvPr id="23" name="">
            <a:extLst xmlns:a="http://schemas.openxmlformats.org/drawingml/2006/main">
              <a:ext uri="{FF2B5EF4-FFF2-40B4-BE49-F238E27FC236}">
                <a16:creationId xmlns:a16="http://schemas.microsoft.com/office/drawing/2014/main" id="{BCBB5E8B-BD4C-4813-8E7D-99ADBC902D5C}"/>
              </a:ext>
            </a:extLst>
          </p:cNvPr>
          <p:cNvSpPr>
            <a:spLocks xmlns:a="http://schemas.openxmlformats.org/drawingml/2006/main" noGrp="1"/>
          </p:cNvSpPr>
          <p:nvPr/>
        </p:nvSpPr>
        <p:spPr>
          <a:xfrm xmlns:a="http://schemas.openxmlformats.org/drawingml/2006/main">
            <a:off x="10877550" y="31242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ct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1000</a:t>
            </a:r>
          </a:p>
        </p:txBody>
      </p:sp>
      <p:sp>
        <p:nvSpPr>
          <p:cNvPr id="24" name="">
            <a:extLst xmlns:a="http://schemas.openxmlformats.org/drawingml/2006/main">
              <a:ext uri="{FF2B5EF4-FFF2-40B4-BE49-F238E27FC236}">
                <a16:creationId xmlns:a16="http://schemas.microsoft.com/office/drawing/2014/main" id="{D46DABDA-DE75-4EC7-99FD-7A6BBBC7B7BE}"/>
              </a:ext>
            </a:extLst>
          </p:cNvPr>
          <p:cNvSpPr>
            <a:spLocks xmlns:a="http://schemas.openxmlformats.org/drawingml/2006/main" noGrp="1"/>
          </p:cNvSpPr>
          <p:nvPr/>
        </p:nvSpPr>
        <p:spPr>
          <a:xfrm xmlns:a="http://schemas.openxmlformats.org/drawingml/2006/main">
            <a:off x="9563100" y="33528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750" b="0" i="0">
                <a:solidFill>
                  <a:srgbClr val="777777"/>
                </a:solidFill>
                <a:latin typeface="Yu Gothic"/>
                <a:ea typeface="Yu Gothic"/>
                <a:cs typeface="Yu Gothic"/>
              </a:defRPr>
            </a:pPr>
            <a:r>
              <a:rPr sz="750" b="0" i="0">
                <a:solidFill>
                  <a:srgbClr val="777777"/>
                </a:solidFill>
                <a:latin typeface="Yu Gothic"/>
                <a:ea typeface="Yu Gothic"/>
                <a:cs typeface="Yu Gothic"/>
              </a:rPr>
              <a:t>time scale [s]  (log)</a:t>
            </a:r>
          </a:p>
        </p:txBody>
      </p:sp>
      <p:sp>
        <p:nvSpPr>
          <p:cNvPr id="25" name="">
            <a:extLst xmlns:a="http://schemas.openxmlformats.org/drawingml/2006/main">
              <a:ext uri="{FF2B5EF4-FFF2-40B4-BE49-F238E27FC236}">
                <a16:creationId xmlns:a16="http://schemas.microsoft.com/office/drawing/2014/main" id="{C3D466D7-ECCF-41B5-9D12-80F57BCFEB63}"/>
              </a:ext>
            </a:extLst>
          </p:cNvPr>
          <p:cNvSpPr>
            <a:spLocks xmlns:a="http://schemas.openxmlformats.org/drawingml/2006/main" noGrp="1"/>
          </p:cNvSpPr>
          <p:nvPr/>
        </p:nvSpPr>
        <p:spPr>
          <a:xfrm xmlns:a="http://schemas.openxmlformats.org/drawingml/2006/main">
            <a:off x="1677302" y="2095500"/>
            <a:ext cx="0" cy="895350"/>
          </a:xfrm>
          <a:prstGeom xmlns:a="http://schemas.openxmlformats.org/drawingml/2006/main" prst="line">
            <a:avLst/>
          </a:prstGeom>
          <a:noFill xmlns:a="http://schemas.openxmlformats.org/drawingml/2006/main"/>
          <a:ln xmlns:a="http://schemas.openxmlformats.org/drawingml/2006/main" w="28575">
            <a:solidFill>
              <a:srgbClr val="7B2DAF"/>
            </a:solidFill>
            <a:prstDash val="solid"/>
          </a:ln>
        </p:spPr>
      </p:sp>
      <p:sp>
        <p:nvSpPr>
          <p:cNvPr id="26" name="">
            <a:extLst xmlns:a="http://schemas.openxmlformats.org/drawingml/2006/main">
              <a:ext uri="{FF2B5EF4-FFF2-40B4-BE49-F238E27FC236}">
                <a16:creationId xmlns:a16="http://schemas.microsoft.com/office/drawing/2014/main" id="{74C4B264-97AF-4FA7-A291-4B4E4D02B5FA}"/>
              </a:ext>
            </a:extLst>
          </p:cNvPr>
          <p:cNvSpPr>
            <a:spLocks xmlns:a="http://schemas.openxmlformats.org/drawingml/2006/main" noGrp="1"/>
          </p:cNvSpPr>
          <p:nvPr/>
        </p:nvSpPr>
        <p:spPr>
          <a:xfrm xmlns:a="http://schemas.openxmlformats.org/drawingml/2006/main">
            <a:off x="1601102" y="2914650"/>
            <a:ext cx="152400" cy="152400"/>
          </a:xfrm>
          <a:prstGeom xmlns:a="http://schemas.openxmlformats.org/drawingml/2006/main" prst="ellipse">
            <a:avLst/>
          </a:prstGeom>
          <a:solidFill xmlns:a="http://schemas.openxmlformats.org/drawingml/2006/main">
            <a:srgbClr val="7B2DA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D8F1A8E-C878-426E-BA68-5C729D07AC9D}"/>
              </a:ext>
            </a:extLst>
          </p:cNvPr>
          <p:cNvSpPr>
            <a:spLocks xmlns:a="http://schemas.openxmlformats.org/drawingml/2006/main" noGrp="1"/>
          </p:cNvSpPr>
          <p:nvPr/>
        </p:nvSpPr>
        <p:spPr>
          <a:xfrm xmlns:a="http://schemas.openxmlformats.org/drawingml/2006/main">
            <a:off x="1134377" y="1762125"/>
            <a:ext cx="1085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7B2DAF"/>
                </a:solidFill>
                <a:latin typeface="Yu Gothic"/>
                <a:ea typeface="Yu Gothic"/>
                <a:cs typeface="Yu Gothic"/>
              </a:defRPr>
            </a:pPr>
            <a:r>
              <a:rPr sz="1125" b="1" i="0">
                <a:solidFill>
                  <a:srgbClr val="7B2DAF"/>
                </a:solidFill>
                <a:latin typeface="Yu Gothic"/>
                <a:ea typeface="Yu Gothic"/>
                <a:cs typeface="Yu Gothic"/>
              </a:rPr>
              <a:t>0.186 s</a:t>
            </a:r>
          </a:p>
        </p:txBody>
      </p:sp>
      <p:sp>
        <p:nvSpPr>
          <p:cNvPr id="28" name="">
            <a:extLst xmlns:a="http://schemas.openxmlformats.org/drawingml/2006/main">
              <a:ext uri="{FF2B5EF4-FFF2-40B4-BE49-F238E27FC236}">
                <a16:creationId xmlns:a16="http://schemas.microsoft.com/office/drawing/2014/main" id="{A8994A21-F6D1-44D6-8AE5-515238A46408}"/>
              </a:ext>
            </a:extLst>
          </p:cNvPr>
          <p:cNvSpPr>
            <a:spLocks xmlns:a="http://schemas.openxmlformats.org/drawingml/2006/main" noGrp="1"/>
          </p:cNvSpPr>
          <p:nvPr/>
        </p:nvSpPr>
        <p:spPr>
          <a:xfrm xmlns:a="http://schemas.openxmlformats.org/drawingml/2006/main">
            <a:off x="1010552" y="1981200"/>
            <a:ext cx="133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2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fast</a:t>
            </a:r>
          </a:p>
          <a:p xmlns:a="http://schemas.openxmlformats.org/drawingml/2006/main">
            <a:pPr algn="ctr">
              <a:lnSpc>
                <a:spcPct val="102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chip ↔ base</a:t>
            </a:r>
          </a:p>
        </p:txBody>
      </p:sp>
      <p:sp>
        <p:nvSpPr>
          <p:cNvPr id="29" name="">
            <a:extLst xmlns:a="http://schemas.openxmlformats.org/drawingml/2006/main">
              <a:ext uri="{FF2B5EF4-FFF2-40B4-BE49-F238E27FC236}">
                <a16:creationId xmlns:a16="http://schemas.microsoft.com/office/drawing/2014/main" id="{3301BA57-16A0-42D7-A3D7-F5EDD6FAD889}"/>
              </a:ext>
            </a:extLst>
          </p:cNvPr>
          <p:cNvSpPr>
            <a:spLocks xmlns:a="http://schemas.openxmlformats.org/drawingml/2006/main" noGrp="1"/>
          </p:cNvSpPr>
          <p:nvPr/>
        </p:nvSpPr>
        <p:spPr>
          <a:xfrm xmlns:a="http://schemas.openxmlformats.org/drawingml/2006/main">
            <a:off x="4320927" y="2381250"/>
            <a:ext cx="0" cy="609600"/>
          </a:xfrm>
          <a:prstGeom xmlns:a="http://schemas.openxmlformats.org/drawingml/2006/main" prst="line">
            <a:avLst/>
          </a:prstGeom>
          <a:noFill xmlns:a="http://schemas.openxmlformats.org/drawingml/2006/main"/>
          <a:ln xmlns:a="http://schemas.openxmlformats.org/drawingml/2006/main" w="28575">
            <a:solidFill>
              <a:srgbClr val="00A5D8"/>
            </a:solidFill>
            <a:prstDash val="solid"/>
          </a:ln>
        </p:spPr>
      </p:sp>
      <p:sp>
        <p:nvSpPr>
          <p:cNvPr id="30" name="">
            <a:extLst xmlns:a="http://schemas.openxmlformats.org/drawingml/2006/main">
              <a:ext uri="{FF2B5EF4-FFF2-40B4-BE49-F238E27FC236}">
                <a16:creationId xmlns:a16="http://schemas.microsoft.com/office/drawing/2014/main" id="{919E16C5-D93B-43EC-8340-E2343FBD65B3}"/>
              </a:ext>
            </a:extLst>
          </p:cNvPr>
          <p:cNvSpPr>
            <a:spLocks xmlns:a="http://schemas.openxmlformats.org/drawingml/2006/main" noGrp="1"/>
          </p:cNvSpPr>
          <p:nvPr/>
        </p:nvSpPr>
        <p:spPr>
          <a:xfrm xmlns:a="http://schemas.openxmlformats.org/drawingml/2006/main">
            <a:off x="4244727" y="2914650"/>
            <a:ext cx="152400" cy="152400"/>
          </a:xfrm>
          <a:prstGeom xmlns:a="http://schemas.openxmlformats.org/drawingml/2006/main" prst="ellipse">
            <a:avLst/>
          </a:prstGeom>
          <a:solidFill xmlns:a="http://schemas.openxmlformats.org/drawingml/2006/main">
            <a:srgbClr val="00A5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8E3A00F-92F3-4A3F-9304-0531BE95C4C4}"/>
              </a:ext>
            </a:extLst>
          </p:cNvPr>
          <p:cNvSpPr>
            <a:spLocks xmlns:a="http://schemas.openxmlformats.org/drawingml/2006/main" noGrp="1"/>
          </p:cNvSpPr>
          <p:nvPr/>
        </p:nvSpPr>
        <p:spPr>
          <a:xfrm xmlns:a="http://schemas.openxmlformats.org/drawingml/2006/main">
            <a:off x="3778002" y="2047875"/>
            <a:ext cx="1085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00A5D8"/>
                </a:solidFill>
                <a:latin typeface="Yu Gothic"/>
                <a:ea typeface="Yu Gothic"/>
                <a:cs typeface="Yu Gothic"/>
              </a:defRPr>
            </a:pPr>
            <a:r>
              <a:rPr sz="1125" b="1" i="0">
                <a:solidFill>
                  <a:srgbClr val="00A5D8"/>
                </a:solidFill>
                <a:latin typeface="Yu Gothic"/>
                <a:ea typeface="Yu Gothic"/>
                <a:cs typeface="Yu Gothic"/>
              </a:rPr>
              <a:t>2.028 s</a:t>
            </a:r>
          </a:p>
        </p:txBody>
      </p:sp>
      <p:sp>
        <p:nvSpPr>
          <p:cNvPr id="32" name="">
            <a:extLst xmlns:a="http://schemas.openxmlformats.org/drawingml/2006/main">
              <a:ext uri="{FF2B5EF4-FFF2-40B4-BE49-F238E27FC236}">
                <a16:creationId xmlns:a16="http://schemas.microsoft.com/office/drawing/2014/main" id="{30CCFB23-B32E-4206-BE1D-E63064ECA971}"/>
              </a:ext>
            </a:extLst>
          </p:cNvPr>
          <p:cNvSpPr>
            <a:spLocks xmlns:a="http://schemas.openxmlformats.org/drawingml/2006/main" noGrp="1"/>
          </p:cNvSpPr>
          <p:nvPr/>
        </p:nvSpPr>
        <p:spPr>
          <a:xfrm xmlns:a="http://schemas.openxmlformats.org/drawingml/2006/main">
            <a:off x="3654177" y="2266950"/>
            <a:ext cx="133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2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intermediate</a:t>
            </a:r>
          </a:p>
          <a:p xmlns:a="http://schemas.openxmlformats.org/drawingml/2006/main">
            <a:pPr algn="ctr">
              <a:lnSpc>
                <a:spcPct val="102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base ↔ fins</a:t>
            </a:r>
          </a:p>
        </p:txBody>
      </p:sp>
      <p:sp>
        <p:nvSpPr>
          <p:cNvPr id="33" name="">
            <a:extLst xmlns:a="http://schemas.openxmlformats.org/drawingml/2006/main">
              <a:ext uri="{FF2B5EF4-FFF2-40B4-BE49-F238E27FC236}">
                <a16:creationId xmlns:a16="http://schemas.microsoft.com/office/drawing/2014/main" id="{460F37DB-15AD-4E88-9CB9-3D42C5B28411}"/>
              </a:ext>
            </a:extLst>
          </p:cNvPr>
          <p:cNvSpPr>
            <a:spLocks xmlns:a="http://schemas.openxmlformats.org/drawingml/2006/main" noGrp="1"/>
          </p:cNvSpPr>
          <p:nvPr/>
        </p:nvSpPr>
        <p:spPr>
          <a:xfrm xmlns:a="http://schemas.openxmlformats.org/drawingml/2006/main">
            <a:off x="10236430" y="2095500"/>
            <a:ext cx="0" cy="895350"/>
          </a:xfrm>
          <a:prstGeom xmlns:a="http://schemas.openxmlformats.org/drawingml/2006/main" prst="line">
            <a:avLst/>
          </a:prstGeom>
          <a:noFill xmlns:a="http://schemas.openxmlformats.org/drawingml/2006/main"/>
          <a:ln xmlns:a="http://schemas.openxmlformats.org/drawingml/2006/main" w="28575">
            <a:solidFill>
              <a:srgbClr val="76BE18"/>
            </a:solidFill>
            <a:prstDash val="solid"/>
          </a:ln>
        </p:spPr>
      </p:sp>
      <p:sp>
        <p:nvSpPr>
          <p:cNvPr id="34" name="">
            <a:extLst xmlns:a="http://schemas.openxmlformats.org/drawingml/2006/main">
              <a:ext uri="{FF2B5EF4-FFF2-40B4-BE49-F238E27FC236}">
                <a16:creationId xmlns:a16="http://schemas.microsoft.com/office/drawing/2014/main" id="{E46A72B0-D68A-4B84-B8F4-F92D90ACF284}"/>
              </a:ext>
            </a:extLst>
          </p:cNvPr>
          <p:cNvSpPr>
            <a:spLocks xmlns:a="http://schemas.openxmlformats.org/drawingml/2006/main" noGrp="1"/>
          </p:cNvSpPr>
          <p:nvPr/>
        </p:nvSpPr>
        <p:spPr>
          <a:xfrm xmlns:a="http://schemas.openxmlformats.org/drawingml/2006/main">
            <a:off x="10160230" y="2914650"/>
            <a:ext cx="152400" cy="152400"/>
          </a:xfrm>
          <a:prstGeom xmlns:a="http://schemas.openxmlformats.org/drawingml/2006/main" prst="ellipse">
            <a:avLst/>
          </a:prstGeom>
          <a:solidFill xmlns:a="http://schemas.openxmlformats.org/drawingml/2006/main">
            <a:srgbClr val="76BE1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496DBF79-44A3-4B77-B459-54098EE14BB7}"/>
              </a:ext>
            </a:extLst>
          </p:cNvPr>
          <p:cNvSpPr>
            <a:spLocks xmlns:a="http://schemas.openxmlformats.org/drawingml/2006/main" noGrp="1"/>
          </p:cNvSpPr>
          <p:nvPr/>
        </p:nvSpPr>
        <p:spPr>
          <a:xfrm xmlns:a="http://schemas.openxmlformats.org/drawingml/2006/main">
            <a:off x="9693505" y="1762125"/>
            <a:ext cx="1085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76BE18"/>
                </a:solidFill>
                <a:latin typeface="Yu Gothic"/>
                <a:ea typeface="Yu Gothic"/>
                <a:cs typeface="Yu Gothic"/>
              </a:defRPr>
            </a:pPr>
            <a:r>
              <a:rPr sz="1125" b="1" i="0">
                <a:solidFill>
                  <a:srgbClr val="76BE18"/>
                </a:solidFill>
                <a:latin typeface="Yu Gothic"/>
                <a:ea typeface="Yu Gothic"/>
                <a:cs typeface="Yu Gothic"/>
              </a:rPr>
              <a:t>425 s</a:t>
            </a:r>
          </a:p>
        </p:txBody>
      </p:sp>
      <p:sp>
        <p:nvSpPr>
          <p:cNvPr id="36" name="">
            <a:extLst xmlns:a="http://schemas.openxmlformats.org/drawingml/2006/main">
              <a:ext uri="{FF2B5EF4-FFF2-40B4-BE49-F238E27FC236}">
                <a16:creationId xmlns:a16="http://schemas.microsoft.com/office/drawing/2014/main" id="{FDEB2D84-06D6-466E-8352-C5D86F9AAD72}"/>
              </a:ext>
            </a:extLst>
          </p:cNvPr>
          <p:cNvSpPr>
            <a:spLocks xmlns:a="http://schemas.openxmlformats.org/drawingml/2006/main" noGrp="1"/>
          </p:cNvSpPr>
          <p:nvPr/>
        </p:nvSpPr>
        <p:spPr>
          <a:xfrm xmlns:a="http://schemas.openxmlformats.org/drawingml/2006/main">
            <a:off x="9569680" y="1981200"/>
            <a:ext cx="133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2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global</a:t>
            </a:r>
          </a:p>
          <a:p xmlns:a="http://schemas.openxmlformats.org/drawingml/2006/main">
            <a:pPr algn="ctr">
              <a:lnSpc>
                <a:spcPct val="102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coolant boundary</a:t>
            </a:r>
          </a:p>
        </p:txBody>
      </p:sp>
      <p:sp>
        <p:nvSpPr>
          <p:cNvPr id="37" name="">
            <a:extLst xmlns:a="http://schemas.openxmlformats.org/drawingml/2006/main">
              <a:ext uri="{FF2B5EF4-FFF2-40B4-BE49-F238E27FC236}">
                <a16:creationId xmlns:a16="http://schemas.microsoft.com/office/drawing/2014/main" id="{486D1D1D-1E12-4968-8B2B-540A1F1EA908}"/>
              </a:ext>
            </a:extLst>
          </p:cNvPr>
          <p:cNvSpPr>
            <a:spLocks xmlns:a="http://schemas.openxmlformats.org/drawingml/2006/main" noGrp="1"/>
          </p:cNvSpPr>
          <p:nvPr/>
        </p:nvSpPr>
        <p:spPr>
          <a:xfrm xmlns:a="http://schemas.openxmlformats.org/drawingml/2006/main">
            <a:off x="4305543" y="1952625"/>
            <a:ext cx="0" cy="1809750"/>
          </a:xfrm>
          <a:prstGeom xmlns:a="http://schemas.openxmlformats.org/drawingml/2006/main" prst="line">
            <a:avLst/>
          </a:prstGeom>
          <a:noFill xmlns:a="http://schemas.openxmlformats.org/drawingml/2006/main"/>
          <a:ln xmlns:a="http://schemas.openxmlformats.org/drawingml/2006/main" w="14288">
            <a:solidFill>
              <a:srgbClr val="C4493D"/>
            </a:solidFill>
            <a:prstDash val="dash"/>
          </a:ln>
        </p:spPr>
      </p:sp>
      <p:sp>
        <p:nvSpPr>
          <p:cNvPr id="38" name="">
            <a:extLst xmlns:a="http://schemas.openxmlformats.org/drawingml/2006/main">
              <a:ext uri="{FF2B5EF4-FFF2-40B4-BE49-F238E27FC236}">
                <a16:creationId xmlns:a16="http://schemas.microsoft.com/office/drawing/2014/main" id="{65514B2A-CE55-4D5E-B32E-BBBFCF4B327B}"/>
              </a:ext>
            </a:extLst>
          </p:cNvPr>
          <p:cNvSpPr>
            <a:spLocks xmlns:a="http://schemas.openxmlformats.org/drawingml/2006/main" noGrp="1"/>
          </p:cNvSpPr>
          <p:nvPr/>
        </p:nvSpPr>
        <p:spPr>
          <a:xfrm xmlns:a="http://schemas.openxmlformats.org/drawingml/2006/main">
            <a:off x="3572118" y="1790700"/>
            <a:ext cx="14668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13" b="1" i="0">
                <a:solidFill>
                  <a:srgbClr val="C4493D"/>
                </a:solidFill>
                <a:latin typeface="Yu Gothic"/>
                <a:ea typeface="Yu Gothic"/>
                <a:cs typeface="Yu Gothic"/>
              </a:defRPr>
            </a:pPr>
            <a:r>
              <a:rPr sz="713" b="1" i="0">
                <a:solidFill>
                  <a:srgbClr val="C4493D"/>
                </a:solidFill>
                <a:latin typeface="Yu Gothic"/>
                <a:ea typeface="Yu Gothic"/>
                <a:cs typeface="Yu Gothic"/>
              </a:rPr>
              <a:t>linear data  Δt=2 s</a:t>
            </a:r>
          </a:p>
        </p:txBody>
      </p:sp>
      <p:sp>
        <p:nvSpPr>
          <p:cNvPr id="39" name="">
            <a:extLst xmlns:a="http://schemas.openxmlformats.org/drawingml/2006/main">
              <a:ext uri="{FF2B5EF4-FFF2-40B4-BE49-F238E27FC236}">
                <a16:creationId xmlns:a16="http://schemas.microsoft.com/office/drawing/2014/main" id="{18923517-ACF0-4412-B59D-92CBB898B608}"/>
              </a:ext>
            </a:extLst>
          </p:cNvPr>
          <p:cNvSpPr>
            <a:spLocks xmlns:a="http://schemas.openxmlformats.org/drawingml/2006/main" noGrp="1"/>
          </p:cNvSpPr>
          <p:nvPr/>
        </p:nvSpPr>
        <p:spPr>
          <a:xfrm xmlns:a="http://schemas.openxmlformats.org/drawingml/2006/main">
            <a:off x="6086475" y="1952625"/>
            <a:ext cx="0" cy="1809750"/>
          </a:xfrm>
          <a:prstGeom xmlns:a="http://schemas.openxmlformats.org/drawingml/2006/main" prst="line">
            <a:avLst/>
          </a:prstGeom>
          <a:noFill xmlns:a="http://schemas.openxmlformats.org/drawingml/2006/main"/>
          <a:ln xmlns:a="http://schemas.openxmlformats.org/drawingml/2006/main" w="14288">
            <a:solidFill>
              <a:srgbClr val="E5A900"/>
            </a:solidFill>
            <a:prstDash val="dash"/>
          </a:ln>
        </p:spPr>
      </p:sp>
      <p:sp>
        <p:nvSpPr>
          <p:cNvPr id="40" name="">
            <a:extLst xmlns:a="http://schemas.openxmlformats.org/drawingml/2006/main">
              <a:ext uri="{FF2B5EF4-FFF2-40B4-BE49-F238E27FC236}">
                <a16:creationId xmlns:a16="http://schemas.microsoft.com/office/drawing/2014/main" id="{A464C1ED-5529-46F3-881F-5BA01A2F5627}"/>
              </a:ext>
            </a:extLst>
          </p:cNvPr>
          <p:cNvSpPr>
            <a:spLocks xmlns:a="http://schemas.openxmlformats.org/drawingml/2006/main" noGrp="1"/>
          </p:cNvSpPr>
          <p:nvPr/>
        </p:nvSpPr>
        <p:spPr>
          <a:xfrm xmlns:a="http://schemas.openxmlformats.org/drawingml/2006/main">
            <a:off x="5353050" y="1628775"/>
            <a:ext cx="14668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13" b="1" i="0">
                <a:solidFill>
                  <a:srgbClr val="E5A900"/>
                </a:solidFill>
                <a:latin typeface="Yu Gothic"/>
                <a:ea typeface="Yu Gothic"/>
                <a:cs typeface="Yu Gothic"/>
              </a:defRPr>
            </a:pPr>
            <a:r>
              <a:rPr sz="713" b="1" i="0">
                <a:solidFill>
                  <a:srgbClr val="E5A900"/>
                </a:solidFill>
                <a:latin typeface="Yu Gothic"/>
                <a:ea typeface="Yu Gothic"/>
                <a:cs typeface="Yu Gothic"/>
              </a:rPr>
              <a:t>HF train  10 s</a:t>
            </a:r>
          </a:p>
        </p:txBody>
      </p:sp>
      <p:sp>
        <p:nvSpPr>
          <p:cNvPr id="41" name="">
            <a:extLst xmlns:a="http://schemas.openxmlformats.org/drawingml/2006/main">
              <a:ext uri="{FF2B5EF4-FFF2-40B4-BE49-F238E27FC236}">
                <a16:creationId xmlns:a16="http://schemas.microsoft.com/office/drawing/2014/main" id="{85069E92-34AC-456E-B943-810E4C3024B1}"/>
              </a:ext>
            </a:extLst>
          </p:cNvPr>
          <p:cNvSpPr>
            <a:spLocks xmlns:a="http://schemas.openxmlformats.org/drawingml/2006/main" noGrp="1"/>
          </p:cNvSpPr>
          <p:nvPr/>
        </p:nvSpPr>
        <p:spPr>
          <a:xfrm xmlns:a="http://schemas.openxmlformats.org/drawingml/2006/main">
            <a:off x="6853481" y="1952625"/>
            <a:ext cx="0" cy="1809750"/>
          </a:xfrm>
          <a:prstGeom xmlns:a="http://schemas.openxmlformats.org/drawingml/2006/main" prst="line">
            <a:avLst/>
          </a:prstGeom>
          <a:noFill xmlns:a="http://schemas.openxmlformats.org/drawingml/2006/main"/>
          <a:ln xmlns:a="http://schemas.openxmlformats.org/drawingml/2006/main" w="14288">
            <a:solidFill>
              <a:srgbClr val="7B2DAF"/>
            </a:solidFill>
            <a:prstDash val="dash"/>
          </a:ln>
        </p:spPr>
      </p:sp>
      <p:sp>
        <p:nvSpPr>
          <p:cNvPr id="42" name="">
            <a:extLst xmlns:a="http://schemas.openxmlformats.org/drawingml/2006/main">
              <a:ext uri="{FF2B5EF4-FFF2-40B4-BE49-F238E27FC236}">
                <a16:creationId xmlns:a16="http://schemas.microsoft.com/office/drawing/2014/main" id="{B8291203-3AC1-4672-9DAF-7FC61E164AF8}"/>
              </a:ext>
            </a:extLst>
          </p:cNvPr>
          <p:cNvSpPr>
            <a:spLocks xmlns:a="http://schemas.openxmlformats.org/drawingml/2006/main" noGrp="1"/>
          </p:cNvSpPr>
          <p:nvPr/>
        </p:nvSpPr>
        <p:spPr>
          <a:xfrm xmlns:a="http://schemas.openxmlformats.org/drawingml/2006/main">
            <a:off x="6120056" y="1466850"/>
            <a:ext cx="14668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13" b="1" i="0">
                <a:solidFill>
                  <a:srgbClr val="7B2DAF"/>
                </a:solidFill>
                <a:latin typeface="Yu Gothic"/>
                <a:ea typeface="Yu Gothic"/>
                <a:cs typeface="Yu Gothic"/>
              </a:defRPr>
            </a:pPr>
            <a:r>
              <a:rPr sz="713" b="1" i="0">
                <a:solidFill>
                  <a:srgbClr val="7B2DAF"/>
                </a:solidFill>
                <a:latin typeface="Yu Gothic"/>
                <a:ea typeface="Yu Gothic"/>
                <a:cs typeface="Yu Gothic"/>
              </a:rPr>
              <a:t>HF output  20 s</a:t>
            </a:r>
          </a:p>
        </p:txBody>
      </p:sp>
      <p:sp>
        <p:nvSpPr>
          <p:cNvPr id="43" name="">
            <a:extLst xmlns:a="http://schemas.openxmlformats.org/drawingml/2006/main">
              <a:ext uri="{FF2B5EF4-FFF2-40B4-BE49-F238E27FC236}">
                <a16:creationId xmlns:a16="http://schemas.microsoft.com/office/drawing/2014/main" id="{BFF81474-780C-41D9-B576-E50E3B34D477}"/>
              </a:ext>
            </a:extLst>
          </p:cNvPr>
          <p:cNvSpPr>
            <a:spLocks xmlns:a="http://schemas.openxmlformats.org/drawingml/2006/main" noGrp="1"/>
          </p:cNvSpPr>
          <p:nvPr/>
        </p:nvSpPr>
        <p:spPr>
          <a:xfrm xmlns:a="http://schemas.openxmlformats.org/drawingml/2006/main">
            <a:off x="552450" y="4572000"/>
            <a:ext cx="3505200" cy="1476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4" name="">
            <a:extLst xmlns:a="http://schemas.openxmlformats.org/drawingml/2006/main">
              <a:ext uri="{FF2B5EF4-FFF2-40B4-BE49-F238E27FC236}">
                <a16:creationId xmlns:a16="http://schemas.microsoft.com/office/drawing/2014/main" id="{1D58B4CE-E4EA-421E-8992-16CE44436B80}"/>
              </a:ext>
            </a:extLst>
          </p:cNvPr>
          <p:cNvSpPr>
            <a:spLocks xmlns:a="http://schemas.openxmlformats.org/drawingml/2006/main" noGrp="1"/>
          </p:cNvSpPr>
          <p:nvPr/>
        </p:nvSpPr>
        <p:spPr>
          <a:xfrm xmlns:a="http://schemas.openxmlformats.org/drawingml/2006/main">
            <a:off x="552450" y="4572000"/>
            <a:ext cx="76200" cy="14763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E5F0E3C4-B32E-4406-8A83-A256C24B99E6}"/>
              </a:ext>
            </a:extLst>
          </p:cNvPr>
          <p:cNvSpPr>
            <a:spLocks xmlns:a="http://schemas.openxmlformats.org/drawingml/2006/main" noGrp="1"/>
          </p:cNvSpPr>
          <p:nvPr/>
        </p:nvSpPr>
        <p:spPr>
          <a:xfrm xmlns:a="http://schemas.openxmlformats.org/drawingml/2006/main">
            <a:off x="762000" y="4724400"/>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7B2DAF"/>
                </a:solidFill>
                <a:latin typeface="Yu Gothic"/>
                <a:ea typeface="Yu Gothic"/>
                <a:cs typeface="Yu Gothic"/>
              </a:defRPr>
            </a:pPr>
            <a:r>
              <a:rPr sz="1275" b="1" i="0">
                <a:solidFill>
                  <a:srgbClr val="7B2DAF"/>
                </a:solidFill>
                <a:latin typeface="Yu Gothic"/>
                <a:ea typeface="Yu Gothic"/>
                <a:cs typeface="Yu Gothic"/>
              </a:rPr>
              <a:t>fast 0.186 s</a:t>
            </a:r>
          </a:p>
        </p:txBody>
      </p:sp>
      <p:sp>
        <p:nvSpPr>
          <p:cNvPr id="46" name="">
            <a:extLst xmlns:a="http://schemas.openxmlformats.org/drawingml/2006/main">
              <a:ext uri="{FF2B5EF4-FFF2-40B4-BE49-F238E27FC236}">
                <a16:creationId xmlns:a16="http://schemas.microsoft.com/office/drawing/2014/main" id="{2051C893-9A9A-44D9-88AC-D315ECE821B1}"/>
              </a:ext>
            </a:extLst>
          </p:cNvPr>
          <p:cNvSpPr>
            <a:spLocks xmlns:a="http://schemas.openxmlformats.org/drawingml/2006/main" noGrp="1"/>
          </p:cNvSpPr>
          <p:nvPr/>
        </p:nvSpPr>
        <p:spPr>
          <a:xfrm xmlns:a="http://schemas.openxmlformats.org/drawingml/2006/main">
            <a:off x="762000" y="5095875"/>
            <a:ext cx="31051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6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2 s samplingでは独立同定困難。sensor応答・反aliasing・短周期実験が必要。</a:t>
            </a:r>
          </a:p>
        </p:txBody>
      </p:sp>
      <p:sp>
        <p:nvSpPr>
          <p:cNvPr id="47" name="">
            <a:extLst xmlns:a="http://schemas.openxmlformats.org/drawingml/2006/main">
              <a:ext uri="{FF2B5EF4-FFF2-40B4-BE49-F238E27FC236}">
                <a16:creationId xmlns:a16="http://schemas.microsoft.com/office/drawing/2014/main" id="{36452B35-AAFE-49A5-A9D6-94A993C6994D}"/>
              </a:ext>
            </a:extLst>
          </p:cNvPr>
          <p:cNvSpPr>
            <a:spLocks xmlns:a="http://schemas.openxmlformats.org/drawingml/2006/main" noGrp="1"/>
          </p:cNvSpPr>
          <p:nvPr/>
        </p:nvSpPr>
        <p:spPr>
          <a:xfrm xmlns:a="http://schemas.openxmlformats.org/drawingml/2006/main">
            <a:off x="4248150" y="4572000"/>
            <a:ext cx="3505200" cy="1476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8" name="">
            <a:extLst xmlns:a="http://schemas.openxmlformats.org/drawingml/2006/main">
              <a:ext uri="{FF2B5EF4-FFF2-40B4-BE49-F238E27FC236}">
                <a16:creationId xmlns:a16="http://schemas.microsoft.com/office/drawing/2014/main" id="{B14022D2-DB49-4FFF-962C-BCBF49FFD4F8}"/>
              </a:ext>
            </a:extLst>
          </p:cNvPr>
          <p:cNvSpPr>
            <a:spLocks xmlns:a="http://schemas.openxmlformats.org/drawingml/2006/main" noGrp="1"/>
          </p:cNvSpPr>
          <p:nvPr/>
        </p:nvSpPr>
        <p:spPr>
          <a:xfrm xmlns:a="http://schemas.openxmlformats.org/drawingml/2006/main">
            <a:off x="4248150" y="4572000"/>
            <a:ext cx="76200" cy="147637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9753FFE0-01E7-4A58-A84D-C928D1653E65}"/>
              </a:ext>
            </a:extLst>
          </p:cNvPr>
          <p:cNvSpPr>
            <a:spLocks xmlns:a="http://schemas.openxmlformats.org/drawingml/2006/main" noGrp="1"/>
          </p:cNvSpPr>
          <p:nvPr/>
        </p:nvSpPr>
        <p:spPr>
          <a:xfrm xmlns:a="http://schemas.openxmlformats.org/drawingml/2006/main">
            <a:off x="4457700" y="4724400"/>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00A5D8"/>
                </a:solidFill>
                <a:latin typeface="Yu Gothic"/>
                <a:ea typeface="Yu Gothic"/>
                <a:cs typeface="Yu Gothic"/>
              </a:defRPr>
            </a:pPr>
            <a:r>
              <a:rPr sz="1275" b="1" i="0">
                <a:solidFill>
                  <a:srgbClr val="00A5D8"/>
                </a:solidFill>
                <a:latin typeface="Yu Gothic"/>
                <a:ea typeface="Yu Gothic"/>
                <a:cs typeface="Yu Gothic"/>
              </a:rPr>
              <a:t>intermediate 2.03 s</a:t>
            </a:r>
          </a:p>
        </p:txBody>
      </p:sp>
      <p:sp>
        <p:nvSpPr>
          <p:cNvPr id="50" name="">
            <a:extLst xmlns:a="http://schemas.openxmlformats.org/drawingml/2006/main">
              <a:ext uri="{FF2B5EF4-FFF2-40B4-BE49-F238E27FC236}">
                <a16:creationId xmlns:a16="http://schemas.microsoft.com/office/drawing/2014/main" id="{6752D697-CC7C-401E-AC91-6DBEE714BB5F}"/>
              </a:ext>
            </a:extLst>
          </p:cNvPr>
          <p:cNvSpPr>
            <a:spLocks xmlns:a="http://schemas.openxmlformats.org/drawingml/2006/main" noGrp="1"/>
          </p:cNvSpPr>
          <p:nvPr/>
        </p:nvSpPr>
        <p:spPr>
          <a:xfrm xmlns:a="http://schemas.openxmlformats.org/drawingml/2006/main">
            <a:off x="4457700" y="5095875"/>
            <a:ext cx="31051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6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2 s samplingで限界的。step端の時刻精度とZOH契約が推定値を左右する。</a:t>
            </a:r>
          </a:p>
        </p:txBody>
      </p:sp>
      <p:sp>
        <p:nvSpPr>
          <p:cNvPr id="51" name="">
            <a:extLst xmlns:a="http://schemas.openxmlformats.org/drawingml/2006/main">
              <a:ext uri="{FF2B5EF4-FFF2-40B4-BE49-F238E27FC236}">
                <a16:creationId xmlns:a16="http://schemas.microsoft.com/office/drawing/2014/main" id="{DBF3206A-757B-46E8-8C81-DA4C6CD978D3}"/>
              </a:ext>
            </a:extLst>
          </p:cNvPr>
          <p:cNvSpPr>
            <a:spLocks xmlns:a="http://schemas.openxmlformats.org/drawingml/2006/main" noGrp="1"/>
          </p:cNvSpPr>
          <p:nvPr/>
        </p:nvSpPr>
        <p:spPr>
          <a:xfrm xmlns:a="http://schemas.openxmlformats.org/drawingml/2006/main">
            <a:off x="7943850" y="4572000"/>
            <a:ext cx="3505200" cy="1476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52" name="">
            <a:extLst xmlns:a="http://schemas.openxmlformats.org/drawingml/2006/main">
              <a:ext uri="{FF2B5EF4-FFF2-40B4-BE49-F238E27FC236}">
                <a16:creationId xmlns:a16="http://schemas.microsoft.com/office/drawing/2014/main" id="{17672089-60C2-4FFD-869C-F2F3AF13CD84}"/>
              </a:ext>
            </a:extLst>
          </p:cNvPr>
          <p:cNvSpPr>
            <a:spLocks xmlns:a="http://schemas.openxmlformats.org/drawingml/2006/main" noGrp="1"/>
          </p:cNvSpPr>
          <p:nvPr/>
        </p:nvSpPr>
        <p:spPr>
          <a:xfrm xmlns:a="http://schemas.openxmlformats.org/drawingml/2006/main">
            <a:off x="7943850" y="4572000"/>
            <a:ext cx="76200" cy="14763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C367CEFE-791F-47D0-B346-0F6227A9C2CB}"/>
              </a:ext>
            </a:extLst>
          </p:cNvPr>
          <p:cNvSpPr>
            <a:spLocks xmlns:a="http://schemas.openxmlformats.org/drawingml/2006/main" noGrp="1"/>
          </p:cNvSpPr>
          <p:nvPr/>
        </p:nvSpPr>
        <p:spPr>
          <a:xfrm xmlns:a="http://schemas.openxmlformats.org/drawingml/2006/main">
            <a:off x="8153400" y="4724400"/>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76BE18"/>
                </a:solidFill>
                <a:latin typeface="Yu Gothic"/>
                <a:ea typeface="Yu Gothic"/>
                <a:cs typeface="Yu Gothic"/>
              </a:defRPr>
            </a:pPr>
            <a:r>
              <a:rPr sz="1275" b="1" i="0">
                <a:solidFill>
                  <a:srgbClr val="76BE18"/>
                </a:solidFill>
                <a:latin typeface="Yu Gothic"/>
                <a:ea typeface="Yu Gothic"/>
                <a:cs typeface="Yu Gothic"/>
              </a:rPr>
              <a:t>global 425 s</a:t>
            </a:r>
          </a:p>
        </p:txBody>
      </p:sp>
      <p:sp>
        <p:nvSpPr>
          <p:cNvPr id="54" name="">
            <a:extLst xmlns:a="http://schemas.openxmlformats.org/drawingml/2006/main">
              <a:ext uri="{FF2B5EF4-FFF2-40B4-BE49-F238E27FC236}">
                <a16:creationId xmlns:a16="http://schemas.microsoft.com/office/drawing/2014/main" id="{4DEB33CB-94F2-4BB4-AE8D-2B352872D089}"/>
              </a:ext>
            </a:extLst>
          </p:cNvPr>
          <p:cNvSpPr>
            <a:spLocks xmlns:a="http://schemas.openxmlformats.org/drawingml/2006/main" noGrp="1"/>
          </p:cNvSpPr>
          <p:nvPr/>
        </p:nvSpPr>
        <p:spPr>
          <a:xfrm xmlns:a="http://schemas.openxmlformats.org/drawingml/2006/main">
            <a:off x="8153400" y="5095875"/>
            <a:ext cx="31051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6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長時間holdとcoolant変調が必要。短いpulseだけではhAと初期温度が混同する。</a:t>
            </a:r>
          </a:p>
        </p:txBody>
      </p:sp>
    </p:spTree>
    <p:extLst>
      <p:ext uri="{BB962C8B-B14F-4D97-AF65-F5344CB8AC3E}">
        <p14:creationId xmlns:p14="http://schemas.microsoft.com/office/powerpoint/2010/main" val="87267090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6DDD55A-F5CC-41E9-AFB5-DD62D6B42D4C}"/>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82AB98E-8C64-4CF0-9ABA-A3EAB6511DAF}"/>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NUMERICAL METHODS</a:t>
            </a:r>
          </a:p>
        </p:txBody>
      </p:sp>
      <p:sp>
        <p:nvSpPr>
          <p:cNvPr id="3" name="">
            <a:extLst xmlns:a="http://schemas.openxmlformats.org/drawingml/2006/main">
              <a:ext uri="{FF2B5EF4-FFF2-40B4-BE49-F238E27FC236}">
                <a16:creationId xmlns:a16="http://schemas.microsoft.com/office/drawing/2014/main" id="{FE565E8F-BD14-42E2-B880-A54110D9252A}"/>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係数が区間一定ならexact affine、変化するならimplicitで安定に積分する</a:t>
            </a:r>
          </a:p>
        </p:txBody>
      </p:sp>
      <p:sp>
        <p:nvSpPr>
          <p:cNvPr id="4" name="">
            <a:extLst xmlns:a="http://schemas.openxmlformats.org/drawingml/2006/main">
              <a:ext uri="{FF2B5EF4-FFF2-40B4-BE49-F238E27FC236}">
                <a16:creationId xmlns:a16="http://schemas.microsoft.com/office/drawing/2014/main" id="{C7B8DE2B-5982-42F8-B7F3-F56301F1EB14}"/>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少数nodeのため、密行列指数・密線形solveを直接用いる</a:t>
            </a:r>
          </a:p>
        </p:txBody>
      </p:sp>
      <p:sp>
        <p:nvSpPr>
          <p:cNvPr id="5" name="">
            <a:extLst xmlns:a="http://schemas.openxmlformats.org/drawingml/2006/main">
              <a:ext uri="{FF2B5EF4-FFF2-40B4-BE49-F238E27FC236}">
                <a16:creationId xmlns:a16="http://schemas.microsoft.com/office/drawing/2014/main" id="{14B291B0-E9A7-425E-A7CE-61C048592803}"/>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AD3312DB-71A6-4C08-B4D9-0917472FF93A}"/>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B29B2563-831C-497D-B664-A8E7641121BB}"/>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6334A083-C360-467F-AF19-9E5D3E1868FC}"/>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13</a:t>
            </a:r>
          </a:p>
        </p:txBody>
      </p:sp>
      <p:sp>
        <p:nvSpPr>
          <p:cNvPr id="9" name="">
            <a:extLst xmlns:a="http://schemas.openxmlformats.org/drawingml/2006/main">
              <a:ext uri="{FF2B5EF4-FFF2-40B4-BE49-F238E27FC236}">
                <a16:creationId xmlns:a16="http://schemas.microsoft.com/office/drawing/2014/main" id="{B8C8BD3E-C166-4511-9C1F-880755747BCE}"/>
              </a:ext>
            </a:extLst>
          </p:cNvPr>
          <p:cNvSpPr>
            <a:spLocks xmlns:a="http://schemas.openxmlformats.org/drawingml/2006/main" noGrp="1"/>
          </p:cNvSpPr>
          <p:nvPr/>
        </p:nvSpPr>
        <p:spPr>
          <a:xfrm xmlns:a="http://schemas.openxmlformats.org/drawingml/2006/main">
            <a:off x="552450" y="1438275"/>
            <a:ext cx="11087100" cy="1200150"/>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F814126-E93E-4A0A-9446-58EB7468DA21}"/>
              </a:ext>
            </a:extLst>
          </p:cNvPr>
          <p:cNvSpPr>
            <a:spLocks xmlns:a="http://schemas.openxmlformats.org/drawingml/2006/main" noGrp="1"/>
          </p:cNvSpPr>
          <p:nvPr/>
        </p:nvSpPr>
        <p:spPr>
          <a:xfrm xmlns:a="http://schemas.openxmlformats.org/drawingml/2006/main">
            <a:off x="790575" y="1609725"/>
            <a:ext cx="1571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6BE18"/>
                </a:solidFill>
                <a:latin typeface="Yu Gothic"/>
                <a:ea typeface="Yu Gothic"/>
                <a:cs typeface="Yu Gothic"/>
              </a:defRPr>
            </a:pPr>
            <a:r>
              <a:rPr sz="975" b="1" i="0">
                <a:solidFill>
                  <a:srgbClr val="76BE18"/>
                </a:solidFill>
                <a:latin typeface="Yu Gothic"/>
                <a:ea typeface="Yu Gothic"/>
                <a:cs typeface="Yu Gothic"/>
              </a:rPr>
              <a:t>exact affine</a:t>
            </a:r>
          </a:p>
        </p:txBody>
      </p:sp>
      <p:sp>
        <p:nvSpPr>
          <p:cNvPr id="11" name="">
            <a:extLst xmlns:a="http://schemas.openxmlformats.org/drawingml/2006/main">
              <a:ext uri="{FF2B5EF4-FFF2-40B4-BE49-F238E27FC236}">
                <a16:creationId xmlns:a16="http://schemas.microsoft.com/office/drawing/2014/main" id="{7873A96C-F979-4DAA-9356-BBD3774FDAEE}"/>
              </a:ext>
            </a:extLst>
          </p:cNvPr>
          <p:cNvSpPr>
            <a:spLocks xmlns:a="http://schemas.openxmlformats.org/drawingml/2006/main" noGrp="1"/>
          </p:cNvSpPr>
          <p:nvPr/>
        </p:nvSpPr>
        <p:spPr>
          <a:xfrm xmlns:a="http://schemas.openxmlformats.org/drawingml/2006/main">
            <a:off x="2343150" y="1552575"/>
            <a:ext cx="8810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875" b="1" i="0">
                <a:solidFill>
                  <a:srgbClr val="FFFFFF"/>
                </a:solidFill>
                <a:latin typeface="Cambria Math"/>
                <a:ea typeface="Cambria Math"/>
                <a:cs typeface="Cambria Math"/>
              </a:defRPr>
            </a:pPr>
            <a:r>
              <a:rPr sz="1875" b="1" i="0">
                <a:solidFill>
                  <a:srgbClr val="FFFFFF"/>
                </a:solidFill>
                <a:latin typeface="Cambria Math"/>
                <a:ea typeface="Cambria Math"/>
                <a:cs typeface="Cambria Math"/>
              </a:rPr>
              <a:t>[xₖ₊₁;1] = exp([F  c; 0  0] Δtₖ)[xₖ;1]</a:t>
            </a:r>
          </a:p>
        </p:txBody>
      </p:sp>
      <p:sp>
        <p:nvSpPr>
          <p:cNvPr id="12" name="">
            <a:extLst xmlns:a="http://schemas.openxmlformats.org/drawingml/2006/main">
              <a:ext uri="{FF2B5EF4-FFF2-40B4-BE49-F238E27FC236}">
                <a16:creationId xmlns:a16="http://schemas.microsoft.com/office/drawing/2014/main" id="{58A72156-FE8B-4600-A0A8-0AE4390F9148}"/>
              </a:ext>
            </a:extLst>
          </p:cNvPr>
          <p:cNvSpPr>
            <a:spLocks xmlns:a="http://schemas.openxmlformats.org/drawingml/2006/main" noGrp="1"/>
          </p:cNvSpPr>
          <p:nvPr/>
        </p:nvSpPr>
        <p:spPr>
          <a:xfrm xmlns:a="http://schemas.openxmlformats.org/drawingml/2006/main">
            <a:off x="2381250" y="2076450"/>
            <a:ext cx="876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38" b="0" i="0">
                <a:solidFill>
                  <a:srgbClr val="DDD6EA"/>
                </a:solidFill>
                <a:latin typeface="Yu Gothic"/>
                <a:ea typeface="Yu Gothic"/>
                <a:cs typeface="Yu Gothic"/>
              </a:defRPr>
            </a:pPr>
            <a:r>
              <a:rPr sz="938" b="0" i="0">
                <a:solidFill>
                  <a:srgbClr val="DDD6EA"/>
                </a:solidFill>
                <a:latin typeface="Yu Gothic"/>
                <a:ea typeface="Yu Gothic"/>
                <a:cs typeface="Yu Gothic"/>
              </a:rPr>
              <a:t>augmented matrixによりF⁻¹を作らず、閉系のゼロ固有値も扱う</a:t>
            </a:r>
          </a:p>
        </p:txBody>
      </p:sp>
      <p:graphicFrame>
        <p:nvGraphicFramePr>
          <p:cNvPr id="30" name=""/>
          <p:cNvGraphicFramePr/>
          <p:nvPr/>
        </p:nvGraphicFramePr>
        <p:xfrm>
          <a:off xmlns:a="http://schemas.openxmlformats.org/drawingml/2006/main" x="552450" y="2895600"/>
          <a:ext xmlns:a="http://schemas.openxmlformats.org/drawingml/2006/main" cx="11087100" cy="2381250"/>
        </p:xfrm>
        <a:graphic xmlns:a="http://schemas.openxmlformats.org/drawingml/2006/main">
          <a:graphicData uri="http://schemas.openxmlformats.org/drawingml/2006/table">
            <a:tbl>
              <a:tblPr/>
              <a:tblGrid>
                <a:gridCol w="1828800"/>
                <a:gridCol w="3171825"/>
                <a:gridCol w="2476500"/>
                <a:gridCol w="3609975"/>
              </a:tblGrid>
              <a:tr h="476250">
                <a:tc>
                  <a:txBody>
                    <a:bodyPr/>
                    <a:lstStyle/>
                    <a:p>
                      <a:r>
                        <a:rPr sz="938" b="1">
                          <a:solidFill>
                            <a:srgbClr val="FFFFFF"/>
                          </a:solidFill>
                          <a:latin typeface="Yu Gothic"/>
                          <a:ea typeface="Yu Gothic"/>
                          <a:cs typeface="Yu Gothic"/>
                        </a:rPr>
                        <a:t>手法</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適用条件</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離散化・安定性</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実装上の確認</a:t>
                      </a:r>
                    </a:p>
                  </a:txBody>
                  <a:tcPr marL="91440" marR="91440" marT="45720" marB="45720">
                    <a:solidFill>
                      <a:srgbClr val="007FA8"/>
                    </a:solidFill>
                  </a:tcPr>
                </a:tc>
              </a:tr>
              <a:tr h="476250">
                <a:tc>
                  <a:txBody>
                    <a:bodyPr/>
                    <a:lstStyle/>
                    <a:p>
                      <a:r>
                        <a:rPr sz="938" b="1">
                          <a:solidFill>
                            <a:srgbClr val="007FA8"/>
                          </a:solidFill>
                          <a:latin typeface="Yu Gothic"/>
                          <a:ea typeface="Yu Gothic"/>
                          <a:cs typeface="Yu Gothic"/>
                        </a:rPr>
                        <a:t>exact affine</a:t>
                      </a:r>
                    </a:p>
                  </a:txBody>
                  <a:tcPr marL="91440" marR="91440" marT="45720" marB="45720">
                    <a:solidFill>
                      <a:srgbClr val="FFFFFF"/>
                    </a:solidFill>
                  </a:tcPr>
                </a:tc>
                <a:tc>
                  <a:txBody>
                    <a:bodyPr/>
                    <a:lstStyle/>
                    <a:p>
                      <a:r>
                        <a:rPr sz="938">
                          <a:solidFill>
                            <a:srgbClr val="5B5B5B"/>
                          </a:solidFill>
                          <a:latin typeface="Yu Gothic"/>
                          <a:ea typeface="Yu Gothic"/>
                          <a:cs typeface="Yu Gothic"/>
                        </a:rPr>
                        <a:t>係数・active setが区間一定</a:t>
                      </a:r>
                    </a:p>
                  </a:txBody>
                  <a:tcPr marL="91440" marR="91440" marT="45720" marB="45720">
                    <a:solidFill>
                      <a:srgbClr val="FFFFFF"/>
                    </a:solidFill>
                  </a:tcPr>
                </a:tc>
                <a:tc>
                  <a:txBody>
                    <a:bodyPr/>
                    <a:lstStyle/>
                    <a:p>
                      <a:r>
                        <a:rPr sz="938">
                          <a:solidFill>
                            <a:srgbClr val="5B5B5B"/>
                          </a:solidFill>
                          <a:latin typeface="Yu Gothic"/>
                          <a:ea typeface="Yu Gothic"/>
                          <a:cs typeface="Yu Gothic"/>
                        </a:rPr>
                        <a:t>時間離散化誤差なし</a:t>
                      </a:r>
                    </a:p>
                  </a:txBody>
                  <a:tcPr marL="91440" marR="91440" marT="45720" marB="45720">
                    <a:solidFill>
                      <a:srgbClr val="FFFFFF"/>
                    </a:solidFill>
                  </a:tcPr>
                </a:tc>
                <a:tc>
                  <a:txBody>
                    <a:bodyPr/>
                    <a:lstStyle/>
                    <a:p>
                      <a:r>
                        <a:rPr sz="938">
                          <a:solidFill>
                            <a:srgbClr val="5B5B5B"/>
                          </a:solidFill>
                          <a:latin typeface="Yu Gothic"/>
                          <a:ea typeface="Yu Gothic"/>
                          <a:cs typeface="Yu Gothic"/>
                        </a:rPr>
                        <a:t>ZOH・イベント時刻・matrix exp</a:t>
                      </a:r>
                    </a:p>
                  </a:txBody>
                  <a:tcPr marL="91440" marR="91440" marT="45720" marB="45720">
                    <a:solidFill>
                      <a:srgbClr val="FFFFFF"/>
                    </a:solidFill>
                  </a:tcPr>
                </a:tc>
              </a:tr>
              <a:tr h="476250">
                <a:tc>
                  <a:txBody>
                    <a:bodyPr/>
                    <a:lstStyle/>
                    <a:p>
                      <a:r>
                        <a:rPr sz="938" b="1">
                          <a:solidFill>
                            <a:srgbClr val="7B2DAF"/>
                          </a:solidFill>
                          <a:latin typeface="Yu Gothic"/>
                          <a:ea typeface="Yu Gothic"/>
                          <a:cs typeface="Yu Gothic"/>
                        </a:rPr>
                        <a:t>implicit Euler</a:t>
                      </a:r>
                    </a:p>
                  </a:txBody>
                  <a:tcPr marL="91440" marR="91440" marT="45720" marB="45720">
                    <a:solidFill>
                      <a:srgbClr val="F8F8F8"/>
                    </a:solidFill>
                  </a:tcPr>
                </a:tc>
                <a:tc>
                  <a:txBody>
                    <a:bodyPr/>
                    <a:lstStyle/>
                    <a:p>
                      <a:r>
                        <a:rPr sz="938">
                          <a:solidFill>
                            <a:srgbClr val="5B5B5B"/>
                          </a:solidFill>
                          <a:latin typeface="Yu Gothic"/>
                          <a:ea typeface="Yu Gothic"/>
                          <a:cs typeface="Yu Gothic"/>
                        </a:rPr>
                        <a:t>区間内で係数が変化</a:t>
                      </a:r>
                    </a:p>
                  </a:txBody>
                  <a:tcPr marL="91440" marR="91440" marT="45720" marB="45720">
                    <a:solidFill>
                      <a:srgbClr val="F8F8F8"/>
                    </a:solidFill>
                  </a:tcPr>
                </a:tc>
                <a:tc>
                  <a:txBody>
                    <a:bodyPr/>
                    <a:lstStyle/>
                    <a:p>
                      <a:r>
                        <a:rPr sz="938">
                          <a:solidFill>
                            <a:srgbClr val="5B5B5B"/>
                          </a:solidFill>
                          <a:latin typeface="Yu Gothic"/>
                          <a:ea typeface="Yu Gothic"/>
                          <a:cs typeface="Yu Gothic"/>
                        </a:rPr>
                        <a:t>A-stable / 1次精度</a:t>
                      </a:r>
                    </a:p>
                  </a:txBody>
                  <a:tcPr marL="91440" marR="91440" marT="45720" marB="45720">
                    <a:solidFill>
                      <a:srgbClr val="F8F8F8"/>
                    </a:solidFill>
                  </a:tcPr>
                </a:tc>
                <a:tc>
                  <a:txBody>
                    <a:bodyPr/>
                    <a:lstStyle/>
                    <a:p>
                      <a:r>
                        <a:rPr sz="938">
                          <a:solidFill>
                            <a:srgbClr val="5B5B5B"/>
                          </a:solidFill>
                          <a:latin typeface="Yu Gothic"/>
                          <a:ea typeface="Yu Gothic"/>
                          <a:cs typeface="Yu Gothic"/>
                        </a:rPr>
                        <a:t>midpoint操作量・step分割</a:t>
                      </a:r>
                    </a:p>
                  </a:txBody>
                  <a:tcPr marL="91440" marR="91440" marT="45720" marB="45720">
                    <a:solidFill>
                      <a:srgbClr val="F8F8F8"/>
                    </a:solidFill>
                  </a:tcPr>
                </a:tc>
              </a:tr>
              <a:tr h="476250">
                <a:tc>
                  <a:txBody>
                    <a:bodyPr/>
                    <a:lstStyle/>
                    <a:p>
                      <a:r>
                        <a:rPr sz="938" b="1">
                          <a:solidFill>
                            <a:srgbClr val="4D8710"/>
                          </a:solidFill>
                          <a:latin typeface="Yu Gothic"/>
                          <a:ea typeface="Yu Gothic"/>
                          <a:cs typeface="Yu Gothic"/>
                        </a:rPr>
                        <a:t>Van Loan Qd</a:t>
                      </a:r>
                    </a:p>
                  </a:txBody>
                  <a:tcPr marL="91440" marR="91440" marT="45720" marB="45720">
                    <a:solidFill>
                      <a:srgbClr val="FFFFFF"/>
                    </a:solidFill>
                  </a:tcPr>
                </a:tc>
                <a:tc>
                  <a:txBody>
                    <a:bodyPr/>
                    <a:lstStyle/>
                    <a:p>
                      <a:r>
                        <a:rPr sz="938">
                          <a:solidFill>
                            <a:srgbClr val="5B5B5B"/>
                          </a:solidFill>
                          <a:latin typeface="Yu Gothic"/>
                          <a:ea typeface="Yu Gothic"/>
                          <a:cs typeface="Yu Gothic"/>
                        </a:rPr>
                        <a:t>連続process noiseの離散化</a:t>
                      </a:r>
                    </a:p>
                  </a:txBody>
                  <a:tcPr marL="91440" marR="91440" marT="45720" marB="45720">
                    <a:solidFill>
                      <a:srgbClr val="FFFFFF"/>
                    </a:solidFill>
                  </a:tcPr>
                </a:tc>
                <a:tc>
                  <a:txBody>
                    <a:bodyPr/>
                    <a:lstStyle/>
                    <a:p>
                      <a:r>
                        <a:rPr sz="938">
                          <a:solidFill>
                            <a:srgbClr val="5B5B5B"/>
                          </a:solidFill>
                          <a:latin typeface="Yu Gothic"/>
                          <a:ea typeface="Yu Gothic"/>
                          <a:cs typeface="Yu Gothic"/>
                        </a:rPr>
                        <a:t>cross-covarianceを保持</a:t>
                      </a:r>
                    </a:p>
                  </a:txBody>
                  <a:tcPr marL="91440" marR="91440" marT="45720" marB="45720">
                    <a:solidFill>
                      <a:srgbClr val="FFFFFF"/>
                    </a:solidFill>
                  </a:tcPr>
                </a:tc>
                <a:tc>
                  <a:txBody>
                    <a:bodyPr/>
                    <a:lstStyle/>
                    <a:p>
                      <a:r>
                        <a:rPr sz="938">
                          <a:solidFill>
                            <a:srgbClr val="5B5B5B"/>
                          </a:solidFill>
                          <a:latin typeface="Yu Gothic"/>
                          <a:ea typeface="Yu Gothic"/>
                          <a:cs typeface="Yu Gothic"/>
                        </a:rPr>
                        <a:t>小Δt近似との整合</a:t>
                      </a:r>
                    </a:p>
                  </a:txBody>
                  <a:tcPr marL="91440" marR="91440" marT="45720" marB="45720">
                    <a:solidFill>
                      <a:srgbClr val="FFFFFF"/>
                    </a:solidFill>
                  </a:tcPr>
                </a:tc>
              </a:tr>
              <a:tr h="476250">
                <a:tc>
                  <a:txBody>
                    <a:bodyPr/>
                    <a:lstStyle/>
                    <a:p>
                      <a:r>
                        <a:rPr sz="938" b="1">
                          <a:solidFill>
                            <a:srgbClr val="4D8710"/>
                          </a:solidFill>
                          <a:latin typeface="Yu Gothic"/>
                          <a:ea typeface="Yu Gothic"/>
                          <a:cs typeface="Yu Gothic"/>
                        </a:rPr>
                        <a:t>Joseph update</a:t>
                      </a:r>
                    </a:p>
                  </a:txBody>
                  <a:tcPr marL="91440" marR="91440" marT="45720" marB="45720">
                    <a:solidFill>
                      <a:srgbClr val="F8F8F8"/>
                    </a:solidFill>
                  </a:tcPr>
                </a:tc>
                <a:tc>
                  <a:txBody>
                    <a:bodyPr/>
                    <a:lstStyle/>
                    <a:p>
                      <a:r>
                        <a:rPr sz="938">
                          <a:solidFill>
                            <a:srgbClr val="5B5B5B"/>
                          </a:solidFill>
                          <a:latin typeface="Yu Gothic"/>
                          <a:ea typeface="Yu Gothic"/>
                          <a:cs typeface="Yu Gothic"/>
                        </a:rPr>
                        <a:t>Kalman covariance更新</a:t>
                      </a:r>
                    </a:p>
                  </a:txBody>
                  <a:tcPr marL="91440" marR="91440" marT="45720" marB="45720">
                    <a:solidFill>
                      <a:srgbClr val="F8F8F8"/>
                    </a:solidFill>
                  </a:tcPr>
                </a:tc>
                <a:tc>
                  <a:txBody>
                    <a:bodyPr/>
                    <a:lstStyle/>
                    <a:p>
                      <a:r>
                        <a:rPr sz="938">
                          <a:solidFill>
                            <a:srgbClr val="5B5B5B"/>
                          </a:solidFill>
                          <a:latin typeface="Yu Gothic"/>
                          <a:ea typeface="Yu Gothic"/>
                          <a:cs typeface="Yu Gothic"/>
                        </a:rPr>
                        <a:t>半正定値性を保ちやすい</a:t>
                      </a:r>
                    </a:p>
                  </a:txBody>
                  <a:tcPr marL="91440" marR="91440" marT="45720" marB="45720">
                    <a:solidFill>
                      <a:srgbClr val="F8F8F8"/>
                    </a:solidFill>
                  </a:tcPr>
                </a:tc>
                <a:tc>
                  <a:txBody>
                    <a:bodyPr/>
                    <a:lstStyle/>
                    <a:p>
                      <a:r>
                        <a:rPr sz="938">
                          <a:solidFill>
                            <a:srgbClr val="5B5B5B"/>
                          </a:solidFill>
                          <a:latin typeface="Yu Gothic"/>
                          <a:ea typeface="Yu Gothic"/>
                          <a:cs typeface="Yu Gothic"/>
                        </a:rPr>
                        <a:t>対称化・jitter・欠測縮約</a:t>
                      </a:r>
                    </a:p>
                  </a:txBody>
                  <a:tcPr marL="91440" marR="91440" marT="45720" marB="45720">
                    <a:solidFill>
                      <a:srgbClr val="F8F8F8"/>
                    </a:solidFill>
                  </a:tcPr>
                </a:tc>
              </a:tr>
            </a:tbl>
          </a:graphicData>
        </a:graphic>
      </p:graphicFrame>
      <p:sp>
        <p:nvSpPr>
          <p:cNvPr id="14" name="">
            <a:extLst xmlns:a="http://schemas.openxmlformats.org/drawingml/2006/main">
              <a:ext uri="{FF2B5EF4-FFF2-40B4-BE49-F238E27FC236}">
                <a16:creationId xmlns:a16="http://schemas.microsoft.com/office/drawing/2014/main" id="{F1E49B9C-C377-4F54-9123-43F50EF3478D}"/>
              </a:ext>
            </a:extLst>
          </p:cNvPr>
          <p:cNvSpPr>
            <a:spLocks xmlns:a="http://schemas.openxmlformats.org/drawingml/2006/main" noGrp="1"/>
          </p:cNvSpPr>
          <p:nvPr/>
        </p:nvSpPr>
        <p:spPr>
          <a:xfrm xmlns:a="http://schemas.openxmlformats.org/drawingml/2006/main">
            <a:off x="552450" y="5514975"/>
            <a:ext cx="11087100" cy="685800"/>
          </a:xfrm>
          <a:prstGeom xmlns:a="http://schemas.openxmlformats.org/drawingml/2006/main" prst="rect">
            <a:avLst/>
          </a:prstGeom>
          <a:solidFill xmlns:a="http://schemas.openxmlformats.org/drawingml/2006/main">
            <a:srgbClr val="FFF5D7"/>
          </a:solidFill>
          <a:ln xmlns:a="http://schemas.openxmlformats.org/drawingml/2006/main" w="9525">
            <a:solidFill>
              <a:srgbClr val="E5A900"/>
            </a:solidFill>
            <a:prstDash val="solid"/>
          </a:ln>
        </p:spPr>
      </p:sp>
      <p:sp>
        <p:nvSpPr>
          <p:cNvPr id="15" name="">
            <a:extLst xmlns:a="http://schemas.openxmlformats.org/drawingml/2006/main">
              <a:ext uri="{FF2B5EF4-FFF2-40B4-BE49-F238E27FC236}">
                <a16:creationId xmlns:a16="http://schemas.microsoft.com/office/drawing/2014/main" id="{88F07D80-5A38-4849-B8A0-FC4D3B953ED0}"/>
              </a:ext>
            </a:extLst>
          </p:cNvPr>
          <p:cNvSpPr>
            <a:spLocks xmlns:a="http://schemas.openxmlformats.org/drawingml/2006/main" noGrp="1"/>
          </p:cNvSpPr>
          <p:nvPr/>
        </p:nvSpPr>
        <p:spPr>
          <a:xfrm xmlns:a="http://schemas.openxmlformats.org/drawingml/2006/main">
            <a:off x="733425" y="563880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806000"/>
                </a:solidFill>
                <a:latin typeface="Yu Gothic"/>
                <a:ea typeface="Yu Gothic"/>
                <a:cs typeface="Yu Gothic"/>
              </a:defRPr>
            </a:pPr>
            <a:r>
              <a:rPr sz="1050" b="1" i="0">
                <a:solidFill>
                  <a:srgbClr val="806000"/>
                </a:solidFill>
                <a:latin typeface="Yu Gothic"/>
                <a:ea typeface="Yu Gothic"/>
                <a:cs typeface="Yu Gothic"/>
              </a:rPr>
              <a:t>数値検証</a:t>
            </a:r>
          </a:p>
        </p:txBody>
      </p:sp>
      <p:sp>
        <p:nvSpPr>
          <p:cNvPr id="16" name="">
            <a:extLst xmlns:a="http://schemas.openxmlformats.org/drawingml/2006/main">
              <a:ext uri="{FF2B5EF4-FFF2-40B4-BE49-F238E27FC236}">
                <a16:creationId xmlns:a16="http://schemas.microsoft.com/office/drawing/2014/main" id="{6BD929A5-48FA-4B6C-9911-BB2E5BE3CE2A}"/>
              </a:ext>
            </a:extLst>
          </p:cNvPr>
          <p:cNvSpPr>
            <a:spLocks xmlns:a="http://schemas.openxmlformats.org/drawingml/2006/main" noGrp="1"/>
          </p:cNvSpPr>
          <p:nvPr/>
        </p:nvSpPr>
        <p:spPr>
          <a:xfrm xmlns:a="http://schemas.openxmlformats.org/drawingml/2006/main">
            <a:off x="1790700" y="5610225"/>
            <a:ext cx="96393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Δtを1/2にした解との差、energy residual、共分散の固有値、同一時刻の重複・逆順を回帰試験に含める。</a:t>
            </a:r>
          </a:p>
        </p:txBody>
      </p:sp>
      <p:sp>
        <p:nvSpPr>
          <p:cNvPr id="17" name="">
            <a:extLst xmlns:a="http://schemas.openxmlformats.org/drawingml/2006/main">
              <a:ext uri="{FF2B5EF4-FFF2-40B4-BE49-F238E27FC236}">
                <a16:creationId xmlns:a16="http://schemas.microsoft.com/office/drawing/2014/main" id="{75223504-E2B7-47E6-AC33-8F928E256024}"/>
              </a:ext>
            </a:extLst>
          </p:cNvPr>
          <p:cNvSpPr>
            <a:spLocks xmlns:a="http://schemas.openxmlformats.org/drawingml/2006/main" noGrp="1"/>
          </p:cNvSpPr>
          <p:nvPr/>
        </p:nvSpPr>
        <p:spPr>
          <a:xfrm xmlns:a="http://schemas.openxmlformats.org/drawingml/2006/main">
            <a:off x="1790700" y="5915025"/>
            <a:ext cx="9639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C4493D"/>
                </a:solidFill>
                <a:latin typeface="Yu Gothic"/>
                <a:ea typeface="Yu Gothic"/>
                <a:cs typeface="Yu Gothic"/>
              </a:defRPr>
            </a:pPr>
            <a:r>
              <a:rPr sz="825" b="1" i="0">
                <a:solidFill>
                  <a:srgbClr val="C4493D"/>
                </a:solidFill>
                <a:latin typeface="Yu Gothic"/>
                <a:ea typeface="Yu Gothic"/>
                <a:cs typeface="Yu Gothic"/>
              </a:rPr>
              <a:t>注意：solverが安定でも、sensor samplingがfast modeを解像するとは限らない。</a:t>
            </a:r>
          </a:p>
        </p:txBody>
      </p:sp>
    </p:spTree>
    <p:extLst>
      <p:ext uri="{BB962C8B-B14F-4D97-AF65-F5344CB8AC3E}">
        <p14:creationId xmlns:p14="http://schemas.microsoft.com/office/powerpoint/2010/main" val="181200684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BF23DF1B-8EB8-4A62-8A49-359D331958C4}"/>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67B296D-9426-4F6F-A54C-C0580A37BC2D}"/>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OPTIMIZATION</a:t>
            </a:r>
          </a:p>
        </p:txBody>
      </p:sp>
      <p:sp>
        <p:nvSpPr>
          <p:cNvPr id="3" name="">
            <a:extLst xmlns:a="http://schemas.openxmlformats.org/drawingml/2006/main">
              <a:ext uri="{FF2B5EF4-FFF2-40B4-BE49-F238E27FC236}">
                <a16:creationId xmlns:a16="http://schemas.microsoft.com/office/drawing/2014/main" id="{2A7AEF79-A89D-4FC1-A0DF-D4441B149711}"/>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学習は物理係数のlog倍率を更新し、因果validation RMSEが最小のepochを採用する</a:t>
            </a:r>
          </a:p>
        </p:txBody>
      </p:sp>
      <p:sp>
        <p:nvSpPr>
          <p:cNvPr id="4" name="">
            <a:extLst xmlns:a="http://schemas.openxmlformats.org/drawingml/2006/main">
              <a:ext uri="{FF2B5EF4-FFF2-40B4-BE49-F238E27FC236}">
                <a16:creationId xmlns:a16="http://schemas.microsoft.com/office/drawing/2014/main" id="{D8CCEBC5-74BB-4303-939D-01BBB4D50BA5}"/>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case数で均等化した軌道損失により、長いlogや観測点の多いcaseの過大影響を抑える</a:t>
            </a:r>
          </a:p>
        </p:txBody>
      </p:sp>
      <p:sp>
        <p:nvSpPr>
          <p:cNvPr id="5" name="">
            <a:extLst xmlns:a="http://schemas.openxmlformats.org/drawingml/2006/main">
              <a:ext uri="{FF2B5EF4-FFF2-40B4-BE49-F238E27FC236}">
                <a16:creationId xmlns:a16="http://schemas.microsoft.com/office/drawing/2014/main" id="{2EC22AEE-8B97-4A70-ACC2-7FC2BF03EE7E}"/>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6F437E0D-D149-45D7-B6DC-95F6AFAAB886}"/>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C67CA016-A4C1-4BCD-A85A-5D13D1B2BF2A}"/>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9EEAA945-C8B3-41D6-858A-0CCE041D769B}"/>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14</a:t>
            </a:r>
          </a:p>
        </p:txBody>
      </p:sp>
      <p:sp>
        <p:nvSpPr>
          <p:cNvPr id="9" name="">
            <a:extLst xmlns:a="http://schemas.openxmlformats.org/drawingml/2006/main">
              <a:ext uri="{FF2B5EF4-FFF2-40B4-BE49-F238E27FC236}">
                <a16:creationId xmlns:a16="http://schemas.microsoft.com/office/drawing/2014/main" id="{BBC3701C-C19F-4575-A350-C4989F730E41}"/>
              </a:ext>
            </a:extLst>
          </p:cNvPr>
          <p:cNvSpPr>
            <a:spLocks xmlns:a="http://schemas.openxmlformats.org/drawingml/2006/main" noGrp="1"/>
          </p:cNvSpPr>
          <p:nvPr/>
        </p:nvSpPr>
        <p:spPr>
          <a:xfrm xmlns:a="http://schemas.openxmlformats.org/drawingml/2006/main">
            <a:off x="552450" y="1438275"/>
            <a:ext cx="11087100" cy="107632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DA97C1F-F95E-4C23-885E-06EB49D91CF9}"/>
              </a:ext>
            </a:extLst>
          </p:cNvPr>
          <p:cNvSpPr>
            <a:spLocks xmlns:a="http://schemas.openxmlformats.org/drawingml/2006/main" noGrp="1"/>
          </p:cNvSpPr>
          <p:nvPr/>
        </p:nvSpPr>
        <p:spPr>
          <a:xfrm xmlns:a="http://schemas.openxmlformats.org/drawingml/2006/main">
            <a:off x="781050" y="1609725"/>
            <a:ext cx="106299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725" b="1" i="0">
                <a:solidFill>
                  <a:srgbClr val="FFFFFF"/>
                </a:solidFill>
                <a:latin typeface="Cambria Math"/>
                <a:ea typeface="Cambria Math"/>
                <a:cs typeface="Cambria Math"/>
              </a:defRPr>
            </a:pPr>
            <a:r>
              <a:rPr sz="1725" b="1" i="0">
                <a:solidFill>
                  <a:srgbClr val="FFFFFF"/>
                </a:solidFill>
                <a:latin typeface="Cambria Math"/>
                <a:ea typeface="Cambria Math"/>
                <a:cs typeface="Cambria Math"/>
              </a:rPr>
              <a:t>J(θ) = 1/|C| Σc ρδ(yc − ŷc(θ, x̂0,c)) + λp · mean[log(p/p0)²]</a:t>
            </a:r>
          </a:p>
        </p:txBody>
      </p:sp>
      <p:sp>
        <p:nvSpPr>
          <p:cNvPr id="11" name="">
            <a:extLst xmlns:a="http://schemas.openxmlformats.org/drawingml/2006/main">
              <a:ext uri="{FF2B5EF4-FFF2-40B4-BE49-F238E27FC236}">
                <a16:creationId xmlns:a16="http://schemas.microsoft.com/office/drawing/2014/main" id="{7DDCACF2-8B65-4A2C-B6DE-B443686451E6}"/>
              </a:ext>
            </a:extLst>
          </p:cNvPr>
          <p:cNvSpPr>
            <a:spLocks xmlns:a="http://schemas.openxmlformats.org/drawingml/2006/main" noGrp="1"/>
          </p:cNvSpPr>
          <p:nvPr/>
        </p:nvSpPr>
        <p:spPr>
          <a:xfrm xmlns:a="http://schemas.openxmlformats.org/drawingml/2006/main">
            <a:off x="781050" y="2095500"/>
            <a:ext cx="10629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0" i="0">
                <a:solidFill>
                  <a:srgbClr val="D8D0E8"/>
                </a:solidFill>
                <a:latin typeface="Yu Gothic"/>
                <a:ea typeface="Yu Gothic"/>
                <a:cs typeface="Yu Gothic"/>
              </a:defRPr>
            </a:pPr>
            <a:r>
              <a:rPr sz="900" b="0" i="0">
                <a:solidFill>
                  <a:srgbClr val="D8D0E8"/>
                </a:solidFill>
                <a:latin typeface="Yu Gothic"/>
                <a:ea typeface="Yu Gothic"/>
                <a:cs typeface="Yu Gothic"/>
              </a:rPr>
              <a:t>x̂0,c は観測写像のnull spaceだけをprofileし、Gaussian priorで弱観測modeを拘束</a:t>
            </a:r>
          </a:p>
        </p:txBody>
      </p:sp>
      <p:sp>
        <p:nvSpPr>
          <p:cNvPr id="12" name="">
            <a:extLst xmlns:a="http://schemas.openxmlformats.org/drawingml/2006/main">
              <a:ext uri="{FF2B5EF4-FFF2-40B4-BE49-F238E27FC236}">
                <a16:creationId xmlns:a16="http://schemas.microsoft.com/office/drawing/2014/main" id="{B0B553C1-A6C9-47BE-81BB-7523081A104A}"/>
              </a:ext>
            </a:extLst>
          </p:cNvPr>
          <p:cNvSpPr>
            <a:spLocks xmlns:a="http://schemas.openxmlformats.org/drawingml/2006/main" noGrp="1"/>
          </p:cNvSpPr>
          <p:nvPr/>
        </p:nvSpPr>
        <p:spPr>
          <a:xfrm xmlns:a="http://schemas.openxmlformats.org/drawingml/2006/main">
            <a:off x="552450" y="2752725"/>
            <a:ext cx="1657350" cy="1343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3" name="">
            <a:extLst xmlns:a="http://schemas.openxmlformats.org/drawingml/2006/main">
              <a:ext uri="{FF2B5EF4-FFF2-40B4-BE49-F238E27FC236}">
                <a16:creationId xmlns:a16="http://schemas.microsoft.com/office/drawing/2014/main" id="{4EF1E099-926A-4F0F-91E5-B8359390A174}"/>
              </a:ext>
            </a:extLst>
          </p:cNvPr>
          <p:cNvSpPr>
            <a:spLocks xmlns:a="http://schemas.openxmlformats.org/drawingml/2006/main" noGrp="1"/>
          </p:cNvSpPr>
          <p:nvPr/>
        </p:nvSpPr>
        <p:spPr>
          <a:xfrm xmlns:a="http://schemas.openxmlformats.org/drawingml/2006/main">
            <a:off x="552450" y="2752725"/>
            <a:ext cx="1657350" cy="6667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FAE7BA7-8EE0-49B9-8DF6-2AEDF4A95C69}"/>
              </a:ext>
            </a:extLst>
          </p:cNvPr>
          <p:cNvSpPr>
            <a:spLocks xmlns:a="http://schemas.openxmlformats.org/drawingml/2006/main" noGrp="1"/>
          </p:cNvSpPr>
          <p:nvPr/>
        </p:nvSpPr>
        <p:spPr>
          <a:xfrm xmlns:a="http://schemas.openxmlformats.org/drawingml/2006/main">
            <a:off x="666750" y="292417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00A5D8"/>
                </a:solidFill>
                <a:latin typeface="Yu Gothic"/>
                <a:ea typeface="Yu Gothic"/>
                <a:cs typeface="Yu Gothic"/>
              </a:defRPr>
            </a:pPr>
            <a:r>
              <a:rPr sz="1125" b="1" i="0">
                <a:solidFill>
                  <a:srgbClr val="00A5D8"/>
                </a:solidFill>
                <a:latin typeface="Yu Gothic"/>
                <a:ea typeface="Yu Gothic"/>
                <a:cs typeface="Yu Gothic"/>
              </a:rPr>
              <a:t>1  split</a:t>
            </a:r>
          </a:p>
        </p:txBody>
      </p:sp>
      <p:sp>
        <p:nvSpPr>
          <p:cNvPr id="15" name="">
            <a:extLst xmlns:a="http://schemas.openxmlformats.org/drawingml/2006/main">
              <a:ext uri="{FF2B5EF4-FFF2-40B4-BE49-F238E27FC236}">
                <a16:creationId xmlns:a16="http://schemas.microsoft.com/office/drawing/2014/main" id="{C42209F2-ADEF-458A-9FF3-08F63919B505}"/>
              </a:ext>
            </a:extLst>
          </p:cNvPr>
          <p:cNvSpPr>
            <a:spLocks xmlns:a="http://schemas.openxmlformats.org/drawingml/2006/main" noGrp="1"/>
          </p:cNvSpPr>
          <p:nvPr/>
        </p:nvSpPr>
        <p:spPr>
          <a:xfrm xmlns:a="http://schemas.openxmlformats.org/drawingml/2006/main">
            <a:off x="685800" y="3267075"/>
            <a:ext cx="13906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33B73E16-2E2C-40EE-BA5A-824C201CB9DB}"/>
              </a:ext>
            </a:extLst>
          </p:cNvPr>
          <p:cNvSpPr>
            <a:spLocks xmlns:a="http://schemas.openxmlformats.org/drawingml/2006/main" noGrp="1"/>
          </p:cNvSpPr>
          <p:nvPr/>
        </p:nvSpPr>
        <p:spPr>
          <a:xfrm xmlns:a="http://schemas.openxmlformats.org/drawingml/2006/main">
            <a:off x="647700" y="3352800"/>
            <a:ext cx="14668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同一control履歴をgroup化</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trajectory単位で分割</a:t>
            </a:r>
          </a:p>
        </p:txBody>
      </p:sp>
      <p:sp>
        <p:nvSpPr>
          <p:cNvPr id="17" name="">
            <a:extLst xmlns:a="http://schemas.openxmlformats.org/drawingml/2006/main">
              <a:ext uri="{FF2B5EF4-FFF2-40B4-BE49-F238E27FC236}">
                <a16:creationId xmlns:a16="http://schemas.microsoft.com/office/drawing/2014/main" id="{99B7DE2A-B282-4D42-944B-279655A06287}"/>
              </a:ext>
            </a:extLst>
          </p:cNvPr>
          <p:cNvSpPr>
            <a:spLocks xmlns:a="http://schemas.openxmlformats.org/drawingml/2006/main" noGrp="1"/>
          </p:cNvSpPr>
          <p:nvPr/>
        </p:nvSpPr>
        <p:spPr>
          <a:xfrm xmlns:a="http://schemas.openxmlformats.org/drawingml/2006/main">
            <a:off x="2419350" y="2752725"/>
            <a:ext cx="1657350" cy="1343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8" name="">
            <a:extLst xmlns:a="http://schemas.openxmlformats.org/drawingml/2006/main">
              <a:ext uri="{FF2B5EF4-FFF2-40B4-BE49-F238E27FC236}">
                <a16:creationId xmlns:a16="http://schemas.microsoft.com/office/drawing/2014/main" id="{B3A3D6D1-BC65-4511-8D46-726DA66FAE48}"/>
              </a:ext>
            </a:extLst>
          </p:cNvPr>
          <p:cNvSpPr>
            <a:spLocks xmlns:a="http://schemas.openxmlformats.org/drawingml/2006/main" noGrp="1"/>
          </p:cNvSpPr>
          <p:nvPr/>
        </p:nvSpPr>
        <p:spPr>
          <a:xfrm xmlns:a="http://schemas.openxmlformats.org/drawingml/2006/main">
            <a:off x="2419350" y="2752725"/>
            <a:ext cx="1657350" cy="666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4335C68-F106-4608-8285-8B0810E62593}"/>
              </a:ext>
            </a:extLst>
          </p:cNvPr>
          <p:cNvSpPr>
            <a:spLocks xmlns:a="http://schemas.openxmlformats.org/drawingml/2006/main" noGrp="1"/>
          </p:cNvSpPr>
          <p:nvPr/>
        </p:nvSpPr>
        <p:spPr>
          <a:xfrm xmlns:a="http://schemas.openxmlformats.org/drawingml/2006/main">
            <a:off x="2533650" y="292417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76BE18"/>
                </a:solidFill>
                <a:latin typeface="Yu Gothic"/>
                <a:ea typeface="Yu Gothic"/>
                <a:cs typeface="Yu Gothic"/>
              </a:defRPr>
            </a:pPr>
            <a:r>
              <a:rPr sz="1125" b="1" i="0">
                <a:solidFill>
                  <a:srgbClr val="76BE18"/>
                </a:solidFill>
                <a:latin typeface="Yu Gothic"/>
                <a:ea typeface="Yu Gothic"/>
                <a:cs typeface="Yu Gothic"/>
              </a:rPr>
              <a:t>2  rollout</a:t>
            </a:r>
          </a:p>
        </p:txBody>
      </p:sp>
      <p:sp>
        <p:nvSpPr>
          <p:cNvPr id="20" name="">
            <a:extLst xmlns:a="http://schemas.openxmlformats.org/drawingml/2006/main">
              <a:ext uri="{FF2B5EF4-FFF2-40B4-BE49-F238E27FC236}">
                <a16:creationId xmlns:a16="http://schemas.microsoft.com/office/drawing/2014/main" id="{057BB9A1-B072-4B5B-B888-F3C3BBD4FF62}"/>
              </a:ext>
            </a:extLst>
          </p:cNvPr>
          <p:cNvSpPr>
            <a:spLocks xmlns:a="http://schemas.openxmlformats.org/drawingml/2006/main" noGrp="1"/>
          </p:cNvSpPr>
          <p:nvPr/>
        </p:nvSpPr>
        <p:spPr>
          <a:xfrm xmlns:a="http://schemas.openxmlformats.org/drawingml/2006/main">
            <a:off x="2552700" y="3267075"/>
            <a:ext cx="13906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1" name="">
            <a:extLst xmlns:a="http://schemas.openxmlformats.org/drawingml/2006/main">
              <a:ext uri="{FF2B5EF4-FFF2-40B4-BE49-F238E27FC236}">
                <a16:creationId xmlns:a16="http://schemas.microsoft.com/office/drawing/2014/main" id="{85CBB9E5-A467-44CD-BEA0-775E67F74EC3}"/>
              </a:ext>
            </a:extLst>
          </p:cNvPr>
          <p:cNvSpPr>
            <a:spLocks xmlns:a="http://schemas.openxmlformats.org/drawingml/2006/main" noGrp="1"/>
          </p:cNvSpPr>
          <p:nvPr/>
        </p:nvSpPr>
        <p:spPr>
          <a:xfrm xmlns:a="http://schemas.openxmlformats.org/drawingml/2006/main">
            <a:off x="2514600" y="3352800"/>
            <a:ext cx="14668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full trajectory</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またはcase別window</a:t>
            </a:r>
          </a:p>
        </p:txBody>
      </p:sp>
      <p:sp>
        <p:nvSpPr>
          <p:cNvPr id="22" name="">
            <a:extLst xmlns:a="http://schemas.openxmlformats.org/drawingml/2006/main">
              <a:ext uri="{FF2B5EF4-FFF2-40B4-BE49-F238E27FC236}">
                <a16:creationId xmlns:a16="http://schemas.microsoft.com/office/drawing/2014/main" id="{29513871-BA1B-4A7F-B501-B9B77D6586EE}"/>
              </a:ext>
            </a:extLst>
          </p:cNvPr>
          <p:cNvSpPr>
            <a:spLocks xmlns:a="http://schemas.openxmlformats.org/drawingml/2006/main" noGrp="1"/>
          </p:cNvSpPr>
          <p:nvPr/>
        </p:nvSpPr>
        <p:spPr>
          <a:xfrm xmlns:a="http://schemas.openxmlformats.org/drawingml/2006/main">
            <a:off x="4286250" y="2752725"/>
            <a:ext cx="1657350" cy="1343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3" name="">
            <a:extLst xmlns:a="http://schemas.openxmlformats.org/drawingml/2006/main">
              <a:ext uri="{FF2B5EF4-FFF2-40B4-BE49-F238E27FC236}">
                <a16:creationId xmlns:a16="http://schemas.microsoft.com/office/drawing/2014/main" id="{480CE564-F3EB-4698-962C-7EB76F0C42B2}"/>
              </a:ext>
            </a:extLst>
          </p:cNvPr>
          <p:cNvSpPr>
            <a:spLocks xmlns:a="http://schemas.openxmlformats.org/drawingml/2006/main" noGrp="1"/>
          </p:cNvSpPr>
          <p:nvPr/>
        </p:nvSpPr>
        <p:spPr>
          <a:xfrm xmlns:a="http://schemas.openxmlformats.org/drawingml/2006/main">
            <a:off x="4286250" y="2752725"/>
            <a:ext cx="1657350" cy="666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B66C29E-176F-4C1C-9172-8180C3CCAFB6}"/>
              </a:ext>
            </a:extLst>
          </p:cNvPr>
          <p:cNvSpPr>
            <a:spLocks xmlns:a="http://schemas.openxmlformats.org/drawingml/2006/main" noGrp="1"/>
          </p:cNvSpPr>
          <p:nvPr/>
        </p:nvSpPr>
        <p:spPr>
          <a:xfrm xmlns:a="http://schemas.openxmlformats.org/drawingml/2006/main">
            <a:off x="4400550" y="292417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7B2DAF"/>
                </a:solidFill>
                <a:latin typeface="Yu Gothic"/>
                <a:ea typeface="Yu Gothic"/>
                <a:cs typeface="Yu Gothic"/>
              </a:defRPr>
            </a:pPr>
            <a:r>
              <a:rPr sz="1125" b="1" i="0">
                <a:solidFill>
                  <a:srgbClr val="7B2DAF"/>
                </a:solidFill>
                <a:latin typeface="Yu Gothic"/>
                <a:ea typeface="Yu Gothic"/>
                <a:cs typeface="Yu Gothic"/>
              </a:rPr>
              <a:t>3  loss</a:t>
            </a:r>
          </a:p>
        </p:txBody>
      </p:sp>
      <p:sp>
        <p:nvSpPr>
          <p:cNvPr id="25" name="">
            <a:extLst xmlns:a="http://schemas.openxmlformats.org/drawingml/2006/main">
              <a:ext uri="{FF2B5EF4-FFF2-40B4-BE49-F238E27FC236}">
                <a16:creationId xmlns:a16="http://schemas.microsoft.com/office/drawing/2014/main" id="{E7F78B92-0DAF-4618-8171-107FBF364542}"/>
              </a:ext>
            </a:extLst>
          </p:cNvPr>
          <p:cNvSpPr>
            <a:spLocks xmlns:a="http://schemas.openxmlformats.org/drawingml/2006/main" noGrp="1"/>
          </p:cNvSpPr>
          <p:nvPr/>
        </p:nvSpPr>
        <p:spPr>
          <a:xfrm xmlns:a="http://schemas.openxmlformats.org/drawingml/2006/main">
            <a:off x="4419600" y="3267075"/>
            <a:ext cx="13906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6" name="">
            <a:extLst xmlns:a="http://schemas.openxmlformats.org/drawingml/2006/main">
              <a:ext uri="{FF2B5EF4-FFF2-40B4-BE49-F238E27FC236}">
                <a16:creationId xmlns:a16="http://schemas.microsoft.com/office/drawing/2014/main" id="{E0303DB5-D19D-45F4-9487-7476A8EF747D}"/>
              </a:ext>
            </a:extLst>
          </p:cNvPr>
          <p:cNvSpPr>
            <a:spLocks xmlns:a="http://schemas.openxmlformats.org/drawingml/2006/main" noGrp="1"/>
          </p:cNvSpPr>
          <p:nvPr/>
        </p:nvSpPr>
        <p:spPr>
          <a:xfrm xmlns:a="http://schemas.openxmlformats.org/drawingml/2006/main">
            <a:off x="4381500" y="3352800"/>
            <a:ext cx="14668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mask-aware Huber</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case平均 + prior</a:t>
            </a:r>
          </a:p>
        </p:txBody>
      </p:sp>
      <p:sp>
        <p:nvSpPr>
          <p:cNvPr id="27" name="">
            <a:extLst xmlns:a="http://schemas.openxmlformats.org/drawingml/2006/main">
              <a:ext uri="{FF2B5EF4-FFF2-40B4-BE49-F238E27FC236}">
                <a16:creationId xmlns:a16="http://schemas.microsoft.com/office/drawing/2014/main" id="{972FD6F2-2B93-4725-A620-C56C4BB51EEE}"/>
              </a:ext>
            </a:extLst>
          </p:cNvPr>
          <p:cNvSpPr>
            <a:spLocks xmlns:a="http://schemas.openxmlformats.org/drawingml/2006/main" noGrp="1"/>
          </p:cNvSpPr>
          <p:nvPr/>
        </p:nvSpPr>
        <p:spPr>
          <a:xfrm xmlns:a="http://schemas.openxmlformats.org/drawingml/2006/main">
            <a:off x="6153150" y="2752725"/>
            <a:ext cx="1657350" cy="1343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8" name="">
            <a:extLst xmlns:a="http://schemas.openxmlformats.org/drawingml/2006/main">
              <a:ext uri="{FF2B5EF4-FFF2-40B4-BE49-F238E27FC236}">
                <a16:creationId xmlns:a16="http://schemas.microsoft.com/office/drawing/2014/main" id="{86E283B8-D52A-4529-88C8-D79F5531E665}"/>
              </a:ext>
            </a:extLst>
          </p:cNvPr>
          <p:cNvSpPr>
            <a:spLocks xmlns:a="http://schemas.openxmlformats.org/drawingml/2006/main" noGrp="1"/>
          </p:cNvSpPr>
          <p:nvPr/>
        </p:nvSpPr>
        <p:spPr>
          <a:xfrm xmlns:a="http://schemas.openxmlformats.org/drawingml/2006/main">
            <a:off x="6153150" y="2752725"/>
            <a:ext cx="1657350" cy="66675"/>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5FCCFC9-B54B-4A7E-B37F-794D3386FAD5}"/>
              </a:ext>
            </a:extLst>
          </p:cNvPr>
          <p:cNvSpPr>
            <a:spLocks xmlns:a="http://schemas.openxmlformats.org/drawingml/2006/main" noGrp="1"/>
          </p:cNvSpPr>
          <p:nvPr/>
        </p:nvSpPr>
        <p:spPr>
          <a:xfrm xmlns:a="http://schemas.openxmlformats.org/drawingml/2006/main">
            <a:off x="6267450" y="292417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E5A900"/>
                </a:solidFill>
                <a:latin typeface="Yu Gothic"/>
                <a:ea typeface="Yu Gothic"/>
                <a:cs typeface="Yu Gothic"/>
              </a:defRPr>
            </a:pPr>
            <a:r>
              <a:rPr sz="1125" b="1" i="0">
                <a:solidFill>
                  <a:srgbClr val="E5A900"/>
                </a:solidFill>
                <a:latin typeface="Yu Gothic"/>
                <a:ea typeface="Yu Gothic"/>
                <a:cs typeface="Yu Gothic"/>
              </a:rPr>
              <a:t>4  update</a:t>
            </a:r>
          </a:p>
        </p:txBody>
      </p:sp>
      <p:sp>
        <p:nvSpPr>
          <p:cNvPr id="30" name="">
            <a:extLst xmlns:a="http://schemas.openxmlformats.org/drawingml/2006/main">
              <a:ext uri="{FF2B5EF4-FFF2-40B4-BE49-F238E27FC236}">
                <a16:creationId xmlns:a16="http://schemas.microsoft.com/office/drawing/2014/main" id="{67C110AD-DB7B-4F73-BE52-352CA5E96C9D}"/>
              </a:ext>
            </a:extLst>
          </p:cNvPr>
          <p:cNvSpPr>
            <a:spLocks xmlns:a="http://schemas.openxmlformats.org/drawingml/2006/main" noGrp="1"/>
          </p:cNvSpPr>
          <p:nvPr/>
        </p:nvSpPr>
        <p:spPr>
          <a:xfrm xmlns:a="http://schemas.openxmlformats.org/drawingml/2006/main">
            <a:off x="6286500" y="3267075"/>
            <a:ext cx="13906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1" name="">
            <a:extLst xmlns:a="http://schemas.openxmlformats.org/drawingml/2006/main">
              <a:ext uri="{FF2B5EF4-FFF2-40B4-BE49-F238E27FC236}">
                <a16:creationId xmlns:a16="http://schemas.microsoft.com/office/drawing/2014/main" id="{F9A63EE4-ECE3-48B4-B351-BDF6F8132AD7}"/>
              </a:ext>
            </a:extLst>
          </p:cNvPr>
          <p:cNvSpPr>
            <a:spLocks xmlns:a="http://schemas.openxmlformats.org/drawingml/2006/main" noGrp="1"/>
          </p:cNvSpPr>
          <p:nvPr/>
        </p:nvSpPr>
        <p:spPr>
          <a:xfrm xmlns:a="http://schemas.openxmlformats.org/drawingml/2006/main">
            <a:off x="6248400" y="3352800"/>
            <a:ext cx="14668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Adam</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gradient clip</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log倍率clamp</a:t>
            </a:r>
          </a:p>
        </p:txBody>
      </p:sp>
      <p:sp>
        <p:nvSpPr>
          <p:cNvPr id="32" name="">
            <a:extLst xmlns:a="http://schemas.openxmlformats.org/drawingml/2006/main">
              <a:ext uri="{FF2B5EF4-FFF2-40B4-BE49-F238E27FC236}">
                <a16:creationId xmlns:a16="http://schemas.microsoft.com/office/drawing/2014/main" id="{71624450-63EB-4DAB-9974-E28192DEF4FA}"/>
              </a:ext>
            </a:extLst>
          </p:cNvPr>
          <p:cNvSpPr>
            <a:spLocks xmlns:a="http://schemas.openxmlformats.org/drawingml/2006/main" noGrp="1"/>
          </p:cNvSpPr>
          <p:nvPr/>
        </p:nvSpPr>
        <p:spPr>
          <a:xfrm xmlns:a="http://schemas.openxmlformats.org/drawingml/2006/main">
            <a:off x="8020050" y="2752725"/>
            <a:ext cx="1657350" cy="1343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3" name="">
            <a:extLst xmlns:a="http://schemas.openxmlformats.org/drawingml/2006/main">
              <a:ext uri="{FF2B5EF4-FFF2-40B4-BE49-F238E27FC236}">
                <a16:creationId xmlns:a16="http://schemas.microsoft.com/office/drawing/2014/main" id="{FB396606-6125-4E42-ABBC-995E2CFB5E84}"/>
              </a:ext>
            </a:extLst>
          </p:cNvPr>
          <p:cNvSpPr>
            <a:spLocks xmlns:a="http://schemas.openxmlformats.org/drawingml/2006/main" noGrp="1"/>
          </p:cNvSpPr>
          <p:nvPr/>
        </p:nvSpPr>
        <p:spPr>
          <a:xfrm xmlns:a="http://schemas.openxmlformats.org/drawingml/2006/main">
            <a:off x="8020050" y="2752725"/>
            <a:ext cx="1657350" cy="66675"/>
          </a:xfrm>
          <a:prstGeom xmlns:a="http://schemas.openxmlformats.org/drawingml/2006/main" prst="rect">
            <a:avLst/>
          </a:prstGeom>
          <a:solidFill xmlns:a="http://schemas.openxmlformats.org/drawingml/2006/main">
            <a:srgbClr val="00A89D"/>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83624B1F-F484-4D78-ABE6-8F6128238D2E}"/>
              </a:ext>
            </a:extLst>
          </p:cNvPr>
          <p:cNvSpPr>
            <a:spLocks xmlns:a="http://schemas.openxmlformats.org/drawingml/2006/main" noGrp="1"/>
          </p:cNvSpPr>
          <p:nvPr/>
        </p:nvSpPr>
        <p:spPr>
          <a:xfrm xmlns:a="http://schemas.openxmlformats.org/drawingml/2006/main">
            <a:off x="8134350" y="292417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00A89D"/>
                </a:solidFill>
                <a:latin typeface="Yu Gothic"/>
                <a:ea typeface="Yu Gothic"/>
                <a:cs typeface="Yu Gothic"/>
              </a:defRPr>
            </a:pPr>
            <a:r>
              <a:rPr sz="1125" b="1" i="0">
                <a:solidFill>
                  <a:srgbClr val="00A89D"/>
                </a:solidFill>
                <a:latin typeface="Yu Gothic"/>
                <a:ea typeface="Yu Gothic"/>
                <a:cs typeface="Yu Gothic"/>
              </a:rPr>
              <a:t>5  select</a:t>
            </a:r>
          </a:p>
        </p:txBody>
      </p:sp>
      <p:sp>
        <p:nvSpPr>
          <p:cNvPr id="35" name="">
            <a:extLst xmlns:a="http://schemas.openxmlformats.org/drawingml/2006/main">
              <a:ext uri="{FF2B5EF4-FFF2-40B4-BE49-F238E27FC236}">
                <a16:creationId xmlns:a16="http://schemas.microsoft.com/office/drawing/2014/main" id="{A11AA1BD-DECD-43BB-8B10-5BFC259B3279}"/>
              </a:ext>
            </a:extLst>
          </p:cNvPr>
          <p:cNvSpPr>
            <a:spLocks xmlns:a="http://schemas.openxmlformats.org/drawingml/2006/main" noGrp="1"/>
          </p:cNvSpPr>
          <p:nvPr/>
        </p:nvSpPr>
        <p:spPr>
          <a:xfrm xmlns:a="http://schemas.openxmlformats.org/drawingml/2006/main">
            <a:off x="8153400" y="3267075"/>
            <a:ext cx="13906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6" name="">
            <a:extLst xmlns:a="http://schemas.openxmlformats.org/drawingml/2006/main">
              <a:ext uri="{FF2B5EF4-FFF2-40B4-BE49-F238E27FC236}">
                <a16:creationId xmlns:a16="http://schemas.microsoft.com/office/drawing/2014/main" id="{E3F60C70-E621-4A71-B960-42DCC2FE1F0C}"/>
              </a:ext>
            </a:extLst>
          </p:cNvPr>
          <p:cNvSpPr>
            <a:spLocks xmlns:a="http://schemas.openxmlformats.org/drawingml/2006/main" noGrp="1"/>
          </p:cNvSpPr>
          <p:nvPr/>
        </p:nvSpPr>
        <p:spPr>
          <a:xfrm xmlns:a="http://schemas.openxmlformats.org/drawingml/2006/main">
            <a:off x="8115300" y="3352800"/>
            <a:ext cx="14668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causal full-rollout</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validation RMSE</a:t>
            </a:r>
          </a:p>
        </p:txBody>
      </p:sp>
      <p:sp>
        <p:nvSpPr>
          <p:cNvPr id="37" name="">
            <a:extLst xmlns:a="http://schemas.openxmlformats.org/drawingml/2006/main">
              <a:ext uri="{FF2B5EF4-FFF2-40B4-BE49-F238E27FC236}">
                <a16:creationId xmlns:a16="http://schemas.microsoft.com/office/drawing/2014/main" id="{BFCB2CE2-68C4-4A46-B403-0E0D0370EFF6}"/>
              </a:ext>
            </a:extLst>
          </p:cNvPr>
          <p:cNvSpPr>
            <a:spLocks xmlns:a="http://schemas.openxmlformats.org/drawingml/2006/main" noGrp="1"/>
          </p:cNvSpPr>
          <p:nvPr/>
        </p:nvSpPr>
        <p:spPr>
          <a:xfrm xmlns:a="http://schemas.openxmlformats.org/drawingml/2006/main">
            <a:off x="9886950" y="2752725"/>
            <a:ext cx="1752600" cy="1343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8" name="">
            <a:extLst xmlns:a="http://schemas.openxmlformats.org/drawingml/2006/main">
              <a:ext uri="{FF2B5EF4-FFF2-40B4-BE49-F238E27FC236}">
                <a16:creationId xmlns:a16="http://schemas.microsoft.com/office/drawing/2014/main" id="{7BB2398C-BC2A-4DF0-84E0-5046F5834995}"/>
              </a:ext>
            </a:extLst>
          </p:cNvPr>
          <p:cNvSpPr>
            <a:spLocks xmlns:a="http://schemas.openxmlformats.org/drawingml/2006/main" noGrp="1"/>
          </p:cNvSpPr>
          <p:nvPr/>
        </p:nvSpPr>
        <p:spPr>
          <a:xfrm xmlns:a="http://schemas.openxmlformats.org/drawingml/2006/main">
            <a:off x="9886950" y="2752725"/>
            <a:ext cx="1752600" cy="66675"/>
          </a:xfrm>
          <a:prstGeom xmlns:a="http://schemas.openxmlformats.org/drawingml/2006/main" prst="rect">
            <a:avLst/>
          </a:prstGeom>
          <a:solidFill xmlns:a="http://schemas.openxmlformats.org/drawingml/2006/main">
            <a:srgbClr val="007FA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97FA1E1-4CBA-450D-8811-AA7644AC2EAF}"/>
              </a:ext>
            </a:extLst>
          </p:cNvPr>
          <p:cNvSpPr>
            <a:spLocks xmlns:a="http://schemas.openxmlformats.org/drawingml/2006/main" noGrp="1"/>
          </p:cNvSpPr>
          <p:nvPr/>
        </p:nvSpPr>
        <p:spPr>
          <a:xfrm xmlns:a="http://schemas.openxmlformats.org/drawingml/2006/main">
            <a:off x="10001250" y="2924175"/>
            <a:ext cx="1524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007FA8"/>
                </a:solidFill>
                <a:latin typeface="Yu Gothic"/>
                <a:ea typeface="Yu Gothic"/>
                <a:cs typeface="Yu Gothic"/>
              </a:defRPr>
            </a:pPr>
            <a:r>
              <a:rPr sz="1125" b="1" i="0">
                <a:solidFill>
                  <a:srgbClr val="007FA8"/>
                </a:solidFill>
                <a:latin typeface="Yu Gothic"/>
                <a:ea typeface="Yu Gothic"/>
                <a:cs typeface="Yu Gothic"/>
              </a:rPr>
              <a:t>6  publish</a:t>
            </a:r>
          </a:p>
        </p:txBody>
      </p:sp>
      <p:sp>
        <p:nvSpPr>
          <p:cNvPr id="40" name="">
            <a:extLst xmlns:a="http://schemas.openxmlformats.org/drawingml/2006/main">
              <a:ext uri="{FF2B5EF4-FFF2-40B4-BE49-F238E27FC236}">
                <a16:creationId xmlns:a16="http://schemas.microsoft.com/office/drawing/2014/main" id="{3786B69B-CB09-47C2-A230-07F29B3BB31D}"/>
              </a:ext>
            </a:extLst>
          </p:cNvPr>
          <p:cNvSpPr>
            <a:spLocks xmlns:a="http://schemas.openxmlformats.org/drawingml/2006/main" noGrp="1"/>
          </p:cNvSpPr>
          <p:nvPr/>
        </p:nvSpPr>
        <p:spPr>
          <a:xfrm xmlns:a="http://schemas.openxmlformats.org/drawingml/2006/main">
            <a:off x="10020300" y="3267075"/>
            <a:ext cx="14859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41" name="">
            <a:extLst xmlns:a="http://schemas.openxmlformats.org/drawingml/2006/main">
              <a:ext uri="{FF2B5EF4-FFF2-40B4-BE49-F238E27FC236}">
                <a16:creationId xmlns:a16="http://schemas.microsoft.com/office/drawing/2014/main" id="{3122F6A5-8ED9-40EA-8A5B-1297553E7B7E}"/>
              </a:ext>
            </a:extLst>
          </p:cNvPr>
          <p:cNvSpPr>
            <a:spLocks xmlns:a="http://schemas.openxmlformats.org/drawingml/2006/main" noGrp="1"/>
          </p:cNvSpPr>
          <p:nvPr/>
        </p:nvSpPr>
        <p:spPr>
          <a:xfrm xmlns:a="http://schemas.openxmlformats.org/drawingml/2006/main">
            <a:off x="9982200" y="3352800"/>
            <a:ext cx="15621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best stateのみ</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artifactへ保存</a:t>
            </a:r>
          </a:p>
        </p:txBody>
      </p:sp>
      <p:cxnSp>
        <p:nvCxnSpPr>
          <p:cNvPr id="90" name=""/>
          <p:cNvCxnSpPr>
            <a:stCxn xmlns:a="http://schemas.openxmlformats.org/drawingml/2006/main" id="12" idx="3"/>
            <a:endCxn xmlns:a="http://schemas.openxmlformats.org/drawingml/2006/main" id="17" idx="1"/>
          </p:cNvCxnSpPr>
          <p:nvPr/>
        </p:nvCxnSpPr>
        <p:spPr>
          <a:xfrm xmlns:a="http://schemas.openxmlformats.org/drawingml/2006/main">
            <a:off x="2209800" y="3424238"/>
            <a:ext cx="20955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1" name=""/>
          <p:cNvCxnSpPr>
            <a:stCxn xmlns:a="http://schemas.openxmlformats.org/drawingml/2006/main" id="17" idx="3"/>
            <a:endCxn xmlns:a="http://schemas.openxmlformats.org/drawingml/2006/main" id="22" idx="1"/>
          </p:cNvCxnSpPr>
          <p:nvPr/>
        </p:nvCxnSpPr>
        <p:spPr>
          <a:xfrm xmlns:a="http://schemas.openxmlformats.org/drawingml/2006/main">
            <a:off x="4076700" y="3424238"/>
            <a:ext cx="20955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2" name=""/>
          <p:cNvCxnSpPr>
            <a:stCxn xmlns:a="http://schemas.openxmlformats.org/drawingml/2006/main" id="22" idx="3"/>
            <a:endCxn xmlns:a="http://schemas.openxmlformats.org/drawingml/2006/main" id="27" idx="1"/>
          </p:cNvCxnSpPr>
          <p:nvPr/>
        </p:nvCxnSpPr>
        <p:spPr>
          <a:xfrm xmlns:a="http://schemas.openxmlformats.org/drawingml/2006/main">
            <a:off x="5943600" y="3424238"/>
            <a:ext cx="20955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3" name=""/>
          <p:cNvCxnSpPr>
            <a:stCxn xmlns:a="http://schemas.openxmlformats.org/drawingml/2006/main" id="27" idx="3"/>
            <a:endCxn xmlns:a="http://schemas.openxmlformats.org/drawingml/2006/main" id="32" idx="1"/>
          </p:cNvCxnSpPr>
          <p:nvPr/>
        </p:nvCxnSpPr>
        <p:spPr>
          <a:xfrm xmlns:a="http://schemas.openxmlformats.org/drawingml/2006/main">
            <a:off x="7810500" y="3424238"/>
            <a:ext cx="20955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4" name=""/>
          <p:cNvCxnSpPr>
            <a:stCxn xmlns:a="http://schemas.openxmlformats.org/drawingml/2006/main" id="32" idx="3"/>
            <a:endCxn xmlns:a="http://schemas.openxmlformats.org/drawingml/2006/main" id="37" idx="1"/>
          </p:cNvCxnSpPr>
          <p:nvPr/>
        </p:nvCxnSpPr>
        <p:spPr>
          <a:xfrm xmlns:a="http://schemas.openxmlformats.org/drawingml/2006/main">
            <a:off x="9677400" y="3424238"/>
            <a:ext cx="20955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graphicFrame>
        <p:nvGraphicFramePr>
          <p:cNvPr id="95" name=""/>
          <p:cNvGraphicFramePr/>
          <p:nvPr/>
        </p:nvGraphicFramePr>
        <p:xfrm>
          <a:off xmlns:a="http://schemas.openxmlformats.org/drawingml/2006/main" x="552450" y="4343400"/>
          <a:ext xmlns:a="http://schemas.openxmlformats.org/drawingml/2006/main" cx="11087100" cy="1685925"/>
        </p:xfrm>
        <a:graphic xmlns:a="http://schemas.openxmlformats.org/drawingml/2006/main">
          <a:graphicData uri="http://schemas.openxmlformats.org/drawingml/2006/table">
            <a:tbl>
              <a:tblPr/>
              <a:tblGrid>
                <a:gridCol w="2038350"/>
                <a:gridCol w="2571750"/>
                <a:gridCol w="4333875"/>
                <a:gridCol w="2143125"/>
              </a:tblGrid>
              <a:tr h="337185">
                <a:tc>
                  <a:txBody>
                    <a:bodyPr/>
                    <a:lstStyle/>
                    <a:p>
                      <a:r>
                        <a:rPr sz="938" b="1">
                          <a:solidFill>
                            <a:srgbClr val="FFFFFF"/>
                          </a:solidFill>
                          <a:latin typeface="Yu Gothic"/>
                          <a:ea typeface="Yu Gothic"/>
                          <a:cs typeface="Yu Gothic"/>
                        </a:rPr>
                        <a:t>最適化項目</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実装</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工学的な意味</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既定例</a:t>
                      </a:r>
                    </a:p>
                  </a:txBody>
                  <a:tcPr marL="91440" marR="91440" marT="45720" marB="45720">
                    <a:solidFill>
                      <a:srgbClr val="007FA8"/>
                    </a:solidFill>
                  </a:tcPr>
                </a:tc>
              </a:tr>
              <a:tr h="337185">
                <a:tc>
                  <a:txBody>
                    <a:bodyPr/>
                    <a:lstStyle/>
                    <a:p>
                      <a:r>
                        <a:rPr sz="840" b="1">
                          <a:solidFill>
                            <a:srgbClr val="007FA8"/>
                          </a:solidFill>
                          <a:latin typeface="Yu Gothic"/>
                          <a:ea typeface="Yu Gothic"/>
                          <a:cs typeface="Yu Gothic"/>
                        </a:rPr>
                        <a:t>parameterization</a:t>
                      </a:r>
                    </a:p>
                  </a:txBody>
                  <a:tcPr marL="91440" marR="91440" marT="45720" marB="45720">
                    <a:solidFill>
                      <a:srgbClr val="FFFFFF"/>
                    </a:solidFill>
                  </a:tcPr>
                </a:tc>
                <a:tc>
                  <a:txBody>
                    <a:bodyPr/>
                    <a:lstStyle/>
                    <a:p>
                      <a:r>
                        <a:rPr sz="840">
                          <a:solidFill>
                            <a:srgbClr val="5B5B5B"/>
                          </a:solidFill>
                          <a:latin typeface="Yu Gothic"/>
                          <a:ea typeface="Yu Gothic"/>
                          <a:cs typeface="Yu Gothic"/>
                        </a:rPr>
                        <a:t>p=p0·exp(ℓ)</a:t>
                      </a:r>
                    </a:p>
                  </a:txBody>
                  <a:tcPr marL="91440" marR="91440" marT="45720" marB="45720">
                    <a:solidFill>
                      <a:srgbClr val="FFFFFF"/>
                    </a:solidFill>
                  </a:tcPr>
                </a:tc>
                <a:tc>
                  <a:txBody>
                    <a:bodyPr/>
                    <a:lstStyle/>
                    <a:p>
                      <a:r>
                        <a:rPr sz="840">
                          <a:solidFill>
                            <a:srgbClr val="5B5B5B"/>
                          </a:solidFill>
                          <a:latin typeface="Yu Gothic"/>
                          <a:ea typeface="Yu Gothic"/>
                          <a:cs typeface="Yu Gothic"/>
                        </a:rPr>
                        <a:t>係数を正値に保ち、priorからの倍率で解釈</a:t>
                      </a:r>
                    </a:p>
                  </a:txBody>
                  <a:tcPr marL="91440" marR="91440" marT="45720" marB="45720">
                    <a:solidFill>
                      <a:srgbClr val="FFFFFF"/>
                    </a:solidFill>
                  </a:tcPr>
                </a:tc>
                <a:tc>
                  <a:txBody>
                    <a:bodyPr/>
                    <a:lstStyle/>
                    <a:p>
                      <a:r>
                        <a:rPr sz="840">
                          <a:solidFill>
                            <a:srgbClr val="5B5B5B"/>
                          </a:solidFill>
                          <a:latin typeface="Yu Gothic"/>
                          <a:ea typeface="Yu Gothic"/>
                          <a:cs typeface="Yu Gothic"/>
                        </a:rPr>
                        <a:t>learnable項のみ</a:t>
                      </a:r>
                    </a:p>
                  </a:txBody>
                  <a:tcPr marL="91440" marR="91440" marT="45720" marB="45720">
                    <a:solidFill>
                      <a:srgbClr val="FFFFFF"/>
                    </a:solidFill>
                  </a:tcPr>
                </a:tc>
              </a:tr>
              <a:tr h="337185">
                <a:tc>
                  <a:txBody>
                    <a:bodyPr/>
                    <a:lstStyle/>
                    <a:p>
                      <a:r>
                        <a:rPr sz="840" b="1">
                          <a:solidFill>
                            <a:srgbClr val="007FA8"/>
                          </a:solidFill>
                          <a:latin typeface="Yu Gothic"/>
                          <a:ea typeface="Yu Gothic"/>
                          <a:cs typeface="Yu Gothic"/>
                        </a:rPr>
                        <a:t>robust loss</a:t>
                      </a:r>
                    </a:p>
                  </a:txBody>
                  <a:tcPr marL="91440" marR="91440" marT="45720" marB="45720">
                    <a:solidFill>
                      <a:srgbClr val="F8F8F8"/>
                    </a:solidFill>
                  </a:tcPr>
                </a:tc>
                <a:tc>
                  <a:txBody>
                    <a:bodyPr/>
                    <a:lstStyle/>
                    <a:p>
                      <a:r>
                        <a:rPr sz="840">
                          <a:solidFill>
                            <a:srgbClr val="5B5B5B"/>
                          </a:solidFill>
                          <a:latin typeface="Yu Gothic"/>
                          <a:ea typeface="Yu Gothic"/>
                          <a:cs typeface="Yu Gothic"/>
                        </a:rPr>
                        <a:t>Huber / Kelvin単位</a:t>
                      </a:r>
                    </a:p>
                  </a:txBody>
                  <a:tcPr marL="91440" marR="91440" marT="45720" marB="45720">
                    <a:solidFill>
                      <a:srgbClr val="F8F8F8"/>
                    </a:solidFill>
                  </a:tcPr>
                </a:tc>
                <a:tc>
                  <a:txBody>
                    <a:bodyPr/>
                    <a:lstStyle/>
                    <a:p>
                      <a:r>
                        <a:rPr sz="840">
                          <a:solidFill>
                            <a:srgbClr val="5B5B5B"/>
                          </a:solidFill>
                          <a:latin typeface="Yu Gothic"/>
                          <a:ea typeface="Yu Gothic"/>
                          <a:cs typeface="Yu Gothic"/>
                        </a:rPr>
                        <a:t>gross residualの影響を二乗損失より抑制</a:t>
                      </a:r>
                    </a:p>
                  </a:txBody>
                  <a:tcPr marL="91440" marR="91440" marT="45720" marB="45720">
                    <a:solidFill>
                      <a:srgbClr val="F8F8F8"/>
                    </a:solidFill>
                  </a:tcPr>
                </a:tc>
                <a:tc>
                  <a:txBody>
                    <a:bodyPr/>
                    <a:lstStyle/>
                    <a:p>
                      <a:r>
                        <a:rPr sz="840">
                          <a:solidFill>
                            <a:srgbClr val="5B5B5B"/>
                          </a:solidFill>
                          <a:latin typeface="Yu Gothic"/>
                          <a:ea typeface="Yu Gothic"/>
                          <a:cs typeface="Yu Gothic"/>
                        </a:rPr>
                        <a:t>δ=1.0 K</a:t>
                      </a:r>
                    </a:p>
                  </a:txBody>
                  <a:tcPr marL="91440" marR="91440" marT="45720" marB="45720">
                    <a:solidFill>
                      <a:srgbClr val="F8F8F8"/>
                    </a:solidFill>
                  </a:tcPr>
                </a:tc>
              </a:tr>
              <a:tr h="337185">
                <a:tc>
                  <a:txBody>
                    <a:bodyPr/>
                    <a:lstStyle/>
                    <a:p>
                      <a:r>
                        <a:rPr sz="840" b="1">
                          <a:solidFill>
                            <a:srgbClr val="007FA8"/>
                          </a:solidFill>
                          <a:latin typeface="Yu Gothic"/>
                          <a:ea typeface="Yu Gothic"/>
                          <a:cs typeface="Yu Gothic"/>
                        </a:rPr>
                        <a:t>optimizer</a:t>
                      </a:r>
                    </a:p>
                  </a:txBody>
                  <a:tcPr marL="91440" marR="91440" marT="45720" marB="45720">
                    <a:solidFill>
                      <a:srgbClr val="FFFFFF"/>
                    </a:solidFill>
                  </a:tcPr>
                </a:tc>
                <a:tc>
                  <a:txBody>
                    <a:bodyPr/>
                    <a:lstStyle/>
                    <a:p>
                      <a:r>
                        <a:rPr sz="840">
                          <a:solidFill>
                            <a:srgbClr val="5B5B5B"/>
                          </a:solidFill>
                          <a:latin typeface="Yu Gothic"/>
                          <a:ea typeface="Yu Gothic"/>
                          <a:cs typeface="Yu Gothic"/>
                        </a:rPr>
                        <a:t>Adam + norm clipping</a:t>
                      </a:r>
                    </a:p>
                  </a:txBody>
                  <a:tcPr marL="91440" marR="91440" marT="45720" marB="45720">
                    <a:solidFill>
                      <a:srgbClr val="FFFFFF"/>
                    </a:solidFill>
                  </a:tcPr>
                </a:tc>
                <a:tc>
                  <a:txBody>
                    <a:bodyPr/>
                    <a:lstStyle/>
                    <a:p>
                      <a:r>
                        <a:rPr sz="840">
                          <a:solidFill>
                            <a:srgbClr val="5B5B5B"/>
                          </a:solidFill>
                          <a:latin typeface="Yu Gothic"/>
                          <a:ea typeface="Yu Gothic"/>
                          <a:cs typeface="Yu Gothic"/>
                        </a:rPr>
                        <a:t>異なる係数scaleを扱い、発散を検出</a:t>
                      </a:r>
                    </a:p>
                  </a:txBody>
                  <a:tcPr marL="91440" marR="91440" marT="45720" marB="45720">
                    <a:solidFill>
                      <a:srgbClr val="FFFFFF"/>
                    </a:solidFill>
                  </a:tcPr>
                </a:tc>
                <a:tc>
                  <a:txBody>
                    <a:bodyPr/>
                    <a:lstStyle/>
                    <a:p>
                      <a:r>
                        <a:rPr sz="840">
                          <a:solidFill>
                            <a:srgbClr val="5B5B5B"/>
                          </a:solidFill>
                          <a:latin typeface="Yu Gothic"/>
                          <a:ea typeface="Yu Gothic"/>
                          <a:cs typeface="Yu Gothic"/>
                        </a:rPr>
                        <a:t>lr=0.03 / clip=10</a:t>
                      </a:r>
                    </a:p>
                  </a:txBody>
                  <a:tcPr marL="91440" marR="91440" marT="45720" marB="45720">
                    <a:solidFill>
                      <a:srgbClr val="FFFFFF"/>
                    </a:solidFill>
                  </a:tcPr>
                </a:tc>
              </a:tr>
              <a:tr h="337185">
                <a:tc>
                  <a:txBody>
                    <a:bodyPr/>
                    <a:lstStyle/>
                    <a:p>
                      <a:r>
                        <a:rPr sz="840" b="1">
                          <a:solidFill>
                            <a:srgbClr val="007FA8"/>
                          </a:solidFill>
                          <a:latin typeface="Yu Gothic"/>
                          <a:ea typeface="Yu Gothic"/>
                          <a:cs typeface="Yu Gothic"/>
                        </a:rPr>
                        <a:t>early selection</a:t>
                      </a:r>
                    </a:p>
                  </a:txBody>
                  <a:tcPr marL="91440" marR="91440" marT="45720" marB="45720">
                    <a:solidFill>
                      <a:srgbClr val="F8F8F8"/>
                    </a:solidFill>
                  </a:tcPr>
                </a:tc>
                <a:tc>
                  <a:txBody>
                    <a:bodyPr/>
                    <a:lstStyle/>
                    <a:p>
                      <a:r>
                        <a:rPr sz="840">
                          <a:solidFill>
                            <a:srgbClr val="5B5B5B"/>
                          </a:solidFill>
                          <a:latin typeface="Yu Gothic"/>
                          <a:ea typeface="Yu Gothic"/>
                          <a:cs typeface="Yu Gothic"/>
                        </a:rPr>
                        <a:t>patience付きcausal validation</a:t>
                      </a:r>
                    </a:p>
                  </a:txBody>
                  <a:tcPr marL="91440" marR="91440" marT="45720" marB="45720">
                    <a:solidFill>
                      <a:srgbClr val="F8F8F8"/>
                    </a:solidFill>
                  </a:tcPr>
                </a:tc>
                <a:tc>
                  <a:txBody>
                    <a:bodyPr/>
                    <a:lstStyle/>
                    <a:p>
                      <a:r>
                        <a:rPr sz="840">
                          <a:solidFill>
                            <a:srgbClr val="5B5B5B"/>
                          </a:solidFill>
                          <a:latin typeface="Yu Gothic"/>
                          <a:ea typeface="Yu Gothic"/>
                          <a:cs typeface="Yu Gothic"/>
                        </a:rPr>
                        <a:t>conditional fitではなく配備時rolloutを選択</a:t>
                      </a:r>
                    </a:p>
                  </a:txBody>
                  <a:tcPr marL="91440" marR="91440" marT="45720" marB="45720">
                    <a:solidFill>
                      <a:srgbClr val="F8F8F8"/>
                    </a:solidFill>
                  </a:tcPr>
                </a:tc>
                <a:tc>
                  <a:txBody>
                    <a:bodyPr/>
                    <a:lstStyle/>
                    <a:p>
                      <a:r>
                        <a:rPr sz="840">
                          <a:solidFill>
                            <a:srgbClr val="5B5B5B"/>
                          </a:solidFill>
                          <a:latin typeface="Yu Gothic"/>
                          <a:ea typeface="Yu Gothic"/>
                          <a:cs typeface="Yu Gothic"/>
                        </a:rPr>
                        <a:t>5 epochごと / patience=8</a:t>
                      </a:r>
                    </a:p>
                  </a:txBody>
                  <a:tcPr marL="91440" marR="91440" marT="45720" marB="45720">
                    <a:solidFill>
                      <a:srgbClr val="F8F8F8"/>
                    </a:solidFill>
                  </a:tcPr>
                </a:tc>
              </a:tr>
            </a:tbl>
          </a:graphicData>
        </a:graphic>
      </p:graphicFrame>
      <p:sp>
        <p:nvSpPr>
          <p:cNvPr id="48" name="">
            <a:extLst xmlns:a="http://schemas.openxmlformats.org/drawingml/2006/main">
              <a:ext uri="{FF2B5EF4-FFF2-40B4-BE49-F238E27FC236}">
                <a16:creationId xmlns:a16="http://schemas.microsoft.com/office/drawing/2014/main" id="{69FF541B-3EB7-4771-A72A-B31257E74999}"/>
              </a:ext>
            </a:extLst>
          </p:cNvPr>
          <p:cNvSpPr>
            <a:spLocks xmlns:a="http://schemas.openxmlformats.org/drawingml/2006/main" noGrp="1"/>
          </p:cNvSpPr>
          <p:nvPr/>
        </p:nvSpPr>
        <p:spPr>
          <a:xfrm xmlns:a="http://schemas.openxmlformats.org/drawingml/2006/main">
            <a:off x="552450" y="6105525"/>
            <a:ext cx="110871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48" b="1" i="0">
                <a:solidFill>
                  <a:srgbClr val="C4493D"/>
                </a:solidFill>
                <a:latin typeface="Yu Gothic"/>
                <a:ea typeface="Yu Gothic"/>
                <a:cs typeface="Yu Gothic"/>
              </a:defRPr>
            </a:pPr>
            <a:r>
              <a:rPr sz="848" b="1" i="0">
                <a:solidFill>
                  <a:srgbClr val="C4493D"/>
                </a:solidFill>
                <a:latin typeface="Yu Gothic"/>
                <a:ea typeface="Yu Gothic"/>
                <a:cs typeface="Yu Gothic"/>
              </a:rPr>
              <a:t>注意：optimizer収束はparameter一意性を保証しない。感度rank・複数seed・独立holdoutを別gateとする。</a:t>
            </a:r>
          </a:p>
        </p:txBody>
      </p:sp>
    </p:spTree>
    <p:extLst>
      <p:ext uri="{BB962C8B-B14F-4D97-AF65-F5344CB8AC3E}">
        <p14:creationId xmlns:p14="http://schemas.microsoft.com/office/powerpoint/2010/main" val="65881446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1FBB8C7-9E04-433D-9DBA-2AE103684EAE}"/>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321533F-B8AB-4115-9B11-0A85AA82CBDE}"/>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IDENTIFICATION</a:t>
            </a:r>
          </a:p>
        </p:txBody>
      </p:sp>
      <p:sp>
        <p:nvSpPr>
          <p:cNvPr id="3" name="">
            <a:extLst xmlns:a="http://schemas.openxmlformats.org/drawingml/2006/main">
              <a:ext uri="{FF2B5EF4-FFF2-40B4-BE49-F238E27FC236}">
                <a16:creationId xmlns:a16="http://schemas.microsoft.com/office/drawing/2014/main" id="{D23ED09E-8DEB-4AB7-97EE-09982686889E}"/>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物理制約付き最適化と励振設計を一体化し、識別できる係数だけを学習する</a:t>
            </a:r>
          </a:p>
        </p:txBody>
      </p:sp>
      <p:sp>
        <p:nvSpPr>
          <p:cNvPr id="4" name="">
            <a:extLst xmlns:a="http://schemas.openxmlformats.org/drawingml/2006/main">
              <a:ext uri="{FF2B5EF4-FFF2-40B4-BE49-F238E27FC236}">
                <a16:creationId xmlns:a16="http://schemas.microsoft.com/office/drawing/2014/main" id="{EAC0BF0B-08B5-4E2A-848C-7D8967DD761F}"/>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低RMSEでも、共線性や初期値依存が残れば装置外挿には使わない</a:t>
            </a:r>
          </a:p>
        </p:txBody>
      </p:sp>
      <p:sp>
        <p:nvSpPr>
          <p:cNvPr id="5" name="">
            <a:extLst xmlns:a="http://schemas.openxmlformats.org/drawingml/2006/main">
              <a:ext uri="{FF2B5EF4-FFF2-40B4-BE49-F238E27FC236}">
                <a16:creationId xmlns:a16="http://schemas.microsoft.com/office/drawing/2014/main" id="{AE475737-7CD9-4C41-9633-28A223DC06EF}"/>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72C0EB9C-34EF-4352-988C-DABA05CD1687}"/>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1207B3A3-9618-4963-A310-F6B9675B840C}"/>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CE19F9C5-F7D1-4AFF-97A4-5C2B40500467}"/>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15</a:t>
            </a:r>
          </a:p>
        </p:txBody>
      </p:sp>
      <p:sp>
        <p:nvSpPr>
          <p:cNvPr id="9" name="">
            <a:extLst xmlns:a="http://schemas.openxmlformats.org/drawingml/2006/main">
              <a:ext uri="{FF2B5EF4-FFF2-40B4-BE49-F238E27FC236}">
                <a16:creationId xmlns:a16="http://schemas.microsoft.com/office/drawing/2014/main" id="{B841A148-2D00-4ECA-A900-1BCB4A407B22}"/>
              </a:ext>
            </a:extLst>
          </p:cNvPr>
          <p:cNvSpPr>
            <a:spLocks xmlns:a="http://schemas.openxmlformats.org/drawingml/2006/main" noGrp="1"/>
          </p:cNvSpPr>
          <p:nvPr/>
        </p:nvSpPr>
        <p:spPr>
          <a:xfrm xmlns:a="http://schemas.openxmlformats.org/drawingml/2006/main">
            <a:off x="552450" y="1438275"/>
            <a:ext cx="4191000" cy="2057400"/>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97161E99-59A6-41F6-B438-338373F6F9D0}"/>
              </a:ext>
            </a:extLst>
          </p:cNvPr>
          <p:cNvSpPr>
            <a:spLocks xmlns:a="http://schemas.openxmlformats.org/drawingml/2006/main" noGrp="1"/>
          </p:cNvSpPr>
          <p:nvPr/>
        </p:nvSpPr>
        <p:spPr>
          <a:xfrm xmlns:a="http://schemas.openxmlformats.org/drawingml/2006/main">
            <a:off x="752475" y="1609725"/>
            <a:ext cx="1476375" cy="238125"/>
          </a:xfrm>
          <a:prstGeom xmlns:a="http://schemas.openxmlformats.org/drawingml/2006/main" prst="roundRect">
            <a:avLst>
              <a:gd name="adj" fmla="val 50000"/>
            </a:avLst>
          </a:prstGeom>
          <a:solidFill xmlns:a="http://schemas.openxmlformats.org/drawingml/2006/main">
            <a:srgbClr val="EFE5F6"/>
          </a:solidFill>
          <a:ln xmlns:a="http://schemas.openxmlformats.org/drawingml/2006/main" w="9525">
            <a:solidFill>
              <a:srgbClr val="7B2DAF"/>
            </a:solidFill>
            <a:prstDash val="solid"/>
          </a:ln>
        </p:spPr>
      </p:sp>
      <p:sp>
        <p:nvSpPr>
          <p:cNvPr id="11" name="">
            <a:extLst xmlns:a="http://schemas.openxmlformats.org/drawingml/2006/main">
              <a:ext uri="{FF2B5EF4-FFF2-40B4-BE49-F238E27FC236}">
                <a16:creationId xmlns:a16="http://schemas.microsoft.com/office/drawing/2014/main" id="{7D64A469-9BB1-4333-816B-F1E3C01F0AE7}"/>
              </a:ext>
            </a:extLst>
          </p:cNvPr>
          <p:cNvSpPr>
            <a:spLocks xmlns:a="http://schemas.openxmlformats.org/drawingml/2006/main" noGrp="1"/>
          </p:cNvSpPr>
          <p:nvPr/>
        </p:nvSpPr>
        <p:spPr>
          <a:xfrm xmlns:a="http://schemas.openxmlformats.org/drawingml/2006/main">
            <a:off x="800100" y="1619250"/>
            <a:ext cx="1381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7B2DAF"/>
                </a:solidFill>
                <a:latin typeface="Yu Gothic"/>
                <a:ea typeface="Yu Gothic"/>
                <a:cs typeface="Yu Gothic"/>
              </a:defRPr>
            </a:pPr>
            <a:r>
              <a:rPr sz="788" b="1" i="0">
                <a:solidFill>
                  <a:srgbClr val="7B2DAF"/>
                </a:solidFill>
                <a:latin typeface="Yu Gothic"/>
                <a:ea typeface="Yu Gothic"/>
                <a:cs typeface="Yu Gothic"/>
              </a:rPr>
              <a:t>ROBUST OBJECTIVE</a:t>
            </a:r>
          </a:p>
        </p:txBody>
      </p:sp>
      <p:sp>
        <p:nvSpPr>
          <p:cNvPr id="12" name="">
            <a:extLst xmlns:a="http://schemas.openxmlformats.org/drawingml/2006/main">
              <a:ext uri="{FF2B5EF4-FFF2-40B4-BE49-F238E27FC236}">
                <a16:creationId xmlns:a16="http://schemas.microsoft.com/office/drawing/2014/main" id="{13997472-BAD1-4AA6-9BC7-3C22E68F060E}"/>
              </a:ext>
            </a:extLst>
          </p:cNvPr>
          <p:cNvSpPr>
            <a:spLocks xmlns:a="http://schemas.openxmlformats.org/drawingml/2006/main" noGrp="1"/>
          </p:cNvSpPr>
          <p:nvPr/>
        </p:nvSpPr>
        <p:spPr>
          <a:xfrm xmlns:a="http://schemas.openxmlformats.org/drawingml/2006/main">
            <a:off x="781050" y="204787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650" b="1" i="0">
                <a:solidFill>
                  <a:srgbClr val="3F3F3F"/>
                </a:solidFill>
                <a:latin typeface="Cambria Math"/>
                <a:ea typeface="Cambria Math"/>
                <a:cs typeface="Cambria Math"/>
              </a:defRPr>
            </a:pPr>
            <a:r>
              <a:rPr sz="1650" b="1" i="0">
                <a:solidFill>
                  <a:srgbClr val="3F3F3F"/>
                </a:solidFill>
                <a:latin typeface="Cambria Math"/>
                <a:ea typeface="Cambria Math"/>
                <a:cs typeface="Cambria Math"/>
              </a:rPr>
              <a:t>minθ  ΣₛΣₖ mₛₖ ρδ(yₛₖ − ŷₛₖ(θ))</a:t>
            </a:r>
          </a:p>
        </p:txBody>
      </p:sp>
      <p:sp>
        <p:nvSpPr>
          <p:cNvPr id="13" name="">
            <a:extLst xmlns:a="http://schemas.openxmlformats.org/drawingml/2006/main">
              <a:ext uri="{FF2B5EF4-FFF2-40B4-BE49-F238E27FC236}">
                <a16:creationId xmlns:a16="http://schemas.microsoft.com/office/drawing/2014/main" id="{2D74459A-AC1D-4C21-A6DB-C66FD9B22D19}"/>
              </a:ext>
            </a:extLst>
          </p:cNvPr>
          <p:cNvSpPr>
            <a:spLocks xmlns:a="http://schemas.openxmlformats.org/drawingml/2006/main" noGrp="1"/>
          </p:cNvSpPr>
          <p:nvPr/>
        </p:nvSpPr>
        <p:spPr>
          <a:xfrm xmlns:a="http://schemas.openxmlformats.org/drawingml/2006/main">
            <a:off x="781050" y="2466975"/>
            <a:ext cx="37338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500" b="0" i="0">
                <a:solidFill>
                  <a:srgbClr val="3F3F3F"/>
                </a:solidFill>
                <a:latin typeface="Cambria Math"/>
                <a:ea typeface="Cambria Math"/>
                <a:cs typeface="Cambria Math"/>
              </a:defRPr>
            </a:pPr>
            <a:r>
              <a:rPr sz="1500" b="0" i="0">
                <a:solidFill>
                  <a:srgbClr val="3F3F3F"/>
                </a:solidFill>
                <a:latin typeface="Cambria Math"/>
                <a:ea typeface="Cambria Math"/>
                <a:cs typeface="Cambria Math"/>
              </a:rPr>
              <a:t>+ λp‖log(p/p₀)‖² + λx‖x₀−x̄₀‖²</a:t>
            </a:r>
          </a:p>
        </p:txBody>
      </p:sp>
      <p:sp>
        <p:nvSpPr>
          <p:cNvPr id="14" name="">
            <a:extLst xmlns:a="http://schemas.openxmlformats.org/drawingml/2006/main">
              <a:ext uri="{FF2B5EF4-FFF2-40B4-BE49-F238E27FC236}">
                <a16:creationId xmlns:a16="http://schemas.microsoft.com/office/drawing/2014/main" id="{860A00CE-4767-441A-8649-BD77273C8093}"/>
              </a:ext>
            </a:extLst>
          </p:cNvPr>
          <p:cNvSpPr>
            <a:spLocks xmlns:a="http://schemas.openxmlformats.org/drawingml/2006/main" noGrp="1"/>
          </p:cNvSpPr>
          <p:nvPr/>
        </p:nvSpPr>
        <p:spPr>
          <a:xfrm xmlns:a="http://schemas.openxmlformats.org/drawingml/2006/main">
            <a:off x="781050" y="3028950"/>
            <a:ext cx="3733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63" b="1" i="0">
                <a:solidFill>
                  <a:srgbClr val="7B2DAF"/>
                </a:solidFill>
                <a:latin typeface="Yu Gothic"/>
                <a:ea typeface="Yu Gothic"/>
                <a:cs typeface="Yu Gothic"/>
              </a:defRPr>
            </a:pPr>
            <a:r>
              <a:rPr sz="863" b="1" i="0">
                <a:solidFill>
                  <a:srgbClr val="7B2DAF"/>
                </a:solidFill>
                <a:latin typeface="Yu Gothic"/>
                <a:ea typeface="Yu Gothic"/>
                <a:cs typeface="Yu Gothic"/>
              </a:rPr>
              <a:t>p = p₀ exp(ℓ) &gt; 0  /  Huber loss  /  mask-aware</a:t>
            </a:r>
          </a:p>
        </p:txBody>
      </p:sp>
      <p:sp>
        <p:nvSpPr>
          <p:cNvPr id="15" name="">
            <a:extLst xmlns:a="http://schemas.openxmlformats.org/drawingml/2006/main">
              <a:ext uri="{FF2B5EF4-FFF2-40B4-BE49-F238E27FC236}">
                <a16:creationId xmlns:a16="http://schemas.microsoft.com/office/drawing/2014/main" id="{101BB34A-1471-4516-8C8D-EBE39FDE9BA6}"/>
              </a:ext>
            </a:extLst>
          </p:cNvPr>
          <p:cNvSpPr>
            <a:spLocks xmlns:a="http://schemas.openxmlformats.org/drawingml/2006/main" noGrp="1"/>
          </p:cNvSpPr>
          <p:nvPr/>
        </p:nvSpPr>
        <p:spPr>
          <a:xfrm xmlns:a="http://schemas.openxmlformats.org/drawingml/2006/main">
            <a:off x="4953000" y="1438275"/>
            <a:ext cx="6686550" cy="20574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4F342310-AFDA-4DB7-B33B-06BDA8E6BF6F}"/>
              </a:ext>
            </a:extLst>
          </p:cNvPr>
          <p:cNvSpPr>
            <a:spLocks xmlns:a="http://schemas.openxmlformats.org/drawingml/2006/main" noGrp="1"/>
          </p:cNvSpPr>
          <p:nvPr/>
        </p:nvSpPr>
        <p:spPr>
          <a:xfrm xmlns:a="http://schemas.openxmlformats.org/drawingml/2006/main">
            <a:off x="5143500" y="1609725"/>
            <a:ext cx="2047875"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3F3F3F"/>
                </a:solidFill>
                <a:latin typeface="Yu Gothic"/>
                <a:ea typeface="Yu Gothic"/>
                <a:cs typeface="Yu Gothic"/>
              </a:defRPr>
            </a:pPr>
            <a:r>
              <a:rPr sz="1275" b="1" i="0">
                <a:solidFill>
                  <a:srgbClr val="3F3F3F"/>
                </a:solidFill>
                <a:latin typeface="Yu Gothic"/>
                <a:ea typeface="Yu Gothic"/>
                <a:cs typeface="Yu Gothic"/>
              </a:rPr>
              <a:t>同定成立の判定</a:t>
            </a:r>
          </a:p>
        </p:txBody>
      </p:sp>
      <p:sp>
        <p:nvSpPr>
          <p:cNvPr id="17" name="">
            <a:extLst xmlns:a="http://schemas.openxmlformats.org/drawingml/2006/main">
              <a:ext uri="{FF2B5EF4-FFF2-40B4-BE49-F238E27FC236}">
                <a16:creationId xmlns:a16="http://schemas.microsoft.com/office/drawing/2014/main" id="{69EFADC0-6AD7-4681-86BB-82DECEB2A3C1}"/>
              </a:ext>
            </a:extLst>
          </p:cNvPr>
          <p:cNvSpPr>
            <a:spLocks xmlns:a="http://schemas.openxmlformats.org/drawingml/2006/main" noGrp="1"/>
          </p:cNvSpPr>
          <p:nvPr/>
        </p:nvSpPr>
        <p:spPr>
          <a:xfrm xmlns:a="http://schemas.openxmlformats.org/drawingml/2006/main">
            <a:off x="5143500" y="1971675"/>
            <a:ext cx="1009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感度rank</a:t>
            </a:r>
          </a:p>
        </p:txBody>
      </p:sp>
      <p:sp>
        <p:nvSpPr>
          <p:cNvPr id="18" name="">
            <a:extLst xmlns:a="http://schemas.openxmlformats.org/drawingml/2006/main">
              <a:ext uri="{FF2B5EF4-FFF2-40B4-BE49-F238E27FC236}">
                <a16:creationId xmlns:a16="http://schemas.microsoft.com/office/drawing/2014/main" id="{ADC2A59A-49BC-4C83-84E7-9171CD533544}"/>
              </a:ext>
            </a:extLst>
          </p:cNvPr>
          <p:cNvSpPr>
            <a:spLocks xmlns:a="http://schemas.openxmlformats.org/drawingml/2006/main" noGrp="1"/>
          </p:cNvSpPr>
          <p:nvPr/>
        </p:nvSpPr>
        <p:spPr>
          <a:xfrm xmlns:a="http://schemas.openxmlformats.org/drawingml/2006/main">
            <a:off x="6191250" y="1971675"/>
            <a:ext cx="2190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J = ∂ŷ/∂log p の特異値</a:t>
            </a:r>
          </a:p>
        </p:txBody>
      </p:sp>
      <p:sp>
        <p:nvSpPr>
          <p:cNvPr id="19" name="">
            <a:extLst xmlns:a="http://schemas.openxmlformats.org/drawingml/2006/main">
              <a:ext uri="{FF2B5EF4-FFF2-40B4-BE49-F238E27FC236}">
                <a16:creationId xmlns:a16="http://schemas.microsoft.com/office/drawing/2014/main" id="{1B12774E-CB61-4290-AFF1-BFC6B055AB33}"/>
              </a:ext>
            </a:extLst>
          </p:cNvPr>
          <p:cNvSpPr>
            <a:spLocks xmlns:a="http://schemas.openxmlformats.org/drawingml/2006/main" noGrp="1"/>
          </p:cNvSpPr>
          <p:nvPr/>
        </p:nvSpPr>
        <p:spPr>
          <a:xfrm xmlns:a="http://schemas.openxmlformats.org/drawingml/2006/main">
            <a:off x="8477250" y="1971675"/>
            <a:ext cx="295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小特異値 → parameter統合/固定</a:t>
            </a:r>
          </a:p>
        </p:txBody>
      </p:sp>
      <p:sp>
        <p:nvSpPr>
          <p:cNvPr id="20" name="">
            <a:extLst xmlns:a="http://schemas.openxmlformats.org/drawingml/2006/main">
              <a:ext uri="{FF2B5EF4-FFF2-40B4-BE49-F238E27FC236}">
                <a16:creationId xmlns:a16="http://schemas.microsoft.com/office/drawing/2014/main" id="{81E0B98F-8A2F-4DC4-8325-36D4C0D3B0AC}"/>
              </a:ext>
            </a:extLst>
          </p:cNvPr>
          <p:cNvSpPr>
            <a:spLocks xmlns:a="http://schemas.openxmlformats.org/drawingml/2006/main" noGrp="1"/>
          </p:cNvSpPr>
          <p:nvPr/>
        </p:nvSpPr>
        <p:spPr>
          <a:xfrm xmlns:a="http://schemas.openxmlformats.org/drawingml/2006/main">
            <a:off x="5143500" y="2324100"/>
            <a:ext cx="1009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profile</a:t>
            </a:r>
          </a:p>
        </p:txBody>
      </p:sp>
      <p:sp>
        <p:nvSpPr>
          <p:cNvPr id="21" name="">
            <a:extLst xmlns:a="http://schemas.openxmlformats.org/drawingml/2006/main">
              <a:ext uri="{FF2B5EF4-FFF2-40B4-BE49-F238E27FC236}">
                <a16:creationId xmlns:a16="http://schemas.microsoft.com/office/drawing/2014/main" id="{577C69AB-302F-4B71-90C5-203FC9017C5E}"/>
              </a:ext>
            </a:extLst>
          </p:cNvPr>
          <p:cNvSpPr>
            <a:spLocks xmlns:a="http://schemas.openxmlformats.org/drawingml/2006/main" noGrp="1"/>
          </p:cNvSpPr>
          <p:nvPr/>
        </p:nvSpPr>
        <p:spPr>
          <a:xfrm xmlns:a="http://schemas.openxmlformats.org/drawingml/2006/main">
            <a:off x="6191250" y="2324100"/>
            <a:ext cx="2190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1係数を走査して再最適化</a:t>
            </a:r>
          </a:p>
        </p:txBody>
      </p:sp>
      <p:sp>
        <p:nvSpPr>
          <p:cNvPr id="22" name="">
            <a:extLst xmlns:a="http://schemas.openxmlformats.org/drawingml/2006/main">
              <a:ext uri="{FF2B5EF4-FFF2-40B4-BE49-F238E27FC236}">
                <a16:creationId xmlns:a16="http://schemas.microsoft.com/office/drawing/2014/main" id="{EDD97053-3084-49EB-83AA-081E916274C4}"/>
              </a:ext>
            </a:extLst>
          </p:cNvPr>
          <p:cNvSpPr>
            <a:spLocks xmlns:a="http://schemas.openxmlformats.org/drawingml/2006/main" noGrp="1"/>
          </p:cNvSpPr>
          <p:nvPr/>
        </p:nvSpPr>
        <p:spPr>
          <a:xfrm xmlns:a="http://schemas.openxmlformats.org/drawingml/2006/main">
            <a:off x="8477250" y="2324100"/>
            <a:ext cx="295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平坦 → 信頼区間を主張しない</a:t>
            </a:r>
          </a:p>
        </p:txBody>
      </p:sp>
      <p:sp>
        <p:nvSpPr>
          <p:cNvPr id="23" name="">
            <a:extLst xmlns:a="http://schemas.openxmlformats.org/drawingml/2006/main">
              <a:ext uri="{FF2B5EF4-FFF2-40B4-BE49-F238E27FC236}">
                <a16:creationId xmlns:a16="http://schemas.microsoft.com/office/drawing/2014/main" id="{BA34CA06-2E3D-4A85-B54C-815A956C5244}"/>
              </a:ext>
            </a:extLst>
          </p:cNvPr>
          <p:cNvSpPr>
            <a:spLocks xmlns:a="http://schemas.openxmlformats.org/drawingml/2006/main" noGrp="1"/>
          </p:cNvSpPr>
          <p:nvPr/>
        </p:nvSpPr>
        <p:spPr>
          <a:xfrm xmlns:a="http://schemas.openxmlformats.org/drawingml/2006/main">
            <a:off x="5143500" y="2676525"/>
            <a:ext cx="1009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seed安定性</a:t>
            </a:r>
          </a:p>
        </p:txBody>
      </p:sp>
      <p:sp>
        <p:nvSpPr>
          <p:cNvPr id="24" name="">
            <a:extLst xmlns:a="http://schemas.openxmlformats.org/drawingml/2006/main">
              <a:ext uri="{FF2B5EF4-FFF2-40B4-BE49-F238E27FC236}">
                <a16:creationId xmlns:a16="http://schemas.microsoft.com/office/drawing/2014/main" id="{B596E398-A28A-4A3E-88E7-9F04BAB221E2}"/>
              </a:ext>
            </a:extLst>
          </p:cNvPr>
          <p:cNvSpPr>
            <a:spLocks xmlns:a="http://schemas.openxmlformats.org/drawingml/2006/main" noGrp="1"/>
          </p:cNvSpPr>
          <p:nvPr/>
        </p:nvSpPr>
        <p:spPr>
          <a:xfrm xmlns:a="http://schemas.openxmlformats.org/drawingml/2006/main">
            <a:off x="6191250" y="2676525"/>
            <a:ext cx="2190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複数初期値・再学習</a:t>
            </a:r>
          </a:p>
        </p:txBody>
      </p:sp>
      <p:sp>
        <p:nvSpPr>
          <p:cNvPr id="25" name="">
            <a:extLst xmlns:a="http://schemas.openxmlformats.org/drawingml/2006/main">
              <a:ext uri="{FF2B5EF4-FFF2-40B4-BE49-F238E27FC236}">
                <a16:creationId xmlns:a16="http://schemas.microsoft.com/office/drawing/2014/main" id="{50DC8317-B647-4CCB-A207-A1502358FF92}"/>
              </a:ext>
            </a:extLst>
          </p:cNvPr>
          <p:cNvSpPr>
            <a:spLocks xmlns:a="http://schemas.openxmlformats.org/drawingml/2006/main" noGrp="1"/>
          </p:cNvSpPr>
          <p:nvPr/>
        </p:nvSpPr>
        <p:spPr>
          <a:xfrm xmlns:a="http://schemas.openxmlformats.org/drawingml/2006/main">
            <a:off x="8477250" y="2676525"/>
            <a:ext cx="295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同一RMSEで係数が分岐 → 非一意</a:t>
            </a:r>
          </a:p>
        </p:txBody>
      </p:sp>
      <p:sp>
        <p:nvSpPr>
          <p:cNvPr id="26" name="">
            <a:extLst xmlns:a="http://schemas.openxmlformats.org/drawingml/2006/main">
              <a:ext uri="{FF2B5EF4-FFF2-40B4-BE49-F238E27FC236}">
                <a16:creationId xmlns:a16="http://schemas.microsoft.com/office/drawing/2014/main" id="{84BD96E1-3C49-40CF-87D1-546460E6FC84}"/>
              </a:ext>
            </a:extLst>
          </p:cNvPr>
          <p:cNvSpPr>
            <a:spLocks xmlns:a="http://schemas.openxmlformats.org/drawingml/2006/main" noGrp="1"/>
          </p:cNvSpPr>
          <p:nvPr/>
        </p:nvSpPr>
        <p:spPr>
          <a:xfrm xmlns:a="http://schemas.openxmlformats.org/drawingml/2006/main">
            <a:off x="5143500" y="3028950"/>
            <a:ext cx="1009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時間holdout</a:t>
            </a:r>
          </a:p>
        </p:txBody>
      </p:sp>
      <p:sp>
        <p:nvSpPr>
          <p:cNvPr id="27" name="">
            <a:extLst xmlns:a="http://schemas.openxmlformats.org/drawingml/2006/main">
              <a:ext uri="{FF2B5EF4-FFF2-40B4-BE49-F238E27FC236}">
                <a16:creationId xmlns:a16="http://schemas.microsoft.com/office/drawing/2014/main" id="{753E913D-E2B6-4547-B14D-481DBA0F4652}"/>
              </a:ext>
            </a:extLst>
          </p:cNvPr>
          <p:cNvSpPr>
            <a:spLocks xmlns:a="http://schemas.openxmlformats.org/drawingml/2006/main" noGrp="1"/>
          </p:cNvSpPr>
          <p:nvPr/>
        </p:nvSpPr>
        <p:spPr>
          <a:xfrm xmlns:a="http://schemas.openxmlformats.org/drawingml/2006/main">
            <a:off x="6191250" y="3028950"/>
            <a:ext cx="2190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将来suffix・別recipe</a:t>
            </a:r>
          </a:p>
        </p:txBody>
      </p:sp>
      <p:sp>
        <p:nvSpPr>
          <p:cNvPr id="28" name="">
            <a:extLst xmlns:a="http://schemas.openxmlformats.org/drawingml/2006/main">
              <a:ext uri="{FF2B5EF4-FFF2-40B4-BE49-F238E27FC236}">
                <a16:creationId xmlns:a16="http://schemas.microsoft.com/office/drawing/2014/main" id="{F23CA054-44F5-4267-AD13-28DCA8E0EBEE}"/>
              </a:ext>
            </a:extLst>
          </p:cNvPr>
          <p:cNvSpPr>
            <a:spLocks xmlns:a="http://schemas.openxmlformats.org/drawingml/2006/main" noGrp="1"/>
          </p:cNvSpPr>
          <p:nvPr/>
        </p:nvSpPr>
        <p:spPr>
          <a:xfrm xmlns:a="http://schemas.openxmlformats.org/drawingml/2006/main">
            <a:off x="8477250" y="3028950"/>
            <a:ext cx="295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同一trajectory内補間と分離</a:t>
            </a:r>
          </a:p>
        </p:txBody>
      </p:sp>
      <p:graphicFrame>
        <p:nvGraphicFramePr>
          <p:cNvPr id="60" name=""/>
          <p:cNvGraphicFramePr/>
          <p:nvPr/>
        </p:nvGraphicFramePr>
        <p:xfrm>
          <a:off xmlns:a="http://schemas.openxmlformats.org/drawingml/2006/main" x="552450" y="3762375"/>
          <a:ext xmlns:a="http://schemas.openxmlformats.org/drawingml/2006/main" cx="11087100" cy="1971675"/>
        </p:xfrm>
        <a:graphic xmlns:a="http://schemas.openxmlformats.org/drawingml/2006/main">
          <a:graphicData uri="http://schemas.openxmlformats.org/drawingml/2006/table">
            <a:tbl>
              <a:tblPr/>
              <a:tblGrid>
                <a:gridCol w="2000250"/>
                <a:gridCol w="3048000"/>
                <a:gridCol w="2667000"/>
                <a:gridCol w="3371850"/>
              </a:tblGrid>
              <a:tr h="394335">
                <a:tc>
                  <a:txBody>
                    <a:bodyPr/>
                    <a:lstStyle/>
                    <a:p>
                      <a:r>
                        <a:rPr sz="938" b="1">
                          <a:solidFill>
                            <a:srgbClr val="FFFFFF"/>
                          </a:solidFill>
                          <a:latin typeface="Yu Gothic"/>
                          <a:ea typeface="Yu Gothic"/>
                          <a:cs typeface="Yu Gothic"/>
                        </a:rPr>
                        <a:t>対象係数</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必要な励振</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観測signature</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主なconfounder</a:t>
                      </a:r>
                    </a:p>
                  </a:txBody>
                  <a:tcPr marL="91440" marR="91440" marT="45720" marB="45720">
                    <a:solidFill>
                      <a:srgbClr val="00A5D8"/>
                    </a:solidFill>
                  </a:tcPr>
                </a:tc>
              </a:tr>
              <a:tr h="394335">
                <a:tc>
                  <a:txBody>
                    <a:bodyPr/>
                    <a:lstStyle/>
                    <a:p>
                      <a:r>
                        <a:rPr sz="900" b="1">
                          <a:solidFill>
                            <a:srgbClr val="007FA8"/>
                          </a:solidFill>
                          <a:latin typeface="Yu Gothic"/>
                          <a:ea typeface="Yu Gothic"/>
                          <a:cs typeface="Yu Gothic"/>
                        </a:rPr>
                        <a:t>G chip–base</a:t>
                      </a:r>
                    </a:p>
                  </a:txBody>
                  <a:tcPr marL="91440" marR="91440" marT="45720" marB="45720">
                    <a:solidFill>
                      <a:srgbClr val="FFFFFF"/>
                    </a:solidFill>
                  </a:tcPr>
                </a:tc>
                <a:tc>
                  <a:txBody>
                    <a:bodyPr/>
                    <a:lstStyle/>
                    <a:p>
                      <a:r>
                        <a:rPr sz="900">
                          <a:solidFill>
                            <a:srgbClr val="5B5B5B"/>
                          </a:solidFill>
                          <a:latin typeface="Yu Gothic"/>
                          <a:ea typeface="Yu Gothic"/>
                          <a:cs typeface="Yu Gothic"/>
                        </a:rPr>
                        <a:t>短いpower step / edge</a:t>
                      </a:r>
                    </a:p>
                  </a:txBody>
                  <a:tcPr marL="91440" marR="91440" marT="45720" marB="45720">
                    <a:solidFill>
                      <a:srgbClr val="FFFFFF"/>
                    </a:solidFill>
                  </a:tcPr>
                </a:tc>
                <a:tc>
                  <a:txBody>
                    <a:bodyPr/>
                    <a:lstStyle/>
                    <a:p>
                      <a:r>
                        <a:rPr sz="900">
                          <a:solidFill>
                            <a:srgbClr val="5B5B5B"/>
                          </a:solidFill>
                          <a:latin typeface="Yu Gothic"/>
                          <a:ea typeface="Yu Gothic"/>
                          <a:cs typeface="Yu Gothic"/>
                        </a:rPr>
                        <a:t>chip–base位相差</a:t>
                      </a:r>
                    </a:p>
                  </a:txBody>
                  <a:tcPr marL="91440" marR="91440" marT="45720" marB="45720">
                    <a:solidFill>
                      <a:srgbClr val="FFFFFF"/>
                    </a:solidFill>
                  </a:tcPr>
                </a:tc>
                <a:tc>
                  <a:txBody>
                    <a:bodyPr/>
                    <a:lstStyle/>
                    <a:p>
                      <a:r>
                        <a:rPr sz="900">
                          <a:solidFill>
                            <a:srgbClr val="5B5B5B"/>
                          </a:solidFill>
                          <a:latin typeface="Yu Gothic"/>
                          <a:ea typeface="Yu Gothic"/>
                          <a:cs typeface="Yu Gothic"/>
                        </a:rPr>
                        <a:t>sensor応答、時刻ずれ</a:t>
                      </a:r>
                    </a:p>
                  </a:txBody>
                  <a:tcPr marL="91440" marR="91440" marT="45720" marB="45720">
                    <a:solidFill>
                      <a:srgbClr val="FFFFFF"/>
                    </a:solidFill>
                  </a:tcPr>
                </a:tc>
              </a:tr>
              <a:tr h="394335">
                <a:tc>
                  <a:txBody>
                    <a:bodyPr/>
                    <a:lstStyle/>
                    <a:p>
                      <a:r>
                        <a:rPr sz="900" b="1">
                          <a:solidFill>
                            <a:srgbClr val="007FA8"/>
                          </a:solidFill>
                          <a:latin typeface="Yu Gothic"/>
                          <a:ea typeface="Yu Gothic"/>
                          <a:cs typeface="Yu Gothic"/>
                        </a:rPr>
                        <a:t>G base–fins</a:t>
                      </a:r>
                    </a:p>
                  </a:txBody>
                  <a:tcPr marL="91440" marR="91440" marT="45720" marB="45720">
                    <a:solidFill>
                      <a:srgbClr val="F8F8F8"/>
                    </a:solidFill>
                  </a:tcPr>
                </a:tc>
                <a:tc>
                  <a:txBody>
                    <a:bodyPr/>
                    <a:lstStyle/>
                    <a:p>
                      <a:r>
                        <a:rPr sz="900">
                          <a:solidFill>
                            <a:srgbClr val="5B5B5B"/>
                          </a:solidFill>
                          <a:latin typeface="Yu Gothic"/>
                          <a:ea typeface="Yu Gothic"/>
                          <a:cs typeface="Yu Gothic"/>
                        </a:rPr>
                        <a:t>中時間pulse / cooldown</a:t>
                      </a:r>
                    </a:p>
                  </a:txBody>
                  <a:tcPr marL="91440" marR="91440" marT="45720" marB="45720">
                    <a:solidFill>
                      <a:srgbClr val="F8F8F8"/>
                    </a:solidFill>
                  </a:tcPr>
                </a:tc>
                <a:tc>
                  <a:txBody>
                    <a:bodyPr/>
                    <a:lstStyle/>
                    <a:p>
                      <a:r>
                        <a:rPr sz="900">
                          <a:solidFill>
                            <a:srgbClr val="5B5B5B"/>
                          </a:solidFill>
                          <a:latin typeface="Yu Gothic"/>
                          <a:ea typeface="Yu Gothic"/>
                          <a:cs typeface="Yu Gothic"/>
                        </a:rPr>
                        <a:t>base–fins減衰</a:t>
                      </a:r>
                    </a:p>
                  </a:txBody>
                  <a:tcPr marL="91440" marR="91440" marT="45720" marB="45720">
                    <a:solidFill>
                      <a:srgbClr val="F8F8F8"/>
                    </a:solidFill>
                  </a:tcPr>
                </a:tc>
                <a:tc>
                  <a:txBody>
                    <a:bodyPr/>
                    <a:lstStyle/>
                    <a:p>
                      <a:r>
                        <a:rPr sz="900">
                          <a:solidFill>
                            <a:srgbClr val="5B5B5B"/>
                          </a:solidFill>
                          <a:latin typeface="Yu Gothic"/>
                          <a:ea typeface="Yu Gothic"/>
                          <a:cs typeface="Yu Gothic"/>
                        </a:rPr>
                        <a:t>G₁との相関</a:t>
                      </a:r>
                    </a:p>
                  </a:txBody>
                  <a:tcPr marL="91440" marR="91440" marT="45720" marB="45720">
                    <a:solidFill>
                      <a:srgbClr val="F8F8F8"/>
                    </a:solidFill>
                  </a:tcPr>
                </a:tc>
              </a:tr>
              <a:tr h="394335">
                <a:tc>
                  <a:txBody>
                    <a:bodyPr/>
                    <a:lstStyle/>
                    <a:p>
                      <a:r>
                        <a:rPr sz="900" b="1">
                          <a:solidFill>
                            <a:srgbClr val="007FA8"/>
                          </a:solidFill>
                          <a:latin typeface="Yu Gothic"/>
                          <a:ea typeface="Yu Gothic"/>
                          <a:cs typeface="Yu Gothic"/>
                        </a:rPr>
                        <a:t>hA coolant</a:t>
                      </a:r>
                    </a:p>
                  </a:txBody>
                  <a:tcPr marL="91440" marR="91440" marT="45720" marB="45720">
                    <a:solidFill>
                      <a:srgbClr val="FFFFFF"/>
                    </a:solidFill>
                  </a:tcPr>
                </a:tc>
                <a:tc>
                  <a:txBody>
                    <a:bodyPr/>
                    <a:lstStyle/>
                    <a:p>
                      <a:r>
                        <a:rPr sz="900">
                          <a:solidFill>
                            <a:srgbClr val="5B5B5B"/>
                          </a:solidFill>
                          <a:latin typeface="Yu Gothic"/>
                          <a:ea typeface="Yu Gothic"/>
                          <a:cs typeface="Yu Gothic"/>
                        </a:rPr>
                        <a:t>長時間hold / coolant sweep</a:t>
                      </a:r>
                    </a:p>
                  </a:txBody>
                  <a:tcPr marL="91440" marR="91440" marT="45720" marB="45720">
                    <a:solidFill>
                      <a:srgbClr val="FFFFFF"/>
                    </a:solidFill>
                  </a:tcPr>
                </a:tc>
                <a:tc>
                  <a:txBody>
                    <a:bodyPr/>
                    <a:lstStyle/>
                    <a:p>
                      <a:r>
                        <a:rPr sz="900">
                          <a:solidFill>
                            <a:srgbClr val="5B5B5B"/>
                          </a:solidFill>
                          <a:latin typeface="Yu Gothic"/>
                          <a:ea typeface="Yu Gothic"/>
                          <a:cs typeface="Yu Gothic"/>
                        </a:rPr>
                        <a:t>定常gain・global τ</a:t>
                      </a:r>
                    </a:p>
                  </a:txBody>
                  <a:tcPr marL="91440" marR="91440" marT="45720" marB="45720">
                    <a:solidFill>
                      <a:srgbClr val="FFFFFF"/>
                    </a:solidFill>
                  </a:tcPr>
                </a:tc>
                <a:tc>
                  <a:txBody>
                    <a:bodyPr/>
                    <a:lstStyle/>
                    <a:p>
                      <a:r>
                        <a:rPr sz="900">
                          <a:solidFill>
                            <a:srgbClr val="5B5B5B"/>
                          </a:solidFill>
                          <a:latin typeface="Yu Gothic"/>
                          <a:ea typeface="Yu Gothic"/>
                          <a:cs typeface="Yu Gothic"/>
                        </a:rPr>
                        <a:t>初期温度、ambient drift</a:t>
                      </a:r>
                    </a:p>
                  </a:txBody>
                  <a:tcPr marL="91440" marR="91440" marT="45720" marB="45720">
                    <a:solidFill>
                      <a:srgbClr val="FFFFFF"/>
                    </a:solidFill>
                  </a:tcPr>
                </a:tc>
              </a:tr>
              <a:tr h="394335">
                <a:tc>
                  <a:txBody>
                    <a:bodyPr/>
                    <a:lstStyle/>
                    <a:p>
                      <a:r>
                        <a:rPr sz="900" b="1">
                          <a:solidFill>
                            <a:srgbClr val="777777"/>
                          </a:solidFill>
                          <a:latin typeface="Yu Gothic"/>
                          <a:ea typeface="Yu Gothic"/>
                          <a:cs typeface="Yu Gothic"/>
                        </a:rPr>
                        <a:t>C（将来拡張）</a:t>
                      </a:r>
                    </a:p>
                  </a:txBody>
                  <a:tcPr marL="91440" marR="91440" marT="45720" marB="45720">
                    <a:solidFill>
                      <a:srgbClr val="F8F8F8"/>
                    </a:solidFill>
                  </a:tcPr>
                </a:tc>
                <a:tc>
                  <a:txBody>
                    <a:bodyPr/>
                    <a:lstStyle/>
                    <a:p>
                      <a:r>
                        <a:rPr sz="900">
                          <a:solidFill>
                            <a:srgbClr val="5B5B5B"/>
                          </a:solidFill>
                          <a:latin typeface="Yu Gothic"/>
                          <a:ea typeface="Yu Gothic"/>
                          <a:cs typeface="Yu Gothic"/>
                        </a:rPr>
                        <a:t>複数pulse幅</a:t>
                      </a:r>
                    </a:p>
                  </a:txBody>
                  <a:tcPr marL="91440" marR="91440" marT="45720" marB="45720">
                    <a:solidFill>
                      <a:srgbClr val="F8F8F8"/>
                    </a:solidFill>
                  </a:tcPr>
                </a:tc>
                <a:tc>
                  <a:txBody>
                    <a:bodyPr/>
                    <a:lstStyle/>
                    <a:p>
                      <a:r>
                        <a:rPr sz="900">
                          <a:solidFill>
                            <a:srgbClr val="5B5B5B"/>
                          </a:solidFill>
                          <a:latin typeface="Yu Gothic"/>
                          <a:ea typeface="Yu Gothic"/>
                          <a:cs typeface="Yu Gothic"/>
                        </a:rPr>
                        <a:t>立上り速度</a:t>
                      </a:r>
                    </a:p>
                  </a:txBody>
                  <a:tcPr marL="91440" marR="91440" marT="45720" marB="45720">
                    <a:solidFill>
                      <a:srgbClr val="F8F8F8"/>
                    </a:solidFill>
                  </a:tcPr>
                </a:tc>
                <a:tc>
                  <a:txBody>
                    <a:bodyPr/>
                    <a:lstStyle/>
                    <a:p>
                      <a:r>
                        <a:rPr sz="900">
                          <a:solidFill>
                            <a:srgbClr val="5B5B5B"/>
                          </a:solidFill>
                          <a:latin typeface="Yu Gothic"/>
                          <a:ea typeface="Yu Gothic"/>
                          <a:cs typeface="Yu Gothic"/>
                        </a:rPr>
                        <a:t>Gとのscale同定性</a:t>
                      </a:r>
                    </a:p>
                  </a:txBody>
                  <a:tcPr marL="91440" marR="91440" marT="45720" marB="45720">
                    <a:solidFill>
                      <a:srgbClr val="F8F8F8"/>
                    </a:solidFill>
                  </a:tcPr>
                </a:tc>
              </a:tr>
            </a:tbl>
          </a:graphicData>
        </a:graphic>
      </p:graphicFrame>
      <p:sp>
        <p:nvSpPr>
          <p:cNvPr id="30" name="">
            <a:extLst xmlns:a="http://schemas.openxmlformats.org/drawingml/2006/main">
              <a:ext uri="{FF2B5EF4-FFF2-40B4-BE49-F238E27FC236}">
                <a16:creationId xmlns:a16="http://schemas.microsoft.com/office/drawing/2014/main" id="{8CE71E76-0234-474E-ADC1-82ABC307BFE6}"/>
              </a:ext>
            </a:extLst>
          </p:cNvPr>
          <p:cNvSpPr>
            <a:spLocks xmlns:a="http://schemas.openxmlformats.org/drawingml/2006/main" noGrp="1"/>
          </p:cNvSpPr>
          <p:nvPr/>
        </p:nvSpPr>
        <p:spPr>
          <a:xfrm xmlns:a="http://schemas.openxmlformats.org/drawingml/2006/main">
            <a:off x="552450" y="5895975"/>
            <a:ext cx="11087100" cy="352425"/>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31" name="">
            <a:extLst xmlns:a="http://schemas.openxmlformats.org/drawingml/2006/main">
              <a:ext uri="{FF2B5EF4-FFF2-40B4-BE49-F238E27FC236}">
                <a16:creationId xmlns:a16="http://schemas.microsoft.com/office/drawing/2014/main" id="{0F978A9B-46BD-4EB1-BA81-B9B179A8EA22}"/>
              </a:ext>
            </a:extLst>
          </p:cNvPr>
          <p:cNvSpPr>
            <a:spLocks xmlns:a="http://schemas.openxmlformats.org/drawingml/2006/main" noGrp="1"/>
          </p:cNvSpPr>
          <p:nvPr/>
        </p:nvSpPr>
        <p:spPr>
          <a:xfrm xmlns:a="http://schemas.openxmlformats.org/drawingml/2006/main">
            <a:off x="695325" y="5953125"/>
            <a:ext cx="108013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38" b="1" i="0">
                <a:solidFill>
                  <a:srgbClr val="4D8710"/>
                </a:solidFill>
                <a:latin typeface="Yu Gothic"/>
                <a:ea typeface="Yu Gothic"/>
                <a:cs typeface="Yu Gothic"/>
              </a:defRPr>
            </a:pPr>
            <a:r>
              <a:rPr sz="938" b="1" i="0">
                <a:solidFill>
                  <a:srgbClr val="4D8710"/>
                </a:solidFill>
                <a:latin typeface="Yu Gothic"/>
                <a:ea typeface="Yu Gothic"/>
                <a:cs typeface="Yu Gothic"/>
              </a:rPr>
              <a:t>装置DOEの原則：短・中・長の時間尺度を分離して励振し、coolantとheaterを同時に動かし過ぎない。</a:t>
            </a:r>
          </a:p>
        </p:txBody>
      </p:sp>
    </p:spTree>
    <p:extLst>
      <p:ext uri="{BB962C8B-B14F-4D97-AF65-F5344CB8AC3E}">
        <p14:creationId xmlns:p14="http://schemas.microsoft.com/office/powerpoint/2010/main" val="104091543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ADBC3C0-00D2-4AFB-B411-5F3B90F0E47D}"/>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DAE6E65-663F-41D3-BA8D-916F79ADB4EF}"/>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LEARNING &amp; ESTIMATION</a:t>
            </a:r>
          </a:p>
        </p:txBody>
      </p:sp>
      <p:sp>
        <p:nvSpPr>
          <p:cNvPr id="3" name="">
            <a:extLst xmlns:a="http://schemas.openxmlformats.org/drawingml/2006/main">
              <a:ext uri="{FF2B5EF4-FFF2-40B4-BE49-F238E27FC236}">
                <a16:creationId xmlns:a16="http://schemas.microsoft.com/office/drawing/2014/main" id="{CECAF2C0-A4C1-44E2-B0B0-56910876E928}"/>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97388"/>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本コードはblack-box予測器ではなく、微分可能な物理modelと因果推定器を組み合わせる</a:t>
            </a:r>
          </a:p>
        </p:txBody>
      </p:sp>
      <p:sp>
        <p:nvSpPr>
          <p:cNvPr id="4" name="">
            <a:extLst xmlns:a="http://schemas.openxmlformats.org/drawingml/2006/main">
              <a:ext uri="{FF2B5EF4-FFF2-40B4-BE49-F238E27FC236}">
                <a16:creationId xmlns:a16="http://schemas.microsoft.com/office/drawing/2014/main" id="{A557134A-DA47-4D7B-B194-A5C78CC88215}"/>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学習対象、状態推定、診断ruleを分けることで、誤差の由来と再学習条件を追跡できる</a:t>
            </a:r>
          </a:p>
        </p:txBody>
      </p:sp>
      <p:sp>
        <p:nvSpPr>
          <p:cNvPr id="5" name="">
            <a:extLst xmlns:a="http://schemas.openxmlformats.org/drawingml/2006/main">
              <a:ext uri="{FF2B5EF4-FFF2-40B4-BE49-F238E27FC236}">
                <a16:creationId xmlns:a16="http://schemas.microsoft.com/office/drawing/2014/main" id="{9CFE225F-E451-4DC7-B384-85431866D4FC}"/>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1CE3F477-7F40-4483-BDD6-D6E01A5B4015}"/>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E185D76B-E339-406A-A163-46EF21ED4D1C}"/>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3200079F-BA75-498D-840C-2188F5234A42}"/>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16</a:t>
            </a:r>
          </a:p>
        </p:txBody>
      </p:sp>
      <p:graphicFrame>
        <p:nvGraphicFramePr>
          <p:cNvPr id="24" name=""/>
          <p:cNvGraphicFramePr/>
          <p:nvPr/>
        </p:nvGraphicFramePr>
        <p:xfrm>
          <a:off xmlns:a="http://schemas.openxmlformats.org/drawingml/2006/main" x="552450" y="1457325"/>
          <a:ext xmlns:a="http://schemas.openxmlformats.org/drawingml/2006/main" cx="11087100" cy="3305175"/>
        </p:xfrm>
        <a:graphic xmlns:a="http://schemas.openxmlformats.org/drawingml/2006/main">
          <a:graphicData uri="http://schemas.openxmlformats.org/drawingml/2006/table">
            <a:tbl>
              <a:tblPr/>
              <a:tblGrid>
                <a:gridCol w="1962150"/>
                <a:gridCol w="2238375"/>
                <a:gridCol w="2324100"/>
                <a:gridCol w="2647950"/>
                <a:gridCol w="1914525"/>
              </a:tblGrid>
              <a:tr h="550863">
                <a:tc>
                  <a:txBody>
                    <a:bodyPr/>
                    <a:lstStyle/>
                    <a:p>
                      <a:r>
                        <a:rPr sz="938" b="1">
                          <a:solidFill>
                            <a:srgbClr val="FFFFFF"/>
                          </a:solidFill>
                          <a:latin typeface="Yu Gothic"/>
                          <a:ea typeface="Yu Gothic"/>
                          <a:cs typeface="Yu Gothic"/>
                        </a:rPr>
                        <a:t>構成要素</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model class</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更新される量</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学習 / 推定方法</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配備時の役割</a:t>
                      </a:r>
                    </a:p>
                  </a:txBody>
                  <a:tcPr marL="91440" marR="91440" marT="45720" marB="45720">
                    <a:solidFill>
                      <a:srgbClr val="00A5D8"/>
                    </a:solidFill>
                  </a:tcPr>
                </a:tc>
              </a:tr>
              <a:tr h="550863">
                <a:tc>
                  <a:txBody>
                    <a:bodyPr/>
                    <a:lstStyle/>
                    <a:p>
                      <a:r>
                        <a:rPr sz="818" b="1">
                          <a:solidFill>
                            <a:srgbClr val="007FA8"/>
                          </a:solidFill>
                          <a:latin typeface="Yu Gothic"/>
                          <a:ea typeface="Yu Gothic"/>
                          <a:cs typeface="Yu Gothic"/>
                        </a:rPr>
                        <a:t>ThermalRCModel</a:t>
                      </a:r>
                    </a:p>
                  </a:txBody>
                  <a:tcPr marL="91440" marR="91440" marT="45720" marB="45720">
                    <a:solidFill>
                      <a:srgbClr val="FFFFFF"/>
                    </a:solidFill>
                  </a:tcPr>
                </a:tc>
                <a:tc>
                  <a:txBody>
                    <a:bodyPr/>
                    <a:lstStyle/>
                    <a:p>
                      <a:r>
                        <a:rPr sz="818">
                          <a:solidFill>
                            <a:srgbClr val="5B5B5B"/>
                          </a:solidFill>
                          <a:latin typeface="Yu Gothic"/>
                          <a:ea typeface="Yu Gothic"/>
                          <a:cs typeface="Yu Gothic"/>
                        </a:rPr>
                        <a:t>物理制約付きstate-space</a:t>
                      </a:r>
                    </a:p>
                  </a:txBody>
                  <a:tcPr marL="91440" marR="91440" marT="45720" marB="45720">
                    <a:solidFill>
                      <a:srgbClr val="FFFFFF"/>
                    </a:solidFill>
                  </a:tcPr>
                </a:tc>
                <a:tc>
                  <a:txBody>
                    <a:bodyPr/>
                    <a:lstStyle/>
                    <a:p>
                      <a:r>
                        <a:rPr sz="818">
                          <a:solidFill>
                            <a:srgbClr val="5B5B5B"/>
                          </a:solidFill>
                          <a:latin typeface="Yu Gothic"/>
                          <a:ea typeface="Yu Gothic"/>
                          <a:cs typeface="Yu Gothic"/>
                        </a:rPr>
                        <a:t>G・q・τのlog倍率</a:t>
                      </a:r>
                    </a:p>
                  </a:txBody>
                  <a:tcPr marL="91440" marR="91440" marT="45720" marB="45720">
                    <a:solidFill>
                      <a:srgbClr val="FFFFFF"/>
                    </a:solidFill>
                  </a:tcPr>
                </a:tc>
                <a:tc>
                  <a:txBody>
                    <a:bodyPr/>
                    <a:lstStyle/>
                    <a:p>
                      <a:r>
                        <a:rPr sz="818">
                          <a:solidFill>
                            <a:srgbClr val="5B5B5B"/>
                          </a:solidFill>
                          <a:latin typeface="Yu Gothic"/>
                          <a:ea typeface="Yu Gothic"/>
                          <a:cs typeface="Yu Gothic"/>
                        </a:rPr>
                        <a:t>軌道rollout + Huber + Adam</a:t>
                      </a:r>
                    </a:p>
                  </a:txBody>
                  <a:tcPr marL="91440" marR="91440" marT="45720" marB="45720">
                    <a:solidFill>
                      <a:srgbClr val="FFFFFF"/>
                    </a:solidFill>
                  </a:tcPr>
                </a:tc>
                <a:tc>
                  <a:txBody>
                    <a:bodyPr/>
                    <a:lstStyle/>
                    <a:p>
                      <a:r>
                        <a:rPr sz="818">
                          <a:solidFill>
                            <a:srgbClr val="5B5B5B"/>
                          </a:solidFill>
                          <a:latin typeface="Yu Gothic"/>
                          <a:ea typeface="Yu Gothic"/>
                          <a:cs typeface="Yu Gothic"/>
                        </a:rPr>
                        <a:t>共通の温度状態遷移</a:t>
                      </a:r>
                    </a:p>
                  </a:txBody>
                  <a:tcPr marL="91440" marR="91440" marT="45720" marB="45720">
                    <a:solidFill>
                      <a:srgbClr val="FFFFFF"/>
                    </a:solidFill>
                  </a:tcPr>
                </a:tc>
              </a:tr>
              <a:tr h="550863">
                <a:tc>
                  <a:txBody>
                    <a:bodyPr/>
                    <a:lstStyle/>
                    <a:p>
                      <a:r>
                        <a:rPr sz="818" b="1">
                          <a:solidFill>
                            <a:srgbClr val="E5A900"/>
                          </a:solidFill>
                          <a:latin typeface="Yu Gothic"/>
                          <a:ea typeface="Yu Gothic"/>
                          <a:cs typeface="Yu Gothic"/>
                        </a:rPr>
                        <a:t>Initial-state profiler</a:t>
                      </a:r>
                    </a:p>
                  </a:txBody>
                  <a:tcPr marL="91440" marR="91440" marT="45720" marB="45720">
                    <a:solidFill>
                      <a:srgbClr val="F8F8F8"/>
                    </a:solidFill>
                  </a:tcPr>
                </a:tc>
                <a:tc>
                  <a:txBody>
                    <a:bodyPr/>
                    <a:lstStyle/>
                    <a:p>
                      <a:r>
                        <a:rPr sz="818">
                          <a:solidFill>
                            <a:srgbClr val="5B5B5B"/>
                          </a:solidFill>
                          <a:latin typeface="Yu Gothic"/>
                          <a:ea typeface="Yu Gothic"/>
                          <a:cs typeface="Yu Gothic"/>
                        </a:rPr>
                        <a:t>affine nuisance-state推定</a:t>
                      </a:r>
                    </a:p>
                  </a:txBody>
                  <a:tcPr marL="91440" marR="91440" marT="45720" marB="45720">
                    <a:solidFill>
                      <a:srgbClr val="F8F8F8"/>
                    </a:solidFill>
                  </a:tcPr>
                </a:tc>
                <a:tc>
                  <a:txBody>
                    <a:bodyPr/>
                    <a:lstStyle/>
                    <a:p>
                      <a:r>
                        <a:rPr sz="818">
                          <a:solidFill>
                            <a:srgbClr val="5B5B5B"/>
                          </a:solidFill>
                          <a:latin typeface="Yu Gothic"/>
                          <a:ea typeface="Yu Gothic"/>
                          <a:cs typeface="Yu Gothic"/>
                        </a:rPr>
                        <a:t>case固有hidden T0</a:t>
                      </a:r>
                    </a:p>
                  </a:txBody>
                  <a:tcPr marL="91440" marR="91440" marT="45720" marB="45720">
                    <a:solidFill>
                      <a:srgbClr val="F8F8F8"/>
                    </a:solidFill>
                  </a:tcPr>
                </a:tc>
                <a:tc>
                  <a:txBody>
                    <a:bodyPr/>
                    <a:lstStyle/>
                    <a:p>
                      <a:r>
                        <a:rPr sz="818">
                          <a:solidFill>
                            <a:srgbClr val="5B5B5B"/>
                          </a:solidFill>
                          <a:latin typeface="Yu Gothic"/>
                          <a:ea typeface="Yu Gothic"/>
                          <a:cs typeface="Yu Gothic"/>
                        </a:rPr>
                        <a:t>null-space ridge solve</a:t>
                      </a:r>
                    </a:p>
                  </a:txBody>
                  <a:tcPr marL="91440" marR="91440" marT="45720" marB="45720">
                    <a:solidFill>
                      <a:srgbClr val="F8F8F8"/>
                    </a:solidFill>
                  </a:tcPr>
                </a:tc>
                <a:tc>
                  <a:txBody>
                    <a:bodyPr/>
                    <a:lstStyle/>
                    <a:p>
                      <a:r>
                        <a:rPr sz="818">
                          <a:solidFill>
                            <a:srgbClr val="5B5B5B"/>
                          </a:solidFill>
                          <a:latin typeface="Yu Gothic"/>
                          <a:ea typeface="Yu Gothic"/>
                          <a:cs typeface="Yu Gothic"/>
                        </a:rPr>
                        <a:t>学習時のみ；artifactへ残さない</a:t>
                      </a:r>
                    </a:p>
                  </a:txBody>
                  <a:tcPr marL="91440" marR="91440" marT="45720" marB="45720">
                    <a:solidFill>
                      <a:srgbClr val="F8F8F8"/>
                    </a:solidFill>
                  </a:tcPr>
                </a:tc>
              </a:tr>
              <a:tr h="550863">
                <a:tc>
                  <a:txBody>
                    <a:bodyPr/>
                    <a:lstStyle/>
                    <a:p>
                      <a:r>
                        <a:rPr sz="818" b="1">
                          <a:solidFill>
                            <a:srgbClr val="4D8710"/>
                          </a:solidFill>
                          <a:latin typeface="Yu Gothic"/>
                          <a:ea typeface="Yu Gothic"/>
                          <a:cs typeface="Yu Gothic"/>
                        </a:rPr>
                        <a:t>Forecast initializer</a:t>
                      </a:r>
                    </a:p>
                  </a:txBody>
                  <a:tcPr marL="91440" marR="91440" marT="45720" marB="45720">
                    <a:solidFill>
                      <a:srgbClr val="FFFFFF"/>
                    </a:solidFill>
                  </a:tcPr>
                </a:tc>
                <a:tc>
                  <a:txBody>
                    <a:bodyPr/>
                    <a:lstStyle/>
                    <a:p>
                      <a:r>
                        <a:rPr sz="818">
                          <a:solidFill>
                            <a:srgbClr val="5B5B5B"/>
                          </a:solidFill>
                          <a:latin typeface="Yu Gothic"/>
                          <a:ea typeface="Yu Gothic"/>
                          <a:cs typeface="Yu Gothic"/>
                        </a:rPr>
                        <a:t>Kalman observer</a:t>
                      </a:r>
                    </a:p>
                  </a:txBody>
                  <a:tcPr marL="91440" marR="91440" marT="45720" marB="45720">
                    <a:solidFill>
                      <a:srgbClr val="FFFFFF"/>
                    </a:solidFill>
                  </a:tcPr>
                </a:tc>
                <a:tc>
                  <a:txBody>
                    <a:bodyPr/>
                    <a:lstStyle/>
                    <a:p>
                      <a:r>
                        <a:rPr sz="818">
                          <a:solidFill>
                            <a:srgbClr val="5B5B5B"/>
                          </a:solidFill>
                          <a:latin typeface="Yu Gothic"/>
                          <a:ea typeface="Yu Gothic"/>
                          <a:cs typeface="Yu Gothic"/>
                        </a:rPr>
                        <a:t>history末端のT・a・P</a:t>
                      </a:r>
                    </a:p>
                  </a:txBody>
                  <a:tcPr marL="91440" marR="91440" marT="45720" marB="45720">
                    <a:solidFill>
                      <a:srgbClr val="FFFFFF"/>
                    </a:solidFill>
                  </a:tcPr>
                </a:tc>
                <a:tc>
                  <a:txBody>
                    <a:bodyPr/>
                    <a:lstStyle/>
                    <a:p>
                      <a:r>
                        <a:rPr sz="818">
                          <a:solidFill>
                            <a:srgbClr val="5B5B5B"/>
                          </a:solidFill>
                          <a:latin typeface="Yu Gothic"/>
                          <a:ea typeface="Yu Gothic"/>
                          <a:cs typeface="Yu Gothic"/>
                        </a:rPr>
                        <a:t>causal predict/update</a:t>
                      </a:r>
                    </a:p>
                  </a:txBody>
                  <a:tcPr marL="91440" marR="91440" marT="45720" marB="45720">
                    <a:solidFill>
                      <a:srgbClr val="FFFFFF"/>
                    </a:solidFill>
                  </a:tcPr>
                </a:tc>
                <a:tc>
                  <a:txBody>
                    <a:bodyPr/>
                    <a:lstStyle/>
                    <a:p>
                      <a:r>
                        <a:rPr sz="818">
                          <a:solidFill>
                            <a:srgbClr val="5B5B5B"/>
                          </a:solidFill>
                          <a:latin typeface="Yu Gothic"/>
                          <a:ea typeface="Yu Gothic"/>
                          <a:cs typeface="Yu Gothic"/>
                        </a:rPr>
                        <a:t>handoff後はopen-loop</a:t>
                      </a:r>
                    </a:p>
                  </a:txBody>
                  <a:tcPr marL="91440" marR="91440" marT="45720" marB="45720">
                    <a:solidFill>
                      <a:srgbClr val="FFFFFF"/>
                    </a:solidFill>
                  </a:tcPr>
                </a:tc>
              </a:tr>
              <a:tr h="550863">
                <a:tc>
                  <a:txBody>
                    <a:bodyPr/>
                    <a:lstStyle/>
                    <a:p>
                      <a:r>
                        <a:rPr sz="818" b="1">
                          <a:solidFill>
                            <a:srgbClr val="7B2DAF"/>
                          </a:solidFill>
                          <a:latin typeface="Yu Gothic"/>
                          <a:ea typeface="Yu Gothic"/>
                          <a:cs typeface="Yu Gothic"/>
                        </a:rPr>
                        <a:t>Monitor observer</a:t>
                      </a:r>
                    </a:p>
                  </a:txBody>
                  <a:tcPr marL="91440" marR="91440" marT="45720" marB="45720">
                    <a:solidFill>
                      <a:srgbClr val="F8F8F8"/>
                    </a:solidFill>
                  </a:tcPr>
                </a:tc>
                <a:tc>
                  <a:txBody>
                    <a:bodyPr/>
                    <a:lstStyle/>
                    <a:p>
                      <a:r>
                        <a:rPr sz="818">
                          <a:solidFill>
                            <a:srgbClr val="5B5B5B"/>
                          </a:solidFill>
                          <a:latin typeface="Yu Gothic"/>
                          <a:ea typeface="Yu Gothic"/>
                          <a:cs typeface="Yu Gothic"/>
                        </a:rPr>
                        <a:t>augmented Kalman filter</a:t>
                      </a:r>
                    </a:p>
                  </a:txBody>
                  <a:tcPr marL="91440" marR="91440" marT="45720" marB="45720">
                    <a:solidFill>
                      <a:srgbClr val="F8F8F8"/>
                    </a:solidFill>
                  </a:tcPr>
                </a:tc>
                <a:tc>
                  <a:txBody>
                    <a:bodyPr/>
                    <a:lstStyle/>
                    <a:p>
                      <a:r>
                        <a:rPr sz="818">
                          <a:solidFill>
                            <a:srgbClr val="5B5B5B"/>
                          </a:solidFill>
                          <a:latin typeface="Yu Gothic"/>
                          <a:ea typeface="Yu Gothic"/>
                          <a:cs typeface="Yu Gothic"/>
                        </a:rPr>
                        <a:t>T・unknown heat・relative bias</a:t>
                      </a:r>
                    </a:p>
                  </a:txBody>
                  <a:tcPr marL="91440" marR="91440" marT="45720" marB="45720">
                    <a:solidFill>
                      <a:srgbClr val="F8F8F8"/>
                    </a:solidFill>
                  </a:tcPr>
                </a:tc>
                <a:tc>
                  <a:txBody>
                    <a:bodyPr/>
                    <a:lstStyle/>
                    <a:p>
                      <a:r>
                        <a:rPr sz="818">
                          <a:solidFill>
                            <a:srgbClr val="5B5B5B"/>
                          </a:solidFill>
                          <a:latin typeface="Yu Gothic"/>
                          <a:ea typeface="Yu Gothic"/>
                          <a:cs typeface="Yu Gothic"/>
                        </a:rPr>
                        <a:t>Van Loan / implicit Qd + Joseph update</a:t>
                      </a:r>
                    </a:p>
                  </a:txBody>
                  <a:tcPr marL="91440" marR="91440" marT="45720" marB="45720">
                    <a:solidFill>
                      <a:srgbClr val="F8F8F8"/>
                    </a:solidFill>
                  </a:tcPr>
                </a:tc>
                <a:tc>
                  <a:txBody>
                    <a:bodyPr/>
                    <a:lstStyle/>
                    <a:p>
                      <a:r>
                        <a:rPr sz="818">
                          <a:solidFill>
                            <a:srgbClr val="5B5B5B"/>
                          </a:solidFill>
                          <a:latin typeface="Yu Gothic"/>
                          <a:ea typeface="Yu Gothic"/>
                          <a:cs typeface="Yu Gothic"/>
                        </a:rPr>
                        <a:t>online状態監視とdiagnostics</a:t>
                      </a:r>
                    </a:p>
                  </a:txBody>
                  <a:tcPr marL="91440" marR="91440" marT="45720" marB="45720">
                    <a:solidFill>
                      <a:srgbClr val="F8F8F8"/>
                    </a:solidFill>
                  </a:tcPr>
                </a:tc>
              </a:tr>
              <a:tr h="550863">
                <a:tc>
                  <a:txBody>
                    <a:bodyPr/>
                    <a:lstStyle/>
                    <a:p>
                      <a:r>
                        <a:rPr sz="818" b="1">
                          <a:solidFill>
                            <a:srgbClr val="00A89D"/>
                          </a:solidFill>
                          <a:latin typeface="Yu Gothic"/>
                          <a:ea typeface="Yu Gothic"/>
                          <a:cs typeface="Yu Gothic"/>
                        </a:rPr>
                        <a:t>Coverage diagnostic</a:t>
                      </a:r>
                    </a:p>
                  </a:txBody>
                  <a:tcPr marL="91440" marR="91440" marT="45720" marB="45720">
                    <a:solidFill>
                      <a:srgbClr val="FFFFFF"/>
                    </a:solidFill>
                  </a:tcPr>
                </a:tc>
                <a:tc>
                  <a:txBody>
                    <a:bodyPr/>
                    <a:lstStyle/>
                    <a:p>
                      <a:r>
                        <a:rPr sz="818">
                          <a:solidFill>
                            <a:srgbClr val="5B5B5B"/>
                          </a:solidFill>
                          <a:latin typeface="Yu Gothic"/>
                          <a:ea typeface="Yu Gothic"/>
                          <a:cs typeface="Yu Gothic"/>
                        </a:rPr>
                        <a:t>deterministic envelope check</a:t>
                      </a:r>
                    </a:p>
                  </a:txBody>
                  <a:tcPr marL="91440" marR="91440" marT="45720" marB="45720">
                    <a:solidFill>
                      <a:srgbClr val="FFFFFF"/>
                    </a:solidFill>
                  </a:tcPr>
                </a:tc>
                <a:tc>
                  <a:txBody>
                    <a:bodyPr/>
                    <a:lstStyle/>
                    <a:p>
                      <a:r>
                        <a:rPr sz="818">
                          <a:solidFill>
                            <a:srgbClr val="5B5B5B"/>
                          </a:solidFill>
                          <a:latin typeface="Yu Gothic"/>
                          <a:ea typeface="Yu Gothic"/>
                          <a:cs typeface="Yu Gothic"/>
                        </a:rPr>
                        <a:t>学習rangeとの比較</a:t>
                      </a:r>
                    </a:p>
                  </a:txBody>
                  <a:tcPr marL="91440" marR="91440" marT="45720" marB="45720">
                    <a:solidFill>
                      <a:srgbClr val="FFFFFF"/>
                    </a:solidFill>
                  </a:tcPr>
                </a:tc>
                <a:tc>
                  <a:txBody>
                    <a:bodyPr/>
                    <a:lstStyle/>
                    <a:p>
                      <a:r>
                        <a:rPr sz="818">
                          <a:solidFill>
                            <a:srgbClr val="5B5B5B"/>
                          </a:solidFill>
                          <a:latin typeface="Yu Gothic"/>
                          <a:ea typeface="Yu Gothic"/>
                          <a:cs typeface="Yu Gothic"/>
                        </a:rPr>
                        <a:t>input/output/temporal range rule</a:t>
                      </a:r>
                    </a:p>
                  </a:txBody>
                  <a:tcPr marL="91440" marR="91440" marT="45720" marB="45720">
                    <a:solidFill>
                      <a:srgbClr val="FFFFFF"/>
                    </a:solidFill>
                  </a:tcPr>
                </a:tc>
                <a:tc>
                  <a:txBody>
                    <a:bodyPr/>
                    <a:lstStyle/>
                    <a:p>
                      <a:r>
                        <a:rPr sz="818">
                          <a:solidFill>
                            <a:srgbClr val="5B5B5B"/>
                          </a:solidFill>
                          <a:latin typeface="Yu Gothic"/>
                          <a:ea typeface="Yu Gothic"/>
                          <a:cs typeface="Yu Gothic"/>
                        </a:rPr>
                        <a:t>OOD warning；確率modelではない</a:t>
                      </a:r>
                    </a:p>
                  </a:txBody>
                  <a:tcPr marL="91440" marR="91440" marT="45720" marB="45720">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ADFBC2BA-8D5B-477D-917A-ADA7544650E1}"/>
              </a:ext>
            </a:extLst>
          </p:cNvPr>
          <p:cNvSpPr>
            <a:spLocks xmlns:a="http://schemas.openxmlformats.org/drawingml/2006/main" noGrp="1"/>
          </p:cNvSpPr>
          <p:nvPr/>
        </p:nvSpPr>
        <p:spPr>
          <a:xfrm xmlns:a="http://schemas.openxmlformats.org/drawingml/2006/main">
            <a:off x="552450" y="5000625"/>
            <a:ext cx="6905625" cy="990600"/>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11" name="">
            <a:extLst xmlns:a="http://schemas.openxmlformats.org/drawingml/2006/main">
              <a:ext uri="{FF2B5EF4-FFF2-40B4-BE49-F238E27FC236}">
                <a16:creationId xmlns:a16="http://schemas.microsoft.com/office/drawing/2014/main" id="{2C022475-4017-42C5-BE92-337592389CBE}"/>
              </a:ext>
            </a:extLst>
          </p:cNvPr>
          <p:cNvSpPr>
            <a:spLocks xmlns:a="http://schemas.openxmlformats.org/drawingml/2006/main" noGrp="1"/>
          </p:cNvSpPr>
          <p:nvPr/>
        </p:nvSpPr>
        <p:spPr>
          <a:xfrm xmlns:a="http://schemas.openxmlformats.org/drawingml/2006/main">
            <a:off x="742950" y="5153025"/>
            <a:ext cx="6524625"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4D8710"/>
                </a:solidFill>
                <a:latin typeface="Yu Gothic"/>
                <a:ea typeface="Yu Gothic"/>
                <a:cs typeface="Yu Gothic"/>
              </a:defRPr>
            </a:pPr>
            <a:r>
              <a:rPr sz="1275" b="1" i="0">
                <a:solidFill>
                  <a:srgbClr val="4D8710"/>
                </a:solidFill>
                <a:latin typeface="Yu Gothic"/>
                <a:ea typeface="Yu Gothic"/>
                <a:cs typeface="Yu Gothic"/>
              </a:rPr>
              <a:t>現行実装で学習するのは物理係数のみ</a:t>
            </a:r>
          </a:p>
        </p:txBody>
      </p:sp>
      <p:sp>
        <p:nvSpPr>
          <p:cNvPr id="12" name="">
            <a:extLst xmlns:a="http://schemas.openxmlformats.org/drawingml/2006/main">
              <a:ext uri="{FF2B5EF4-FFF2-40B4-BE49-F238E27FC236}">
                <a16:creationId xmlns:a16="http://schemas.microsoft.com/office/drawing/2014/main" id="{4ED36FD7-8093-44DF-8E52-808A998ABEC8}"/>
              </a:ext>
            </a:extLst>
          </p:cNvPr>
          <p:cNvSpPr>
            <a:spLocks xmlns:a="http://schemas.openxmlformats.org/drawingml/2006/main" noGrp="1"/>
          </p:cNvSpPr>
          <p:nvPr/>
        </p:nvSpPr>
        <p:spPr>
          <a:xfrm xmlns:a="http://schemas.openxmlformats.org/drawingml/2006/main">
            <a:off x="742950" y="5505450"/>
            <a:ext cx="65246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8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sensor名や故障classを教師ラベルで分類するNN/RNN/Transformerは使用しない。異常はinnovation、NIS、未知熱、relative biasとして出力する。</a:t>
            </a:r>
          </a:p>
        </p:txBody>
      </p:sp>
      <p:sp>
        <p:nvSpPr>
          <p:cNvPr id="13" name="">
            <a:extLst xmlns:a="http://schemas.openxmlformats.org/drawingml/2006/main">
              <a:ext uri="{FF2B5EF4-FFF2-40B4-BE49-F238E27FC236}">
                <a16:creationId xmlns:a16="http://schemas.microsoft.com/office/drawing/2014/main" id="{B03B27D4-7BA3-4D68-900E-924CDD5E2FCE}"/>
              </a:ext>
            </a:extLst>
          </p:cNvPr>
          <p:cNvSpPr>
            <a:spLocks xmlns:a="http://schemas.openxmlformats.org/drawingml/2006/main" noGrp="1"/>
          </p:cNvSpPr>
          <p:nvPr/>
        </p:nvSpPr>
        <p:spPr>
          <a:xfrm xmlns:a="http://schemas.openxmlformats.org/drawingml/2006/main">
            <a:off x="7686675" y="5000625"/>
            <a:ext cx="3952875" cy="990600"/>
          </a:xfrm>
          <a:prstGeom xmlns:a="http://schemas.openxmlformats.org/drawingml/2006/main" prst="rect">
            <a:avLst/>
          </a:prstGeom>
          <a:solidFill xmlns:a="http://schemas.openxmlformats.org/drawingml/2006/main">
            <a:srgbClr val="EFE5F6"/>
          </a:solidFill>
          <a:ln xmlns:a="http://schemas.openxmlformats.org/drawingml/2006/main" w="9525">
            <a:solidFill>
              <a:srgbClr val="7B2DAF"/>
            </a:solidFill>
            <a:prstDash val="solid"/>
          </a:ln>
        </p:spPr>
      </p:sp>
      <p:sp>
        <p:nvSpPr>
          <p:cNvPr id="14" name="">
            <a:extLst xmlns:a="http://schemas.openxmlformats.org/drawingml/2006/main">
              <a:ext uri="{FF2B5EF4-FFF2-40B4-BE49-F238E27FC236}">
                <a16:creationId xmlns:a16="http://schemas.microsoft.com/office/drawing/2014/main" id="{3C1CF960-9C1C-4E52-96AD-A03FB1B61552}"/>
              </a:ext>
            </a:extLst>
          </p:cNvPr>
          <p:cNvSpPr>
            <a:spLocks xmlns:a="http://schemas.openxmlformats.org/drawingml/2006/main" noGrp="1"/>
          </p:cNvSpPr>
          <p:nvPr/>
        </p:nvSpPr>
        <p:spPr>
          <a:xfrm xmlns:a="http://schemas.openxmlformats.org/drawingml/2006/main">
            <a:off x="7877175" y="5153025"/>
            <a:ext cx="3571875"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7B2DAF"/>
                </a:solidFill>
                <a:latin typeface="Yu Gothic"/>
                <a:ea typeface="Yu Gothic"/>
                <a:cs typeface="Yu Gothic"/>
              </a:defRPr>
            </a:pPr>
            <a:r>
              <a:rPr sz="1275" b="1" i="0">
                <a:solidFill>
                  <a:srgbClr val="7B2DAF"/>
                </a:solidFill>
                <a:latin typeface="Yu Gothic"/>
                <a:ea typeface="Yu Gothic"/>
                <a:cs typeface="Yu Gothic"/>
              </a:rPr>
              <a:t>拡張候補の採用条件</a:t>
            </a:r>
          </a:p>
        </p:txBody>
      </p:sp>
      <p:sp>
        <p:nvSpPr>
          <p:cNvPr id="15" name="">
            <a:extLst xmlns:a="http://schemas.openxmlformats.org/drawingml/2006/main">
              <a:ext uri="{FF2B5EF4-FFF2-40B4-BE49-F238E27FC236}">
                <a16:creationId xmlns:a16="http://schemas.microsoft.com/office/drawing/2014/main" id="{34C9B178-9106-492B-AA72-6C15BD14F12D}"/>
              </a:ext>
            </a:extLst>
          </p:cNvPr>
          <p:cNvSpPr>
            <a:spLocks xmlns:a="http://schemas.openxmlformats.org/drawingml/2006/main" noGrp="1"/>
          </p:cNvSpPr>
          <p:nvPr/>
        </p:nvSpPr>
        <p:spPr>
          <a:xfrm xmlns:a="http://schemas.openxmlformats.org/drawingml/2006/main">
            <a:off x="7877175" y="5505450"/>
            <a:ext cx="35718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8000"/>
              </a:lnSpc>
              <a:buNone/>
              <a:defRPr sz="855" b="0" i="0">
                <a:solidFill>
                  <a:srgbClr val="5B5B5B"/>
                </a:solidFill>
                <a:latin typeface="Yu Gothic"/>
                <a:ea typeface="Yu Gothic"/>
                <a:cs typeface="Yu Gothic"/>
              </a:defRPr>
            </a:pPr>
            <a:r>
              <a:rPr sz="855" b="0" i="0">
                <a:solidFill>
                  <a:srgbClr val="5B5B5B"/>
                </a:solidFill>
                <a:latin typeface="Yu Gothic"/>
                <a:ea typeface="Yu Gothic"/>
                <a:cs typeface="Yu Gothic"/>
              </a:rPr>
              <a:t>複数problemで同じ残差構造が再現し、保存則・単位・識別性・成果物再現性を維持できる場合のみ。</a:t>
            </a:r>
          </a:p>
        </p:txBody>
      </p:sp>
    </p:spTree>
    <p:extLst>
      <p:ext uri="{BB962C8B-B14F-4D97-AF65-F5344CB8AC3E}">
        <p14:creationId xmlns:p14="http://schemas.microsoft.com/office/powerpoint/2010/main" val="144723882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CE8A062D-A542-4BE6-A0EF-CEE664D9EAC7}"/>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EB5AAB2-16F9-4AAA-8AD6-BCFCC8B88A39}"/>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DATA &amp; ARTIFACT CONTRACT</a:t>
            </a:r>
          </a:p>
        </p:txBody>
      </p:sp>
      <p:sp>
        <p:nvSpPr>
          <p:cNvPr id="3" name="">
            <a:extLst xmlns:a="http://schemas.openxmlformats.org/drawingml/2006/main">
              <a:ext uri="{FF2B5EF4-FFF2-40B4-BE49-F238E27FC236}">
                <a16:creationId xmlns:a16="http://schemas.microsoft.com/office/drawing/2014/main" id="{B23F129F-B492-45CD-ACCF-0A87F4B31D3A}"/>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同じTrajectory schemaをtrain・forecast・monitorで共有し、入力解釈の分岐を防ぐ</a:t>
            </a:r>
          </a:p>
        </p:txBody>
      </p:sp>
      <p:sp>
        <p:nvSpPr>
          <p:cNvPr id="4" name="">
            <a:extLst xmlns:a="http://schemas.openxmlformats.org/drawingml/2006/main">
              <a:ext uri="{FF2B5EF4-FFF2-40B4-BE49-F238E27FC236}">
                <a16:creationId xmlns:a16="http://schemas.microsoft.com/office/drawing/2014/main" id="{3727E04C-7DA1-4450-86F9-784AFB68650D}"/>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出力はstagingへ全件を書いてから置換し、hashと設定snapshotで再現性を担保する</a:t>
            </a:r>
          </a:p>
        </p:txBody>
      </p:sp>
      <p:sp>
        <p:nvSpPr>
          <p:cNvPr id="5" name="">
            <a:extLst xmlns:a="http://schemas.openxmlformats.org/drawingml/2006/main">
              <a:ext uri="{FF2B5EF4-FFF2-40B4-BE49-F238E27FC236}">
                <a16:creationId xmlns:a16="http://schemas.microsoft.com/office/drawing/2014/main" id="{0B971E8E-7438-4B1C-98FC-FA767AB30C68}"/>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26DE821A-9157-4387-81A3-81CD0FCA5BD8}"/>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7F8AF7E7-FA12-4CFF-BAD0-98E6C1995395}"/>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E85D4756-8A41-4AAD-B9EF-A5459B05CD07}"/>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17</a:t>
            </a:r>
          </a:p>
        </p:txBody>
      </p:sp>
      <p:sp>
        <p:nvSpPr>
          <p:cNvPr id="9" name="">
            <a:extLst xmlns:a="http://schemas.openxmlformats.org/drawingml/2006/main">
              <a:ext uri="{FF2B5EF4-FFF2-40B4-BE49-F238E27FC236}">
                <a16:creationId xmlns:a16="http://schemas.microsoft.com/office/drawing/2014/main" id="{9F477C98-FA6D-435D-A145-914851182D7B}"/>
              </a:ext>
            </a:extLst>
          </p:cNvPr>
          <p:cNvSpPr>
            <a:spLocks xmlns:a="http://schemas.openxmlformats.org/drawingml/2006/main" noGrp="1"/>
          </p:cNvSpPr>
          <p:nvPr/>
        </p:nvSpPr>
        <p:spPr>
          <a:xfrm xmlns:a="http://schemas.openxmlformats.org/drawingml/2006/main">
            <a:off x="552450" y="1504950"/>
            <a:ext cx="2057400" cy="10572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1033DBB1-9D40-47FE-9985-5053BAD6CB24}"/>
              </a:ext>
            </a:extLst>
          </p:cNvPr>
          <p:cNvSpPr>
            <a:spLocks xmlns:a="http://schemas.openxmlformats.org/drawingml/2006/main" noGrp="1"/>
          </p:cNvSpPr>
          <p:nvPr/>
        </p:nvSpPr>
        <p:spPr>
          <a:xfrm xmlns:a="http://schemas.openxmlformats.org/drawingml/2006/main">
            <a:off x="723900" y="1676400"/>
            <a:ext cx="1714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3F3F3F"/>
                </a:solidFill>
                <a:latin typeface="Yu Gothic"/>
                <a:ea typeface="Yu Gothic"/>
                <a:cs typeface="Yu Gothic"/>
              </a:defRPr>
            </a:pPr>
            <a:r>
              <a:rPr sz="1275" b="1" i="0">
                <a:solidFill>
                  <a:srgbClr val="3F3F3F"/>
                </a:solidFill>
                <a:latin typeface="Yu Gothic"/>
                <a:ea typeface="Yu Gothic"/>
                <a:cs typeface="Yu Gothic"/>
              </a:rPr>
              <a:t>CSV / DataFrame</a:t>
            </a:r>
          </a:p>
        </p:txBody>
      </p:sp>
      <p:sp>
        <p:nvSpPr>
          <p:cNvPr id="11" name="">
            <a:extLst xmlns:a="http://schemas.openxmlformats.org/drawingml/2006/main">
              <a:ext uri="{FF2B5EF4-FFF2-40B4-BE49-F238E27FC236}">
                <a16:creationId xmlns:a16="http://schemas.microsoft.com/office/drawing/2014/main" id="{A909FB01-EA4A-4988-B40F-69E6CF6503C7}"/>
              </a:ext>
            </a:extLst>
          </p:cNvPr>
          <p:cNvSpPr>
            <a:spLocks xmlns:a="http://schemas.openxmlformats.org/drawingml/2006/main" noGrp="1"/>
          </p:cNvSpPr>
          <p:nvPr/>
        </p:nvSpPr>
        <p:spPr>
          <a:xfrm xmlns:a="http://schemas.openxmlformats.org/drawingml/2006/main">
            <a:off x="723900" y="2028825"/>
            <a:ext cx="1714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time / sensor / control</a:t>
            </a:r>
          </a:p>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self-contained case</a:t>
            </a:r>
          </a:p>
        </p:txBody>
      </p:sp>
      <p:sp>
        <p:nvSpPr>
          <p:cNvPr id="12" name="">
            <a:extLst xmlns:a="http://schemas.openxmlformats.org/drawingml/2006/main">
              <a:ext uri="{FF2B5EF4-FFF2-40B4-BE49-F238E27FC236}">
                <a16:creationId xmlns:a16="http://schemas.microsoft.com/office/drawing/2014/main" id="{1E318CD5-7275-4949-B4BD-6903209FC55F}"/>
              </a:ext>
            </a:extLst>
          </p:cNvPr>
          <p:cNvSpPr>
            <a:spLocks xmlns:a="http://schemas.openxmlformats.org/drawingml/2006/main" noGrp="1"/>
          </p:cNvSpPr>
          <p:nvPr/>
        </p:nvSpPr>
        <p:spPr>
          <a:xfrm xmlns:a="http://schemas.openxmlformats.org/drawingml/2006/main">
            <a:off x="3009900" y="1504950"/>
            <a:ext cx="2057400" cy="1057275"/>
          </a:xfrm>
          <a:prstGeom xmlns:a="http://schemas.openxmlformats.org/drawingml/2006/main" prst="rect">
            <a:avLst/>
          </a:prstGeom>
          <a:solidFill xmlns:a="http://schemas.openxmlformats.org/drawingml/2006/main">
            <a:srgbClr val="E5F6FB"/>
          </a:solidFill>
          <a:ln xmlns:a="http://schemas.openxmlformats.org/drawingml/2006/main" w="9525">
            <a:solidFill>
              <a:srgbClr val="00A5D8"/>
            </a:solidFill>
            <a:prstDash val="solid"/>
          </a:ln>
        </p:spPr>
      </p:sp>
      <p:sp>
        <p:nvSpPr>
          <p:cNvPr id="13" name="">
            <a:extLst xmlns:a="http://schemas.openxmlformats.org/drawingml/2006/main">
              <a:ext uri="{FF2B5EF4-FFF2-40B4-BE49-F238E27FC236}">
                <a16:creationId xmlns:a16="http://schemas.microsoft.com/office/drawing/2014/main" id="{C366D62A-2D22-409C-AC00-5A7B75F9D3BB}"/>
              </a:ext>
            </a:extLst>
          </p:cNvPr>
          <p:cNvSpPr>
            <a:spLocks xmlns:a="http://schemas.openxmlformats.org/drawingml/2006/main" noGrp="1"/>
          </p:cNvSpPr>
          <p:nvPr/>
        </p:nvSpPr>
        <p:spPr>
          <a:xfrm xmlns:a="http://schemas.openxmlformats.org/drawingml/2006/main">
            <a:off x="3181350" y="1676400"/>
            <a:ext cx="1714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007FA8"/>
                </a:solidFill>
                <a:latin typeface="Yu Gothic"/>
                <a:ea typeface="Yu Gothic"/>
                <a:cs typeface="Yu Gothic"/>
              </a:defRPr>
            </a:pPr>
            <a:r>
              <a:rPr sz="1275" b="1" i="0">
                <a:solidFill>
                  <a:srgbClr val="007FA8"/>
                </a:solidFill>
                <a:latin typeface="Yu Gothic"/>
                <a:ea typeface="Yu Gothic"/>
                <a:cs typeface="Yu Gothic"/>
              </a:rPr>
              <a:t>Trajectory</a:t>
            </a:r>
          </a:p>
        </p:txBody>
      </p:sp>
      <p:sp>
        <p:nvSpPr>
          <p:cNvPr id="14" name="">
            <a:extLst xmlns:a="http://schemas.openxmlformats.org/drawingml/2006/main">
              <a:ext uri="{FF2B5EF4-FFF2-40B4-BE49-F238E27FC236}">
                <a16:creationId xmlns:a16="http://schemas.microsoft.com/office/drawing/2014/main" id="{FE9A153E-F576-46D0-818B-8A41CF843EB4}"/>
              </a:ext>
            </a:extLst>
          </p:cNvPr>
          <p:cNvSpPr>
            <a:spLocks xmlns:a="http://schemas.openxmlformats.org/drawingml/2006/main" noGrp="1"/>
          </p:cNvSpPr>
          <p:nvPr/>
        </p:nvSpPr>
        <p:spPr>
          <a:xfrm xmlns:a="http://schemas.openxmlformats.org/drawingml/2006/main">
            <a:off x="3181350" y="2028825"/>
            <a:ext cx="1714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validated arrays</a:t>
            </a:r>
          </a:p>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variable Δt / missing mask</a:t>
            </a:r>
          </a:p>
        </p:txBody>
      </p:sp>
      <p:sp>
        <p:nvSpPr>
          <p:cNvPr id="15" name="">
            <a:extLst xmlns:a="http://schemas.openxmlformats.org/drawingml/2006/main">
              <a:ext uri="{FF2B5EF4-FFF2-40B4-BE49-F238E27FC236}">
                <a16:creationId xmlns:a16="http://schemas.microsoft.com/office/drawing/2014/main" id="{456AB40F-AD69-445B-9D52-15BF5CCC6228}"/>
              </a:ext>
            </a:extLst>
          </p:cNvPr>
          <p:cNvSpPr>
            <a:spLocks xmlns:a="http://schemas.openxmlformats.org/drawingml/2006/main" noGrp="1"/>
          </p:cNvSpPr>
          <p:nvPr/>
        </p:nvSpPr>
        <p:spPr>
          <a:xfrm xmlns:a="http://schemas.openxmlformats.org/drawingml/2006/main">
            <a:off x="5467350" y="1504950"/>
            <a:ext cx="2057400" cy="1057275"/>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16" name="">
            <a:extLst xmlns:a="http://schemas.openxmlformats.org/drawingml/2006/main">
              <a:ext uri="{FF2B5EF4-FFF2-40B4-BE49-F238E27FC236}">
                <a16:creationId xmlns:a16="http://schemas.microsoft.com/office/drawing/2014/main" id="{5DFEAADD-FD95-4816-91C8-93ED5F64D4D9}"/>
              </a:ext>
            </a:extLst>
          </p:cNvPr>
          <p:cNvSpPr>
            <a:spLocks xmlns:a="http://schemas.openxmlformats.org/drawingml/2006/main" noGrp="1"/>
          </p:cNvSpPr>
          <p:nvPr/>
        </p:nvSpPr>
        <p:spPr>
          <a:xfrm xmlns:a="http://schemas.openxmlformats.org/drawingml/2006/main">
            <a:off x="5638800" y="1676400"/>
            <a:ext cx="1714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4D8710"/>
                </a:solidFill>
                <a:latin typeface="Yu Gothic"/>
                <a:ea typeface="Yu Gothic"/>
                <a:cs typeface="Yu Gothic"/>
              </a:defRPr>
            </a:pPr>
            <a:r>
              <a:rPr sz="1275" b="1" i="0">
                <a:solidFill>
                  <a:srgbClr val="4D8710"/>
                </a:solidFill>
                <a:latin typeface="Yu Gothic"/>
                <a:ea typeface="Yu Gothic"/>
                <a:cs typeface="Yu Gothic"/>
              </a:rPr>
              <a:t>Thermal model</a:t>
            </a:r>
          </a:p>
        </p:txBody>
      </p:sp>
      <p:sp>
        <p:nvSpPr>
          <p:cNvPr id="17" name="">
            <a:extLst xmlns:a="http://schemas.openxmlformats.org/drawingml/2006/main">
              <a:ext uri="{FF2B5EF4-FFF2-40B4-BE49-F238E27FC236}">
                <a16:creationId xmlns:a16="http://schemas.microsoft.com/office/drawing/2014/main" id="{E90ED42B-C419-4E77-802E-BF586A3C15FD}"/>
              </a:ext>
            </a:extLst>
          </p:cNvPr>
          <p:cNvSpPr>
            <a:spLocks xmlns:a="http://schemas.openxmlformats.org/drawingml/2006/main" noGrp="1"/>
          </p:cNvSpPr>
          <p:nvPr/>
        </p:nvSpPr>
        <p:spPr>
          <a:xfrm xmlns:a="http://schemas.openxmlformats.org/drawingml/2006/main">
            <a:off x="5638800" y="2028825"/>
            <a:ext cx="1714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same rollout engine</a:t>
            </a:r>
          </a:p>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train / forecast / monitor</a:t>
            </a:r>
          </a:p>
        </p:txBody>
      </p:sp>
      <p:sp>
        <p:nvSpPr>
          <p:cNvPr id="18" name="">
            <a:extLst xmlns:a="http://schemas.openxmlformats.org/drawingml/2006/main">
              <a:ext uri="{FF2B5EF4-FFF2-40B4-BE49-F238E27FC236}">
                <a16:creationId xmlns:a16="http://schemas.microsoft.com/office/drawing/2014/main" id="{C85F252A-18E3-4C97-8AD2-0A6C900CA778}"/>
              </a:ext>
            </a:extLst>
          </p:cNvPr>
          <p:cNvSpPr>
            <a:spLocks xmlns:a="http://schemas.openxmlformats.org/drawingml/2006/main" noGrp="1"/>
          </p:cNvSpPr>
          <p:nvPr/>
        </p:nvSpPr>
        <p:spPr>
          <a:xfrm xmlns:a="http://schemas.openxmlformats.org/drawingml/2006/main">
            <a:off x="7924800" y="1504950"/>
            <a:ext cx="2057400" cy="1057275"/>
          </a:xfrm>
          <a:prstGeom xmlns:a="http://schemas.openxmlformats.org/drawingml/2006/main" prst="rect">
            <a:avLst/>
          </a:prstGeom>
          <a:solidFill xmlns:a="http://schemas.openxmlformats.org/drawingml/2006/main">
            <a:srgbClr val="EFE5F6"/>
          </a:solidFill>
          <a:ln xmlns:a="http://schemas.openxmlformats.org/drawingml/2006/main" w="9525">
            <a:solidFill>
              <a:srgbClr val="7B2DAF"/>
            </a:solidFill>
            <a:prstDash val="solid"/>
          </a:ln>
        </p:spPr>
      </p:sp>
      <p:sp>
        <p:nvSpPr>
          <p:cNvPr id="19" name="">
            <a:extLst xmlns:a="http://schemas.openxmlformats.org/drawingml/2006/main">
              <a:ext uri="{FF2B5EF4-FFF2-40B4-BE49-F238E27FC236}">
                <a16:creationId xmlns:a16="http://schemas.microsoft.com/office/drawing/2014/main" id="{F72AA07B-1403-4E7D-9FC5-2E7FF8FDC64C}"/>
              </a:ext>
            </a:extLst>
          </p:cNvPr>
          <p:cNvSpPr>
            <a:spLocks xmlns:a="http://schemas.openxmlformats.org/drawingml/2006/main" noGrp="1"/>
          </p:cNvSpPr>
          <p:nvPr/>
        </p:nvSpPr>
        <p:spPr>
          <a:xfrm xmlns:a="http://schemas.openxmlformats.org/drawingml/2006/main">
            <a:off x="8096250" y="1676400"/>
            <a:ext cx="1714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7B2DAF"/>
                </a:solidFill>
                <a:latin typeface="Yu Gothic"/>
                <a:ea typeface="Yu Gothic"/>
                <a:cs typeface="Yu Gothic"/>
              </a:defRPr>
            </a:pPr>
            <a:r>
              <a:rPr sz="1275" b="1" i="0">
                <a:solidFill>
                  <a:srgbClr val="7B2DAF"/>
                </a:solidFill>
                <a:latin typeface="Yu Gothic"/>
                <a:ea typeface="Yu Gothic"/>
                <a:cs typeface="Yu Gothic"/>
              </a:rPr>
              <a:t>Artifact</a:t>
            </a:r>
          </a:p>
        </p:txBody>
      </p:sp>
      <p:sp>
        <p:nvSpPr>
          <p:cNvPr id="20" name="">
            <a:extLst xmlns:a="http://schemas.openxmlformats.org/drawingml/2006/main">
              <a:ext uri="{FF2B5EF4-FFF2-40B4-BE49-F238E27FC236}">
                <a16:creationId xmlns:a16="http://schemas.microsoft.com/office/drawing/2014/main" id="{A2D4E64B-4155-4438-A304-3C61A3123DC3}"/>
              </a:ext>
            </a:extLst>
          </p:cNvPr>
          <p:cNvSpPr>
            <a:spLocks xmlns:a="http://schemas.openxmlformats.org/drawingml/2006/main" noGrp="1"/>
          </p:cNvSpPr>
          <p:nvPr/>
        </p:nvSpPr>
        <p:spPr>
          <a:xfrm xmlns:a="http://schemas.openxmlformats.org/drawingml/2006/main">
            <a:off x="8096250" y="2028825"/>
            <a:ext cx="1714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state + system + metadata</a:t>
            </a:r>
          </a:p>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portable directory</a:t>
            </a:r>
          </a:p>
        </p:txBody>
      </p:sp>
      <p:sp>
        <p:nvSpPr>
          <p:cNvPr id="21" name="">
            <a:extLst xmlns:a="http://schemas.openxmlformats.org/drawingml/2006/main">
              <a:ext uri="{FF2B5EF4-FFF2-40B4-BE49-F238E27FC236}">
                <a16:creationId xmlns:a16="http://schemas.microsoft.com/office/drawing/2014/main" id="{F6DB3878-8085-424C-A700-F7222C31A138}"/>
              </a:ext>
            </a:extLst>
          </p:cNvPr>
          <p:cNvSpPr>
            <a:spLocks xmlns:a="http://schemas.openxmlformats.org/drawingml/2006/main" noGrp="1"/>
          </p:cNvSpPr>
          <p:nvPr/>
        </p:nvSpPr>
        <p:spPr>
          <a:xfrm xmlns:a="http://schemas.openxmlformats.org/drawingml/2006/main">
            <a:off x="10382250" y="1504950"/>
            <a:ext cx="1257300" cy="105727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D773D88-23E0-4E2A-8154-A09CEA61DFD8}"/>
              </a:ext>
            </a:extLst>
          </p:cNvPr>
          <p:cNvSpPr>
            <a:spLocks xmlns:a="http://schemas.openxmlformats.org/drawingml/2006/main" noGrp="1"/>
          </p:cNvSpPr>
          <p:nvPr/>
        </p:nvSpPr>
        <p:spPr>
          <a:xfrm xmlns:a="http://schemas.openxmlformats.org/drawingml/2006/main">
            <a:off x="10477500" y="1685925"/>
            <a:ext cx="10668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FFFFFF"/>
                </a:solidFill>
                <a:latin typeface="Yu Gothic"/>
                <a:ea typeface="Yu Gothic"/>
                <a:cs typeface="Yu Gothic"/>
              </a:defRPr>
            </a:pPr>
            <a:r>
              <a:rPr sz="1275" b="1" i="0">
                <a:solidFill>
                  <a:srgbClr val="FFFFFF"/>
                </a:solidFill>
                <a:latin typeface="Yu Gothic"/>
                <a:ea typeface="Yu Gothic"/>
                <a:cs typeface="Yu Gothic"/>
              </a:rPr>
              <a:t>Results</a:t>
            </a:r>
          </a:p>
        </p:txBody>
      </p:sp>
      <p:sp>
        <p:nvSpPr>
          <p:cNvPr id="23" name="">
            <a:extLst xmlns:a="http://schemas.openxmlformats.org/drawingml/2006/main">
              <a:ext uri="{FF2B5EF4-FFF2-40B4-BE49-F238E27FC236}">
                <a16:creationId xmlns:a16="http://schemas.microsoft.com/office/drawing/2014/main" id="{55D5084B-5974-437E-998F-1F309BA4A88F}"/>
              </a:ext>
            </a:extLst>
          </p:cNvPr>
          <p:cNvSpPr>
            <a:spLocks xmlns:a="http://schemas.openxmlformats.org/drawingml/2006/main" noGrp="1"/>
          </p:cNvSpPr>
          <p:nvPr/>
        </p:nvSpPr>
        <p:spPr>
          <a:xfrm xmlns:a="http://schemas.openxmlformats.org/drawingml/2006/main">
            <a:off x="10477500" y="2038350"/>
            <a:ext cx="1066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63" b="0" i="0">
                <a:solidFill>
                  <a:srgbClr val="D8D0E8"/>
                </a:solidFill>
                <a:latin typeface="Yu Gothic"/>
                <a:ea typeface="Yu Gothic"/>
                <a:cs typeface="Yu Gothic"/>
              </a:defRPr>
            </a:pPr>
            <a:r>
              <a:rPr sz="863" b="0" i="0">
                <a:solidFill>
                  <a:srgbClr val="D8D0E8"/>
                </a:solidFill>
                <a:latin typeface="Yu Gothic"/>
                <a:ea typeface="Yu Gothic"/>
                <a:cs typeface="Yu Gothic"/>
              </a:rPr>
              <a:t>CSV / JSON</a:t>
            </a:r>
          </a:p>
          <a:p xmlns:a="http://schemas.openxmlformats.org/drawingml/2006/main">
            <a:pPr algn="ctr">
              <a:lnSpc>
                <a:spcPct val="100000"/>
              </a:lnSpc>
              <a:buNone/>
              <a:defRPr sz="863" b="0" i="0">
                <a:solidFill>
                  <a:srgbClr val="D8D0E8"/>
                </a:solidFill>
                <a:latin typeface="Yu Gothic"/>
                <a:ea typeface="Yu Gothic"/>
                <a:cs typeface="Yu Gothic"/>
              </a:defRPr>
            </a:pPr>
            <a:r>
              <a:rPr sz="863" b="0" i="0">
                <a:solidFill>
                  <a:srgbClr val="D8D0E8"/>
                </a:solidFill>
                <a:latin typeface="Yu Gothic"/>
                <a:ea typeface="Yu Gothic"/>
                <a:cs typeface="Yu Gothic"/>
              </a:rPr>
              <a:t>manifest</a:t>
            </a:r>
          </a:p>
        </p:txBody>
      </p:sp>
      <p:cxnSp>
        <p:nvCxnSpPr>
          <p:cNvPr id="54" name=""/>
          <p:cNvCxnSpPr>
            <a:stCxn xmlns:a="http://schemas.openxmlformats.org/drawingml/2006/main" id="9" idx="3"/>
            <a:endCxn xmlns:a="http://schemas.openxmlformats.org/drawingml/2006/main" id="12" idx="1"/>
          </p:cNvCxnSpPr>
          <p:nvPr/>
        </p:nvCxnSpPr>
        <p:spPr>
          <a:xfrm xmlns:a="http://schemas.openxmlformats.org/drawingml/2006/main">
            <a:off x="2609850" y="2033588"/>
            <a:ext cx="4000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55" name=""/>
          <p:cNvCxnSpPr>
            <a:stCxn xmlns:a="http://schemas.openxmlformats.org/drawingml/2006/main" id="12" idx="3"/>
            <a:endCxn xmlns:a="http://schemas.openxmlformats.org/drawingml/2006/main" id="15" idx="1"/>
          </p:cNvCxnSpPr>
          <p:nvPr/>
        </p:nvCxnSpPr>
        <p:spPr>
          <a:xfrm xmlns:a="http://schemas.openxmlformats.org/drawingml/2006/main">
            <a:off x="5067300" y="2033588"/>
            <a:ext cx="4000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56" name=""/>
          <p:cNvCxnSpPr>
            <a:stCxn xmlns:a="http://schemas.openxmlformats.org/drawingml/2006/main" id="15" idx="3"/>
            <a:endCxn xmlns:a="http://schemas.openxmlformats.org/drawingml/2006/main" id="18" idx="1"/>
          </p:cNvCxnSpPr>
          <p:nvPr/>
        </p:nvCxnSpPr>
        <p:spPr>
          <a:xfrm xmlns:a="http://schemas.openxmlformats.org/drawingml/2006/main">
            <a:off x="7524750" y="2033588"/>
            <a:ext cx="4000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57" name=""/>
          <p:cNvCxnSpPr>
            <a:stCxn xmlns:a="http://schemas.openxmlformats.org/drawingml/2006/main" id="18" idx="3"/>
            <a:endCxn xmlns:a="http://schemas.openxmlformats.org/drawingml/2006/main" id="21" idx="1"/>
          </p:cNvCxnSpPr>
          <p:nvPr/>
        </p:nvCxnSpPr>
        <p:spPr>
          <a:xfrm xmlns:a="http://schemas.openxmlformats.org/drawingml/2006/main">
            <a:off x="9982200" y="2033588"/>
            <a:ext cx="4000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graphicFrame>
        <p:nvGraphicFramePr>
          <p:cNvPr id="58" name=""/>
          <p:cNvGraphicFramePr/>
          <p:nvPr/>
        </p:nvGraphicFramePr>
        <p:xfrm>
          <a:off xmlns:a="http://schemas.openxmlformats.org/drawingml/2006/main" x="552450" y="2867025"/>
          <a:ext xmlns:a="http://schemas.openxmlformats.org/drawingml/2006/main" cx="11087100" cy="2800350"/>
        </p:xfrm>
        <a:graphic xmlns:a="http://schemas.openxmlformats.org/drawingml/2006/main">
          <a:graphicData uri="http://schemas.openxmlformats.org/drawingml/2006/table">
            <a:tbl>
              <a:tblPr/>
              <a:tblGrid>
                <a:gridCol w="1952625"/>
                <a:gridCol w="2781300"/>
                <a:gridCol w="3362325"/>
                <a:gridCol w="2990850"/>
              </a:tblGrid>
              <a:tr h="466725">
                <a:tc>
                  <a:txBody>
                    <a:bodyPr/>
                    <a:lstStyle/>
                    <a:p>
                      <a:r>
                        <a:rPr sz="938" b="1">
                          <a:solidFill>
                            <a:srgbClr val="FFFFFF"/>
                          </a:solidFill>
                          <a:latin typeface="Yu Gothic"/>
                          <a:ea typeface="Yu Gothic"/>
                          <a:cs typeface="Yu Gothic"/>
                        </a:rPr>
                        <a:t>contract</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shape / files</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必須規約</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検証・来歴</a:t>
                      </a:r>
                    </a:p>
                  </a:txBody>
                  <a:tcPr marL="91440" marR="91440" marT="45720" marB="45720">
                    <a:solidFill>
                      <a:srgbClr val="007FA8"/>
                    </a:solidFill>
                  </a:tcPr>
                </a:tc>
              </a:tr>
              <a:tr h="466725">
                <a:tc>
                  <a:txBody>
                    <a:bodyPr/>
                    <a:lstStyle/>
                    <a:p>
                      <a:r>
                        <a:rPr sz="840" b="1">
                          <a:solidFill>
                            <a:srgbClr val="007FA8"/>
                          </a:solidFill>
                          <a:latin typeface="Yu Gothic"/>
                          <a:ea typeface="Yu Gothic"/>
                          <a:cs typeface="Yu Gothic"/>
                        </a:rPr>
                        <a:t>trajectory</a:t>
                      </a:r>
                    </a:p>
                  </a:txBody>
                  <a:tcPr marL="91440" marR="91440" marT="45720" marB="45720">
                    <a:solidFill>
                      <a:srgbClr val="FFFFFF"/>
                    </a:solidFill>
                  </a:tcPr>
                </a:tc>
                <a:tc>
                  <a:txBody>
                    <a:bodyPr/>
                    <a:lstStyle/>
                    <a:p>
                      <a:r>
                        <a:rPr sz="840">
                          <a:solidFill>
                            <a:srgbClr val="5B5B5B"/>
                          </a:solidFill>
                          <a:latin typeface="Yu Gothic"/>
                          <a:ea typeface="Yu Gothic"/>
                          <a:cs typeface="Yu Gothic"/>
                        </a:rPr>
                        <a:t>time[N], temperature[N,S]</a:t>
                      </a:r>
                    </a:p>
                  </a:txBody>
                  <a:tcPr marL="91440" marR="91440" marT="45720" marB="45720">
                    <a:solidFill>
                      <a:srgbClr val="FFFFFF"/>
                    </a:solidFill>
                  </a:tcPr>
                </a:tc>
                <a:tc>
                  <a:txBody>
                    <a:bodyPr/>
                    <a:lstStyle/>
                    <a:p>
                      <a:r>
                        <a:rPr sz="840">
                          <a:solidFill>
                            <a:srgbClr val="5B5B5B"/>
                          </a:solidFill>
                          <a:latin typeface="Yu Gothic"/>
                          <a:ea typeface="Yu Gothic"/>
                          <a:cs typeface="Yu Gothic"/>
                        </a:rPr>
                        <a:t>timeはstrict増加、温度単位を統一</a:t>
                      </a:r>
                    </a:p>
                  </a:txBody>
                  <a:tcPr marL="91440" marR="91440" marT="45720" marB="45720">
                    <a:solidFill>
                      <a:srgbClr val="FFFFFF"/>
                    </a:solidFill>
                  </a:tcPr>
                </a:tc>
                <a:tc>
                  <a:txBody>
                    <a:bodyPr/>
                    <a:lstStyle/>
                    <a:p>
                      <a:r>
                        <a:rPr sz="840">
                          <a:solidFill>
                            <a:srgbClr val="5B5B5B"/>
                          </a:solidFill>
                          <a:latin typeface="Yu Gothic"/>
                          <a:ea typeface="Yu Gothic"/>
                          <a:cs typeface="Yu Gothic"/>
                        </a:rPr>
                        <a:t>range / missing / layout validation</a:t>
                      </a:r>
                    </a:p>
                  </a:txBody>
                  <a:tcPr marL="91440" marR="91440" marT="45720" marB="45720">
                    <a:solidFill>
                      <a:srgbClr val="FFFFFF"/>
                    </a:solidFill>
                  </a:tcPr>
                </a:tc>
              </a:tr>
              <a:tr h="466725">
                <a:tc>
                  <a:txBody>
                    <a:bodyPr/>
                    <a:lstStyle/>
                    <a:p>
                      <a:r>
                        <a:rPr sz="840" b="1">
                          <a:solidFill>
                            <a:srgbClr val="007FA8"/>
                          </a:solidFill>
                          <a:latin typeface="Yu Gothic"/>
                          <a:ea typeface="Yu Gothic"/>
                          <a:cs typeface="Yu Gothic"/>
                        </a:rPr>
                        <a:t>command</a:t>
                      </a:r>
                    </a:p>
                  </a:txBody>
                  <a:tcPr marL="91440" marR="91440" marT="45720" marB="45720">
                    <a:solidFill>
                      <a:srgbClr val="F8F8F8"/>
                    </a:solidFill>
                  </a:tcPr>
                </a:tc>
                <a:tc>
                  <a:txBody>
                    <a:bodyPr/>
                    <a:lstStyle/>
                    <a:p>
                      <a:r>
                        <a:rPr sz="840">
                          <a:solidFill>
                            <a:srgbClr val="5B5B5B"/>
                          </a:solidFill>
                          <a:latin typeface="Yu Gothic"/>
                          <a:ea typeface="Yu Gothic"/>
                          <a:cs typeface="Yu Gothic"/>
                        </a:rPr>
                        <a:t>commands[N−1,U]</a:t>
                      </a:r>
                    </a:p>
                  </a:txBody>
                  <a:tcPr marL="91440" marR="91440" marT="45720" marB="45720">
                    <a:solidFill>
                      <a:srgbClr val="F8F8F8"/>
                    </a:solidFill>
                  </a:tcPr>
                </a:tc>
                <a:tc>
                  <a:txBody>
                    <a:bodyPr/>
                    <a:lstStyle/>
                    <a:p>
                      <a:r>
                        <a:rPr sz="840">
                          <a:solidFill>
                            <a:srgbClr val="5B5B5B"/>
                          </a:solidFill>
                          <a:latin typeface="Yu Gothic"/>
                          <a:ea typeface="Yu Gothic"/>
                          <a:cs typeface="Yu Gothic"/>
                        </a:rPr>
                        <a:t>u[k]は[time[k],time[k+1])へ適用</a:t>
                      </a:r>
                    </a:p>
                  </a:txBody>
                  <a:tcPr marL="91440" marR="91440" marT="45720" marB="45720">
                    <a:solidFill>
                      <a:srgbClr val="F8F8F8"/>
                    </a:solidFill>
                  </a:tcPr>
                </a:tc>
                <a:tc>
                  <a:txBody>
                    <a:bodyPr/>
                    <a:lstStyle/>
                    <a:p>
                      <a:r>
                        <a:rPr sz="840">
                          <a:solidFill>
                            <a:srgbClr val="5B5B5B"/>
                          </a:solidFill>
                          <a:latin typeface="Yu Gothic"/>
                          <a:ea typeface="Yu Gothic"/>
                          <a:cs typeface="Yu Gothic"/>
                        </a:rPr>
                        <a:t>left ZOH；right指定も可能</a:t>
                      </a:r>
                    </a:p>
                  </a:txBody>
                  <a:tcPr marL="91440" marR="91440" marT="45720" marB="45720">
                    <a:solidFill>
                      <a:srgbClr val="F8F8F8"/>
                    </a:solidFill>
                  </a:tcPr>
                </a:tc>
              </a:tr>
              <a:tr h="466725">
                <a:tc>
                  <a:txBody>
                    <a:bodyPr/>
                    <a:lstStyle/>
                    <a:p>
                      <a:r>
                        <a:rPr sz="840" b="1">
                          <a:solidFill>
                            <a:srgbClr val="007FA8"/>
                          </a:solidFill>
                          <a:latin typeface="Yu Gothic"/>
                          <a:ea typeface="Yu Gothic"/>
                          <a:cs typeface="Yu Gothic"/>
                        </a:rPr>
                        <a:t>forecast boundary</a:t>
                      </a:r>
                    </a:p>
                  </a:txBody>
                  <a:tcPr marL="91440" marR="91440" marT="45720" marB="45720">
                    <a:solidFill>
                      <a:srgbClr val="FFFFFF"/>
                    </a:solidFill>
                  </a:tcPr>
                </a:tc>
                <a:tc>
                  <a:txBody>
                    <a:bodyPr/>
                    <a:lstStyle/>
                    <a:p>
                      <a:r>
                        <a:rPr sz="840">
                          <a:solidFill>
                            <a:srgbClr val="5B5B5B"/>
                          </a:solidFill>
                          <a:latin typeface="Yu Gothic"/>
                          <a:ea typeface="Yu Gothic"/>
                          <a:cs typeface="Yu Gothic"/>
                        </a:rPr>
                        <a:t>観測prefix → 全sensor blank future</a:t>
                      </a:r>
                    </a:p>
                  </a:txBody>
                  <a:tcPr marL="91440" marR="91440" marT="45720" marB="45720">
                    <a:solidFill>
                      <a:srgbClr val="FFFFFF"/>
                    </a:solidFill>
                  </a:tcPr>
                </a:tc>
                <a:tc>
                  <a:txBody>
                    <a:bodyPr/>
                    <a:lstStyle/>
                    <a:p>
                      <a:r>
                        <a:rPr sz="840">
                          <a:solidFill>
                            <a:srgbClr val="5B5B5B"/>
                          </a:solidFill>
                          <a:latin typeface="Yu Gothic"/>
                          <a:ea typeface="Yu Gothic"/>
                          <a:cs typeface="Yu Gothic"/>
                        </a:rPr>
                        <a:t>future開始後の観測再登場を拒否</a:t>
                      </a:r>
                    </a:p>
                  </a:txBody>
                  <a:tcPr marL="91440" marR="91440" marT="45720" marB="45720">
                    <a:solidFill>
                      <a:srgbClr val="FFFFFF"/>
                    </a:solidFill>
                  </a:tcPr>
                </a:tc>
                <a:tc>
                  <a:txBody>
                    <a:bodyPr/>
                    <a:lstStyle/>
                    <a:p>
                      <a:r>
                        <a:rPr sz="840">
                          <a:solidFill>
                            <a:srgbClr val="5B5B5B"/>
                          </a:solidFill>
                          <a:latin typeface="Yu Gothic"/>
                          <a:ea typeface="Yu Gothic"/>
                          <a:cs typeface="Yu Gothic"/>
                        </a:rPr>
                        <a:t>forecast_origin_indexを保存</a:t>
                      </a:r>
                    </a:p>
                  </a:txBody>
                  <a:tcPr marL="91440" marR="91440" marT="45720" marB="45720">
                    <a:solidFill>
                      <a:srgbClr val="FFFFFF"/>
                    </a:solidFill>
                  </a:tcPr>
                </a:tc>
              </a:tr>
              <a:tr h="466725">
                <a:tc>
                  <a:txBody>
                    <a:bodyPr/>
                    <a:lstStyle/>
                    <a:p>
                      <a:r>
                        <a:rPr sz="840" b="1">
                          <a:solidFill>
                            <a:srgbClr val="007FA8"/>
                          </a:solidFill>
                          <a:latin typeface="Yu Gothic"/>
                          <a:ea typeface="Yu Gothic"/>
                          <a:cs typeface="Yu Gothic"/>
                        </a:rPr>
                        <a:t>artifact</a:t>
                      </a:r>
                    </a:p>
                  </a:txBody>
                  <a:tcPr marL="91440" marR="91440" marT="45720" marB="45720">
                    <a:solidFill>
                      <a:srgbClr val="F8F8F8"/>
                    </a:solidFill>
                  </a:tcPr>
                </a:tc>
                <a:tc>
                  <a:txBody>
                    <a:bodyPr/>
                    <a:lstStyle/>
                    <a:p>
                      <a:r>
                        <a:rPr sz="840">
                          <a:solidFill>
                            <a:srgbClr val="5B5B5B"/>
                          </a:solidFill>
                          <a:latin typeface="Yu Gothic"/>
                          <a:ea typeface="Yu Gothic"/>
                          <a:cs typeface="Yu Gothic"/>
                        </a:rPr>
                        <a:t>model.pt / system.yaml / metadata.json</a:t>
                      </a:r>
                    </a:p>
                  </a:txBody>
                  <a:tcPr marL="91440" marR="91440" marT="45720" marB="45720">
                    <a:solidFill>
                      <a:srgbClr val="F8F8F8"/>
                    </a:solidFill>
                  </a:tcPr>
                </a:tc>
                <a:tc>
                  <a:txBody>
                    <a:bodyPr/>
                    <a:lstStyle/>
                    <a:p>
                      <a:r>
                        <a:rPr sz="840">
                          <a:solidFill>
                            <a:srgbClr val="5B5B5B"/>
                          </a:solidFill>
                          <a:latin typeface="Yu Gothic"/>
                          <a:ea typeface="Yu Gothic"/>
                          <a:cs typeface="Yu Gothic"/>
                        </a:rPr>
                        <a:t>schema 4、weights_only load</a:t>
                      </a:r>
                    </a:p>
                  </a:txBody>
                  <a:tcPr marL="91440" marR="91440" marT="45720" marB="45720">
                    <a:solidFill>
                      <a:srgbClr val="F8F8F8"/>
                    </a:solidFill>
                  </a:tcPr>
                </a:tc>
                <a:tc>
                  <a:txBody>
                    <a:bodyPr/>
                    <a:lstStyle/>
                    <a:p>
                      <a:r>
                        <a:rPr sz="840">
                          <a:solidFill>
                            <a:srgbClr val="5B5B5B"/>
                          </a:solidFill>
                          <a:latin typeface="Yu Gothic"/>
                          <a:ea typeface="Yu Gothic"/>
                          <a:cs typeface="Yu Gothic"/>
                        </a:rPr>
                        <a:t>derived buffer・fitted値・SHA-256照合</a:t>
                      </a:r>
                    </a:p>
                  </a:txBody>
                  <a:tcPr marL="91440" marR="91440" marT="45720" marB="45720">
                    <a:solidFill>
                      <a:srgbClr val="F8F8F8"/>
                    </a:solidFill>
                  </a:tcPr>
                </a:tc>
              </a:tr>
              <a:tr h="466725">
                <a:tc>
                  <a:txBody>
                    <a:bodyPr/>
                    <a:lstStyle/>
                    <a:p>
                      <a:r>
                        <a:rPr sz="840" b="1">
                          <a:solidFill>
                            <a:srgbClr val="007FA8"/>
                          </a:solidFill>
                          <a:latin typeface="Yu Gothic"/>
                          <a:ea typeface="Yu Gothic"/>
                          <a:cs typeface="Yu Gothic"/>
                        </a:rPr>
                        <a:t>runtime output</a:t>
                      </a:r>
                    </a:p>
                  </a:txBody>
                  <a:tcPr marL="91440" marR="91440" marT="45720" marB="45720">
                    <a:solidFill>
                      <a:srgbClr val="FFFFFF"/>
                    </a:solidFill>
                  </a:tcPr>
                </a:tc>
                <a:tc>
                  <a:txBody>
                    <a:bodyPr/>
                    <a:lstStyle/>
                    <a:p>
                      <a:r>
                        <a:rPr sz="840">
                          <a:solidFill>
                            <a:srgbClr val="5B5B5B"/>
                          </a:solidFill>
                          <a:latin typeface="Yu Gothic"/>
                          <a:ea typeface="Yu Gothic"/>
                          <a:cs typeface="Yu Gothic"/>
                        </a:rPr>
                        <a:t>case CSV + run_manifest.json</a:t>
                      </a:r>
                    </a:p>
                  </a:txBody>
                  <a:tcPr marL="91440" marR="91440" marT="45720" marB="45720">
                    <a:solidFill>
                      <a:srgbClr val="FFFFFF"/>
                    </a:solidFill>
                  </a:tcPr>
                </a:tc>
                <a:tc>
                  <a:txBody>
                    <a:bodyPr/>
                    <a:lstStyle/>
                    <a:p>
                      <a:r>
                        <a:rPr sz="840">
                          <a:solidFill>
                            <a:srgbClr val="5B5B5B"/>
                          </a:solidFill>
                          <a:latin typeface="Yu Gothic"/>
                          <a:ea typeface="Yu Gothic"/>
                          <a:cs typeface="Yu Gothic"/>
                        </a:rPr>
                        <a:t>resolved observer設定を保存</a:t>
                      </a:r>
                    </a:p>
                  </a:txBody>
                  <a:tcPr marL="91440" marR="91440" marT="45720" marB="45720">
                    <a:solidFill>
                      <a:srgbClr val="FFFFFF"/>
                    </a:solidFill>
                  </a:tcPr>
                </a:tc>
                <a:tc>
                  <a:txBody>
                    <a:bodyPr/>
                    <a:lstStyle/>
                    <a:p>
                      <a:r>
                        <a:rPr sz="840">
                          <a:solidFill>
                            <a:srgbClr val="5B5B5B"/>
                          </a:solidFill>
                          <a:latin typeface="Yu Gothic"/>
                          <a:ea typeface="Yu Gothic"/>
                          <a:cs typeface="Yu Gothic"/>
                        </a:rPr>
                        <a:t>input/config/artifact hash</a:t>
                      </a:r>
                    </a:p>
                  </a:txBody>
                  <a:tcPr marL="91440" marR="91440" marT="45720" marB="45720">
                    <a:solidFill>
                      <a:srgbClr val="FFFFFF"/>
                    </a:solidFill>
                  </a:tcPr>
                </a:tc>
              </a:tr>
            </a:tbl>
          </a:graphicData>
        </a:graphic>
      </p:graphicFrame>
      <p:sp>
        <p:nvSpPr>
          <p:cNvPr id="29" name="">
            <a:extLst xmlns:a="http://schemas.openxmlformats.org/drawingml/2006/main">
              <a:ext uri="{FF2B5EF4-FFF2-40B4-BE49-F238E27FC236}">
                <a16:creationId xmlns:a16="http://schemas.microsoft.com/office/drawing/2014/main" id="{1E1D953A-985C-4F2B-8167-768EAA1ED0D3}"/>
              </a:ext>
            </a:extLst>
          </p:cNvPr>
          <p:cNvSpPr>
            <a:spLocks xmlns:a="http://schemas.openxmlformats.org/drawingml/2006/main" noGrp="1"/>
          </p:cNvSpPr>
          <p:nvPr/>
        </p:nvSpPr>
        <p:spPr>
          <a:xfrm xmlns:a="http://schemas.openxmlformats.org/drawingml/2006/main">
            <a:off x="552450" y="5848350"/>
            <a:ext cx="11087100" cy="400050"/>
          </a:xfrm>
          <a:prstGeom xmlns:a="http://schemas.openxmlformats.org/drawingml/2006/main" prst="rect">
            <a:avLst/>
          </a:prstGeom>
          <a:solidFill xmlns:a="http://schemas.openxmlformats.org/drawingml/2006/main">
            <a:srgbClr val="FFF5D7"/>
          </a:solidFill>
          <a:ln xmlns:a="http://schemas.openxmlformats.org/drawingml/2006/main" w="9525">
            <a:solidFill>
              <a:srgbClr val="E5A900"/>
            </a:solidFill>
            <a:prstDash val="solid"/>
          </a:ln>
        </p:spPr>
      </p:sp>
      <p:sp>
        <p:nvSpPr>
          <p:cNvPr id="30" name="">
            <a:extLst xmlns:a="http://schemas.openxmlformats.org/drawingml/2006/main">
              <a:ext uri="{FF2B5EF4-FFF2-40B4-BE49-F238E27FC236}">
                <a16:creationId xmlns:a16="http://schemas.microsoft.com/office/drawing/2014/main" id="{FD4DA2B1-6ACC-401C-A0DF-6B568FCDB143}"/>
              </a:ext>
            </a:extLst>
          </p:cNvPr>
          <p:cNvSpPr>
            <a:spLocks xmlns:a="http://schemas.openxmlformats.org/drawingml/2006/main" noGrp="1"/>
          </p:cNvSpPr>
          <p:nvPr/>
        </p:nvSpPr>
        <p:spPr>
          <a:xfrm xmlns:a="http://schemas.openxmlformats.org/drawingml/2006/main">
            <a:off x="695325" y="5915025"/>
            <a:ext cx="10801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806000"/>
                </a:solidFill>
                <a:latin typeface="Yu Gothic"/>
                <a:ea typeface="Yu Gothic"/>
                <a:cs typeface="Yu Gothic"/>
              </a:defRPr>
            </a:pPr>
            <a:r>
              <a:rPr sz="900" b="1" i="0">
                <a:solidFill>
                  <a:srgbClr val="806000"/>
                </a:solidFill>
                <a:latin typeface="Yu Gothic"/>
                <a:ea typeface="Yu Gothic"/>
                <a:cs typeface="Yu Gothic"/>
              </a:rPr>
              <a:t>atomic publish：隣接staging directoryへ全成果物を生成し、成功時のみ既存runと置換する。</a:t>
            </a:r>
          </a:p>
        </p:txBody>
      </p:sp>
    </p:spTree>
    <p:extLst>
      <p:ext uri="{BB962C8B-B14F-4D97-AF65-F5344CB8AC3E}">
        <p14:creationId xmlns:p14="http://schemas.microsoft.com/office/powerpoint/2010/main" val="104352684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D44F9444-DD3B-4810-8C0A-29FFBFCE6873}"/>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E4469B9-D8A4-4D36-BCF4-151FA0FE7FD2}"/>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WORKFLOW / TRAIN</a:t>
            </a:r>
          </a:p>
        </p:txBody>
      </p:sp>
      <p:sp>
        <p:nvSpPr>
          <p:cNvPr id="3" name="">
            <a:extLst xmlns:a="http://schemas.openxmlformats.org/drawingml/2006/main">
              <a:ext uri="{FF2B5EF4-FFF2-40B4-BE49-F238E27FC236}">
                <a16:creationId xmlns:a16="http://schemas.microsoft.com/office/drawing/2014/main" id="{75C1EE76-DFB5-4379-97B6-9B60F3351CED}"/>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setupからartifact公開までを一つの再現可能なrunとして固定する</a:t>
            </a:r>
          </a:p>
        </p:txBody>
      </p:sp>
      <p:sp>
        <p:nvSpPr>
          <p:cNvPr id="4" name="">
            <a:extLst xmlns:a="http://schemas.openxmlformats.org/drawingml/2006/main">
              <a:ext uri="{FF2B5EF4-FFF2-40B4-BE49-F238E27FC236}">
                <a16:creationId xmlns:a16="http://schemas.microsoft.com/office/drawing/2014/main" id="{EF72998F-145D-4706-BBDE-E509DEA25F5B}"/>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設定・split・学習履歴・holdout予測を同じrun directoryへ保存する</a:t>
            </a:r>
          </a:p>
        </p:txBody>
      </p:sp>
      <p:sp>
        <p:nvSpPr>
          <p:cNvPr id="5" name="">
            <a:extLst xmlns:a="http://schemas.openxmlformats.org/drawingml/2006/main">
              <a:ext uri="{FF2B5EF4-FFF2-40B4-BE49-F238E27FC236}">
                <a16:creationId xmlns:a16="http://schemas.microsoft.com/office/drawing/2014/main" id="{3293AECE-32BC-4CEF-99B5-9B27D58CF207}"/>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4EFBC171-57B6-4C6E-90B0-4A22178B588B}"/>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16C34EE4-4467-4198-A6B5-B0781C8DD59E}"/>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21F97DBF-3A02-46C9-9636-41409D24D8D9}"/>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18</a:t>
            </a:r>
          </a:p>
        </p:txBody>
      </p:sp>
      <p:sp>
        <p:nvSpPr>
          <p:cNvPr id="9" name="">
            <a:extLst xmlns:a="http://schemas.openxmlformats.org/drawingml/2006/main">
              <a:ext uri="{FF2B5EF4-FFF2-40B4-BE49-F238E27FC236}">
                <a16:creationId xmlns:a16="http://schemas.microsoft.com/office/drawing/2014/main" id="{B69F13AE-7AD2-49AE-B583-FB127B2D75BD}"/>
              </a:ext>
            </a:extLst>
          </p:cNvPr>
          <p:cNvSpPr>
            <a:spLocks xmlns:a="http://schemas.openxmlformats.org/drawingml/2006/main" noGrp="1"/>
          </p:cNvSpPr>
          <p:nvPr/>
        </p:nvSpPr>
        <p:spPr>
          <a:xfrm xmlns:a="http://schemas.openxmlformats.org/drawingml/2006/main">
            <a:off x="552450" y="1381125"/>
            <a:ext cx="11087100" cy="4095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A1FE2C0E-16F7-4256-9184-8C1C9D7B885B}"/>
              </a:ext>
            </a:extLst>
          </p:cNvPr>
          <p:cNvSpPr>
            <a:spLocks xmlns:a="http://schemas.openxmlformats.org/drawingml/2006/main" noGrp="1"/>
          </p:cNvSpPr>
          <p:nvPr/>
        </p:nvSpPr>
        <p:spPr>
          <a:xfrm xmlns:a="http://schemas.openxmlformats.org/drawingml/2006/main">
            <a:off x="723900" y="1466850"/>
            <a:ext cx="4953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1" i="0">
                <a:solidFill>
                  <a:srgbClr val="007FA8"/>
                </a:solidFill>
                <a:latin typeface="Yu Gothic"/>
                <a:ea typeface="Yu Gothic"/>
                <a:cs typeface="Yu Gothic"/>
              </a:defRPr>
            </a:pPr>
            <a:r>
              <a:rPr sz="863" b="1" i="0">
                <a:solidFill>
                  <a:srgbClr val="007FA8"/>
                </a:solidFill>
                <a:latin typeface="Yu Gothic"/>
                <a:ea typeface="Yu Gothic"/>
                <a:cs typeface="Yu Gothic"/>
              </a:rPr>
              <a:t>CLI</a:t>
            </a:r>
          </a:p>
        </p:txBody>
      </p:sp>
      <p:sp>
        <p:nvSpPr>
          <p:cNvPr id="11" name="">
            <a:extLst xmlns:a="http://schemas.openxmlformats.org/drawingml/2006/main">
              <a:ext uri="{FF2B5EF4-FFF2-40B4-BE49-F238E27FC236}">
                <a16:creationId xmlns:a16="http://schemas.microsoft.com/office/drawing/2014/main" id="{0F87BF7C-0339-49EB-A8FE-48C6ED7E635F}"/>
              </a:ext>
            </a:extLst>
          </p:cNvPr>
          <p:cNvSpPr>
            <a:spLocks xmlns:a="http://schemas.openxmlformats.org/drawingml/2006/main" noGrp="1"/>
          </p:cNvSpPr>
          <p:nvPr/>
        </p:nvSpPr>
        <p:spPr>
          <a:xfrm xmlns:a="http://schemas.openxmlformats.org/drawingml/2006/main">
            <a:off x="1285875" y="1428750"/>
            <a:ext cx="101822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3F3F3F"/>
                </a:solidFill>
                <a:latin typeface="Cambria Math"/>
                <a:ea typeface="Cambria Math"/>
                <a:cs typeface="Cambria Math"/>
              </a:defRPr>
            </a:pPr>
            <a:r>
              <a:rPr sz="1125" b="1" i="0">
                <a:solidFill>
                  <a:srgbClr val="3F3F3F"/>
                </a:solidFill>
                <a:latin typeface="Cambria Math"/>
                <a:ea typeface="Cambria Math"/>
                <a:cs typeface="Cambria Math"/>
              </a:rPr>
              <a:t>python -m celltemp.cli train --config &lt;project&gt;/config.yaml</a:t>
            </a:r>
          </a:p>
        </p:txBody>
      </p:sp>
      <p:sp>
        <p:nvSpPr>
          <p:cNvPr id="12" name="">
            <a:extLst xmlns:a="http://schemas.openxmlformats.org/drawingml/2006/main">
              <a:ext uri="{FF2B5EF4-FFF2-40B4-BE49-F238E27FC236}">
                <a16:creationId xmlns:a16="http://schemas.microsoft.com/office/drawing/2014/main" id="{F4225E92-A93E-40FB-BF15-4C15ACED5C51}"/>
              </a:ext>
            </a:extLst>
          </p:cNvPr>
          <p:cNvSpPr>
            <a:spLocks xmlns:a="http://schemas.openxmlformats.org/drawingml/2006/main" noGrp="1"/>
          </p:cNvSpPr>
          <p:nvPr/>
        </p:nvSpPr>
        <p:spPr>
          <a:xfrm xmlns:a="http://schemas.openxmlformats.org/drawingml/2006/main">
            <a:off x="552450" y="2066925"/>
            <a:ext cx="13716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3" name="">
            <a:extLst xmlns:a="http://schemas.openxmlformats.org/drawingml/2006/main">
              <a:ext uri="{FF2B5EF4-FFF2-40B4-BE49-F238E27FC236}">
                <a16:creationId xmlns:a16="http://schemas.microsoft.com/office/drawing/2014/main" id="{4B9E88B7-135E-4946-B8A5-9FFA509C60D1}"/>
              </a:ext>
            </a:extLst>
          </p:cNvPr>
          <p:cNvSpPr>
            <a:spLocks xmlns:a="http://schemas.openxmlformats.org/drawingml/2006/main" noGrp="1"/>
          </p:cNvSpPr>
          <p:nvPr/>
        </p:nvSpPr>
        <p:spPr>
          <a:xfrm xmlns:a="http://schemas.openxmlformats.org/drawingml/2006/main">
            <a:off x="552450" y="2066925"/>
            <a:ext cx="1371600" cy="6667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D12F6AA-B2CA-4714-86B9-7A2FC825B118}"/>
              </a:ext>
            </a:extLst>
          </p:cNvPr>
          <p:cNvSpPr>
            <a:spLocks xmlns:a="http://schemas.openxmlformats.org/drawingml/2006/main" noGrp="1"/>
          </p:cNvSpPr>
          <p:nvPr/>
        </p:nvSpPr>
        <p:spPr>
          <a:xfrm xmlns:a="http://schemas.openxmlformats.org/drawingml/2006/main">
            <a:off x="638175" y="2276475"/>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00A5D8"/>
                </a:solidFill>
                <a:latin typeface="Yu Gothic"/>
                <a:ea typeface="Yu Gothic"/>
                <a:cs typeface="Yu Gothic"/>
              </a:defRPr>
            </a:pPr>
            <a:r>
              <a:rPr sz="1013" b="1" i="0">
                <a:solidFill>
                  <a:srgbClr val="00A5D8"/>
                </a:solidFill>
                <a:latin typeface="Yu Gothic"/>
                <a:ea typeface="Yu Gothic"/>
                <a:cs typeface="Yu Gothic"/>
              </a:rPr>
              <a:t>1  resolve</a:t>
            </a:r>
          </a:p>
        </p:txBody>
      </p:sp>
      <p:sp>
        <p:nvSpPr>
          <p:cNvPr id="15" name="">
            <a:extLst xmlns:a="http://schemas.openxmlformats.org/drawingml/2006/main">
              <a:ext uri="{FF2B5EF4-FFF2-40B4-BE49-F238E27FC236}">
                <a16:creationId xmlns:a16="http://schemas.microsoft.com/office/drawing/2014/main" id="{F228CFC1-CE35-49F9-97C2-17CA7C506D71}"/>
              </a:ext>
            </a:extLst>
          </p:cNvPr>
          <p:cNvSpPr>
            <a:spLocks xmlns:a="http://schemas.openxmlformats.org/drawingml/2006/main" noGrp="1"/>
          </p:cNvSpPr>
          <p:nvPr/>
        </p:nvSpPr>
        <p:spPr>
          <a:xfrm xmlns:a="http://schemas.openxmlformats.org/drawingml/2006/main">
            <a:off x="666750" y="2609850"/>
            <a:ext cx="11430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059600F3-9701-4969-B3D7-3C905D248DEA}"/>
              </a:ext>
            </a:extLst>
          </p:cNvPr>
          <p:cNvSpPr>
            <a:spLocks xmlns:a="http://schemas.openxmlformats.org/drawingml/2006/main" noGrp="1"/>
          </p:cNvSpPr>
          <p:nvPr/>
        </p:nvSpPr>
        <p:spPr>
          <a:xfrm xmlns:a="http://schemas.openxmlformats.org/drawingml/2006/main">
            <a:off x="638175" y="2724150"/>
            <a:ext cx="12001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config基準で</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path / override解決</a:t>
            </a:r>
          </a:p>
        </p:txBody>
      </p:sp>
      <p:sp>
        <p:nvSpPr>
          <p:cNvPr id="17" name="">
            <a:extLst xmlns:a="http://schemas.openxmlformats.org/drawingml/2006/main">
              <a:ext uri="{FF2B5EF4-FFF2-40B4-BE49-F238E27FC236}">
                <a16:creationId xmlns:a16="http://schemas.microsoft.com/office/drawing/2014/main" id="{F73A42A6-FAE0-4860-B384-6F770317066C}"/>
              </a:ext>
            </a:extLst>
          </p:cNvPr>
          <p:cNvSpPr>
            <a:spLocks xmlns:a="http://schemas.openxmlformats.org/drawingml/2006/main" noGrp="1"/>
          </p:cNvSpPr>
          <p:nvPr/>
        </p:nvSpPr>
        <p:spPr>
          <a:xfrm xmlns:a="http://schemas.openxmlformats.org/drawingml/2006/main">
            <a:off x="2152650" y="2066925"/>
            <a:ext cx="13716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8" name="">
            <a:extLst xmlns:a="http://schemas.openxmlformats.org/drawingml/2006/main">
              <a:ext uri="{FF2B5EF4-FFF2-40B4-BE49-F238E27FC236}">
                <a16:creationId xmlns:a16="http://schemas.microsoft.com/office/drawing/2014/main" id="{99DA1B2A-AF70-4DB1-808F-CB9E9552B2E5}"/>
              </a:ext>
            </a:extLst>
          </p:cNvPr>
          <p:cNvSpPr>
            <a:spLocks xmlns:a="http://schemas.openxmlformats.org/drawingml/2006/main" noGrp="1"/>
          </p:cNvSpPr>
          <p:nvPr/>
        </p:nvSpPr>
        <p:spPr>
          <a:xfrm xmlns:a="http://schemas.openxmlformats.org/drawingml/2006/main">
            <a:off x="2152650" y="2066925"/>
            <a:ext cx="1371600" cy="666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F02FC46-92B5-476E-BC9C-A64EABF52C96}"/>
              </a:ext>
            </a:extLst>
          </p:cNvPr>
          <p:cNvSpPr>
            <a:spLocks xmlns:a="http://schemas.openxmlformats.org/drawingml/2006/main" noGrp="1"/>
          </p:cNvSpPr>
          <p:nvPr/>
        </p:nvSpPr>
        <p:spPr>
          <a:xfrm xmlns:a="http://schemas.openxmlformats.org/drawingml/2006/main">
            <a:off x="2238375" y="2276475"/>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76BE18"/>
                </a:solidFill>
                <a:latin typeface="Yu Gothic"/>
                <a:ea typeface="Yu Gothic"/>
                <a:cs typeface="Yu Gothic"/>
              </a:defRPr>
            </a:pPr>
            <a:r>
              <a:rPr sz="1013" b="1" i="0">
                <a:solidFill>
                  <a:srgbClr val="76BE18"/>
                </a:solidFill>
                <a:latin typeface="Yu Gothic"/>
                <a:ea typeface="Yu Gothic"/>
                <a:cs typeface="Yu Gothic"/>
              </a:rPr>
              <a:t>2  validate</a:t>
            </a:r>
          </a:p>
        </p:txBody>
      </p:sp>
      <p:sp>
        <p:nvSpPr>
          <p:cNvPr id="20" name="">
            <a:extLst xmlns:a="http://schemas.openxmlformats.org/drawingml/2006/main">
              <a:ext uri="{FF2B5EF4-FFF2-40B4-BE49-F238E27FC236}">
                <a16:creationId xmlns:a16="http://schemas.microsoft.com/office/drawing/2014/main" id="{5A196953-7336-41BC-9845-519E72501C6E}"/>
              </a:ext>
            </a:extLst>
          </p:cNvPr>
          <p:cNvSpPr>
            <a:spLocks xmlns:a="http://schemas.openxmlformats.org/drawingml/2006/main" noGrp="1"/>
          </p:cNvSpPr>
          <p:nvPr/>
        </p:nvSpPr>
        <p:spPr>
          <a:xfrm xmlns:a="http://schemas.openxmlformats.org/drawingml/2006/main">
            <a:off x="2266950" y="2609850"/>
            <a:ext cx="11430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1" name="">
            <a:extLst xmlns:a="http://schemas.openxmlformats.org/drawingml/2006/main">
              <a:ext uri="{FF2B5EF4-FFF2-40B4-BE49-F238E27FC236}">
                <a16:creationId xmlns:a16="http://schemas.microsoft.com/office/drawing/2014/main" id="{5B776A75-67C4-4E81-B8DC-4128B4B086B7}"/>
              </a:ext>
            </a:extLst>
          </p:cNvPr>
          <p:cNvSpPr>
            <a:spLocks xmlns:a="http://schemas.openxmlformats.org/drawingml/2006/main" noGrp="1"/>
          </p:cNvSpPr>
          <p:nvPr/>
        </p:nvSpPr>
        <p:spPr>
          <a:xfrm xmlns:a="http://schemas.openxmlformats.org/drawingml/2006/main">
            <a:off x="2238375" y="2724150"/>
            <a:ext cx="12001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system.yaml</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単位・参照整合</a:t>
            </a:r>
          </a:p>
        </p:txBody>
      </p:sp>
      <p:sp>
        <p:nvSpPr>
          <p:cNvPr id="22" name="">
            <a:extLst xmlns:a="http://schemas.openxmlformats.org/drawingml/2006/main">
              <a:ext uri="{FF2B5EF4-FFF2-40B4-BE49-F238E27FC236}">
                <a16:creationId xmlns:a16="http://schemas.microsoft.com/office/drawing/2014/main" id="{D989AA0F-337B-4B12-A7B4-513BC97EB138}"/>
              </a:ext>
            </a:extLst>
          </p:cNvPr>
          <p:cNvSpPr>
            <a:spLocks xmlns:a="http://schemas.openxmlformats.org/drawingml/2006/main" noGrp="1"/>
          </p:cNvSpPr>
          <p:nvPr/>
        </p:nvSpPr>
        <p:spPr>
          <a:xfrm xmlns:a="http://schemas.openxmlformats.org/drawingml/2006/main">
            <a:off x="3752850" y="2066925"/>
            <a:ext cx="13716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3" name="">
            <a:extLst xmlns:a="http://schemas.openxmlformats.org/drawingml/2006/main">
              <a:ext uri="{FF2B5EF4-FFF2-40B4-BE49-F238E27FC236}">
                <a16:creationId xmlns:a16="http://schemas.microsoft.com/office/drawing/2014/main" id="{184198DC-E388-48D4-989E-B8590E1FF094}"/>
              </a:ext>
            </a:extLst>
          </p:cNvPr>
          <p:cNvSpPr>
            <a:spLocks xmlns:a="http://schemas.openxmlformats.org/drawingml/2006/main" noGrp="1"/>
          </p:cNvSpPr>
          <p:nvPr/>
        </p:nvSpPr>
        <p:spPr>
          <a:xfrm xmlns:a="http://schemas.openxmlformats.org/drawingml/2006/main">
            <a:off x="3752850" y="2066925"/>
            <a:ext cx="1371600" cy="666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E3E0DC5-2381-4881-815B-411791F7295F}"/>
              </a:ext>
            </a:extLst>
          </p:cNvPr>
          <p:cNvSpPr>
            <a:spLocks xmlns:a="http://schemas.openxmlformats.org/drawingml/2006/main" noGrp="1"/>
          </p:cNvSpPr>
          <p:nvPr/>
        </p:nvSpPr>
        <p:spPr>
          <a:xfrm xmlns:a="http://schemas.openxmlformats.org/drawingml/2006/main">
            <a:off x="3838575" y="2276475"/>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7B2DAF"/>
                </a:solidFill>
                <a:latin typeface="Yu Gothic"/>
                <a:ea typeface="Yu Gothic"/>
                <a:cs typeface="Yu Gothic"/>
              </a:defRPr>
            </a:pPr>
            <a:r>
              <a:rPr sz="1013" b="1" i="0">
                <a:solidFill>
                  <a:srgbClr val="7B2DAF"/>
                </a:solidFill>
                <a:latin typeface="Yu Gothic"/>
                <a:ea typeface="Yu Gothic"/>
                <a:cs typeface="Yu Gothic"/>
              </a:rPr>
              <a:t>3  discover</a:t>
            </a:r>
          </a:p>
        </p:txBody>
      </p:sp>
      <p:sp>
        <p:nvSpPr>
          <p:cNvPr id="25" name="">
            <a:extLst xmlns:a="http://schemas.openxmlformats.org/drawingml/2006/main">
              <a:ext uri="{FF2B5EF4-FFF2-40B4-BE49-F238E27FC236}">
                <a16:creationId xmlns:a16="http://schemas.microsoft.com/office/drawing/2014/main" id="{036CFEE3-3701-4FFC-91E8-89BF606CDA55}"/>
              </a:ext>
            </a:extLst>
          </p:cNvPr>
          <p:cNvSpPr>
            <a:spLocks xmlns:a="http://schemas.openxmlformats.org/drawingml/2006/main" noGrp="1"/>
          </p:cNvSpPr>
          <p:nvPr/>
        </p:nvSpPr>
        <p:spPr>
          <a:xfrm xmlns:a="http://schemas.openxmlformats.org/drawingml/2006/main">
            <a:off x="3867150" y="2609850"/>
            <a:ext cx="11430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6" name="">
            <a:extLst xmlns:a="http://schemas.openxmlformats.org/drawingml/2006/main">
              <a:ext uri="{FF2B5EF4-FFF2-40B4-BE49-F238E27FC236}">
                <a16:creationId xmlns:a16="http://schemas.microsoft.com/office/drawing/2014/main" id="{476783F9-0DA1-492A-B237-B45EB4EDD2FD}"/>
              </a:ext>
            </a:extLst>
          </p:cNvPr>
          <p:cNvSpPr>
            <a:spLocks xmlns:a="http://schemas.openxmlformats.org/drawingml/2006/main" noGrp="1"/>
          </p:cNvSpPr>
          <p:nvPr/>
        </p:nvSpPr>
        <p:spPr>
          <a:xfrm xmlns:a="http://schemas.openxmlformats.org/drawingml/2006/main">
            <a:off x="3838575" y="2724150"/>
            <a:ext cx="12001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CSV自動検出</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Trajectory化</a:t>
            </a:r>
          </a:p>
        </p:txBody>
      </p:sp>
      <p:sp>
        <p:nvSpPr>
          <p:cNvPr id="27" name="">
            <a:extLst xmlns:a="http://schemas.openxmlformats.org/drawingml/2006/main">
              <a:ext uri="{FF2B5EF4-FFF2-40B4-BE49-F238E27FC236}">
                <a16:creationId xmlns:a16="http://schemas.microsoft.com/office/drawing/2014/main" id="{AA37B0DF-5F32-49A1-913A-150B871B231D}"/>
              </a:ext>
            </a:extLst>
          </p:cNvPr>
          <p:cNvSpPr>
            <a:spLocks xmlns:a="http://schemas.openxmlformats.org/drawingml/2006/main" noGrp="1"/>
          </p:cNvSpPr>
          <p:nvPr/>
        </p:nvSpPr>
        <p:spPr>
          <a:xfrm xmlns:a="http://schemas.openxmlformats.org/drawingml/2006/main">
            <a:off x="5353050" y="2066925"/>
            <a:ext cx="13716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8" name="">
            <a:extLst xmlns:a="http://schemas.openxmlformats.org/drawingml/2006/main">
              <a:ext uri="{FF2B5EF4-FFF2-40B4-BE49-F238E27FC236}">
                <a16:creationId xmlns:a16="http://schemas.microsoft.com/office/drawing/2014/main" id="{FBC02298-3F97-47B7-8551-401F68D29C1D}"/>
              </a:ext>
            </a:extLst>
          </p:cNvPr>
          <p:cNvSpPr>
            <a:spLocks xmlns:a="http://schemas.openxmlformats.org/drawingml/2006/main" noGrp="1"/>
          </p:cNvSpPr>
          <p:nvPr/>
        </p:nvSpPr>
        <p:spPr>
          <a:xfrm xmlns:a="http://schemas.openxmlformats.org/drawingml/2006/main">
            <a:off x="5353050" y="2066925"/>
            <a:ext cx="1371600" cy="66675"/>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63F4031-6D24-445A-B78C-E84122F9F1CB}"/>
              </a:ext>
            </a:extLst>
          </p:cNvPr>
          <p:cNvSpPr>
            <a:spLocks xmlns:a="http://schemas.openxmlformats.org/drawingml/2006/main" noGrp="1"/>
          </p:cNvSpPr>
          <p:nvPr/>
        </p:nvSpPr>
        <p:spPr>
          <a:xfrm xmlns:a="http://schemas.openxmlformats.org/drawingml/2006/main">
            <a:off x="5438775" y="2276475"/>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E5A900"/>
                </a:solidFill>
                <a:latin typeface="Yu Gothic"/>
                <a:ea typeface="Yu Gothic"/>
                <a:cs typeface="Yu Gothic"/>
              </a:defRPr>
            </a:pPr>
            <a:r>
              <a:rPr sz="1013" b="1" i="0">
                <a:solidFill>
                  <a:srgbClr val="E5A900"/>
                </a:solidFill>
                <a:latin typeface="Yu Gothic"/>
                <a:ea typeface="Yu Gothic"/>
                <a:cs typeface="Yu Gothic"/>
              </a:rPr>
              <a:t>4  split</a:t>
            </a:r>
          </a:p>
        </p:txBody>
      </p:sp>
      <p:sp>
        <p:nvSpPr>
          <p:cNvPr id="30" name="">
            <a:extLst xmlns:a="http://schemas.openxmlformats.org/drawingml/2006/main">
              <a:ext uri="{FF2B5EF4-FFF2-40B4-BE49-F238E27FC236}">
                <a16:creationId xmlns:a16="http://schemas.microsoft.com/office/drawing/2014/main" id="{A52299C0-7971-420A-BBE7-1AF9AB782F4C}"/>
              </a:ext>
            </a:extLst>
          </p:cNvPr>
          <p:cNvSpPr>
            <a:spLocks xmlns:a="http://schemas.openxmlformats.org/drawingml/2006/main" noGrp="1"/>
          </p:cNvSpPr>
          <p:nvPr/>
        </p:nvSpPr>
        <p:spPr>
          <a:xfrm xmlns:a="http://schemas.openxmlformats.org/drawingml/2006/main">
            <a:off x="5467350" y="2609850"/>
            <a:ext cx="11430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1" name="">
            <a:extLst xmlns:a="http://schemas.openxmlformats.org/drawingml/2006/main">
              <a:ext uri="{FF2B5EF4-FFF2-40B4-BE49-F238E27FC236}">
                <a16:creationId xmlns:a16="http://schemas.microsoft.com/office/drawing/2014/main" id="{17596C18-2E64-4B20-9870-E144B7F72F1F}"/>
              </a:ext>
            </a:extLst>
          </p:cNvPr>
          <p:cNvSpPr>
            <a:spLocks xmlns:a="http://schemas.openxmlformats.org/drawingml/2006/main" noGrp="1"/>
          </p:cNvSpPr>
          <p:nvPr/>
        </p:nvSpPr>
        <p:spPr>
          <a:xfrm xmlns:a="http://schemas.openxmlformats.org/drawingml/2006/main">
            <a:off x="5438775" y="2724150"/>
            <a:ext cx="12001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同一recipeを</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同一groupへ</a:t>
            </a:r>
          </a:p>
        </p:txBody>
      </p:sp>
      <p:sp>
        <p:nvSpPr>
          <p:cNvPr id="32" name="">
            <a:extLst xmlns:a="http://schemas.openxmlformats.org/drawingml/2006/main">
              <a:ext uri="{FF2B5EF4-FFF2-40B4-BE49-F238E27FC236}">
                <a16:creationId xmlns:a16="http://schemas.microsoft.com/office/drawing/2014/main" id="{9A3EE4F8-7CD8-4C8B-870E-AEE0FFABBAB1}"/>
              </a:ext>
            </a:extLst>
          </p:cNvPr>
          <p:cNvSpPr>
            <a:spLocks xmlns:a="http://schemas.openxmlformats.org/drawingml/2006/main" noGrp="1"/>
          </p:cNvSpPr>
          <p:nvPr/>
        </p:nvSpPr>
        <p:spPr>
          <a:xfrm xmlns:a="http://schemas.openxmlformats.org/drawingml/2006/main">
            <a:off x="6953250" y="2066925"/>
            <a:ext cx="13716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3" name="">
            <a:extLst xmlns:a="http://schemas.openxmlformats.org/drawingml/2006/main">
              <a:ext uri="{FF2B5EF4-FFF2-40B4-BE49-F238E27FC236}">
                <a16:creationId xmlns:a16="http://schemas.microsoft.com/office/drawing/2014/main" id="{4D16FE46-D887-4821-952D-B2AB939AFCF3}"/>
              </a:ext>
            </a:extLst>
          </p:cNvPr>
          <p:cNvSpPr>
            <a:spLocks xmlns:a="http://schemas.openxmlformats.org/drawingml/2006/main" noGrp="1"/>
          </p:cNvSpPr>
          <p:nvPr/>
        </p:nvSpPr>
        <p:spPr>
          <a:xfrm xmlns:a="http://schemas.openxmlformats.org/drawingml/2006/main">
            <a:off x="6953250" y="2066925"/>
            <a:ext cx="1371600" cy="66675"/>
          </a:xfrm>
          <a:prstGeom xmlns:a="http://schemas.openxmlformats.org/drawingml/2006/main" prst="rect">
            <a:avLst/>
          </a:prstGeom>
          <a:solidFill xmlns:a="http://schemas.openxmlformats.org/drawingml/2006/main">
            <a:srgbClr val="00A89D"/>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88A6D687-52D4-48D5-B7A0-7900AF34542B}"/>
              </a:ext>
            </a:extLst>
          </p:cNvPr>
          <p:cNvSpPr>
            <a:spLocks xmlns:a="http://schemas.openxmlformats.org/drawingml/2006/main" noGrp="1"/>
          </p:cNvSpPr>
          <p:nvPr/>
        </p:nvSpPr>
        <p:spPr>
          <a:xfrm xmlns:a="http://schemas.openxmlformats.org/drawingml/2006/main">
            <a:off x="7038975" y="2276475"/>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00A89D"/>
                </a:solidFill>
                <a:latin typeface="Yu Gothic"/>
                <a:ea typeface="Yu Gothic"/>
                <a:cs typeface="Yu Gothic"/>
              </a:defRPr>
            </a:pPr>
            <a:r>
              <a:rPr sz="1013" b="1" i="0">
                <a:solidFill>
                  <a:srgbClr val="00A89D"/>
                </a:solidFill>
                <a:latin typeface="Yu Gothic"/>
                <a:ea typeface="Yu Gothic"/>
                <a:cs typeface="Yu Gothic"/>
              </a:rPr>
              <a:t>5  optimize</a:t>
            </a:r>
          </a:p>
        </p:txBody>
      </p:sp>
      <p:sp>
        <p:nvSpPr>
          <p:cNvPr id="35" name="">
            <a:extLst xmlns:a="http://schemas.openxmlformats.org/drawingml/2006/main">
              <a:ext uri="{FF2B5EF4-FFF2-40B4-BE49-F238E27FC236}">
                <a16:creationId xmlns:a16="http://schemas.microsoft.com/office/drawing/2014/main" id="{FFE0394C-5851-439D-8BC0-B062EC202EBB}"/>
              </a:ext>
            </a:extLst>
          </p:cNvPr>
          <p:cNvSpPr>
            <a:spLocks xmlns:a="http://schemas.openxmlformats.org/drawingml/2006/main" noGrp="1"/>
          </p:cNvSpPr>
          <p:nvPr/>
        </p:nvSpPr>
        <p:spPr>
          <a:xfrm xmlns:a="http://schemas.openxmlformats.org/drawingml/2006/main">
            <a:off x="7067550" y="2609850"/>
            <a:ext cx="11430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6" name="">
            <a:extLst xmlns:a="http://schemas.openxmlformats.org/drawingml/2006/main">
              <a:ext uri="{FF2B5EF4-FFF2-40B4-BE49-F238E27FC236}">
                <a16:creationId xmlns:a16="http://schemas.microsoft.com/office/drawing/2014/main" id="{B04117AC-94B9-4087-ABD1-302BAB2FAD28}"/>
              </a:ext>
            </a:extLst>
          </p:cNvPr>
          <p:cNvSpPr>
            <a:spLocks xmlns:a="http://schemas.openxmlformats.org/drawingml/2006/main" noGrp="1"/>
          </p:cNvSpPr>
          <p:nvPr/>
        </p:nvSpPr>
        <p:spPr>
          <a:xfrm xmlns:a="http://schemas.openxmlformats.org/drawingml/2006/main">
            <a:off x="7038975" y="2724150"/>
            <a:ext cx="12001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case-balanced</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rollout learning</a:t>
            </a:r>
          </a:p>
        </p:txBody>
      </p:sp>
      <p:sp>
        <p:nvSpPr>
          <p:cNvPr id="37" name="">
            <a:extLst xmlns:a="http://schemas.openxmlformats.org/drawingml/2006/main">
              <a:ext uri="{FF2B5EF4-FFF2-40B4-BE49-F238E27FC236}">
                <a16:creationId xmlns:a16="http://schemas.microsoft.com/office/drawing/2014/main" id="{17B032B6-8C65-435E-B7DC-BD0AC3ED5D65}"/>
              </a:ext>
            </a:extLst>
          </p:cNvPr>
          <p:cNvSpPr>
            <a:spLocks xmlns:a="http://schemas.openxmlformats.org/drawingml/2006/main" noGrp="1"/>
          </p:cNvSpPr>
          <p:nvPr/>
        </p:nvSpPr>
        <p:spPr>
          <a:xfrm xmlns:a="http://schemas.openxmlformats.org/drawingml/2006/main">
            <a:off x="8553450" y="2066925"/>
            <a:ext cx="13716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8" name="">
            <a:extLst xmlns:a="http://schemas.openxmlformats.org/drawingml/2006/main">
              <a:ext uri="{FF2B5EF4-FFF2-40B4-BE49-F238E27FC236}">
                <a16:creationId xmlns:a16="http://schemas.microsoft.com/office/drawing/2014/main" id="{1F823DA5-C0AB-4733-B8F1-A65772BE8174}"/>
              </a:ext>
            </a:extLst>
          </p:cNvPr>
          <p:cNvSpPr>
            <a:spLocks xmlns:a="http://schemas.openxmlformats.org/drawingml/2006/main" noGrp="1"/>
          </p:cNvSpPr>
          <p:nvPr/>
        </p:nvSpPr>
        <p:spPr>
          <a:xfrm xmlns:a="http://schemas.openxmlformats.org/drawingml/2006/main">
            <a:off x="8553450" y="2066925"/>
            <a:ext cx="1371600" cy="66675"/>
          </a:xfrm>
          <a:prstGeom xmlns:a="http://schemas.openxmlformats.org/drawingml/2006/main" prst="rect">
            <a:avLst/>
          </a:prstGeom>
          <a:solidFill xmlns:a="http://schemas.openxmlformats.org/drawingml/2006/main">
            <a:srgbClr val="007FA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D4753497-A94E-41B1-8331-813FDF955CE1}"/>
              </a:ext>
            </a:extLst>
          </p:cNvPr>
          <p:cNvSpPr>
            <a:spLocks xmlns:a="http://schemas.openxmlformats.org/drawingml/2006/main" noGrp="1"/>
          </p:cNvSpPr>
          <p:nvPr/>
        </p:nvSpPr>
        <p:spPr>
          <a:xfrm xmlns:a="http://schemas.openxmlformats.org/drawingml/2006/main">
            <a:off x="8639175" y="2276475"/>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007FA8"/>
                </a:solidFill>
                <a:latin typeface="Yu Gothic"/>
                <a:ea typeface="Yu Gothic"/>
                <a:cs typeface="Yu Gothic"/>
              </a:defRPr>
            </a:pPr>
            <a:r>
              <a:rPr sz="1013" b="1" i="0">
                <a:solidFill>
                  <a:srgbClr val="007FA8"/>
                </a:solidFill>
                <a:latin typeface="Yu Gothic"/>
                <a:ea typeface="Yu Gothic"/>
                <a:cs typeface="Yu Gothic"/>
              </a:rPr>
              <a:t>6  evaluate</a:t>
            </a:r>
          </a:p>
        </p:txBody>
      </p:sp>
      <p:sp>
        <p:nvSpPr>
          <p:cNvPr id="40" name="">
            <a:extLst xmlns:a="http://schemas.openxmlformats.org/drawingml/2006/main">
              <a:ext uri="{FF2B5EF4-FFF2-40B4-BE49-F238E27FC236}">
                <a16:creationId xmlns:a16="http://schemas.microsoft.com/office/drawing/2014/main" id="{81080CA1-D540-4B9B-AF80-51D5457EEBCE}"/>
              </a:ext>
            </a:extLst>
          </p:cNvPr>
          <p:cNvSpPr>
            <a:spLocks xmlns:a="http://schemas.openxmlformats.org/drawingml/2006/main" noGrp="1"/>
          </p:cNvSpPr>
          <p:nvPr/>
        </p:nvSpPr>
        <p:spPr>
          <a:xfrm xmlns:a="http://schemas.openxmlformats.org/drawingml/2006/main">
            <a:off x="8667750" y="2609850"/>
            <a:ext cx="11430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41" name="">
            <a:extLst xmlns:a="http://schemas.openxmlformats.org/drawingml/2006/main">
              <a:ext uri="{FF2B5EF4-FFF2-40B4-BE49-F238E27FC236}">
                <a16:creationId xmlns:a16="http://schemas.microsoft.com/office/drawing/2014/main" id="{03019419-77B8-41EC-80B0-00DABBC6B1D1}"/>
              </a:ext>
            </a:extLst>
          </p:cNvPr>
          <p:cNvSpPr>
            <a:spLocks xmlns:a="http://schemas.openxmlformats.org/drawingml/2006/main" noGrp="1"/>
          </p:cNvSpPr>
          <p:nvPr/>
        </p:nvSpPr>
        <p:spPr>
          <a:xfrm xmlns:a="http://schemas.openxmlformats.org/drawingml/2006/main">
            <a:off x="8639175" y="2724150"/>
            <a:ext cx="12001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conditional +</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causal holdout</a:t>
            </a:r>
          </a:p>
        </p:txBody>
      </p:sp>
      <p:sp>
        <p:nvSpPr>
          <p:cNvPr id="42" name="">
            <a:extLst xmlns:a="http://schemas.openxmlformats.org/drawingml/2006/main">
              <a:ext uri="{FF2B5EF4-FFF2-40B4-BE49-F238E27FC236}">
                <a16:creationId xmlns:a16="http://schemas.microsoft.com/office/drawing/2014/main" id="{B3C8F7FF-34BF-4216-B666-88499F6EB1A8}"/>
              </a:ext>
            </a:extLst>
          </p:cNvPr>
          <p:cNvSpPr>
            <a:spLocks xmlns:a="http://schemas.openxmlformats.org/drawingml/2006/main" noGrp="1"/>
          </p:cNvSpPr>
          <p:nvPr/>
        </p:nvSpPr>
        <p:spPr>
          <a:xfrm xmlns:a="http://schemas.openxmlformats.org/drawingml/2006/main">
            <a:off x="10153650" y="2066925"/>
            <a:ext cx="14859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3" name="">
            <a:extLst xmlns:a="http://schemas.openxmlformats.org/drawingml/2006/main">
              <a:ext uri="{FF2B5EF4-FFF2-40B4-BE49-F238E27FC236}">
                <a16:creationId xmlns:a16="http://schemas.microsoft.com/office/drawing/2014/main" id="{77870DAA-E221-47AD-BB27-371C85E0193D}"/>
              </a:ext>
            </a:extLst>
          </p:cNvPr>
          <p:cNvSpPr>
            <a:spLocks xmlns:a="http://schemas.openxmlformats.org/drawingml/2006/main" noGrp="1"/>
          </p:cNvSpPr>
          <p:nvPr/>
        </p:nvSpPr>
        <p:spPr>
          <a:xfrm xmlns:a="http://schemas.openxmlformats.org/drawingml/2006/main">
            <a:off x="10153650" y="2066925"/>
            <a:ext cx="1485900" cy="6667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9563AA9E-9D09-454B-A70E-2DF3C3636176}"/>
              </a:ext>
            </a:extLst>
          </p:cNvPr>
          <p:cNvSpPr>
            <a:spLocks xmlns:a="http://schemas.openxmlformats.org/drawingml/2006/main" noGrp="1"/>
          </p:cNvSpPr>
          <p:nvPr/>
        </p:nvSpPr>
        <p:spPr>
          <a:xfrm xmlns:a="http://schemas.openxmlformats.org/drawingml/2006/main">
            <a:off x="10239375" y="2276475"/>
            <a:ext cx="1314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201445"/>
                </a:solidFill>
                <a:latin typeface="Yu Gothic"/>
                <a:ea typeface="Yu Gothic"/>
                <a:cs typeface="Yu Gothic"/>
              </a:defRPr>
            </a:pPr>
            <a:r>
              <a:rPr sz="1013" b="1" i="0">
                <a:solidFill>
                  <a:srgbClr val="201445"/>
                </a:solidFill>
                <a:latin typeface="Yu Gothic"/>
                <a:ea typeface="Yu Gothic"/>
                <a:cs typeface="Yu Gothic"/>
              </a:rPr>
              <a:t>7  publish</a:t>
            </a:r>
          </a:p>
        </p:txBody>
      </p:sp>
      <p:sp>
        <p:nvSpPr>
          <p:cNvPr id="45" name="">
            <a:extLst xmlns:a="http://schemas.openxmlformats.org/drawingml/2006/main">
              <a:ext uri="{FF2B5EF4-FFF2-40B4-BE49-F238E27FC236}">
                <a16:creationId xmlns:a16="http://schemas.microsoft.com/office/drawing/2014/main" id="{4C411961-C885-4AD1-8FEC-CA1B94D4DF55}"/>
              </a:ext>
            </a:extLst>
          </p:cNvPr>
          <p:cNvSpPr>
            <a:spLocks xmlns:a="http://schemas.openxmlformats.org/drawingml/2006/main" noGrp="1"/>
          </p:cNvSpPr>
          <p:nvPr/>
        </p:nvSpPr>
        <p:spPr>
          <a:xfrm xmlns:a="http://schemas.openxmlformats.org/drawingml/2006/main">
            <a:off x="10267950" y="2609850"/>
            <a:ext cx="12573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46" name="">
            <a:extLst xmlns:a="http://schemas.openxmlformats.org/drawingml/2006/main">
              <a:ext uri="{FF2B5EF4-FFF2-40B4-BE49-F238E27FC236}">
                <a16:creationId xmlns:a16="http://schemas.microsoft.com/office/drawing/2014/main" id="{C2C32B15-A6A8-4996-8D03-36551B1232C9}"/>
              </a:ext>
            </a:extLst>
          </p:cNvPr>
          <p:cNvSpPr>
            <a:spLocks xmlns:a="http://schemas.openxmlformats.org/drawingml/2006/main" noGrp="1"/>
          </p:cNvSpPr>
          <p:nvPr/>
        </p:nvSpPr>
        <p:spPr>
          <a:xfrm xmlns:a="http://schemas.openxmlformats.org/drawingml/2006/main">
            <a:off x="10239375" y="2724150"/>
            <a:ext cx="13144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atomic run +</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portable artifact</a:t>
            </a:r>
          </a:p>
        </p:txBody>
      </p:sp>
      <p:cxnSp>
        <p:nvCxnSpPr>
          <p:cNvPr id="101" name=""/>
          <p:cNvCxnSpPr>
            <a:stCxn xmlns:a="http://schemas.openxmlformats.org/drawingml/2006/main" id="12" idx="3"/>
            <a:endCxn xmlns:a="http://schemas.openxmlformats.org/drawingml/2006/main" id="17" idx="1"/>
          </p:cNvCxnSpPr>
          <p:nvPr/>
        </p:nvCxnSpPr>
        <p:spPr>
          <a:xfrm xmlns:a="http://schemas.openxmlformats.org/drawingml/2006/main">
            <a:off x="1924050" y="2757488"/>
            <a:ext cx="22860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102" name=""/>
          <p:cNvCxnSpPr>
            <a:stCxn xmlns:a="http://schemas.openxmlformats.org/drawingml/2006/main" id="17" idx="3"/>
            <a:endCxn xmlns:a="http://schemas.openxmlformats.org/drawingml/2006/main" id="22" idx="1"/>
          </p:cNvCxnSpPr>
          <p:nvPr/>
        </p:nvCxnSpPr>
        <p:spPr>
          <a:xfrm xmlns:a="http://schemas.openxmlformats.org/drawingml/2006/main">
            <a:off x="3524250" y="2757488"/>
            <a:ext cx="22860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103" name=""/>
          <p:cNvCxnSpPr>
            <a:stCxn xmlns:a="http://schemas.openxmlformats.org/drawingml/2006/main" id="22" idx="3"/>
            <a:endCxn xmlns:a="http://schemas.openxmlformats.org/drawingml/2006/main" id="27" idx="1"/>
          </p:cNvCxnSpPr>
          <p:nvPr/>
        </p:nvCxnSpPr>
        <p:spPr>
          <a:xfrm xmlns:a="http://schemas.openxmlformats.org/drawingml/2006/main">
            <a:off x="5124450" y="2757488"/>
            <a:ext cx="22860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104" name=""/>
          <p:cNvCxnSpPr>
            <a:stCxn xmlns:a="http://schemas.openxmlformats.org/drawingml/2006/main" id="27" idx="3"/>
            <a:endCxn xmlns:a="http://schemas.openxmlformats.org/drawingml/2006/main" id="32" idx="1"/>
          </p:cNvCxnSpPr>
          <p:nvPr/>
        </p:nvCxnSpPr>
        <p:spPr>
          <a:xfrm xmlns:a="http://schemas.openxmlformats.org/drawingml/2006/main">
            <a:off x="6724650" y="2757488"/>
            <a:ext cx="22860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105" name=""/>
          <p:cNvCxnSpPr>
            <a:stCxn xmlns:a="http://schemas.openxmlformats.org/drawingml/2006/main" id="32" idx="3"/>
            <a:endCxn xmlns:a="http://schemas.openxmlformats.org/drawingml/2006/main" id="37" idx="1"/>
          </p:cNvCxnSpPr>
          <p:nvPr/>
        </p:nvCxnSpPr>
        <p:spPr>
          <a:xfrm xmlns:a="http://schemas.openxmlformats.org/drawingml/2006/main">
            <a:off x="8324850" y="2757488"/>
            <a:ext cx="22860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106" name=""/>
          <p:cNvCxnSpPr>
            <a:stCxn xmlns:a="http://schemas.openxmlformats.org/drawingml/2006/main" id="37" idx="3"/>
            <a:endCxn xmlns:a="http://schemas.openxmlformats.org/drawingml/2006/main" id="42" idx="1"/>
          </p:cNvCxnSpPr>
          <p:nvPr/>
        </p:nvCxnSpPr>
        <p:spPr>
          <a:xfrm xmlns:a="http://schemas.openxmlformats.org/drawingml/2006/main">
            <a:off x="9925050" y="2757488"/>
            <a:ext cx="22860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graphicFrame>
        <p:nvGraphicFramePr>
          <p:cNvPr id="107" name=""/>
          <p:cNvGraphicFramePr/>
          <p:nvPr/>
        </p:nvGraphicFramePr>
        <p:xfrm>
          <a:off xmlns:a="http://schemas.openxmlformats.org/drawingml/2006/main" x="552450" y="3752850"/>
          <a:ext xmlns:a="http://schemas.openxmlformats.org/drawingml/2006/main" cx="11087100" cy="2000250"/>
        </p:xfrm>
        <a:graphic xmlns:a="http://schemas.openxmlformats.org/drawingml/2006/main">
          <a:graphicData uri="http://schemas.openxmlformats.org/drawingml/2006/table">
            <a:tbl>
              <a:tblPr/>
              <a:tblGrid>
                <a:gridCol w="2333625"/>
                <a:gridCol w="5095875"/>
                <a:gridCol w="3657600"/>
              </a:tblGrid>
              <a:tr h="400050">
                <a:tc>
                  <a:txBody>
                    <a:bodyPr/>
                    <a:lstStyle/>
                    <a:p>
                      <a:r>
                        <a:rPr sz="938" b="1">
                          <a:solidFill>
                            <a:srgbClr val="FFFFFF"/>
                          </a:solidFill>
                          <a:latin typeface="Yu Gothic"/>
                          <a:ea typeface="Yu Gothic"/>
                          <a:cs typeface="Yu Gothic"/>
                        </a:rPr>
                        <a:t>保存先</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主な内容</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用途</a:t>
                      </a:r>
                    </a:p>
                  </a:txBody>
                  <a:tcPr marL="91440" marR="91440" marT="45720" marB="45720">
                    <a:solidFill>
                      <a:srgbClr val="00A5D8"/>
                    </a:solidFill>
                  </a:tcPr>
                </a:tc>
              </a:tr>
              <a:tr h="400050">
                <a:tc>
                  <a:txBody>
                    <a:bodyPr/>
                    <a:lstStyle/>
                    <a:p>
                      <a:r>
                        <a:rPr sz="878" b="1">
                          <a:solidFill>
                            <a:srgbClr val="007FA8"/>
                          </a:solidFill>
                          <a:latin typeface="Yu Gothic"/>
                          <a:ea typeface="Yu Gothic"/>
                          <a:cs typeface="Yu Gothic"/>
                        </a:rPr>
                        <a:t>run root</a:t>
                      </a:r>
                    </a:p>
                  </a:txBody>
                  <a:tcPr marL="91440" marR="91440" marT="45720" marB="45720">
                    <a:solidFill>
                      <a:srgbClr val="FFFFFF"/>
                    </a:solidFill>
                  </a:tcPr>
                </a:tc>
                <a:tc>
                  <a:txBody>
                    <a:bodyPr/>
                    <a:lstStyle/>
                    <a:p>
                      <a:r>
                        <a:rPr sz="878">
                          <a:solidFill>
                            <a:srgbClr val="5B5B5B"/>
                          </a:solidFill>
                          <a:latin typeface="Yu Gothic"/>
                          <a:ea typeface="Yu Gothic"/>
                          <a:cs typeface="Yu Gothic"/>
                        </a:rPr>
                        <a:t>metrics_by_case/sensor, metrics_summary, training_history</a:t>
                      </a:r>
                    </a:p>
                  </a:txBody>
                  <a:tcPr marL="91440" marR="91440" marT="45720" marB="45720">
                    <a:solidFill>
                      <a:srgbClr val="FFFFFF"/>
                    </a:solidFill>
                  </a:tcPr>
                </a:tc>
                <a:tc>
                  <a:txBody>
                    <a:bodyPr/>
                    <a:lstStyle/>
                    <a:p>
                      <a:r>
                        <a:rPr sz="878">
                          <a:solidFill>
                            <a:srgbClr val="5B5B5B"/>
                          </a:solidFill>
                          <a:latin typeface="Yu Gothic"/>
                          <a:ea typeface="Yu Gothic"/>
                          <a:cs typeface="Yu Gothic"/>
                        </a:rPr>
                        <a:t>性能・収束・worst case監査</a:t>
                      </a:r>
                    </a:p>
                  </a:txBody>
                  <a:tcPr marL="91440" marR="91440" marT="45720" marB="45720">
                    <a:solidFill>
                      <a:srgbClr val="FFFFFF"/>
                    </a:solidFill>
                  </a:tcPr>
                </a:tc>
              </a:tr>
              <a:tr h="400050">
                <a:tc>
                  <a:txBody>
                    <a:bodyPr/>
                    <a:lstStyle/>
                    <a:p>
                      <a:r>
                        <a:rPr sz="878" b="1">
                          <a:solidFill>
                            <a:srgbClr val="007FA8"/>
                          </a:solidFill>
                          <a:latin typeface="Yu Gothic"/>
                          <a:ea typeface="Yu Gothic"/>
                          <a:cs typeface="Yu Gothic"/>
                        </a:rPr>
                        <a:t>split / data summary</a:t>
                      </a:r>
                    </a:p>
                  </a:txBody>
                  <a:tcPr marL="91440" marR="91440" marT="45720" marB="45720">
                    <a:solidFill>
                      <a:srgbClr val="F8F8F8"/>
                    </a:solidFill>
                  </a:tcPr>
                </a:tc>
                <a:tc>
                  <a:txBody>
                    <a:bodyPr/>
                    <a:lstStyle/>
                    <a:p>
                      <a:r>
                        <a:rPr sz="878">
                          <a:solidFill>
                            <a:srgbClr val="5B5B5B"/>
                          </a:solidFill>
                          <a:latin typeface="Yu Gothic"/>
                          <a:ea typeface="Yu Gothic"/>
                          <a:cs typeface="Yu Gothic"/>
                        </a:rPr>
                        <a:t>split.csv, data_summary.csv, config.snapshot.yaml</a:t>
                      </a:r>
                    </a:p>
                  </a:txBody>
                  <a:tcPr marL="91440" marR="91440" marT="45720" marB="45720">
                    <a:solidFill>
                      <a:srgbClr val="F8F8F8"/>
                    </a:solidFill>
                  </a:tcPr>
                </a:tc>
                <a:tc>
                  <a:txBody>
                    <a:bodyPr/>
                    <a:lstStyle/>
                    <a:p>
                      <a:r>
                        <a:rPr sz="878">
                          <a:solidFill>
                            <a:srgbClr val="5B5B5B"/>
                          </a:solidFill>
                          <a:latin typeface="Yu Gothic"/>
                          <a:ea typeface="Yu Gothic"/>
                          <a:cs typeface="Yu Gothic"/>
                        </a:rPr>
                        <a:t>データ境界と設定再現</a:t>
                      </a:r>
                    </a:p>
                  </a:txBody>
                  <a:tcPr marL="91440" marR="91440" marT="45720" marB="45720">
                    <a:solidFill>
                      <a:srgbClr val="F8F8F8"/>
                    </a:solidFill>
                  </a:tcPr>
                </a:tc>
              </a:tr>
              <a:tr h="400050">
                <a:tc>
                  <a:txBody>
                    <a:bodyPr/>
                    <a:lstStyle/>
                    <a:p>
                      <a:r>
                        <a:rPr sz="878" b="1">
                          <a:solidFill>
                            <a:srgbClr val="007FA8"/>
                          </a:solidFill>
                          <a:latin typeface="Yu Gothic"/>
                          <a:ea typeface="Yu Gothic"/>
                          <a:cs typeface="Yu Gothic"/>
                        </a:rPr>
                        <a:t>test_predictions/</a:t>
                      </a:r>
                    </a:p>
                  </a:txBody>
                  <a:tcPr marL="91440" marR="91440" marT="45720" marB="45720">
                    <a:solidFill>
                      <a:srgbClr val="FFFFFF"/>
                    </a:solidFill>
                  </a:tcPr>
                </a:tc>
                <a:tc>
                  <a:txBody>
                    <a:bodyPr/>
                    <a:lstStyle/>
                    <a:p>
                      <a:r>
                        <a:rPr sz="878">
                          <a:solidFill>
                            <a:srgbClr val="5B5B5B"/>
                          </a:solidFill>
                          <a:latin typeface="Yu Gothic"/>
                          <a:ea typeface="Yu Gothic"/>
                          <a:cs typeface="Yu Gothic"/>
                        </a:rPr>
                        <a:t>held-out observed / predicted / residual</a:t>
                      </a:r>
                    </a:p>
                  </a:txBody>
                  <a:tcPr marL="91440" marR="91440" marT="45720" marB="45720">
                    <a:solidFill>
                      <a:srgbClr val="FFFFFF"/>
                    </a:solidFill>
                  </a:tcPr>
                </a:tc>
                <a:tc>
                  <a:txBody>
                    <a:bodyPr/>
                    <a:lstStyle/>
                    <a:p>
                      <a:r>
                        <a:rPr sz="878">
                          <a:solidFill>
                            <a:srgbClr val="5B5B5B"/>
                          </a:solidFill>
                          <a:latin typeface="Yu Gothic"/>
                          <a:ea typeface="Yu Gothic"/>
                          <a:cs typeface="Yu Gothic"/>
                        </a:rPr>
                        <a:t>再描画・残差診断</a:t>
                      </a:r>
                    </a:p>
                  </a:txBody>
                  <a:tcPr marL="91440" marR="91440" marT="45720" marB="45720">
                    <a:solidFill>
                      <a:srgbClr val="FFFFFF"/>
                    </a:solidFill>
                  </a:tcPr>
                </a:tc>
              </a:tr>
              <a:tr h="400050">
                <a:tc>
                  <a:txBody>
                    <a:bodyPr/>
                    <a:lstStyle/>
                    <a:p>
                      <a:r>
                        <a:rPr sz="878" b="1">
                          <a:solidFill>
                            <a:srgbClr val="007FA8"/>
                          </a:solidFill>
                          <a:latin typeface="Yu Gothic"/>
                          <a:ea typeface="Yu Gothic"/>
                          <a:cs typeface="Yu Gothic"/>
                        </a:rPr>
                        <a:t>artifact/</a:t>
                      </a:r>
                    </a:p>
                  </a:txBody>
                  <a:tcPr marL="91440" marR="91440" marT="45720" marB="45720">
                    <a:solidFill>
                      <a:srgbClr val="F8F8F8"/>
                    </a:solidFill>
                  </a:tcPr>
                </a:tc>
                <a:tc>
                  <a:txBody>
                    <a:bodyPr/>
                    <a:lstStyle/>
                    <a:p>
                      <a:r>
                        <a:rPr sz="878">
                          <a:solidFill>
                            <a:srgbClr val="5B5B5B"/>
                          </a:solidFill>
                          <a:latin typeface="Yu Gothic"/>
                          <a:ea typeface="Yu Gothic"/>
                          <a:cs typeface="Yu Gothic"/>
                        </a:rPr>
                        <a:t>model.pt, system.yaml, metadata.json</a:t>
                      </a:r>
                    </a:p>
                  </a:txBody>
                  <a:tcPr marL="91440" marR="91440" marT="45720" marB="45720">
                    <a:solidFill>
                      <a:srgbClr val="F8F8F8"/>
                    </a:solidFill>
                  </a:tcPr>
                </a:tc>
                <a:tc>
                  <a:txBody>
                    <a:bodyPr/>
                    <a:lstStyle/>
                    <a:p>
                      <a:r>
                        <a:rPr sz="878">
                          <a:solidFill>
                            <a:srgbClr val="5B5B5B"/>
                          </a:solidFill>
                          <a:latin typeface="Yu Gothic"/>
                          <a:ea typeface="Yu Gothic"/>
                          <a:cs typeface="Yu Gothic"/>
                        </a:rPr>
                        <a:t>forecast / monitorへ配備</a:t>
                      </a:r>
                    </a:p>
                  </a:txBody>
                  <a:tcPr marL="91440" marR="91440" marT="45720" marB="45720">
                    <a:solidFill>
                      <a:srgbClr val="F8F8F8"/>
                    </a:solidFill>
                  </a:tcPr>
                </a:tc>
              </a:tr>
            </a:tbl>
          </a:graphicData>
        </a:graphic>
      </p:graphicFrame>
      <p:sp>
        <p:nvSpPr>
          <p:cNvPr id="54" name="">
            <a:extLst xmlns:a="http://schemas.openxmlformats.org/drawingml/2006/main">
              <a:ext uri="{FF2B5EF4-FFF2-40B4-BE49-F238E27FC236}">
                <a16:creationId xmlns:a16="http://schemas.microsoft.com/office/drawing/2014/main" id="{64309DFD-063F-49D4-BA09-F61367677176}"/>
              </a:ext>
            </a:extLst>
          </p:cNvPr>
          <p:cNvSpPr>
            <a:spLocks xmlns:a="http://schemas.openxmlformats.org/drawingml/2006/main" noGrp="1"/>
          </p:cNvSpPr>
          <p:nvPr/>
        </p:nvSpPr>
        <p:spPr>
          <a:xfrm xmlns:a="http://schemas.openxmlformats.org/drawingml/2006/main">
            <a:off x="552450" y="5934075"/>
            <a:ext cx="110871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15" b="1" i="0">
                <a:solidFill>
                  <a:srgbClr val="4D8710"/>
                </a:solidFill>
                <a:latin typeface="Yu Gothic"/>
                <a:ea typeface="Yu Gothic"/>
                <a:cs typeface="Yu Gothic"/>
              </a:defRPr>
            </a:pPr>
            <a:r>
              <a:rPr sz="915" b="1" i="0">
                <a:solidFill>
                  <a:srgbClr val="4D8710"/>
                </a:solidFill>
                <a:latin typeface="Yu Gothic"/>
                <a:ea typeface="Yu Gothic"/>
                <a:cs typeface="Yu Gothic"/>
              </a:rPr>
              <a:t>公開済みartifactだけをruntimeへ渡し、学習用profile stateやoptimizer stateは配備しない。</a:t>
            </a:r>
          </a:p>
        </p:txBody>
      </p:sp>
    </p:spTree>
    <p:extLst>
      <p:ext uri="{BB962C8B-B14F-4D97-AF65-F5344CB8AC3E}">
        <p14:creationId xmlns:p14="http://schemas.microsoft.com/office/powerpoint/2010/main" val="137124440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2F3E70DD-2E62-436E-BA20-0AE46C089B6A}"/>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1263322-2F99-4FF2-B3B4-A5BF241D3B46}"/>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CAUSAL FORECAST</a:t>
            </a:r>
          </a:p>
        </p:txBody>
      </p:sp>
      <p:sp>
        <p:nvSpPr>
          <p:cNvPr id="3" name="">
            <a:extLst xmlns:a="http://schemas.openxmlformats.org/drawingml/2006/main">
              <a:ext uri="{FF2B5EF4-FFF2-40B4-BE49-F238E27FC236}">
                <a16:creationId xmlns:a16="http://schemas.microsoft.com/office/drawing/2014/main" id="{FCCA06A3-A8BD-4174-A414-32713F501424}"/>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予測開始時刻Hまでだけを同化し、その後は入力suffixで開ループ予測する</a:t>
            </a:r>
          </a:p>
        </p:txBody>
      </p:sp>
      <p:sp>
        <p:nvSpPr>
          <p:cNvPr id="4" name="">
            <a:extLst xmlns:a="http://schemas.openxmlformats.org/drawingml/2006/main">
              <a:ext uri="{FF2B5EF4-FFF2-40B4-BE49-F238E27FC236}">
                <a16:creationId xmlns:a16="http://schemas.microsoft.com/office/drawing/2014/main" id="{747E5AEA-F344-42CC-898D-FBF6AB70C020}"/>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未来観測を初期状態推定へ混入させないことを、workflowのデータ契約として固定する</a:t>
            </a:r>
          </a:p>
        </p:txBody>
      </p:sp>
      <p:sp>
        <p:nvSpPr>
          <p:cNvPr id="5" name="">
            <a:extLst xmlns:a="http://schemas.openxmlformats.org/drawingml/2006/main">
              <a:ext uri="{FF2B5EF4-FFF2-40B4-BE49-F238E27FC236}">
                <a16:creationId xmlns:a16="http://schemas.microsoft.com/office/drawing/2014/main" id="{95F4A9BE-A126-4C5B-8C4E-703B1EDC374D}"/>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25D9D9B1-06F2-417D-A99D-6CCBFE9F6C91}"/>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C2C3D508-18A4-42C8-9765-F38697AF244B}"/>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D27C5231-E619-4BE5-A5D9-6A6D0AD1238B}"/>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19</a:t>
            </a:r>
          </a:p>
        </p:txBody>
      </p:sp>
      <p:sp>
        <p:nvSpPr>
          <p:cNvPr id="9" name="">
            <a:extLst xmlns:a="http://schemas.openxmlformats.org/drawingml/2006/main">
              <a:ext uri="{FF2B5EF4-FFF2-40B4-BE49-F238E27FC236}">
                <a16:creationId xmlns:a16="http://schemas.microsoft.com/office/drawing/2014/main" id="{BA398CAD-9E3B-4C6A-935C-6130B941BB65}"/>
              </a:ext>
            </a:extLst>
          </p:cNvPr>
          <p:cNvSpPr>
            <a:spLocks xmlns:a="http://schemas.openxmlformats.org/drawingml/2006/main" noGrp="1"/>
          </p:cNvSpPr>
          <p:nvPr/>
        </p:nvSpPr>
        <p:spPr>
          <a:xfrm xmlns:a="http://schemas.openxmlformats.org/drawingml/2006/main">
            <a:off x="552450" y="1743075"/>
            <a:ext cx="2095500" cy="1866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4D2AE3FD-85F6-4960-A365-785060C560AA}"/>
              </a:ext>
            </a:extLst>
          </p:cNvPr>
          <p:cNvSpPr>
            <a:spLocks xmlns:a="http://schemas.openxmlformats.org/drawingml/2006/main" noGrp="1"/>
          </p:cNvSpPr>
          <p:nvPr/>
        </p:nvSpPr>
        <p:spPr>
          <a:xfrm xmlns:a="http://schemas.openxmlformats.org/drawingml/2006/main">
            <a:off x="552450" y="1743075"/>
            <a:ext cx="2095500" cy="762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0D0319B-9A8C-40ED-8366-44E4A5599818}"/>
              </a:ext>
            </a:extLst>
          </p:cNvPr>
          <p:cNvSpPr>
            <a:spLocks xmlns:a="http://schemas.openxmlformats.org/drawingml/2006/main" noGrp="1"/>
          </p:cNvSpPr>
          <p:nvPr/>
        </p:nvSpPr>
        <p:spPr>
          <a:xfrm xmlns:a="http://schemas.openxmlformats.org/drawingml/2006/main">
            <a:off x="723900" y="1990725"/>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00A5D8"/>
                </a:solidFill>
                <a:latin typeface="Yu Gothic"/>
                <a:ea typeface="Yu Gothic"/>
                <a:cs typeface="Yu Gothic"/>
              </a:defRPr>
            </a:pPr>
            <a:r>
              <a:rPr sz="1350" b="1" i="0">
                <a:solidFill>
                  <a:srgbClr val="00A5D8"/>
                </a:solidFill>
                <a:latin typeface="Yu Gothic"/>
                <a:ea typeface="Yu Gothic"/>
                <a:cs typeface="Yu Gothic"/>
              </a:rPr>
              <a:t>history</a:t>
            </a:r>
          </a:p>
        </p:txBody>
      </p:sp>
      <p:sp>
        <p:nvSpPr>
          <p:cNvPr id="12" name="">
            <a:extLst xmlns:a="http://schemas.openxmlformats.org/drawingml/2006/main">
              <a:ext uri="{FF2B5EF4-FFF2-40B4-BE49-F238E27FC236}">
                <a16:creationId xmlns:a16="http://schemas.microsoft.com/office/drawing/2014/main" id="{B353270E-48EB-48D4-8FE1-38E578D83621}"/>
              </a:ext>
            </a:extLst>
          </p:cNvPr>
          <p:cNvSpPr>
            <a:spLocks xmlns:a="http://schemas.openxmlformats.org/drawingml/2006/main" noGrp="1"/>
          </p:cNvSpPr>
          <p:nvPr/>
        </p:nvSpPr>
        <p:spPr>
          <a:xfrm xmlns:a="http://schemas.openxmlformats.org/drawingml/2006/main">
            <a:off x="723900" y="23241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777777"/>
                </a:solidFill>
                <a:latin typeface="Yu Gothic"/>
                <a:ea typeface="Yu Gothic"/>
                <a:cs typeface="Yu Gothic"/>
              </a:defRPr>
            </a:pPr>
            <a:r>
              <a:rPr sz="825" b="1" i="0">
                <a:solidFill>
                  <a:srgbClr val="777777"/>
                </a:solidFill>
                <a:latin typeface="Yu Gothic"/>
                <a:ea typeface="Yu Gothic"/>
                <a:cs typeface="Yu Gothic"/>
              </a:rPr>
              <a:t>t ≤ H</a:t>
            </a:r>
          </a:p>
        </p:txBody>
      </p:sp>
      <p:sp>
        <p:nvSpPr>
          <p:cNvPr id="13" name="">
            <a:extLst xmlns:a="http://schemas.openxmlformats.org/drawingml/2006/main">
              <a:ext uri="{FF2B5EF4-FFF2-40B4-BE49-F238E27FC236}">
                <a16:creationId xmlns:a16="http://schemas.microsoft.com/office/drawing/2014/main" id="{2C622B79-0CCF-40E6-A67F-FF1CD0138242}"/>
              </a:ext>
            </a:extLst>
          </p:cNvPr>
          <p:cNvSpPr>
            <a:spLocks xmlns:a="http://schemas.openxmlformats.org/drawingml/2006/main" noGrp="1"/>
          </p:cNvSpPr>
          <p:nvPr/>
        </p:nvSpPr>
        <p:spPr>
          <a:xfrm xmlns:a="http://schemas.openxmlformats.org/drawingml/2006/main">
            <a:off x="723900" y="2638425"/>
            <a:ext cx="17526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14" name="">
            <a:extLst xmlns:a="http://schemas.openxmlformats.org/drawingml/2006/main">
              <a:ext uri="{FF2B5EF4-FFF2-40B4-BE49-F238E27FC236}">
                <a16:creationId xmlns:a16="http://schemas.microsoft.com/office/drawing/2014/main" id="{98C1F73E-E03D-4AC0-B013-109B6D4C6C64}"/>
              </a:ext>
            </a:extLst>
          </p:cNvPr>
          <p:cNvSpPr>
            <a:spLocks xmlns:a="http://schemas.openxmlformats.org/drawingml/2006/main" noGrp="1"/>
          </p:cNvSpPr>
          <p:nvPr/>
        </p:nvSpPr>
        <p:spPr>
          <a:xfrm xmlns:a="http://schemas.openxmlformats.org/drawingml/2006/main">
            <a:off x="723900" y="2790825"/>
            <a:ext cx="1752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6618"/>
          </a:bodyPr>
          <a:lstStyle xmlns:a="http://schemas.openxmlformats.org/drawingml/2006/main"/>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temperature</a:t>
            </a:r>
          </a:p>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controls</a:t>
            </a:r>
          </a:p>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mask</a:t>
            </a:r>
          </a:p>
        </p:txBody>
      </p:sp>
      <p:sp>
        <p:nvSpPr>
          <p:cNvPr id="15" name="">
            <a:extLst xmlns:a="http://schemas.openxmlformats.org/drawingml/2006/main">
              <a:ext uri="{FF2B5EF4-FFF2-40B4-BE49-F238E27FC236}">
                <a16:creationId xmlns:a16="http://schemas.microsoft.com/office/drawing/2014/main" id="{367845C3-0CFD-4709-8B44-B7E2842AF01C}"/>
              </a:ext>
            </a:extLst>
          </p:cNvPr>
          <p:cNvSpPr>
            <a:spLocks xmlns:a="http://schemas.openxmlformats.org/drawingml/2006/main" noGrp="1"/>
          </p:cNvSpPr>
          <p:nvPr/>
        </p:nvSpPr>
        <p:spPr>
          <a:xfrm xmlns:a="http://schemas.openxmlformats.org/drawingml/2006/main">
            <a:off x="3105150" y="1743075"/>
            <a:ext cx="2095500" cy="1866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F6C239E2-0DBA-4E90-B889-D3D8E264A1D8}"/>
              </a:ext>
            </a:extLst>
          </p:cNvPr>
          <p:cNvSpPr>
            <a:spLocks xmlns:a="http://schemas.openxmlformats.org/drawingml/2006/main" noGrp="1"/>
          </p:cNvSpPr>
          <p:nvPr/>
        </p:nvSpPr>
        <p:spPr>
          <a:xfrm xmlns:a="http://schemas.openxmlformats.org/drawingml/2006/main">
            <a:off x="3105150" y="1743075"/>
            <a:ext cx="2095500" cy="762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68FDDC0-523D-4BA6-AD7B-0612F1C5F081}"/>
              </a:ext>
            </a:extLst>
          </p:cNvPr>
          <p:cNvSpPr>
            <a:spLocks xmlns:a="http://schemas.openxmlformats.org/drawingml/2006/main" noGrp="1"/>
          </p:cNvSpPr>
          <p:nvPr/>
        </p:nvSpPr>
        <p:spPr>
          <a:xfrm xmlns:a="http://schemas.openxmlformats.org/drawingml/2006/main">
            <a:off x="3276600" y="1990725"/>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76BE18"/>
                </a:solidFill>
                <a:latin typeface="Yu Gothic"/>
                <a:ea typeface="Yu Gothic"/>
                <a:cs typeface="Yu Gothic"/>
              </a:defRPr>
            </a:pPr>
            <a:r>
              <a:rPr sz="1350" b="1" i="0">
                <a:solidFill>
                  <a:srgbClr val="76BE18"/>
                </a:solidFill>
                <a:latin typeface="Yu Gothic"/>
                <a:ea typeface="Yu Gothic"/>
                <a:cs typeface="Yu Gothic"/>
              </a:rPr>
              <a:t>state assimilation</a:t>
            </a:r>
          </a:p>
        </p:txBody>
      </p:sp>
      <p:sp>
        <p:nvSpPr>
          <p:cNvPr id="18" name="">
            <a:extLst xmlns:a="http://schemas.openxmlformats.org/drawingml/2006/main">
              <a:ext uri="{FF2B5EF4-FFF2-40B4-BE49-F238E27FC236}">
                <a16:creationId xmlns:a16="http://schemas.microsoft.com/office/drawing/2014/main" id="{96611DEF-6E67-4AF5-8B47-9B4CEEDACD68}"/>
              </a:ext>
            </a:extLst>
          </p:cNvPr>
          <p:cNvSpPr>
            <a:spLocks xmlns:a="http://schemas.openxmlformats.org/drawingml/2006/main" noGrp="1"/>
          </p:cNvSpPr>
          <p:nvPr/>
        </p:nvSpPr>
        <p:spPr>
          <a:xfrm xmlns:a="http://schemas.openxmlformats.org/drawingml/2006/main">
            <a:off x="3276600" y="23241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777777"/>
                </a:solidFill>
                <a:latin typeface="Yu Gothic"/>
                <a:ea typeface="Yu Gothic"/>
                <a:cs typeface="Yu Gothic"/>
              </a:defRPr>
            </a:pPr>
            <a:r>
              <a:rPr sz="825" b="1" i="0">
                <a:solidFill>
                  <a:srgbClr val="777777"/>
                </a:solidFill>
                <a:latin typeface="Yu Gothic"/>
                <a:ea typeface="Yu Gothic"/>
                <a:cs typeface="Yu Gothic"/>
              </a:rPr>
              <a:t>posterior at H</a:t>
            </a:r>
          </a:p>
        </p:txBody>
      </p:sp>
      <p:sp>
        <p:nvSpPr>
          <p:cNvPr id="19" name="">
            <a:extLst xmlns:a="http://schemas.openxmlformats.org/drawingml/2006/main">
              <a:ext uri="{FF2B5EF4-FFF2-40B4-BE49-F238E27FC236}">
                <a16:creationId xmlns:a16="http://schemas.microsoft.com/office/drawing/2014/main" id="{E1B2841C-508B-4510-BA5F-F270A47AADCB}"/>
              </a:ext>
            </a:extLst>
          </p:cNvPr>
          <p:cNvSpPr>
            <a:spLocks xmlns:a="http://schemas.openxmlformats.org/drawingml/2006/main" noGrp="1"/>
          </p:cNvSpPr>
          <p:nvPr/>
        </p:nvSpPr>
        <p:spPr>
          <a:xfrm xmlns:a="http://schemas.openxmlformats.org/drawingml/2006/main">
            <a:off x="3276600" y="2638425"/>
            <a:ext cx="17526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0" name="">
            <a:extLst xmlns:a="http://schemas.openxmlformats.org/drawingml/2006/main">
              <a:ext uri="{FF2B5EF4-FFF2-40B4-BE49-F238E27FC236}">
                <a16:creationId xmlns:a16="http://schemas.microsoft.com/office/drawing/2014/main" id="{719D67F9-8F5A-4259-A33D-30B5A90E23CD}"/>
              </a:ext>
            </a:extLst>
          </p:cNvPr>
          <p:cNvSpPr>
            <a:spLocks xmlns:a="http://schemas.openxmlformats.org/drawingml/2006/main" noGrp="1"/>
          </p:cNvSpPr>
          <p:nvPr/>
        </p:nvSpPr>
        <p:spPr>
          <a:xfrm xmlns:a="http://schemas.openxmlformats.org/drawingml/2006/main">
            <a:off x="3276600" y="2790825"/>
            <a:ext cx="1752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state mean at H</a:t>
            </a:r>
          </a:p>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covariance P(H)</a:t>
            </a:r>
          </a:p>
        </p:txBody>
      </p:sp>
      <p:sp>
        <p:nvSpPr>
          <p:cNvPr id="21" name="">
            <a:extLst xmlns:a="http://schemas.openxmlformats.org/drawingml/2006/main">
              <a:ext uri="{FF2B5EF4-FFF2-40B4-BE49-F238E27FC236}">
                <a16:creationId xmlns:a16="http://schemas.microsoft.com/office/drawing/2014/main" id="{FE990FC3-DCB8-4B62-8081-5E2CA9197921}"/>
              </a:ext>
            </a:extLst>
          </p:cNvPr>
          <p:cNvSpPr>
            <a:spLocks xmlns:a="http://schemas.openxmlformats.org/drawingml/2006/main" noGrp="1"/>
          </p:cNvSpPr>
          <p:nvPr/>
        </p:nvSpPr>
        <p:spPr>
          <a:xfrm xmlns:a="http://schemas.openxmlformats.org/drawingml/2006/main">
            <a:off x="5657850" y="1743075"/>
            <a:ext cx="2095500" cy="1866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2" name="">
            <a:extLst xmlns:a="http://schemas.openxmlformats.org/drawingml/2006/main">
              <a:ext uri="{FF2B5EF4-FFF2-40B4-BE49-F238E27FC236}">
                <a16:creationId xmlns:a16="http://schemas.microsoft.com/office/drawing/2014/main" id="{EC8243AF-2A13-4B06-A0AF-322F03FF3639}"/>
              </a:ext>
            </a:extLst>
          </p:cNvPr>
          <p:cNvSpPr>
            <a:spLocks xmlns:a="http://schemas.openxmlformats.org/drawingml/2006/main" noGrp="1"/>
          </p:cNvSpPr>
          <p:nvPr/>
        </p:nvSpPr>
        <p:spPr>
          <a:xfrm xmlns:a="http://schemas.openxmlformats.org/drawingml/2006/main">
            <a:off x="5657850" y="1743075"/>
            <a:ext cx="2095500" cy="762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8BA83DA-8497-49F3-BFD8-D4151B8BA1F7}"/>
              </a:ext>
            </a:extLst>
          </p:cNvPr>
          <p:cNvSpPr>
            <a:spLocks xmlns:a="http://schemas.openxmlformats.org/drawingml/2006/main" noGrp="1"/>
          </p:cNvSpPr>
          <p:nvPr/>
        </p:nvSpPr>
        <p:spPr>
          <a:xfrm xmlns:a="http://schemas.openxmlformats.org/drawingml/2006/main">
            <a:off x="5829300" y="1990725"/>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7B2DAF"/>
                </a:solidFill>
                <a:latin typeface="Yu Gothic"/>
                <a:ea typeface="Yu Gothic"/>
                <a:cs typeface="Yu Gothic"/>
              </a:defRPr>
            </a:pPr>
            <a:r>
              <a:rPr sz="1350" b="1" i="0">
                <a:solidFill>
                  <a:srgbClr val="7B2DAF"/>
                </a:solidFill>
                <a:latin typeface="Yu Gothic"/>
                <a:ea typeface="Yu Gothic"/>
                <a:cs typeface="Yu Gothic"/>
              </a:rPr>
              <a:t>open-loop rollout</a:t>
            </a:r>
          </a:p>
        </p:txBody>
      </p:sp>
      <p:sp>
        <p:nvSpPr>
          <p:cNvPr id="24" name="">
            <a:extLst xmlns:a="http://schemas.openxmlformats.org/drawingml/2006/main">
              <a:ext uri="{FF2B5EF4-FFF2-40B4-BE49-F238E27FC236}">
                <a16:creationId xmlns:a16="http://schemas.microsoft.com/office/drawing/2014/main" id="{B4A5B31F-415B-4AC7-8A04-43D072FCFAA2}"/>
              </a:ext>
            </a:extLst>
          </p:cNvPr>
          <p:cNvSpPr>
            <a:spLocks xmlns:a="http://schemas.openxmlformats.org/drawingml/2006/main" noGrp="1"/>
          </p:cNvSpPr>
          <p:nvPr/>
        </p:nvSpPr>
        <p:spPr>
          <a:xfrm xmlns:a="http://schemas.openxmlformats.org/drawingml/2006/main">
            <a:off x="5829300" y="23241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777777"/>
                </a:solidFill>
                <a:latin typeface="Yu Gothic"/>
                <a:ea typeface="Yu Gothic"/>
                <a:cs typeface="Yu Gothic"/>
              </a:defRPr>
            </a:pPr>
            <a:r>
              <a:rPr sz="825" b="1" i="0">
                <a:solidFill>
                  <a:srgbClr val="777777"/>
                </a:solidFill>
                <a:latin typeface="Yu Gothic"/>
                <a:ea typeface="Yu Gothic"/>
                <a:cs typeface="Yu Gothic"/>
              </a:rPr>
              <a:t>t &gt; H</a:t>
            </a:r>
          </a:p>
        </p:txBody>
      </p:sp>
      <p:sp>
        <p:nvSpPr>
          <p:cNvPr id="25" name="">
            <a:extLst xmlns:a="http://schemas.openxmlformats.org/drawingml/2006/main">
              <a:ext uri="{FF2B5EF4-FFF2-40B4-BE49-F238E27FC236}">
                <a16:creationId xmlns:a16="http://schemas.microsoft.com/office/drawing/2014/main" id="{AA812871-232E-4540-BFE5-E1B4068FD8EE}"/>
              </a:ext>
            </a:extLst>
          </p:cNvPr>
          <p:cNvSpPr>
            <a:spLocks xmlns:a="http://schemas.openxmlformats.org/drawingml/2006/main" noGrp="1"/>
          </p:cNvSpPr>
          <p:nvPr/>
        </p:nvSpPr>
        <p:spPr>
          <a:xfrm xmlns:a="http://schemas.openxmlformats.org/drawingml/2006/main">
            <a:off x="5829300" y="2638425"/>
            <a:ext cx="17526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6" name="">
            <a:extLst xmlns:a="http://schemas.openxmlformats.org/drawingml/2006/main">
              <a:ext uri="{FF2B5EF4-FFF2-40B4-BE49-F238E27FC236}">
                <a16:creationId xmlns:a16="http://schemas.microsoft.com/office/drawing/2014/main" id="{508E9841-4A8F-40A8-99EE-673FBD8DCE19}"/>
              </a:ext>
            </a:extLst>
          </p:cNvPr>
          <p:cNvSpPr>
            <a:spLocks xmlns:a="http://schemas.openxmlformats.org/drawingml/2006/main" noGrp="1"/>
          </p:cNvSpPr>
          <p:nvPr/>
        </p:nvSpPr>
        <p:spPr>
          <a:xfrm xmlns:a="http://schemas.openxmlformats.org/drawingml/2006/main">
            <a:off x="5829300" y="2790825"/>
            <a:ext cx="1752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known/planned inputs</a:t>
            </a:r>
          </a:p>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no future y</a:t>
            </a:r>
          </a:p>
        </p:txBody>
      </p:sp>
      <p:sp>
        <p:nvSpPr>
          <p:cNvPr id="27" name="">
            <a:extLst xmlns:a="http://schemas.openxmlformats.org/drawingml/2006/main">
              <a:ext uri="{FF2B5EF4-FFF2-40B4-BE49-F238E27FC236}">
                <a16:creationId xmlns:a16="http://schemas.microsoft.com/office/drawing/2014/main" id="{B3C94308-73F1-4335-8959-98B0AD59BD45}"/>
              </a:ext>
            </a:extLst>
          </p:cNvPr>
          <p:cNvSpPr>
            <a:spLocks xmlns:a="http://schemas.openxmlformats.org/drawingml/2006/main" noGrp="1"/>
          </p:cNvSpPr>
          <p:nvPr/>
        </p:nvSpPr>
        <p:spPr>
          <a:xfrm xmlns:a="http://schemas.openxmlformats.org/drawingml/2006/main">
            <a:off x="8210550" y="1743075"/>
            <a:ext cx="3429000" cy="1866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8" name="">
            <a:extLst xmlns:a="http://schemas.openxmlformats.org/drawingml/2006/main">
              <a:ext uri="{FF2B5EF4-FFF2-40B4-BE49-F238E27FC236}">
                <a16:creationId xmlns:a16="http://schemas.microsoft.com/office/drawing/2014/main" id="{E06B284A-7DF6-4666-8070-9B82E3EFFE07}"/>
              </a:ext>
            </a:extLst>
          </p:cNvPr>
          <p:cNvSpPr>
            <a:spLocks xmlns:a="http://schemas.openxmlformats.org/drawingml/2006/main" noGrp="1"/>
          </p:cNvSpPr>
          <p:nvPr/>
        </p:nvSpPr>
        <p:spPr>
          <a:xfrm xmlns:a="http://schemas.openxmlformats.org/drawingml/2006/main">
            <a:off x="8210550" y="1743075"/>
            <a:ext cx="3429000" cy="7620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60F64AB-A32E-48D2-80DE-BEBE024E9772}"/>
              </a:ext>
            </a:extLst>
          </p:cNvPr>
          <p:cNvSpPr>
            <a:spLocks xmlns:a="http://schemas.openxmlformats.org/drawingml/2006/main" noGrp="1"/>
          </p:cNvSpPr>
          <p:nvPr/>
        </p:nvSpPr>
        <p:spPr>
          <a:xfrm xmlns:a="http://schemas.openxmlformats.org/drawingml/2006/main">
            <a:off x="8382000" y="1990725"/>
            <a:ext cx="3086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E5A900"/>
                </a:solidFill>
                <a:latin typeface="Yu Gothic"/>
                <a:ea typeface="Yu Gothic"/>
                <a:cs typeface="Yu Gothic"/>
              </a:defRPr>
            </a:pPr>
            <a:r>
              <a:rPr sz="1350" b="1" i="0">
                <a:solidFill>
                  <a:srgbClr val="E5A900"/>
                </a:solidFill>
                <a:latin typeface="Yu Gothic"/>
                <a:ea typeface="Yu Gothic"/>
                <a:cs typeface="Yu Gothic"/>
              </a:rPr>
              <a:t>forecast product</a:t>
            </a:r>
          </a:p>
        </p:txBody>
      </p:sp>
      <p:sp>
        <p:nvSpPr>
          <p:cNvPr id="30" name="">
            <a:extLst xmlns:a="http://schemas.openxmlformats.org/drawingml/2006/main">
              <a:ext uri="{FF2B5EF4-FFF2-40B4-BE49-F238E27FC236}">
                <a16:creationId xmlns:a16="http://schemas.microsoft.com/office/drawing/2014/main" id="{7E622E62-7A80-40DC-9017-A68F57D9A595}"/>
              </a:ext>
            </a:extLst>
          </p:cNvPr>
          <p:cNvSpPr>
            <a:spLocks xmlns:a="http://schemas.openxmlformats.org/drawingml/2006/main" noGrp="1"/>
          </p:cNvSpPr>
          <p:nvPr/>
        </p:nvSpPr>
        <p:spPr>
          <a:xfrm xmlns:a="http://schemas.openxmlformats.org/drawingml/2006/main">
            <a:off x="8382000" y="232410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777777"/>
                </a:solidFill>
                <a:latin typeface="Yu Gothic"/>
                <a:ea typeface="Yu Gothic"/>
                <a:cs typeface="Yu Gothic"/>
              </a:defRPr>
            </a:pPr>
            <a:r>
              <a:rPr sz="825" b="1" i="0">
                <a:solidFill>
                  <a:srgbClr val="777777"/>
                </a:solidFill>
                <a:latin typeface="Yu Gothic"/>
                <a:ea typeface="Yu Gothic"/>
                <a:cs typeface="Yu Gothic"/>
              </a:rPr>
              <a:t>temperature + uncertainty</a:t>
            </a:r>
          </a:p>
        </p:txBody>
      </p:sp>
      <p:sp>
        <p:nvSpPr>
          <p:cNvPr id="31" name="">
            <a:extLst xmlns:a="http://schemas.openxmlformats.org/drawingml/2006/main">
              <a:ext uri="{FF2B5EF4-FFF2-40B4-BE49-F238E27FC236}">
                <a16:creationId xmlns:a16="http://schemas.microsoft.com/office/drawing/2014/main" id="{07056749-DE15-495A-A390-A62AC8ADF40D}"/>
              </a:ext>
            </a:extLst>
          </p:cNvPr>
          <p:cNvSpPr>
            <a:spLocks xmlns:a="http://schemas.openxmlformats.org/drawingml/2006/main" noGrp="1"/>
          </p:cNvSpPr>
          <p:nvPr/>
        </p:nvSpPr>
        <p:spPr>
          <a:xfrm xmlns:a="http://schemas.openxmlformats.org/drawingml/2006/main">
            <a:off x="8382000" y="2638425"/>
            <a:ext cx="3086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2" name="">
            <a:extLst xmlns:a="http://schemas.openxmlformats.org/drawingml/2006/main">
              <a:ext uri="{FF2B5EF4-FFF2-40B4-BE49-F238E27FC236}">
                <a16:creationId xmlns:a16="http://schemas.microsoft.com/office/drawing/2014/main" id="{8A35BA3F-6550-4D14-8CD8-527C271BF421}"/>
              </a:ext>
            </a:extLst>
          </p:cNvPr>
          <p:cNvSpPr>
            <a:spLocks xmlns:a="http://schemas.openxmlformats.org/drawingml/2006/main" noGrp="1"/>
          </p:cNvSpPr>
          <p:nvPr/>
        </p:nvSpPr>
        <p:spPr>
          <a:xfrm xmlns:a="http://schemas.openxmlformats.org/drawingml/2006/main">
            <a:off x="8382000" y="2790825"/>
            <a:ext cx="3086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mean / covariance / threshold risk</a:t>
            </a:r>
          </a:p>
        </p:txBody>
      </p:sp>
      <p:cxnSp>
        <p:nvCxnSpPr>
          <p:cNvPr id="85" name=""/>
          <p:cNvCxnSpPr>
            <a:stCxn xmlns:a="http://schemas.openxmlformats.org/drawingml/2006/main" id="9" idx="3"/>
            <a:endCxn xmlns:a="http://schemas.openxmlformats.org/drawingml/2006/main" id="15" idx="1"/>
          </p:cNvCxnSpPr>
          <p:nvPr/>
        </p:nvCxnSpPr>
        <p:spPr>
          <a:xfrm xmlns:a="http://schemas.openxmlformats.org/drawingml/2006/main">
            <a:off x="2647950" y="2676525"/>
            <a:ext cx="4572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86" name=""/>
          <p:cNvCxnSpPr>
            <a:stCxn xmlns:a="http://schemas.openxmlformats.org/drawingml/2006/main" id="15" idx="3"/>
            <a:endCxn xmlns:a="http://schemas.openxmlformats.org/drawingml/2006/main" id="21" idx="1"/>
          </p:cNvCxnSpPr>
          <p:nvPr/>
        </p:nvCxnSpPr>
        <p:spPr>
          <a:xfrm xmlns:a="http://schemas.openxmlformats.org/drawingml/2006/main">
            <a:off x="5200650" y="2676525"/>
            <a:ext cx="4572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87" name=""/>
          <p:cNvCxnSpPr>
            <a:stCxn xmlns:a="http://schemas.openxmlformats.org/drawingml/2006/main" id="21" idx="3"/>
            <a:endCxn xmlns:a="http://schemas.openxmlformats.org/drawingml/2006/main" id="27" idx="1"/>
          </p:cNvCxnSpPr>
          <p:nvPr/>
        </p:nvCxnSpPr>
        <p:spPr>
          <a:xfrm xmlns:a="http://schemas.openxmlformats.org/drawingml/2006/main">
            <a:off x="7753350" y="2676525"/>
            <a:ext cx="4572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sp>
        <p:nvSpPr>
          <p:cNvPr id="36" name="">
            <a:extLst xmlns:a="http://schemas.openxmlformats.org/drawingml/2006/main">
              <a:ext uri="{FF2B5EF4-FFF2-40B4-BE49-F238E27FC236}">
                <a16:creationId xmlns:a16="http://schemas.microsoft.com/office/drawing/2014/main" id="{2E03485B-6C95-4698-8FBB-C0FF67FE90B7}"/>
              </a:ext>
            </a:extLst>
          </p:cNvPr>
          <p:cNvSpPr>
            <a:spLocks xmlns:a="http://schemas.openxmlformats.org/drawingml/2006/main" noGrp="1"/>
          </p:cNvSpPr>
          <p:nvPr/>
        </p:nvSpPr>
        <p:spPr>
          <a:xfrm xmlns:a="http://schemas.openxmlformats.org/drawingml/2006/main">
            <a:off x="552450" y="38957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7" name="">
            <a:extLst xmlns:a="http://schemas.openxmlformats.org/drawingml/2006/main">
              <a:ext uri="{FF2B5EF4-FFF2-40B4-BE49-F238E27FC236}">
                <a16:creationId xmlns:a16="http://schemas.microsoft.com/office/drawing/2014/main" id="{AFC871B9-3E01-4EB8-8ECB-A4422FEC6915}"/>
              </a:ext>
            </a:extLst>
          </p:cNvPr>
          <p:cNvSpPr>
            <a:spLocks xmlns:a="http://schemas.openxmlformats.org/drawingml/2006/main" noGrp="1"/>
          </p:cNvSpPr>
          <p:nvPr/>
        </p:nvSpPr>
        <p:spPr>
          <a:xfrm xmlns:a="http://schemas.openxmlformats.org/drawingml/2006/main">
            <a:off x="552450" y="4095750"/>
            <a:ext cx="1809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3F3F3F"/>
                </a:solidFill>
                <a:latin typeface="Yu Gothic"/>
                <a:ea typeface="Yu Gothic"/>
                <a:cs typeface="Yu Gothic"/>
              </a:defRPr>
            </a:pPr>
            <a:r>
              <a:rPr sz="1275" b="1" i="0">
                <a:solidFill>
                  <a:srgbClr val="3F3F3F"/>
                </a:solidFill>
                <a:latin typeface="Yu Gothic"/>
                <a:ea typeface="Yu Gothic"/>
                <a:cs typeface="Yu Gothic"/>
              </a:rPr>
              <a:t>状態・観測分布</a:t>
            </a:r>
          </a:p>
        </p:txBody>
      </p:sp>
      <p:sp>
        <p:nvSpPr>
          <p:cNvPr id="38" name="">
            <a:extLst xmlns:a="http://schemas.openxmlformats.org/drawingml/2006/main">
              <a:ext uri="{FF2B5EF4-FFF2-40B4-BE49-F238E27FC236}">
                <a16:creationId xmlns:a16="http://schemas.microsoft.com/office/drawing/2014/main" id="{9110B167-A1E1-4C7E-A0FD-9985B5824DCF}"/>
              </a:ext>
            </a:extLst>
          </p:cNvPr>
          <p:cNvSpPr>
            <a:spLocks xmlns:a="http://schemas.openxmlformats.org/drawingml/2006/main" noGrp="1"/>
          </p:cNvSpPr>
          <p:nvPr/>
        </p:nvSpPr>
        <p:spPr>
          <a:xfrm xmlns:a="http://schemas.openxmlformats.org/drawingml/2006/main">
            <a:off x="2381250" y="4029075"/>
            <a:ext cx="714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725" b="1" i="0">
                <a:solidFill>
                  <a:srgbClr val="3F3F3F"/>
                </a:solidFill>
                <a:latin typeface="Cambria Math"/>
                <a:ea typeface="Cambria Math"/>
                <a:cs typeface="Cambria Math"/>
              </a:defRPr>
            </a:pPr>
            <a:r>
              <a:rPr sz="1725" b="1" i="0">
                <a:solidFill>
                  <a:srgbClr val="3F3F3F"/>
                </a:solidFill>
                <a:latin typeface="Cambria Math"/>
                <a:ea typeface="Cambria Math"/>
                <a:cs typeface="Cambria Math"/>
              </a:rPr>
              <a:t>xₖ ∼ N(x̂ₖ, Pₖ),     ŷₖ = Hx̂ₖ,     Σy,ₖ = HPₖHᵀ + R</a:t>
            </a:r>
          </a:p>
        </p:txBody>
      </p:sp>
      <p:sp>
        <p:nvSpPr>
          <p:cNvPr id="39" name="">
            <a:extLst xmlns:a="http://schemas.openxmlformats.org/drawingml/2006/main">
              <a:ext uri="{FF2B5EF4-FFF2-40B4-BE49-F238E27FC236}">
                <a16:creationId xmlns:a16="http://schemas.microsoft.com/office/drawing/2014/main" id="{0BFDD7DD-6FF9-40F3-B338-9181C76B9AAE}"/>
              </a:ext>
            </a:extLst>
          </p:cNvPr>
          <p:cNvSpPr>
            <a:spLocks xmlns:a="http://schemas.openxmlformats.org/drawingml/2006/main" noGrp="1"/>
          </p:cNvSpPr>
          <p:nvPr/>
        </p:nvSpPr>
        <p:spPr>
          <a:xfrm xmlns:a="http://schemas.openxmlformats.org/drawingml/2006/main">
            <a:off x="552450" y="4476750"/>
            <a:ext cx="11087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Pは初期状態・process noise・sensor noiseを伝播。parameter uncertaintyとmodel discrepancyは別途ensemble/校正で加える。</a:t>
            </a:r>
          </a:p>
        </p:txBody>
      </p:sp>
      <p:sp>
        <p:nvSpPr>
          <p:cNvPr id="40" name="">
            <a:extLst xmlns:a="http://schemas.openxmlformats.org/drawingml/2006/main">
              <a:ext uri="{FF2B5EF4-FFF2-40B4-BE49-F238E27FC236}">
                <a16:creationId xmlns:a16="http://schemas.microsoft.com/office/drawing/2014/main" id="{889D4E0E-D87F-4464-98B5-AD0143789FEB}"/>
              </a:ext>
            </a:extLst>
          </p:cNvPr>
          <p:cNvSpPr>
            <a:spLocks xmlns:a="http://schemas.openxmlformats.org/drawingml/2006/main" noGrp="1"/>
          </p:cNvSpPr>
          <p:nvPr/>
        </p:nvSpPr>
        <p:spPr>
          <a:xfrm xmlns:a="http://schemas.openxmlformats.org/drawingml/2006/main">
            <a:off x="552450" y="5057775"/>
            <a:ext cx="2581275" cy="8667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41" name="">
            <a:extLst xmlns:a="http://schemas.openxmlformats.org/drawingml/2006/main">
              <a:ext uri="{FF2B5EF4-FFF2-40B4-BE49-F238E27FC236}">
                <a16:creationId xmlns:a16="http://schemas.microsoft.com/office/drawing/2014/main" id="{F5104B9C-6348-4C24-83CA-357D0DC98C24}"/>
              </a:ext>
            </a:extLst>
          </p:cNvPr>
          <p:cNvSpPr>
            <a:spLocks xmlns:a="http://schemas.openxmlformats.org/drawingml/2006/main" noGrp="1"/>
          </p:cNvSpPr>
          <p:nvPr/>
        </p:nvSpPr>
        <p:spPr>
          <a:xfrm xmlns:a="http://schemas.openxmlformats.org/drawingml/2006/main">
            <a:off x="704850" y="5181600"/>
            <a:ext cx="723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00A5D8"/>
                </a:solidFill>
                <a:latin typeface="Yu Gothic"/>
                <a:ea typeface="Yu Gothic"/>
                <a:cs typeface="Yu Gothic"/>
              </a:defRPr>
            </a:pPr>
            <a:r>
              <a:rPr sz="900" b="1" i="0">
                <a:solidFill>
                  <a:srgbClr val="00A5D8"/>
                </a:solidFill>
                <a:latin typeface="Yu Gothic"/>
                <a:ea typeface="Yu Gothic"/>
                <a:cs typeface="Yu Gothic"/>
              </a:rPr>
              <a:t>cutoff</a:t>
            </a:r>
          </a:p>
        </p:txBody>
      </p:sp>
      <p:sp>
        <p:nvSpPr>
          <p:cNvPr id="42" name="">
            <a:extLst xmlns:a="http://schemas.openxmlformats.org/drawingml/2006/main">
              <a:ext uri="{FF2B5EF4-FFF2-40B4-BE49-F238E27FC236}">
                <a16:creationId xmlns:a16="http://schemas.microsoft.com/office/drawing/2014/main" id="{48895213-47CC-46E8-A16C-2B5B2D12F2AA}"/>
              </a:ext>
            </a:extLst>
          </p:cNvPr>
          <p:cNvSpPr>
            <a:spLocks xmlns:a="http://schemas.openxmlformats.org/drawingml/2006/main" noGrp="1"/>
          </p:cNvSpPr>
          <p:nvPr/>
        </p:nvSpPr>
        <p:spPr>
          <a:xfrm xmlns:a="http://schemas.openxmlformats.org/drawingml/2006/main">
            <a:off x="704850" y="5448300"/>
            <a:ext cx="22764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各case固有のHを保存</a:t>
            </a:r>
          </a:p>
        </p:txBody>
      </p:sp>
      <p:sp>
        <p:nvSpPr>
          <p:cNvPr id="43" name="">
            <a:extLst xmlns:a="http://schemas.openxmlformats.org/drawingml/2006/main">
              <a:ext uri="{FF2B5EF4-FFF2-40B4-BE49-F238E27FC236}">
                <a16:creationId xmlns:a16="http://schemas.microsoft.com/office/drawing/2014/main" id="{18B76B4B-D194-4EF8-928C-3E5489B5A702}"/>
              </a:ext>
            </a:extLst>
          </p:cNvPr>
          <p:cNvSpPr>
            <a:spLocks xmlns:a="http://schemas.openxmlformats.org/drawingml/2006/main" noGrp="1"/>
          </p:cNvSpPr>
          <p:nvPr/>
        </p:nvSpPr>
        <p:spPr>
          <a:xfrm xmlns:a="http://schemas.openxmlformats.org/drawingml/2006/main">
            <a:off x="3324225" y="5057775"/>
            <a:ext cx="2581275" cy="8667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44" name="">
            <a:extLst xmlns:a="http://schemas.openxmlformats.org/drawingml/2006/main">
              <a:ext uri="{FF2B5EF4-FFF2-40B4-BE49-F238E27FC236}">
                <a16:creationId xmlns:a16="http://schemas.microsoft.com/office/drawing/2014/main" id="{F232B90E-6E5D-4B71-8086-DD915C1460D5}"/>
              </a:ext>
            </a:extLst>
          </p:cNvPr>
          <p:cNvSpPr>
            <a:spLocks xmlns:a="http://schemas.openxmlformats.org/drawingml/2006/main" noGrp="1"/>
          </p:cNvSpPr>
          <p:nvPr/>
        </p:nvSpPr>
        <p:spPr>
          <a:xfrm xmlns:a="http://schemas.openxmlformats.org/drawingml/2006/main">
            <a:off x="3476625" y="5181600"/>
            <a:ext cx="723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76BE18"/>
                </a:solidFill>
                <a:latin typeface="Yu Gothic"/>
                <a:ea typeface="Yu Gothic"/>
                <a:cs typeface="Yu Gothic"/>
              </a:defRPr>
            </a:pPr>
            <a:r>
              <a:rPr sz="900" b="1" i="0">
                <a:solidFill>
                  <a:srgbClr val="76BE18"/>
                </a:solidFill>
                <a:latin typeface="Yu Gothic"/>
                <a:ea typeface="Yu Gothic"/>
                <a:cs typeface="Yu Gothic"/>
              </a:rPr>
              <a:t>input</a:t>
            </a:r>
          </a:p>
        </p:txBody>
      </p:sp>
      <p:sp>
        <p:nvSpPr>
          <p:cNvPr id="45" name="">
            <a:extLst xmlns:a="http://schemas.openxmlformats.org/drawingml/2006/main">
              <a:ext uri="{FF2B5EF4-FFF2-40B4-BE49-F238E27FC236}">
                <a16:creationId xmlns:a16="http://schemas.microsoft.com/office/drawing/2014/main" id="{EB8ED771-F7F7-4E6D-BF53-37C984BFA008}"/>
              </a:ext>
            </a:extLst>
          </p:cNvPr>
          <p:cNvSpPr>
            <a:spLocks xmlns:a="http://schemas.openxmlformats.org/drawingml/2006/main" noGrp="1"/>
          </p:cNvSpPr>
          <p:nvPr/>
        </p:nvSpPr>
        <p:spPr>
          <a:xfrm xmlns:a="http://schemas.openxmlformats.org/drawingml/2006/main">
            <a:off x="3476625" y="5448300"/>
            <a:ext cx="22764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left zero-order hold</a:t>
            </a:r>
          </a:p>
        </p:txBody>
      </p:sp>
      <p:sp>
        <p:nvSpPr>
          <p:cNvPr id="46" name="">
            <a:extLst xmlns:a="http://schemas.openxmlformats.org/drawingml/2006/main">
              <a:ext uri="{FF2B5EF4-FFF2-40B4-BE49-F238E27FC236}">
                <a16:creationId xmlns:a16="http://schemas.microsoft.com/office/drawing/2014/main" id="{96224DD2-CC9D-40C0-BB72-61F76D6C2735}"/>
              </a:ext>
            </a:extLst>
          </p:cNvPr>
          <p:cNvSpPr>
            <a:spLocks xmlns:a="http://schemas.openxmlformats.org/drawingml/2006/main" noGrp="1"/>
          </p:cNvSpPr>
          <p:nvPr/>
        </p:nvSpPr>
        <p:spPr>
          <a:xfrm xmlns:a="http://schemas.openxmlformats.org/drawingml/2006/main">
            <a:off x="6096000" y="5057775"/>
            <a:ext cx="2581275" cy="8667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47" name="">
            <a:extLst xmlns:a="http://schemas.openxmlformats.org/drawingml/2006/main">
              <a:ext uri="{FF2B5EF4-FFF2-40B4-BE49-F238E27FC236}">
                <a16:creationId xmlns:a16="http://schemas.microsoft.com/office/drawing/2014/main" id="{28BFE849-3390-4C28-8C4D-A97AC6769515}"/>
              </a:ext>
            </a:extLst>
          </p:cNvPr>
          <p:cNvSpPr>
            <a:spLocks xmlns:a="http://schemas.openxmlformats.org/drawingml/2006/main" noGrp="1"/>
          </p:cNvSpPr>
          <p:nvPr/>
        </p:nvSpPr>
        <p:spPr>
          <a:xfrm xmlns:a="http://schemas.openxmlformats.org/drawingml/2006/main">
            <a:off x="6248400" y="5181600"/>
            <a:ext cx="723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7B2DAF"/>
                </a:solidFill>
                <a:latin typeface="Yu Gothic"/>
                <a:ea typeface="Yu Gothic"/>
                <a:cs typeface="Yu Gothic"/>
              </a:defRPr>
            </a:pPr>
            <a:r>
              <a:rPr sz="900" b="1" i="0">
                <a:solidFill>
                  <a:srgbClr val="7B2DAF"/>
                </a:solidFill>
                <a:latin typeface="Yu Gothic"/>
                <a:ea typeface="Yu Gothic"/>
                <a:cs typeface="Yu Gothic"/>
              </a:rPr>
              <a:t>missing</a:t>
            </a:r>
          </a:p>
        </p:txBody>
      </p:sp>
      <p:sp>
        <p:nvSpPr>
          <p:cNvPr id="48" name="">
            <a:extLst xmlns:a="http://schemas.openxmlformats.org/drawingml/2006/main">
              <a:ext uri="{FF2B5EF4-FFF2-40B4-BE49-F238E27FC236}">
                <a16:creationId xmlns:a16="http://schemas.microsoft.com/office/drawing/2014/main" id="{6C1FDB07-6163-470F-913F-70DA32B3E76E}"/>
              </a:ext>
            </a:extLst>
          </p:cNvPr>
          <p:cNvSpPr>
            <a:spLocks xmlns:a="http://schemas.openxmlformats.org/drawingml/2006/main" noGrp="1"/>
          </p:cNvSpPr>
          <p:nvPr/>
        </p:nvSpPr>
        <p:spPr>
          <a:xfrm xmlns:a="http://schemas.openxmlformats.org/drawingml/2006/main">
            <a:off x="6248400" y="5448300"/>
            <a:ext cx="22764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maskで観測行を縮約</a:t>
            </a:r>
          </a:p>
        </p:txBody>
      </p:sp>
      <p:sp>
        <p:nvSpPr>
          <p:cNvPr id="49" name="">
            <a:extLst xmlns:a="http://schemas.openxmlformats.org/drawingml/2006/main">
              <a:ext uri="{FF2B5EF4-FFF2-40B4-BE49-F238E27FC236}">
                <a16:creationId xmlns:a16="http://schemas.microsoft.com/office/drawing/2014/main" id="{3011E1A7-148E-4EAE-911F-6E3B4FC0D817}"/>
              </a:ext>
            </a:extLst>
          </p:cNvPr>
          <p:cNvSpPr>
            <a:spLocks xmlns:a="http://schemas.openxmlformats.org/drawingml/2006/main" noGrp="1"/>
          </p:cNvSpPr>
          <p:nvPr/>
        </p:nvSpPr>
        <p:spPr>
          <a:xfrm xmlns:a="http://schemas.openxmlformats.org/drawingml/2006/main">
            <a:off x="8867775" y="5057775"/>
            <a:ext cx="2581275" cy="8667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50" name="">
            <a:extLst xmlns:a="http://schemas.openxmlformats.org/drawingml/2006/main">
              <a:ext uri="{FF2B5EF4-FFF2-40B4-BE49-F238E27FC236}">
                <a16:creationId xmlns:a16="http://schemas.microsoft.com/office/drawing/2014/main" id="{E99D1D62-71BC-41C4-BBAC-E43815653F4F}"/>
              </a:ext>
            </a:extLst>
          </p:cNvPr>
          <p:cNvSpPr>
            <a:spLocks xmlns:a="http://schemas.openxmlformats.org/drawingml/2006/main" noGrp="1"/>
          </p:cNvSpPr>
          <p:nvPr/>
        </p:nvSpPr>
        <p:spPr>
          <a:xfrm xmlns:a="http://schemas.openxmlformats.org/drawingml/2006/main">
            <a:off x="9020175" y="5181600"/>
            <a:ext cx="723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E5A900"/>
                </a:solidFill>
                <a:latin typeface="Yu Gothic"/>
                <a:ea typeface="Yu Gothic"/>
                <a:cs typeface="Yu Gothic"/>
              </a:defRPr>
            </a:pPr>
            <a:r>
              <a:rPr sz="900" b="1" i="0">
                <a:solidFill>
                  <a:srgbClr val="E5A900"/>
                </a:solidFill>
                <a:latin typeface="Yu Gothic"/>
                <a:ea typeface="Yu Gothic"/>
                <a:cs typeface="Yu Gothic"/>
              </a:rPr>
              <a:t>report</a:t>
            </a:r>
          </a:p>
        </p:txBody>
      </p:sp>
      <p:sp>
        <p:nvSpPr>
          <p:cNvPr id="51" name="">
            <a:extLst xmlns:a="http://schemas.openxmlformats.org/drawingml/2006/main">
              <a:ext uri="{FF2B5EF4-FFF2-40B4-BE49-F238E27FC236}">
                <a16:creationId xmlns:a16="http://schemas.microsoft.com/office/drawing/2014/main" id="{A4CBA397-D1D8-4ABC-BC31-B46D4B5E51FE}"/>
              </a:ext>
            </a:extLst>
          </p:cNvPr>
          <p:cNvSpPr>
            <a:spLocks xmlns:a="http://schemas.openxmlformats.org/drawingml/2006/main" noGrp="1"/>
          </p:cNvSpPr>
          <p:nvPr/>
        </p:nvSpPr>
        <p:spPr>
          <a:xfrm xmlns:a="http://schemas.openxmlformats.org/drawingml/2006/main">
            <a:off x="9020175" y="5448300"/>
            <a:ext cx="22764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mean / worst / phaseを併記</a:t>
            </a:r>
          </a:p>
        </p:txBody>
      </p:sp>
      <p:sp>
        <p:nvSpPr>
          <p:cNvPr id="52" name="">
            <a:extLst xmlns:a="http://schemas.openxmlformats.org/drawingml/2006/main">
              <a:ext uri="{FF2B5EF4-FFF2-40B4-BE49-F238E27FC236}">
                <a16:creationId xmlns:a16="http://schemas.microsoft.com/office/drawing/2014/main" id="{8877351A-26E9-48A2-9141-CDC776D5120D}"/>
              </a:ext>
            </a:extLst>
          </p:cNvPr>
          <p:cNvSpPr>
            <a:spLocks xmlns:a="http://schemas.openxmlformats.org/drawingml/2006/main" noGrp="1"/>
          </p:cNvSpPr>
          <p:nvPr/>
        </p:nvSpPr>
        <p:spPr>
          <a:xfrm xmlns:a="http://schemas.openxmlformats.org/drawingml/2006/main">
            <a:off x="552450" y="6076950"/>
            <a:ext cx="11087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63" b="1" i="0">
                <a:solidFill>
                  <a:srgbClr val="C4493D"/>
                </a:solidFill>
                <a:latin typeface="Yu Gothic"/>
                <a:ea typeface="Yu Gothic"/>
                <a:cs typeface="Yu Gothic"/>
              </a:defRPr>
            </a:pPr>
            <a:r>
              <a:rPr sz="863" b="1" i="0">
                <a:solidFill>
                  <a:srgbClr val="C4493D"/>
                </a:solidFill>
                <a:latin typeface="Yu Gothic"/>
                <a:ea typeface="Yu Gothic"/>
                <a:cs typeface="Yu Gothic"/>
              </a:rPr>
              <a:t>禁止事項：全trajectoryで初期状態を最適化してからsuffix誤差を測る — 未来情報のleakageになる。</a:t>
            </a:r>
          </a:p>
        </p:txBody>
      </p:sp>
    </p:spTree>
    <p:extLst>
      <p:ext uri="{BB962C8B-B14F-4D97-AF65-F5344CB8AC3E}">
        <p14:creationId xmlns:p14="http://schemas.microsoft.com/office/powerpoint/2010/main" val="165484444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984419FD-5162-463D-9454-5D09931FC0ED}"/>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1B2BA70-8903-4968-8E4E-E9C2F30A326B}"/>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STATE MONITORING</a:t>
            </a:r>
          </a:p>
        </p:txBody>
      </p:sp>
      <p:sp>
        <p:nvSpPr>
          <p:cNvPr id="3" name="">
            <a:extLst xmlns:a="http://schemas.openxmlformats.org/drawingml/2006/main">
              <a:ext uri="{FF2B5EF4-FFF2-40B4-BE49-F238E27FC236}">
                <a16:creationId xmlns:a16="http://schemas.microsoft.com/office/drawing/2014/main" id="{BFEB7CB8-9EB8-40FD-A295-64C6F0BDD904}"/>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温度・未知熱・相対sensor biasを拡張状態として推定し、innovationを診断量にする</a:t>
            </a:r>
          </a:p>
        </p:txBody>
      </p:sp>
      <p:sp>
        <p:nvSpPr>
          <p:cNvPr id="4" name="">
            <a:extLst xmlns:a="http://schemas.openxmlformats.org/drawingml/2006/main">
              <a:ext uri="{FF2B5EF4-FFF2-40B4-BE49-F238E27FC236}">
                <a16:creationId xmlns:a16="http://schemas.microsoft.com/office/drawing/2014/main" id="{DDD75D69-F996-40F1-84B7-B662FCC06B61}"/>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故障名を直接分類するのではなく、物理的に解釈できる偏差channelへ分解する</a:t>
            </a:r>
          </a:p>
        </p:txBody>
      </p:sp>
      <p:sp>
        <p:nvSpPr>
          <p:cNvPr id="5" name="">
            <a:extLst xmlns:a="http://schemas.openxmlformats.org/drawingml/2006/main">
              <a:ext uri="{FF2B5EF4-FFF2-40B4-BE49-F238E27FC236}">
                <a16:creationId xmlns:a16="http://schemas.microsoft.com/office/drawing/2014/main" id="{A5B9D27B-E105-441B-BFAD-815C4C0760DA}"/>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0E8E7601-B4B5-406D-BC9C-E6618E0270A5}"/>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92FB63E3-D679-4895-B6AE-9CC10C1007F6}"/>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229AC0FC-6230-4E6D-B67C-B74C0C461362}"/>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20</a:t>
            </a:r>
          </a:p>
        </p:txBody>
      </p:sp>
      <p:sp>
        <p:nvSpPr>
          <p:cNvPr id="9" name="">
            <a:extLst xmlns:a="http://schemas.openxmlformats.org/drawingml/2006/main">
              <a:ext uri="{FF2B5EF4-FFF2-40B4-BE49-F238E27FC236}">
                <a16:creationId xmlns:a16="http://schemas.microsoft.com/office/drawing/2014/main" id="{8F144344-5EC0-48A8-A0F2-BEEA88072310}"/>
              </a:ext>
            </a:extLst>
          </p:cNvPr>
          <p:cNvSpPr>
            <a:spLocks xmlns:a="http://schemas.openxmlformats.org/drawingml/2006/main" noGrp="1"/>
          </p:cNvSpPr>
          <p:nvPr/>
        </p:nvSpPr>
        <p:spPr>
          <a:xfrm xmlns:a="http://schemas.openxmlformats.org/drawingml/2006/main">
            <a:off x="552450" y="1438275"/>
            <a:ext cx="3067050" cy="223837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480F008-8BA4-4693-AAF5-6430EA42ADEC}"/>
              </a:ext>
            </a:extLst>
          </p:cNvPr>
          <p:cNvSpPr>
            <a:spLocks xmlns:a="http://schemas.openxmlformats.org/drawingml/2006/main" noGrp="1"/>
          </p:cNvSpPr>
          <p:nvPr/>
        </p:nvSpPr>
        <p:spPr>
          <a:xfrm xmlns:a="http://schemas.openxmlformats.org/drawingml/2006/main">
            <a:off x="762000" y="16192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76BE18"/>
                </a:solidFill>
                <a:latin typeface="Yu Gothic"/>
                <a:ea typeface="Yu Gothic"/>
                <a:cs typeface="Yu Gothic"/>
              </a:defRPr>
            </a:pPr>
            <a:r>
              <a:rPr sz="1050" b="1" i="0">
                <a:solidFill>
                  <a:srgbClr val="76BE18"/>
                </a:solidFill>
                <a:latin typeface="Yu Gothic"/>
                <a:ea typeface="Yu Gothic"/>
                <a:cs typeface="Yu Gothic"/>
              </a:rPr>
              <a:t>augmented state</a:t>
            </a:r>
          </a:p>
        </p:txBody>
      </p:sp>
      <p:sp>
        <p:nvSpPr>
          <p:cNvPr id="11" name="">
            <a:extLst xmlns:a="http://schemas.openxmlformats.org/drawingml/2006/main">
              <a:ext uri="{FF2B5EF4-FFF2-40B4-BE49-F238E27FC236}">
                <a16:creationId xmlns:a16="http://schemas.microsoft.com/office/drawing/2014/main" id="{098DF503-24D2-4C82-82AA-F91F114B6DBE}"/>
              </a:ext>
            </a:extLst>
          </p:cNvPr>
          <p:cNvSpPr>
            <a:spLocks xmlns:a="http://schemas.openxmlformats.org/drawingml/2006/main" noGrp="1"/>
          </p:cNvSpPr>
          <p:nvPr/>
        </p:nvSpPr>
        <p:spPr>
          <a:xfrm xmlns:a="http://schemas.openxmlformats.org/drawingml/2006/main">
            <a:off x="762000" y="2019300"/>
            <a:ext cx="26479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2250" b="1" i="0">
                <a:solidFill>
                  <a:srgbClr val="FFFFFF"/>
                </a:solidFill>
                <a:latin typeface="Cambria Math"/>
                <a:ea typeface="Cambria Math"/>
                <a:cs typeface="Cambria Math"/>
              </a:defRPr>
            </a:pPr>
            <a:r>
              <a:rPr sz="2250" b="1" i="0">
                <a:solidFill>
                  <a:srgbClr val="FFFFFF"/>
                </a:solidFill>
                <a:latin typeface="Cambria Math"/>
                <a:ea typeface="Cambria Math"/>
                <a:cs typeface="Cambria Math"/>
              </a:rPr>
              <a:t>z = [T; d; β]</a:t>
            </a:r>
          </a:p>
        </p:txBody>
      </p:sp>
      <p:sp>
        <p:nvSpPr>
          <p:cNvPr id="12" name="">
            <a:extLst xmlns:a="http://schemas.openxmlformats.org/drawingml/2006/main">
              <a:ext uri="{FF2B5EF4-FFF2-40B4-BE49-F238E27FC236}">
                <a16:creationId xmlns:a16="http://schemas.microsoft.com/office/drawing/2014/main" id="{EB0DBFFA-CF3A-44A6-AF4D-1BE47B77EB9C}"/>
              </a:ext>
            </a:extLst>
          </p:cNvPr>
          <p:cNvSpPr>
            <a:spLocks xmlns:a="http://schemas.openxmlformats.org/drawingml/2006/main" noGrp="1"/>
          </p:cNvSpPr>
          <p:nvPr/>
        </p:nvSpPr>
        <p:spPr>
          <a:xfrm xmlns:a="http://schemas.openxmlformats.org/drawingml/2006/main">
            <a:off x="847725" y="2647950"/>
            <a:ext cx="2476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8000"/>
              </a:lnSpc>
              <a:buNone/>
              <a:defRPr sz="975" b="0" i="0">
                <a:solidFill>
                  <a:srgbClr val="DCD5EA"/>
                </a:solidFill>
                <a:latin typeface="Yu Gothic"/>
                <a:ea typeface="Yu Gothic"/>
                <a:cs typeface="Yu Gothic"/>
              </a:defRPr>
            </a:pPr>
            <a:r>
              <a:rPr sz="975" b="0" i="0">
                <a:solidFill>
                  <a:srgbClr val="DCD5EA"/>
                </a:solidFill>
                <a:latin typeface="Yu Gothic"/>
                <a:ea typeface="Yu Gothic"/>
                <a:cs typeface="Yu Gothic"/>
              </a:rPr>
              <a:t>T  physical temperature</a:t>
            </a:r>
          </a:p>
          <a:p xmlns:a="http://schemas.openxmlformats.org/drawingml/2006/main">
            <a:pPr algn="l">
              <a:lnSpc>
                <a:spcPct val="118000"/>
              </a:lnSpc>
              <a:buNone/>
              <a:defRPr sz="975" b="0" i="0">
                <a:solidFill>
                  <a:srgbClr val="DCD5EA"/>
                </a:solidFill>
                <a:latin typeface="Yu Gothic"/>
                <a:ea typeface="Yu Gothic"/>
                <a:cs typeface="Yu Gothic"/>
              </a:defRPr>
            </a:pPr>
            <a:r>
              <a:rPr sz="975" b="0" i="0">
                <a:solidFill>
                  <a:srgbClr val="DCD5EA"/>
                </a:solidFill>
                <a:latin typeface="Yu Gothic"/>
                <a:ea typeface="Yu Gothic"/>
                <a:cs typeface="Yu Gothic"/>
              </a:rPr>
              <a:t>d  unknown heat [W]</a:t>
            </a:r>
          </a:p>
          <a:p xmlns:a="http://schemas.openxmlformats.org/drawingml/2006/main">
            <a:pPr algn="l">
              <a:lnSpc>
                <a:spcPct val="118000"/>
              </a:lnSpc>
              <a:buNone/>
              <a:defRPr sz="975" b="0" i="0">
                <a:solidFill>
                  <a:srgbClr val="DCD5EA"/>
                </a:solidFill>
                <a:latin typeface="Yu Gothic"/>
                <a:ea typeface="Yu Gothic"/>
                <a:cs typeface="Yu Gothic"/>
              </a:defRPr>
            </a:pPr>
            <a:r>
              <a:rPr sz="975" b="0" i="0">
                <a:solidFill>
                  <a:srgbClr val="DCD5EA"/>
                </a:solidFill>
                <a:latin typeface="Yu Gothic"/>
                <a:ea typeface="Yu Gothic"/>
                <a:cs typeface="Yu Gothic"/>
              </a:rPr>
              <a:t>β  identifiable relative bias [K]</a:t>
            </a:r>
          </a:p>
        </p:txBody>
      </p:sp>
      <p:sp>
        <p:nvSpPr>
          <p:cNvPr id="13" name="">
            <a:extLst xmlns:a="http://schemas.openxmlformats.org/drawingml/2006/main">
              <a:ext uri="{FF2B5EF4-FFF2-40B4-BE49-F238E27FC236}">
                <a16:creationId xmlns:a16="http://schemas.microsoft.com/office/drawing/2014/main" id="{80BE3A11-A1C5-45D1-928B-2D5CB9100184}"/>
              </a:ext>
            </a:extLst>
          </p:cNvPr>
          <p:cNvSpPr>
            <a:spLocks xmlns:a="http://schemas.openxmlformats.org/drawingml/2006/main" noGrp="1"/>
          </p:cNvSpPr>
          <p:nvPr/>
        </p:nvSpPr>
        <p:spPr>
          <a:xfrm xmlns:a="http://schemas.openxmlformats.org/drawingml/2006/main">
            <a:off x="4162425" y="1666875"/>
            <a:ext cx="1885950" cy="800100"/>
          </a:xfrm>
          <a:prstGeom xmlns:a="http://schemas.openxmlformats.org/drawingml/2006/main" prst="rect">
            <a:avLst/>
          </a:prstGeom>
          <a:solidFill xmlns:a="http://schemas.openxmlformats.org/drawingml/2006/main">
            <a:srgbClr val="E5F6FB"/>
          </a:solidFill>
          <a:ln xmlns:a="http://schemas.openxmlformats.org/drawingml/2006/main" w="19050">
            <a:solidFill>
              <a:srgbClr val="00A5D8"/>
            </a:solidFill>
            <a:prstDash val="solid"/>
          </a:ln>
        </p:spPr>
      </p:sp>
      <p:sp>
        <p:nvSpPr>
          <p:cNvPr id="14" name="">
            <a:extLst xmlns:a="http://schemas.openxmlformats.org/drawingml/2006/main">
              <a:ext uri="{FF2B5EF4-FFF2-40B4-BE49-F238E27FC236}">
                <a16:creationId xmlns:a16="http://schemas.microsoft.com/office/drawing/2014/main" id="{4BBC8131-82E0-49E5-A6E2-A1B0451D50A6}"/>
              </a:ext>
            </a:extLst>
          </p:cNvPr>
          <p:cNvSpPr>
            <a:spLocks xmlns:a="http://schemas.openxmlformats.org/drawingml/2006/main" noGrp="1"/>
          </p:cNvSpPr>
          <p:nvPr/>
        </p:nvSpPr>
        <p:spPr>
          <a:xfrm xmlns:a="http://schemas.openxmlformats.org/drawingml/2006/main">
            <a:off x="4324350" y="1781175"/>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8039"/>
          </a:bodyPr>
          <a:lstStyle xmlns:a="http://schemas.openxmlformats.org/drawingml/2006/main"/>
          <a:p xmlns:a="http://schemas.openxmlformats.org/drawingml/2006/main">
            <a:pPr algn="ctr">
              <a:lnSpc>
                <a:spcPct val="100000"/>
              </a:lnSpc>
              <a:buNone/>
              <a:defRPr sz="1275" b="1" i="0">
                <a:solidFill>
                  <a:srgbClr val="007FA8"/>
                </a:solidFill>
                <a:latin typeface="Yu Gothic"/>
                <a:ea typeface="Yu Gothic"/>
                <a:cs typeface="Yu Gothic"/>
              </a:defRPr>
            </a:pPr>
            <a:r>
              <a:rPr sz="1275" b="1" i="0">
                <a:solidFill>
                  <a:srgbClr val="007FA8"/>
                </a:solidFill>
                <a:latin typeface="Yu Gothic"/>
                <a:ea typeface="Yu Gothic"/>
                <a:cs typeface="Yu Gothic"/>
              </a:rPr>
              <a:t>predict</a:t>
            </a:r>
          </a:p>
        </p:txBody>
      </p:sp>
      <p:sp>
        <p:nvSpPr>
          <p:cNvPr id="15" name="">
            <a:extLst xmlns:a="http://schemas.openxmlformats.org/drawingml/2006/main">
              <a:ext uri="{FF2B5EF4-FFF2-40B4-BE49-F238E27FC236}">
                <a16:creationId xmlns:a16="http://schemas.microsoft.com/office/drawing/2014/main" id="{0A7526C3-2A5F-46DF-A974-5EA51FFDE47B}"/>
              </a:ext>
            </a:extLst>
          </p:cNvPr>
          <p:cNvSpPr>
            <a:spLocks xmlns:a="http://schemas.openxmlformats.org/drawingml/2006/main" noGrp="1"/>
          </p:cNvSpPr>
          <p:nvPr/>
        </p:nvSpPr>
        <p:spPr>
          <a:xfrm xmlns:a="http://schemas.openxmlformats.org/drawingml/2006/main">
            <a:off x="4324350" y="2076450"/>
            <a:ext cx="1562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0909"/>
          </a:bodyPr>
          <a:lstStyle xmlns:a="http://schemas.openxmlformats.org/drawingml/2006/main"/>
          <a:p xmlns:a="http://schemas.openxmlformats.org/drawingml/2006/main">
            <a:pPr algn="ctr">
              <a:lnSpc>
                <a:spcPct val="100000"/>
              </a:lnSpc>
              <a:buNone/>
              <a:defRPr sz="1650" b="0" i="0">
                <a:solidFill>
                  <a:srgbClr val="3F3F3F"/>
                </a:solidFill>
                <a:latin typeface="Cambria Math"/>
                <a:ea typeface="Cambria Math"/>
                <a:cs typeface="Cambria Math"/>
              </a:defRPr>
            </a:pPr>
            <a:r>
              <a:rPr sz="1650" b="0" i="0">
                <a:solidFill>
                  <a:srgbClr val="3F3F3F"/>
                </a:solidFill>
                <a:latin typeface="Cambria Math"/>
                <a:ea typeface="Cambria Math"/>
                <a:cs typeface="Cambria Math"/>
              </a:rPr>
              <a:t>z⁻, P⁻</a:t>
            </a:r>
          </a:p>
        </p:txBody>
      </p:sp>
      <p:sp>
        <p:nvSpPr>
          <p:cNvPr id="16" name="">
            <a:extLst xmlns:a="http://schemas.openxmlformats.org/drawingml/2006/main">
              <a:ext uri="{FF2B5EF4-FFF2-40B4-BE49-F238E27FC236}">
                <a16:creationId xmlns:a16="http://schemas.microsoft.com/office/drawing/2014/main" id="{0AE58E91-BBE2-4F4A-8489-98FACE48D5BE}"/>
              </a:ext>
            </a:extLst>
          </p:cNvPr>
          <p:cNvSpPr>
            <a:spLocks xmlns:a="http://schemas.openxmlformats.org/drawingml/2006/main" noGrp="1"/>
          </p:cNvSpPr>
          <p:nvPr/>
        </p:nvSpPr>
        <p:spPr>
          <a:xfrm xmlns:a="http://schemas.openxmlformats.org/drawingml/2006/main">
            <a:off x="6629400" y="1666875"/>
            <a:ext cx="1885950" cy="800100"/>
          </a:xfrm>
          <a:prstGeom xmlns:a="http://schemas.openxmlformats.org/drawingml/2006/main" prst="rect">
            <a:avLst/>
          </a:prstGeom>
          <a:solidFill xmlns:a="http://schemas.openxmlformats.org/drawingml/2006/main">
            <a:srgbClr val="FFF5D7"/>
          </a:solidFill>
          <a:ln xmlns:a="http://schemas.openxmlformats.org/drawingml/2006/main" w="19050">
            <a:solidFill>
              <a:srgbClr val="E5A900"/>
            </a:solidFill>
            <a:prstDash val="solid"/>
          </a:ln>
        </p:spPr>
      </p:sp>
      <p:sp>
        <p:nvSpPr>
          <p:cNvPr id="17" name="">
            <a:extLst xmlns:a="http://schemas.openxmlformats.org/drawingml/2006/main">
              <a:ext uri="{FF2B5EF4-FFF2-40B4-BE49-F238E27FC236}">
                <a16:creationId xmlns:a16="http://schemas.microsoft.com/office/drawing/2014/main" id="{1A95551A-0143-4A15-83EA-56625C69161C}"/>
              </a:ext>
            </a:extLst>
          </p:cNvPr>
          <p:cNvSpPr>
            <a:spLocks xmlns:a="http://schemas.openxmlformats.org/drawingml/2006/main" noGrp="1"/>
          </p:cNvSpPr>
          <p:nvPr/>
        </p:nvSpPr>
        <p:spPr>
          <a:xfrm xmlns:a="http://schemas.openxmlformats.org/drawingml/2006/main">
            <a:off x="6791325" y="1781175"/>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8039"/>
          </a:bodyPr>
          <a:lstStyle xmlns:a="http://schemas.openxmlformats.org/drawingml/2006/main"/>
          <a:p xmlns:a="http://schemas.openxmlformats.org/drawingml/2006/main">
            <a:pPr algn="ctr">
              <a:lnSpc>
                <a:spcPct val="100000"/>
              </a:lnSpc>
              <a:buNone/>
              <a:defRPr sz="1275" b="1" i="0">
                <a:solidFill>
                  <a:srgbClr val="806000"/>
                </a:solidFill>
                <a:latin typeface="Yu Gothic"/>
                <a:ea typeface="Yu Gothic"/>
                <a:cs typeface="Yu Gothic"/>
              </a:defRPr>
            </a:pPr>
            <a:r>
              <a:rPr sz="1275" b="1" i="0">
                <a:solidFill>
                  <a:srgbClr val="806000"/>
                </a:solidFill>
                <a:latin typeface="Yu Gothic"/>
                <a:ea typeface="Yu Gothic"/>
                <a:cs typeface="Yu Gothic"/>
              </a:rPr>
              <a:t>innovation</a:t>
            </a:r>
          </a:p>
        </p:txBody>
      </p:sp>
      <p:sp>
        <p:nvSpPr>
          <p:cNvPr id="18" name="">
            <a:extLst xmlns:a="http://schemas.openxmlformats.org/drawingml/2006/main">
              <a:ext uri="{FF2B5EF4-FFF2-40B4-BE49-F238E27FC236}">
                <a16:creationId xmlns:a16="http://schemas.microsoft.com/office/drawing/2014/main" id="{C7F4BE8D-FB22-4847-BA2A-D3849A820400}"/>
              </a:ext>
            </a:extLst>
          </p:cNvPr>
          <p:cNvSpPr>
            <a:spLocks xmlns:a="http://schemas.openxmlformats.org/drawingml/2006/main" noGrp="1"/>
          </p:cNvSpPr>
          <p:nvPr/>
        </p:nvSpPr>
        <p:spPr>
          <a:xfrm xmlns:a="http://schemas.openxmlformats.org/drawingml/2006/main">
            <a:off x="6791325" y="2076450"/>
            <a:ext cx="1562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425" b="0" i="0">
                <a:solidFill>
                  <a:srgbClr val="3F3F3F"/>
                </a:solidFill>
                <a:latin typeface="Cambria Math"/>
                <a:ea typeface="Cambria Math"/>
                <a:cs typeface="Cambria Math"/>
              </a:defRPr>
            </a:pPr>
            <a:r>
              <a:rPr sz="1425" b="0" i="0">
                <a:solidFill>
                  <a:srgbClr val="3F3F3F"/>
                </a:solidFill>
                <a:latin typeface="Cambria Math"/>
                <a:ea typeface="Cambria Math"/>
                <a:cs typeface="Cambria Math"/>
              </a:rPr>
              <a:t>ν = y − Hz⁻</a:t>
            </a:r>
          </a:p>
        </p:txBody>
      </p:sp>
      <p:sp>
        <p:nvSpPr>
          <p:cNvPr id="19" name="">
            <a:extLst xmlns:a="http://schemas.openxmlformats.org/drawingml/2006/main">
              <a:ext uri="{FF2B5EF4-FFF2-40B4-BE49-F238E27FC236}">
                <a16:creationId xmlns:a16="http://schemas.microsoft.com/office/drawing/2014/main" id="{2ECA4D49-A8A0-4F55-B489-4CEFE3AD9C67}"/>
              </a:ext>
            </a:extLst>
          </p:cNvPr>
          <p:cNvSpPr>
            <a:spLocks xmlns:a="http://schemas.openxmlformats.org/drawingml/2006/main" noGrp="1"/>
          </p:cNvSpPr>
          <p:nvPr/>
        </p:nvSpPr>
        <p:spPr>
          <a:xfrm xmlns:a="http://schemas.openxmlformats.org/drawingml/2006/main">
            <a:off x="9096375" y="1666875"/>
            <a:ext cx="1885950" cy="800100"/>
          </a:xfrm>
          <a:prstGeom xmlns:a="http://schemas.openxmlformats.org/drawingml/2006/main" prst="rect">
            <a:avLst/>
          </a:prstGeom>
          <a:solidFill xmlns:a="http://schemas.openxmlformats.org/drawingml/2006/main">
            <a:srgbClr val="EEF7DF"/>
          </a:solidFill>
          <a:ln xmlns:a="http://schemas.openxmlformats.org/drawingml/2006/main" w="19050">
            <a:solidFill>
              <a:srgbClr val="76BE18"/>
            </a:solidFill>
            <a:prstDash val="solid"/>
          </a:ln>
        </p:spPr>
      </p:sp>
      <p:sp>
        <p:nvSpPr>
          <p:cNvPr id="20" name="">
            <a:extLst xmlns:a="http://schemas.openxmlformats.org/drawingml/2006/main">
              <a:ext uri="{FF2B5EF4-FFF2-40B4-BE49-F238E27FC236}">
                <a16:creationId xmlns:a16="http://schemas.microsoft.com/office/drawing/2014/main" id="{AD0F7197-61C2-4FF3-A3E8-377171821300}"/>
              </a:ext>
            </a:extLst>
          </p:cNvPr>
          <p:cNvSpPr>
            <a:spLocks xmlns:a="http://schemas.openxmlformats.org/drawingml/2006/main" noGrp="1"/>
          </p:cNvSpPr>
          <p:nvPr/>
        </p:nvSpPr>
        <p:spPr>
          <a:xfrm xmlns:a="http://schemas.openxmlformats.org/drawingml/2006/main">
            <a:off x="9258300" y="1781175"/>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8039"/>
          </a:bodyPr>
          <a:lstStyle xmlns:a="http://schemas.openxmlformats.org/drawingml/2006/main"/>
          <a:p xmlns:a="http://schemas.openxmlformats.org/drawingml/2006/main">
            <a:pPr algn="ctr">
              <a:lnSpc>
                <a:spcPct val="100000"/>
              </a:lnSpc>
              <a:buNone/>
              <a:defRPr sz="1275" b="1" i="0">
                <a:solidFill>
                  <a:srgbClr val="4D8710"/>
                </a:solidFill>
                <a:latin typeface="Yu Gothic"/>
                <a:ea typeface="Yu Gothic"/>
                <a:cs typeface="Yu Gothic"/>
              </a:defRPr>
            </a:pPr>
            <a:r>
              <a:rPr sz="1275" b="1" i="0">
                <a:solidFill>
                  <a:srgbClr val="4D8710"/>
                </a:solidFill>
                <a:latin typeface="Yu Gothic"/>
                <a:ea typeface="Yu Gothic"/>
                <a:cs typeface="Yu Gothic"/>
              </a:rPr>
              <a:t>robust update</a:t>
            </a:r>
          </a:p>
        </p:txBody>
      </p:sp>
      <p:sp>
        <p:nvSpPr>
          <p:cNvPr id="21" name="">
            <a:extLst xmlns:a="http://schemas.openxmlformats.org/drawingml/2006/main">
              <a:ext uri="{FF2B5EF4-FFF2-40B4-BE49-F238E27FC236}">
                <a16:creationId xmlns:a16="http://schemas.microsoft.com/office/drawing/2014/main" id="{069D52C9-98FE-4205-8550-BE711BA668EB}"/>
              </a:ext>
            </a:extLst>
          </p:cNvPr>
          <p:cNvSpPr>
            <a:spLocks xmlns:a="http://schemas.openxmlformats.org/drawingml/2006/main" noGrp="1"/>
          </p:cNvSpPr>
          <p:nvPr/>
        </p:nvSpPr>
        <p:spPr>
          <a:xfrm xmlns:a="http://schemas.openxmlformats.org/drawingml/2006/main">
            <a:off x="9258300" y="2076450"/>
            <a:ext cx="1562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0909"/>
          </a:bodyPr>
          <a:lstStyle xmlns:a="http://schemas.openxmlformats.org/drawingml/2006/main"/>
          <a:p xmlns:a="http://schemas.openxmlformats.org/drawingml/2006/main">
            <a:pPr algn="ctr">
              <a:lnSpc>
                <a:spcPct val="100000"/>
              </a:lnSpc>
              <a:buNone/>
              <a:defRPr sz="1650" b="0" i="0">
                <a:solidFill>
                  <a:srgbClr val="3F3F3F"/>
                </a:solidFill>
                <a:latin typeface="Cambria Math"/>
                <a:ea typeface="Cambria Math"/>
                <a:cs typeface="Cambria Math"/>
              </a:defRPr>
            </a:pPr>
            <a:r>
              <a:rPr sz="1650" b="0" i="0">
                <a:solidFill>
                  <a:srgbClr val="3F3F3F"/>
                </a:solidFill>
                <a:latin typeface="Cambria Math"/>
                <a:ea typeface="Cambria Math"/>
                <a:cs typeface="Cambria Math"/>
              </a:rPr>
              <a:t>z⁺, P⁺</a:t>
            </a:r>
          </a:p>
        </p:txBody>
      </p:sp>
      <p:cxnSp>
        <p:nvCxnSpPr>
          <p:cNvPr id="69" name=""/>
          <p:cNvCxnSpPr>
            <a:stCxn xmlns:a="http://schemas.openxmlformats.org/drawingml/2006/main" id="13" idx="3"/>
            <a:endCxn xmlns:a="http://schemas.openxmlformats.org/drawingml/2006/main" id="16" idx="1"/>
          </p:cNvCxnSpPr>
          <p:nvPr/>
        </p:nvCxnSpPr>
        <p:spPr>
          <a:xfrm xmlns:a="http://schemas.openxmlformats.org/drawingml/2006/main">
            <a:off x="6048375" y="2066925"/>
            <a:ext cx="581025"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70" name=""/>
          <p:cNvCxnSpPr>
            <a:stCxn xmlns:a="http://schemas.openxmlformats.org/drawingml/2006/main" id="16" idx="3"/>
            <a:endCxn xmlns:a="http://schemas.openxmlformats.org/drawingml/2006/main" id="19" idx="1"/>
          </p:cNvCxnSpPr>
          <p:nvPr/>
        </p:nvCxnSpPr>
        <p:spPr>
          <a:xfrm xmlns:a="http://schemas.openxmlformats.org/drawingml/2006/main">
            <a:off x="8515350" y="2066925"/>
            <a:ext cx="581025"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sp>
        <p:nvSpPr>
          <p:cNvPr id="24" name="">
            <a:extLst xmlns:a="http://schemas.openxmlformats.org/drawingml/2006/main">
              <a:ext uri="{FF2B5EF4-FFF2-40B4-BE49-F238E27FC236}">
                <a16:creationId xmlns:a16="http://schemas.microsoft.com/office/drawing/2014/main" id="{11550951-300B-4A79-9750-5F243CBC0FBD}"/>
              </a:ext>
            </a:extLst>
          </p:cNvPr>
          <p:cNvSpPr>
            <a:spLocks xmlns:a="http://schemas.openxmlformats.org/drawingml/2006/main" noGrp="1"/>
          </p:cNvSpPr>
          <p:nvPr/>
        </p:nvSpPr>
        <p:spPr>
          <a:xfrm xmlns:a="http://schemas.openxmlformats.org/drawingml/2006/main">
            <a:off x="4248150" y="2590800"/>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50" b="0" i="0">
                <a:solidFill>
                  <a:srgbClr val="777777"/>
                </a:solidFill>
                <a:latin typeface="Yu Gothic"/>
                <a:ea typeface="Yu Gothic"/>
                <a:cs typeface="Yu Gothic"/>
              </a:defRPr>
            </a:pPr>
            <a:r>
              <a:rPr sz="750" b="0" i="0">
                <a:solidFill>
                  <a:srgbClr val="777777"/>
                </a:solidFill>
                <a:latin typeface="Yu Gothic"/>
                <a:ea typeface="Yu Gothic"/>
                <a:cs typeface="Yu Gothic"/>
              </a:rPr>
              <a:t>Van Loan / implicit Qd</a:t>
            </a:r>
          </a:p>
        </p:txBody>
      </p:sp>
      <p:sp>
        <p:nvSpPr>
          <p:cNvPr id="25" name="">
            <a:extLst xmlns:a="http://schemas.openxmlformats.org/drawingml/2006/main">
              <a:ext uri="{FF2B5EF4-FFF2-40B4-BE49-F238E27FC236}">
                <a16:creationId xmlns:a16="http://schemas.microsoft.com/office/drawing/2014/main" id="{259F1DCD-AF35-460E-A334-DFD7431EDFA6}"/>
              </a:ext>
            </a:extLst>
          </p:cNvPr>
          <p:cNvSpPr>
            <a:spLocks xmlns:a="http://schemas.openxmlformats.org/drawingml/2006/main" noGrp="1"/>
          </p:cNvSpPr>
          <p:nvPr/>
        </p:nvSpPr>
        <p:spPr>
          <a:xfrm xmlns:a="http://schemas.openxmlformats.org/drawingml/2006/main">
            <a:off x="6715125" y="2590800"/>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50" b="0" i="0">
                <a:solidFill>
                  <a:srgbClr val="777777"/>
                </a:solidFill>
                <a:latin typeface="Yu Gothic"/>
                <a:ea typeface="Yu Gothic"/>
                <a:cs typeface="Yu Gothic"/>
              </a:defRPr>
            </a:pPr>
            <a:r>
              <a:rPr sz="750" b="0" i="0">
                <a:solidFill>
                  <a:srgbClr val="777777"/>
                </a:solidFill>
                <a:latin typeface="Yu Gothic"/>
                <a:ea typeface="Yu Gothic"/>
                <a:cs typeface="Yu Gothic"/>
              </a:rPr>
              <a:t>missing rows removed</a:t>
            </a:r>
          </a:p>
        </p:txBody>
      </p:sp>
      <p:sp>
        <p:nvSpPr>
          <p:cNvPr id="26" name="">
            <a:extLst xmlns:a="http://schemas.openxmlformats.org/drawingml/2006/main">
              <a:ext uri="{FF2B5EF4-FFF2-40B4-BE49-F238E27FC236}">
                <a16:creationId xmlns:a16="http://schemas.microsoft.com/office/drawing/2014/main" id="{727A2658-8A77-44BA-8718-2C545414CEDB}"/>
              </a:ext>
            </a:extLst>
          </p:cNvPr>
          <p:cNvSpPr>
            <a:spLocks xmlns:a="http://schemas.openxmlformats.org/drawingml/2006/main" noGrp="1"/>
          </p:cNvSpPr>
          <p:nvPr/>
        </p:nvSpPr>
        <p:spPr>
          <a:xfrm xmlns:a="http://schemas.openxmlformats.org/drawingml/2006/main">
            <a:off x="9182100" y="2590800"/>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50" b="0" i="0">
                <a:solidFill>
                  <a:srgbClr val="777777"/>
                </a:solidFill>
                <a:latin typeface="Yu Gothic"/>
                <a:ea typeface="Yu Gothic"/>
                <a:cs typeface="Yu Gothic"/>
              </a:defRPr>
            </a:pPr>
            <a:r>
              <a:rPr sz="750" b="0" i="0">
                <a:solidFill>
                  <a:srgbClr val="777777"/>
                </a:solidFill>
                <a:latin typeface="Yu Gothic"/>
                <a:ea typeface="Yu Gothic"/>
                <a:cs typeface="Yu Gothic"/>
              </a:rPr>
              <a:t>Joseph covariance</a:t>
            </a:r>
          </a:p>
        </p:txBody>
      </p:sp>
      <p:sp>
        <p:nvSpPr>
          <p:cNvPr id="27" name="">
            <a:extLst xmlns:a="http://schemas.openxmlformats.org/drawingml/2006/main">
              <a:ext uri="{FF2B5EF4-FFF2-40B4-BE49-F238E27FC236}">
                <a16:creationId xmlns:a16="http://schemas.microsoft.com/office/drawing/2014/main" id="{635ECF27-A8F5-4E06-BAD0-9ED670E01F7E}"/>
              </a:ext>
            </a:extLst>
          </p:cNvPr>
          <p:cNvSpPr>
            <a:spLocks xmlns:a="http://schemas.openxmlformats.org/drawingml/2006/main" noGrp="1"/>
          </p:cNvSpPr>
          <p:nvPr/>
        </p:nvSpPr>
        <p:spPr>
          <a:xfrm xmlns:a="http://schemas.openxmlformats.org/drawingml/2006/main">
            <a:off x="4162425" y="2952750"/>
            <a:ext cx="6819900" cy="723900"/>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28" name="">
            <a:extLst xmlns:a="http://schemas.openxmlformats.org/drawingml/2006/main">
              <a:ext uri="{FF2B5EF4-FFF2-40B4-BE49-F238E27FC236}">
                <a16:creationId xmlns:a16="http://schemas.microsoft.com/office/drawing/2014/main" id="{EC6D0B93-A817-4B80-8DD9-390367856EF9}"/>
              </a:ext>
            </a:extLst>
          </p:cNvPr>
          <p:cNvSpPr>
            <a:spLocks xmlns:a="http://schemas.openxmlformats.org/drawingml/2006/main" noGrp="1"/>
          </p:cNvSpPr>
          <p:nvPr/>
        </p:nvSpPr>
        <p:spPr>
          <a:xfrm xmlns:a="http://schemas.openxmlformats.org/drawingml/2006/main">
            <a:off x="4362450" y="310515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875" b="1" i="0">
                <a:solidFill>
                  <a:srgbClr val="3F3F3F"/>
                </a:solidFill>
                <a:latin typeface="Cambria Math"/>
                <a:ea typeface="Cambria Math"/>
                <a:cs typeface="Cambria Math"/>
              </a:defRPr>
            </a:pPr>
            <a:r>
              <a:rPr sz="1875" b="1" i="0">
                <a:solidFill>
                  <a:srgbClr val="3F3F3F"/>
                </a:solidFill>
                <a:latin typeface="Cambria Math"/>
                <a:ea typeface="Cambria Math"/>
                <a:cs typeface="Cambria Math"/>
              </a:rPr>
              <a:t>NISₖ = νₖᵀ Sₖ⁻¹νₖ</a:t>
            </a:r>
          </a:p>
        </p:txBody>
      </p:sp>
      <p:sp>
        <p:nvSpPr>
          <p:cNvPr id="29" name="">
            <a:extLst xmlns:a="http://schemas.openxmlformats.org/drawingml/2006/main">
              <a:ext uri="{FF2B5EF4-FFF2-40B4-BE49-F238E27FC236}">
                <a16:creationId xmlns:a16="http://schemas.microsoft.com/office/drawing/2014/main" id="{03DE19D6-E87A-4311-82D7-B854274B062F}"/>
              </a:ext>
            </a:extLst>
          </p:cNvPr>
          <p:cNvSpPr>
            <a:spLocks xmlns:a="http://schemas.openxmlformats.org/drawingml/2006/main" noGrp="1"/>
          </p:cNvSpPr>
          <p:nvPr/>
        </p:nvSpPr>
        <p:spPr>
          <a:xfrm xmlns:a="http://schemas.openxmlformats.org/drawingml/2006/main">
            <a:off x="7448550" y="3048000"/>
            <a:ext cx="1543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88" b="1" i="0">
                <a:solidFill>
                  <a:srgbClr val="777777"/>
                </a:solidFill>
                <a:latin typeface="Yu Gothic"/>
                <a:ea typeface="Yu Gothic"/>
                <a:cs typeface="Yu Gothic"/>
              </a:defRPr>
            </a:pPr>
            <a:r>
              <a:rPr sz="788" b="1" i="0">
                <a:solidFill>
                  <a:srgbClr val="777777"/>
                </a:solidFill>
                <a:latin typeface="Yu Gothic"/>
                <a:ea typeface="Yu Gothic"/>
                <a:cs typeface="Yu Gothic"/>
              </a:rPr>
              <a:t>χ² 99.99% threshold</a:t>
            </a:r>
          </a:p>
        </p:txBody>
      </p:sp>
      <p:sp>
        <p:nvSpPr>
          <p:cNvPr id="30" name="">
            <a:extLst xmlns:a="http://schemas.openxmlformats.org/drawingml/2006/main">
              <a:ext uri="{FF2B5EF4-FFF2-40B4-BE49-F238E27FC236}">
                <a16:creationId xmlns:a16="http://schemas.microsoft.com/office/drawing/2014/main" id="{A8AD5569-EE38-4FAA-BAD4-12EB0D043EF3}"/>
              </a:ext>
            </a:extLst>
          </p:cNvPr>
          <p:cNvSpPr>
            <a:spLocks xmlns:a="http://schemas.openxmlformats.org/drawingml/2006/main" noGrp="1"/>
          </p:cNvSpPr>
          <p:nvPr/>
        </p:nvSpPr>
        <p:spPr>
          <a:xfrm xmlns:a="http://schemas.openxmlformats.org/drawingml/2006/main">
            <a:off x="7258050" y="3286125"/>
            <a:ext cx="34290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1 dof  15.14   /   2 dof  18.42   /   3 dof  21.11</a:t>
            </a:r>
          </a:p>
        </p:txBody>
      </p:sp>
      <p:sp>
        <p:nvSpPr>
          <p:cNvPr id="31" name="">
            <a:extLst xmlns:a="http://schemas.openxmlformats.org/drawingml/2006/main">
              <a:ext uri="{FF2B5EF4-FFF2-40B4-BE49-F238E27FC236}">
                <a16:creationId xmlns:a16="http://schemas.microsoft.com/office/drawing/2014/main" id="{C8F19CDE-9D9C-4BFB-BAC9-89FE7FA4C69C}"/>
              </a:ext>
            </a:extLst>
          </p:cNvPr>
          <p:cNvSpPr>
            <a:spLocks xmlns:a="http://schemas.openxmlformats.org/drawingml/2006/main" noGrp="1"/>
          </p:cNvSpPr>
          <p:nvPr/>
        </p:nvSpPr>
        <p:spPr>
          <a:xfrm xmlns:a="http://schemas.openxmlformats.org/drawingml/2006/main">
            <a:off x="552450" y="39814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偏差の解釈</a:t>
            </a:r>
          </a:p>
        </p:txBody>
      </p:sp>
      <p:sp>
        <p:nvSpPr>
          <p:cNvPr id="32" name="">
            <a:extLst xmlns:a="http://schemas.openxmlformats.org/drawingml/2006/main">
              <a:ext uri="{FF2B5EF4-FFF2-40B4-BE49-F238E27FC236}">
                <a16:creationId xmlns:a16="http://schemas.microsoft.com/office/drawing/2014/main" id="{213237EC-A8DF-4570-903E-0FDEEB2F997F}"/>
              </a:ext>
            </a:extLst>
          </p:cNvPr>
          <p:cNvSpPr>
            <a:spLocks xmlns:a="http://schemas.openxmlformats.org/drawingml/2006/main" noGrp="1"/>
          </p:cNvSpPr>
          <p:nvPr/>
        </p:nvSpPr>
        <p:spPr>
          <a:xfrm xmlns:a="http://schemas.openxmlformats.org/drawingml/2006/main">
            <a:off x="552450" y="4371975"/>
            <a:ext cx="3505200" cy="1438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3" name="">
            <a:extLst xmlns:a="http://schemas.openxmlformats.org/drawingml/2006/main">
              <a:ext uri="{FF2B5EF4-FFF2-40B4-BE49-F238E27FC236}">
                <a16:creationId xmlns:a16="http://schemas.microsoft.com/office/drawing/2014/main" id="{07322C83-1A09-40AE-B6AD-C2B3370CE866}"/>
              </a:ext>
            </a:extLst>
          </p:cNvPr>
          <p:cNvSpPr>
            <a:spLocks xmlns:a="http://schemas.openxmlformats.org/drawingml/2006/main" noGrp="1"/>
          </p:cNvSpPr>
          <p:nvPr/>
        </p:nvSpPr>
        <p:spPr>
          <a:xfrm xmlns:a="http://schemas.openxmlformats.org/drawingml/2006/main">
            <a:off x="552450" y="4371975"/>
            <a:ext cx="76200" cy="14382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A416EB68-DCAE-4E09-ABA2-4001079E2A45}"/>
              </a:ext>
            </a:extLst>
          </p:cNvPr>
          <p:cNvSpPr>
            <a:spLocks xmlns:a="http://schemas.openxmlformats.org/drawingml/2006/main" noGrp="1"/>
          </p:cNvSpPr>
          <p:nvPr/>
        </p:nvSpPr>
        <p:spPr>
          <a:xfrm xmlns:a="http://schemas.openxmlformats.org/drawingml/2006/main">
            <a:off x="762000" y="4514850"/>
            <a:ext cx="31051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7B2DAF"/>
                </a:solidFill>
                <a:latin typeface="Cambria Math"/>
                <a:ea typeface="Cambria Math"/>
                <a:cs typeface="Cambria Math"/>
              </a:defRPr>
            </a:pPr>
            <a:r>
              <a:rPr sz="1125" b="1" i="0">
                <a:solidFill>
                  <a:srgbClr val="7B2DAF"/>
                </a:solidFill>
                <a:latin typeface="Cambria Math"/>
                <a:ea typeface="Cambria Math"/>
                <a:cs typeface="Cambria Math"/>
              </a:rPr>
              <a:t>β rises / d ≈ 0</a:t>
            </a:r>
          </a:p>
        </p:txBody>
      </p:sp>
      <p:sp>
        <p:nvSpPr>
          <p:cNvPr id="35" name="">
            <a:extLst xmlns:a="http://schemas.openxmlformats.org/drawingml/2006/main">
              <a:ext uri="{FF2B5EF4-FFF2-40B4-BE49-F238E27FC236}">
                <a16:creationId xmlns:a16="http://schemas.microsoft.com/office/drawing/2014/main" id="{28264BEF-AED9-43C5-8E07-4495098C6221}"/>
              </a:ext>
            </a:extLst>
          </p:cNvPr>
          <p:cNvSpPr>
            <a:spLocks xmlns:a="http://schemas.openxmlformats.org/drawingml/2006/main" noGrp="1"/>
          </p:cNvSpPr>
          <p:nvPr/>
        </p:nvSpPr>
        <p:spPr>
          <a:xfrm xmlns:a="http://schemas.openxmlformats.org/drawingml/2006/main">
            <a:off x="762000" y="4848225"/>
            <a:ext cx="31051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3F3F3F"/>
                </a:solidFill>
                <a:latin typeface="Yu Gothic"/>
                <a:ea typeface="Yu Gothic"/>
                <a:cs typeface="Yu Gothic"/>
              </a:defRPr>
            </a:pPr>
            <a:r>
              <a:rPr sz="1050" b="1" i="0">
                <a:solidFill>
                  <a:srgbClr val="3F3F3F"/>
                </a:solidFill>
                <a:latin typeface="Yu Gothic"/>
                <a:ea typeface="Yu Gothic"/>
                <a:cs typeface="Yu Gothic"/>
              </a:rPr>
              <a:t>sensor offset・校正ずれ</a:t>
            </a:r>
          </a:p>
        </p:txBody>
      </p:sp>
      <p:sp>
        <p:nvSpPr>
          <p:cNvPr id="36" name="">
            <a:extLst xmlns:a="http://schemas.openxmlformats.org/drawingml/2006/main">
              <a:ext uri="{FF2B5EF4-FFF2-40B4-BE49-F238E27FC236}">
                <a16:creationId xmlns:a16="http://schemas.microsoft.com/office/drawing/2014/main" id="{F73EE48C-7FE7-4389-A13F-C90DC1634EC9}"/>
              </a:ext>
            </a:extLst>
          </p:cNvPr>
          <p:cNvSpPr>
            <a:spLocks xmlns:a="http://schemas.openxmlformats.org/drawingml/2006/main" noGrp="1"/>
          </p:cNvSpPr>
          <p:nvPr/>
        </p:nvSpPr>
        <p:spPr>
          <a:xfrm xmlns:a="http://schemas.openxmlformats.org/drawingml/2006/main">
            <a:off x="762000" y="5219700"/>
            <a:ext cx="3105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8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他sensorとの相対整合、gauge固定</a:t>
            </a:r>
          </a:p>
        </p:txBody>
      </p:sp>
      <p:sp>
        <p:nvSpPr>
          <p:cNvPr id="37" name="">
            <a:extLst xmlns:a="http://schemas.openxmlformats.org/drawingml/2006/main">
              <a:ext uri="{FF2B5EF4-FFF2-40B4-BE49-F238E27FC236}">
                <a16:creationId xmlns:a16="http://schemas.microsoft.com/office/drawing/2014/main" id="{C3141B55-EF56-4F18-827E-7A7A47C668EF}"/>
              </a:ext>
            </a:extLst>
          </p:cNvPr>
          <p:cNvSpPr>
            <a:spLocks xmlns:a="http://schemas.openxmlformats.org/drawingml/2006/main" noGrp="1"/>
          </p:cNvSpPr>
          <p:nvPr/>
        </p:nvSpPr>
        <p:spPr>
          <a:xfrm xmlns:a="http://schemas.openxmlformats.org/drawingml/2006/main">
            <a:off x="4248150" y="4371975"/>
            <a:ext cx="3505200" cy="1438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8" name="">
            <a:extLst xmlns:a="http://schemas.openxmlformats.org/drawingml/2006/main">
              <a:ext uri="{FF2B5EF4-FFF2-40B4-BE49-F238E27FC236}">
                <a16:creationId xmlns:a16="http://schemas.microsoft.com/office/drawing/2014/main" id="{C766A32B-6D4D-4807-A402-AA29775EA5FB}"/>
              </a:ext>
            </a:extLst>
          </p:cNvPr>
          <p:cNvSpPr>
            <a:spLocks xmlns:a="http://schemas.openxmlformats.org/drawingml/2006/main" noGrp="1"/>
          </p:cNvSpPr>
          <p:nvPr/>
        </p:nvSpPr>
        <p:spPr>
          <a:xfrm xmlns:a="http://schemas.openxmlformats.org/drawingml/2006/main">
            <a:off x="4248150" y="4371975"/>
            <a:ext cx="76200" cy="1438275"/>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CF31E58D-EA1A-4158-AE64-16D68428BFC9}"/>
              </a:ext>
            </a:extLst>
          </p:cNvPr>
          <p:cNvSpPr>
            <a:spLocks xmlns:a="http://schemas.openxmlformats.org/drawingml/2006/main" noGrp="1"/>
          </p:cNvSpPr>
          <p:nvPr/>
        </p:nvSpPr>
        <p:spPr>
          <a:xfrm xmlns:a="http://schemas.openxmlformats.org/drawingml/2006/main">
            <a:off x="4457700" y="4514850"/>
            <a:ext cx="31051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E5A900"/>
                </a:solidFill>
                <a:latin typeface="Cambria Math"/>
                <a:ea typeface="Cambria Math"/>
                <a:cs typeface="Cambria Math"/>
              </a:defRPr>
            </a:pPr>
            <a:r>
              <a:rPr sz="1125" b="1" i="0">
                <a:solidFill>
                  <a:srgbClr val="E5A900"/>
                </a:solidFill>
                <a:latin typeface="Cambria Math"/>
                <a:ea typeface="Cambria Math"/>
                <a:cs typeface="Cambria Math"/>
              </a:rPr>
              <a:t>d rises / β small</a:t>
            </a:r>
          </a:p>
        </p:txBody>
      </p:sp>
      <p:sp>
        <p:nvSpPr>
          <p:cNvPr id="40" name="">
            <a:extLst xmlns:a="http://schemas.openxmlformats.org/drawingml/2006/main">
              <a:ext uri="{FF2B5EF4-FFF2-40B4-BE49-F238E27FC236}">
                <a16:creationId xmlns:a16="http://schemas.microsoft.com/office/drawing/2014/main" id="{F218024C-A9D6-46F4-80D0-900DB69D1FDB}"/>
              </a:ext>
            </a:extLst>
          </p:cNvPr>
          <p:cNvSpPr>
            <a:spLocks xmlns:a="http://schemas.openxmlformats.org/drawingml/2006/main" noGrp="1"/>
          </p:cNvSpPr>
          <p:nvPr/>
        </p:nvSpPr>
        <p:spPr>
          <a:xfrm xmlns:a="http://schemas.openxmlformats.org/drawingml/2006/main">
            <a:off x="4457700" y="4848225"/>
            <a:ext cx="31051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3F3F3F"/>
                </a:solidFill>
                <a:latin typeface="Yu Gothic"/>
                <a:ea typeface="Yu Gothic"/>
                <a:cs typeface="Yu Gothic"/>
              </a:defRPr>
            </a:pPr>
            <a:r>
              <a:rPr sz="1050" b="1" i="0">
                <a:solidFill>
                  <a:srgbClr val="3F3F3F"/>
                </a:solidFill>
                <a:latin typeface="Yu Gothic"/>
                <a:ea typeface="Yu Gothic"/>
                <a:cs typeface="Yu Gothic"/>
              </a:rPr>
              <a:t>未指令発熱・冷却損失</a:t>
            </a:r>
          </a:p>
        </p:txBody>
      </p:sp>
      <p:sp>
        <p:nvSpPr>
          <p:cNvPr id="41" name="">
            <a:extLst xmlns:a="http://schemas.openxmlformats.org/drawingml/2006/main">
              <a:ext uri="{FF2B5EF4-FFF2-40B4-BE49-F238E27FC236}">
                <a16:creationId xmlns:a16="http://schemas.microsoft.com/office/drawing/2014/main" id="{0C3E07B3-1F3F-4AF1-83AA-9A727FF6F854}"/>
              </a:ext>
            </a:extLst>
          </p:cNvPr>
          <p:cNvSpPr>
            <a:spLocks xmlns:a="http://schemas.openxmlformats.org/drawingml/2006/main" noGrp="1"/>
          </p:cNvSpPr>
          <p:nvPr/>
        </p:nvSpPr>
        <p:spPr>
          <a:xfrm xmlns:a="http://schemas.openxmlformats.org/drawingml/2006/main">
            <a:off x="4457700" y="5219700"/>
            <a:ext cx="3105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8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複数nodeの整合した温度上昇</a:t>
            </a:r>
          </a:p>
        </p:txBody>
      </p:sp>
      <p:sp>
        <p:nvSpPr>
          <p:cNvPr id="42" name="">
            <a:extLst xmlns:a="http://schemas.openxmlformats.org/drawingml/2006/main">
              <a:ext uri="{FF2B5EF4-FFF2-40B4-BE49-F238E27FC236}">
                <a16:creationId xmlns:a16="http://schemas.microsoft.com/office/drawing/2014/main" id="{2D396B2A-3DAA-4CD2-8893-C8921CDFCA98}"/>
              </a:ext>
            </a:extLst>
          </p:cNvPr>
          <p:cNvSpPr>
            <a:spLocks xmlns:a="http://schemas.openxmlformats.org/drawingml/2006/main" noGrp="1"/>
          </p:cNvSpPr>
          <p:nvPr/>
        </p:nvSpPr>
        <p:spPr>
          <a:xfrm xmlns:a="http://schemas.openxmlformats.org/drawingml/2006/main">
            <a:off x="7943850" y="4371975"/>
            <a:ext cx="3505200" cy="1438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3" name="">
            <a:extLst xmlns:a="http://schemas.openxmlformats.org/drawingml/2006/main">
              <a:ext uri="{FF2B5EF4-FFF2-40B4-BE49-F238E27FC236}">
                <a16:creationId xmlns:a16="http://schemas.microsoft.com/office/drawing/2014/main" id="{F1ED345F-6C68-4837-82A9-D32EA6955414}"/>
              </a:ext>
            </a:extLst>
          </p:cNvPr>
          <p:cNvSpPr>
            <a:spLocks xmlns:a="http://schemas.openxmlformats.org/drawingml/2006/main" noGrp="1"/>
          </p:cNvSpPr>
          <p:nvPr/>
        </p:nvSpPr>
        <p:spPr>
          <a:xfrm xmlns:a="http://schemas.openxmlformats.org/drawingml/2006/main">
            <a:off x="7943850" y="4371975"/>
            <a:ext cx="76200" cy="1438275"/>
          </a:xfrm>
          <a:prstGeom xmlns:a="http://schemas.openxmlformats.org/drawingml/2006/main" prst="rect">
            <a:avLst/>
          </a:prstGeom>
          <a:solidFill xmlns:a="http://schemas.openxmlformats.org/drawingml/2006/main">
            <a:srgbClr val="C4493D"/>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E1DCF9E8-CE90-477C-980B-009CF2AA4F24}"/>
              </a:ext>
            </a:extLst>
          </p:cNvPr>
          <p:cNvSpPr>
            <a:spLocks xmlns:a="http://schemas.openxmlformats.org/drawingml/2006/main" noGrp="1"/>
          </p:cNvSpPr>
          <p:nvPr/>
        </p:nvSpPr>
        <p:spPr>
          <a:xfrm xmlns:a="http://schemas.openxmlformats.org/drawingml/2006/main">
            <a:off x="8153400" y="4514850"/>
            <a:ext cx="31051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C4493D"/>
                </a:solidFill>
                <a:latin typeface="Cambria Math"/>
                <a:ea typeface="Cambria Math"/>
                <a:cs typeface="Cambria Math"/>
              </a:defRPr>
            </a:pPr>
            <a:r>
              <a:rPr sz="1125" b="1" i="0">
                <a:solidFill>
                  <a:srgbClr val="C4493D"/>
                </a:solidFill>
                <a:latin typeface="Cambria Math"/>
                <a:ea typeface="Cambria Math"/>
                <a:cs typeface="Cambria Math"/>
              </a:rPr>
              <a:t>NIS only</a:t>
            </a:r>
          </a:p>
        </p:txBody>
      </p:sp>
      <p:sp>
        <p:nvSpPr>
          <p:cNvPr id="45" name="">
            <a:extLst xmlns:a="http://schemas.openxmlformats.org/drawingml/2006/main">
              <a:ext uri="{FF2B5EF4-FFF2-40B4-BE49-F238E27FC236}">
                <a16:creationId xmlns:a16="http://schemas.microsoft.com/office/drawing/2014/main" id="{BD3E72FF-B444-4B59-A83B-B2A4784DB9CE}"/>
              </a:ext>
            </a:extLst>
          </p:cNvPr>
          <p:cNvSpPr>
            <a:spLocks xmlns:a="http://schemas.openxmlformats.org/drawingml/2006/main" noGrp="1"/>
          </p:cNvSpPr>
          <p:nvPr/>
        </p:nvSpPr>
        <p:spPr>
          <a:xfrm xmlns:a="http://schemas.openxmlformats.org/drawingml/2006/main">
            <a:off x="8153400" y="4848225"/>
            <a:ext cx="31051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3F3F3F"/>
                </a:solidFill>
                <a:latin typeface="Yu Gothic"/>
                <a:ea typeface="Yu Gothic"/>
                <a:cs typeface="Yu Gothic"/>
              </a:defRPr>
            </a:pPr>
            <a:r>
              <a:rPr sz="1050" b="1" i="0">
                <a:solidFill>
                  <a:srgbClr val="3F3F3F"/>
                </a:solidFill>
                <a:latin typeface="Yu Gothic"/>
                <a:ea typeface="Yu Gothic"/>
                <a:cs typeface="Yu Gothic"/>
              </a:rPr>
              <a:t>model mismatch・同期ずれ</a:t>
            </a:r>
          </a:p>
        </p:txBody>
      </p:sp>
      <p:sp>
        <p:nvSpPr>
          <p:cNvPr id="46" name="">
            <a:extLst xmlns:a="http://schemas.openxmlformats.org/drawingml/2006/main">
              <a:ext uri="{FF2B5EF4-FFF2-40B4-BE49-F238E27FC236}">
                <a16:creationId xmlns:a16="http://schemas.microsoft.com/office/drawing/2014/main" id="{9FC9FD64-9515-4331-B313-02BF8AC82DE6}"/>
              </a:ext>
            </a:extLst>
          </p:cNvPr>
          <p:cNvSpPr>
            <a:spLocks xmlns:a="http://schemas.openxmlformats.org/drawingml/2006/main" noGrp="1"/>
          </p:cNvSpPr>
          <p:nvPr/>
        </p:nvSpPr>
        <p:spPr>
          <a:xfrm xmlns:a="http://schemas.openxmlformats.org/drawingml/2006/main">
            <a:off x="8153400" y="5219700"/>
            <a:ext cx="3105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8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持続性、自己相関、運転域で再校正</a:t>
            </a:r>
          </a:p>
        </p:txBody>
      </p:sp>
      <p:sp>
        <p:nvSpPr>
          <p:cNvPr id="47" name="">
            <a:extLst xmlns:a="http://schemas.openxmlformats.org/drawingml/2006/main">
              <a:ext uri="{FF2B5EF4-FFF2-40B4-BE49-F238E27FC236}">
                <a16:creationId xmlns:a16="http://schemas.microsoft.com/office/drawing/2014/main" id="{A3C6819C-2EA5-4EEF-9BF0-3C094B8C2352}"/>
              </a:ext>
            </a:extLst>
          </p:cNvPr>
          <p:cNvSpPr>
            <a:spLocks xmlns:a="http://schemas.openxmlformats.org/drawingml/2006/main" noGrp="1"/>
          </p:cNvSpPr>
          <p:nvPr/>
        </p:nvSpPr>
        <p:spPr>
          <a:xfrm xmlns:a="http://schemas.openxmlformats.org/drawingml/2006/main">
            <a:off x="552450" y="5981700"/>
            <a:ext cx="11087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63" b="1" i="0">
                <a:solidFill>
                  <a:srgbClr val="5B5B5B"/>
                </a:solidFill>
                <a:latin typeface="Yu Gothic"/>
                <a:ea typeface="Yu Gothic"/>
                <a:cs typeface="Yu Gothic"/>
              </a:defRPr>
            </a:pPr>
            <a:r>
              <a:rPr sz="863" b="1" i="0">
                <a:solidFill>
                  <a:srgbClr val="5B5B5B"/>
                </a:solidFill>
                <a:latin typeface="Yu Gothic"/>
                <a:ea typeface="Yu Gothic"/>
                <a:cs typeface="Yu Gothic"/>
              </a:rPr>
              <a:t>運用閾値はχ²理論値を初期値とし、正常保持データの自己相関・multiple testing・model errorで校正する。</a:t>
            </a:r>
          </a:p>
        </p:txBody>
      </p:sp>
    </p:spTree>
    <p:extLst>
      <p:ext uri="{BB962C8B-B14F-4D97-AF65-F5344CB8AC3E}">
        <p14:creationId xmlns:p14="http://schemas.microsoft.com/office/powerpoint/2010/main" val="4741947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
            <a:extLst xmlns:a="http://schemas.openxmlformats.org/drawingml/2006/main">
              <a:ext uri="{FF2B5EF4-FFF2-40B4-BE49-F238E27FC236}">
                <a16:creationId xmlns:a16="http://schemas.microsoft.com/office/drawing/2014/main" id="{FA745DFE-C30D-4D96-AC64-F8C4475B4BC3}"/>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884CCFD-AD60-4853-AAB7-C11FA1CB2B49}"/>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WORKFLOW / EVALUATE</a:t>
            </a:r>
          </a:p>
        </p:txBody>
      </p:sp>
      <p:sp>
        <p:nvSpPr>
          <p:cNvPr id="3" name="">
            <a:extLst xmlns:a="http://schemas.openxmlformats.org/drawingml/2006/main">
              <a:ext uri="{FF2B5EF4-FFF2-40B4-BE49-F238E27FC236}">
                <a16:creationId xmlns:a16="http://schemas.microsoft.com/office/drawing/2014/main" id="{D94E1ED7-ACB1-42C8-B9A5-6489B5318CAE}"/>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処理例ごとに生成・同定・推論・評価を分離し、評価dataを学習directoryへ戻さない</a:t>
            </a:r>
          </a:p>
        </p:txBody>
      </p:sp>
      <p:sp>
        <p:nvSpPr>
          <p:cNvPr id="4" name="">
            <a:extLst xmlns:a="http://schemas.openxmlformats.org/drawingml/2006/main">
              <a:ext uri="{FF2B5EF4-FFF2-40B4-BE49-F238E27FC236}">
                <a16:creationId xmlns:a16="http://schemas.microsoft.com/office/drawing/2014/main" id="{4D85763C-A365-477B-954C-72A6E361B319}"/>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benchmarkとCAE reportは、公開workflowの出力をcanonical source dataへ集約する</a:t>
            </a:r>
          </a:p>
        </p:txBody>
      </p:sp>
      <p:sp>
        <p:nvSpPr>
          <p:cNvPr id="5" name="">
            <a:extLst xmlns:a="http://schemas.openxmlformats.org/drawingml/2006/main">
              <a:ext uri="{FF2B5EF4-FFF2-40B4-BE49-F238E27FC236}">
                <a16:creationId xmlns:a16="http://schemas.microsoft.com/office/drawing/2014/main" id="{CC0A5D4D-EF50-4890-9161-6FE3DEEB13D4}"/>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86B5AB5C-EE58-4A29-8F5F-F2CFF664549B}"/>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82183B36-C655-456B-8610-CF646C2D8E52}"/>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2AA85752-539E-4A47-A02E-213B9610A334}"/>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21</a:t>
            </a:r>
          </a:p>
        </p:txBody>
      </p:sp>
      <p:sp>
        <p:nvSpPr>
          <p:cNvPr id="9" name="">
            <a:extLst xmlns:a="http://schemas.openxmlformats.org/drawingml/2006/main">
              <a:ext uri="{FF2B5EF4-FFF2-40B4-BE49-F238E27FC236}">
                <a16:creationId xmlns:a16="http://schemas.microsoft.com/office/drawing/2014/main" id="{7AE04F19-7303-4739-8D85-4259DD143D5B}"/>
              </a:ext>
            </a:extLst>
          </p:cNvPr>
          <p:cNvSpPr>
            <a:spLocks xmlns:a="http://schemas.openxmlformats.org/drawingml/2006/main" noGrp="1"/>
          </p:cNvSpPr>
          <p:nvPr/>
        </p:nvSpPr>
        <p:spPr>
          <a:xfrm xmlns:a="http://schemas.openxmlformats.org/drawingml/2006/main">
            <a:off x="552450" y="1476375"/>
            <a:ext cx="1581150" cy="962025"/>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10" name="">
            <a:extLst xmlns:a="http://schemas.openxmlformats.org/drawingml/2006/main">
              <a:ext uri="{FF2B5EF4-FFF2-40B4-BE49-F238E27FC236}">
                <a16:creationId xmlns:a16="http://schemas.microsoft.com/office/drawing/2014/main" id="{93AF9E90-534F-43E9-87CF-ECE6F7B1E7F9}"/>
              </a:ext>
            </a:extLst>
          </p:cNvPr>
          <p:cNvSpPr>
            <a:spLocks xmlns:a="http://schemas.openxmlformats.org/drawingml/2006/main" noGrp="1"/>
          </p:cNvSpPr>
          <p:nvPr/>
        </p:nvSpPr>
        <p:spPr>
          <a:xfrm xmlns:a="http://schemas.openxmlformats.org/drawingml/2006/main">
            <a:off x="695325" y="1609725"/>
            <a:ext cx="1295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76BE18"/>
                </a:solidFill>
                <a:latin typeface="Yu Gothic"/>
                <a:ea typeface="Yu Gothic"/>
                <a:cs typeface="Yu Gothic"/>
              </a:defRPr>
            </a:pPr>
            <a:r>
              <a:rPr sz="1200" b="1" i="0">
                <a:solidFill>
                  <a:srgbClr val="76BE18"/>
                </a:solidFill>
                <a:latin typeface="Yu Gothic"/>
                <a:ea typeface="Yu Gothic"/>
                <a:cs typeface="Yu Gothic"/>
              </a:rPr>
              <a:t>TopCell</a:t>
            </a:r>
          </a:p>
        </p:txBody>
      </p:sp>
      <p:sp>
        <p:nvSpPr>
          <p:cNvPr id="11" name="">
            <a:extLst xmlns:a="http://schemas.openxmlformats.org/drawingml/2006/main">
              <a:ext uri="{FF2B5EF4-FFF2-40B4-BE49-F238E27FC236}">
                <a16:creationId xmlns:a16="http://schemas.microsoft.com/office/drawing/2014/main" id="{4543EEB2-3DC6-48F3-BFD0-B26FBCE9EC00}"/>
              </a:ext>
            </a:extLst>
          </p:cNvPr>
          <p:cNvSpPr>
            <a:spLocks xmlns:a="http://schemas.openxmlformats.org/drawingml/2006/main" noGrp="1"/>
          </p:cNvSpPr>
          <p:nvPr/>
        </p:nvSpPr>
        <p:spPr>
          <a:xfrm xmlns:a="http://schemas.openxmlformats.org/drawingml/2006/main">
            <a:off x="695325" y="1933575"/>
            <a:ext cx="1295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3000"/>
              </a:lnSpc>
              <a:buNone/>
              <a:defRPr sz="728" b="0" i="0">
                <a:solidFill>
                  <a:srgbClr val="5B5B5B"/>
                </a:solidFill>
                <a:latin typeface="Yu Gothic"/>
                <a:ea typeface="Yu Gothic"/>
                <a:cs typeface="Yu Gothic"/>
              </a:defRPr>
            </a:pPr>
            <a:r>
              <a:rPr sz="728" b="0" i="0">
                <a:solidFill>
                  <a:srgbClr val="5B5B5B"/>
                </a:solidFill>
                <a:latin typeface="Yu Gothic"/>
                <a:ea typeface="Yu Gothic"/>
                <a:cs typeface="Yu Gothic"/>
              </a:rPr>
              <a:t>228 train / 12 forecast / 5 monitor</a:t>
            </a:r>
          </a:p>
        </p:txBody>
      </p:sp>
      <p:sp>
        <p:nvSpPr>
          <p:cNvPr id="12" name="">
            <a:extLst xmlns:a="http://schemas.openxmlformats.org/drawingml/2006/main">
              <a:ext uri="{FF2B5EF4-FFF2-40B4-BE49-F238E27FC236}">
                <a16:creationId xmlns:a16="http://schemas.microsoft.com/office/drawing/2014/main" id="{A916DED8-3F62-4F0C-9E7B-3271D0FC51DE}"/>
              </a:ext>
            </a:extLst>
          </p:cNvPr>
          <p:cNvSpPr>
            <a:spLocks xmlns:a="http://schemas.openxmlformats.org/drawingml/2006/main" noGrp="1"/>
          </p:cNvSpPr>
          <p:nvPr/>
        </p:nvSpPr>
        <p:spPr>
          <a:xfrm xmlns:a="http://schemas.openxmlformats.org/drawingml/2006/main">
            <a:off x="2533650" y="14763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3" name="">
            <a:extLst xmlns:a="http://schemas.openxmlformats.org/drawingml/2006/main">
              <a:ext uri="{FF2B5EF4-FFF2-40B4-BE49-F238E27FC236}">
                <a16:creationId xmlns:a16="http://schemas.microsoft.com/office/drawing/2014/main" id="{147D5872-2101-451E-A366-24C2E56C12EC}"/>
              </a:ext>
            </a:extLst>
          </p:cNvPr>
          <p:cNvSpPr>
            <a:spLocks xmlns:a="http://schemas.openxmlformats.org/drawingml/2006/main" noGrp="1"/>
          </p:cNvSpPr>
          <p:nvPr/>
        </p:nvSpPr>
        <p:spPr>
          <a:xfrm xmlns:a="http://schemas.openxmlformats.org/drawingml/2006/main">
            <a:off x="2533650" y="1476375"/>
            <a:ext cx="57150" cy="96202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6ABE590-819A-4958-8CC1-6A4D1635AD71}"/>
              </a:ext>
            </a:extLst>
          </p:cNvPr>
          <p:cNvSpPr>
            <a:spLocks xmlns:a="http://schemas.openxmlformats.org/drawingml/2006/main" noGrp="1"/>
          </p:cNvSpPr>
          <p:nvPr/>
        </p:nvSpPr>
        <p:spPr>
          <a:xfrm xmlns:a="http://schemas.openxmlformats.org/drawingml/2006/main">
            <a:off x="2695575" y="16287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synthetic truth</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generate</a:t>
            </a:r>
          </a:p>
        </p:txBody>
      </p:sp>
      <p:sp>
        <p:nvSpPr>
          <p:cNvPr id="15" name="">
            <a:extLst xmlns:a="http://schemas.openxmlformats.org/drawingml/2006/main">
              <a:ext uri="{FF2B5EF4-FFF2-40B4-BE49-F238E27FC236}">
                <a16:creationId xmlns:a16="http://schemas.microsoft.com/office/drawing/2014/main" id="{FB4BF194-C9D5-4A2E-A34B-733F93B66F85}"/>
              </a:ext>
            </a:extLst>
          </p:cNvPr>
          <p:cNvSpPr>
            <a:spLocks xmlns:a="http://schemas.openxmlformats.org/drawingml/2006/main" noGrp="1"/>
          </p:cNvSpPr>
          <p:nvPr/>
        </p:nvSpPr>
        <p:spPr>
          <a:xfrm xmlns:a="http://schemas.openxmlformats.org/drawingml/2006/main">
            <a:off x="4800600" y="14763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745F8B14-BEC2-4837-BFD9-45D6BA407821}"/>
              </a:ext>
            </a:extLst>
          </p:cNvPr>
          <p:cNvSpPr>
            <a:spLocks xmlns:a="http://schemas.openxmlformats.org/drawingml/2006/main" noGrp="1"/>
          </p:cNvSpPr>
          <p:nvPr/>
        </p:nvSpPr>
        <p:spPr>
          <a:xfrm xmlns:a="http://schemas.openxmlformats.org/drawingml/2006/main">
            <a:off x="4800600" y="1476375"/>
            <a:ext cx="57150" cy="96202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31A4428-9BCB-45BB-8ECD-CBEE8EBC7EA7}"/>
              </a:ext>
            </a:extLst>
          </p:cNvPr>
          <p:cNvSpPr>
            <a:spLocks xmlns:a="http://schemas.openxmlformats.org/drawingml/2006/main" noGrp="1"/>
          </p:cNvSpPr>
          <p:nvPr/>
        </p:nvSpPr>
        <p:spPr>
          <a:xfrm xmlns:a="http://schemas.openxmlformats.org/drawingml/2006/main">
            <a:off x="4962525" y="16287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celltemp train</a:t>
            </a:r>
          </a:p>
        </p:txBody>
      </p:sp>
      <p:sp>
        <p:nvSpPr>
          <p:cNvPr id="18" name="">
            <a:extLst xmlns:a="http://schemas.openxmlformats.org/drawingml/2006/main">
              <a:ext uri="{FF2B5EF4-FFF2-40B4-BE49-F238E27FC236}">
                <a16:creationId xmlns:a16="http://schemas.microsoft.com/office/drawing/2014/main" id="{EEDB8980-D086-462D-8E08-FB31E872CEF8}"/>
              </a:ext>
            </a:extLst>
          </p:cNvPr>
          <p:cNvSpPr>
            <a:spLocks xmlns:a="http://schemas.openxmlformats.org/drawingml/2006/main" noGrp="1"/>
          </p:cNvSpPr>
          <p:nvPr/>
        </p:nvSpPr>
        <p:spPr>
          <a:xfrm xmlns:a="http://schemas.openxmlformats.org/drawingml/2006/main">
            <a:off x="7067550" y="14763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9" name="">
            <a:extLst xmlns:a="http://schemas.openxmlformats.org/drawingml/2006/main">
              <a:ext uri="{FF2B5EF4-FFF2-40B4-BE49-F238E27FC236}">
                <a16:creationId xmlns:a16="http://schemas.microsoft.com/office/drawing/2014/main" id="{314EFB38-BCE0-411D-83D1-A8C18514ADD6}"/>
              </a:ext>
            </a:extLst>
          </p:cNvPr>
          <p:cNvSpPr>
            <a:spLocks xmlns:a="http://schemas.openxmlformats.org/drawingml/2006/main" noGrp="1"/>
          </p:cNvSpPr>
          <p:nvPr/>
        </p:nvSpPr>
        <p:spPr>
          <a:xfrm xmlns:a="http://schemas.openxmlformats.org/drawingml/2006/main">
            <a:off x="7067550" y="1476375"/>
            <a:ext cx="57150" cy="96202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DD910D7-AE4C-4D65-8846-0D90C4098EDB}"/>
              </a:ext>
            </a:extLst>
          </p:cNvPr>
          <p:cNvSpPr>
            <a:spLocks xmlns:a="http://schemas.openxmlformats.org/drawingml/2006/main" noGrp="1"/>
          </p:cNvSpPr>
          <p:nvPr/>
        </p:nvSpPr>
        <p:spPr>
          <a:xfrm xmlns:a="http://schemas.openxmlformats.org/drawingml/2006/main">
            <a:off x="7229475" y="16287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forecast +</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monitor</a:t>
            </a:r>
          </a:p>
        </p:txBody>
      </p:sp>
      <p:sp>
        <p:nvSpPr>
          <p:cNvPr id="21" name="">
            <a:extLst xmlns:a="http://schemas.openxmlformats.org/drawingml/2006/main">
              <a:ext uri="{FF2B5EF4-FFF2-40B4-BE49-F238E27FC236}">
                <a16:creationId xmlns:a16="http://schemas.microsoft.com/office/drawing/2014/main" id="{0A831BF5-C286-4E1A-9A57-150B61D220D7}"/>
              </a:ext>
            </a:extLst>
          </p:cNvPr>
          <p:cNvSpPr>
            <a:spLocks xmlns:a="http://schemas.openxmlformats.org/drawingml/2006/main" noGrp="1"/>
          </p:cNvSpPr>
          <p:nvPr/>
        </p:nvSpPr>
        <p:spPr>
          <a:xfrm xmlns:a="http://schemas.openxmlformats.org/drawingml/2006/main">
            <a:off x="9334500" y="14763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2" name="">
            <a:extLst xmlns:a="http://schemas.openxmlformats.org/drawingml/2006/main">
              <a:ext uri="{FF2B5EF4-FFF2-40B4-BE49-F238E27FC236}">
                <a16:creationId xmlns:a16="http://schemas.microsoft.com/office/drawing/2014/main" id="{D8DEE1BC-AE6E-440F-8A65-80D68E6C8E62}"/>
              </a:ext>
            </a:extLst>
          </p:cNvPr>
          <p:cNvSpPr>
            <a:spLocks xmlns:a="http://schemas.openxmlformats.org/drawingml/2006/main" noGrp="1"/>
          </p:cNvSpPr>
          <p:nvPr/>
        </p:nvSpPr>
        <p:spPr>
          <a:xfrm xmlns:a="http://schemas.openxmlformats.org/drawingml/2006/main">
            <a:off x="9334500" y="1476375"/>
            <a:ext cx="57150" cy="96202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06B1630-4723-4D25-BDE7-D43975783360}"/>
              </a:ext>
            </a:extLst>
          </p:cNvPr>
          <p:cNvSpPr>
            <a:spLocks xmlns:a="http://schemas.openxmlformats.org/drawingml/2006/main" noGrp="1"/>
          </p:cNvSpPr>
          <p:nvPr/>
        </p:nvSpPr>
        <p:spPr>
          <a:xfrm xmlns:a="http://schemas.openxmlformats.org/drawingml/2006/main">
            <a:off x="9496425" y="16287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evaluate</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benchmark</a:t>
            </a:r>
          </a:p>
        </p:txBody>
      </p:sp>
      <p:cxnSp>
        <p:nvCxnSpPr>
          <p:cNvPr id="87" name=""/>
          <p:cNvCxnSpPr>
            <a:stCxn xmlns:a="http://schemas.openxmlformats.org/drawingml/2006/main" id="12" idx="3"/>
            <a:endCxn xmlns:a="http://schemas.openxmlformats.org/drawingml/2006/main" id="15" idx="1"/>
          </p:cNvCxnSpPr>
          <p:nvPr/>
        </p:nvCxnSpPr>
        <p:spPr>
          <a:xfrm xmlns:a="http://schemas.openxmlformats.org/drawingml/2006/main">
            <a:off x="4400550" y="1957388"/>
            <a:ext cx="400050" cy="0"/>
          </a:xfrm>
          <a:prstGeom xmlns:a="http://schemas.openxmlformats.org/drawingml/2006/main" prst="straightConnector1">
            <a:avLst/>
          </a:prstGeom>
          <a:ln xmlns:a="http://schemas.openxmlformats.org/drawingml/2006/main" w="14288">
            <a:solidFill>
              <a:srgbClr val="76BE18"/>
            </a:solidFill>
            <a:prstDash val="solid"/>
            <a:tailEnd type="triangle" w="sm" len="sm"/>
          </a:ln>
        </p:spPr>
      </p:cxnSp>
      <p:cxnSp>
        <p:nvCxnSpPr>
          <p:cNvPr id="88" name=""/>
          <p:cNvCxnSpPr>
            <a:stCxn xmlns:a="http://schemas.openxmlformats.org/drawingml/2006/main" id="15" idx="3"/>
            <a:endCxn xmlns:a="http://schemas.openxmlformats.org/drawingml/2006/main" id="18" idx="1"/>
          </p:cNvCxnSpPr>
          <p:nvPr/>
        </p:nvCxnSpPr>
        <p:spPr>
          <a:xfrm xmlns:a="http://schemas.openxmlformats.org/drawingml/2006/main">
            <a:off x="6667500" y="1957388"/>
            <a:ext cx="400050" cy="0"/>
          </a:xfrm>
          <a:prstGeom xmlns:a="http://schemas.openxmlformats.org/drawingml/2006/main" prst="straightConnector1">
            <a:avLst/>
          </a:prstGeom>
          <a:ln xmlns:a="http://schemas.openxmlformats.org/drawingml/2006/main" w="14288">
            <a:solidFill>
              <a:srgbClr val="76BE18"/>
            </a:solidFill>
            <a:prstDash val="solid"/>
            <a:tailEnd type="triangle" w="sm" len="sm"/>
          </a:ln>
        </p:spPr>
      </p:cxnSp>
      <p:cxnSp>
        <p:nvCxnSpPr>
          <p:cNvPr id="89" name=""/>
          <p:cNvCxnSpPr>
            <a:stCxn xmlns:a="http://schemas.openxmlformats.org/drawingml/2006/main" id="18" idx="3"/>
            <a:endCxn xmlns:a="http://schemas.openxmlformats.org/drawingml/2006/main" id="21" idx="1"/>
          </p:cNvCxnSpPr>
          <p:nvPr/>
        </p:nvCxnSpPr>
        <p:spPr>
          <a:xfrm xmlns:a="http://schemas.openxmlformats.org/drawingml/2006/main">
            <a:off x="8934450" y="1957388"/>
            <a:ext cx="400050" cy="0"/>
          </a:xfrm>
          <a:prstGeom xmlns:a="http://schemas.openxmlformats.org/drawingml/2006/main" prst="straightConnector1">
            <a:avLst/>
          </a:prstGeom>
          <a:ln xmlns:a="http://schemas.openxmlformats.org/drawingml/2006/main" w="14288">
            <a:solidFill>
              <a:srgbClr val="76BE18"/>
            </a:solidFill>
            <a:prstDash val="solid"/>
            <a:tailEnd type="triangle" w="sm" len="sm"/>
          </a:ln>
        </p:spPr>
      </p:cxnSp>
      <p:sp>
        <p:nvSpPr>
          <p:cNvPr id="27" name="">
            <a:extLst xmlns:a="http://schemas.openxmlformats.org/drawingml/2006/main">
              <a:ext uri="{FF2B5EF4-FFF2-40B4-BE49-F238E27FC236}">
                <a16:creationId xmlns:a16="http://schemas.microsoft.com/office/drawing/2014/main" id="{EA4B9736-8208-491D-8E07-227A58CB90F7}"/>
              </a:ext>
            </a:extLst>
          </p:cNvPr>
          <p:cNvSpPr>
            <a:spLocks xmlns:a="http://schemas.openxmlformats.org/drawingml/2006/main" noGrp="1"/>
          </p:cNvSpPr>
          <p:nvPr/>
        </p:nvSpPr>
        <p:spPr>
          <a:xfrm xmlns:a="http://schemas.openxmlformats.org/drawingml/2006/main">
            <a:off x="552450" y="2714625"/>
            <a:ext cx="1581150" cy="962025"/>
          </a:xfrm>
          <a:prstGeom xmlns:a="http://schemas.openxmlformats.org/drawingml/2006/main" prst="rect">
            <a:avLst/>
          </a:prstGeom>
          <a:solidFill xmlns:a="http://schemas.openxmlformats.org/drawingml/2006/main">
            <a:srgbClr val="E5F6FB"/>
          </a:solidFill>
          <a:ln xmlns:a="http://schemas.openxmlformats.org/drawingml/2006/main" w="9525">
            <a:solidFill>
              <a:srgbClr val="00A5D8"/>
            </a:solidFill>
            <a:prstDash val="solid"/>
          </a:ln>
        </p:spPr>
      </p:sp>
      <p:sp>
        <p:nvSpPr>
          <p:cNvPr id="28" name="">
            <a:extLst xmlns:a="http://schemas.openxmlformats.org/drawingml/2006/main">
              <a:ext uri="{FF2B5EF4-FFF2-40B4-BE49-F238E27FC236}">
                <a16:creationId xmlns:a16="http://schemas.microsoft.com/office/drawing/2014/main" id="{BAEDB487-2CBC-429D-8A66-CCE33C41C5E7}"/>
              </a:ext>
            </a:extLst>
          </p:cNvPr>
          <p:cNvSpPr>
            <a:spLocks xmlns:a="http://schemas.openxmlformats.org/drawingml/2006/main" noGrp="1"/>
          </p:cNvSpPr>
          <p:nvPr/>
        </p:nvSpPr>
        <p:spPr>
          <a:xfrm xmlns:a="http://schemas.openxmlformats.org/drawingml/2006/main">
            <a:off x="695325" y="2847975"/>
            <a:ext cx="1295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00A5D8"/>
                </a:solidFill>
                <a:latin typeface="Yu Gothic"/>
                <a:ea typeface="Yu Gothic"/>
                <a:cs typeface="Yu Gothic"/>
              </a:defRPr>
            </a:pPr>
            <a:r>
              <a:rPr sz="1200" b="1" i="0">
                <a:solidFill>
                  <a:srgbClr val="00A5D8"/>
                </a:solidFill>
                <a:latin typeface="Yu Gothic"/>
                <a:ea typeface="Yu Gothic"/>
                <a:cs typeface="Yu Gothic"/>
              </a:rPr>
              <a:t>Linear COMSOL</a:t>
            </a:r>
          </a:p>
        </p:txBody>
      </p:sp>
      <p:sp>
        <p:nvSpPr>
          <p:cNvPr id="29" name="">
            <a:extLst xmlns:a="http://schemas.openxmlformats.org/drawingml/2006/main">
              <a:ext uri="{FF2B5EF4-FFF2-40B4-BE49-F238E27FC236}">
                <a16:creationId xmlns:a16="http://schemas.microsoft.com/office/drawing/2014/main" id="{745DC3AC-9D7F-434D-AA23-5E95F6C9D997}"/>
              </a:ext>
            </a:extLst>
          </p:cNvPr>
          <p:cNvSpPr>
            <a:spLocks xmlns:a="http://schemas.openxmlformats.org/drawingml/2006/main" noGrp="1"/>
          </p:cNvSpPr>
          <p:nvPr/>
        </p:nvSpPr>
        <p:spPr>
          <a:xfrm xmlns:a="http://schemas.openxmlformats.org/drawingml/2006/main">
            <a:off x="695325" y="3171825"/>
            <a:ext cx="1295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3000"/>
              </a:lnSpc>
              <a:buNone/>
              <a:defRPr sz="728" b="0" i="0">
                <a:solidFill>
                  <a:srgbClr val="5B5B5B"/>
                </a:solidFill>
                <a:latin typeface="Yu Gothic"/>
                <a:ea typeface="Yu Gothic"/>
                <a:cs typeface="Yu Gothic"/>
              </a:defRPr>
            </a:pPr>
            <a:r>
              <a:rPr sz="728" b="0" i="0">
                <a:solidFill>
                  <a:srgbClr val="5B5B5B"/>
                </a:solidFill>
                <a:latin typeface="Yu Gothic"/>
                <a:ea typeface="Yu Gothic"/>
                <a:cs typeface="Yu Gothic"/>
              </a:rPr>
              <a:t>8 forecast cases; volume-average target</a:t>
            </a:r>
          </a:p>
        </p:txBody>
      </p:sp>
      <p:sp>
        <p:nvSpPr>
          <p:cNvPr id="30" name="">
            <a:extLst xmlns:a="http://schemas.openxmlformats.org/drawingml/2006/main">
              <a:ext uri="{FF2B5EF4-FFF2-40B4-BE49-F238E27FC236}">
                <a16:creationId xmlns:a16="http://schemas.microsoft.com/office/drawing/2014/main" id="{3FE046B7-4324-48BC-91DF-BB4E9B6CC239}"/>
              </a:ext>
            </a:extLst>
          </p:cNvPr>
          <p:cNvSpPr>
            <a:spLocks xmlns:a="http://schemas.openxmlformats.org/drawingml/2006/main" noGrp="1"/>
          </p:cNvSpPr>
          <p:nvPr/>
        </p:nvSpPr>
        <p:spPr>
          <a:xfrm xmlns:a="http://schemas.openxmlformats.org/drawingml/2006/main">
            <a:off x="2533650" y="271462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1" name="">
            <a:extLst xmlns:a="http://schemas.openxmlformats.org/drawingml/2006/main">
              <a:ext uri="{FF2B5EF4-FFF2-40B4-BE49-F238E27FC236}">
                <a16:creationId xmlns:a16="http://schemas.microsoft.com/office/drawing/2014/main" id="{BFD1A070-FAE7-4957-BB33-048B585B9C3E}"/>
              </a:ext>
            </a:extLst>
          </p:cNvPr>
          <p:cNvSpPr>
            <a:spLocks xmlns:a="http://schemas.openxmlformats.org/drawingml/2006/main" noGrp="1"/>
          </p:cNvSpPr>
          <p:nvPr/>
        </p:nvSpPr>
        <p:spPr>
          <a:xfrm xmlns:a="http://schemas.openxmlformats.org/drawingml/2006/main">
            <a:off x="2533650" y="2714625"/>
            <a:ext cx="57150" cy="96202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0769FAAA-CA83-4859-9863-DBF9BD155320}"/>
              </a:ext>
            </a:extLst>
          </p:cNvPr>
          <p:cNvSpPr>
            <a:spLocks xmlns:a="http://schemas.openxmlformats.org/drawingml/2006/main" noGrp="1"/>
          </p:cNvSpPr>
          <p:nvPr/>
        </p:nvSpPr>
        <p:spPr>
          <a:xfrm xmlns:a="http://schemas.openxmlformats.org/drawingml/2006/main">
            <a:off x="2695575" y="286702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COMSOL export</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 QA</a:t>
            </a:r>
          </a:p>
        </p:txBody>
      </p:sp>
      <p:sp>
        <p:nvSpPr>
          <p:cNvPr id="33" name="">
            <a:extLst xmlns:a="http://schemas.openxmlformats.org/drawingml/2006/main">
              <a:ext uri="{FF2B5EF4-FFF2-40B4-BE49-F238E27FC236}">
                <a16:creationId xmlns:a16="http://schemas.microsoft.com/office/drawing/2014/main" id="{7E69DE3F-0A9A-4519-97D7-B6C169F420D0}"/>
              </a:ext>
            </a:extLst>
          </p:cNvPr>
          <p:cNvSpPr>
            <a:spLocks xmlns:a="http://schemas.openxmlformats.org/drawingml/2006/main" noGrp="1"/>
          </p:cNvSpPr>
          <p:nvPr/>
        </p:nvSpPr>
        <p:spPr>
          <a:xfrm xmlns:a="http://schemas.openxmlformats.org/drawingml/2006/main">
            <a:off x="4800600" y="271462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4" name="">
            <a:extLst xmlns:a="http://schemas.openxmlformats.org/drawingml/2006/main">
              <a:ext uri="{FF2B5EF4-FFF2-40B4-BE49-F238E27FC236}">
                <a16:creationId xmlns:a16="http://schemas.microsoft.com/office/drawing/2014/main" id="{705D9781-8610-47D2-8EA0-74A232985ECE}"/>
              </a:ext>
            </a:extLst>
          </p:cNvPr>
          <p:cNvSpPr>
            <a:spLocks xmlns:a="http://schemas.openxmlformats.org/drawingml/2006/main" noGrp="1"/>
          </p:cNvSpPr>
          <p:nvPr/>
        </p:nvSpPr>
        <p:spPr>
          <a:xfrm xmlns:a="http://schemas.openxmlformats.org/drawingml/2006/main">
            <a:off x="4800600" y="2714625"/>
            <a:ext cx="57150" cy="96202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D84F5E33-8EA1-43EB-8682-29822EACBA29}"/>
              </a:ext>
            </a:extLst>
          </p:cNvPr>
          <p:cNvSpPr>
            <a:spLocks xmlns:a="http://schemas.openxmlformats.org/drawingml/2006/main" noGrp="1"/>
          </p:cNvSpPr>
          <p:nvPr/>
        </p:nvSpPr>
        <p:spPr>
          <a:xfrm xmlns:a="http://schemas.openxmlformats.org/drawingml/2006/main">
            <a:off x="4962525" y="286702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celltemp train</a:t>
            </a:r>
          </a:p>
        </p:txBody>
      </p:sp>
      <p:sp>
        <p:nvSpPr>
          <p:cNvPr id="36" name="">
            <a:extLst xmlns:a="http://schemas.openxmlformats.org/drawingml/2006/main">
              <a:ext uri="{FF2B5EF4-FFF2-40B4-BE49-F238E27FC236}">
                <a16:creationId xmlns:a16="http://schemas.microsoft.com/office/drawing/2014/main" id="{967B6DD0-4084-4A72-B470-51B53FCE16F5}"/>
              </a:ext>
            </a:extLst>
          </p:cNvPr>
          <p:cNvSpPr>
            <a:spLocks xmlns:a="http://schemas.openxmlformats.org/drawingml/2006/main" noGrp="1"/>
          </p:cNvSpPr>
          <p:nvPr/>
        </p:nvSpPr>
        <p:spPr>
          <a:xfrm xmlns:a="http://schemas.openxmlformats.org/drawingml/2006/main">
            <a:off x="7067550" y="271462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7" name="">
            <a:extLst xmlns:a="http://schemas.openxmlformats.org/drawingml/2006/main">
              <a:ext uri="{FF2B5EF4-FFF2-40B4-BE49-F238E27FC236}">
                <a16:creationId xmlns:a16="http://schemas.microsoft.com/office/drawing/2014/main" id="{0963D2BE-77D4-4C1D-8A97-A066BD2316EF}"/>
              </a:ext>
            </a:extLst>
          </p:cNvPr>
          <p:cNvSpPr>
            <a:spLocks xmlns:a="http://schemas.openxmlformats.org/drawingml/2006/main" noGrp="1"/>
          </p:cNvSpPr>
          <p:nvPr/>
        </p:nvSpPr>
        <p:spPr>
          <a:xfrm xmlns:a="http://schemas.openxmlformats.org/drawingml/2006/main">
            <a:off x="7067550" y="2714625"/>
            <a:ext cx="57150" cy="96202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EFF506FC-1D2F-4072-804E-A282DB108FEA}"/>
              </a:ext>
            </a:extLst>
          </p:cNvPr>
          <p:cNvSpPr>
            <a:spLocks xmlns:a="http://schemas.openxmlformats.org/drawingml/2006/main" noGrp="1"/>
          </p:cNvSpPr>
          <p:nvPr/>
        </p:nvSpPr>
        <p:spPr>
          <a:xfrm xmlns:a="http://schemas.openxmlformats.org/drawingml/2006/main">
            <a:off x="7229475" y="286702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external holdout</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forecast / monitor</a:t>
            </a:r>
          </a:p>
        </p:txBody>
      </p:sp>
      <p:sp>
        <p:nvSpPr>
          <p:cNvPr id="39" name="">
            <a:extLst xmlns:a="http://schemas.openxmlformats.org/drawingml/2006/main">
              <a:ext uri="{FF2B5EF4-FFF2-40B4-BE49-F238E27FC236}">
                <a16:creationId xmlns:a16="http://schemas.microsoft.com/office/drawing/2014/main" id="{C734265C-D063-40EE-BB33-8F920552C29E}"/>
              </a:ext>
            </a:extLst>
          </p:cNvPr>
          <p:cNvSpPr>
            <a:spLocks xmlns:a="http://schemas.openxmlformats.org/drawingml/2006/main" noGrp="1"/>
          </p:cNvSpPr>
          <p:nvPr/>
        </p:nvSpPr>
        <p:spPr>
          <a:xfrm xmlns:a="http://schemas.openxmlformats.org/drawingml/2006/main">
            <a:off x="9334500" y="271462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0" name="">
            <a:extLst xmlns:a="http://schemas.openxmlformats.org/drawingml/2006/main">
              <a:ext uri="{FF2B5EF4-FFF2-40B4-BE49-F238E27FC236}">
                <a16:creationId xmlns:a16="http://schemas.microsoft.com/office/drawing/2014/main" id="{15C224F9-8151-4BB9-98FA-129E72245692}"/>
              </a:ext>
            </a:extLst>
          </p:cNvPr>
          <p:cNvSpPr>
            <a:spLocks xmlns:a="http://schemas.openxmlformats.org/drawingml/2006/main" noGrp="1"/>
          </p:cNvSpPr>
          <p:nvPr/>
        </p:nvSpPr>
        <p:spPr>
          <a:xfrm xmlns:a="http://schemas.openxmlformats.org/drawingml/2006/main">
            <a:off x="9334500" y="2714625"/>
            <a:ext cx="57150" cy="96202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722FE2C1-46E3-49B6-BBC2-C441301DA55B}"/>
              </a:ext>
            </a:extLst>
          </p:cNvPr>
          <p:cNvSpPr>
            <a:spLocks xmlns:a="http://schemas.openxmlformats.org/drawingml/2006/main" noGrp="1"/>
          </p:cNvSpPr>
          <p:nvPr/>
        </p:nvSpPr>
        <p:spPr>
          <a:xfrm xmlns:a="http://schemas.openxmlformats.org/drawingml/2006/main">
            <a:off x="9496425" y="286702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evaluate.py</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metrics</a:t>
            </a:r>
          </a:p>
        </p:txBody>
      </p:sp>
      <p:cxnSp>
        <p:nvCxnSpPr>
          <p:cNvPr id="105" name=""/>
          <p:cNvCxnSpPr>
            <a:stCxn xmlns:a="http://schemas.openxmlformats.org/drawingml/2006/main" id="30" idx="3"/>
            <a:endCxn xmlns:a="http://schemas.openxmlformats.org/drawingml/2006/main" id="33" idx="1"/>
          </p:cNvCxnSpPr>
          <p:nvPr/>
        </p:nvCxnSpPr>
        <p:spPr>
          <a:xfrm xmlns:a="http://schemas.openxmlformats.org/drawingml/2006/main">
            <a:off x="4400550" y="3195638"/>
            <a:ext cx="400050" cy="0"/>
          </a:xfrm>
          <a:prstGeom xmlns:a="http://schemas.openxmlformats.org/drawingml/2006/main" prst="straightConnector1">
            <a:avLst/>
          </a:prstGeom>
          <a:ln xmlns:a="http://schemas.openxmlformats.org/drawingml/2006/main" w="14288">
            <a:solidFill>
              <a:srgbClr val="00A5D8"/>
            </a:solidFill>
            <a:prstDash val="solid"/>
            <a:tailEnd type="triangle" w="sm" len="sm"/>
          </a:ln>
        </p:spPr>
      </p:cxnSp>
      <p:cxnSp>
        <p:nvCxnSpPr>
          <p:cNvPr id="106" name=""/>
          <p:cNvCxnSpPr>
            <a:stCxn xmlns:a="http://schemas.openxmlformats.org/drawingml/2006/main" id="33" idx="3"/>
            <a:endCxn xmlns:a="http://schemas.openxmlformats.org/drawingml/2006/main" id="36" idx="1"/>
          </p:cNvCxnSpPr>
          <p:nvPr/>
        </p:nvCxnSpPr>
        <p:spPr>
          <a:xfrm xmlns:a="http://schemas.openxmlformats.org/drawingml/2006/main">
            <a:off x="6667500" y="3195638"/>
            <a:ext cx="400050" cy="0"/>
          </a:xfrm>
          <a:prstGeom xmlns:a="http://schemas.openxmlformats.org/drawingml/2006/main" prst="straightConnector1">
            <a:avLst/>
          </a:prstGeom>
          <a:ln xmlns:a="http://schemas.openxmlformats.org/drawingml/2006/main" w="14288">
            <a:solidFill>
              <a:srgbClr val="00A5D8"/>
            </a:solidFill>
            <a:prstDash val="solid"/>
            <a:tailEnd type="triangle" w="sm" len="sm"/>
          </a:ln>
        </p:spPr>
      </p:cxnSp>
      <p:cxnSp>
        <p:nvCxnSpPr>
          <p:cNvPr id="107" name=""/>
          <p:cNvCxnSpPr>
            <a:stCxn xmlns:a="http://schemas.openxmlformats.org/drawingml/2006/main" id="36" idx="3"/>
            <a:endCxn xmlns:a="http://schemas.openxmlformats.org/drawingml/2006/main" id="39" idx="1"/>
          </p:cNvCxnSpPr>
          <p:nvPr/>
        </p:nvCxnSpPr>
        <p:spPr>
          <a:xfrm xmlns:a="http://schemas.openxmlformats.org/drawingml/2006/main">
            <a:off x="8934450" y="3195638"/>
            <a:ext cx="400050" cy="0"/>
          </a:xfrm>
          <a:prstGeom xmlns:a="http://schemas.openxmlformats.org/drawingml/2006/main" prst="straightConnector1">
            <a:avLst/>
          </a:prstGeom>
          <a:ln xmlns:a="http://schemas.openxmlformats.org/drawingml/2006/main" w="14288">
            <a:solidFill>
              <a:srgbClr val="00A5D8"/>
            </a:solidFill>
            <a:prstDash val="solid"/>
            <a:tailEnd type="triangle" w="sm" len="sm"/>
          </a:ln>
        </p:spPr>
      </p:cxnSp>
      <p:sp>
        <p:nvSpPr>
          <p:cNvPr id="45" name="">
            <a:extLst xmlns:a="http://schemas.openxmlformats.org/drawingml/2006/main">
              <a:ext uri="{FF2B5EF4-FFF2-40B4-BE49-F238E27FC236}">
                <a16:creationId xmlns:a16="http://schemas.microsoft.com/office/drawing/2014/main" id="{8AA3D0EB-2F79-499D-BBA7-6E4F7B5C97D0}"/>
              </a:ext>
            </a:extLst>
          </p:cNvPr>
          <p:cNvSpPr>
            <a:spLocks xmlns:a="http://schemas.openxmlformats.org/drawingml/2006/main" noGrp="1"/>
          </p:cNvSpPr>
          <p:nvPr/>
        </p:nvSpPr>
        <p:spPr>
          <a:xfrm xmlns:a="http://schemas.openxmlformats.org/drawingml/2006/main">
            <a:off x="552450" y="3952875"/>
            <a:ext cx="1581150" cy="962025"/>
          </a:xfrm>
          <a:prstGeom xmlns:a="http://schemas.openxmlformats.org/drawingml/2006/main" prst="rect">
            <a:avLst/>
          </a:prstGeom>
          <a:solidFill xmlns:a="http://schemas.openxmlformats.org/drawingml/2006/main">
            <a:srgbClr val="EFE5F6"/>
          </a:solidFill>
          <a:ln xmlns:a="http://schemas.openxmlformats.org/drawingml/2006/main" w="9525">
            <a:solidFill>
              <a:srgbClr val="7B2DAF"/>
            </a:solidFill>
            <a:prstDash val="solid"/>
          </a:ln>
        </p:spPr>
      </p:sp>
      <p:sp>
        <p:nvSpPr>
          <p:cNvPr id="46" name="">
            <a:extLst xmlns:a="http://schemas.openxmlformats.org/drawingml/2006/main">
              <a:ext uri="{FF2B5EF4-FFF2-40B4-BE49-F238E27FC236}">
                <a16:creationId xmlns:a16="http://schemas.microsoft.com/office/drawing/2014/main" id="{FE6A7D3C-C23C-47DB-856F-E06596AC29E7}"/>
              </a:ext>
            </a:extLst>
          </p:cNvPr>
          <p:cNvSpPr>
            <a:spLocks xmlns:a="http://schemas.openxmlformats.org/drawingml/2006/main" noGrp="1"/>
          </p:cNvSpPr>
          <p:nvPr/>
        </p:nvSpPr>
        <p:spPr>
          <a:xfrm xmlns:a="http://schemas.openxmlformats.org/drawingml/2006/main">
            <a:off x="695325" y="4086225"/>
            <a:ext cx="1295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7B2DAF"/>
                </a:solidFill>
                <a:latin typeface="Yu Gothic"/>
                <a:ea typeface="Yu Gothic"/>
                <a:cs typeface="Yu Gothic"/>
              </a:defRPr>
            </a:pPr>
            <a:r>
              <a:rPr sz="1200" b="1" i="0">
                <a:solidFill>
                  <a:srgbClr val="7B2DAF"/>
                </a:solidFill>
                <a:latin typeface="Yu Gothic"/>
                <a:ea typeface="Yu Gothic"/>
                <a:cs typeface="Yu Gothic"/>
              </a:rPr>
              <a:t>High fidelity</a:t>
            </a:r>
          </a:p>
        </p:txBody>
      </p:sp>
      <p:sp>
        <p:nvSpPr>
          <p:cNvPr id="47" name="">
            <a:extLst xmlns:a="http://schemas.openxmlformats.org/drawingml/2006/main">
              <a:ext uri="{FF2B5EF4-FFF2-40B4-BE49-F238E27FC236}">
                <a16:creationId xmlns:a16="http://schemas.microsoft.com/office/drawing/2014/main" id="{83C13C30-004E-45A5-AB42-EC40E2A4EBD8}"/>
              </a:ext>
            </a:extLst>
          </p:cNvPr>
          <p:cNvSpPr>
            <a:spLocks xmlns:a="http://schemas.openxmlformats.org/drawingml/2006/main" noGrp="1"/>
          </p:cNvSpPr>
          <p:nvPr/>
        </p:nvSpPr>
        <p:spPr>
          <a:xfrm xmlns:a="http://schemas.openxmlformats.org/drawingml/2006/main">
            <a:off x="695325" y="4410075"/>
            <a:ext cx="1295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3000"/>
              </a:lnSpc>
              <a:buNone/>
              <a:defRPr sz="728" b="0" i="0">
                <a:solidFill>
                  <a:srgbClr val="5B5B5B"/>
                </a:solidFill>
                <a:latin typeface="Yu Gothic"/>
                <a:ea typeface="Yu Gothic"/>
                <a:cs typeface="Yu Gothic"/>
              </a:defRPr>
            </a:pPr>
            <a:r>
              <a:rPr sz="728" b="0" i="0">
                <a:solidFill>
                  <a:srgbClr val="5B5B5B"/>
                </a:solidFill>
                <a:latin typeface="Yu Gothic"/>
                <a:ea typeface="Yu Gothic"/>
                <a:cs typeface="Yu Gothic"/>
              </a:rPr>
              <a:t>ordinary report refresh does not rerun COMSOL</a:t>
            </a:r>
          </a:p>
        </p:txBody>
      </p:sp>
      <p:sp>
        <p:nvSpPr>
          <p:cNvPr id="48" name="">
            <a:extLst xmlns:a="http://schemas.openxmlformats.org/drawingml/2006/main">
              <a:ext uri="{FF2B5EF4-FFF2-40B4-BE49-F238E27FC236}">
                <a16:creationId xmlns:a16="http://schemas.microsoft.com/office/drawing/2014/main" id="{9149850E-1BAF-4BDD-A837-1BBA4203A5A9}"/>
              </a:ext>
            </a:extLst>
          </p:cNvPr>
          <p:cNvSpPr>
            <a:spLocks xmlns:a="http://schemas.openxmlformats.org/drawingml/2006/main" noGrp="1"/>
          </p:cNvSpPr>
          <p:nvPr/>
        </p:nvSpPr>
        <p:spPr>
          <a:xfrm xmlns:a="http://schemas.openxmlformats.org/drawingml/2006/main">
            <a:off x="2533650" y="39528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9" name="">
            <a:extLst xmlns:a="http://schemas.openxmlformats.org/drawingml/2006/main">
              <a:ext uri="{FF2B5EF4-FFF2-40B4-BE49-F238E27FC236}">
                <a16:creationId xmlns:a16="http://schemas.microsoft.com/office/drawing/2014/main" id="{D9C0092A-1D96-4339-9A12-56EFFC349080}"/>
              </a:ext>
            </a:extLst>
          </p:cNvPr>
          <p:cNvSpPr>
            <a:spLocks xmlns:a="http://schemas.openxmlformats.org/drawingml/2006/main" noGrp="1"/>
          </p:cNvSpPr>
          <p:nvPr/>
        </p:nvSpPr>
        <p:spPr>
          <a:xfrm xmlns:a="http://schemas.openxmlformats.org/drawingml/2006/main">
            <a:off x="2533650" y="3952875"/>
            <a:ext cx="57150" cy="96202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2EB1F778-9A1B-4C6A-9C5E-BCC36D50BC14}"/>
              </a:ext>
            </a:extLst>
          </p:cNvPr>
          <p:cNvSpPr>
            <a:spLocks xmlns:a="http://schemas.openxmlformats.org/drawingml/2006/main" noGrp="1"/>
          </p:cNvSpPr>
          <p:nvPr/>
        </p:nvSpPr>
        <p:spPr>
          <a:xfrm xmlns:a="http://schemas.openxmlformats.org/drawingml/2006/main">
            <a:off x="2695575" y="41052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mesh / time /</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radiation evidence</a:t>
            </a:r>
          </a:p>
        </p:txBody>
      </p:sp>
      <p:sp>
        <p:nvSpPr>
          <p:cNvPr id="51" name="">
            <a:extLst xmlns:a="http://schemas.openxmlformats.org/drawingml/2006/main">
              <a:ext uri="{FF2B5EF4-FFF2-40B4-BE49-F238E27FC236}">
                <a16:creationId xmlns:a16="http://schemas.microsoft.com/office/drawing/2014/main" id="{581A0BE4-708F-4103-A681-EE2674244836}"/>
              </a:ext>
            </a:extLst>
          </p:cNvPr>
          <p:cNvSpPr>
            <a:spLocks xmlns:a="http://schemas.openxmlformats.org/drawingml/2006/main" noGrp="1"/>
          </p:cNvSpPr>
          <p:nvPr/>
        </p:nvSpPr>
        <p:spPr>
          <a:xfrm xmlns:a="http://schemas.openxmlformats.org/drawingml/2006/main">
            <a:off x="4800600" y="39528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52" name="">
            <a:extLst xmlns:a="http://schemas.openxmlformats.org/drawingml/2006/main">
              <a:ext uri="{FF2B5EF4-FFF2-40B4-BE49-F238E27FC236}">
                <a16:creationId xmlns:a16="http://schemas.microsoft.com/office/drawing/2014/main" id="{7BE3B39B-1E7C-4CFA-B906-7DFFBAA9D512}"/>
              </a:ext>
            </a:extLst>
          </p:cNvPr>
          <p:cNvSpPr>
            <a:spLocks xmlns:a="http://schemas.openxmlformats.org/drawingml/2006/main" noGrp="1"/>
          </p:cNvSpPr>
          <p:nvPr/>
        </p:nvSpPr>
        <p:spPr>
          <a:xfrm xmlns:a="http://schemas.openxmlformats.org/drawingml/2006/main">
            <a:off x="4800600" y="3952875"/>
            <a:ext cx="57150" cy="96202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7FF122D3-F105-43BC-8246-D5DBE2CA24C7}"/>
              </a:ext>
            </a:extLst>
          </p:cNvPr>
          <p:cNvSpPr>
            <a:spLocks xmlns:a="http://schemas.openxmlformats.org/drawingml/2006/main" noGrp="1"/>
          </p:cNvSpPr>
          <p:nvPr/>
        </p:nvSpPr>
        <p:spPr>
          <a:xfrm xmlns:a="http://schemas.openxmlformats.org/drawingml/2006/main">
            <a:off x="4962525" y="41052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benchmark_</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high_fidelity.py</a:t>
            </a:r>
          </a:p>
        </p:txBody>
      </p:sp>
      <p:sp>
        <p:nvSpPr>
          <p:cNvPr id="54" name="">
            <a:extLst xmlns:a="http://schemas.openxmlformats.org/drawingml/2006/main">
              <a:ext uri="{FF2B5EF4-FFF2-40B4-BE49-F238E27FC236}">
                <a16:creationId xmlns:a16="http://schemas.microsoft.com/office/drawing/2014/main" id="{565B8CFC-7B2A-4ED0-A8A6-F2B6A6CA7E59}"/>
              </a:ext>
            </a:extLst>
          </p:cNvPr>
          <p:cNvSpPr>
            <a:spLocks xmlns:a="http://schemas.openxmlformats.org/drawingml/2006/main" noGrp="1"/>
          </p:cNvSpPr>
          <p:nvPr/>
        </p:nvSpPr>
        <p:spPr>
          <a:xfrm xmlns:a="http://schemas.openxmlformats.org/drawingml/2006/main">
            <a:off x="7067550" y="39528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55" name="">
            <a:extLst xmlns:a="http://schemas.openxmlformats.org/drawingml/2006/main">
              <a:ext uri="{FF2B5EF4-FFF2-40B4-BE49-F238E27FC236}">
                <a16:creationId xmlns:a16="http://schemas.microsoft.com/office/drawing/2014/main" id="{3EFD71EE-3638-4F14-BAC8-D81D1FF84297}"/>
              </a:ext>
            </a:extLst>
          </p:cNvPr>
          <p:cNvSpPr>
            <a:spLocks xmlns:a="http://schemas.openxmlformats.org/drawingml/2006/main" noGrp="1"/>
          </p:cNvSpPr>
          <p:nvPr/>
        </p:nvSpPr>
        <p:spPr>
          <a:xfrm xmlns:a="http://schemas.openxmlformats.org/drawingml/2006/main">
            <a:off x="7067550" y="3952875"/>
            <a:ext cx="57150" cy="96202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8D101CF-38DB-4A1F-A60F-77729325693C}"/>
              </a:ext>
            </a:extLst>
          </p:cNvPr>
          <p:cNvSpPr>
            <a:spLocks xmlns:a="http://schemas.openxmlformats.org/drawingml/2006/main" noGrp="1"/>
          </p:cNvSpPr>
          <p:nvPr/>
        </p:nvSpPr>
        <p:spPr>
          <a:xfrm xmlns:a="http://schemas.openxmlformats.org/drawingml/2006/main">
            <a:off x="7229475" y="41052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canonical</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source_data</a:t>
            </a:r>
          </a:p>
        </p:txBody>
      </p:sp>
      <p:sp>
        <p:nvSpPr>
          <p:cNvPr id="57" name="">
            <a:extLst xmlns:a="http://schemas.openxmlformats.org/drawingml/2006/main">
              <a:ext uri="{FF2B5EF4-FFF2-40B4-BE49-F238E27FC236}">
                <a16:creationId xmlns:a16="http://schemas.microsoft.com/office/drawing/2014/main" id="{27B50793-BDA9-426B-8429-3C55D56EBC92}"/>
              </a:ext>
            </a:extLst>
          </p:cNvPr>
          <p:cNvSpPr>
            <a:spLocks xmlns:a="http://schemas.openxmlformats.org/drawingml/2006/main" noGrp="1"/>
          </p:cNvSpPr>
          <p:nvPr/>
        </p:nvSpPr>
        <p:spPr>
          <a:xfrm xmlns:a="http://schemas.openxmlformats.org/drawingml/2006/main">
            <a:off x="9334500" y="39528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58" name="">
            <a:extLst xmlns:a="http://schemas.openxmlformats.org/drawingml/2006/main">
              <a:ext uri="{FF2B5EF4-FFF2-40B4-BE49-F238E27FC236}">
                <a16:creationId xmlns:a16="http://schemas.microsoft.com/office/drawing/2014/main" id="{C1E5865E-DE89-4FDA-9C92-E1010A2A5DBC}"/>
              </a:ext>
            </a:extLst>
          </p:cNvPr>
          <p:cNvSpPr>
            <a:spLocks xmlns:a="http://schemas.openxmlformats.org/drawingml/2006/main" noGrp="1"/>
          </p:cNvSpPr>
          <p:nvPr/>
        </p:nvSpPr>
        <p:spPr>
          <a:xfrm xmlns:a="http://schemas.openxmlformats.org/drawingml/2006/main">
            <a:off x="9334500" y="3952875"/>
            <a:ext cx="57150" cy="96202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59" name="">
            <a:extLst xmlns:a="http://schemas.openxmlformats.org/drawingml/2006/main">
              <a:ext uri="{FF2B5EF4-FFF2-40B4-BE49-F238E27FC236}">
                <a16:creationId xmlns:a16="http://schemas.microsoft.com/office/drawing/2014/main" id="{CAC54EB0-93BE-4820-9257-2D1D89D571AC}"/>
              </a:ext>
            </a:extLst>
          </p:cNvPr>
          <p:cNvSpPr>
            <a:spLocks xmlns:a="http://schemas.openxmlformats.org/drawingml/2006/main" noGrp="1"/>
          </p:cNvSpPr>
          <p:nvPr/>
        </p:nvSpPr>
        <p:spPr>
          <a:xfrm xmlns:a="http://schemas.openxmlformats.org/drawingml/2006/main">
            <a:off x="9496425" y="41052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build_report.py</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CAE report</a:t>
            </a:r>
          </a:p>
        </p:txBody>
      </p:sp>
      <p:cxnSp>
        <p:nvCxnSpPr>
          <p:cNvPr id="123" name=""/>
          <p:cNvCxnSpPr>
            <a:stCxn xmlns:a="http://schemas.openxmlformats.org/drawingml/2006/main" id="48" idx="3"/>
            <a:endCxn xmlns:a="http://schemas.openxmlformats.org/drawingml/2006/main" id="51" idx="1"/>
          </p:cNvCxnSpPr>
          <p:nvPr/>
        </p:nvCxnSpPr>
        <p:spPr>
          <a:xfrm xmlns:a="http://schemas.openxmlformats.org/drawingml/2006/main">
            <a:off x="4400550" y="4433888"/>
            <a:ext cx="400050" cy="0"/>
          </a:xfrm>
          <a:prstGeom xmlns:a="http://schemas.openxmlformats.org/drawingml/2006/main" prst="straightConnector1">
            <a:avLst/>
          </a:prstGeom>
          <a:ln xmlns:a="http://schemas.openxmlformats.org/drawingml/2006/main" w="14288">
            <a:solidFill>
              <a:srgbClr val="7B2DAF"/>
            </a:solidFill>
            <a:prstDash val="solid"/>
            <a:tailEnd type="triangle" w="sm" len="sm"/>
          </a:ln>
        </p:spPr>
      </p:cxnSp>
      <p:cxnSp>
        <p:nvCxnSpPr>
          <p:cNvPr id="124" name=""/>
          <p:cNvCxnSpPr>
            <a:stCxn xmlns:a="http://schemas.openxmlformats.org/drawingml/2006/main" id="51" idx="3"/>
            <a:endCxn xmlns:a="http://schemas.openxmlformats.org/drawingml/2006/main" id="54" idx="1"/>
          </p:cNvCxnSpPr>
          <p:nvPr/>
        </p:nvCxnSpPr>
        <p:spPr>
          <a:xfrm xmlns:a="http://schemas.openxmlformats.org/drawingml/2006/main">
            <a:off x="6667500" y="4433888"/>
            <a:ext cx="400050" cy="0"/>
          </a:xfrm>
          <a:prstGeom xmlns:a="http://schemas.openxmlformats.org/drawingml/2006/main" prst="straightConnector1">
            <a:avLst/>
          </a:prstGeom>
          <a:ln xmlns:a="http://schemas.openxmlformats.org/drawingml/2006/main" w="14288">
            <a:solidFill>
              <a:srgbClr val="7B2DAF"/>
            </a:solidFill>
            <a:prstDash val="solid"/>
            <a:tailEnd type="triangle" w="sm" len="sm"/>
          </a:ln>
        </p:spPr>
      </p:cxnSp>
      <p:cxnSp>
        <p:nvCxnSpPr>
          <p:cNvPr id="125" name=""/>
          <p:cNvCxnSpPr>
            <a:stCxn xmlns:a="http://schemas.openxmlformats.org/drawingml/2006/main" id="54" idx="3"/>
            <a:endCxn xmlns:a="http://schemas.openxmlformats.org/drawingml/2006/main" id="57" idx="1"/>
          </p:cNvCxnSpPr>
          <p:nvPr/>
        </p:nvCxnSpPr>
        <p:spPr>
          <a:xfrm xmlns:a="http://schemas.openxmlformats.org/drawingml/2006/main">
            <a:off x="8934450" y="4433888"/>
            <a:ext cx="400050" cy="0"/>
          </a:xfrm>
          <a:prstGeom xmlns:a="http://schemas.openxmlformats.org/drawingml/2006/main" prst="straightConnector1">
            <a:avLst/>
          </a:prstGeom>
          <a:ln xmlns:a="http://schemas.openxmlformats.org/drawingml/2006/main" w="14288">
            <a:solidFill>
              <a:srgbClr val="7B2DAF"/>
            </a:solidFill>
            <a:prstDash val="solid"/>
            <a:tailEnd type="triangle" w="sm" len="sm"/>
          </a:ln>
        </p:spPr>
      </p:cxnSp>
      <p:graphicFrame>
        <p:nvGraphicFramePr>
          <p:cNvPr id="126" name=""/>
          <p:cNvGraphicFramePr/>
          <p:nvPr/>
        </p:nvGraphicFramePr>
        <p:xfrm>
          <a:off xmlns:a="http://schemas.openxmlformats.org/drawingml/2006/main" x="552450" y="5181600"/>
          <a:ext xmlns:a="http://schemas.openxmlformats.org/drawingml/2006/main" cx="11087100" cy="1057275"/>
        </p:xfrm>
        <a:graphic xmlns:a="http://schemas.openxmlformats.org/drawingml/2006/main">
          <a:graphicData uri="http://schemas.openxmlformats.org/drawingml/2006/table">
            <a:tbl>
              <a:tblPr/>
              <a:tblGrid>
                <a:gridCol w="1924050"/>
                <a:gridCol w="2790825"/>
                <a:gridCol w="3419475"/>
                <a:gridCol w="2952750"/>
              </a:tblGrid>
              <a:tr h="264319">
                <a:tc>
                  <a:txBody>
                    <a:bodyPr/>
                    <a:lstStyle/>
                    <a:p>
                      <a:r>
                        <a:rPr sz="788" b="1">
                          <a:solidFill>
                            <a:srgbClr val="FFFFFF"/>
                          </a:solidFill>
                          <a:latin typeface="Yu Gothic"/>
                          <a:ea typeface="Yu Gothic"/>
                          <a:cs typeface="Yu Gothic"/>
                        </a:rPr>
                        <a:t>evidence layer</a:t>
                      </a:r>
                    </a:p>
                  </a:txBody>
                  <a:tcPr marL="91440" marR="91440" marT="45720" marB="45720">
                    <a:solidFill>
                      <a:srgbClr val="007FA8"/>
                    </a:solidFill>
                  </a:tcPr>
                </a:tc>
                <a:tc>
                  <a:txBody>
                    <a:bodyPr/>
                    <a:lstStyle/>
                    <a:p>
                      <a:r>
                        <a:rPr sz="788" b="1">
                          <a:solidFill>
                            <a:srgbClr val="FFFFFF"/>
                          </a:solidFill>
                          <a:latin typeface="Yu Gothic"/>
                          <a:ea typeface="Yu Gothic"/>
                          <a:cs typeface="Yu Gothic"/>
                        </a:rPr>
                        <a:t>primary output</a:t>
                      </a:r>
                    </a:p>
                  </a:txBody>
                  <a:tcPr marL="91440" marR="91440" marT="45720" marB="45720">
                    <a:solidFill>
                      <a:srgbClr val="007FA8"/>
                    </a:solidFill>
                  </a:tcPr>
                </a:tc>
                <a:tc>
                  <a:txBody>
                    <a:bodyPr/>
                    <a:lstStyle/>
                    <a:p>
                      <a:r>
                        <a:rPr sz="788" b="1">
                          <a:solidFill>
                            <a:srgbClr val="FFFFFF"/>
                          </a:solidFill>
                          <a:latin typeface="Yu Gothic"/>
                          <a:ea typeface="Yu Gothic"/>
                          <a:cs typeface="Yu Gothic"/>
                        </a:rPr>
                        <a:t>主張できる範囲</a:t>
                      </a:r>
                    </a:p>
                  </a:txBody>
                  <a:tcPr marL="91440" marR="91440" marT="45720" marB="45720">
                    <a:solidFill>
                      <a:srgbClr val="007FA8"/>
                    </a:solidFill>
                  </a:tcPr>
                </a:tc>
                <a:tc>
                  <a:txBody>
                    <a:bodyPr/>
                    <a:lstStyle/>
                    <a:p>
                      <a:r>
                        <a:rPr sz="788" b="1">
                          <a:solidFill>
                            <a:srgbClr val="FFFFFF"/>
                          </a:solidFill>
                          <a:latin typeface="Yu Gothic"/>
                          <a:ea typeface="Yu Gothic"/>
                          <a:cs typeface="Yu Gothic"/>
                        </a:rPr>
                        <a:t>停止条件 / 再評価条件</a:t>
                      </a:r>
                    </a:p>
                  </a:txBody>
                  <a:tcPr marL="91440" marR="91440" marT="45720" marB="45720">
                    <a:solidFill>
                      <a:srgbClr val="007FA8"/>
                    </a:solidFill>
                  </a:tcPr>
                </a:tc>
              </a:tr>
              <a:tr h="264319">
                <a:tc>
                  <a:txBody>
                    <a:bodyPr/>
                    <a:lstStyle/>
                    <a:p>
                      <a:r>
                        <a:rPr sz="743" b="1">
                          <a:solidFill>
                            <a:srgbClr val="4D8710"/>
                          </a:solidFill>
                          <a:latin typeface="Yu Gothic"/>
                          <a:ea typeface="Yu Gothic"/>
                          <a:cs typeface="Yu Gothic"/>
                        </a:rPr>
                        <a:t>TopCell</a:t>
                      </a:r>
                    </a:p>
                  </a:txBody>
                  <a:tcPr marL="91440" marR="91440" marT="45720" marB="45720">
                    <a:solidFill>
                      <a:srgbClr val="FFFFFF"/>
                    </a:solidFill>
                  </a:tcPr>
                </a:tc>
                <a:tc>
                  <a:txBody>
                    <a:bodyPr/>
                    <a:lstStyle/>
                    <a:p>
                      <a:r>
                        <a:rPr sz="743">
                          <a:solidFill>
                            <a:srgbClr val="5B5B5B"/>
                          </a:solidFill>
                          <a:latin typeface="Yu Gothic"/>
                          <a:ea typeface="Yu Gothic"/>
                          <a:cs typeface="Yu Gothic"/>
                        </a:rPr>
                        <a:t>benchmark_summary.json</a:t>
                      </a:r>
                    </a:p>
                  </a:txBody>
                  <a:tcPr marL="91440" marR="91440" marT="45720" marB="45720">
                    <a:solidFill>
                      <a:srgbClr val="FFFFFF"/>
                    </a:solidFill>
                  </a:tcPr>
                </a:tc>
                <a:tc>
                  <a:txBody>
                    <a:bodyPr/>
                    <a:lstStyle/>
                    <a:p>
                      <a:r>
                        <a:rPr sz="743">
                          <a:solidFill>
                            <a:srgbClr val="5B5B5B"/>
                          </a:solidFill>
                          <a:latin typeface="Yu Gothic"/>
                          <a:ea typeface="Yu Gothic"/>
                          <a:cs typeface="Yu Gothic"/>
                        </a:rPr>
                        <a:t>既知truth内の回帰・model gap検出</a:t>
                      </a:r>
                    </a:p>
                  </a:txBody>
                  <a:tcPr marL="91440" marR="91440" marT="45720" marB="45720">
                    <a:solidFill>
                      <a:srgbClr val="FFFFFF"/>
                    </a:solidFill>
                  </a:tcPr>
                </a:tc>
                <a:tc>
                  <a:txBody>
                    <a:bodyPr/>
                    <a:lstStyle/>
                    <a:p>
                      <a:r>
                        <a:rPr sz="743">
                          <a:solidFill>
                            <a:srgbClr val="5B5B5B"/>
                          </a:solidFill>
                          <a:latin typeface="Yu Gothic"/>
                          <a:ea typeface="Yu Gothic"/>
                          <a:cs typeface="Yu Gothic"/>
                        </a:rPr>
                        <a:t>core threshold逸脱 / negative control改善</a:t>
                      </a:r>
                    </a:p>
                  </a:txBody>
                  <a:tcPr marL="91440" marR="91440" marT="45720" marB="45720">
                    <a:solidFill>
                      <a:srgbClr val="FFFFFF"/>
                    </a:solidFill>
                  </a:tcPr>
                </a:tc>
              </a:tr>
              <a:tr h="264319">
                <a:tc>
                  <a:txBody>
                    <a:bodyPr/>
                    <a:lstStyle/>
                    <a:p>
                      <a:r>
                        <a:rPr sz="743" b="1">
                          <a:solidFill>
                            <a:srgbClr val="007FA8"/>
                          </a:solidFill>
                          <a:latin typeface="Yu Gothic"/>
                          <a:ea typeface="Yu Gothic"/>
                          <a:cs typeface="Yu Gothic"/>
                        </a:rPr>
                        <a:t>Linear COMSOL</a:t>
                      </a:r>
                    </a:p>
                  </a:txBody>
                  <a:tcPr marL="91440" marR="91440" marT="45720" marB="45720">
                    <a:solidFill>
                      <a:srgbClr val="F8F8F8"/>
                    </a:solidFill>
                  </a:tcPr>
                </a:tc>
                <a:tc>
                  <a:txBody>
                    <a:bodyPr/>
                    <a:lstStyle/>
                    <a:p>
                      <a:r>
                        <a:rPr sz="743">
                          <a:solidFill>
                            <a:srgbClr val="5B5B5B"/>
                          </a:solidFill>
                          <a:latin typeface="Yu Gothic"/>
                          <a:ea typeface="Yu Gothic"/>
                          <a:cs typeface="Yu Gothic"/>
                        </a:rPr>
                        <a:t>forecast_cases.csv / monitor metrics</a:t>
                      </a:r>
                    </a:p>
                  </a:txBody>
                  <a:tcPr marL="91440" marR="91440" marT="45720" marB="45720">
                    <a:solidFill>
                      <a:srgbClr val="F8F8F8"/>
                    </a:solidFill>
                  </a:tcPr>
                </a:tc>
                <a:tc>
                  <a:txBody>
                    <a:bodyPr/>
                    <a:lstStyle/>
                    <a:p>
                      <a:r>
                        <a:rPr sz="743">
                          <a:solidFill>
                            <a:srgbClr val="5B5B5B"/>
                          </a:solidFill>
                          <a:latin typeface="Yu Gothic"/>
                          <a:ea typeface="Yu Gothic"/>
                          <a:cs typeface="Yu Gothic"/>
                        </a:rPr>
                        <a:t>線形境界・領域平均への外部転移</a:t>
                      </a:r>
                    </a:p>
                  </a:txBody>
                  <a:tcPr marL="91440" marR="91440" marT="45720" marB="45720">
                    <a:solidFill>
                      <a:srgbClr val="F8F8F8"/>
                    </a:solidFill>
                  </a:tcPr>
                </a:tc>
                <a:tc>
                  <a:txBody>
                    <a:bodyPr/>
                    <a:lstStyle/>
                    <a:p>
                      <a:r>
                        <a:rPr sz="743">
                          <a:solidFill>
                            <a:srgbClr val="5B5B5B"/>
                          </a:solidFill>
                          <a:latin typeface="Yu Gothic"/>
                          <a:ea typeface="Yu Gothic"/>
                          <a:cs typeface="Yu Gothic"/>
                        </a:rPr>
                        <a:t>geometry・material・boundary変更</a:t>
                      </a:r>
                    </a:p>
                  </a:txBody>
                  <a:tcPr marL="91440" marR="91440" marT="45720" marB="45720">
                    <a:solidFill>
                      <a:srgbClr val="F8F8F8"/>
                    </a:solidFill>
                  </a:tcPr>
                </a:tc>
              </a:tr>
              <a:tr h="264319">
                <a:tc>
                  <a:txBody>
                    <a:bodyPr/>
                    <a:lstStyle/>
                    <a:p>
                      <a:r>
                        <a:rPr sz="743" b="1">
                          <a:solidFill>
                            <a:srgbClr val="7B2DAF"/>
                          </a:solidFill>
                          <a:latin typeface="Yu Gothic"/>
                          <a:ea typeface="Yu Gothic"/>
                          <a:cs typeface="Yu Gothic"/>
                        </a:rPr>
                        <a:t>High fidelity</a:t>
                      </a:r>
                    </a:p>
                  </a:txBody>
                  <a:tcPr marL="91440" marR="91440" marT="45720" marB="45720">
                    <a:solidFill>
                      <a:srgbClr val="FFFFFF"/>
                    </a:solidFill>
                  </a:tcPr>
                </a:tc>
                <a:tc>
                  <a:txBody>
                    <a:bodyPr/>
                    <a:lstStyle/>
                    <a:p>
                      <a:r>
                        <a:rPr sz="743">
                          <a:solidFill>
                            <a:srgbClr val="5B5B5B"/>
                          </a:solidFill>
                          <a:latin typeface="Yu Gothic"/>
                          <a:ea typeface="Yu Gothic"/>
                          <a:cs typeface="Yu Gothic"/>
                        </a:rPr>
                        <a:t>canonical source_data + report</a:t>
                      </a:r>
                    </a:p>
                  </a:txBody>
                  <a:tcPr marL="91440" marR="91440" marT="45720" marB="45720">
                    <a:solidFill>
                      <a:srgbClr val="FFFFFF"/>
                    </a:solidFill>
                  </a:tcPr>
                </a:tc>
                <a:tc>
                  <a:txBody>
                    <a:bodyPr/>
                    <a:lstStyle/>
                    <a:p>
                      <a:r>
                        <a:rPr sz="743">
                          <a:solidFill>
                            <a:srgbClr val="5B5B5B"/>
                          </a:solidFill>
                          <a:latin typeface="Yu Gothic"/>
                          <a:ea typeface="Yu Gothic"/>
                          <a:cs typeface="Yu Gothic"/>
                        </a:rPr>
                        <a:t>mesh/time/model-form screening</a:t>
                      </a:r>
                    </a:p>
                  </a:txBody>
                  <a:tcPr marL="91440" marR="91440" marT="45720" marB="45720">
                    <a:solidFill>
                      <a:srgbClr val="FFFFFF"/>
                    </a:solidFill>
                  </a:tcPr>
                </a:tc>
                <a:tc>
                  <a:txBody>
                    <a:bodyPr/>
                    <a:lstStyle/>
                    <a:p>
                      <a:r>
                        <a:rPr sz="743">
                          <a:solidFill>
                            <a:srgbClr val="5B5B5B"/>
                          </a:solidFill>
                          <a:latin typeface="Yu Gothic"/>
                          <a:ea typeface="Yu Gothic"/>
                          <a:cs typeface="Yu Gothic"/>
                        </a:rPr>
                        <a:t>mesh未収束 / radiation sensitivity不一致</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44703112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5BE96FAA-3FD2-421C-9965-F215269528A0}"/>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2888AEA-727A-4C42-8DAF-E4F449891A55}"/>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MONITORING EVIDENCE</a:t>
            </a:r>
          </a:p>
        </p:txBody>
      </p:sp>
      <p:sp>
        <p:nvSpPr>
          <p:cNvPr id="3" name="">
            <a:extLst xmlns:a="http://schemas.openxmlformats.org/drawingml/2006/main">
              <a:ext uri="{FF2B5EF4-FFF2-40B4-BE49-F238E27FC236}">
                <a16:creationId xmlns:a16="http://schemas.microsoft.com/office/drawing/2014/main" id="{0C15AB24-A66D-4791-9512-4A8914C0C6F3}"/>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sensor offsetは即時検知、3 W未指令発熱は10 sで検知した</a:t>
            </a:r>
          </a:p>
        </p:txBody>
      </p:sp>
      <p:sp>
        <p:nvSpPr>
          <p:cNvPr id="4" name="">
            <a:extLst xmlns:a="http://schemas.openxmlformats.org/drawingml/2006/main">
              <a:ext uri="{FF2B5EF4-FFF2-40B4-BE49-F238E27FC236}">
                <a16:creationId xmlns:a16="http://schemas.microsoft.com/office/drawing/2014/main" id="{F203F7B4-62D9-4E7A-A925-4CE2DB968B07}"/>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同じobserverが欠測中もposteriorを維持し、故障channelを分離する</a:t>
            </a:r>
          </a:p>
        </p:txBody>
      </p:sp>
      <p:sp>
        <p:nvSpPr>
          <p:cNvPr id="5" name="">
            <a:extLst xmlns:a="http://schemas.openxmlformats.org/drawingml/2006/main">
              <a:ext uri="{FF2B5EF4-FFF2-40B4-BE49-F238E27FC236}">
                <a16:creationId xmlns:a16="http://schemas.microsoft.com/office/drawing/2014/main" id="{061E5079-4D37-42AF-869C-86DD8AE55E71}"/>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D9422F98-79ED-4EEE-BBB1-091816279E2C}"/>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E2CC199A-B655-4597-B912-17D69FD94C7D}"/>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CB1B6CB5-7841-4D33-8153-301911954FDE}"/>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22</a:t>
            </a:r>
          </a:p>
        </p:txBody>
      </p:sp>
      <p:sp>
        <p:nvSpPr>
          <p:cNvPr id="9" name="">
            <a:extLst xmlns:a="http://schemas.openxmlformats.org/drawingml/2006/main">
              <a:ext uri="{FF2B5EF4-FFF2-40B4-BE49-F238E27FC236}">
                <a16:creationId xmlns:a16="http://schemas.microsoft.com/office/drawing/2014/main" id="{B79F643A-69B3-4CA7-82A5-019EAE9B1F05}"/>
              </a:ext>
            </a:extLst>
          </p:cNvPr>
          <p:cNvSpPr>
            <a:spLocks xmlns:a="http://schemas.openxmlformats.org/drawingml/2006/main" noGrp="1"/>
          </p:cNvSpPr>
          <p:nvPr/>
        </p:nvSpPr>
        <p:spPr>
          <a:xfrm xmlns:a="http://schemas.openxmlformats.org/drawingml/2006/main">
            <a:off x="552450" y="1381125"/>
            <a:ext cx="523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M03  +3 K chip sensor offset</a:t>
            </a:r>
          </a:p>
        </p:txBody>
      </p:sp>
      <p:graphicFrame>
        <p:nvGraphicFramePr>
          <p:cNvPr id="44" name="Chart"/>
          <p:cNvGraphicFramePr/>
          <p:nvPr/>
        </p:nvGraphicFramePr>
        <p:xfrm>
          <a:off xmlns:a="http://schemas.openxmlformats.org/drawingml/2006/main" x="552450" y="1657350"/>
          <a:ext xmlns:a="http://schemas.openxmlformats.org/drawingml/2006/main" cx="5257800" cy="2971800"/>
        </p:xfrm>
        <a:graphic xmlns:a="http://schemas.openxmlformats.org/drawingml/2006/main">
          <a:graphicData uri="http://schemas.openxmlformats.org/drawingml/2006/chart">
            <c:chart xmlns:r="http://schemas.openxmlformats.org/officeDocument/2006/relationships" xmlns:c="http://schemas.openxmlformats.org/drawingml/2006/chart" r:id="R80a52bdc841d4bf4"/>
          </a:graphicData>
        </a:graphic>
      </p:graphicFrame>
      <p:sp>
        <p:nvSpPr>
          <p:cNvPr id="11" name="">
            <a:extLst xmlns:a="http://schemas.openxmlformats.org/drawingml/2006/main">
              <a:ext uri="{FF2B5EF4-FFF2-40B4-BE49-F238E27FC236}">
                <a16:creationId xmlns:a16="http://schemas.microsoft.com/office/drawing/2014/main" id="{797EA89F-CBFA-4B64-A2F1-C05658373B9D}"/>
              </a:ext>
            </a:extLst>
          </p:cNvPr>
          <p:cNvSpPr>
            <a:spLocks xmlns:a="http://schemas.openxmlformats.org/drawingml/2006/main" noGrp="1"/>
          </p:cNvSpPr>
          <p:nvPr/>
        </p:nvSpPr>
        <p:spPr>
          <a:xfrm xmlns:a="http://schemas.openxmlformats.org/drawingml/2006/main">
            <a:off x="552450" y="4657725"/>
            <a:ext cx="5257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88" b="1" i="0">
                <a:solidFill>
                  <a:srgbClr val="7B2DAF"/>
                </a:solidFill>
                <a:latin typeface="Yu Gothic"/>
                <a:ea typeface="Yu Gothic"/>
                <a:cs typeface="Yu Gothic"/>
              </a:defRPr>
            </a:pPr>
            <a:r>
              <a:rPr sz="788" b="1" i="0">
                <a:solidFill>
                  <a:srgbClr val="7B2DAF"/>
                </a:solidFill>
                <a:latin typeface="Yu Gothic"/>
                <a:ea typeface="Yu Gothic"/>
                <a:cs typeface="Yu Gothic"/>
              </a:rPr>
              <a:t>event start = first detection = 300 s</a:t>
            </a:r>
          </a:p>
        </p:txBody>
      </p:sp>
      <p:sp>
        <p:nvSpPr>
          <p:cNvPr id="12" name="">
            <a:extLst xmlns:a="http://schemas.openxmlformats.org/drawingml/2006/main">
              <a:ext uri="{FF2B5EF4-FFF2-40B4-BE49-F238E27FC236}">
                <a16:creationId xmlns:a16="http://schemas.microsoft.com/office/drawing/2014/main" id="{5EFC8FBB-AFE5-4D74-AE9F-152A718BBAE8}"/>
              </a:ext>
            </a:extLst>
          </p:cNvPr>
          <p:cNvSpPr>
            <a:spLocks xmlns:a="http://schemas.openxmlformats.org/drawingml/2006/main" noGrp="1"/>
          </p:cNvSpPr>
          <p:nvPr/>
        </p:nvSpPr>
        <p:spPr>
          <a:xfrm xmlns:a="http://schemas.openxmlformats.org/drawingml/2006/main">
            <a:off x="6381750" y="1381125"/>
            <a:ext cx="5257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M05  3 W hidden heat</a:t>
            </a:r>
          </a:p>
        </p:txBody>
      </p:sp>
      <p:graphicFrame>
        <p:nvGraphicFramePr>
          <p:cNvPr id="47" name="Chart"/>
          <p:cNvGraphicFramePr/>
          <p:nvPr/>
        </p:nvGraphicFramePr>
        <p:xfrm>
          <a:off xmlns:a="http://schemas.openxmlformats.org/drawingml/2006/main" x="6381750" y="1657350"/>
          <a:ext xmlns:a="http://schemas.openxmlformats.org/drawingml/2006/main" cx="5257800" cy="2971800"/>
        </p:xfrm>
        <a:graphic xmlns:a="http://schemas.openxmlformats.org/drawingml/2006/main">
          <a:graphicData uri="http://schemas.openxmlformats.org/drawingml/2006/chart">
            <c:chart xmlns:r="http://schemas.openxmlformats.org/officeDocument/2006/relationships" xmlns:c="http://schemas.openxmlformats.org/drawingml/2006/chart" r:id="R516c2687d96745fb"/>
          </a:graphicData>
        </a:graphic>
      </p:graphicFrame>
      <p:sp>
        <p:nvSpPr>
          <p:cNvPr id="14" name="">
            <a:extLst xmlns:a="http://schemas.openxmlformats.org/drawingml/2006/main">
              <a:ext uri="{FF2B5EF4-FFF2-40B4-BE49-F238E27FC236}">
                <a16:creationId xmlns:a16="http://schemas.microsoft.com/office/drawing/2014/main" id="{E8279B8D-5512-4F77-90D7-5894C0D5FAD6}"/>
              </a:ext>
            </a:extLst>
          </p:cNvPr>
          <p:cNvSpPr>
            <a:spLocks xmlns:a="http://schemas.openxmlformats.org/drawingml/2006/main" noGrp="1"/>
          </p:cNvSpPr>
          <p:nvPr/>
        </p:nvSpPr>
        <p:spPr>
          <a:xfrm xmlns:a="http://schemas.openxmlformats.org/drawingml/2006/main">
            <a:off x="6381750" y="4657725"/>
            <a:ext cx="5257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88" b="1" i="0">
                <a:solidFill>
                  <a:srgbClr val="007FA8"/>
                </a:solidFill>
                <a:latin typeface="Yu Gothic"/>
                <a:ea typeface="Yu Gothic"/>
                <a:cs typeface="Yu Gothic"/>
              </a:defRPr>
            </a:pPr>
            <a:r>
              <a:rPr sz="788" b="1" i="0">
                <a:solidFill>
                  <a:srgbClr val="007FA8"/>
                </a:solidFill>
                <a:latin typeface="Yu Gothic"/>
                <a:ea typeface="Yu Gothic"/>
                <a:cs typeface="Yu Gothic"/>
              </a:rPr>
              <a:t>event 282–380 s / first detection 292 s</a:t>
            </a:r>
          </a:p>
        </p:txBody>
      </p:sp>
      <p:sp>
        <p:nvSpPr>
          <p:cNvPr id="15" name="">
            <a:extLst xmlns:a="http://schemas.openxmlformats.org/drawingml/2006/main">
              <a:ext uri="{FF2B5EF4-FFF2-40B4-BE49-F238E27FC236}">
                <a16:creationId xmlns:a16="http://schemas.microsoft.com/office/drawing/2014/main" id="{9932681B-B918-43C5-9904-AC94B094B418}"/>
              </a:ext>
            </a:extLst>
          </p:cNvPr>
          <p:cNvSpPr>
            <a:spLocks xmlns:a="http://schemas.openxmlformats.org/drawingml/2006/main" noGrp="1"/>
          </p:cNvSpPr>
          <p:nvPr/>
        </p:nvSpPr>
        <p:spPr>
          <a:xfrm xmlns:a="http://schemas.openxmlformats.org/drawingml/2006/main">
            <a:off x="552450" y="5067300"/>
            <a:ext cx="257175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AE0B0FBA-0295-49BE-A8C7-1C7C5C4E9CE5}"/>
              </a:ext>
            </a:extLst>
          </p:cNvPr>
          <p:cNvSpPr>
            <a:spLocks xmlns:a="http://schemas.openxmlformats.org/drawingml/2006/main" noGrp="1"/>
          </p:cNvSpPr>
          <p:nvPr/>
        </p:nvSpPr>
        <p:spPr>
          <a:xfrm xmlns:a="http://schemas.openxmlformats.org/drawingml/2006/main">
            <a:off x="552450" y="5067300"/>
            <a:ext cx="66675" cy="10572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2C4BDD2-1194-4B88-BAB1-02FF7FACC94B}"/>
              </a:ext>
            </a:extLst>
          </p:cNvPr>
          <p:cNvSpPr>
            <a:spLocks xmlns:a="http://schemas.openxmlformats.org/drawingml/2006/main" noGrp="1"/>
          </p:cNvSpPr>
          <p:nvPr/>
        </p:nvSpPr>
        <p:spPr>
          <a:xfrm xmlns:a="http://schemas.openxmlformats.org/drawingml/2006/main">
            <a:off x="742950" y="5162550"/>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 s</a:t>
            </a:r>
          </a:p>
        </p:txBody>
      </p:sp>
      <p:sp>
        <p:nvSpPr>
          <p:cNvPr id="18" name="">
            <a:extLst xmlns:a="http://schemas.openxmlformats.org/drawingml/2006/main">
              <a:ext uri="{FF2B5EF4-FFF2-40B4-BE49-F238E27FC236}">
                <a16:creationId xmlns:a16="http://schemas.microsoft.com/office/drawing/2014/main" id="{B8BCD67D-BFC6-4ECA-9E5B-14FAC07A1B6E}"/>
              </a:ext>
            </a:extLst>
          </p:cNvPr>
          <p:cNvSpPr>
            <a:spLocks xmlns:a="http://schemas.openxmlformats.org/drawingml/2006/main" noGrp="1"/>
          </p:cNvSpPr>
          <p:nvPr/>
        </p:nvSpPr>
        <p:spPr>
          <a:xfrm xmlns:a="http://schemas.openxmlformats.org/drawingml/2006/main">
            <a:off x="742950" y="55435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M03 detection delay</a:t>
            </a:r>
          </a:p>
        </p:txBody>
      </p:sp>
      <p:sp>
        <p:nvSpPr>
          <p:cNvPr id="19" name="">
            <a:extLst xmlns:a="http://schemas.openxmlformats.org/drawingml/2006/main">
              <a:ext uri="{FF2B5EF4-FFF2-40B4-BE49-F238E27FC236}">
                <a16:creationId xmlns:a16="http://schemas.microsoft.com/office/drawing/2014/main" id="{02EDA77D-73EB-4B08-9EAD-CDCCEED93033}"/>
              </a:ext>
            </a:extLst>
          </p:cNvPr>
          <p:cNvSpPr>
            <a:spLocks xmlns:a="http://schemas.openxmlformats.org/drawingml/2006/main" noGrp="1"/>
          </p:cNvSpPr>
          <p:nvPr/>
        </p:nvSpPr>
        <p:spPr>
          <a:xfrm xmlns:a="http://schemas.openxmlformats.org/drawingml/2006/main">
            <a:off x="742950" y="58293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max NIS 403.305</a:t>
            </a:r>
          </a:p>
        </p:txBody>
      </p:sp>
      <p:sp>
        <p:nvSpPr>
          <p:cNvPr id="20" name="">
            <a:extLst xmlns:a="http://schemas.openxmlformats.org/drawingml/2006/main">
              <a:ext uri="{FF2B5EF4-FFF2-40B4-BE49-F238E27FC236}">
                <a16:creationId xmlns:a16="http://schemas.microsoft.com/office/drawing/2014/main" id="{7440E158-068D-492E-9280-A6FEC27EF6EF}"/>
              </a:ext>
            </a:extLst>
          </p:cNvPr>
          <p:cNvSpPr>
            <a:spLocks xmlns:a="http://schemas.openxmlformats.org/drawingml/2006/main" noGrp="1"/>
          </p:cNvSpPr>
          <p:nvPr/>
        </p:nvSpPr>
        <p:spPr>
          <a:xfrm xmlns:a="http://schemas.openxmlformats.org/drawingml/2006/main">
            <a:off x="3324225" y="5067300"/>
            <a:ext cx="257175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1" name="">
            <a:extLst xmlns:a="http://schemas.openxmlformats.org/drawingml/2006/main">
              <a:ext uri="{FF2B5EF4-FFF2-40B4-BE49-F238E27FC236}">
                <a16:creationId xmlns:a16="http://schemas.microsoft.com/office/drawing/2014/main" id="{99A87839-9D73-4415-BED1-962815D629A4}"/>
              </a:ext>
            </a:extLst>
          </p:cNvPr>
          <p:cNvSpPr>
            <a:spLocks xmlns:a="http://schemas.openxmlformats.org/drawingml/2006/main" noGrp="1"/>
          </p:cNvSpPr>
          <p:nvPr/>
        </p:nvSpPr>
        <p:spPr>
          <a:xfrm xmlns:a="http://schemas.openxmlformats.org/drawingml/2006/main">
            <a:off x="3324225" y="5067300"/>
            <a:ext cx="66675" cy="10572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2DD2026-D083-4002-8A8C-2FD80053456B}"/>
              </a:ext>
            </a:extLst>
          </p:cNvPr>
          <p:cNvSpPr>
            <a:spLocks xmlns:a="http://schemas.openxmlformats.org/drawingml/2006/main" noGrp="1"/>
          </p:cNvSpPr>
          <p:nvPr/>
        </p:nvSpPr>
        <p:spPr>
          <a:xfrm xmlns:a="http://schemas.openxmlformats.org/drawingml/2006/main">
            <a:off x="3514725" y="5162550"/>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0.040 K</a:t>
            </a:r>
          </a:p>
        </p:txBody>
      </p:sp>
      <p:sp>
        <p:nvSpPr>
          <p:cNvPr id="23" name="">
            <a:extLst xmlns:a="http://schemas.openxmlformats.org/drawingml/2006/main">
              <a:ext uri="{FF2B5EF4-FFF2-40B4-BE49-F238E27FC236}">
                <a16:creationId xmlns:a16="http://schemas.microsoft.com/office/drawing/2014/main" id="{DDF59577-8EEC-48E8-9B6F-D5C8717229A2}"/>
              </a:ext>
            </a:extLst>
          </p:cNvPr>
          <p:cNvSpPr>
            <a:spLocks xmlns:a="http://schemas.openxmlformats.org/drawingml/2006/main" noGrp="1"/>
          </p:cNvSpPr>
          <p:nvPr/>
        </p:nvSpPr>
        <p:spPr>
          <a:xfrm xmlns:a="http://schemas.openxmlformats.org/drawingml/2006/main">
            <a:off x="3514725" y="55435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M04 missing-window RMSE</a:t>
            </a:r>
          </a:p>
        </p:txBody>
      </p:sp>
      <p:sp>
        <p:nvSpPr>
          <p:cNvPr id="24" name="">
            <a:extLst xmlns:a="http://schemas.openxmlformats.org/drawingml/2006/main">
              <a:ext uri="{FF2B5EF4-FFF2-40B4-BE49-F238E27FC236}">
                <a16:creationId xmlns:a16="http://schemas.microsoft.com/office/drawing/2014/main" id="{7F683D78-D2A1-4EF8-9150-E171BF646338}"/>
              </a:ext>
            </a:extLst>
          </p:cNvPr>
          <p:cNvSpPr>
            <a:spLocks xmlns:a="http://schemas.openxmlformats.org/drawingml/2006/main" noGrp="1"/>
          </p:cNvSpPr>
          <p:nvPr/>
        </p:nvSpPr>
        <p:spPr>
          <a:xfrm xmlns:a="http://schemas.openxmlformats.org/drawingml/2006/main">
            <a:off x="3514725" y="58293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posterior remains finite</a:t>
            </a:r>
          </a:p>
        </p:txBody>
      </p:sp>
      <p:sp>
        <p:nvSpPr>
          <p:cNvPr id="25" name="">
            <a:extLst xmlns:a="http://schemas.openxmlformats.org/drawingml/2006/main">
              <a:ext uri="{FF2B5EF4-FFF2-40B4-BE49-F238E27FC236}">
                <a16:creationId xmlns:a16="http://schemas.microsoft.com/office/drawing/2014/main" id="{A536518E-E73C-4C87-B7AB-B36802FA09C7}"/>
              </a:ext>
            </a:extLst>
          </p:cNvPr>
          <p:cNvSpPr>
            <a:spLocks xmlns:a="http://schemas.openxmlformats.org/drawingml/2006/main" noGrp="1"/>
          </p:cNvSpPr>
          <p:nvPr/>
        </p:nvSpPr>
        <p:spPr>
          <a:xfrm xmlns:a="http://schemas.openxmlformats.org/drawingml/2006/main">
            <a:off x="6096000" y="5067300"/>
            <a:ext cx="257175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6" name="">
            <a:extLst xmlns:a="http://schemas.openxmlformats.org/drawingml/2006/main">
              <a:ext uri="{FF2B5EF4-FFF2-40B4-BE49-F238E27FC236}">
                <a16:creationId xmlns:a16="http://schemas.microsoft.com/office/drawing/2014/main" id="{198BD200-26DB-4317-B003-D7D60D4F0358}"/>
              </a:ext>
            </a:extLst>
          </p:cNvPr>
          <p:cNvSpPr>
            <a:spLocks xmlns:a="http://schemas.openxmlformats.org/drawingml/2006/main" noGrp="1"/>
          </p:cNvSpPr>
          <p:nvPr/>
        </p:nvSpPr>
        <p:spPr>
          <a:xfrm xmlns:a="http://schemas.openxmlformats.org/drawingml/2006/main">
            <a:off x="6096000" y="5067300"/>
            <a:ext cx="66675" cy="105727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EAB9C10-3545-4A2A-AFA0-EEE685203F67}"/>
              </a:ext>
            </a:extLst>
          </p:cNvPr>
          <p:cNvSpPr>
            <a:spLocks xmlns:a="http://schemas.openxmlformats.org/drawingml/2006/main" noGrp="1"/>
          </p:cNvSpPr>
          <p:nvPr/>
        </p:nvSpPr>
        <p:spPr>
          <a:xfrm xmlns:a="http://schemas.openxmlformats.org/drawingml/2006/main">
            <a:off x="6286500" y="5162550"/>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10 s</a:t>
            </a:r>
          </a:p>
        </p:txBody>
      </p:sp>
      <p:sp>
        <p:nvSpPr>
          <p:cNvPr id="28" name="">
            <a:extLst xmlns:a="http://schemas.openxmlformats.org/drawingml/2006/main">
              <a:ext uri="{FF2B5EF4-FFF2-40B4-BE49-F238E27FC236}">
                <a16:creationId xmlns:a16="http://schemas.microsoft.com/office/drawing/2014/main" id="{75FE11BE-65F2-4550-983D-0471CC1A2B95}"/>
              </a:ext>
            </a:extLst>
          </p:cNvPr>
          <p:cNvSpPr>
            <a:spLocks xmlns:a="http://schemas.openxmlformats.org/drawingml/2006/main" noGrp="1"/>
          </p:cNvSpPr>
          <p:nvPr/>
        </p:nvSpPr>
        <p:spPr>
          <a:xfrm xmlns:a="http://schemas.openxmlformats.org/drawingml/2006/main">
            <a:off x="6286500" y="55435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M05 detection delay</a:t>
            </a:r>
          </a:p>
        </p:txBody>
      </p:sp>
      <p:sp>
        <p:nvSpPr>
          <p:cNvPr id="29" name="">
            <a:extLst xmlns:a="http://schemas.openxmlformats.org/drawingml/2006/main">
              <a:ext uri="{FF2B5EF4-FFF2-40B4-BE49-F238E27FC236}">
                <a16:creationId xmlns:a16="http://schemas.microsoft.com/office/drawing/2014/main" id="{1D097644-B8D3-48A3-8283-E19D2008620C}"/>
              </a:ext>
            </a:extLst>
          </p:cNvPr>
          <p:cNvSpPr>
            <a:spLocks xmlns:a="http://schemas.openxmlformats.org/drawingml/2006/main" noGrp="1"/>
          </p:cNvSpPr>
          <p:nvPr/>
        </p:nvSpPr>
        <p:spPr>
          <a:xfrm xmlns:a="http://schemas.openxmlformats.org/drawingml/2006/main">
            <a:off x="6286500" y="58293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3 W uncommanded heat</a:t>
            </a:r>
          </a:p>
        </p:txBody>
      </p:sp>
      <p:sp>
        <p:nvSpPr>
          <p:cNvPr id="30" name="">
            <a:extLst xmlns:a="http://schemas.openxmlformats.org/drawingml/2006/main">
              <a:ext uri="{FF2B5EF4-FFF2-40B4-BE49-F238E27FC236}">
                <a16:creationId xmlns:a16="http://schemas.microsoft.com/office/drawing/2014/main" id="{8D44360C-2D93-4A40-B7B5-422A45D8AB50}"/>
              </a:ext>
            </a:extLst>
          </p:cNvPr>
          <p:cNvSpPr>
            <a:spLocks xmlns:a="http://schemas.openxmlformats.org/drawingml/2006/main" noGrp="1"/>
          </p:cNvSpPr>
          <p:nvPr/>
        </p:nvSpPr>
        <p:spPr>
          <a:xfrm xmlns:a="http://schemas.openxmlformats.org/drawingml/2006/main">
            <a:off x="8867775" y="5067300"/>
            <a:ext cx="2771775"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1" name="">
            <a:extLst xmlns:a="http://schemas.openxmlformats.org/drawingml/2006/main">
              <a:ext uri="{FF2B5EF4-FFF2-40B4-BE49-F238E27FC236}">
                <a16:creationId xmlns:a16="http://schemas.microsoft.com/office/drawing/2014/main" id="{276B3C99-ED85-42E0-87B5-4CF469BEBF13}"/>
              </a:ext>
            </a:extLst>
          </p:cNvPr>
          <p:cNvSpPr>
            <a:spLocks xmlns:a="http://schemas.openxmlformats.org/drawingml/2006/main" noGrp="1"/>
          </p:cNvSpPr>
          <p:nvPr/>
        </p:nvSpPr>
        <p:spPr>
          <a:xfrm xmlns:a="http://schemas.openxmlformats.org/drawingml/2006/main">
            <a:off x="8867775" y="5067300"/>
            <a:ext cx="66675" cy="1057275"/>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DF6366BA-5019-4ADD-9B5D-C6C254BCD1C4}"/>
              </a:ext>
            </a:extLst>
          </p:cNvPr>
          <p:cNvSpPr>
            <a:spLocks xmlns:a="http://schemas.openxmlformats.org/drawingml/2006/main" noGrp="1"/>
          </p:cNvSpPr>
          <p:nvPr/>
        </p:nvSpPr>
        <p:spPr>
          <a:xfrm xmlns:a="http://schemas.openxmlformats.org/drawingml/2006/main">
            <a:off x="9058275" y="5162550"/>
            <a:ext cx="24860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3.182 W</a:t>
            </a:r>
          </a:p>
        </p:txBody>
      </p:sp>
      <p:sp>
        <p:nvSpPr>
          <p:cNvPr id="33" name="">
            <a:extLst xmlns:a="http://schemas.openxmlformats.org/drawingml/2006/main">
              <a:ext uri="{FF2B5EF4-FFF2-40B4-BE49-F238E27FC236}">
                <a16:creationId xmlns:a16="http://schemas.microsoft.com/office/drawing/2014/main" id="{EC2709CB-DB33-4164-960C-8783BF6AE74B}"/>
              </a:ext>
            </a:extLst>
          </p:cNvPr>
          <p:cNvSpPr>
            <a:spLocks xmlns:a="http://schemas.openxmlformats.org/drawingml/2006/main" noGrp="1"/>
          </p:cNvSpPr>
          <p:nvPr/>
        </p:nvSpPr>
        <p:spPr>
          <a:xfrm xmlns:a="http://schemas.openxmlformats.org/drawingml/2006/main">
            <a:off x="9058275" y="5543550"/>
            <a:ext cx="24860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M05 estimated peak</a:t>
            </a:r>
          </a:p>
        </p:txBody>
      </p:sp>
      <p:sp>
        <p:nvSpPr>
          <p:cNvPr id="34" name="">
            <a:extLst xmlns:a="http://schemas.openxmlformats.org/drawingml/2006/main">
              <a:ext uri="{FF2B5EF4-FFF2-40B4-BE49-F238E27FC236}">
                <a16:creationId xmlns:a16="http://schemas.microsoft.com/office/drawing/2014/main" id="{1528301C-7DB7-4616-96B3-C1E59F637D49}"/>
              </a:ext>
            </a:extLst>
          </p:cNvPr>
          <p:cNvSpPr>
            <a:spLocks xmlns:a="http://schemas.openxmlformats.org/drawingml/2006/main" noGrp="1"/>
          </p:cNvSpPr>
          <p:nvPr/>
        </p:nvSpPr>
        <p:spPr>
          <a:xfrm xmlns:a="http://schemas.openxmlformats.org/drawingml/2006/main">
            <a:off x="9058275" y="5829300"/>
            <a:ext cx="24860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event sensor bias ≤ 0.061 K</a:t>
            </a:r>
          </a:p>
        </p:txBody>
      </p:sp>
    </p:spTree>
    <p:extLst>
      <p:ext uri="{BB962C8B-B14F-4D97-AF65-F5344CB8AC3E}">
        <p14:creationId xmlns:p14="http://schemas.microsoft.com/office/powerpoint/2010/main" val="97992316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79886CE3-9D13-4494-AB5E-4B612C7BB443}"/>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C831AD8-DC86-4751-A6A9-2AFB671979A7}"/>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SYNTHETIC BENCHMARK</a:t>
            </a:r>
          </a:p>
        </p:txBody>
      </p:sp>
      <p:sp>
        <p:nvSpPr>
          <p:cNvPr id="3" name="">
            <a:extLst xmlns:a="http://schemas.openxmlformats.org/drawingml/2006/main">
              <a:ext uri="{FF2B5EF4-FFF2-40B4-BE49-F238E27FC236}">
                <a16:creationId xmlns:a16="http://schemas.microsoft.com/office/drawing/2014/main" id="{0BE9CE51-0530-48C7-A9A5-8CD7ADB1519C}"/>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TopCellは通常条件で安定する一方、初期観測の疎さが最大誤差を支配した</a:t>
            </a:r>
          </a:p>
        </p:txBody>
      </p:sp>
      <p:sp>
        <p:nvSpPr>
          <p:cNvPr id="4" name="">
            <a:extLst xmlns:a="http://schemas.openxmlformats.org/drawingml/2006/main">
              <a:ext uri="{FF2B5EF4-FFF2-40B4-BE49-F238E27FC236}">
                <a16:creationId xmlns:a16="http://schemas.microsoft.com/office/drawing/2014/main" id="{7D72510A-FCFB-484E-8D9D-05520327F534}"/>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意図的model gapはcore scoreから分離し、失敗を隠さない</a:t>
            </a:r>
          </a:p>
        </p:txBody>
      </p:sp>
      <p:sp>
        <p:nvSpPr>
          <p:cNvPr id="5" name="">
            <a:extLst xmlns:a="http://schemas.openxmlformats.org/drawingml/2006/main">
              <a:ext uri="{FF2B5EF4-FFF2-40B4-BE49-F238E27FC236}">
                <a16:creationId xmlns:a16="http://schemas.microsoft.com/office/drawing/2014/main" id="{9349D07F-5FD0-46ED-85F0-170F1D891A60}"/>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FE574636-82A4-48F3-8E4B-5D8F6742A9A0}"/>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E880F5A0-5B67-4A01-A4AF-F129D684C509}"/>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6B03706E-902C-4DF4-BDDD-AC0E7A0E1C88}"/>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23</a:t>
            </a:r>
          </a:p>
        </p:txBody>
      </p:sp>
      <p:sp>
        <p:nvSpPr>
          <p:cNvPr id="9" name="">
            <a:extLst xmlns:a="http://schemas.openxmlformats.org/drawingml/2006/main">
              <a:ext uri="{FF2B5EF4-FFF2-40B4-BE49-F238E27FC236}">
                <a16:creationId xmlns:a16="http://schemas.microsoft.com/office/drawing/2014/main" id="{DA36F1DA-A0F1-4DF0-A12A-A3EB1ADFBFB2}"/>
              </a:ext>
            </a:extLst>
          </p:cNvPr>
          <p:cNvSpPr>
            <a:spLocks xmlns:a="http://schemas.openxmlformats.org/drawingml/2006/main" noGrp="1"/>
          </p:cNvSpPr>
          <p:nvPr/>
        </p:nvSpPr>
        <p:spPr>
          <a:xfrm xmlns:a="http://schemas.openxmlformats.org/drawingml/2006/main">
            <a:off x="552450" y="1381125"/>
            <a:ext cx="5257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core group mean RMSE</a:t>
            </a:r>
          </a:p>
        </p:txBody>
      </p:sp>
      <p:graphicFrame>
        <p:nvGraphicFramePr>
          <p:cNvPr id="40" name="Chart"/>
          <p:cNvGraphicFramePr/>
          <p:nvPr/>
        </p:nvGraphicFramePr>
        <p:xfrm>
          <a:off xmlns:a="http://schemas.openxmlformats.org/drawingml/2006/main" x="552450" y="1657350"/>
          <a:ext xmlns:a="http://schemas.openxmlformats.org/drawingml/2006/main" cx="5257800" cy="3124200"/>
        </p:xfrm>
        <a:graphic xmlns:a="http://schemas.openxmlformats.org/drawingml/2006/main">
          <a:graphicData uri="http://schemas.openxmlformats.org/drawingml/2006/chart">
            <c:chart xmlns:r="http://schemas.openxmlformats.org/officeDocument/2006/relationships" xmlns:c="http://schemas.openxmlformats.org/drawingml/2006/chart" r:id="Rd108f5a285d2406c"/>
          </a:graphicData>
        </a:graphic>
      </p:graphicFrame>
      <p:sp>
        <p:nvSpPr>
          <p:cNvPr id="11" name="">
            <a:extLst xmlns:a="http://schemas.openxmlformats.org/drawingml/2006/main">
              <a:ext uri="{FF2B5EF4-FFF2-40B4-BE49-F238E27FC236}">
                <a16:creationId xmlns:a16="http://schemas.microsoft.com/office/drawing/2014/main" id="{56319D26-FF7E-4474-8A3F-11D3AA5FD93F}"/>
              </a:ext>
            </a:extLst>
          </p:cNvPr>
          <p:cNvSpPr>
            <a:spLocks xmlns:a="http://schemas.openxmlformats.org/drawingml/2006/main" noGrp="1"/>
          </p:cNvSpPr>
          <p:nvPr/>
        </p:nvSpPr>
        <p:spPr>
          <a:xfrm xmlns:a="http://schemas.openxmlformats.org/drawingml/2006/main">
            <a:off x="6381750" y="1381125"/>
            <a:ext cx="5257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初期化ケースの改善</a:t>
            </a:r>
          </a:p>
        </p:txBody>
      </p:sp>
      <p:graphicFrame>
        <p:nvGraphicFramePr>
          <p:cNvPr id="42" name="Chart"/>
          <p:cNvGraphicFramePr/>
          <p:nvPr/>
        </p:nvGraphicFramePr>
        <p:xfrm>
          <a:off xmlns:a="http://schemas.openxmlformats.org/drawingml/2006/main" x="6381750" y="1657350"/>
          <a:ext xmlns:a="http://schemas.openxmlformats.org/drawingml/2006/main" cx="5257800" cy="3124200"/>
        </p:xfrm>
        <a:graphic xmlns:a="http://schemas.openxmlformats.org/drawingml/2006/main">
          <a:graphicData uri="http://schemas.openxmlformats.org/drawingml/2006/chart">
            <c:chart xmlns:r="http://schemas.openxmlformats.org/officeDocument/2006/relationships" xmlns:c="http://schemas.openxmlformats.org/drawingml/2006/chart" r:id="R51cf965c3f664a90"/>
          </a:graphicData>
        </a:graphic>
      </p:graphicFrame>
      <p:sp>
        <p:nvSpPr>
          <p:cNvPr id="13" name="">
            <a:extLst xmlns:a="http://schemas.openxmlformats.org/drawingml/2006/main">
              <a:ext uri="{FF2B5EF4-FFF2-40B4-BE49-F238E27FC236}">
                <a16:creationId xmlns:a16="http://schemas.microsoft.com/office/drawing/2014/main" id="{9580BCFB-7317-4CD7-A623-83776C133826}"/>
              </a:ext>
            </a:extLst>
          </p:cNvPr>
          <p:cNvSpPr>
            <a:spLocks xmlns:a="http://schemas.openxmlformats.org/drawingml/2006/main" noGrp="1"/>
          </p:cNvSpPr>
          <p:nvPr/>
        </p:nvSpPr>
        <p:spPr>
          <a:xfrm xmlns:a="http://schemas.openxmlformats.org/drawingml/2006/main">
            <a:off x="6381750" y="4676775"/>
            <a:ext cx="5257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history同化により 97.1%低減</a:t>
            </a:r>
          </a:p>
        </p:txBody>
      </p:sp>
      <p:sp>
        <p:nvSpPr>
          <p:cNvPr id="14" name="">
            <a:extLst xmlns:a="http://schemas.openxmlformats.org/drawingml/2006/main">
              <a:ext uri="{FF2B5EF4-FFF2-40B4-BE49-F238E27FC236}">
                <a16:creationId xmlns:a16="http://schemas.microsoft.com/office/drawing/2014/main" id="{88AA47BC-FC0B-4621-ABA7-97E96BDBE661}"/>
              </a:ext>
            </a:extLst>
          </p:cNvPr>
          <p:cNvSpPr>
            <a:spLocks xmlns:a="http://schemas.openxmlformats.org/drawingml/2006/main" noGrp="1"/>
          </p:cNvSpPr>
          <p:nvPr/>
        </p:nvSpPr>
        <p:spPr>
          <a:xfrm xmlns:a="http://schemas.openxmlformats.org/drawingml/2006/main">
            <a:off x="552450" y="5105400"/>
            <a:ext cx="257175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5" name="">
            <a:extLst xmlns:a="http://schemas.openxmlformats.org/drawingml/2006/main">
              <a:ext uri="{FF2B5EF4-FFF2-40B4-BE49-F238E27FC236}">
                <a16:creationId xmlns:a16="http://schemas.microsoft.com/office/drawing/2014/main" id="{C6F48945-4BB4-4204-AE91-7D8D84EC6721}"/>
              </a:ext>
            </a:extLst>
          </p:cNvPr>
          <p:cNvSpPr>
            <a:spLocks xmlns:a="http://schemas.openxmlformats.org/drawingml/2006/main" noGrp="1"/>
          </p:cNvSpPr>
          <p:nvPr/>
        </p:nvSpPr>
        <p:spPr>
          <a:xfrm xmlns:a="http://schemas.openxmlformats.org/drawingml/2006/main">
            <a:off x="552450" y="5105400"/>
            <a:ext cx="66675" cy="10287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337423C-9DCF-4CB9-8B4D-2C83211657F9}"/>
              </a:ext>
            </a:extLst>
          </p:cNvPr>
          <p:cNvSpPr>
            <a:spLocks xmlns:a="http://schemas.openxmlformats.org/drawingml/2006/main" noGrp="1"/>
          </p:cNvSpPr>
          <p:nvPr/>
        </p:nvSpPr>
        <p:spPr>
          <a:xfrm xmlns:a="http://schemas.openxmlformats.org/drawingml/2006/main">
            <a:off x="742950" y="5200650"/>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0.143 K</a:t>
            </a:r>
          </a:p>
        </p:txBody>
      </p:sp>
      <p:sp>
        <p:nvSpPr>
          <p:cNvPr id="17" name="">
            <a:extLst xmlns:a="http://schemas.openxmlformats.org/drawingml/2006/main">
              <a:ext uri="{FF2B5EF4-FFF2-40B4-BE49-F238E27FC236}">
                <a16:creationId xmlns:a16="http://schemas.microsoft.com/office/drawing/2014/main" id="{C939C3FB-3033-4133-B264-8EF37417BD84}"/>
              </a:ext>
            </a:extLst>
          </p:cNvPr>
          <p:cNvSpPr>
            <a:spLocks xmlns:a="http://schemas.openxmlformats.org/drawingml/2006/main" noGrp="1"/>
          </p:cNvSpPr>
          <p:nvPr/>
        </p:nvSpPr>
        <p:spPr>
          <a:xfrm xmlns:a="http://schemas.openxmlformats.org/drawingml/2006/main">
            <a:off x="742950" y="55816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core 11ケース平均</a:t>
            </a:r>
          </a:p>
        </p:txBody>
      </p:sp>
      <p:sp>
        <p:nvSpPr>
          <p:cNvPr id="18" name="">
            <a:extLst xmlns:a="http://schemas.openxmlformats.org/drawingml/2006/main">
              <a:ext uri="{FF2B5EF4-FFF2-40B4-BE49-F238E27FC236}">
                <a16:creationId xmlns:a16="http://schemas.microsoft.com/office/drawing/2014/main" id="{FB1675D2-B73D-4FE2-91E8-B9E6E250CFC0}"/>
              </a:ext>
            </a:extLst>
          </p:cNvPr>
          <p:cNvSpPr>
            <a:spLocks xmlns:a="http://schemas.openxmlformats.org/drawingml/2006/main" noGrp="1"/>
          </p:cNvSpPr>
          <p:nvPr/>
        </p:nvSpPr>
        <p:spPr>
          <a:xfrm xmlns:a="http://schemas.openxmlformats.org/drawingml/2006/main">
            <a:off x="3324225" y="5105400"/>
            <a:ext cx="257175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9" name="">
            <a:extLst xmlns:a="http://schemas.openxmlformats.org/drawingml/2006/main">
              <a:ext uri="{FF2B5EF4-FFF2-40B4-BE49-F238E27FC236}">
                <a16:creationId xmlns:a16="http://schemas.microsoft.com/office/drawing/2014/main" id="{EB9177D6-0B02-4873-8C8F-2D6CF8F130F3}"/>
              </a:ext>
            </a:extLst>
          </p:cNvPr>
          <p:cNvSpPr>
            <a:spLocks xmlns:a="http://schemas.openxmlformats.org/drawingml/2006/main" noGrp="1"/>
          </p:cNvSpPr>
          <p:nvPr/>
        </p:nvSpPr>
        <p:spPr>
          <a:xfrm xmlns:a="http://schemas.openxmlformats.org/drawingml/2006/main">
            <a:off x="3324225" y="5105400"/>
            <a:ext cx="66675" cy="10287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9DD8B2A-81C7-417C-BCF6-3B0F487F9174}"/>
              </a:ext>
            </a:extLst>
          </p:cNvPr>
          <p:cNvSpPr>
            <a:spLocks xmlns:a="http://schemas.openxmlformats.org/drawingml/2006/main" noGrp="1"/>
          </p:cNvSpPr>
          <p:nvPr/>
        </p:nvSpPr>
        <p:spPr>
          <a:xfrm xmlns:a="http://schemas.openxmlformats.org/drawingml/2006/main">
            <a:off x="3514725" y="5200650"/>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7.185 K</a:t>
            </a:r>
          </a:p>
        </p:txBody>
      </p:sp>
      <p:sp>
        <p:nvSpPr>
          <p:cNvPr id="21" name="">
            <a:extLst xmlns:a="http://schemas.openxmlformats.org/drawingml/2006/main">
              <a:ext uri="{FF2B5EF4-FFF2-40B4-BE49-F238E27FC236}">
                <a16:creationId xmlns:a16="http://schemas.microsoft.com/office/drawing/2014/main" id="{2F18CAAF-A3E5-4FB7-A818-38FB160DA417}"/>
              </a:ext>
            </a:extLst>
          </p:cNvPr>
          <p:cNvSpPr>
            <a:spLocks xmlns:a="http://schemas.openxmlformats.org/drawingml/2006/main" noGrp="1"/>
          </p:cNvSpPr>
          <p:nvPr/>
        </p:nvSpPr>
        <p:spPr>
          <a:xfrm xmlns:a="http://schemas.openxmlformats.org/drawingml/2006/main">
            <a:off x="3514725" y="55816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prior平均</a:t>
            </a:r>
          </a:p>
        </p:txBody>
      </p:sp>
      <p:sp>
        <p:nvSpPr>
          <p:cNvPr id="22" name="">
            <a:extLst xmlns:a="http://schemas.openxmlformats.org/drawingml/2006/main">
              <a:ext uri="{FF2B5EF4-FFF2-40B4-BE49-F238E27FC236}">
                <a16:creationId xmlns:a16="http://schemas.microsoft.com/office/drawing/2014/main" id="{14D0B82A-FFEF-4D98-862A-F3E7BBB754B7}"/>
              </a:ext>
            </a:extLst>
          </p:cNvPr>
          <p:cNvSpPr>
            <a:spLocks xmlns:a="http://schemas.openxmlformats.org/drawingml/2006/main" noGrp="1"/>
          </p:cNvSpPr>
          <p:nvPr/>
        </p:nvSpPr>
        <p:spPr>
          <a:xfrm xmlns:a="http://schemas.openxmlformats.org/drawingml/2006/main">
            <a:off x="6096000" y="5105400"/>
            <a:ext cx="257175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3" name="">
            <a:extLst xmlns:a="http://schemas.openxmlformats.org/drawingml/2006/main">
              <a:ext uri="{FF2B5EF4-FFF2-40B4-BE49-F238E27FC236}">
                <a16:creationId xmlns:a16="http://schemas.microsoft.com/office/drawing/2014/main" id="{331E8F03-3723-4BD3-AE79-C57F6AF536D7}"/>
              </a:ext>
            </a:extLst>
          </p:cNvPr>
          <p:cNvSpPr>
            <a:spLocks xmlns:a="http://schemas.openxmlformats.org/drawingml/2006/main" noGrp="1"/>
          </p:cNvSpPr>
          <p:nvPr/>
        </p:nvSpPr>
        <p:spPr>
          <a:xfrm xmlns:a="http://schemas.openxmlformats.org/drawingml/2006/main">
            <a:off x="6096000" y="5105400"/>
            <a:ext cx="66675" cy="102870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89C6748-F41C-4157-A3ED-839D41A74965}"/>
              </a:ext>
            </a:extLst>
          </p:cNvPr>
          <p:cNvSpPr>
            <a:spLocks xmlns:a="http://schemas.openxmlformats.org/drawingml/2006/main" noGrp="1"/>
          </p:cNvSpPr>
          <p:nvPr/>
        </p:nvSpPr>
        <p:spPr>
          <a:xfrm xmlns:a="http://schemas.openxmlformats.org/drawingml/2006/main">
            <a:off x="6286500" y="5200650"/>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1.303 K</a:t>
            </a:r>
          </a:p>
        </p:txBody>
      </p:sp>
      <p:sp>
        <p:nvSpPr>
          <p:cNvPr id="25" name="">
            <a:extLst xmlns:a="http://schemas.openxmlformats.org/drawingml/2006/main">
              <a:ext uri="{FF2B5EF4-FFF2-40B4-BE49-F238E27FC236}">
                <a16:creationId xmlns:a16="http://schemas.microsoft.com/office/drawing/2014/main" id="{F804677C-678B-493D-872C-AAF1A194E37C}"/>
              </a:ext>
            </a:extLst>
          </p:cNvPr>
          <p:cNvSpPr>
            <a:spLocks xmlns:a="http://schemas.openxmlformats.org/drawingml/2006/main" noGrp="1"/>
          </p:cNvSpPr>
          <p:nvPr/>
        </p:nvSpPr>
        <p:spPr>
          <a:xfrm xmlns:a="http://schemas.openxmlformats.org/drawingml/2006/main">
            <a:off x="6286500" y="55816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worst F09</a:t>
            </a:r>
          </a:p>
        </p:txBody>
      </p:sp>
      <p:sp>
        <p:nvSpPr>
          <p:cNvPr id="26" name="">
            <a:extLst xmlns:a="http://schemas.openxmlformats.org/drawingml/2006/main">
              <a:ext uri="{FF2B5EF4-FFF2-40B4-BE49-F238E27FC236}">
                <a16:creationId xmlns:a16="http://schemas.microsoft.com/office/drawing/2014/main" id="{29A9959B-EF24-4947-AFC9-0A5E1D277356}"/>
              </a:ext>
            </a:extLst>
          </p:cNvPr>
          <p:cNvSpPr>
            <a:spLocks xmlns:a="http://schemas.openxmlformats.org/drawingml/2006/main" noGrp="1"/>
          </p:cNvSpPr>
          <p:nvPr/>
        </p:nvSpPr>
        <p:spPr>
          <a:xfrm xmlns:a="http://schemas.openxmlformats.org/drawingml/2006/main">
            <a:off x="8867775" y="5105400"/>
            <a:ext cx="2771775"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7" name="">
            <a:extLst xmlns:a="http://schemas.openxmlformats.org/drawingml/2006/main">
              <a:ext uri="{FF2B5EF4-FFF2-40B4-BE49-F238E27FC236}">
                <a16:creationId xmlns:a16="http://schemas.microsoft.com/office/drawing/2014/main" id="{89DB5CA2-314D-4AE0-9E42-DD4E9C52B48C}"/>
              </a:ext>
            </a:extLst>
          </p:cNvPr>
          <p:cNvSpPr>
            <a:spLocks xmlns:a="http://schemas.openxmlformats.org/drawingml/2006/main" noGrp="1"/>
          </p:cNvSpPr>
          <p:nvPr/>
        </p:nvSpPr>
        <p:spPr>
          <a:xfrm xmlns:a="http://schemas.openxmlformats.org/drawingml/2006/main">
            <a:off x="8867775" y="5105400"/>
            <a:ext cx="66675" cy="1028700"/>
          </a:xfrm>
          <a:prstGeom xmlns:a="http://schemas.openxmlformats.org/drawingml/2006/main" prst="rect">
            <a:avLst/>
          </a:prstGeom>
          <a:solidFill xmlns:a="http://schemas.openxmlformats.org/drawingml/2006/main">
            <a:srgbClr val="C4493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80AC206-9138-47B1-BB0D-07A87E2C45E4}"/>
              </a:ext>
            </a:extLst>
          </p:cNvPr>
          <p:cNvSpPr>
            <a:spLocks xmlns:a="http://schemas.openxmlformats.org/drawingml/2006/main" noGrp="1"/>
          </p:cNvSpPr>
          <p:nvPr/>
        </p:nvSpPr>
        <p:spPr>
          <a:xfrm xmlns:a="http://schemas.openxmlformats.org/drawingml/2006/main">
            <a:off x="9058275" y="5200650"/>
            <a:ext cx="24860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9.823 K</a:t>
            </a:r>
          </a:p>
        </p:txBody>
      </p:sp>
      <p:sp>
        <p:nvSpPr>
          <p:cNvPr id="29" name="">
            <a:extLst xmlns:a="http://schemas.openxmlformats.org/drawingml/2006/main">
              <a:ext uri="{FF2B5EF4-FFF2-40B4-BE49-F238E27FC236}">
                <a16:creationId xmlns:a16="http://schemas.microsoft.com/office/drawing/2014/main" id="{9E1DABE3-E69A-4B18-9081-7BF15A8E4B8A}"/>
              </a:ext>
            </a:extLst>
          </p:cNvPr>
          <p:cNvSpPr>
            <a:spLocks xmlns:a="http://schemas.openxmlformats.org/drawingml/2006/main" noGrp="1"/>
          </p:cNvSpPr>
          <p:nvPr/>
        </p:nvSpPr>
        <p:spPr>
          <a:xfrm xmlns:a="http://schemas.openxmlformats.org/drawingml/2006/main">
            <a:off x="9058275" y="5581650"/>
            <a:ext cx="24860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F11 intentional gap</a:t>
            </a:r>
          </a:p>
        </p:txBody>
      </p:sp>
      <p:sp>
        <p:nvSpPr>
          <p:cNvPr id="30" name="">
            <a:extLst xmlns:a="http://schemas.openxmlformats.org/drawingml/2006/main">
              <a:ext uri="{FF2B5EF4-FFF2-40B4-BE49-F238E27FC236}">
                <a16:creationId xmlns:a16="http://schemas.microsoft.com/office/drawing/2014/main" id="{EB860D6A-006A-457A-B42E-44A631D14108}"/>
              </a:ext>
            </a:extLst>
          </p:cNvPr>
          <p:cNvSpPr>
            <a:spLocks xmlns:a="http://schemas.openxmlformats.org/drawingml/2006/main" noGrp="1"/>
          </p:cNvSpPr>
          <p:nvPr/>
        </p:nvSpPr>
        <p:spPr>
          <a:xfrm xmlns:a="http://schemas.openxmlformats.org/drawingml/2006/main">
            <a:off x="9058275" y="5867400"/>
            <a:ext cx="24860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温度依存heat lossを未表現</a:t>
            </a:r>
          </a:p>
        </p:txBody>
      </p:sp>
    </p:spTree>
    <p:extLst>
      <p:ext uri="{BB962C8B-B14F-4D97-AF65-F5344CB8AC3E}">
        <p14:creationId xmlns:p14="http://schemas.microsoft.com/office/powerpoint/2010/main" val="163721065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ABA76A64-1341-42D0-9BC1-1E1516BD27EB}"/>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5A0D1E4-73F2-4E0F-B7BF-56B7FBB9BB21}"/>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LINEAR COMSOL</a:t>
            </a:r>
          </a:p>
        </p:txBody>
      </p:sp>
      <p:sp>
        <p:nvSpPr>
          <p:cNvPr id="3" name="">
            <a:extLst xmlns:a="http://schemas.openxmlformats.org/drawingml/2006/main">
              <a:ext uri="{FF2B5EF4-FFF2-40B4-BE49-F238E27FC236}">
                <a16:creationId xmlns:a16="http://schemas.microsoft.com/office/drawing/2014/main" id="{2951C4BA-3BAC-4DAA-AC6A-12896614EFA8}"/>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外部8ケースの平均RMSEは0.036 K、worstはshort-pulse条件の0.083 K</a:t>
            </a:r>
          </a:p>
        </p:txBody>
      </p:sp>
      <p:sp>
        <p:nvSpPr>
          <p:cNvPr id="4" name="">
            <a:extLst xmlns:a="http://schemas.openxmlformats.org/drawingml/2006/main">
              <a:ext uri="{FF2B5EF4-FFF2-40B4-BE49-F238E27FC236}">
                <a16:creationId xmlns:a16="http://schemas.microsoft.com/office/drawing/2014/main" id="{BD177DC5-BF52-40A8-98A9-408D00FC05D5}"/>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体積平均温度に対する結果であり、局所hotspotの安全余裕は別に設定する</a:t>
            </a:r>
          </a:p>
        </p:txBody>
      </p:sp>
      <p:sp>
        <p:nvSpPr>
          <p:cNvPr id="5" name="">
            <a:extLst xmlns:a="http://schemas.openxmlformats.org/drawingml/2006/main">
              <a:ext uri="{FF2B5EF4-FFF2-40B4-BE49-F238E27FC236}">
                <a16:creationId xmlns:a16="http://schemas.microsoft.com/office/drawing/2014/main" id="{3B86A20A-C292-431A-B484-7E858DE5274F}"/>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98BB3712-A6D3-4311-91C5-E88332FE7917}"/>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46DAFB3E-EB5A-4B17-A7CF-58F98A5C3FA3}"/>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9AFC19C2-AB0C-4106-A880-0044A026A1F8}"/>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24</a:t>
            </a:r>
          </a:p>
        </p:txBody>
      </p:sp>
      <p:graphicFrame>
        <p:nvGraphicFramePr>
          <p:cNvPr id="42" name="Chart"/>
          <p:cNvGraphicFramePr/>
          <p:nvPr/>
        </p:nvGraphicFramePr>
        <p:xfrm>
          <a:off xmlns:a="http://schemas.openxmlformats.org/drawingml/2006/main" x="552450" y="1438275"/>
          <a:ext xmlns:a="http://schemas.openxmlformats.org/drawingml/2006/main" cx="7219950" cy="3619500"/>
        </p:xfrm>
        <a:graphic xmlns:a="http://schemas.openxmlformats.org/drawingml/2006/main">
          <a:graphicData uri="http://schemas.openxmlformats.org/drawingml/2006/chart">
            <c:chart xmlns:r="http://schemas.openxmlformats.org/officeDocument/2006/relationships" xmlns:c="http://schemas.openxmlformats.org/drawingml/2006/chart" r:id="R5d38152ca68d4e9f"/>
          </a:graphicData>
        </a:graphic>
      </p:graphicFrame>
      <p:sp>
        <p:nvSpPr>
          <p:cNvPr id="10" name="">
            <a:extLst xmlns:a="http://schemas.openxmlformats.org/drawingml/2006/main">
              <a:ext uri="{FF2B5EF4-FFF2-40B4-BE49-F238E27FC236}">
                <a16:creationId xmlns:a16="http://schemas.microsoft.com/office/drawing/2014/main" id="{47A873C0-4E40-4636-B7F0-1FEBC790B622}"/>
              </a:ext>
            </a:extLst>
          </p:cNvPr>
          <p:cNvSpPr>
            <a:spLocks xmlns:a="http://schemas.openxmlformats.org/drawingml/2006/main" noGrp="1"/>
          </p:cNvSpPr>
          <p:nvPr/>
        </p:nvSpPr>
        <p:spPr>
          <a:xfrm xmlns:a="http://schemas.openxmlformats.org/drawingml/2006/main">
            <a:off x="8058150" y="1438275"/>
            <a:ext cx="3581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同定パラメータ</a:t>
            </a:r>
          </a:p>
        </p:txBody>
      </p:sp>
      <p:graphicFrame>
        <p:nvGraphicFramePr>
          <p:cNvPr id="44" name=""/>
          <p:cNvGraphicFramePr/>
          <p:nvPr/>
        </p:nvGraphicFramePr>
        <p:xfrm>
          <a:off xmlns:a="http://schemas.openxmlformats.org/drawingml/2006/main" x="8058150" y="1781175"/>
          <a:ext xmlns:a="http://schemas.openxmlformats.org/drawingml/2006/main" cx="3581400" cy="1657350"/>
        </p:xfrm>
        <a:graphic xmlns:a="http://schemas.openxmlformats.org/drawingml/2006/main">
          <a:graphicData uri="http://schemas.openxmlformats.org/drawingml/2006/table">
            <a:tbl>
              <a:tblPr/>
              <a:tblGrid>
                <a:gridCol w="1619250"/>
                <a:gridCol w="933450"/>
                <a:gridCol w="1028700"/>
              </a:tblGrid>
              <a:tr h="414338">
                <a:tc>
                  <a:txBody>
                    <a:bodyPr/>
                    <a:lstStyle/>
                    <a:p>
                      <a:r>
                        <a:rPr sz="938" b="1">
                          <a:solidFill>
                            <a:srgbClr val="FFFFFF"/>
                          </a:solidFill>
                          <a:latin typeface="Yu Gothic"/>
                          <a:ea typeface="Yu Gothic"/>
                          <a:cs typeface="Yu Gothic"/>
                        </a:rPr>
                        <a:t>parameter</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prior</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fitted</a:t>
                      </a:r>
                    </a:p>
                  </a:txBody>
                  <a:tcPr marL="91440" marR="91440" marT="45720" marB="45720">
                    <a:solidFill>
                      <a:srgbClr val="007FA8"/>
                    </a:solidFill>
                  </a:tcPr>
                </a:tc>
              </a:tr>
              <a:tr h="414338">
                <a:tc>
                  <a:txBody>
                    <a:bodyPr/>
                    <a:lstStyle/>
                    <a:p>
                      <a:r>
                        <a:rPr sz="863">
                          <a:solidFill>
                            <a:srgbClr val="5B5B5B"/>
                          </a:solidFill>
                          <a:latin typeface="Yu Gothic"/>
                          <a:ea typeface="Yu Gothic"/>
                          <a:cs typeface="Yu Gothic"/>
                        </a:rPr>
                        <a:t>G chip–base</a:t>
                      </a:r>
                    </a:p>
                  </a:txBody>
                  <a:tcPr marL="91440" marR="91440" marT="45720" marB="45720">
                    <a:solidFill>
                      <a:srgbClr val="FFFFFF"/>
                    </a:solidFill>
                  </a:tcPr>
                </a:tc>
                <a:tc>
                  <a:txBody>
                    <a:bodyPr/>
                    <a:lstStyle/>
                    <a:p>
                      <a:r>
                        <a:rPr sz="863">
                          <a:solidFill>
                            <a:srgbClr val="5B5B5B"/>
                          </a:solidFill>
                          <a:latin typeface="Yu Gothic"/>
                          <a:ea typeface="Yu Gothic"/>
                          <a:cs typeface="Yu Gothic"/>
                        </a:rPr>
                        <a:t>40.000</a:t>
                      </a:r>
                    </a:p>
                  </a:txBody>
                  <a:tcPr marL="91440" marR="91440" marT="45720" marB="45720">
                    <a:solidFill>
                      <a:srgbClr val="FFFFFF"/>
                    </a:solidFill>
                  </a:tcPr>
                </a:tc>
                <a:tc>
                  <a:txBody>
                    <a:bodyPr/>
                    <a:lstStyle/>
                    <a:p>
                      <a:r>
                        <a:rPr sz="863">
                          <a:solidFill>
                            <a:srgbClr val="5B5B5B"/>
                          </a:solidFill>
                          <a:latin typeface="Yu Gothic"/>
                          <a:ea typeface="Yu Gothic"/>
                          <a:cs typeface="Yu Gothic"/>
                        </a:rPr>
                        <a:t>38.220</a:t>
                      </a:r>
                    </a:p>
                  </a:txBody>
                  <a:tcPr marL="91440" marR="91440" marT="45720" marB="45720">
                    <a:solidFill>
                      <a:srgbClr val="FFFFFF"/>
                    </a:solidFill>
                  </a:tcPr>
                </a:tc>
              </a:tr>
              <a:tr h="414338">
                <a:tc>
                  <a:txBody>
                    <a:bodyPr/>
                    <a:lstStyle/>
                    <a:p>
                      <a:r>
                        <a:rPr sz="863">
                          <a:solidFill>
                            <a:srgbClr val="5B5B5B"/>
                          </a:solidFill>
                          <a:latin typeface="Yu Gothic"/>
                          <a:ea typeface="Yu Gothic"/>
                          <a:cs typeface="Yu Gothic"/>
                        </a:rPr>
                        <a:t>G base–fins</a:t>
                      </a:r>
                    </a:p>
                  </a:txBody>
                  <a:tcPr marL="91440" marR="91440" marT="45720" marB="45720">
                    <a:solidFill>
                      <a:srgbClr val="F8F8F8"/>
                    </a:solidFill>
                  </a:tcPr>
                </a:tc>
                <a:tc>
                  <a:txBody>
                    <a:bodyPr/>
                    <a:lstStyle/>
                    <a:p>
                      <a:r>
                        <a:rPr sz="863">
                          <a:solidFill>
                            <a:srgbClr val="5B5B5B"/>
                          </a:solidFill>
                          <a:latin typeface="Yu Gothic"/>
                          <a:ea typeface="Yu Gothic"/>
                          <a:cs typeface="Yu Gothic"/>
                        </a:rPr>
                        <a:t>12.000</a:t>
                      </a:r>
                    </a:p>
                  </a:txBody>
                  <a:tcPr marL="91440" marR="91440" marT="45720" marB="45720">
                    <a:solidFill>
                      <a:srgbClr val="F8F8F8"/>
                    </a:solidFill>
                  </a:tcPr>
                </a:tc>
                <a:tc>
                  <a:txBody>
                    <a:bodyPr/>
                    <a:lstStyle/>
                    <a:p>
                      <a:r>
                        <a:rPr sz="863">
                          <a:solidFill>
                            <a:srgbClr val="5B5B5B"/>
                          </a:solidFill>
                          <a:latin typeface="Yu Gothic"/>
                          <a:ea typeface="Yu Gothic"/>
                          <a:cs typeface="Yu Gothic"/>
                        </a:rPr>
                        <a:t>9.992</a:t>
                      </a:r>
                    </a:p>
                  </a:txBody>
                  <a:tcPr marL="91440" marR="91440" marT="45720" marB="45720">
                    <a:solidFill>
                      <a:srgbClr val="F8F8F8"/>
                    </a:solidFill>
                  </a:tcPr>
                </a:tc>
              </a:tr>
              <a:tr h="414338">
                <a:tc>
                  <a:txBody>
                    <a:bodyPr/>
                    <a:lstStyle/>
                    <a:p>
                      <a:r>
                        <a:rPr sz="863">
                          <a:solidFill>
                            <a:srgbClr val="5B5B5B"/>
                          </a:solidFill>
                          <a:latin typeface="Yu Gothic"/>
                          <a:ea typeface="Yu Gothic"/>
                          <a:cs typeface="Yu Gothic"/>
                        </a:rPr>
                        <a:t>hA coolant</a:t>
                      </a:r>
                    </a:p>
                  </a:txBody>
                  <a:tcPr marL="91440" marR="91440" marT="45720" marB="45720">
                    <a:solidFill>
                      <a:srgbClr val="FFFFFF"/>
                    </a:solidFill>
                  </a:tcPr>
                </a:tc>
                <a:tc>
                  <a:txBody>
                    <a:bodyPr/>
                    <a:lstStyle/>
                    <a:p>
                      <a:r>
                        <a:rPr sz="863">
                          <a:solidFill>
                            <a:srgbClr val="5B5B5B"/>
                          </a:solidFill>
                          <a:latin typeface="Yu Gothic"/>
                          <a:ea typeface="Yu Gothic"/>
                          <a:cs typeface="Yu Gothic"/>
                        </a:rPr>
                        <a:t>0.440</a:t>
                      </a:r>
                    </a:p>
                  </a:txBody>
                  <a:tcPr marL="91440" marR="91440" marT="45720" marB="45720">
                    <a:solidFill>
                      <a:srgbClr val="FFFFFF"/>
                    </a:solidFill>
                  </a:tcPr>
                </a:tc>
                <a:tc>
                  <a:txBody>
                    <a:bodyPr/>
                    <a:lstStyle/>
                    <a:p>
                      <a:r>
                        <a:rPr sz="863">
                          <a:solidFill>
                            <a:srgbClr val="5B5B5B"/>
                          </a:solidFill>
                          <a:latin typeface="Yu Gothic"/>
                          <a:ea typeface="Yu Gothic"/>
                          <a:cs typeface="Yu Gothic"/>
                        </a:rPr>
                        <a:t>0.1906</a:t>
                      </a:r>
                    </a:p>
                  </a:txBody>
                  <a:tcPr marL="91440" marR="91440" marT="45720" marB="45720">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B2F26D42-19D1-4E18-A544-C7CB377A5BA1}"/>
              </a:ext>
            </a:extLst>
          </p:cNvPr>
          <p:cNvSpPr>
            <a:spLocks xmlns:a="http://schemas.openxmlformats.org/drawingml/2006/main" noGrp="1"/>
          </p:cNvSpPr>
          <p:nvPr/>
        </p:nvSpPr>
        <p:spPr>
          <a:xfrm xmlns:a="http://schemas.openxmlformats.org/drawingml/2006/main">
            <a:off x="8058150" y="3638550"/>
            <a:ext cx="3581400" cy="1419225"/>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13" name="">
            <a:extLst xmlns:a="http://schemas.openxmlformats.org/drawingml/2006/main">
              <a:ext uri="{FF2B5EF4-FFF2-40B4-BE49-F238E27FC236}">
                <a16:creationId xmlns:a16="http://schemas.microsoft.com/office/drawing/2014/main" id="{AF598F48-5FF7-463B-B09C-6486F9A9264D}"/>
              </a:ext>
            </a:extLst>
          </p:cNvPr>
          <p:cNvSpPr>
            <a:spLocks xmlns:a="http://schemas.openxmlformats.org/drawingml/2006/main" noGrp="1"/>
          </p:cNvSpPr>
          <p:nvPr/>
        </p:nvSpPr>
        <p:spPr>
          <a:xfrm xmlns:a="http://schemas.openxmlformats.org/drawingml/2006/main">
            <a:off x="8239125" y="3781425"/>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C4493D"/>
                </a:solidFill>
                <a:latin typeface="Yu Gothic"/>
                <a:ea typeface="Yu Gothic"/>
                <a:cs typeface="Yu Gothic"/>
              </a:defRPr>
            </a:pPr>
            <a:r>
              <a:rPr sz="975" b="1" i="0">
                <a:solidFill>
                  <a:srgbClr val="C4493D"/>
                </a:solidFill>
                <a:latin typeface="Yu Gothic"/>
                <a:ea typeface="Yu Gothic"/>
                <a:cs typeface="Yu Gothic"/>
              </a:rPr>
              <a:t>hotspot check</a:t>
            </a:r>
          </a:p>
        </p:txBody>
      </p:sp>
      <p:sp>
        <p:nvSpPr>
          <p:cNvPr id="14" name="">
            <a:extLst xmlns:a="http://schemas.openxmlformats.org/drawingml/2006/main">
              <a:ext uri="{FF2B5EF4-FFF2-40B4-BE49-F238E27FC236}">
                <a16:creationId xmlns:a16="http://schemas.microsoft.com/office/drawing/2014/main" id="{355234E8-6797-4595-AF33-00C3C0D807F9}"/>
              </a:ext>
            </a:extLst>
          </p:cNvPr>
          <p:cNvSpPr>
            <a:spLocks xmlns:a="http://schemas.openxmlformats.org/drawingml/2006/main" noGrp="1"/>
          </p:cNvSpPr>
          <p:nvPr/>
        </p:nvSpPr>
        <p:spPr>
          <a:xfrm xmlns:a="http://schemas.openxmlformats.org/drawingml/2006/main">
            <a:off x="8239125" y="4114800"/>
            <a:ext cx="24765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最大 average–hotspot gap</a:t>
            </a:r>
          </a:p>
        </p:txBody>
      </p:sp>
      <p:sp>
        <p:nvSpPr>
          <p:cNvPr id="15" name="">
            <a:extLst xmlns:a="http://schemas.openxmlformats.org/drawingml/2006/main">
              <a:ext uri="{FF2B5EF4-FFF2-40B4-BE49-F238E27FC236}">
                <a16:creationId xmlns:a16="http://schemas.microsoft.com/office/drawing/2014/main" id="{A3DEB4D6-49BD-4EA9-8E83-5F731671E519}"/>
              </a:ext>
            </a:extLst>
          </p:cNvPr>
          <p:cNvSpPr>
            <a:spLocks xmlns:a="http://schemas.openxmlformats.org/drawingml/2006/main" noGrp="1"/>
          </p:cNvSpPr>
          <p:nvPr/>
        </p:nvSpPr>
        <p:spPr>
          <a:xfrm xmlns:a="http://schemas.openxmlformats.org/drawingml/2006/main">
            <a:off x="10306050" y="4038600"/>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1725" b="1" i="0">
                <a:solidFill>
                  <a:srgbClr val="C4493D"/>
                </a:solidFill>
                <a:latin typeface="Yu Gothic"/>
                <a:ea typeface="Yu Gothic"/>
                <a:cs typeface="Yu Gothic"/>
              </a:defRPr>
            </a:pPr>
            <a:r>
              <a:rPr sz="1725" b="1" i="0">
                <a:solidFill>
                  <a:srgbClr val="C4493D"/>
                </a:solidFill>
                <a:latin typeface="Yu Gothic"/>
                <a:ea typeface="Yu Gothic"/>
                <a:cs typeface="Yu Gothic"/>
              </a:rPr>
              <a:t>0.238 K</a:t>
            </a:r>
          </a:p>
        </p:txBody>
      </p:sp>
      <p:sp>
        <p:nvSpPr>
          <p:cNvPr id="16" name="">
            <a:extLst xmlns:a="http://schemas.openxmlformats.org/drawingml/2006/main">
              <a:ext uri="{FF2B5EF4-FFF2-40B4-BE49-F238E27FC236}">
                <a16:creationId xmlns:a16="http://schemas.microsoft.com/office/drawing/2014/main" id="{76729717-0DA9-4E3C-8DB7-EAE62297AA34}"/>
              </a:ext>
            </a:extLst>
          </p:cNvPr>
          <p:cNvSpPr>
            <a:spLocks xmlns:a="http://schemas.openxmlformats.org/drawingml/2006/main" noGrp="1"/>
          </p:cNvSpPr>
          <p:nvPr/>
        </p:nvSpPr>
        <p:spPr>
          <a:xfrm xmlns:a="http://schemas.openxmlformats.org/drawingml/2006/main">
            <a:off x="8239125" y="4467225"/>
            <a:ext cx="24765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最大 hotspot 過小評価</a:t>
            </a:r>
          </a:p>
        </p:txBody>
      </p:sp>
      <p:sp>
        <p:nvSpPr>
          <p:cNvPr id="17" name="">
            <a:extLst xmlns:a="http://schemas.openxmlformats.org/drawingml/2006/main">
              <a:ext uri="{FF2B5EF4-FFF2-40B4-BE49-F238E27FC236}">
                <a16:creationId xmlns:a16="http://schemas.microsoft.com/office/drawing/2014/main" id="{5A123483-1868-40CF-9D9A-E317C54D1E01}"/>
              </a:ext>
            </a:extLst>
          </p:cNvPr>
          <p:cNvSpPr>
            <a:spLocks xmlns:a="http://schemas.openxmlformats.org/drawingml/2006/main" noGrp="1"/>
          </p:cNvSpPr>
          <p:nvPr/>
        </p:nvSpPr>
        <p:spPr>
          <a:xfrm xmlns:a="http://schemas.openxmlformats.org/drawingml/2006/main">
            <a:off x="10306050" y="4391025"/>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1725" b="1" i="0">
                <a:solidFill>
                  <a:srgbClr val="C4493D"/>
                </a:solidFill>
                <a:latin typeface="Yu Gothic"/>
                <a:ea typeface="Yu Gothic"/>
                <a:cs typeface="Yu Gothic"/>
              </a:defRPr>
            </a:pPr>
            <a:r>
              <a:rPr sz="1725" b="1" i="0">
                <a:solidFill>
                  <a:srgbClr val="C4493D"/>
                </a:solidFill>
                <a:latin typeface="Yu Gothic"/>
                <a:ea typeface="Yu Gothic"/>
                <a:cs typeface="Yu Gothic"/>
              </a:rPr>
              <a:t>0.328 K</a:t>
            </a:r>
          </a:p>
        </p:txBody>
      </p:sp>
      <p:sp>
        <p:nvSpPr>
          <p:cNvPr id="18" name="">
            <a:extLst xmlns:a="http://schemas.openxmlformats.org/drawingml/2006/main">
              <a:ext uri="{FF2B5EF4-FFF2-40B4-BE49-F238E27FC236}">
                <a16:creationId xmlns:a16="http://schemas.microsoft.com/office/drawing/2014/main" id="{7665FB5B-AF8E-4390-86F8-F775A66487C8}"/>
              </a:ext>
            </a:extLst>
          </p:cNvPr>
          <p:cNvSpPr>
            <a:spLocks xmlns:a="http://schemas.openxmlformats.org/drawingml/2006/main" noGrp="1"/>
          </p:cNvSpPr>
          <p:nvPr/>
        </p:nvSpPr>
        <p:spPr>
          <a:xfrm xmlns:a="http://schemas.openxmlformats.org/drawingml/2006/main">
            <a:off x="552450" y="5267325"/>
            <a:ext cx="257175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9" name="">
            <a:extLst xmlns:a="http://schemas.openxmlformats.org/drawingml/2006/main">
              <a:ext uri="{FF2B5EF4-FFF2-40B4-BE49-F238E27FC236}">
                <a16:creationId xmlns:a16="http://schemas.microsoft.com/office/drawing/2014/main" id="{4B7B7215-786D-4506-886D-A9A916D1E790}"/>
              </a:ext>
            </a:extLst>
          </p:cNvPr>
          <p:cNvSpPr>
            <a:spLocks xmlns:a="http://schemas.openxmlformats.org/drawingml/2006/main" noGrp="1"/>
          </p:cNvSpPr>
          <p:nvPr/>
        </p:nvSpPr>
        <p:spPr>
          <a:xfrm xmlns:a="http://schemas.openxmlformats.org/drawingml/2006/main">
            <a:off x="552450" y="5267325"/>
            <a:ext cx="66675" cy="86677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AD868C7-6532-4345-B92F-345D18B05A2C}"/>
              </a:ext>
            </a:extLst>
          </p:cNvPr>
          <p:cNvSpPr>
            <a:spLocks xmlns:a="http://schemas.openxmlformats.org/drawingml/2006/main" noGrp="1"/>
          </p:cNvSpPr>
          <p:nvPr/>
        </p:nvSpPr>
        <p:spPr>
          <a:xfrm xmlns:a="http://schemas.openxmlformats.org/drawingml/2006/main">
            <a:off x="742950" y="5362575"/>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0.036 K</a:t>
            </a:r>
          </a:p>
        </p:txBody>
      </p:sp>
      <p:sp>
        <p:nvSpPr>
          <p:cNvPr id="21" name="">
            <a:extLst xmlns:a="http://schemas.openxmlformats.org/drawingml/2006/main">
              <a:ext uri="{FF2B5EF4-FFF2-40B4-BE49-F238E27FC236}">
                <a16:creationId xmlns:a16="http://schemas.microsoft.com/office/drawing/2014/main" id="{1A2B50CD-082B-4754-8095-DC422A3CCE66}"/>
              </a:ext>
            </a:extLst>
          </p:cNvPr>
          <p:cNvSpPr>
            <a:spLocks xmlns:a="http://schemas.openxmlformats.org/drawingml/2006/main" noGrp="1"/>
          </p:cNvSpPr>
          <p:nvPr/>
        </p:nvSpPr>
        <p:spPr>
          <a:xfrm xmlns:a="http://schemas.openxmlformats.org/drawingml/2006/main">
            <a:off x="742950" y="574357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mean RMSE</a:t>
            </a:r>
          </a:p>
        </p:txBody>
      </p:sp>
      <p:sp>
        <p:nvSpPr>
          <p:cNvPr id="22" name="">
            <a:extLst xmlns:a="http://schemas.openxmlformats.org/drawingml/2006/main">
              <a:ext uri="{FF2B5EF4-FFF2-40B4-BE49-F238E27FC236}">
                <a16:creationId xmlns:a16="http://schemas.microsoft.com/office/drawing/2014/main" id="{468F2F76-E3CC-471A-9203-6C73389C0DDB}"/>
              </a:ext>
            </a:extLst>
          </p:cNvPr>
          <p:cNvSpPr>
            <a:spLocks xmlns:a="http://schemas.openxmlformats.org/drawingml/2006/main" noGrp="1"/>
          </p:cNvSpPr>
          <p:nvPr/>
        </p:nvSpPr>
        <p:spPr>
          <a:xfrm xmlns:a="http://schemas.openxmlformats.org/drawingml/2006/main">
            <a:off x="3324225" y="5267325"/>
            <a:ext cx="257175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3" name="">
            <a:extLst xmlns:a="http://schemas.openxmlformats.org/drawingml/2006/main">
              <a:ext uri="{FF2B5EF4-FFF2-40B4-BE49-F238E27FC236}">
                <a16:creationId xmlns:a16="http://schemas.microsoft.com/office/drawing/2014/main" id="{02F8BB55-0FBA-4E58-869A-09DE40CACCD6}"/>
              </a:ext>
            </a:extLst>
          </p:cNvPr>
          <p:cNvSpPr>
            <a:spLocks xmlns:a="http://schemas.openxmlformats.org/drawingml/2006/main" noGrp="1"/>
          </p:cNvSpPr>
          <p:nvPr/>
        </p:nvSpPr>
        <p:spPr>
          <a:xfrm xmlns:a="http://schemas.openxmlformats.org/drawingml/2006/main">
            <a:off x="3324225" y="5267325"/>
            <a:ext cx="66675" cy="8667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75603BA-CC8B-4E0C-9280-BFBFED977F95}"/>
              </a:ext>
            </a:extLst>
          </p:cNvPr>
          <p:cNvSpPr>
            <a:spLocks xmlns:a="http://schemas.openxmlformats.org/drawingml/2006/main" noGrp="1"/>
          </p:cNvSpPr>
          <p:nvPr/>
        </p:nvSpPr>
        <p:spPr>
          <a:xfrm xmlns:a="http://schemas.openxmlformats.org/drawingml/2006/main">
            <a:off x="3514725" y="5362575"/>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0.083 K</a:t>
            </a:r>
          </a:p>
        </p:txBody>
      </p:sp>
      <p:sp>
        <p:nvSpPr>
          <p:cNvPr id="25" name="">
            <a:extLst xmlns:a="http://schemas.openxmlformats.org/drawingml/2006/main">
              <a:ext uri="{FF2B5EF4-FFF2-40B4-BE49-F238E27FC236}">
                <a16:creationId xmlns:a16="http://schemas.microsoft.com/office/drawing/2014/main" id="{D7823B08-05E5-4D5F-AD9D-4FA6AE50D7C1}"/>
              </a:ext>
            </a:extLst>
          </p:cNvPr>
          <p:cNvSpPr>
            <a:spLocks xmlns:a="http://schemas.openxmlformats.org/drawingml/2006/main" noGrp="1"/>
          </p:cNvSpPr>
          <p:nvPr/>
        </p:nvSpPr>
        <p:spPr>
          <a:xfrm xmlns:a="http://schemas.openxmlformats.org/drawingml/2006/main">
            <a:off x="3514725" y="574357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worst F05</a:t>
            </a:r>
          </a:p>
        </p:txBody>
      </p:sp>
      <p:sp>
        <p:nvSpPr>
          <p:cNvPr id="26" name="">
            <a:extLst xmlns:a="http://schemas.openxmlformats.org/drawingml/2006/main">
              <a:ext uri="{FF2B5EF4-FFF2-40B4-BE49-F238E27FC236}">
                <a16:creationId xmlns:a16="http://schemas.microsoft.com/office/drawing/2014/main" id="{77F6DBE2-7984-4599-90F8-8E1E8153ADC8}"/>
              </a:ext>
            </a:extLst>
          </p:cNvPr>
          <p:cNvSpPr>
            <a:spLocks xmlns:a="http://schemas.openxmlformats.org/drawingml/2006/main" noGrp="1"/>
          </p:cNvSpPr>
          <p:nvPr/>
        </p:nvSpPr>
        <p:spPr>
          <a:xfrm xmlns:a="http://schemas.openxmlformats.org/drawingml/2006/main">
            <a:off x="6096000" y="5267325"/>
            <a:ext cx="257175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7" name="">
            <a:extLst xmlns:a="http://schemas.openxmlformats.org/drawingml/2006/main">
              <a:ext uri="{FF2B5EF4-FFF2-40B4-BE49-F238E27FC236}">
                <a16:creationId xmlns:a16="http://schemas.microsoft.com/office/drawing/2014/main" id="{16F2BAA7-4DE1-4EAF-A7A0-57EA2E778A4A}"/>
              </a:ext>
            </a:extLst>
          </p:cNvPr>
          <p:cNvSpPr>
            <a:spLocks xmlns:a="http://schemas.openxmlformats.org/drawingml/2006/main" noGrp="1"/>
          </p:cNvSpPr>
          <p:nvPr/>
        </p:nvSpPr>
        <p:spPr>
          <a:xfrm xmlns:a="http://schemas.openxmlformats.org/drawingml/2006/main">
            <a:off x="6096000" y="5267325"/>
            <a:ext cx="66675" cy="866775"/>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86CA8A2-0016-4AF1-BC09-7BECAE181786}"/>
              </a:ext>
            </a:extLst>
          </p:cNvPr>
          <p:cNvSpPr>
            <a:spLocks xmlns:a="http://schemas.openxmlformats.org/drawingml/2006/main" noGrp="1"/>
          </p:cNvSpPr>
          <p:nvPr/>
        </p:nvSpPr>
        <p:spPr>
          <a:xfrm xmlns:a="http://schemas.openxmlformats.org/drawingml/2006/main">
            <a:off x="6286500" y="5362575"/>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7.362 K</a:t>
            </a:r>
          </a:p>
        </p:txBody>
      </p:sp>
      <p:sp>
        <p:nvSpPr>
          <p:cNvPr id="29" name="">
            <a:extLst xmlns:a="http://schemas.openxmlformats.org/drawingml/2006/main">
              <a:ext uri="{FF2B5EF4-FFF2-40B4-BE49-F238E27FC236}">
                <a16:creationId xmlns:a16="http://schemas.microsoft.com/office/drawing/2014/main" id="{88BA4463-6249-4308-BC0E-F07F4381B7B2}"/>
              </a:ext>
            </a:extLst>
          </p:cNvPr>
          <p:cNvSpPr>
            <a:spLocks xmlns:a="http://schemas.openxmlformats.org/drawingml/2006/main" noGrp="1"/>
          </p:cNvSpPr>
          <p:nvPr/>
        </p:nvSpPr>
        <p:spPr>
          <a:xfrm xmlns:a="http://schemas.openxmlformats.org/drawingml/2006/main">
            <a:off x="6286500" y="574357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prior mean</a:t>
            </a:r>
          </a:p>
        </p:txBody>
      </p:sp>
      <p:sp>
        <p:nvSpPr>
          <p:cNvPr id="30" name="">
            <a:extLst xmlns:a="http://schemas.openxmlformats.org/drawingml/2006/main">
              <a:ext uri="{FF2B5EF4-FFF2-40B4-BE49-F238E27FC236}">
                <a16:creationId xmlns:a16="http://schemas.microsoft.com/office/drawing/2014/main" id="{C9D823C5-0FA9-419B-8C11-06BA70EC98D5}"/>
              </a:ext>
            </a:extLst>
          </p:cNvPr>
          <p:cNvSpPr>
            <a:spLocks xmlns:a="http://schemas.openxmlformats.org/drawingml/2006/main" noGrp="1"/>
          </p:cNvSpPr>
          <p:nvPr/>
        </p:nvSpPr>
        <p:spPr>
          <a:xfrm xmlns:a="http://schemas.openxmlformats.org/drawingml/2006/main">
            <a:off x="8867775" y="5267325"/>
            <a:ext cx="2771775"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1" name="">
            <a:extLst xmlns:a="http://schemas.openxmlformats.org/drawingml/2006/main">
              <a:ext uri="{FF2B5EF4-FFF2-40B4-BE49-F238E27FC236}">
                <a16:creationId xmlns:a16="http://schemas.microsoft.com/office/drawing/2014/main" id="{736F1185-E2AC-45E4-BC41-1278262B161C}"/>
              </a:ext>
            </a:extLst>
          </p:cNvPr>
          <p:cNvSpPr>
            <a:spLocks xmlns:a="http://schemas.openxmlformats.org/drawingml/2006/main" noGrp="1"/>
          </p:cNvSpPr>
          <p:nvPr/>
        </p:nvSpPr>
        <p:spPr>
          <a:xfrm xmlns:a="http://schemas.openxmlformats.org/drawingml/2006/main">
            <a:off x="8867775" y="5267325"/>
            <a:ext cx="66675" cy="8667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FDFB1321-A7D8-49D0-823D-1E0EC30CCF09}"/>
              </a:ext>
            </a:extLst>
          </p:cNvPr>
          <p:cNvSpPr>
            <a:spLocks xmlns:a="http://schemas.openxmlformats.org/drawingml/2006/main" noGrp="1"/>
          </p:cNvSpPr>
          <p:nvPr/>
        </p:nvSpPr>
        <p:spPr>
          <a:xfrm xmlns:a="http://schemas.openxmlformats.org/drawingml/2006/main">
            <a:off x="9058275" y="5362575"/>
            <a:ext cx="24860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99.06%</a:t>
            </a:r>
          </a:p>
        </p:txBody>
      </p:sp>
      <p:sp>
        <p:nvSpPr>
          <p:cNvPr id="33" name="">
            <a:extLst xmlns:a="http://schemas.openxmlformats.org/drawingml/2006/main">
              <a:ext uri="{FF2B5EF4-FFF2-40B4-BE49-F238E27FC236}">
                <a16:creationId xmlns:a16="http://schemas.microsoft.com/office/drawing/2014/main" id="{BF71D92F-83EB-4ACA-95A7-6248B7797250}"/>
              </a:ext>
            </a:extLst>
          </p:cNvPr>
          <p:cNvSpPr>
            <a:spLocks xmlns:a="http://schemas.openxmlformats.org/drawingml/2006/main" noGrp="1"/>
          </p:cNvSpPr>
          <p:nvPr/>
        </p:nvSpPr>
        <p:spPr>
          <a:xfrm xmlns:a="http://schemas.openxmlformats.org/drawingml/2006/main">
            <a:off x="9058275" y="5743575"/>
            <a:ext cx="24860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mean improvement</a:t>
            </a:r>
          </a:p>
        </p:txBody>
      </p:sp>
    </p:spTree>
    <p:extLst>
      <p:ext uri="{BB962C8B-B14F-4D97-AF65-F5344CB8AC3E}">
        <p14:creationId xmlns:p14="http://schemas.microsoft.com/office/powerpoint/2010/main" val="188581103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20D23391-843C-4C0E-BB8A-45614EC62EAB}"/>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48E1880-4F14-452A-AB57-5C97EC114EEF}"/>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CAE CREDIBILITY</a:t>
            </a:r>
          </a:p>
        </p:txBody>
      </p:sp>
      <p:sp>
        <p:nvSpPr>
          <p:cNvPr id="3" name="">
            <a:extLst xmlns:a="http://schemas.openxmlformats.org/drawingml/2006/main">
              <a:ext uri="{FF2B5EF4-FFF2-40B4-BE49-F238E27FC236}">
                <a16:creationId xmlns:a16="http://schemas.microsoft.com/office/drawing/2014/main" id="{A870205B-B77C-4702-95C5-3A66F11C1E90}"/>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0.1 K級のモデル誤差を議論する前に、同程度のメッシュ不確かさを収束させる</a:t>
            </a:r>
          </a:p>
        </p:txBody>
      </p:sp>
      <p:sp>
        <p:nvSpPr>
          <p:cNvPr id="4" name="">
            <a:extLst xmlns:a="http://schemas.openxmlformats.org/drawingml/2006/main">
              <a:ext uri="{FF2B5EF4-FFF2-40B4-BE49-F238E27FC236}">
                <a16:creationId xmlns:a16="http://schemas.microsoft.com/office/drawing/2014/main" id="{0B49B88D-65AF-4ED0-9E04-0DD05961F5FD}"/>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medium→fineのchip平均差はMC01で0.496 K、MC02で0.154 K</a:t>
            </a:r>
          </a:p>
        </p:txBody>
      </p:sp>
      <p:sp>
        <p:nvSpPr>
          <p:cNvPr id="5" name="">
            <a:extLst xmlns:a="http://schemas.openxmlformats.org/drawingml/2006/main">
              <a:ext uri="{FF2B5EF4-FFF2-40B4-BE49-F238E27FC236}">
                <a16:creationId xmlns:a16="http://schemas.microsoft.com/office/drawing/2014/main" id="{319CC585-5BE5-416D-893E-11F101BE71B8}"/>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15E7D48F-5E98-4ED6-8E6C-6FCD862E432C}"/>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5074EAF7-2624-4FB3-BCEA-D4F3DE0329BB}"/>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0BEF6DFD-7CE4-4737-A57A-4670EEE2C6DF}"/>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25</a:t>
            </a:r>
          </a:p>
        </p:txBody>
      </p:sp>
      <p:sp>
        <p:nvSpPr>
          <p:cNvPr id="9" name="">
            <a:extLst xmlns:a="http://schemas.openxmlformats.org/drawingml/2006/main">
              <a:ext uri="{FF2B5EF4-FFF2-40B4-BE49-F238E27FC236}">
                <a16:creationId xmlns:a16="http://schemas.microsoft.com/office/drawing/2014/main" id="{734659DB-98C1-4A11-B912-1725364C7131}"/>
              </a:ext>
            </a:extLst>
          </p:cNvPr>
          <p:cNvSpPr>
            <a:spLocks xmlns:a="http://schemas.openxmlformats.org/drawingml/2006/main" noGrp="1"/>
          </p:cNvSpPr>
          <p:nvPr/>
        </p:nvSpPr>
        <p:spPr>
          <a:xfrm xmlns:a="http://schemas.openxmlformats.org/drawingml/2006/main">
            <a:off x="552450" y="1381125"/>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adjacent mesh difference</a:t>
            </a:r>
          </a:p>
        </p:txBody>
      </p:sp>
      <p:graphicFrame>
        <p:nvGraphicFramePr>
          <p:cNvPr id="40" name="Chart"/>
          <p:cNvGraphicFramePr/>
          <p:nvPr/>
        </p:nvGraphicFramePr>
        <p:xfrm>
          <a:off xmlns:a="http://schemas.openxmlformats.org/drawingml/2006/main" x="552450" y="1657350"/>
          <a:ext xmlns:a="http://schemas.openxmlformats.org/drawingml/2006/main" cx="5219700" cy="3238500"/>
        </p:xfrm>
        <a:graphic xmlns:a="http://schemas.openxmlformats.org/drawingml/2006/main">
          <a:graphicData uri="http://schemas.openxmlformats.org/drawingml/2006/chart">
            <c:chart xmlns:r="http://schemas.openxmlformats.org/officeDocument/2006/relationships" xmlns:c="http://schemas.openxmlformats.org/drawingml/2006/chart" r:id="R8dfa04ca6a734358"/>
          </a:graphicData>
        </a:graphic>
      </p:graphicFrame>
      <p:sp>
        <p:nvSpPr>
          <p:cNvPr id="11" name="">
            <a:extLst xmlns:a="http://schemas.openxmlformats.org/drawingml/2006/main">
              <a:ext uri="{FF2B5EF4-FFF2-40B4-BE49-F238E27FC236}">
                <a16:creationId xmlns:a16="http://schemas.microsoft.com/office/drawing/2014/main" id="{E21E1AFE-9585-479C-98EB-52381316C67C}"/>
              </a:ext>
            </a:extLst>
          </p:cNvPr>
          <p:cNvSpPr>
            <a:spLocks xmlns:a="http://schemas.openxmlformats.org/drawingml/2006/main" noGrp="1"/>
          </p:cNvSpPr>
          <p:nvPr/>
        </p:nvSpPr>
        <p:spPr>
          <a:xfrm xmlns:a="http://schemas.openxmlformats.org/drawingml/2006/main">
            <a:off x="1009650" y="3514725"/>
            <a:ext cx="4305300" cy="0"/>
          </a:xfrm>
          <a:prstGeom xmlns:a="http://schemas.openxmlformats.org/drawingml/2006/main" prst="line">
            <a:avLst/>
          </a:prstGeom>
          <a:noFill xmlns:a="http://schemas.openxmlformats.org/drawingml/2006/main"/>
          <a:ln xmlns:a="http://schemas.openxmlformats.org/drawingml/2006/main" w="14288">
            <a:solidFill>
              <a:srgbClr val="C4493D"/>
            </a:solidFill>
            <a:prstDash val="dash"/>
          </a:ln>
        </p:spPr>
      </p:sp>
      <p:sp>
        <p:nvSpPr>
          <p:cNvPr id="12" name="">
            <a:extLst xmlns:a="http://schemas.openxmlformats.org/drawingml/2006/main">
              <a:ext uri="{FF2B5EF4-FFF2-40B4-BE49-F238E27FC236}">
                <a16:creationId xmlns:a16="http://schemas.microsoft.com/office/drawing/2014/main" id="{DC546A86-CEFE-4F26-AA08-758D68577C1D}"/>
              </a:ext>
            </a:extLst>
          </p:cNvPr>
          <p:cNvSpPr>
            <a:spLocks xmlns:a="http://schemas.openxmlformats.org/drawingml/2006/main" noGrp="1"/>
          </p:cNvSpPr>
          <p:nvPr/>
        </p:nvSpPr>
        <p:spPr>
          <a:xfrm xmlns:a="http://schemas.openxmlformats.org/drawingml/2006/main">
            <a:off x="3619500" y="33242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713" b="1" i="0">
                <a:solidFill>
                  <a:srgbClr val="C4493D"/>
                </a:solidFill>
                <a:latin typeface="Yu Gothic"/>
                <a:ea typeface="Yu Gothic"/>
                <a:cs typeface="Yu Gothic"/>
              </a:defRPr>
            </a:pPr>
            <a:r>
              <a:rPr sz="713" b="1" i="0">
                <a:solidFill>
                  <a:srgbClr val="C4493D"/>
                </a:solidFill>
                <a:latin typeface="Yu Gothic"/>
                <a:ea typeface="Yu Gothic"/>
                <a:cs typeface="Yu Gothic"/>
              </a:rPr>
              <a:t>strict criterion 0.25 K</a:t>
            </a:r>
          </a:p>
        </p:txBody>
      </p:sp>
      <p:sp>
        <p:nvSpPr>
          <p:cNvPr id="13" name="">
            <a:extLst xmlns:a="http://schemas.openxmlformats.org/drawingml/2006/main">
              <a:ext uri="{FF2B5EF4-FFF2-40B4-BE49-F238E27FC236}">
                <a16:creationId xmlns:a16="http://schemas.microsoft.com/office/drawing/2014/main" id="{CC8FFF41-0F51-4C0F-AAFD-0BE30C7DE586}"/>
              </a:ext>
            </a:extLst>
          </p:cNvPr>
          <p:cNvSpPr>
            <a:spLocks xmlns:a="http://schemas.openxmlformats.org/drawingml/2006/main" noGrp="1"/>
          </p:cNvSpPr>
          <p:nvPr/>
        </p:nvSpPr>
        <p:spPr>
          <a:xfrm xmlns:a="http://schemas.openxmlformats.org/drawingml/2006/main">
            <a:off x="6153150" y="1381125"/>
            <a:ext cx="5486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mesh / solve cost</a:t>
            </a:r>
          </a:p>
        </p:txBody>
      </p:sp>
      <p:graphicFrame>
        <p:nvGraphicFramePr>
          <p:cNvPr id="44" name=""/>
          <p:cNvGraphicFramePr/>
          <p:nvPr/>
        </p:nvGraphicFramePr>
        <p:xfrm>
          <a:off xmlns:a="http://schemas.openxmlformats.org/drawingml/2006/main" x="6153150" y="1724025"/>
          <a:ext xmlns:a="http://schemas.openxmlformats.org/drawingml/2006/main" cx="5486400" cy="2276475"/>
        </p:xfrm>
        <a:graphic xmlns:a="http://schemas.openxmlformats.org/drawingml/2006/main">
          <a:graphicData uri="http://schemas.openxmlformats.org/drawingml/2006/table">
            <a:tbl>
              <a:tblPr/>
              <a:tblGrid>
                <a:gridCol w="1676400"/>
                <a:gridCol w="1524000"/>
                <a:gridCol w="1143000"/>
                <a:gridCol w="1143000"/>
              </a:tblGrid>
              <a:tr h="455295">
                <a:tc>
                  <a:txBody>
                    <a:bodyPr/>
                    <a:lstStyle/>
                    <a:p>
                      <a:r>
                        <a:rPr sz="938" b="1">
                          <a:solidFill>
                            <a:srgbClr val="FFFFFF"/>
                          </a:solidFill>
                          <a:latin typeface="Yu Gothic"/>
                          <a:ea typeface="Yu Gothic"/>
                          <a:cs typeface="Yu Gothic"/>
                        </a:rPr>
                        <a:t>mesh</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elements</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MC01 [s]</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MC02 [s]</a:t>
                      </a:r>
                    </a:p>
                  </a:txBody>
                  <a:tcPr marL="91440" marR="91440" marT="45720" marB="45720">
                    <a:solidFill>
                      <a:srgbClr val="007FA8"/>
                    </a:solidFill>
                  </a:tcPr>
                </a:tc>
              </a:tr>
              <a:tr h="455295">
                <a:tc>
                  <a:txBody>
                    <a:bodyPr/>
                    <a:lstStyle/>
                    <a:p>
                      <a:r>
                        <a:rPr sz="900">
                          <a:solidFill>
                            <a:srgbClr val="5B5B5B"/>
                          </a:solidFill>
                          <a:latin typeface="Yu Gothic"/>
                          <a:ea typeface="Yu Gothic"/>
                          <a:cs typeface="Yu Gothic"/>
                        </a:rPr>
                        <a:t>global-8</a:t>
                      </a:r>
                    </a:p>
                  </a:txBody>
                  <a:tcPr marL="91440" marR="91440" marT="45720" marB="45720">
                    <a:solidFill>
                      <a:srgbClr val="FFFFFF"/>
                    </a:solidFill>
                  </a:tcPr>
                </a:tc>
                <a:tc>
                  <a:txBody>
                    <a:bodyPr/>
                    <a:lstStyle/>
                    <a:p>
                      <a:r>
                        <a:rPr sz="900">
                          <a:solidFill>
                            <a:srgbClr val="5B5B5B"/>
                          </a:solidFill>
                          <a:latin typeface="Yu Gothic"/>
                          <a:ea typeface="Yu Gothic"/>
                          <a:cs typeface="Yu Gothic"/>
                        </a:rPr>
                        <a:t>48,870</a:t>
                      </a:r>
                    </a:p>
                  </a:txBody>
                  <a:tcPr marL="91440" marR="91440" marT="45720" marB="45720">
                    <a:solidFill>
                      <a:srgbClr val="FFFFFF"/>
                    </a:solidFill>
                  </a:tcPr>
                </a:tc>
                <a:tc>
                  <a:txBody>
                    <a:bodyPr/>
                    <a:lstStyle/>
                    <a:p>
                      <a:r>
                        <a:rPr sz="900">
                          <a:solidFill>
                            <a:srgbClr val="5B5B5B"/>
                          </a:solidFill>
                          <a:latin typeface="Yu Gothic"/>
                          <a:ea typeface="Yu Gothic"/>
                          <a:cs typeface="Yu Gothic"/>
                        </a:rPr>
                        <a:t>30</a:t>
                      </a:r>
                    </a:p>
                  </a:txBody>
                  <a:tcPr marL="91440" marR="91440" marT="45720" marB="45720">
                    <a:solidFill>
                      <a:srgbClr val="FFFFFF"/>
                    </a:solidFill>
                  </a:tcPr>
                </a:tc>
                <a:tc>
                  <a:txBody>
                    <a:bodyPr/>
                    <a:lstStyle/>
                    <a:p>
                      <a:r>
                        <a:rPr sz="900">
                          <a:solidFill>
                            <a:srgbClr val="5B5B5B"/>
                          </a:solidFill>
                          <a:latin typeface="Yu Gothic"/>
                          <a:ea typeface="Yu Gothic"/>
                          <a:cs typeface="Yu Gothic"/>
                        </a:rPr>
                        <a:t>62</a:t>
                      </a:r>
                    </a:p>
                  </a:txBody>
                  <a:tcPr marL="91440" marR="91440" marT="45720" marB="45720">
                    <a:solidFill>
                      <a:srgbClr val="FFFFFF"/>
                    </a:solidFill>
                  </a:tcPr>
                </a:tc>
              </a:tr>
              <a:tr h="455295">
                <a:tc>
                  <a:txBody>
                    <a:bodyPr/>
                    <a:lstStyle/>
                    <a:p>
                      <a:r>
                        <a:rPr sz="900">
                          <a:solidFill>
                            <a:srgbClr val="5B5B5B"/>
                          </a:solidFill>
                          <a:latin typeface="Yu Gothic"/>
                          <a:ea typeface="Yu Gothic"/>
                          <a:cs typeface="Yu Gothic"/>
                        </a:rPr>
                        <a:t>local-coarse</a:t>
                      </a:r>
                    </a:p>
                  </a:txBody>
                  <a:tcPr marL="91440" marR="91440" marT="45720" marB="45720">
                    <a:solidFill>
                      <a:srgbClr val="F8F8F8"/>
                    </a:solidFill>
                  </a:tcPr>
                </a:tc>
                <a:tc>
                  <a:txBody>
                    <a:bodyPr/>
                    <a:lstStyle/>
                    <a:p>
                      <a:r>
                        <a:rPr sz="900">
                          <a:solidFill>
                            <a:srgbClr val="5B5B5B"/>
                          </a:solidFill>
                          <a:latin typeface="Yu Gothic"/>
                          <a:ea typeface="Yu Gothic"/>
                          <a:cs typeface="Yu Gothic"/>
                        </a:rPr>
                        <a:t>837,644</a:t>
                      </a:r>
                    </a:p>
                  </a:txBody>
                  <a:tcPr marL="91440" marR="91440" marT="45720" marB="45720">
                    <a:solidFill>
                      <a:srgbClr val="F8F8F8"/>
                    </a:solidFill>
                  </a:tcPr>
                </a:tc>
                <a:tc>
                  <a:txBody>
                    <a:bodyPr/>
                    <a:lstStyle/>
                    <a:p>
                      <a:r>
                        <a:rPr sz="900">
                          <a:solidFill>
                            <a:srgbClr val="5B5B5B"/>
                          </a:solidFill>
                          <a:latin typeface="Yu Gothic"/>
                          <a:ea typeface="Yu Gothic"/>
                          <a:cs typeface="Yu Gothic"/>
                        </a:rPr>
                        <a:t>223</a:t>
                      </a:r>
                    </a:p>
                  </a:txBody>
                  <a:tcPr marL="91440" marR="91440" marT="45720" marB="45720">
                    <a:solidFill>
                      <a:srgbClr val="F8F8F8"/>
                    </a:solidFill>
                  </a:tcPr>
                </a:tc>
                <a:tc>
                  <a:txBody>
                    <a:bodyPr/>
                    <a:lstStyle/>
                    <a:p>
                      <a:r>
                        <a:rPr sz="900">
                          <a:solidFill>
                            <a:srgbClr val="5B5B5B"/>
                          </a:solidFill>
                          <a:latin typeface="Yu Gothic"/>
                          <a:ea typeface="Yu Gothic"/>
                          <a:cs typeface="Yu Gothic"/>
                        </a:rPr>
                        <a:t>537</a:t>
                      </a:r>
                    </a:p>
                  </a:txBody>
                  <a:tcPr marL="91440" marR="91440" marT="45720" marB="45720">
                    <a:solidFill>
                      <a:srgbClr val="F8F8F8"/>
                    </a:solidFill>
                  </a:tcPr>
                </a:tc>
              </a:tr>
              <a:tr h="455295">
                <a:tc>
                  <a:txBody>
                    <a:bodyPr/>
                    <a:lstStyle/>
                    <a:p>
                      <a:r>
                        <a:rPr sz="900">
                          <a:solidFill>
                            <a:srgbClr val="5B5B5B"/>
                          </a:solidFill>
                          <a:latin typeface="Yu Gothic"/>
                          <a:ea typeface="Yu Gothic"/>
                          <a:cs typeface="Yu Gothic"/>
                        </a:rPr>
                        <a:t>local-medium</a:t>
                      </a:r>
                    </a:p>
                  </a:txBody>
                  <a:tcPr marL="91440" marR="91440" marT="45720" marB="45720">
                    <a:solidFill>
                      <a:srgbClr val="FFFFFF"/>
                    </a:solidFill>
                  </a:tcPr>
                </a:tc>
                <a:tc>
                  <a:txBody>
                    <a:bodyPr/>
                    <a:lstStyle/>
                    <a:p>
                      <a:r>
                        <a:rPr sz="900">
                          <a:solidFill>
                            <a:srgbClr val="5B5B5B"/>
                          </a:solidFill>
                          <a:latin typeface="Yu Gothic"/>
                          <a:ea typeface="Yu Gothic"/>
                          <a:cs typeface="Yu Gothic"/>
                        </a:rPr>
                        <a:t>1,748,906</a:t>
                      </a:r>
                    </a:p>
                  </a:txBody>
                  <a:tcPr marL="91440" marR="91440" marT="45720" marB="45720">
                    <a:solidFill>
                      <a:srgbClr val="FFFFFF"/>
                    </a:solidFill>
                  </a:tcPr>
                </a:tc>
                <a:tc>
                  <a:txBody>
                    <a:bodyPr/>
                    <a:lstStyle/>
                    <a:p>
                      <a:r>
                        <a:rPr sz="900">
                          <a:solidFill>
                            <a:srgbClr val="5B5B5B"/>
                          </a:solidFill>
                          <a:latin typeface="Yu Gothic"/>
                          <a:ea typeface="Yu Gothic"/>
                          <a:cs typeface="Yu Gothic"/>
                        </a:rPr>
                        <a:t>492</a:t>
                      </a:r>
                    </a:p>
                  </a:txBody>
                  <a:tcPr marL="91440" marR="91440" marT="45720" marB="45720">
                    <a:solidFill>
                      <a:srgbClr val="FFFFFF"/>
                    </a:solidFill>
                  </a:tcPr>
                </a:tc>
                <a:tc>
                  <a:txBody>
                    <a:bodyPr/>
                    <a:lstStyle/>
                    <a:p>
                      <a:r>
                        <a:rPr sz="900">
                          <a:solidFill>
                            <a:srgbClr val="5B5B5B"/>
                          </a:solidFill>
                          <a:latin typeface="Yu Gothic"/>
                          <a:ea typeface="Yu Gothic"/>
                          <a:cs typeface="Yu Gothic"/>
                        </a:rPr>
                        <a:t>1,380</a:t>
                      </a:r>
                    </a:p>
                  </a:txBody>
                  <a:tcPr marL="91440" marR="91440" marT="45720" marB="45720">
                    <a:solidFill>
                      <a:srgbClr val="FFFFFF"/>
                    </a:solidFill>
                  </a:tcPr>
                </a:tc>
              </a:tr>
              <a:tr h="455295">
                <a:tc>
                  <a:txBody>
                    <a:bodyPr/>
                    <a:lstStyle/>
                    <a:p>
                      <a:r>
                        <a:rPr sz="900">
                          <a:solidFill>
                            <a:srgbClr val="5B5B5B"/>
                          </a:solidFill>
                          <a:latin typeface="Yu Gothic"/>
                          <a:ea typeface="Yu Gothic"/>
                          <a:cs typeface="Yu Gothic"/>
                        </a:rPr>
                        <a:t>local-fine</a:t>
                      </a:r>
                    </a:p>
                  </a:txBody>
                  <a:tcPr marL="91440" marR="91440" marT="45720" marB="45720">
                    <a:solidFill>
                      <a:srgbClr val="F8F8F8"/>
                    </a:solidFill>
                  </a:tcPr>
                </a:tc>
                <a:tc>
                  <a:txBody>
                    <a:bodyPr/>
                    <a:lstStyle/>
                    <a:p>
                      <a:r>
                        <a:rPr sz="900">
                          <a:solidFill>
                            <a:srgbClr val="5B5B5B"/>
                          </a:solidFill>
                          <a:latin typeface="Yu Gothic"/>
                          <a:ea typeface="Yu Gothic"/>
                          <a:cs typeface="Yu Gothic"/>
                        </a:rPr>
                        <a:t>3,587,721</a:t>
                      </a:r>
                    </a:p>
                  </a:txBody>
                  <a:tcPr marL="91440" marR="91440" marT="45720" marB="45720">
                    <a:solidFill>
                      <a:srgbClr val="F8F8F8"/>
                    </a:solidFill>
                  </a:tcPr>
                </a:tc>
                <a:tc>
                  <a:txBody>
                    <a:bodyPr/>
                    <a:lstStyle/>
                    <a:p>
                      <a:r>
                        <a:rPr sz="900">
                          <a:solidFill>
                            <a:srgbClr val="5B5B5B"/>
                          </a:solidFill>
                          <a:latin typeface="Yu Gothic"/>
                          <a:ea typeface="Yu Gothic"/>
                          <a:cs typeface="Yu Gothic"/>
                        </a:rPr>
                        <a:t>1,169</a:t>
                      </a:r>
                    </a:p>
                  </a:txBody>
                  <a:tcPr marL="91440" marR="91440" marT="45720" marB="45720">
                    <a:solidFill>
                      <a:srgbClr val="F8F8F8"/>
                    </a:solidFill>
                  </a:tcPr>
                </a:tc>
                <a:tc>
                  <a:txBody>
                    <a:bodyPr/>
                    <a:lstStyle/>
                    <a:p>
                      <a:r>
                        <a:rPr sz="900">
                          <a:solidFill>
                            <a:srgbClr val="5B5B5B"/>
                          </a:solidFill>
                          <a:latin typeface="Yu Gothic"/>
                          <a:ea typeface="Yu Gothic"/>
                          <a:cs typeface="Yu Gothic"/>
                        </a:rPr>
                        <a:t>3,950</a:t>
                      </a:r>
                    </a:p>
                  </a:txBody>
                  <a:tcPr marL="91440" marR="91440" marT="45720" marB="45720">
                    <a:solidFill>
                      <a:srgbClr val="F8F8F8"/>
                    </a:solidFill>
                  </a:tcPr>
                </a:tc>
              </a:tr>
            </a:tbl>
          </a:graphicData>
        </a:graphic>
      </p:graphicFrame>
      <p:sp>
        <p:nvSpPr>
          <p:cNvPr id="15" name="">
            <a:extLst xmlns:a="http://schemas.openxmlformats.org/drawingml/2006/main">
              <a:ext uri="{FF2B5EF4-FFF2-40B4-BE49-F238E27FC236}">
                <a16:creationId xmlns:a16="http://schemas.microsoft.com/office/drawing/2014/main" id="{7E35E369-5C29-4D63-A9B7-AF046DE308DF}"/>
              </a:ext>
            </a:extLst>
          </p:cNvPr>
          <p:cNvSpPr>
            <a:spLocks xmlns:a="http://schemas.openxmlformats.org/drawingml/2006/main" noGrp="1"/>
          </p:cNvSpPr>
          <p:nvPr/>
        </p:nvSpPr>
        <p:spPr>
          <a:xfrm xmlns:a="http://schemas.openxmlformats.org/drawingml/2006/main">
            <a:off x="6153150" y="4210050"/>
            <a:ext cx="5486400" cy="685800"/>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16" name="">
            <a:extLst xmlns:a="http://schemas.openxmlformats.org/drawingml/2006/main">
              <a:ext uri="{FF2B5EF4-FFF2-40B4-BE49-F238E27FC236}">
                <a16:creationId xmlns:a16="http://schemas.microsoft.com/office/drawing/2014/main" id="{69C66CF0-C4BF-435A-94A0-BC52338F02DA}"/>
              </a:ext>
            </a:extLst>
          </p:cNvPr>
          <p:cNvSpPr>
            <a:spLocks xmlns:a="http://schemas.openxmlformats.org/drawingml/2006/main" noGrp="1"/>
          </p:cNvSpPr>
          <p:nvPr/>
        </p:nvSpPr>
        <p:spPr>
          <a:xfrm xmlns:a="http://schemas.openxmlformats.org/drawingml/2006/main">
            <a:off x="6334125" y="4324350"/>
            <a:ext cx="2238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C4493D"/>
                </a:solidFill>
                <a:latin typeface="Yu Gothic"/>
                <a:ea typeface="Yu Gothic"/>
                <a:cs typeface="Yu Gothic"/>
              </a:defRPr>
            </a:pPr>
            <a:r>
              <a:rPr sz="900" b="1" i="0">
                <a:solidFill>
                  <a:srgbClr val="C4493D"/>
                </a:solidFill>
                <a:latin typeface="Yu Gothic"/>
                <a:ea typeface="Yu Gothic"/>
                <a:cs typeface="Yu Gothic"/>
              </a:rPr>
              <a:t>global-8 → local-coarse</a:t>
            </a:r>
          </a:p>
        </p:txBody>
      </p:sp>
      <p:sp>
        <p:nvSpPr>
          <p:cNvPr id="17" name="">
            <a:extLst xmlns:a="http://schemas.openxmlformats.org/drawingml/2006/main">
              <a:ext uri="{FF2B5EF4-FFF2-40B4-BE49-F238E27FC236}">
                <a16:creationId xmlns:a16="http://schemas.microsoft.com/office/drawing/2014/main" id="{44419014-BF45-4E8C-9496-BB39442CA172}"/>
              </a:ext>
            </a:extLst>
          </p:cNvPr>
          <p:cNvSpPr>
            <a:spLocks xmlns:a="http://schemas.openxmlformats.org/drawingml/2006/main" noGrp="1"/>
          </p:cNvSpPr>
          <p:nvPr/>
        </p:nvSpPr>
        <p:spPr>
          <a:xfrm xmlns:a="http://schemas.openxmlformats.org/drawingml/2006/main">
            <a:off x="8858250" y="4276725"/>
            <a:ext cx="2552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7826"/>
          </a:bodyPr>
          <a:lstStyle xmlns:a="http://schemas.openxmlformats.org/drawingml/2006/main"/>
          <a:p xmlns:a="http://schemas.openxmlformats.org/drawingml/2006/main">
            <a:pPr algn="r">
              <a:lnSpc>
                <a:spcPct val="100000"/>
              </a:lnSpc>
              <a:buNone/>
              <a:defRPr sz="1725" b="1" i="0">
                <a:solidFill>
                  <a:srgbClr val="C4493D"/>
                </a:solidFill>
                <a:latin typeface="Yu Gothic"/>
                <a:ea typeface="Yu Gothic"/>
                <a:cs typeface="Yu Gothic"/>
              </a:defRPr>
            </a:pPr>
            <a:r>
              <a:rPr sz="1725" b="1" i="0">
                <a:solidFill>
                  <a:srgbClr val="C4493D"/>
                </a:solidFill>
                <a:latin typeface="Yu Gothic"/>
                <a:ea typeface="Yu Gothic"/>
                <a:cs typeface="Yu Gothic"/>
              </a:rPr>
              <a:t>+15.913 K</a:t>
            </a:r>
          </a:p>
        </p:txBody>
      </p:sp>
      <p:sp>
        <p:nvSpPr>
          <p:cNvPr id="18" name="">
            <a:extLst xmlns:a="http://schemas.openxmlformats.org/drawingml/2006/main">
              <a:ext uri="{FF2B5EF4-FFF2-40B4-BE49-F238E27FC236}">
                <a16:creationId xmlns:a16="http://schemas.microsoft.com/office/drawing/2014/main" id="{BBCAA68F-B204-43A1-95EE-9CE0106F4452}"/>
              </a:ext>
            </a:extLst>
          </p:cNvPr>
          <p:cNvSpPr>
            <a:spLocks xmlns:a="http://schemas.openxmlformats.org/drawingml/2006/main" noGrp="1"/>
          </p:cNvSpPr>
          <p:nvPr/>
        </p:nvSpPr>
        <p:spPr>
          <a:xfrm xmlns:a="http://schemas.openxmlformats.org/drawingml/2006/main">
            <a:off x="6334125" y="4591050"/>
            <a:ext cx="507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MC01 chip平均。global meshは局所熱勾配を解像できない。</a:t>
            </a:r>
          </a:p>
        </p:txBody>
      </p:sp>
      <p:sp>
        <p:nvSpPr>
          <p:cNvPr id="19" name="">
            <a:extLst xmlns:a="http://schemas.openxmlformats.org/drawingml/2006/main">
              <a:ext uri="{FF2B5EF4-FFF2-40B4-BE49-F238E27FC236}">
                <a16:creationId xmlns:a16="http://schemas.microsoft.com/office/drawing/2014/main" id="{6BE175A4-26D0-49D2-BC74-FE1CD569581F}"/>
              </a:ext>
            </a:extLst>
          </p:cNvPr>
          <p:cNvSpPr>
            <a:spLocks xmlns:a="http://schemas.openxmlformats.org/drawingml/2006/main" noGrp="1"/>
          </p:cNvSpPr>
          <p:nvPr/>
        </p:nvSpPr>
        <p:spPr>
          <a:xfrm xmlns:a="http://schemas.openxmlformats.org/drawingml/2006/main">
            <a:off x="552450" y="5191125"/>
            <a:ext cx="3505200" cy="942975"/>
          </a:xfrm>
          <a:prstGeom xmlns:a="http://schemas.openxmlformats.org/drawingml/2006/main" prst="rect">
            <a:avLst/>
          </a:prstGeom>
          <a:solidFill xmlns:a="http://schemas.openxmlformats.org/drawingml/2006/main">
            <a:srgbClr val="FFF5D7"/>
          </a:solidFill>
          <a:ln xmlns:a="http://schemas.openxmlformats.org/drawingml/2006/main" w="9525">
            <a:solidFill>
              <a:srgbClr val="E5A900"/>
            </a:solidFill>
            <a:prstDash val="solid"/>
          </a:ln>
        </p:spPr>
      </p:sp>
      <p:sp>
        <p:nvSpPr>
          <p:cNvPr id="20" name="">
            <a:extLst xmlns:a="http://schemas.openxmlformats.org/drawingml/2006/main">
              <a:ext uri="{FF2B5EF4-FFF2-40B4-BE49-F238E27FC236}">
                <a16:creationId xmlns:a16="http://schemas.microsoft.com/office/drawing/2014/main" id="{C452CAA3-8EBA-4337-BCAD-0E50ED960E94}"/>
              </a:ext>
            </a:extLst>
          </p:cNvPr>
          <p:cNvSpPr>
            <a:spLocks xmlns:a="http://schemas.openxmlformats.org/drawingml/2006/main" noGrp="1"/>
          </p:cNvSpPr>
          <p:nvPr/>
        </p:nvSpPr>
        <p:spPr>
          <a:xfrm xmlns:a="http://schemas.openxmlformats.org/drawingml/2006/main">
            <a:off x="723900" y="5295900"/>
            <a:ext cx="1066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E5A900"/>
                </a:solidFill>
                <a:latin typeface="Yu Gothic"/>
                <a:ea typeface="Yu Gothic"/>
                <a:cs typeface="Yu Gothic"/>
              </a:defRPr>
            </a:pPr>
            <a:r>
              <a:rPr sz="900" b="1" i="0">
                <a:solidFill>
                  <a:srgbClr val="E5A900"/>
                </a:solidFill>
                <a:latin typeface="Yu Gothic"/>
                <a:ea typeface="Yu Gothic"/>
                <a:cs typeface="Yu Gothic"/>
              </a:rPr>
              <a:t>screening</a:t>
            </a:r>
          </a:p>
        </p:txBody>
      </p:sp>
      <p:sp>
        <p:nvSpPr>
          <p:cNvPr id="21" name="">
            <a:extLst xmlns:a="http://schemas.openxmlformats.org/drawingml/2006/main">
              <a:ext uri="{FF2B5EF4-FFF2-40B4-BE49-F238E27FC236}">
                <a16:creationId xmlns:a16="http://schemas.microsoft.com/office/drawing/2014/main" id="{313D0B32-B5AB-45BB-AD6B-099BF8821BC2}"/>
              </a:ext>
            </a:extLst>
          </p:cNvPr>
          <p:cNvSpPr>
            <a:spLocks xmlns:a="http://schemas.openxmlformats.org/drawingml/2006/main" noGrp="1"/>
          </p:cNvSpPr>
          <p:nvPr/>
        </p:nvSpPr>
        <p:spPr>
          <a:xfrm xmlns:a="http://schemas.openxmlformats.org/drawingml/2006/main">
            <a:off x="1847850" y="5257800"/>
            <a:ext cx="2000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1500" b="1" i="0">
                <a:solidFill>
                  <a:srgbClr val="3F3F3F"/>
                </a:solidFill>
                <a:latin typeface="Yu Gothic"/>
                <a:ea typeface="Yu Gothic"/>
                <a:cs typeface="Yu Gothic"/>
              </a:defRPr>
            </a:pPr>
            <a:r>
              <a:rPr sz="1500" b="1" i="0">
                <a:solidFill>
                  <a:srgbClr val="3F3F3F"/>
                </a:solidFill>
                <a:latin typeface="Yu Gothic"/>
                <a:ea typeface="Yu Gothic"/>
                <a:cs typeface="Yu Gothic"/>
              </a:rPr>
              <a:t>≤ 0.50 K</a:t>
            </a:r>
          </a:p>
        </p:txBody>
      </p:sp>
      <p:sp>
        <p:nvSpPr>
          <p:cNvPr id="22" name="">
            <a:extLst xmlns:a="http://schemas.openxmlformats.org/drawingml/2006/main">
              <a:ext uri="{FF2B5EF4-FFF2-40B4-BE49-F238E27FC236}">
                <a16:creationId xmlns:a16="http://schemas.microsoft.com/office/drawing/2014/main" id="{05B9087E-BBF7-45EA-9523-EE86FE40A9C0}"/>
              </a:ext>
            </a:extLst>
          </p:cNvPr>
          <p:cNvSpPr>
            <a:spLocks xmlns:a="http://schemas.openxmlformats.org/drawingml/2006/main" noGrp="1"/>
          </p:cNvSpPr>
          <p:nvPr/>
        </p:nvSpPr>
        <p:spPr>
          <a:xfrm xmlns:a="http://schemas.openxmlformats.org/drawingml/2006/main">
            <a:off x="723900" y="5638800"/>
            <a:ext cx="3124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MC01 ぎりぎり / MC02 pass</a:t>
            </a:r>
          </a:p>
        </p:txBody>
      </p:sp>
      <p:sp>
        <p:nvSpPr>
          <p:cNvPr id="23" name="">
            <a:extLst xmlns:a="http://schemas.openxmlformats.org/drawingml/2006/main">
              <a:ext uri="{FF2B5EF4-FFF2-40B4-BE49-F238E27FC236}">
                <a16:creationId xmlns:a16="http://schemas.microsoft.com/office/drawing/2014/main" id="{2ACDC086-E944-4571-A4DD-1BF432BF425A}"/>
              </a:ext>
            </a:extLst>
          </p:cNvPr>
          <p:cNvSpPr>
            <a:spLocks xmlns:a="http://schemas.openxmlformats.org/drawingml/2006/main" noGrp="1"/>
          </p:cNvSpPr>
          <p:nvPr/>
        </p:nvSpPr>
        <p:spPr>
          <a:xfrm xmlns:a="http://schemas.openxmlformats.org/drawingml/2006/main">
            <a:off x="4248150" y="5191125"/>
            <a:ext cx="3505200" cy="942975"/>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24" name="">
            <a:extLst xmlns:a="http://schemas.openxmlformats.org/drawingml/2006/main">
              <a:ext uri="{FF2B5EF4-FFF2-40B4-BE49-F238E27FC236}">
                <a16:creationId xmlns:a16="http://schemas.microsoft.com/office/drawing/2014/main" id="{8BEE8A96-B017-47D0-8D28-9A41A2EA9CC4}"/>
              </a:ext>
            </a:extLst>
          </p:cNvPr>
          <p:cNvSpPr>
            <a:spLocks xmlns:a="http://schemas.openxmlformats.org/drawingml/2006/main" noGrp="1"/>
          </p:cNvSpPr>
          <p:nvPr/>
        </p:nvSpPr>
        <p:spPr>
          <a:xfrm xmlns:a="http://schemas.openxmlformats.org/drawingml/2006/main">
            <a:off x="4419600" y="5295900"/>
            <a:ext cx="1066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C4493D"/>
                </a:solidFill>
                <a:latin typeface="Yu Gothic"/>
                <a:ea typeface="Yu Gothic"/>
                <a:cs typeface="Yu Gothic"/>
              </a:defRPr>
            </a:pPr>
            <a:r>
              <a:rPr sz="900" b="1" i="0">
                <a:solidFill>
                  <a:srgbClr val="C4493D"/>
                </a:solidFill>
                <a:latin typeface="Yu Gothic"/>
                <a:ea typeface="Yu Gothic"/>
                <a:cs typeface="Yu Gothic"/>
              </a:rPr>
              <a:t>strict average</a:t>
            </a:r>
          </a:p>
        </p:txBody>
      </p:sp>
      <p:sp>
        <p:nvSpPr>
          <p:cNvPr id="25" name="">
            <a:extLst xmlns:a="http://schemas.openxmlformats.org/drawingml/2006/main">
              <a:ext uri="{FF2B5EF4-FFF2-40B4-BE49-F238E27FC236}">
                <a16:creationId xmlns:a16="http://schemas.microsoft.com/office/drawing/2014/main" id="{D8C07F17-7CB5-4300-A8EC-92834A3D41AE}"/>
              </a:ext>
            </a:extLst>
          </p:cNvPr>
          <p:cNvSpPr>
            <a:spLocks xmlns:a="http://schemas.openxmlformats.org/drawingml/2006/main" noGrp="1"/>
          </p:cNvSpPr>
          <p:nvPr/>
        </p:nvSpPr>
        <p:spPr>
          <a:xfrm xmlns:a="http://schemas.openxmlformats.org/drawingml/2006/main">
            <a:off x="5543550" y="5257800"/>
            <a:ext cx="2000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1500" b="1" i="0">
                <a:solidFill>
                  <a:srgbClr val="3F3F3F"/>
                </a:solidFill>
                <a:latin typeface="Yu Gothic"/>
                <a:ea typeface="Yu Gothic"/>
                <a:cs typeface="Yu Gothic"/>
              </a:defRPr>
            </a:pPr>
            <a:r>
              <a:rPr sz="1500" b="1" i="0">
                <a:solidFill>
                  <a:srgbClr val="3F3F3F"/>
                </a:solidFill>
                <a:latin typeface="Yu Gothic"/>
                <a:ea typeface="Yu Gothic"/>
                <a:cs typeface="Yu Gothic"/>
              </a:rPr>
              <a:t>≤ 0.25 K</a:t>
            </a:r>
          </a:p>
        </p:txBody>
      </p:sp>
      <p:sp>
        <p:nvSpPr>
          <p:cNvPr id="26" name="">
            <a:extLst xmlns:a="http://schemas.openxmlformats.org/drawingml/2006/main">
              <a:ext uri="{FF2B5EF4-FFF2-40B4-BE49-F238E27FC236}">
                <a16:creationId xmlns:a16="http://schemas.microsoft.com/office/drawing/2014/main" id="{63E3B8DA-ACDD-4401-8BC8-0187078232C5}"/>
              </a:ext>
            </a:extLst>
          </p:cNvPr>
          <p:cNvSpPr>
            <a:spLocks xmlns:a="http://schemas.openxmlformats.org/drawingml/2006/main" noGrp="1"/>
          </p:cNvSpPr>
          <p:nvPr/>
        </p:nvSpPr>
        <p:spPr>
          <a:xfrm xmlns:a="http://schemas.openxmlformats.org/drawingml/2006/main">
            <a:off x="4419600" y="5638800"/>
            <a:ext cx="3124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MC01 fail / MC02 pass</a:t>
            </a:r>
          </a:p>
        </p:txBody>
      </p:sp>
      <p:sp>
        <p:nvSpPr>
          <p:cNvPr id="27" name="">
            <a:extLst xmlns:a="http://schemas.openxmlformats.org/drawingml/2006/main">
              <a:ext uri="{FF2B5EF4-FFF2-40B4-BE49-F238E27FC236}">
                <a16:creationId xmlns:a16="http://schemas.microsoft.com/office/drawing/2014/main" id="{09217F93-C01B-4910-BDC6-080D8224CA2B}"/>
              </a:ext>
            </a:extLst>
          </p:cNvPr>
          <p:cNvSpPr>
            <a:spLocks xmlns:a="http://schemas.openxmlformats.org/drawingml/2006/main" noGrp="1"/>
          </p:cNvSpPr>
          <p:nvPr/>
        </p:nvSpPr>
        <p:spPr>
          <a:xfrm xmlns:a="http://schemas.openxmlformats.org/drawingml/2006/main">
            <a:off x="7943850" y="5191125"/>
            <a:ext cx="3505200" cy="942975"/>
          </a:xfrm>
          <a:prstGeom xmlns:a="http://schemas.openxmlformats.org/drawingml/2006/main" prst="rect">
            <a:avLst/>
          </a:prstGeom>
          <a:solidFill xmlns:a="http://schemas.openxmlformats.org/drawingml/2006/main">
            <a:srgbClr val="EFE5F6"/>
          </a:solidFill>
          <a:ln xmlns:a="http://schemas.openxmlformats.org/drawingml/2006/main" w="9525">
            <a:solidFill>
              <a:srgbClr val="7B2DAF"/>
            </a:solidFill>
            <a:prstDash val="solid"/>
          </a:ln>
        </p:spPr>
      </p:sp>
      <p:sp>
        <p:nvSpPr>
          <p:cNvPr id="28" name="">
            <a:extLst xmlns:a="http://schemas.openxmlformats.org/drawingml/2006/main">
              <a:ext uri="{FF2B5EF4-FFF2-40B4-BE49-F238E27FC236}">
                <a16:creationId xmlns:a16="http://schemas.microsoft.com/office/drawing/2014/main" id="{539E479A-71E8-48A8-8F77-F7F8CAB49B78}"/>
              </a:ext>
            </a:extLst>
          </p:cNvPr>
          <p:cNvSpPr>
            <a:spLocks xmlns:a="http://schemas.openxmlformats.org/drawingml/2006/main" noGrp="1"/>
          </p:cNvSpPr>
          <p:nvPr/>
        </p:nvSpPr>
        <p:spPr>
          <a:xfrm xmlns:a="http://schemas.openxmlformats.org/drawingml/2006/main">
            <a:off x="8115300" y="5295900"/>
            <a:ext cx="1066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7B2DAF"/>
                </a:solidFill>
                <a:latin typeface="Yu Gothic"/>
                <a:ea typeface="Yu Gothic"/>
                <a:cs typeface="Yu Gothic"/>
              </a:defRPr>
            </a:pPr>
            <a:r>
              <a:rPr sz="900" b="1" i="0">
                <a:solidFill>
                  <a:srgbClr val="7B2DAF"/>
                </a:solidFill>
                <a:latin typeface="Yu Gothic"/>
                <a:ea typeface="Yu Gothic"/>
                <a:cs typeface="Yu Gothic"/>
              </a:rPr>
              <a:t>current status</a:t>
            </a:r>
          </a:p>
        </p:txBody>
      </p:sp>
      <p:sp>
        <p:nvSpPr>
          <p:cNvPr id="29" name="">
            <a:extLst xmlns:a="http://schemas.openxmlformats.org/drawingml/2006/main">
              <a:ext uri="{FF2B5EF4-FFF2-40B4-BE49-F238E27FC236}">
                <a16:creationId xmlns:a16="http://schemas.microsoft.com/office/drawing/2014/main" id="{0D433CAF-465C-4F6C-8161-4253B0698E18}"/>
              </a:ext>
            </a:extLst>
          </p:cNvPr>
          <p:cNvSpPr>
            <a:spLocks xmlns:a="http://schemas.openxmlformats.org/drawingml/2006/main" noGrp="1"/>
          </p:cNvSpPr>
          <p:nvPr/>
        </p:nvSpPr>
        <p:spPr>
          <a:xfrm xmlns:a="http://schemas.openxmlformats.org/drawingml/2006/main">
            <a:off x="9239250" y="5257800"/>
            <a:ext cx="2000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1500" b="1" i="0">
                <a:solidFill>
                  <a:srgbClr val="3F3F3F"/>
                </a:solidFill>
                <a:latin typeface="Yu Gothic"/>
                <a:ea typeface="Yu Gothic"/>
                <a:cs typeface="Yu Gothic"/>
              </a:defRPr>
            </a:pPr>
            <a:r>
              <a:rPr sz="1500" b="1" i="0">
                <a:solidFill>
                  <a:srgbClr val="3F3F3F"/>
                </a:solidFill>
                <a:latin typeface="Yu Gothic"/>
                <a:ea typeface="Yu Gothic"/>
                <a:cs typeface="Yu Gothic"/>
              </a:rPr>
              <a:t>not qualified</a:t>
            </a:r>
          </a:p>
        </p:txBody>
      </p:sp>
      <p:sp>
        <p:nvSpPr>
          <p:cNvPr id="30" name="">
            <a:extLst xmlns:a="http://schemas.openxmlformats.org/drawingml/2006/main">
              <a:ext uri="{FF2B5EF4-FFF2-40B4-BE49-F238E27FC236}">
                <a16:creationId xmlns:a16="http://schemas.microsoft.com/office/drawing/2014/main" id="{E556CAAB-DD6E-4A92-8AF1-9777679F7850}"/>
              </a:ext>
            </a:extLst>
          </p:cNvPr>
          <p:cNvSpPr>
            <a:spLocks xmlns:a="http://schemas.openxmlformats.org/drawingml/2006/main" noGrp="1"/>
          </p:cNvSpPr>
          <p:nvPr/>
        </p:nvSpPr>
        <p:spPr>
          <a:xfrm xmlns:a="http://schemas.openxmlformats.org/drawingml/2006/main">
            <a:off x="8115300" y="5638800"/>
            <a:ext cx="3124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temporal convergence・実験比較も未完</a:t>
            </a:r>
          </a:p>
        </p:txBody>
      </p:sp>
    </p:spTree>
    <p:extLst>
      <p:ext uri="{BB962C8B-B14F-4D97-AF65-F5344CB8AC3E}">
        <p14:creationId xmlns:p14="http://schemas.microsoft.com/office/powerpoint/2010/main" val="16667140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A2C604A-82BA-4CB3-BB77-DD0A89C81375}"/>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BD2BFE1-7E46-428F-8FF1-16867CA2BFA5}"/>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HIGH-FIDELITY SCREENING</a:t>
            </a:r>
          </a:p>
        </p:txBody>
      </p:sp>
      <p:sp>
        <p:nvSpPr>
          <p:cNvPr id="3" name="">
            <a:extLst xmlns:a="http://schemas.openxmlformats.org/drawingml/2006/main">
              <a:ext uri="{FF2B5EF4-FFF2-40B4-BE49-F238E27FC236}">
                <a16:creationId xmlns:a16="http://schemas.microsoft.com/office/drawing/2014/main" id="{5D310733-E9E9-488B-A873-E720936A286E}"/>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平均RMSEは改善したが、放射感度の大きさは再現できていない</a:t>
            </a:r>
          </a:p>
        </p:txBody>
      </p:sp>
      <p:sp>
        <p:nvSpPr>
          <p:cNvPr id="4" name="">
            <a:extLst xmlns:a="http://schemas.openxmlformats.org/drawingml/2006/main">
              <a:ext uri="{FF2B5EF4-FFF2-40B4-BE49-F238E27FC236}">
                <a16:creationId xmlns:a16="http://schemas.microsoft.com/office/drawing/2014/main" id="{35F8EA32-4D1A-402A-89E9-4DFC53FD5283}"/>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良い総合誤差と正しい物理感度は別の検証項目である</a:t>
            </a:r>
          </a:p>
        </p:txBody>
      </p:sp>
      <p:sp>
        <p:nvSpPr>
          <p:cNvPr id="5" name="">
            <a:extLst xmlns:a="http://schemas.openxmlformats.org/drawingml/2006/main">
              <a:ext uri="{FF2B5EF4-FFF2-40B4-BE49-F238E27FC236}">
                <a16:creationId xmlns:a16="http://schemas.microsoft.com/office/drawing/2014/main" id="{7DEB50C1-3CB0-4138-8B90-7E1841003EF3}"/>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ABF1D7D9-E09E-48C5-9A8B-97413079437B}"/>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66B8C685-55E2-4B2F-93FB-05D44DAA0074}"/>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D3B6719F-CACF-43CC-A9ED-F1FA4FDB4445}"/>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26</a:t>
            </a:r>
          </a:p>
        </p:txBody>
      </p:sp>
      <p:sp>
        <p:nvSpPr>
          <p:cNvPr id="9" name="">
            <a:extLst xmlns:a="http://schemas.openxmlformats.org/drawingml/2006/main">
              <a:ext uri="{FF2B5EF4-FFF2-40B4-BE49-F238E27FC236}">
                <a16:creationId xmlns:a16="http://schemas.microsoft.com/office/drawing/2014/main" id="{A7B0434D-CB3F-42F2-81EA-2B05196925FF}"/>
              </a:ext>
            </a:extLst>
          </p:cNvPr>
          <p:cNvSpPr>
            <a:spLocks xmlns:a="http://schemas.openxmlformats.org/drawingml/2006/main" noGrp="1"/>
          </p:cNvSpPr>
          <p:nvPr/>
        </p:nvSpPr>
        <p:spPr>
          <a:xfrm xmlns:a="http://schemas.openxmlformats.org/drawingml/2006/main">
            <a:off x="552450" y="1381125"/>
            <a:ext cx="514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external RMSE</a:t>
            </a:r>
          </a:p>
        </p:txBody>
      </p:sp>
      <p:graphicFrame>
        <p:nvGraphicFramePr>
          <p:cNvPr id="42" name="Chart"/>
          <p:cNvGraphicFramePr/>
          <p:nvPr/>
        </p:nvGraphicFramePr>
        <p:xfrm>
          <a:off xmlns:a="http://schemas.openxmlformats.org/drawingml/2006/main" x="552450" y="1657350"/>
          <a:ext xmlns:a="http://schemas.openxmlformats.org/drawingml/2006/main" cx="5143500" cy="3133725"/>
        </p:xfrm>
        <a:graphic xmlns:a="http://schemas.openxmlformats.org/drawingml/2006/main">
          <a:graphicData uri="http://schemas.openxmlformats.org/drawingml/2006/chart">
            <c:chart xmlns:r="http://schemas.openxmlformats.org/officeDocument/2006/relationships" xmlns:c="http://schemas.openxmlformats.org/drawingml/2006/chart" r:id="Re8e0d3d224e0435f"/>
          </a:graphicData>
        </a:graphic>
      </p:graphicFrame>
      <p:sp>
        <p:nvSpPr>
          <p:cNvPr id="11" name="">
            <a:extLst xmlns:a="http://schemas.openxmlformats.org/drawingml/2006/main">
              <a:ext uri="{FF2B5EF4-FFF2-40B4-BE49-F238E27FC236}">
                <a16:creationId xmlns:a16="http://schemas.microsoft.com/office/drawing/2014/main" id="{358EF17C-01D3-47D5-AFDD-090D0DD346F2}"/>
              </a:ext>
            </a:extLst>
          </p:cNvPr>
          <p:cNvSpPr>
            <a:spLocks xmlns:a="http://schemas.openxmlformats.org/drawingml/2006/main" noGrp="1"/>
          </p:cNvSpPr>
          <p:nvPr/>
        </p:nvSpPr>
        <p:spPr>
          <a:xfrm xmlns:a="http://schemas.openxmlformats.org/drawingml/2006/main">
            <a:off x="6076950" y="1381125"/>
            <a:ext cx="5562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radiation pair: chip temperature delta</a:t>
            </a:r>
          </a:p>
        </p:txBody>
      </p:sp>
      <p:graphicFrame>
        <p:nvGraphicFramePr>
          <p:cNvPr id="44" name="Chart"/>
          <p:cNvGraphicFramePr/>
          <p:nvPr/>
        </p:nvGraphicFramePr>
        <p:xfrm>
          <a:off xmlns:a="http://schemas.openxmlformats.org/drawingml/2006/main" x="6076950" y="1657350"/>
          <a:ext xmlns:a="http://schemas.openxmlformats.org/drawingml/2006/main" cx="5562600" cy="3133725"/>
        </p:xfrm>
        <a:graphic xmlns:a="http://schemas.openxmlformats.org/drawingml/2006/main">
          <a:graphicData uri="http://schemas.openxmlformats.org/drawingml/2006/chart">
            <c:chart xmlns:r="http://schemas.openxmlformats.org/officeDocument/2006/relationships" xmlns:c="http://schemas.openxmlformats.org/drawingml/2006/chart" r:id="R77ce928bb3a844f2"/>
          </a:graphicData>
        </a:graphic>
      </p:graphicFrame>
      <p:sp>
        <p:nvSpPr>
          <p:cNvPr id="13" name="">
            <a:extLst xmlns:a="http://schemas.openxmlformats.org/drawingml/2006/main">
              <a:ext uri="{FF2B5EF4-FFF2-40B4-BE49-F238E27FC236}">
                <a16:creationId xmlns:a16="http://schemas.microsoft.com/office/drawing/2014/main" id="{BE8870B8-3AC2-4C47-9AFA-A31EA2B71793}"/>
              </a:ext>
            </a:extLst>
          </p:cNvPr>
          <p:cNvSpPr>
            <a:spLocks xmlns:a="http://schemas.openxmlformats.org/drawingml/2006/main" noGrp="1"/>
          </p:cNvSpPr>
          <p:nvPr/>
        </p:nvSpPr>
        <p:spPr>
          <a:xfrm xmlns:a="http://schemas.openxmlformats.org/drawingml/2006/main">
            <a:off x="552450" y="5038725"/>
            <a:ext cx="25717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4" name="">
            <a:extLst xmlns:a="http://schemas.openxmlformats.org/drawingml/2006/main">
              <a:ext uri="{FF2B5EF4-FFF2-40B4-BE49-F238E27FC236}">
                <a16:creationId xmlns:a16="http://schemas.microsoft.com/office/drawing/2014/main" id="{750B5CF1-C859-4176-B3BE-0592DF3BB576}"/>
              </a:ext>
            </a:extLst>
          </p:cNvPr>
          <p:cNvSpPr>
            <a:spLocks xmlns:a="http://schemas.openxmlformats.org/drawingml/2006/main" noGrp="1"/>
          </p:cNvSpPr>
          <p:nvPr/>
        </p:nvSpPr>
        <p:spPr>
          <a:xfrm xmlns:a="http://schemas.openxmlformats.org/drawingml/2006/main">
            <a:off x="552450" y="5038725"/>
            <a:ext cx="66675" cy="109537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8CF13F5-3D53-4565-8A94-1594C4B6CB64}"/>
              </a:ext>
            </a:extLst>
          </p:cNvPr>
          <p:cNvSpPr>
            <a:spLocks xmlns:a="http://schemas.openxmlformats.org/drawingml/2006/main" noGrp="1"/>
          </p:cNvSpPr>
          <p:nvPr/>
        </p:nvSpPr>
        <p:spPr>
          <a:xfrm xmlns:a="http://schemas.openxmlformats.org/drawingml/2006/main">
            <a:off x="742950" y="5133975"/>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0.0956 K</a:t>
            </a:r>
          </a:p>
        </p:txBody>
      </p:sp>
      <p:sp>
        <p:nvSpPr>
          <p:cNvPr id="16" name="">
            <a:extLst xmlns:a="http://schemas.openxmlformats.org/drawingml/2006/main">
              <a:ext uri="{FF2B5EF4-FFF2-40B4-BE49-F238E27FC236}">
                <a16:creationId xmlns:a16="http://schemas.microsoft.com/office/drawing/2014/main" id="{CEE900C6-2D1E-4FE2-9DB5-3E2CF3EAD5CE}"/>
              </a:ext>
            </a:extLst>
          </p:cNvPr>
          <p:cNvSpPr>
            <a:spLocks xmlns:a="http://schemas.openxmlformats.org/drawingml/2006/main" noGrp="1"/>
          </p:cNvSpPr>
          <p:nvPr/>
        </p:nvSpPr>
        <p:spPr>
          <a:xfrm xmlns:a="http://schemas.openxmlformats.org/drawingml/2006/main">
            <a:off x="742950" y="551497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learned mean RMSE</a:t>
            </a:r>
          </a:p>
        </p:txBody>
      </p:sp>
      <p:sp>
        <p:nvSpPr>
          <p:cNvPr id="17" name="">
            <a:extLst xmlns:a="http://schemas.openxmlformats.org/drawingml/2006/main">
              <a:ext uri="{FF2B5EF4-FFF2-40B4-BE49-F238E27FC236}">
                <a16:creationId xmlns:a16="http://schemas.microsoft.com/office/drawing/2014/main" id="{03F32995-BE88-41D4-BE94-5FD4AC7B72A3}"/>
              </a:ext>
            </a:extLst>
          </p:cNvPr>
          <p:cNvSpPr>
            <a:spLocks xmlns:a="http://schemas.openxmlformats.org/drawingml/2006/main" noGrp="1"/>
          </p:cNvSpPr>
          <p:nvPr/>
        </p:nvSpPr>
        <p:spPr>
          <a:xfrm xmlns:a="http://schemas.openxmlformats.org/drawingml/2006/main">
            <a:off x="742950" y="5800725"/>
            <a:ext cx="228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prior mean 0.8889 K</a:t>
            </a:r>
          </a:p>
        </p:txBody>
      </p:sp>
      <p:sp>
        <p:nvSpPr>
          <p:cNvPr id="18" name="">
            <a:extLst xmlns:a="http://schemas.openxmlformats.org/drawingml/2006/main">
              <a:ext uri="{FF2B5EF4-FFF2-40B4-BE49-F238E27FC236}">
                <a16:creationId xmlns:a16="http://schemas.microsoft.com/office/drawing/2014/main" id="{F61C03CC-8E4D-4916-A0E5-1E6272EDBAB7}"/>
              </a:ext>
            </a:extLst>
          </p:cNvPr>
          <p:cNvSpPr>
            <a:spLocks xmlns:a="http://schemas.openxmlformats.org/drawingml/2006/main" noGrp="1"/>
          </p:cNvSpPr>
          <p:nvPr/>
        </p:nvSpPr>
        <p:spPr>
          <a:xfrm xmlns:a="http://schemas.openxmlformats.org/drawingml/2006/main">
            <a:off x="3324225" y="5038725"/>
            <a:ext cx="25717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9" name="">
            <a:extLst xmlns:a="http://schemas.openxmlformats.org/drawingml/2006/main">
              <a:ext uri="{FF2B5EF4-FFF2-40B4-BE49-F238E27FC236}">
                <a16:creationId xmlns:a16="http://schemas.microsoft.com/office/drawing/2014/main" id="{9E9BF960-259B-44EE-9936-2685BC2AE6BD}"/>
              </a:ext>
            </a:extLst>
          </p:cNvPr>
          <p:cNvSpPr>
            <a:spLocks xmlns:a="http://schemas.openxmlformats.org/drawingml/2006/main" noGrp="1"/>
          </p:cNvSpPr>
          <p:nvPr/>
        </p:nvSpPr>
        <p:spPr>
          <a:xfrm xmlns:a="http://schemas.openxmlformats.org/drawingml/2006/main">
            <a:off x="3324225" y="5038725"/>
            <a:ext cx="66675" cy="10953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C8EE229-C110-4020-87F5-15BDEEED02E5}"/>
              </a:ext>
            </a:extLst>
          </p:cNvPr>
          <p:cNvSpPr>
            <a:spLocks xmlns:a="http://schemas.openxmlformats.org/drawingml/2006/main" noGrp="1"/>
          </p:cNvSpPr>
          <p:nvPr/>
        </p:nvSpPr>
        <p:spPr>
          <a:xfrm xmlns:a="http://schemas.openxmlformats.org/drawingml/2006/main">
            <a:off x="3514725" y="5133975"/>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33 / 33</a:t>
            </a:r>
          </a:p>
        </p:txBody>
      </p:sp>
      <p:sp>
        <p:nvSpPr>
          <p:cNvPr id="21" name="">
            <a:extLst xmlns:a="http://schemas.openxmlformats.org/drawingml/2006/main">
              <a:ext uri="{FF2B5EF4-FFF2-40B4-BE49-F238E27FC236}">
                <a16:creationId xmlns:a16="http://schemas.microsoft.com/office/drawing/2014/main" id="{9C1C7047-FE8C-4E3F-B781-D2FA0297AFEB}"/>
              </a:ext>
            </a:extLst>
          </p:cNvPr>
          <p:cNvSpPr>
            <a:spLocks xmlns:a="http://schemas.openxmlformats.org/drawingml/2006/main" noGrp="1"/>
          </p:cNvSpPr>
          <p:nvPr/>
        </p:nvSpPr>
        <p:spPr>
          <a:xfrm xmlns:a="http://schemas.openxmlformats.org/drawingml/2006/main">
            <a:off x="3514725" y="551497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scalar errors ≤ mesh diff</a:t>
            </a:r>
          </a:p>
        </p:txBody>
      </p:sp>
      <p:sp>
        <p:nvSpPr>
          <p:cNvPr id="22" name="">
            <a:extLst xmlns:a="http://schemas.openxmlformats.org/drawingml/2006/main">
              <a:ext uri="{FF2B5EF4-FFF2-40B4-BE49-F238E27FC236}">
                <a16:creationId xmlns:a16="http://schemas.microsoft.com/office/drawing/2014/main" id="{4463B433-BEF2-46C7-A115-8BC903A27146}"/>
              </a:ext>
            </a:extLst>
          </p:cNvPr>
          <p:cNvSpPr>
            <a:spLocks xmlns:a="http://schemas.openxmlformats.org/drawingml/2006/main" noGrp="1"/>
          </p:cNvSpPr>
          <p:nvPr/>
        </p:nvSpPr>
        <p:spPr>
          <a:xfrm xmlns:a="http://schemas.openxmlformats.org/drawingml/2006/main">
            <a:off x="3514725" y="5800725"/>
            <a:ext cx="228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conservative adjacent-mesh bound</a:t>
            </a:r>
          </a:p>
        </p:txBody>
      </p:sp>
      <p:sp>
        <p:nvSpPr>
          <p:cNvPr id="23" name="">
            <a:extLst xmlns:a="http://schemas.openxmlformats.org/drawingml/2006/main">
              <a:ext uri="{FF2B5EF4-FFF2-40B4-BE49-F238E27FC236}">
                <a16:creationId xmlns:a16="http://schemas.microsoft.com/office/drawing/2014/main" id="{47282F9F-5C8F-4722-8CC0-EC758ADD86AD}"/>
              </a:ext>
            </a:extLst>
          </p:cNvPr>
          <p:cNvSpPr>
            <a:spLocks xmlns:a="http://schemas.openxmlformats.org/drawingml/2006/main" noGrp="1"/>
          </p:cNvSpPr>
          <p:nvPr/>
        </p:nvSpPr>
        <p:spPr>
          <a:xfrm xmlns:a="http://schemas.openxmlformats.org/drawingml/2006/main">
            <a:off x="6096000" y="5038725"/>
            <a:ext cx="25717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4" name="">
            <a:extLst xmlns:a="http://schemas.openxmlformats.org/drawingml/2006/main">
              <a:ext uri="{FF2B5EF4-FFF2-40B4-BE49-F238E27FC236}">
                <a16:creationId xmlns:a16="http://schemas.microsoft.com/office/drawing/2014/main" id="{0F1C00D0-E4FF-44A2-81E1-4F2B02DAC42A}"/>
              </a:ext>
            </a:extLst>
          </p:cNvPr>
          <p:cNvSpPr>
            <a:spLocks xmlns:a="http://schemas.openxmlformats.org/drawingml/2006/main" noGrp="1"/>
          </p:cNvSpPr>
          <p:nvPr/>
        </p:nvSpPr>
        <p:spPr>
          <a:xfrm xmlns:a="http://schemas.openxmlformats.org/drawingml/2006/main">
            <a:off x="6096000" y="5038725"/>
            <a:ext cx="66675" cy="10953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36117AB-4277-4F27-84FB-3D166E05B232}"/>
              </a:ext>
            </a:extLst>
          </p:cNvPr>
          <p:cNvSpPr>
            <a:spLocks xmlns:a="http://schemas.openxmlformats.org/drawingml/2006/main" noGrp="1"/>
          </p:cNvSpPr>
          <p:nvPr/>
        </p:nvSpPr>
        <p:spPr>
          <a:xfrm xmlns:a="http://schemas.openxmlformats.org/drawingml/2006/main">
            <a:off x="6286500" y="5133975"/>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−0.381 K</a:t>
            </a:r>
          </a:p>
        </p:txBody>
      </p:sp>
      <p:sp>
        <p:nvSpPr>
          <p:cNvPr id="26" name="">
            <a:extLst xmlns:a="http://schemas.openxmlformats.org/drawingml/2006/main">
              <a:ext uri="{FF2B5EF4-FFF2-40B4-BE49-F238E27FC236}">
                <a16:creationId xmlns:a16="http://schemas.microsoft.com/office/drawing/2014/main" id="{5D293071-0D79-4896-9526-951E8839E0A2}"/>
              </a:ext>
            </a:extLst>
          </p:cNvPr>
          <p:cNvSpPr>
            <a:spLocks xmlns:a="http://schemas.openxmlformats.org/drawingml/2006/main" noGrp="1"/>
          </p:cNvSpPr>
          <p:nvPr/>
        </p:nvSpPr>
        <p:spPr>
          <a:xfrm xmlns:a="http://schemas.openxmlformats.org/drawingml/2006/main">
            <a:off x="6286500" y="551497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truth radiation effect @220 s</a:t>
            </a:r>
          </a:p>
        </p:txBody>
      </p:sp>
      <p:sp>
        <p:nvSpPr>
          <p:cNvPr id="27" name="">
            <a:extLst xmlns:a="http://schemas.openxmlformats.org/drawingml/2006/main">
              <a:ext uri="{FF2B5EF4-FFF2-40B4-BE49-F238E27FC236}">
                <a16:creationId xmlns:a16="http://schemas.microsoft.com/office/drawing/2014/main" id="{9CAB8A5A-19E8-4BC9-B2B7-2A14833DFA06}"/>
              </a:ext>
            </a:extLst>
          </p:cNvPr>
          <p:cNvSpPr>
            <a:spLocks xmlns:a="http://schemas.openxmlformats.org/drawingml/2006/main" noGrp="1"/>
          </p:cNvSpPr>
          <p:nvPr/>
        </p:nvSpPr>
        <p:spPr>
          <a:xfrm xmlns:a="http://schemas.openxmlformats.org/drawingml/2006/main">
            <a:off x="6286500" y="5800725"/>
            <a:ext cx="228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model prediction −0.001 K</a:t>
            </a:r>
          </a:p>
        </p:txBody>
      </p:sp>
      <p:sp>
        <p:nvSpPr>
          <p:cNvPr id="28" name="">
            <a:extLst xmlns:a="http://schemas.openxmlformats.org/drawingml/2006/main">
              <a:ext uri="{FF2B5EF4-FFF2-40B4-BE49-F238E27FC236}">
                <a16:creationId xmlns:a16="http://schemas.microsoft.com/office/drawing/2014/main" id="{C1D4B0C3-F107-42FE-8E4F-A21DA4086289}"/>
              </a:ext>
            </a:extLst>
          </p:cNvPr>
          <p:cNvSpPr>
            <a:spLocks xmlns:a="http://schemas.openxmlformats.org/drawingml/2006/main" noGrp="1"/>
          </p:cNvSpPr>
          <p:nvPr/>
        </p:nvSpPr>
        <p:spPr>
          <a:xfrm xmlns:a="http://schemas.openxmlformats.org/drawingml/2006/main">
            <a:off x="8867775" y="5038725"/>
            <a:ext cx="2771775"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9" name="">
            <a:extLst xmlns:a="http://schemas.openxmlformats.org/drawingml/2006/main">
              <a:ext uri="{FF2B5EF4-FFF2-40B4-BE49-F238E27FC236}">
                <a16:creationId xmlns:a16="http://schemas.microsoft.com/office/drawing/2014/main" id="{179A273E-D9A6-46EA-BD2B-3F1AC2966835}"/>
              </a:ext>
            </a:extLst>
          </p:cNvPr>
          <p:cNvSpPr>
            <a:spLocks xmlns:a="http://schemas.openxmlformats.org/drawingml/2006/main" noGrp="1"/>
          </p:cNvSpPr>
          <p:nvPr/>
        </p:nvSpPr>
        <p:spPr>
          <a:xfrm xmlns:a="http://schemas.openxmlformats.org/drawingml/2006/main">
            <a:off x="8867775" y="5038725"/>
            <a:ext cx="66675" cy="1095375"/>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4E2A42B5-93AA-4FD0-AC20-23FB18C92E3A}"/>
              </a:ext>
            </a:extLst>
          </p:cNvPr>
          <p:cNvSpPr>
            <a:spLocks xmlns:a="http://schemas.openxmlformats.org/drawingml/2006/main" noGrp="1"/>
          </p:cNvSpPr>
          <p:nvPr/>
        </p:nvSpPr>
        <p:spPr>
          <a:xfrm xmlns:a="http://schemas.openxmlformats.org/drawingml/2006/main">
            <a:off x="9058275" y="5133975"/>
            <a:ext cx="24860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0.496 K</a:t>
            </a:r>
          </a:p>
        </p:txBody>
      </p:sp>
      <p:sp>
        <p:nvSpPr>
          <p:cNvPr id="31" name="">
            <a:extLst xmlns:a="http://schemas.openxmlformats.org/drawingml/2006/main">
              <a:ext uri="{FF2B5EF4-FFF2-40B4-BE49-F238E27FC236}">
                <a16:creationId xmlns:a16="http://schemas.microsoft.com/office/drawing/2014/main" id="{7FD7B454-2A12-412B-95D3-CA67ED3392D6}"/>
              </a:ext>
            </a:extLst>
          </p:cNvPr>
          <p:cNvSpPr>
            <a:spLocks xmlns:a="http://schemas.openxmlformats.org/drawingml/2006/main" noGrp="1"/>
          </p:cNvSpPr>
          <p:nvPr/>
        </p:nvSpPr>
        <p:spPr>
          <a:xfrm xmlns:a="http://schemas.openxmlformats.org/drawingml/2006/main">
            <a:off x="9058275" y="5514975"/>
            <a:ext cx="24860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mesh difference</a:t>
            </a:r>
          </a:p>
        </p:txBody>
      </p:sp>
      <p:sp>
        <p:nvSpPr>
          <p:cNvPr id="32" name="">
            <a:extLst xmlns:a="http://schemas.openxmlformats.org/drawingml/2006/main">
              <a:ext uri="{FF2B5EF4-FFF2-40B4-BE49-F238E27FC236}">
                <a16:creationId xmlns:a16="http://schemas.microsoft.com/office/drawing/2014/main" id="{25FD5959-5D5A-4411-818B-CA472E5E054D}"/>
              </a:ext>
            </a:extLst>
          </p:cNvPr>
          <p:cNvSpPr>
            <a:spLocks xmlns:a="http://schemas.openxmlformats.org/drawingml/2006/main" noGrp="1"/>
          </p:cNvSpPr>
          <p:nvPr/>
        </p:nvSpPr>
        <p:spPr>
          <a:xfrm xmlns:a="http://schemas.openxmlformats.org/drawingml/2006/main">
            <a:off x="9058275" y="5800725"/>
            <a:ext cx="24860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radiation effect itself is unresolved</a:t>
            </a:r>
          </a:p>
        </p:txBody>
      </p:sp>
    </p:spTree>
    <p:extLst>
      <p:ext uri="{BB962C8B-B14F-4D97-AF65-F5344CB8AC3E}">
        <p14:creationId xmlns:p14="http://schemas.microsoft.com/office/powerpoint/2010/main" val="78709316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DD941FD-3708-4FE3-8A09-54C33753F75A}"/>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89A1205-2395-4456-AC81-F414F3E706C3}"/>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EQUIPMENT VALUE</a:t>
            </a:r>
          </a:p>
        </p:txBody>
      </p:sp>
      <p:sp>
        <p:nvSpPr>
          <p:cNvPr id="3" name="">
            <a:extLst xmlns:a="http://schemas.openxmlformats.org/drawingml/2006/main">
              <a:ext uri="{FF2B5EF4-FFF2-40B4-BE49-F238E27FC236}">
                <a16:creationId xmlns:a16="http://schemas.microsoft.com/office/drawing/2014/main" id="{358F20C9-6C42-4667-A2C1-6D323E49545D}"/>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高速な物理surrogateとして、CAEと装置データの間の判断を短周期化する</a:t>
            </a:r>
          </a:p>
        </p:txBody>
      </p:sp>
      <p:sp>
        <p:nvSpPr>
          <p:cNvPr id="4" name="">
            <a:extLst xmlns:a="http://schemas.openxmlformats.org/drawingml/2006/main">
              <a:ext uri="{FF2B5EF4-FFF2-40B4-BE49-F238E27FC236}">
                <a16:creationId xmlns:a16="http://schemas.microsoft.com/office/drawing/2014/main" id="{FE020611-D7DB-405A-854A-9748A6080880}"/>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有用性は精度だけでなく、どの意思決定を安全に支援できるかで定義する</a:t>
            </a:r>
          </a:p>
        </p:txBody>
      </p:sp>
      <p:sp>
        <p:nvSpPr>
          <p:cNvPr id="5" name="">
            <a:extLst xmlns:a="http://schemas.openxmlformats.org/drawingml/2006/main">
              <a:ext uri="{FF2B5EF4-FFF2-40B4-BE49-F238E27FC236}">
                <a16:creationId xmlns:a16="http://schemas.microsoft.com/office/drawing/2014/main" id="{53F7DB9A-CD59-4B6F-AABE-F991724E30A5}"/>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4FD5C90C-3553-40CB-B4E6-8B58E42DAB25}"/>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41107FA9-F1A9-4790-A18F-049A6337D908}"/>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8A9BD9DD-8B86-4209-B213-BBA658CE8EDC}"/>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27</a:t>
            </a:r>
          </a:p>
        </p:txBody>
      </p:sp>
      <p:graphicFrame>
        <p:nvGraphicFramePr>
          <p:cNvPr id="28" name=""/>
          <p:cNvGraphicFramePr/>
          <p:nvPr/>
        </p:nvGraphicFramePr>
        <p:xfrm>
          <a:off xmlns:a="http://schemas.openxmlformats.org/drawingml/2006/main" x="552450" y="1438275"/>
          <a:ext xmlns:a="http://schemas.openxmlformats.org/drawingml/2006/main" cx="11087100" cy="3533775"/>
        </p:xfrm>
        <a:graphic xmlns:a="http://schemas.openxmlformats.org/drawingml/2006/main">
          <a:graphicData uri="http://schemas.openxmlformats.org/drawingml/2006/table">
            <a:tbl>
              <a:tblPr/>
              <a:tblGrid>
                <a:gridCol w="2000250"/>
                <a:gridCol w="2190750"/>
                <a:gridCol w="2857500"/>
                <a:gridCol w="2571750"/>
                <a:gridCol w="1466850"/>
              </a:tblGrid>
              <a:tr h="588963">
                <a:tc>
                  <a:txBody>
                    <a:bodyPr/>
                    <a:lstStyle/>
                    <a:p>
                      <a:r>
                        <a:rPr sz="938" b="1">
                          <a:solidFill>
                            <a:srgbClr val="FFFFFF"/>
                          </a:solidFill>
                          <a:latin typeface="Yu Gothic"/>
                          <a:ea typeface="Yu Gothic"/>
                          <a:cs typeface="Yu Gothic"/>
                        </a:rPr>
                        <a:t>装置ユースケース</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モデル出力</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技術的な有用性</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採用gate</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現状</a:t>
                      </a:r>
                    </a:p>
                  </a:txBody>
                  <a:tcPr marL="91440" marR="91440" marT="45720" marB="45720">
                    <a:solidFill>
                      <a:srgbClr val="00A5D8"/>
                    </a:solidFill>
                  </a:tcPr>
                </a:tc>
              </a:tr>
              <a:tr h="588963">
                <a:tc>
                  <a:txBody>
                    <a:bodyPr/>
                    <a:lstStyle/>
                    <a:p>
                      <a:r>
                        <a:rPr sz="848" b="1">
                          <a:solidFill>
                            <a:srgbClr val="5B5B5B"/>
                          </a:solidFill>
                          <a:latin typeface="Yu Gothic"/>
                          <a:ea typeface="Yu Gothic"/>
                          <a:cs typeface="Yu Gothic"/>
                        </a:rPr>
                        <a:t>warm-up / cool-down</a:t>
                      </a:r>
                    </a:p>
                  </a:txBody>
                  <a:tcPr marL="91440" marR="91440" marT="45720" marB="45720">
                    <a:solidFill>
                      <a:srgbClr val="FFFFFF"/>
                    </a:solidFill>
                  </a:tcPr>
                </a:tc>
                <a:tc>
                  <a:txBody>
                    <a:bodyPr/>
                    <a:lstStyle/>
                    <a:p>
                      <a:r>
                        <a:rPr sz="848">
                          <a:solidFill>
                            <a:srgbClr val="5B5B5B"/>
                          </a:solidFill>
                          <a:latin typeface="Yu Gothic"/>
                          <a:ea typeface="Yu Gothic"/>
                          <a:cs typeface="Yu Gothic"/>
                        </a:rPr>
                        <a:t>将来温度・到達時間</a:t>
                      </a:r>
                    </a:p>
                  </a:txBody>
                  <a:tcPr marL="91440" marR="91440" marT="45720" marB="45720">
                    <a:solidFill>
                      <a:srgbClr val="FFFFFF"/>
                    </a:solidFill>
                  </a:tcPr>
                </a:tc>
                <a:tc>
                  <a:txBody>
                    <a:bodyPr/>
                    <a:lstStyle/>
                    <a:p>
                      <a:r>
                        <a:rPr sz="848">
                          <a:solidFill>
                            <a:srgbClr val="5B5B5B"/>
                          </a:solidFill>
                          <a:latin typeface="Yu Gothic"/>
                          <a:ea typeface="Yu Gothic"/>
                          <a:cs typeface="Yu Gothic"/>
                        </a:rPr>
                        <a:t>recipe待ち時間とthermal soakの比較</a:t>
                      </a:r>
                    </a:p>
                  </a:txBody>
                  <a:tcPr marL="91440" marR="91440" marT="45720" marB="45720">
                    <a:solidFill>
                      <a:srgbClr val="FFFFFF"/>
                    </a:solidFill>
                  </a:tcPr>
                </a:tc>
                <a:tc>
                  <a:txBody>
                    <a:bodyPr/>
                    <a:lstStyle/>
                    <a:p>
                      <a:r>
                        <a:rPr sz="848">
                          <a:solidFill>
                            <a:srgbClr val="5B5B5B"/>
                          </a:solidFill>
                          <a:latin typeface="Yu Gothic"/>
                          <a:ea typeface="Yu Gothic"/>
                          <a:cs typeface="Yu Gothic"/>
                        </a:rPr>
                        <a:t>運転域holdout、worst error</a:t>
                      </a:r>
                    </a:p>
                  </a:txBody>
                  <a:tcPr marL="91440" marR="91440" marT="45720" marB="45720">
                    <a:solidFill>
                      <a:srgbClr val="FFFFFF"/>
                    </a:solidFill>
                  </a:tcPr>
                </a:tc>
                <a:tc>
                  <a:txBody>
                    <a:bodyPr/>
                    <a:lstStyle/>
                    <a:p>
                      <a:r>
                        <a:rPr sz="848" b="1">
                          <a:solidFill>
                            <a:srgbClr val="4D8710"/>
                          </a:solidFill>
                          <a:latin typeface="Yu Gothic"/>
                          <a:ea typeface="Yu Gothic"/>
                          <a:cs typeface="Yu Gothic"/>
                        </a:rPr>
                        <a:t>screening可</a:t>
                      </a:r>
                    </a:p>
                  </a:txBody>
                  <a:tcPr marL="91440" marR="91440" marT="45720" marB="45720">
                    <a:solidFill>
                      <a:srgbClr val="EEF7DF"/>
                    </a:solidFill>
                  </a:tcPr>
                </a:tc>
              </a:tr>
              <a:tr h="588963">
                <a:tc>
                  <a:txBody>
                    <a:bodyPr/>
                    <a:lstStyle/>
                    <a:p>
                      <a:r>
                        <a:rPr sz="848" b="1">
                          <a:solidFill>
                            <a:srgbClr val="5B5B5B"/>
                          </a:solidFill>
                          <a:latin typeface="Yu Gothic"/>
                          <a:ea typeface="Yu Gothic"/>
                          <a:cs typeface="Yu Gothic"/>
                        </a:rPr>
                        <a:t>virtual sensor</a:t>
                      </a:r>
                    </a:p>
                  </a:txBody>
                  <a:tcPr marL="91440" marR="91440" marT="45720" marB="45720">
                    <a:solidFill>
                      <a:srgbClr val="F8F8F8"/>
                    </a:solidFill>
                  </a:tcPr>
                </a:tc>
                <a:tc>
                  <a:txBody>
                    <a:bodyPr/>
                    <a:lstStyle/>
                    <a:p>
                      <a:r>
                        <a:rPr sz="848">
                          <a:solidFill>
                            <a:srgbClr val="5B5B5B"/>
                          </a:solidFill>
                          <a:latin typeface="Yu Gothic"/>
                          <a:ea typeface="Yu Gothic"/>
                          <a:cs typeface="Yu Gothic"/>
                        </a:rPr>
                        <a:t>未計測node温度・共分散</a:t>
                      </a:r>
                    </a:p>
                  </a:txBody>
                  <a:tcPr marL="91440" marR="91440" marT="45720" marB="45720">
                    <a:solidFill>
                      <a:srgbClr val="F8F8F8"/>
                    </a:solidFill>
                  </a:tcPr>
                </a:tc>
                <a:tc>
                  <a:txBody>
                    <a:bodyPr/>
                    <a:lstStyle/>
                    <a:p>
                      <a:r>
                        <a:rPr sz="848">
                          <a:solidFill>
                            <a:srgbClr val="5B5B5B"/>
                          </a:solidFill>
                          <a:latin typeface="Yu Gothic"/>
                          <a:ea typeface="Yu Gothic"/>
                          <a:cs typeface="Yu Gothic"/>
                        </a:rPr>
                        <a:t>sensor削減検討、欠測補完</a:t>
                      </a:r>
                    </a:p>
                  </a:txBody>
                  <a:tcPr marL="91440" marR="91440" marT="45720" marB="45720">
                    <a:solidFill>
                      <a:srgbClr val="F8F8F8"/>
                    </a:solidFill>
                  </a:tcPr>
                </a:tc>
                <a:tc>
                  <a:txBody>
                    <a:bodyPr/>
                    <a:lstStyle/>
                    <a:p>
                      <a:r>
                        <a:rPr sz="848">
                          <a:solidFill>
                            <a:srgbClr val="5B5B5B"/>
                          </a:solidFill>
                          <a:latin typeface="Yu Gothic"/>
                          <a:ea typeface="Yu Gothic"/>
                          <a:cs typeface="Yu Gothic"/>
                        </a:rPr>
                        <a:t>observability、校正、bandwidth</a:t>
                      </a:r>
                    </a:p>
                  </a:txBody>
                  <a:tcPr marL="91440" marR="91440" marT="45720" marB="45720">
                    <a:solidFill>
                      <a:srgbClr val="F8F8F8"/>
                    </a:solidFill>
                  </a:tcPr>
                </a:tc>
                <a:tc>
                  <a:txBody>
                    <a:bodyPr/>
                    <a:lstStyle/>
                    <a:p>
                      <a:r>
                        <a:rPr sz="848" b="1">
                          <a:solidFill>
                            <a:srgbClr val="806000"/>
                          </a:solidFill>
                          <a:latin typeface="Yu Gothic"/>
                          <a:ea typeface="Yu Gothic"/>
                          <a:cs typeface="Yu Gothic"/>
                        </a:rPr>
                        <a:t>条件付</a:t>
                      </a:r>
                    </a:p>
                  </a:txBody>
                  <a:tcPr marL="91440" marR="91440" marT="45720" marB="45720">
                    <a:solidFill>
                      <a:srgbClr val="FFF5D7"/>
                    </a:solidFill>
                  </a:tcPr>
                </a:tc>
              </a:tr>
              <a:tr h="588963">
                <a:tc>
                  <a:txBody>
                    <a:bodyPr/>
                    <a:lstStyle/>
                    <a:p>
                      <a:r>
                        <a:rPr sz="848" b="1">
                          <a:solidFill>
                            <a:srgbClr val="5B5B5B"/>
                          </a:solidFill>
                          <a:latin typeface="Yu Gothic"/>
                          <a:ea typeface="Yu Gothic"/>
                          <a:cs typeface="Yu Gothic"/>
                        </a:rPr>
                        <a:t>異常検知</a:t>
                      </a:r>
                    </a:p>
                  </a:txBody>
                  <a:tcPr marL="91440" marR="91440" marT="45720" marB="45720">
                    <a:solidFill>
                      <a:srgbClr val="FFFFFF"/>
                    </a:solidFill>
                  </a:tcPr>
                </a:tc>
                <a:tc>
                  <a:txBody>
                    <a:bodyPr/>
                    <a:lstStyle/>
                    <a:p>
                      <a:r>
                        <a:rPr sz="848">
                          <a:solidFill>
                            <a:srgbClr val="5B5B5B"/>
                          </a:solidFill>
                          <a:latin typeface="Yu Gothic"/>
                          <a:ea typeface="Yu Gothic"/>
                          <a:cs typeface="Yu Gothic"/>
                        </a:rPr>
                        <a:t>NIS、未知熱d、bias β</a:t>
                      </a:r>
                    </a:p>
                  </a:txBody>
                  <a:tcPr marL="91440" marR="91440" marT="45720" marB="45720">
                    <a:solidFill>
                      <a:srgbClr val="FFFFFF"/>
                    </a:solidFill>
                  </a:tcPr>
                </a:tc>
                <a:tc>
                  <a:txBody>
                    <a:bodyPr/>
                    <a:lstStyle/>
                    <a:p>
                      <a:r>
                        <a:rPr sz="848">
                          <a:solidFill>
                            <a:srgbClr val="5B5B5B"/>
                          </a:solidFill>
                          <a:latin typeface="Yu Gothic"/>
                          <a:ea typeface="Yu Gothic"/>
                          <a:cs typeface="Yu Gothic"/>
                        </a:rPr>
                        <a:t>未指令発熱とsensorずれの切分け</a:t>
                      </a:r>
                    </a:p>
                  </a:txBody>
                  <a:tcPr marL="91440" marR="91440" marT="45720" marB="45720">
                    <a:solidFill>
                      <a:srgbClr val="FFFFFF"/>
                    </a:solidFill>
                  </a:tcPr>
                </a:tc>
                <a:tc>
                  <a:txBody>
                    <a:bodyPr/>
                    <a:lstStyle/>
                    <a:p>
                      <a:r>
                        <a:rPr sz="848">
                          <a:solidFill>
                            <a:srgbClr val="5B5B5B"/>
                          </a:solidFill>
                          <a:latin typeface="Yu Gothic"/>
                          <a:ea typeface="Yu Gothic"/>
                          <a:cs typeface="Yu Gothic"/>
                        </a:rPr>
                        <a:t>false alert/hour、fault DOE</a:t>
                      </a:r>
                    </a:p>
                  </a:txBody>
                  <a:tcPr marL="91440" marR="91440" marT="45720" marB="45720">
                    <a:solidFill>
                      <a:srgbClr val="FFFFFF"/>
                    </a:solidFill>
                  </a:tcPr>
                </a:tc>
                <a:tc>
                  <a:txBody>
                    <a:bodyPr/>
                    <a:lstStyle/>
                    <a:p>
                      <a:r>
                        <a:rPr sz="848" b="1">
                          <a:solidFill>
                            <a:srgbClr val="806000"/>
                          </a:solidFill>
                          <a:latin typeface="Yu Gothic"/>
                          <a:ea typeface="Yu Gothic"/>
                          <a:cs typeface="Yu Gothic"/>
                        </a:rPr>
                        <a:t>CAE evidence有</a:t>
                      </a:r>
                    </a:p>
                  </a:txBody>
                  <a:tcPr marL="91440" marR="91440" marT="45720" marB="45720">
                    <a:solidFill>
                      <a:srgbClr val="FFF5D7"/>
                    </a:solidFill>
                  </a:tcPr>
                </a:tc>
              </a:tr>
              <a:tr h="588963">
                <a:tc>
                  <a:txBody>
                    <a:bodyPr/>
                    <a:lstStyle/>
                    <a:p>
                      <a:r>
                        <a:rPr sz="848" b="1">
                          <a:solidFill>
                            <a:srgbClr val="5B5B5B"/>
                          </a:solidFill>
                          <a:latin typeface="Yu Gothic"/>
                          <a:ea typeface="Yu Gothic"/>
                          <a:cs typeface="Yu Gothic"/>
                        </a:rPr>
                        <a:t>recipe / cooling設計</a:t>
                      </a:r>
                    </a:p>
                  </a:txBody>
                  <a:tcPr marL="91440" marR="91440" marT="45720" marB="45720">
                    <a:solidFill>
                      <a:srgbClr val="F8F8F8"/>
                    </a:solidFill>
                  </a:tcPr>
                </a:tc>
                <a:tc>
                  <a:txBody>
                    <a:bodyPr/>
                    <a:lstStyle/>
                    <a:p>
                      <a:r>
                        <a:rPr sz="848">
                          <a:solidFill>
                            <a:srgbClr val="5B5B5B"/>
                          </a:solidFill>
                          <a:latin typeface="Yu Gothic"/>
                          <a:ea typeface="Yu Gothic"/>
                          <a:cs typeface="Yu Gothic"/>
                        </a:rPr>
                        <a:t>parameter sweep・感度</a:t>
                      </a:r>
                    </a:p>
                  </a:txBody>
                  <a:tcPr marL="91440" marR="91440" marT="45720" marB="45720">
                    <a:solidFill>
                      <a:srgbClr val="F8F8F8"/>
                    </a:solidFill>
                  </a:tcPr>
                </a:tc>
                <a:tc>
                  <a:txBody>
                    <a:bodyPr/>
                    <a:lstStyle/>
                    <a:p>
                      <a:r>
                        <a:rPr sz="848">
                          <a:solidFill>
                            <a:srgbClr val="5B5B5B"/>
                          </a:solidFill>
                          <a:latin typeface="Yu Gothic"/>
                          <a:ea typeface="Yu Gothic"/>
                          <a:cs typeface="Yu Gothic"/>
                        </a:rPr>
                        <a:t>CAE実行前の候補絞込み</a:t>
                      </a:r>
                    </a:p>
                  </a:txBody>
                  <a:tcPr marL="91440" marR="91440" marT="45720" marB="45720">
                    <a:solidFill>
                      <a:srgbClr val="F8F8F8"/>
                    </a:solidFill>
                  </a:tcPr>
                </a:tc>
                <a:tc>
                  <a:txBody>
                    <a:bodyPr/>
                    <a:lstStyle/>
                    <a:p>
                      <a:r>
                        <a:rPr sz="848">
                          <a:solidFill>
                            <a:srgbClr val="5B5B5B"/>
                          </a:solidFill>
                          <a:latin typeface="Yu Gothic"/>
                          <a:ea typeface="Yu Gothic"/>
                          <a:cs typeface="Yu Gothic"/>
                        </a:rPr>
                        <a:t>外挿禁止、parameter uncertainty</a:t>
                      </a:r>
                    </a:p>
                  </a:txBody>
                  <a:tcPr marL="91440" marR="91440" marT="45720" marB="45720">
                    <a:solidFill>
                      <a:srgbClr val="F8F8F8"/>
                    </a:solidFill>
                  </a:tcPr>
                </a:tc>
                <a:tc>
                  <a:txBody>
                    <a:bodyPr/>
                    <a:lstStyle/>
                    <a:p>
                      <a:r>
                        <a:rPr sz="848" b="1">
                          <a:solidFill>
                            <a:srgbClr val="4D8710"/>
                          </a:solidFill>
                          <a:latin typeface="Yu Gothic"/>
                          <a:ea typeface="Yu Gothic"/>
                          <a:cs typeface="Yu Gothic"/>
                        </a:rPr>
                        <a:t>screening可</a:t>
                      </a:r>
                    </a:p>
                  </a:txBody>
                  <a:tcPr marL="91440" marR="91440" marT="45720" marB="45720">
                    <a:solidFill>
                      <a:srgbClr val="EEF7DF"/>
                    </a:solidFill>
                  </a:tcPr>
                </a:tc>
              </a:tr>
              <a:tr h="588963">
                <a:tc>
                  <a:txBody>
                    <a:bodyPr/>
                    <a:lstStyle/>
                    <a:p>
                      <a:r>
                        <a:rPr sz="848" b="1">
                          <a:solidFill>
                            <a:srgbClr val="5B5B5B"/>
                          </a:solidFill>
                          <a:latin typeface="Yu Gothic"/>
                          <a:ea typeface="Yu Gothic"/>
                          <a:cs typeface="Yu Gothic"/>
                        </a:rPr>
                        <a:t>hardware change</a:t>
                      </a:r>
                    </a:p>
                  </a:txBody>
                  <a:tcPr marL="91440" marR="91440" marT="45720" marB="45720">
                    <a:solidFill>
                      <a:srgbClr val="FFFFFF"/>
                    </a:solidFill>
                  </a:tcPr>
                </a:tc>
                <a:tc>
                  <a:txBody>
                    <a:bodyPr/>
                    <a:lstStyle/>
                    <a:p>
                      <a:r>
                        <a:rPr sz="848">
                          <a:solidFill>
                            <a:srgbClr val="5B5B5B"/>
                          </a:solidFill>
                          <a:latin typeface="Yu Gothic"/>
                          <a:ea typeface="Yu Gothic"/>
                          <a:cs typeface="Yu Gothic"/>
                        </a:rPr>
                        <a:t>再同定係数・残差</a:t>
                      </a:r>
                    </a:p>
                  </a:txBody>
                  <a:tcPr marL="91440" marR="91440" marT="45720" marB="45720">
                    <a:solidFill>
                      <a:srgbClr val="FFFFFF"/>
                    </a:solidFill>
                  </a:tcPr>
                </a:tc>
                <a:tc>
                  <a:txBody>
                    <a:bodyPr/>
                    <a:lstStyle/>
                    <a:p>
                      <a:r>
                        <a:rPr sz="848">
                          <a:solidFill>
                            <a:srgbClr val="5B5B5B"/>
                          </a:solidFill>
                          <a:latin typeface="Yu Gothic"/>
                          <a:ea typeface="Yu Gothic"/>
                          <a:cs typeface="Yu Gothic"/>
                        </a:rPr>
                        <a:t>接触・冷却経路変更の比較</a:t>
                      </a:r>
                    </a:p>
                  </a:txBody>
                  <a:tcPr marL="91440" marR="91440" marT="45720" marB="45720">
                    <a:solidFill>
                      <a:srgbClr val="FFFFFF"/>
                    </a:solidFill>
                  </a:tcPr>
                </a:tc>
                <a:tc>
                  <a:txBody>
                    <a:bodyPr/>
                    <a:lstStyle/>
                    <a:p>
                      <a:r>
                        <a:rPr sz="848">
                          <a:solidFill>
                            <a:srgbClr val="5B5B5B"/>
                          </a:solidFill>
                          <a:latin typeface="Yu Gothic"/>
                          <a:ea typeface="Yu Gothic"/>
                          <a:cs typeface="Yu Gothic"/>
                        </a:rPr>
                        <a:t>topology再確認、CAE/実験再V&amp;V</a:t>
                      </a:r>
                    </a:p>
                  </a:txBody>
                  <a:tcPr marL="91440" marR="91440" marT="45720" marB="45720">
                    <a:solidFill>
                      <a:srgbClr val="FFFFFF"/>
                    </a:solidFill>
                  </a:tcPr>
                </a:tc>
                <a:tc>
                  <a:txBody>
                    <a:bodyPr/>
                    <a:lstStyle/>
                    <a:p>
                      <a:r>
                        <a:rPr sz="848" b="1">
                          <a:solidFill>
                            <a:srgbClr val="C4493D"/>
                          </a:solidFill>
                          <a:latin typeface="Yu Gothic"/>
                          <a:ea typeface="Yu Gothic"/>
                          <a:cs typeface="Yu Gothic"/>
                        </a:rPr>
                        <a:t>要再検証</a:t>
                      </a:r>
                    </a:p>
                  </a:txBody>
                  <a:tcPr marL="91440" marR="91440" marT="45720" marB="45720">
                    <a:solidFill>
                      <a:srgbClr val="FBE9E7"/>
                    </a:solidFill>
                  </a:tcPr>
                </a:tc>
              </a:tr>
            </a:tbl>
          </a:graphicData>
        </a:graphic>
      </p:graphicFrame>
      <p:sp>
        <p:nvSpPr>
          <p:cNvPr id="10" name="">
            <a:extLst xmlns:a="http://schemas.openxmlformats.org/drawingml/2006/main">
              <a:ext uri="{FF2B5EF4-FFF2-40B4-BE49-F238E27FC236}">
                <a16:creationId xmlns:a16="http://schemas.microsoft.com/office/drawing/2014/main" id="{1580F7B7-62F5-4AB2-86BF-3F06D5D00955}"/>
              </a:ext>
            </a:extLst>
          </p:cNvPr>
          <p:cNvSpPr>
            <a:spLocks xmlns:a="http://schemas.openxmlformats.org/drawingml/2006/main" noGrp="1"/>
          </p:cNvSpPr>
          <p:nvPr/>
        </p:nvSpPr>
        <p:spPr>
          <a:xfrm xmlns:a="http://schemas.openxmlformats.org/drawingml/2006/main">
            <a:off x="552450" y="5229225"/>
            <a:ext cx="3505200" cy="88582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1" name="">
            <a:extLst xmlns:a="http://schemas.openxmlformats.org/drawingml/2006/main">
              <a:ext uri="{FF2B5EF4-FFF2-40B4-BE49-F238E27FC236}">
                <a16:creationId xmlns:a16="http://schemas.microsoft.com/office/drawing/2014/main" id="{D4EDBDD4-BCBD-4D32-8166-224DC3BCAC65}"/>
              </a:ext>
            </a:extLst>
          </p:cNvPr>
          <p:cNvSpPr>
            <a:spLocks xmlns:a="http://schemas.openxmlformats.org/drawingml/2006/main" noGrp="1"/>
          </p:cNvSpPr>
          <p:nvPr/>
        </p:nvSpPr>
        <p:spPr>
          <a:xfrm xmlns:a="http://schemas.openxmlformats.org/drawingml/2006/main">
            <a:off x="723900" y="534352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00A5D8"/>
                </a:solidFill>
                <a:latin typeface="Yu Gothic"/>
                <a:ea typeface="Yu Gothic"/>
                <a:cs typeface="Yu Gothic"/>
              </a:defRPr>
            </a:pPr>
            <a:r>
              <a:rPr sz="975" b="1" i="0">
                <a:solidFill>
                  <a:srgbClr val="00A5D8"/>
                </a:solidFill>
                <a:latin typeface="Yu Gothic"/>
                <a:ea typeface="Yu Gothic"/>
                <a:cs typeface="Yu Gothic"/>
              </a:rPr>
              <a:t>CAE</a:t>
            </a:r>
          </a:p>
        </p:txBody>
      </p:sp>
      <p:sp>
        <p:nvSpPr>
          <p:cNvPr id="12" name="">
            <a:extLst xmlns:a="http://schemas.openxmlformats.org/drawingml/2006/main">
              <a:ext uri="{FF2B5EF4-FFF2-40B4-BE49-F238E27FC236}">
                <a16:creationId xmlns:a16="http://schemas.microsoft.com/office/drawing/2014/main" id="{F2BECF02-4A50-49B7-A8C1-64EB3DB98EAC}"/>
              </a:ext>
            </a:extLst>
          </p:cNvPr>
          <p:cNvSpPr>
            <a:spLocks xmlns:a="http://schemas.openxmlformats.org/drawingml/2006/main" noGrp="1"/>
          </p:cNvSpPr>
          <p:nvPr/>
        </p:nvSpPr>
        <p:spPr>
          <a:xfrm xmlns:a="http://schemas.openxmlformats.org/drawingml/2006/main">
            <a:off x="723900" y="5610225"/>
            <a:ext cx="31432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7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全caseを高忠実度で解く前に、感度とworst候補を選別</a:t>
            </a:r>
          </a:p>
        </p:txBody>
      </p:sp>
      <p:sp>
        <p:nvSpPr>
          <p:cNvPr id="13" name="">
            <a:extLst xmlns:a="http://schemas.openxmlformats.org/drawingml/2006/main">
              <a:ext uri="{FF2B5EF4-FFF2-40B4-BE49-F238E27FC236}">
                <a16:creationId xmlns:a16="http://schemas.microsoft.com/office/drawing/2014/main" id="{91E3F208-D982-4F97-B14E-D6590999FAA2}"/>
              </a:ext>
            </a:extLst>
          </p:cNvPr>
          <p:cNvSpPr>
            <a:spLocks xmlns:a="http://schemas.openxmlformats.org/drawingml/2006/main" noGrp="1"/>
          </p:cNvSpPr>
          <p:nvPr/>
        </p:nvSpPr>
        <p:spPr>
          <a:xfrm xmlns:a="http://schemas.openxmlformats.org/drawingml/2006/main">
            <a:off x="4248150" y="5229225"/>
            <a:ext cx="3505200" cy="88582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4" name="">
            <a:extLst xmlns:a="http://schemas.openxmlformats.org/drawingml/2006/main">
              <a:ext uri="{FF2B5EF4-FFF2-40B4-BE49-F238E27FC236}">
                <a16:creationId xmlns:a16="http://schemas.microsoft.com/office/drawing/2014/main" id="{C315F265-354E-4B68-B0D8-C8EE3841C515}"/>
              </a:ext>
            </a:extLst>
          </p:cNvPr>
          <p:cNvSpPr>
            <a:spLocks xmlns:a="http://schemas.openxmlformats.org/drawingml/2006/main" noGrp="1"/>
          </p:cNvSpPr>
          <p:nvPr/>
        </p:nvSpPr>
        <p:spPr>
          <a:xfrm xmlns:a="http://schemas.openxmlformats.org/drawingml/2006/main">
            <a:off x="4419600" y="534352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6BE18"/>
                </a:solidFill>
                <a:latin typeface="Yu Gothic"/>
                <a:ea typeface="Yu Gothic"/>
                <a:cs typeface="Yu Gothic"/>
              </a:defRPr>
            </a:pPr>
            <a:r>
              <a:rPr sz="975" b="1" i="0">
                <a:solidFill>
                  <a:srgbClr val="76BE18"/>
                </a:solidFill>
                <a:latin typeface="Yu Gothic"/>
                <a:ea typeface="Yu Gothic"/>
                <a:cs typeface="Yu Gothic"/>
              </a:rPr>
              <a:t>Control</a:t>
            </a:r>
          </a:p>
        </p:txBody>
      </p:sp>
      <p:sp>
        <p:nvSpPr>
          <p:cNvPr id="15" name="">
            <a:extLst xmlns:a="http://schemas.openxmlformats.org/drawingml/2006/main">
              <a:ext uri="{FF2B5EF4-FFF2-40B4-BE49-F238E27FC236}">
                <a16:creationId xmlns:a16="http://schemas.microsoft.com/office/drawing/2014/main" id="{C5F9741C-2B76-4AEE-B7F9-B3C90DB078D4}"/>
              </a:ext>
            </a:extLst>
          </p:cNvPr>
          <p:cNvSpPr>
            <a:spLocks xmlns:a="http://schemas.openxmlformats.org/drawingml/2006/main" noGrp="1"/>
          </p:cNvSpPr>
          <p:nvPr/>
        </p:nvSpPr>
        <p:spPr>
          <a:xfrm xmlns:a="http://schemas.openxmlformats.org/drawingml/2006/main">
            <a:off x="4419600" y="5610225"/>
            <a:ext cx="31432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7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同じ状態定義をforecastとmonitorで共有し、handoffを削減</a:t>
            </a:r>
          </a:p>
        </p:txBody>
      </p:sp>
      <p:sp>
        <p:nvSpPr>
          <p:cNvPr id="16" name="">
            <a:extLst xmlns:a="http://schemas.openxmlformats.org/drawingml/2006/main">
              <a:ext uri="{FF2B5EF4-FFF2-40B4-BE49-F238E27FC236}">
                <a16:creationId xmlns:a16="http://schemas.microsoft.com/office/drawing/2014/main" id="{5F134F51-3B16-4A23-A74C-CA854434CCB7}"/>
              </a:ext>
            </a:extLst>
          </p:cNvPr>
          <p:cNvSpPr>
            <a:spLocks xmlns:a="http://schemas.openxmlformats.org/drawingml/2006/main" noGrp="1"/>
          </p:cNvSpPr>
          <p:nvPr/>
        </p:nvSpPr>
        <p:spPr>
          <a:xfrm xmlns:a="http://schemas.openxmlformats.org/drawingml/2006/main">
            <a:off x="7943850" y="5229225"/>
            <a:ext cx="3505200" cy="88582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7" name="">
            <a:extLst xmlns:a="http://schemas.openxmlformats.org/drawingml/2006/main">
              <a:ext uri="{FF2B5EF4-FFF2-40B4-BE49-F238E27FC236}">
                <a16:creationId xmlns:a16="http://schemas.microsoft.com/office/drawing/2014/main" id="{C1E1E2E8-F129-4DB8-98AF-BCA04A85D9FA}"/>
              </a:ext>
            </a:extLst>
          </p:cNvPr>
          <p:cNvSpPr>
            <a:spLocks xmlns:a="http://schemas.openxmlformats.org/drawingml/2006/main" noGrp="1"/>
          </p:cNvSpPr>
          <p:nvPr/>
        </p:nvSpPr>
        <p:spPr>
          <a:xfrm xmlns:a="http://schemas.openxmlformats.org/drawingml/2006/main">
            <a:off x="8115300" y="534352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B2DAF"/>
                </a:solidFill>
                <a:latin typeface="Yu Gothic"/>
                <a:ea typeface="Yu Gothic"/>
                <a:cs typeface="Yu Gothic"/>
              </a:defRPr>
            </a:pPr>
            <a:r>
              <a:rPr sz="975" b="1" i="0">
                <a:solidFill>
                  <a:srgbClr val="7B2DAF"/>
                </a:solidFill>
                <a:latin typeface="Yu Gothic"/>
                <a:ea typeface="Yu Gothic"/>
                <a:cs typeface="Yu Gothic"/>
              </a:rPr>
              <a:t>FMEA</a:t>
            </a:r>
          </a:p>
        </p:txBody>
      </p:sp>
      <p:sp>
        <p:nvSpPr>
          <p:cNvPr id="18" name="">
            <a:extLst xmlns:a="http://schemas.openxmlformats.org/drawingml/2006/main">
              <a:ext uri="{FF2B5EF4-FFF2-40B4-BE49-F238E27FC236}">
                <a16:creationId xmlns:a16="http://schemas.microsoft.com/office/drawing/2014/main" id="{C506F01F-E8E1-4DB3-BBE1-FAA414F0C3F2}"/>
              </a:ext>
            </a:extLst>
          </p:cNvPr>
          <p:cNvSpPr>
            <a:spLocks xmlns:a="http://schemas.openxmlformats.org/drawingml/2006/main" noGrp="1"/>
          </p:cNvSpPr>
          <p:nvPr/>
        </p:nvSpPr>
        <p:spPr>
          <a:xfrm xmlns:a="http://schemas.openxmlformats.org/drawingml/2006/main">
            <a:off x="8115300" y="5610225"/>
            <a:ext cx="31432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7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hidden heat / bias / model gapを別channelで記録</a:t>
            </a:r>
          </a:p>
        </p:txBody>
      </p:sp>
      <p:sp>
        <p:nvSpPr>
          <p:cNvPr id="19" name="">
            <a:extLst xmlns:a="http://schemas.openxmlformats.org/drawingml/2006/main">
              <a:ext uri="{FF2B5EF4-FFF2-40B4-BE49-F238E27FC236}">
                <a16:creationId xmlns:a16="http://schemas.microsoft.com/office/drawing/2014/main" id="{8E470406-2BF1-4BF7-A262-08650CB01EC9}"/>
              </a:ext>
            </a:extLst>
          </p:cNvPr>
          <p:cNvSpPr>
            <a:spLocks xmlns:a="http://schemas.openxmlformats.org/drawingml/2006/main" noGrp="1"/>
          </p:cNvSpPr>
          <p:nvPr/>
        </p:nvSpPr>
        <p:spPr>
          <a:xfrm xmlns:a="http://schemas.openxmlformats.org/drawingml/2006/main">
            <a:off x="552450" y="6200775"/>
            <a:ext cx="11087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注：計算時間短縮率は本benchmarkでは計測していない。価値は実装後にCAE回数・DOE回数・alarm対応時間で定量化する。</a:t>
            </a:r>
          </a:p>
        </p:txBody>
      </p:sp>
    </p:spTree>
    <p:extLst>
      <p:ext uri="{BB962C8B-B14F-4D97-AF65-F5344CB8AC3E}">
        <p14:creationId xmlns:p14="http://schemas.microsoft.com/office/powerpoint/2010/main" val="199017641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1" name="">
            <a:extLst xmlns:a="http://schemas.openxmlformats.org/drawingml/2006/main">
              <a:ext uri="{FF2B5EF4-FFF2-40B4-BE49-F238E27FC236}">
                <a16:creationId xmlns:a16="http://schemas.microsoft.com/office/drawing/2014/main" id="{D325B0BF-9CB0-4944-A2D4-991FE8C6979C}"/>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F3B46D2-94A6-45B6-956B-843A7AF356FF}"/>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VALIDATION PLAN</a:t>
            </a:r>
          </a:p>
        </p:txBody>
      </p:sp>
      <p:sp>
        <p:nvSpPr>
          <p:cNvPr id="3" name="">
            <a:extLst xmlns:a="http://schemas.openxmlformats.org/drawingml/2006/main">
              <a:ext uri="{FF2B5EF4-FFF2-40B4-BE49-F238E27FC236}">
                <a16:creationId xmlns:a16="http://schemas.microsoft.com/office/drawing/2014/main" id="{7F3A4BA4-FA56-4CD0-880B-ACC08A1FCDC7}"/>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装置採用は4段階のgateで進め、各段階の不確かさと再評価条件を残す</a:t>
            </a:r>
          </a:p>
        </p:txBody>
      </p:sp>
      <p:sp>
        <p:nvSpPr>
          <p:cNvPr id="4" name="">
            <a:extLst xmlns:a="http://schemas.openxmlformats.org/drawingml/2006/main">
              <a:ext uri="{FF2B5EF4-FFF2-40B4-BE49-F238E27FC236}">
                <a16:creationId xmlns:a16="http://schemas.microsoft.com/office/drawing/2014/main" id="{C4BA6A44-6EE0-4DD5-81EE-44CF3E0B2F79}"/>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合格基準はFMEA・制御仕様・thermal budgetと結び付けて事前に固定する</a:t>
            </a:r>
          </a:p>
        </p:txBody>
      </p:sp>
      <p:sp>
        <p:nvSpPr>
          <p:cNvPr id="5" name="">
            <a:extLst xmlns:a="http://schemas.openxmlformats.org/drawingml/2006/main">
              <a:ext uri="{FF2B5EF4-FFF2-40B4-BE49-F238E27FC236}">
                <a16:creationId xmlns:a16="http://schemas.microsoft.com/office/drawing/2014/main" id="{BE34751D-63C1-4E50-8226-BE33480DA6CE}"/>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072AA7B2-6BA8-4145-9D19-B93DE9681CD1}"/>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F4FF191E-0626-4132-90B5-7737588DF62E}"/>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279D006C-6174-4C94-9A34-7D80ED9B7498}"/>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28</a:t>
            </a:r>
          </a:p>
        </p:txBody>
      </p:sp>
      <p:sp>
        <p:nvSpPr>
          <p:cNvPr id="9" name="">
            <a:extLst xmlns:a="http://schemas.openxmlformats.org/drawingml/2006/main">
              <a:ext uri="{FF2B5EF4-FFF2-40B4-BE49-F238E27FC236}">
                <a16:creationId xmlns:a16="http://schemas.microsoft.com/office/drawing/2014/main" id="{D0B16AE2-93B2-49D2-9285-CCDBA09B920C}"/>
              </a:ext>
            </a:extLst>
          </p:cNvPr>
          <p:cNvSpPr>
            <a:spLocks xmlns:a="http://schemas.openxmlformats.org/drawingml/2006/main" noGrp="1"/>
          </p:cNvSpPr>
          <p:nvPr/>
        </p:nvSpPr>
        <p:spPr>
          <a:xfrm xmlns:a="http://schemas.openxmlformats.org/drawingml/2006/main">
            <a:off x="552450" y="1628775"/>
            <a:ext cx="2571750" cy="21621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04A77985-3AC0-4214-8E49-DC0498C32E77}"/>
              </a:ext>
            </a:extLst>
          </p:cNvPr>
          <p:cNvSpPr>
            <a:spLocks xmlns:a="http://schemas.openxmlformats.org/drawingml/2006/main" noGrp="1"/>
          </p:cNvSpPr>
          <p:nvPr/>
        </p:nvSpPr>
        <p:spPr>
          <a:xfrm xmlns:a="http://schemas.openxmlformats.org/drawingml/2006/main">
            <a:off x="552450" y="1628775"/>
            <a:ext cx="2571750" cy="762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7E1DC8E-C618-48F2-83E5-B227D464D764}"/>
              </a:ext>
            </a:extLst>
          </p:cNvPr>
          <p:cNvSpPr>
            <a:spLocks xmlns:a="http://schemas.openxmlformats.org/drawingml/2006/main" noGrp="1"/>
          </p:cNvSpPr>
          <p:nvPr/>
        </p:nvSpPr>
        <p:spPr>
          <a:xfrm xmlns:a="http://schemas.openxmlformats.org/drawingml/2006/main">
            <a:off x="723900" y="18192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00A5D8"/>
                </a:solidFill>
                <a:latin typeface="Yu Gothic"/>
                <a:ea typeface="Yu Gothic"/>
                <a:cs typeface="Yu Gothic"/>
              </a:defRPr>
            </a:pPr>
            <a:r>
              <a:rPr sz="975" b="1" i="0">
                <a:solidFill>
                  <a:srgbClr val="00A5D8"/>
                </a:solidFill>
                <a:latin typeface="Yu Gothic"/>
                <a:ea typeface="Yu Gothic"/>
                <a:cs typeface="Yu Gothic"/>
              </a:rPr>
              <a:t>01</a:t>
            </a:r>
          </a:p>
        </p:txBody>
      </p:sp>
      <p:sp>
        <p:nvSpPr>
          <p:cNvPr id="12" name="">
            <a:extLst xmlns:a="http://schemas.openxmlformats.org/drawingml/2006/main">
              <a:ext uri="{FF2B5EF4-FFF2-40B4-BE49-F238E27FC236}">
                <a16:creationId xmlns:a16="http://schemas.microsoft.com/office/drawing/2014/main" id="{D5CC3ACB-FA43-4938-8F48-270CA5631F63}"/>
              </a:ext>
            </a:extLst>
          </p:cNvPr>
          <p:cNvSpPr>
            <a:spLocks xmlns:a="http://schemas.openxmlformats.org/drawingml/2006/main" noGrp="1"/>
          </p:cNvSpPr>
          <p:nvPr/>
        </p:nvSpPr>
        <p:spPr>
          <a:xfrm xmlns:a="http://schemas.openxmlformats.org/drawingml/2006/main">
            <a:off x="723900" y="2133600"/>
            <a:ext cx="22288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425" b="1" i="0">
                <a:solidFill>
                  <a:srgbClr val="3F3F3F"/>
                </a:solidFill>
                <a:latin typeface="Yu Gothic"/>
                <a:ea typeface="Yu Gothic"/>
                <a:cs typeface="Yu Gothic"/>
              </a:defRPr>
            </a:pPr>
            <a:r>
              <a:rPr sz="1425" b="1" i="0">
                <a:solidFill>
                  <a:srgbClr val="3F3F3F"/>
                </a:solidFill>
                <a:latin typeface="Yu Gothic"/>
                <a:ea typeface="Yu Gothic"/>
                <a:cs typeface="Yu Gothic"/>
              </a:rPr>
              <a:t>計測契約</a:t>
            </a:r>
          </a:p>
        </p:txBody>
      </p:sp>
      <p:sp>
        <p:nvSpPr>
          <p:cNvPr id="13" name="">
            <a:extLst xmlns:a="http://schemas.openxmlformats.org/drawingml/2006/main">
              <a:ext uri="{FF2B5EF4-FFF2-40B4-BE49-F238E27FC236}">
                <a16:creationId xmlns:a16="http://schemas.microsoft.com/office/drawing/2014/main" id="{A1A989FA-A9F9-4167-B6A0-3FACC8C1C7B4}"/>
              </a:ext>
            </a:extLst>
          </p:cNvPr>
          <p:cNvSpPr>
            <a:spLocks xmlns:a="http://schemas.openxmlformats.org/drawingml/2006/main" noGrp="1"/>
          </p:cNvSpPr>
          <p:nvPr/>
        </p:nvSpPr>
        <p:spPr>
          <a:xfrm xmlns:a="http://schemas.openxmlformats.org/drawingml/2006/main">
            <a:off x="723900" y="2543175"/>
            <a:ext cx="22288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14" name="">
            <a:extLst xmlns:a="http://schemas.openxmlformats.org/drawingml/2006/main">
              <a:ext uri="{FF2B5EF4-FFF2-40B4-BE49-F238E27FC236}">
                <a16:creationId xmlns:a16="http://schemas.microsoft.com/office/drawing/2014/main" id="{58807DC8-AEAD-47D4-A145-D0017066C2A5}"/>
              </a:ext>
            </a:extLst>
          </p:cNvPr>
          <p:cNvSpPr>
            <a:spLocks xmlns:a="http://schemas.openxmlformats.org/drawingml/2006/main" noGrp="1"/>
          </p:cNvSpPr>
          <p:nvPr/>
        </p:nvSpPr>
        <p:spPr>
          <a:xfrm xmlns:a="http://schemas.openxmlformats.org/drawingml/2006/main">
            <a:off x="723900" y="2695575"/>
            <a:ext cx="22288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sensor位置・応答・校正</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時刻同期 / ZOH / 欠測</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単位・heat input accounting</a:t>
            </a:r>
          </a:p>
        </p:txBody>
      </p:sp>
      <p:sp>
        <p:nvSpPr>
          <p:cNvPr id="15" name="">
            <a:extLst xmlns:a="http://schemas.openxmlformats.org/drawingml/2006/main">
              <a:ext uri="{FF2B5EF4-FFF2-40B4-BE49-F238E27FC236}">
                <a16:creationId xmlns:a16="http://schemas.microsoft.com/office/drawing/2014/main" id="{F9668DA0-906D-43C4-965B-21B60EAB0F38}"/>
              </a:ext>
            </a:extLst>
          </p:cNvPr>
          <p:cNvSpPr>
            <a:spLocks xmlns:a="http://schemas.openxmlformats.org/drawingml/2006/main" noGrp="1"/>
          </p:cNvSpPr>
          <p:nvPr/>
        </p:nvSpPr>
        <p:spPr>
          <a:xfrm xmlns:a="http://schemas.openxmlformats.org/drawingml/2006/main">
            <a:off x="3390900" y="1628775"/>
            <a:ext cx="2571750" cy="21621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9CED618F-93A9-416A-829B-94D3809D3569}"/>
              </a:ext>
            </a:extLst>
          </p:cNvPr>
          <p:cNvSpPr>
            <a:spLocks xmlns:a="http://schemas.openxmlformats.org/drawingml/2006/main" noGrp="1"/>
          </p:cNvSpPr>
          <p:nvPr/>
        </p:nvSpPr>
        <p:spPr>
          <a:xfrm xmlns:a="http://schemas.openxmlformats.org/drawingml/2006/main">
            <a:off x="3390900" y="1628775"/>
            <a:ext cx="2571750" cy="762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26D9397-979B-4C6B-B625-C74F6411F16F}"/>
              </a:ext>
            </a:extLst>
          </p:cNvPr>
          <p:cNvSpPr>
            <a:spLocks xmlns:a="http://schemas.openxmlformats.org/drawingml/2006/main" noGrp="1"/>
          </p:cNvSpPr>
          <p:nvPr/>
        </p:nvSpPr>
        <p:spPr>
          <a:xfrm xmlns:a="http://schemas.openxmlformats.org/drawingml/2006/main">
            <a:off x="3562350" y="18192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6BE18"/>
                </a:solidFill>
                <a:latin typeface="Yu Gothic"/>
                <a:ea typeface="Yu Gothic"/>
                <a:cs typeface="Yu Gothic"/>
              </a:defRPr>
            </a:pPr>
            <a:r>
              <a:rPr sz="975" b="1" i="0">
                <a:solidFill>
                  <a:srgbClr val="76BE18"/>
                </a:solidFill>
                <a:latin typeface="Yu Gothic"/>
                <a:ea typeface="Yu Gothic"/>
                <a:cs typeface="Yu Gothic"/>
              </a:rPr>
              <a:t>02</a:t>
            </a:r>
          </a:p>
        </p:txBody>
      </p:sp>
      <p:sp>
        <p:nvSpPr>
          <p:cNvPr id="18" name="">
            <a:extLst xmlns:a="http://schemas.openxmlformats.org/drawingml/2006/main">
              <a:ext uri="{FF2B5EF4-FFF2-40B4-BE49-F238E27FC236}">
                <a16:creationId xmlns:a16="http://schemas.microsoft.com/office/drawing/2014/main" id="{28212A6B-6393-4567-A835-6375C60FA50A}"/>
              </a:ext>
            </a:extLst>
          </p:cNvPr>
          <p:cNvSpPr>
            <a:spLocks xmlns:a="http://schemas.openxmlformats.org/drawingml/2006/main" noGrp="1"/>
          </p:cNvSpPr>
          <p:nvPr/>
        </p:nvSpPr>
        <p:spPr>
          <a:xfrm xmlns:a="http://schemas.openxmlformats.org/drawingml/2006/main">
            <a:off x="3562350" y="2133600"/>
            <a:ext cx="22288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425" b="1" i="0">
                <a:solidFill>
                  <a:srgbClr val="3F3F3F"/>
                </a:solidFill>
                <a:latin typeface="Yu Gothic"/>
                <a:ea typeface="Yu Gothic"/>
                <a:cs typeface="Yu Gothic"/>
              </a:defRPr>
            </a:pPr>
            <a:r>
              <a:rPr sz="1425" b="1" i="0">
                <a:solidFill>
                  <a:srgbClr val="3F3F3F"/>
                </a:solidFill>
                <a:latin typeface="Yu Gothic"/>
                <a:ea typeface="Yu Gothic"/>
                <a:cs typeface="Yu Gothic"/>
              </a:rPr>
              <a:t>識別DOE</a:t>
            </a:r>
          </a:p>
        </p:txBody>
      </p:sp>
      <p:sp>
        <p:nvSpPr>
          <p:cNvPr id="19" name="">
            <a:extLst xmlns:a="http://schemas.openxmlformats.org/drawingml/2006/main">
              <a:ext uri="{FF2B5EF4-FFF2-40B4-BE49-F238E27FC236}">
                <a16:creationId xmlns:a16="http://schemas.microsoft.com/office/drawing/2014/main" id="{796B8089-31B8-4295-8F7E-91A341C5066C}"/>
              </a:ext>
            </a:extLst>
          </p:cNvPr>
          <p:cNvSpPr>
            <a:spLocks xmlns:a="http://schemas.openxmlformats.org/drawingml/2006/main" noGrp="1"/>
          </p:cNvSpPr>
          <p:nvPr/>
        </p:nvSpPr>
        <p:spPr>
          <a:xfrm xmlns:a="http://schemas.openxmlformats.org/drawingml/2006/main">
            <a:off x="3562350" y="2543175"/>
            <a:ext cx="22288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0" name="">
            <a:extLst xmlns:a="http://schemas.openxmlformats.org/drawingml/2006/main">
              <a:ext uri="{FF2B5EF4-FFF2-40B4-BE49-F238E27FC236}">
                <a16:creationId xmlns:a16="http://schemas.microsoft.com/office/drawing/2014/main" id="{0B824128-6ACA-499F-9A90-5DA24A43BBD6}"/>
              </a:ext>
            </a:extLst>
          </p:cNvPr>
          <p:cNvSpPr>
            <a:spLocks xmlns:a="http://schemas.openxmlformats.org/drawingml/2006/main" noGrp="1"/>
          </p:cNvSpPr>
          <p:nvPr/>
        </p:nvSpPr>
        <p:spPr>
          <a:xfrm xmlns:a="http://schemas.openxmlformats.org/drawingml/2006/main">
            <a:off x="3562350" y="2695575"/>
            <a:ext cx="22288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短・中・長pulse</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heater / coolantを分離励振</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rank・profile・seed安定性</a:t>
            </a:r>
          </a:p>
        </p:txBody>
      </p:sp>
      <p:sp>
        <p:nvSpPr>
          <p:cNvPr id="21" name="">
            <a:extLst xmlns:a="http://schemas.openxmlformats.org/drawingml/2006/main">
              <a:ext uri="{FF2B5EF4-FFF2-40B4-BE49-F238E27FC236}">
                <a16:creationId xmlns:a16="http://schemas.microsoft.com/office/drawing/2014/main" id="{6D566017-E2C0-4FB9-A165-E0DA40E84FAC}"/>
              </a:ext>
            </a:extLst>
          </p:cNvPr>
          <p:cNvSpPr>
            <a:spLocks xmlns:a="http://schemas.openxmlformats.org/drawingml/2006/main" noGrp="1"/>
          </p:cNvSpPr>
          <p:nvPr/>
        </p:nvSpPr>
        <p:spPr>
          <a:xfrm xmlns:a="http://schemas.openxmlformats.org/drawingml/2006/main">
            <a:off x="6229350" y="1628775"/>
            <a:ext cx="2571750" cy="21621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2" name="">
            <a:extLst xmlns:a="http://schemas.openxmlformats.org/drawingml/2006/main">
              <a:ext uri="{FF2B5EF4-FFF2-40B4-BE49-F238E27FC236}">
                <a16:creationId xmlns:a16="http://schemas.microsoft.com/office/drawing/2014/main" id="{EC647300-B9AE-4932-9B11-361A4728CE93}"/>
              </a:ext>
            </a:extLst>
          </p:cNvPr>
          <p:cNvSpPr>
            <a:spLocks xmlns:a="http://schemas.openxmlformats.org/drawingml/2006/main" noGrp="1"/>
          </p:cNvSpPr>
          <p:nvPr/>
        </p:nvSpPr>
        <p:spPr>
          <a:xfrm xmlns:a="http://schemas.openxmlformats.org/drawingml/2006/main">
            <a:off x="6229350" y="1628775"/>
            <a:ext cx="2571750" cy="762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A7909D3-40E4-4975-88DE-6C2E4267F588}"/>
              </a:ext>
            </a:extLst>
          </p:cNvPr>
          <p:cNvSpPr>
            <a:spLocks xmlns:a="http://schemas.openxmlformats.org/drawingml/2006/main" noGrp="1"/>
          </p:cNvSpPr>
          <p:nvPr/>
        </p:nvSpPr>
        <p:spPr>
          <a:xfrm xmlns:a="http://schemas.openxmlformats.org/drawingml/2006/main">
            <a:off x="6400800" y="18192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B2DAF"/>
                </a:solidFill>
                <a:latin typeface="Yu Gothic"/>
                <a:ea typeface="Yu Gothic"/>
                <a:cs typeface="Yu Gothic"/>
              </a:defRPr>
            </a:pPr>
            <a:r>
              <a:rPr sz="975" b="1" i="0">
                <a:solidFill>
                  <a:srgbClr val="7B2DAF"/>
                </a:solidFill>
                <a:latin typeface="Yu Gothic"/>
                <a:ea typeface="Yu Gothic"/>
                <a:cs typeface="Yu Gothic"/>
              </a:rPr>
              <a:t>03</a:t>
            </a:r>
          </a:p>
        </p:txBody>
      </p:sp>
      <p:sp>
        <p:nvSpPr>
          <p:cNvPr id="24" name="">
            <a:extLst xmlns:a="http://schemas.openxmlformats.org/drawingml/2006/main">
              <a:ext uri="{FF2B5EF4-FFF2-40B4-BE49-F238E27FC236}">
                <a16:creationId xmlns:a16="http://schemas.microsoft.com/office/drawing/2014/main" id="{D5CB4CCB-166C-4E71-B030-EA3A203497A8}"/>
              </a:ext>
            </a:extLst>
          </p:cNvPr>
          <p:cNvSpPr>
            <a:spLocks xmlns:a="http://schemas.openxmlformats.org/drawingml/2006/main" noGrp="1"/>
          </p:cNvSpPr>
          <p:nvPr/>
        </p:nvSpPr>
        <p:spPr>
          <a:xfrm xmlns:a="http://schemas.openxmlformats.org/drawingml/2006/main">
            <a:off x="6400800" y="2133600"/>
            <a:ext cx="22288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425" b="1" i="0">
                <a:solidFill>
                  <a:srgbClr val="3F3F3F"/>
                </a:solidFill>
                <a:latin typeface="Yu Gothic"/>
                <a:ea typeface="Yu Gothic"/>
                <a:cs typeface="Yu Gothic"/>
              </a:defRPr>
            </a:pPr>
            <a:r>
              <a:rPr sz="1425" b="1" i="0">
                <a:solidFill>
                  <a:srgbClr val="3F3F3F"/>
                </a:solidFill>
                <a:latin typeface="Yu Gothic"/>
                <a:ea typeface="Yu Gothic"/>
                <a:cs typeface="Yu Gothic"/>
              </a:rPr>
              <a:t>CAE / 実験V&amp;V</a:t>
            </a:r>
          </a:p>
        </p:txBody>
      </p:sp>
      <p:sp>
        <p:nvSpPr>
          <p:cNvPr id="25" name="">
            <a:extLst xmlns:a="http://schemas.openxmlformats.org/drawingml/2006/main">
              <a:ext uri="{FF2B5EF4-FFF2-40B4-BE49-F238E27FC236}">
                <a16:creationId xmlns:a16="http://schemas.microsoft.com/office/drawing/2014/main" id="{FEA0C20C-B0AE-47CB-B80B-689F1D760DCC}"/>
              </a:ext>
            </a:extLst>
          </p:cNvPr>
          <p:cNvSpPr>
            <a:spLocks xmlns:a="http://schemas.openxmlformats.org/drawingml/2006/main" noGrp="1"/>
          </p:cNvSpPr>
          <p:nvPr/>
        </p:nvSpPr>
        <p:spPr>
          <a:xfrm xmlns:a="http://schemas.openxmlformats.org/drawingml/2006/main">
            <a:off x="6400800" y="2543175"/>
            <a:ext cx="22288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6" name="">
            <a:extLst xmlns:a="http://schemas.openxmlformats.org/drawingml/2006/main">
              <a:ext uri="{FF2B5EF4-FFF2-40B4-BE49-F238E27FC236}">
                <a16:creationId xmlns:a16="http://schemas.microsoft.com/office/drawing/2014/main" id="{9E91870F-A036-41E8-9E44-86D0818A9142}"/>
              </a:ext>
            </a:extLst>
          </p:cNvPr>
          <p:cNvSpPr>
            <a:spLocks xmlns:a="http://schemas.openxmlformats.org/drawingml/2006/main" noGrp="1"/>
          </p:cNvSpPr>
          <p:nvPr/>
        </p:nvSpPr>
        <p:spPr>
          <a:xfrm xmlns:a="http://schemas.openxmlformats.org/drawingml/2006/main">
            <a:off x="6400800" y="2695575"/>
            <a:ext cx="22288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mesh / time convergence</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hotspot・放射・contact</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独立recipe / hardware holdout</a:t>
            </a:r>
          </a:p>
        </p:txBody>
      </p:sp>
      <p:sp>
        <p:nvSpPr>
          <p:cNvPr id="27" name="">
            <a:extLst xmlns:a="http://schemas.openxmlformats.org/drawingml/2006/main">
              <a:ext uri="{FF2B5EF4-FFF2-40B4-BE49-F238E27FC236}">
                <a16:creationId xmlns:a16="http://schemas.microsoft.com/office/drawing/2014/main" id="{DFDA0779-1501-46C4-AEB6-BA46743214A6}"/>
              </a:ext>
            </a:extLst>
          </p:cNvPr>
          <p:cNvSpPr>
            <a:spLocks xmlns:a="http://schemas.openxmlformats.org/drawingml/2006/main" noGrp="1"/>
          </p:cNvSpPr>
          <p:nvPr/>
        </p:nvSpPr>
        <p:spPr>
          <a:xfrm xmlns:a="http://schemas.openxmlformats.org/drawingml/2006/main">
            <a:off x="9067800" y="1628775"/>
            <a:ext cx="2571750" cy="21621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8" name="">
            <a:extLst xmlns:a="http://schemas.openxmlformats.org/drawingml/2006/main">
              <a:ext uri="{FF2B5EF4-FFF2-40B4-BE49-F238E27FC236}">
                <a16:creationId xmlns:a16="http://schemas.microsoft.com/office/drawing/2014/main" id="{12BDFEAF-C0BC-45E5-AED9-2725389431CB}"/>
              </a:ext>
            </a:extLst>
          </p:cNvPr>
          <p:cNvSpPr>
            <a:spLocks xmlns:a="http://schemas.openxmlformats.org/drawingml/2006/main" noGrp="1"/>
          </p:cNvSpPr>
          <p:nvPr/>
        </p:nvSpPr>
        <p:spPr>
          <a:xfrm xmlns:a="http://schemas.openxmlformats.org/drawingml/2006/main">
            <a:off x="9067800" y="1628775"/>
            <a:ext cx="2571750" cy="7620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A526771-C59C-4C4B-88F2-63EF478AB41F}"/>
              </a:ext>
            </a:extLst>
          </p:cNvPr>
          <p:cNvSpPr>
            <a:spLocks xmlns:a="http://schemas.openxmlformats.org/drawingml/2006/main" noGrp="1"/>
          </p:cNvSpPr>
          <p:nvPr/>
        </p:nvSpPr>
        <p:spPr>
          <a:xfrm xmlns:a="http://schemas.openxmlformats.org/drawingml/2006/main">
            <a:off x="9239250" y="18192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E5A900"/>
                </a:solidFill>
                <a:latin typeface="Yu Gothic"/>
                <a:ea typeface="Yu Gothic"/>
                <a:cs typeface="Yu Gothic"/>
              </a:defRPr>
            </a:pPr>
            <a:r>
              <a:rPr sz="975" b="1" i="0">
                <a:solidFill>
                  <a:srgbClr val="E5A900"/>
                </a:solidFill>
                <a:latin typeface="Yu Gothic"/>
                <a:ea typeface="Yu Gothic"/>
                <a:cs typeface="Yu Gothic"/>
              </a:rPr>
              <a:t>04</a:t>
            </a:r>
          </a:p>
        </p:txBody>
      </p:sp>
      <p:sp>
        <p:nvSpPr>
          <p:cNvPr id="30" name="">
            <a:extLst xmlns:a="http://schemas.openxmlformats.org/drawingml/2006/main">
              <a:ext uri="{FF2B5EF4-FFF2-40B4-BE49-F238E27FC236}">
                <a16:creationId xmlns:a16="http://schemas.microsoft.com/office/drawing/2014/main" id="{AA27D3F3-497D-449B-8EA6-12AEE529F8F2}"/>
              </a:ext>
            </a:extLst>
          </p:cNvPr>
          <p:cNvSpPr>
            <a:spLocks xmlns:a="http://schemas.openxmlformats.org/drawingml/2006/main" noGrp="1"/>
          </p:cNvSpPr>
          <p:nvPr/>
        </p:nvSpPr>
        <p:spPr>
          <a:xfrm xmlns:a="http://schemas.openxmlformats.org/drawingml/2006/main">
            <a:off x="9239250" y="2133600"/>
            <a:ext cx="22288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425" b="1" i="0">
                <a:solidFill>
                  <a:srgbClr val="3F3F3F"/>
                </a:solidFill>
                <a:latin typeface="Yu Gothic"/>
                <a:ea typeface="Yu Gothic"/>
                <a:cs typeface="Yu Gothic"/>
              </a:defRPr>
            </a:pPr>
            <a:r>
              <a:rPr sz="1425" b="1" i="0">
                <a:solidFill>
                  <a:srgbClr val="3F3F3F"/>
                </a:solidFill>
                <a:latin typeface="Yu Gothic"/>
                <a:ea typeface="Yu Gothic"/>
                <a:cs typeface="Yu Gothic"/>
              </a:rPr>
              <a:t>shadow operation</a:t>
            </a:r>
          </a:p>
        </p:txBody>
      </p:sp>
      <p:sp>
        <p:nvSpPr>
          <p:cNvPr id="31" name="">
            <a:extLst xmlns:a="http://schemas.openxmlformats.org/drawingml/2006/main">
              <a:ext uri="{FF2B5EF4-FFF2-40B4-BE49-F238E27FC236}">
                <a16:creationId xmlns:a16="http://schemas.microsoft.com/office/drawing/2014/main" id="{3B1887A0-E23A-4F54-839A-03E1CA8E5282}"/>
              </a:ext>
            </a:extLst>
          </p:cNvPr>
          <p:cNvSpPr>
            <a:spLocks xmlns:a="http://schemas.openxmlformats.org/drawingml/2006/main" noGrp="1"/>
          </p:cNvSpPr>
          <p:nvPr/>
        </p:nvSpPr>
        <p:spPr>
          <a:xfrm xmlns:a="http://schemas.openxmlformats.org/drawingml/2006/main">
            <a:off x="9239250" y="2543175"/>
            <a:ext cx="22288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2" name="">
            <a:extLst xmlns:a="http://schemas.openxmlformats.org/drawingml/2006/main">
              <a:ext uri="{FF2B5EF4-FFF2-40B4-BE49-F238E27FC236}">
                <a16:creationId xmlns:a16="http://schemas.microsoft.com/office/drawing/2014/main" id="{92F4DA34-1A72-4DF5-8636-31FF28F94385}"/>
              </a:ext>
            </a:extLst>
          </p:cNvPr>
          <p:cNvSpPr>
            <a:spLocks xmlns:a="http://schemas.openxmlformats.org/drawingml/2006/main" noGrp="1"/>
          </p:cNvSpPr>
          <p:nvPr/>
        </p:nvSpPr>
        <p:spPr>
          <a:xfrm xmlns:a="http://schemas.openxmlformats.org/drawingml/2006/main">
            <a:off x="9239250" y="2695575"/>
            <a:ext cx="22288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alarm校正・false rate</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drift / retrain条件</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interlockとは独立運用</a:t>
            </a:r>
          </a:p>
        </p:txBody>
      </p:sp>
      <p:cxnSp>
        <p:nvCxnSpPr>
          <p:cNvPr id="83" name=""/>
          <p:cNvCxnSpPr>
            <a:stCxn xmlns:a="http://schemas.openxmlformats.org/drawingml/2006/main" id="9" idx="3"/>
            <a:endCxn xmlns:a="http://schemas.openxmlformats.org/drawingml/2006/main" id="15" idx="1"/>
          </p:cNvCxnSpPr>
          <p:nvPr/>
        </p:nvCxnSpPr>
        <p:spPr>
          <a:xfrm xmlns:a="http://schemas.openxmlformats.org/drawingml/2006/main">
            <a:off x="3124200" y="2709863"/>
            <a:ext cx="2667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84" name=""/>
          <p:cNvCxnSpPr>
            <a:stCxn xmlns:a="http://schemas.openxmlformats.org/drawingml/2006/main" id="15" idx="3"/>
            <a:endCxn xmlns:a="http://schemas.openxmlformats.org/drawingml/2006/main" id="21" idx="1"/>
          </p:cNvCxnSpPr>
          <p:nvPr/>
        </p:nvCxnSpPr>
        <p:spPr>
          <a:xfrm xmlns:a="http://schemas.openxmlformats.org/drawingml/2006/main">
            <a:off x="5962650" y="2709863"/>
            <a:ext cx="2667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85" name=""/>
          <p:cNvCxnSpPr>
            <a:stCxn xmlns:a="http://schemas.openxmlformats.org/drawingml/2006/main" id="21" idx="3"/>
            <a:endCxn xmlns:a="http://schemas.openxmlformats.org/drawingml/2006/main" id="27" idx="1"/>
          </p:cNvCxnSpPr>
          <p:nvPr/>
        </p:nvCxnSpPr>
        <p:spPr>
          <a:xfrm xmlns:a="http://schemas.openxmlformats.org/drawingml/2006/main">
            <a:off x="8801100" y="2709863"/>
            <a:ext cx="2667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sp>
        <p:nvSpPr>
          <p:cNvPr id="36" name="">
            <a:extLst xmlns:a="http://schemas.openxmlformats.org/drawingml/2006/main">
              <a:ext uri="{FF2B5EF4-FFF2-40B4-BE49-F238E27FC236}">
                <a16:creationId xmlns:a16="http://schemas.microsoft.com/office/drawing/2014/main" id="{FF65B341-2DBB-429E-9F12-C42F6B9E2DAE}"/>
              </a:ext>
            </a:extLst>
          </p:cNvPr>
          <p:cNvSpPr>
            <a:spLocks xmlns:a="http://schemas.openxmlformats.org/drawingml/2006/main" noGrp="1"/>
          </p:cNvSpPr>
          <p:nvPr/>
        </p:nvSpPr>
        <p:spPr>
          <a:xfrm xmlns:a="http://schemas.openxmlformats.org/drawingml/2006/main">
            <a:off x="552450" y="4114800"/>
            <a:ext cx="11087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release gateで固定する指標</a:t>
            </a:r>
          </a:p>
        </p:txBody>
      </p:sp>
      <p:sp>
        <p:nvSpPr>
          <p:cNvPr id="37" name="">
            <a:extLst xmlns:a="http://schemas.openxmlformats.org/drawingml/2006/main">
              <a:ext uri="{FF2B5EF4-FFF2-40B4-BE49-F238E27FC236}">
                <a16:creationId xmlns:a16="http://schemas.microsoft.com/office/drawing/2014/main" id="{CC3F3083-9D1E-478E-B83B-2B42B137F97B}"/>
              </a:ext>
            </a:extLst>
          </p:cNvPr>
          <p:cNvSpPr>
            <a:spLocks xmlns:a="http://schemas.openxmlformats.org/drawingml/2006/main" noGrp="1"/>
          </p:cNvSpPr>
          <p:nvPr/>
        </p:nvSpPr>
        <p:spPr>
          <a:xfrm xmlns:a="http://schemas.openxmlformats.org/drawingml/2006/main">
            <a:off x="552450" y="449580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00A5D8"/>
                </a:solidFill>
                <a:latin typeface="Yu Gothic"/>
                <a:ea typeface="Yu Gothic"/>
                <a:cs typeface="Yu Gothic"/>
              </a:defRPr>
            </a:pPr>
            <a:r>
              <a:rPr sz="975" b="1" i="0">
                <a:solidFill>
                  <a:srgbClr val="00A5D8"/>
                </a:solidFill>
                <a:latin typeface="Yu Gothic"/>
                <a:ea typeface="Yu Gothic"/>
                <a:cs typeface="Yu Gothic"/>
              </a:rPr>
              <a:t>Prediction</a:t>
            </a:r>
          </a:p>
        </p:txBody>
      </p:sp>
      <p:sp>
        <p:nvSpPr>
          <p:cNvPr id="38" name="">
            <a:extLst xmlns:a="http://schemas.openxmlformats.org/drawingml/2006/main">
              <a:ext uri="{FF2B5EF4-FFF2-40B4-BE49-F238E27FC236}">
                <a16:creationId xmlns:a16="http://schemas.microsoft.com/office/drawing/2014/main" id="{977F2E21-7A51-48D6-9E2F-F3E7DD42D27E}"/>
              </a:ext>
            </a:extLst>
          </p:cNvPr>
          <p:cNvSpPr>
            <a:spLocks xmlns:a="http://schemas.openxmlformats.org/drawingml/2006/main" noGrp="1"/>
          </p:cNvSpPr>
          <p:nvPr/>
        </p:nvSpPr>
        <p:spPr>
          <a:xfrm xmlns:a="http://schemas.openxmlformats.org/drawingml/2006/main">
            <a:off x="1952625" y="4629150"/>
            <a:ext cx="523875" cy="0"/>
          </a:xfrm>
          <a:prstGeom xmlns:a="http://schemas.openxmlformats.org/drawingml/2006/main" prst="line">
            <a:avLst/>
          </a:prstGeom>
          <a:noFill xmlns:a="http://schemas.openxmlformats.org/drawingml/2006/main"/>
          <a:ln xmlns:a="http://schemas.openxmlformats.org/drawingml/2006/main" w="28575">
            <a:solidFill>
              <a:srgbClr val="00A5D8"/>
            </a:solidFill>
            <a:prstDash val="solid"/>
          </a:ln>
        </p:spPr>
      </p:sp>
      <p:sp>
        <p:nvSpPr>
          <p:cNvPr id="39" name="">
            <a:extLst xmlns:a="http://schemas.openxmlformats.org/drawingml/2006/main">
              <a:ext uri="{FF2B5EF4-FFF2-40B4-BE49-F238E27FC236}">
                <a16:creationId xmlns:a16="http://schemas.microsoft.com/office/drawing/2014/main" id="{742C86F7-6ACD-4E98-9B55-103A7C306C8B}"/>
              </a:ext>
            </a:extLst>
          </p:cNvPr>
          <p:cNvSpPr>
            <a:spLocks xmlns:a="http://schemas.openxmlformats.org/drawingml/2006/main" noGrp="1"/>
          </p:cNvSpPr>
          <p:nvPr/>
        </p:nvSpPr>
        <p:spPr>
          <a:xfrm xmlns:a="http://schemas.openxmlformats.org/drawingml/2006/main">
            <a:off x="2647950" y="4495800"/>
            <a:ext cx="8991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mean / P95 / worst RMSE, phase lag, operating-envelope coverage</a:t>
            </a:r>
          </a:p>
        </p:txBody>
      </p:sp>
      <p:sp>
        <p:nvSpPr>
          <p:cNvPr id="40" name="">
            <a:extLst xmlns:a="http://schemas.openxmlformats.org/drawingml/2006/main">
              <a:ext uri="{FF2B5EF4-FFF2-40B4-BE49-F238E27FC236}">
                <a16:creationId xmlns:a16="http://schemas.microsoft.com/office/drawing/2014/main" id="{70286CA3-3502-4F8B-B2CF-1616EE751A53}"/>
              </a:ext>
            </a:extLst>
          </p:cNvPr>
          <p:cNvSpPr>
            <a:spLocks xmlns:a="http://schemas.openxmlformats.org/drawingml/2006/main" noGrp="1"/>
          </p:cNvSpPr>
          <p:nvPr/>
        </p:nvSpPr>
        <p:spPr>
          <a:xfrm xmlns:a="http://schemas.openxmlformats.org/drawingml/2006/main">
            <a:off x="552450" y="488632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C4493D"/>
                </a:solidFill>
                <a:latin typeface="Yu Gothic"/>
                <a:ea typeface="Yu Gothic"/>
                <a:cs typeface="Yu Gothic"/>
              </a:defRPr>
            </a:pPr>
            <a:r>
              <a:rPr sz="975" b="1" i="0">
                <a:solidFill>
                  <a:srgbClr val="C4493D"/>
                </a:solidFill>
                <a:latin typeface="Yu Gothic"/>
                <a:ea typeface="Yu Gothic"/>
                <a:cs typeface="Yu Gothic"/>
              </a:rPr>
              <a:t>Safety</a:t>
            </a:r>
          </a:p>
        </p:txBody>
      </p:sp>
      <p:sp>
        <p:nvSpPr>
          <p:cNvPr id="41" name="">
            <a:extLst xmlns:a="http://schemas.openxmlformats.org/drawingml/2006/main">
              <a:ext uri="{FF2B5EF4-FFF2-40B4-BE49-F238E27FC236}">
                <a16:creationId xmlns:a16="http://schemas.microsoft.com/office/drawing/2014/main" id="{6FFA5AB5-950B-4FFA-8BD9-55784634BC8C}"/>
              </a:ext>
            </a:extLst>
          </p:cNvPr>
          <p:cNvSpPr>
            <a:spLocks xmlns:a="http://schemas.openxmlformats.org/drawingml/2006/main" noGrp="1"/>
          </p:cNvSpPr>
          <p:nvPr/>
        </p:nvSpPr>
        <p:spPr>
          <a:xfrm xmlns:a="http://schemas.openxmlformats.org/drawingml/2006/main">
            <a:off x="1952625" y="5019675"/>
            <a:ext cx="523875" cy="0"/>
          </a:xfrm>
          <a:prstGeom xmlns:a="http://schemas.openxmlformats.org/drawingml/2006/main" prst="line">
            <a:avLst/>
          </a:prstGeom>
          <a:noFill xmlns:a="http://schemas.openxmlformats.org/drawingml/2006/main"/>
          <a:ln xmlns:a="http://schemas.openxmlformats.org/drawingml/2006/main" w="28575">
            <a:solidFill>
              <a:srgbClr val="C4493D"/>
            </a:solidFill>
            <a:prstDash val="solid"/>
          </a:ln>
        </p:spPr>
      </p:sp>
      <p:sp>
        <p:nvSpPr>
          <p:cNvPr id="42" name="">
            <a:extLst xmlns:a="http://schemas.openxmlformats.org/drawingml/2006/main">
              <a:ext uri="{FF2B5EF4-FFF2-40B4-BE49-F238E27FC236}">
                <a16:creationId xmlns:a16="http://schemas.microsoft.com/office/drawing/2014/main" id="{5143C083-E3CE-4D25-89DC-6AF07FB7B482}"/>
              </a:ext>
            </a:extLst>
          </p:cNvPr>
          <p:cNvSpPr>
            <a:spLocks xmlns:a="http://schemas.openxmlformats.org/drawingml/2006/main" noGrp="1"/>
          </p:cNvSpPr>
          <p:nvPr/>
        </p:nvSpPr>
        <p:spPr>
          <a:xfrm xmlns:a="http://schemas.openxmlformats.org/drawingml/2006/main">
            <a:off x="2647950" y="4886325"/>
            <a:ext cx="8991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hotspot conservative bound, mesh/time uncertainty, thermal margin</a:t>
            </a:r>
          </a:p>
        </p:txBody>
      </p:sp>
      <p:sp>
        <p:nvSpPr>
          <p:cNvPr id="43" name="">
            <a:extLst xmlns:a="http://schemas.openxmlformats.org/drawingml/2006/main">
              <a:ext uri="{FF2B5EF4-FFF2-40B4-BE49-F238E27FC236}">
                <a16:creationId xmlns:a16="http://schemas.microsoft.com/office/drawing/2014/main" id="{5E9972F6-FE38-4ACA-A5FB-478B3E699F08}"/>
              </a:ext>
            </a:extLst>
          </p:cNvPr>
          <p:cNvSpPr>
            <a:spLocks xmlns:a="http://schemas.openxmlformats.org/drawingml/2006/main" noGrp="1"/>
          </p:cNvSpPr>
          <p:nvPr/>
        </p:nvSpPr>
        <p:spPr>
          <a:xfrm xmlns:a="http://schemas.openxmlformats.org/drawingml/2006/main">
            <a:off x="552450" y="527685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B2DAF"/>
                </a:solidFill>
                <a:latin typeface="Yu Gothic"/>
                <a:ea typeface="Yu Gothic"/>
                <a:cs typeface="Yu Gothic"/>
              </a:defRPr>
            </a:pPr>
            <a:r>
              <a:rPr sz="975" b="1" i="0">
                <a:solidFill>
                  <a:srgbClr val="7B2DAF"/>
                </a:solidFill>
                <a:latin typeface="Yu Gothic"/>
                <a:ea typeface="Yu Gothic"/>
                <a:cs typeface="Yu Gothic"/>
              </a:rPr>
              <a:t>Monitoring</a:t>
            </a:r>
          </a:p>
        </p:txBody>
      </p:sp>
      <p:sp>
        <p:nvSpPr>
          <p:cNvPr id="44" name="">
            <a:extLst xmlns:a="http://schemas.openxmlformats.org/drawingml/2006/main">
              <a:ext uri="{FF2B5EF4-FFF2-40B4-BE49-F238E27FC236}">
                <a16:creationId xmlns:a16="http://schemas.microsoft.com/office/drawing/2014/main" id="{7F811D99-FBC4-4047-8293-4515B6B44492}"/>
              </a:ext>
            </a:extLst>
          </p:cNvPr>
          <p:cNvSpPr>
            <a:spLocks xmlns:a="http://schemas.openxmlformats.org/drawingml/2006/main" noGrp="1"/>
          </p:cNvSpPr>
          <p:nvPr/>
        </p:nvSpPr>
        <p:spPr>
          <a:xfrm xmlns:a="http://schemas.openxmlformats.org/drawingml/2006/main">
            <a:off x="1952625" y="5410200"/>
            <a:ext cx="523875" cy="0"/>
          </a:xfrm>
          <a:prstGeom xmlns:a="http://schemas.openxmlformats.org/drawingml/2006/main" prst="line">
            <a:avLst/>
          </a:prstGeom>
          <a:noFill xmlns:a="http://schemas.openxmlformats.org/drawingml/2006/main"/>
          <a:ln xmlns:a="http://schemas.openxmlformats.org/drawingml/2006/main" w="28575">
            <a:solidFill>
              <a:srgbClr val="7B2DAF"/>
            </a:solidFill>
            <a:prstDash val="solid"/>
          </a:ln>
        </p:spPr>
      </p:sp>
      <p:sp>
        <p:nvSpPr>
          <p:cNvPr id="45" name="">
            <a:extLst xmlns:a="http://schemas.openxmlformats.org/drawingml/2006/main">
              <a:ext uri="{FF2B5EF4-FFF2-40B4-BE49-F238E27FC236}">
                <a16:creationId xmlns:a16="http://schemas.microsoft.com/office/drawing/2014/main" id="{C78D2D2D-705D-47F4-8B79-DEB95F595271}"/>
              </a:ext>
            </a:extLst>
          </p:cNvPr>
          <p:cNvSpPr>
            <a:spLocks xmlns:a="http://schemas.openxmlformats.org/drawingml/2006/main" noGrp="1"/>
          </p:cNvSpPr>
          <p:nvPr/>
        </p:nvSpPr>
        <p:spPr>
          <a:xfrm xmlns:a="http://schemas.openxmlformats.org/drawingml/2006/main">
            <a:off x="2647950" y="5276850"/>
            <a:ext cx="8991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detection delay, false alerts/hour, missed faults, attribution error</a:t>
            </a:r>
          </a:p>
        </p:txBody>
      </p:sp>
      <p:sp>
        <p:nvSpPr>
          <p:cNvPr id="46" name="">
            <a:extLst xmlns:a="http://schemas.openxmlformats.org/drawingml/2006/main">
              <a:ext uri="{FF2B5EF4-FFF2-40B4-BE49-F238E27FC236}">
                <a16:creationId xmlns:a16="http://schemas.microsoft.com/office/drawing/2014/main" id="{2C06FAC5-C2F6-4600-8C96-F89A098D7BF5}"/>
              </a:ext>
            </a:extLst>
          </p:cNvPr>
          <p:cNvSpPr>
            <a:spLocks xmlns:a="http://schemas.openxmlformats.org/drawingml/2006/main" noGrp="1"/>
          </p:cNvSpPr>
          <p:nvPr/>
        </p:nvSpPr>
        <p:spPr>
          <a:xfrm xmlns:a="http://schemas.openxmlformats.org/drawingml/2006/main">
            <a:off x="552450" y="566737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6BE18"/>
                </a:solidFill>
                <a:latin typeface="Yu Gothic"/>
                <a:ea typeface="Yu Gothic"/>
                <a:cs typeface="Yu Gothic"/>
              </a:defRPr>
            </a:pPr>
            <a:r>
              <a:rPr sz="975" b="1" i="0">
                <a:solidFill>
                  <a:srgbClr val="76BE18"/>
                </a:solidFill>
                <a:latin typeface="Yu Gothic"/>
                <a:ea typeface="Yu Gothic"/>
                <a:cs typeface="Yu Gothic"/>
              </a:rPr>
              <a:t>Lifecycle</a:t>
            </a:r>
          </a:p>
        </p:txBody>
      </p:sp>
      <p:sp>
        <p:nvSpPr>
          <p:cNvPr id="47" name="">
            <a:extLst xmlns:a="http://schemas.openxmlformats.org/drawingml/2006/main">
              <a:ext uri="{FF2B5EF4-FFF2-40B4-BE49-F238E27FC236}">
                <a16:creationId xmlns:a16="http://schemas.microsoft.com/office/drawing/2014/main" id="{730307C8-C0DA-46C7-9E76-ADA4F5D638FA}"/>
              </a:ext>
            </a:extLst>
          </p:cNvPr>
          <p:cNvSpPr>
            <a:spLocks xmlns:a="http://schemas.openxmlformats.org/drawingml/2006/main" noGrp="1"/>
          </p:cNvSpPr>
          <p:nvPr/>
        </p:nvSpPr>
        <p:spPr>
          <a:xfrm xmlns:a="http://schemas.openxmlformats.org/drawingml/2006/main">
            <a:off x="1952625" y="5800725"/>
            <a:ext cx="523875" cy="0"/>
          </a:xfrm>
          <a:prstGeom xmlns:a="http://schemas.openxmlformats.org/drawingml/2006/main" prst="line">
            <a:avLst/>
          </a:prstGeom>
          <a:noFill xmlns:a="http://schemas.openxmlformats.org/drawingml/2006/main"/>
          <a:ln xmlns:a="http://schemas.openxmlformats.org/drawingml/2006/main" w="28575">
            <a:solidFill>
              <a:srgbClr val="76BE18"/>
            </a:solidFill>
            <a:prstDash val="solid"/>
          </a:ln>
        </p:spPr>
      </p:sp>
      <p:sp>
        <p:nvSpPr>
          <p:cNvPr id="48" name="">
            <a:extLst xmlns:a="http://schemas.openxmlformats.org/drawingml/2006/main">
              <a:ext uri="{FF2B5EF4-FFF2-40B4-BE49-F238E27FC236}">
                <a16:creationId xmlns:a16="http://schemas.microsoft.com/office/drawing/2014/main" id="{31A19ADB-55D3-42CA-9035-4B03E1589BFE}"/>
              </a:ext>
            </a:extLst>
          </p:cNvPr>
          <p:cNvSpPr>
            <a:spLocks xmlns:a="http://schemas.openxmlformats.org/drawingml/2006/main" noGrp="1"/>
          </p:cNvSpPr>
          <p:nvPr/>
        </p:nvSpPr>
        <p:spPr>
          <a:xfrm xmlns:a="http://schemas.openxmlformats.org/drawingml/2006/main">
            <a:off x="2647950" y="5667375"/>
            <a:ext cx="8991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drift threshold, retrain trigger, configuration &amp; data lineage</a:t>
            </a:r>
          </a:p>
        </p:txBody>
      </p:sp>
      <p:sp>
        <p:nvSpPr>
          <p:cNvPr id="49" name="">
            <a:extLst xmlns:a="http://schemas.openxmlformats.org/drawingml/2006/main">
              <a:ext uri="{FF2B5EF4-FFF2-40B4-BE49-F238E27FC236}">
                <a16:creationId xmlns:a16="http://schemas.microsoft.com/office/drawing/2014/main" id="{FBCC5ACE-37DB-454B-B43F-9978AE0C2AD5}"/>
              </a:ext>
            </a:extLst>
          </p:cNvPr>
          <p:cNvSpPr>
            <a:spLocks xmlns:a="http://schemas.openxmlformats.org/drawingml/2006/main" noGrp="1"/>
          </p:cNvSpPr>
          <p:nvPr/>
        </p:nvSpPr>
        <p:spPr>
          <a:xfrm xmlns:a="http://schemas.openxmlformats.org/drawingml/2006/main">
            <a:off x="552450" y="6105525"/>
            <a:ext cx="11087100" cy="23812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67B40E39-48B4-4695-9390-84C0D72C6573}"/>
              </a:ext>
            </a:extLst>
          </p:cNvPr>
          <p:cNvSpPr>
            <a:spLocks xmlns:a="http://schemas.openxmlformats.org/drawingml/2006/main" noGrp="1"/>
          </p:cNvSpPr>
          <p:nvPr/>
        </p:nvSpPr>
        <p:spPr>
          <a:xfrm xmlns:a="http://schemas.openxmlformats.org/drawingml/2006/main">
            <a:off x="666750" y="6115050"/>
            <a:ext cx="1085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63" b="1" i="0">
                <a:solidFill>
                  <a:srgbClr val="FFFFFF"/>
                </a:solidFill>
                <a:latin typeface="Yu Gothic"/>
                <a:ea typeface="Yu Gothic"/>
                <a:cs typeface="Yu Gothic"/>
              </a:defRPr>
            </a:pPr>
            <a:r>
              <a:rPr sz="863" b="1" i="0">
                <a:solidFill>
                  <a:srgbClr val="FFFFFF"/>
                </a:solidFill>
                <a:latin typeface="Yu Gothic"/>
                <a:ea typeface="Yu Gothic"/>
                <a:cs typeface="Yu Gothic"/>
              </a:rPr>
              <a:t>完了条件：適用運転域・性能限界・再評価条件・責任分界が同一release recordに記録されていること。</a:t>
            </a:r>
          </a:p>
        </p:txBody>
      </p:sp>
    </p:spTree>
    <p:extLst>
      <p:ext uri="{BB962C8B-B14F-4D97-AF65-F5344CB8AC3E}">
        <p14:creationId xmlns:p14="http://schemas.microsoft.com/office/powerpoint/2010/main" val="69165769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9EF7B269-2C6B-40C5-93FC-59882EB1432B}"/>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E9178C9-185C-4323-AA43-01327DB450AF}"/>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REFERENCES</a:t>
            </a:r>
          </a:p>
        </p:txBody>
      </p:sp>
      <p:sp>
        <p:nvSpPr>
          <p:cNvPr id="3" name="">
            <a:extLst xmlns:a="http://schemas.openxmlformats.org/drawingml/2006/main">
              <a:ext uri="{FF2B5EF4-FFF2-40B4-BE49-F238E27FC236}">
                <a16:creationId xmlns:a16="http://schemas.microsoft.com/office/drawing/2014/main" id="{422C53F3-B218-400A-A317-51C37BB36BF5}"/>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理論、実装、CAE評価の根拠</a:t>
            </a:r>
          </a:p>
        </p:txBody>
      </p:sp>
      <p:sp>
        <p:nvSpPr>
          <p:cNvPr id="4" name="">
            <a:extLst xmlns:a="http://schemas.openxmlformats.org/drawingml/2006/main">
              <a:ext uri="{FF2B5EF4-FFF2-40B4-BE49-F238E27FC236}">
                <a16:creationId xmlns:a16="http://schemas.microsoft.com/office/drawing/2014/main" id="{DE12A924-F59A-469B-B91F-C067D0AA94D5}"/>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各グラフの完全な出典パスと数値条件はspeaker notesに記載</a:t>
            </a:r>
          </a:p>
        </p:txBody>
      </p:sp>
      <p:sp>
        <p:nvSpPr>
          <p:cNvPr id="5" name="">
            <a:extLst xmlns:a="http://schemas.openxmlformats.org/drawingml/2006/main">
              <a:ext uri="{FF2B5EF4-FFF2-40B4-BE49-F238E27FC236}">
                <a16:creationId xmlns:a16="http://schemas.microsoft.com/office/drawing/2014/main" id="{0D8AB1A8-4FC6-4526-A8C0-1C876047F451}"/>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7263E113-0B00-4D52-9B46-372464D80CB8}"/>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F454E1F9-2E2C-4179-A772-33119E134E71}"/>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466340FB-B15E-4E0F-B0FE-0D1B26C2D1D6}"/>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29</a:t>
            </a:r>
          </a:p>
        </p:txBody>
      </p:sp>
      <p:sp>
        <p:nvSpPr>
          <p:cNvPr id="9" name="">
            <a:extLst xmlns:a="http://schemas.openxmlformats.org/drawingml/2006/main">
              <a:ext uri="{FF2B5EF4-FFF2-40B4-BE49-F238E27FC236}">
                <a16:creationId xmlns:a16="http://schemas.microsoft.com/office/drawing/2014/main" id="{A27498BE-3FCA-44DA-A274-6A48A9621854}"/>
              </a:ext>
            </a:extLst>
          </p:cNvPr>
          <p:cNvSpPr>
            <a:spLocks xmlns:a="http://schemas.openxmlformats.org/drawingml/2006/main" noGrp="1"/>
          </p:cNvSpPr>
          <p:nvPr/>
        </p:nvSpPr>
        <p:spPr>
          <a:xfrm xmlns:a="http://schemas.openxmlformats.org/drawingml/2006/main">
            <a:off x="552450" y="1381125"/>
            <a:ext cx="525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Repository evidence</a:t>
            </a:r>
          </a:p>
        </p:txBody>
      </p:sp>
      <p:sp>
        <p:nvSpPr>
          <p:cNvPr id="10" name="">
            <a:extLst xmlns:a="http://schemas.openxmlformats.org/drawingml/2006/main">
              <a:ext uri="{FF2B5EF4-FFF2-40B4-BE49-F238E27FC236}">
                <a16:creationId xmlns:a16="http://schemas.microsoft.com/office/drawing/2014/main" id="{FA7EFC5D-6FBD-4042-9F77-E5E8880F9BD0}"/>
              </a:ext>
            </a:extLst>
          </p:cNvPr>
          <p:cNvSpPr>
            <a:spLocks xmlns:a="http://schemas.openxmlformats.org/drawingml/2006/main" noGrp="1"/>
          </p:cNvSpPr>
          <p:nvPr/>
        </p:nvSpPr>
        <p:spPr>
          <a:xfrm xmlns:a="http://schemas.openxmlformats.org/drawingml/2006/main">
            <a:off x="552450" y="17716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007FA8"/>
                </a:solidFill>
                <a:latin typeface="Yu Gothic"/>
                <a:ea typeface="Yu Gothic"/>
                <a:cs typeface="Yu Gothic"/>
              </a:defRPr>
            </a:pPr>
            <a:r>
              <a:rPr sz="825" b="1" i="0">
                <a:solidFill>
                  <a:srgbClr val="007FA8"/>
                </a:solidFill>
                <a:latin typeface="Yu Gothic"/>
                <a:ea typeface="Yu Gothic"/>
                <a:cs typeface="Yu Gothic"/>
              </a:rPr>
              <a:t>[E1]</a:t>
            </a:r>
          </a:p>
        </p:txBody>
      </p:sp>
      <p:sp>
        <p:nvSpPr>
          <p:cNvPr id="11" name="">
            <a:extLst xmlns:a="http://schemas.openxmlformats.org/drawingml/2006/main">
              <a:ext uri="{FF2B5EF4-FFF2-40B4-BE49-F238E27FC236}">
                <a16:creationId xmlns:a16="http://schemas.microsoft.com/office/drawing/2014/main" id="{0BC565F9-0B9A-4C8C-9914-E32DC90D0A99}"/>
              </a:ext>
            </a:extLst>
          </p:cNvPr>
          <p:cNvSpPr>
            <a:spLocks xmlns:a="http://schemas.openxmlformats.org/drawingml/2006/main" noGrp="1"/>
          </p:cNvSpPr>
          <p:nvPr/>
        </p:nvSpPr>
        <p:spPr>
          <a:xfrm xmlns:a="http://schemas.openxmlformats.org/drawingml/2006/main">
            <a:off x="1200150" y="1771650"/>
            <a:ext cx="433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13" b="1" i="0">
                <a:solidFill>
                  <a:srgbClr val="5B5B5B"/>
                </a:solidFill>
                <a:latin typeface="Yu Gothic"/>
                <a:ea typeface="Yu Gothic"/>
                <a:cs typeface="Yu Gothic"/>
              </a:defRPr>
            </a:pPr>
            <a:r>
              <a:rPr sz="1013" b="1" i="0">
                <a:solidFill>
                  <a:srgbClr val="5B5B5B"/>
                </a:solidFill>
                <a:latin typeface="Yu Gothic"/>
                <a:ea typeface="Yu Gothic"/>
                <a:cs typeface="Yu Gothic"/>
              </a:rPr>
              <a:t>Technical specification</a:t>
            </a:r>
          </a:p>
        </p:txBody>
      </p:sp>
      <p:sp>
        <p:nvSpPr>
          <p:cNvPr id="12" name="">
            <a:extLst xmlns:a="http://schemas.openxmlformats.org/drawingml/2006/main">
              <a:ext uri="{FF2B5EF4-FFF2-40B4-BE49-F238E27FC236}">
                <a16:creationId xmlns:a16="http://schemas.microsoft.com/office/drawing/2014/main" id="{DE158788-8761-478E-9CB1-9767CA52F2F6}"/>
              </a:ext>
            </a:extLst>
          </p:cNvPr>
          <p:cNvSpPr>
            <a:spLocks xmlns:a="http://schemas.openxmlformats.org/drawingml/2006/main" noGrp="1"/>
          </p:cNvSpPr>
          <p:nvPr/>
        </p:nvSpPr>
        <p:spPr>
          <a:xfrm xmlns:a="http://schemas.openxmlformats.org/drawingml/2006/main">
            <a:off x="1200150" y="2009775"/>
            <a:ext cx="43338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docs/technical_specification.md</a:t>
            </a:r>
          </a:p>
        </p:txBody>
      </p:sp>
      <p:sp>
        <p:nvSpPr>
          <p:cNvPr id="13" name="">
            <a:extLst xmlns:a="http://schemas.openxmlformats.org/drawingml/2006/main">
              <a:ext uri="{FF2B5EF4-FFF2-40B4-BE49-F238E27FC236}">
                <a16:creationId xmlns:a16="http://schemas.microsoft.com/office/drawing/2014/main" id="{65689097-0A51-43B9-884B-E8D56E4A0308}"/>
              </a:ext>
            </a:extLst>
          </p:cNvPr>
          <p:cNvSpPr>
            <a:spLocks xmlns:a="http://schemas.openxmlformats.org/drawingml/2006/main" noGrp="1"/>
          </p:cNvSpPr>
          <p:nvPr/>
        </p:nvSpPr>
        <p:spPr>
          <a:xfrm xmlns:a="http://schemas.openxmlformats.org/drawingml/2006/main">
            <a:off x="552450" y="23812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007FA8"/>
                </a:solidFill>
                <a:latin typeface="Yu Gothic"/>
                <a:ea typeface="Yu Gothic"/>
                <a:cs typeface="Yu Gothic"/>
              </a:defRPr>
            </a:pPr>
            <a:r>
              <a:rPr sz="825" b="1" i="0">
                <a:solidFill>
                  <a:srgbClr val="007FA8"/>
                </a:solidFill>
                <a:latin typeface="Yu Gothic"/>
                <a:ea typeface="Yu Gothic"/>
                <a:cs typeface="Yu Gothic"/>
              </a:rPr>
              <a:t>[E2]</a:t>
            </a:r>
          </a:p>
        </p:txBody>
      </p:sp>
      <p:sp>
        <p:nvSpPr>
          <p:cNvPr id="14" name="">
            <a:extLst xmlns:a="http://schemas.openxmlformats.org/drawingml/2006/main">
              <a:ext uri="{FF2B5EF4-FFF2-40B4-BE49-F238E27FC236}">
                <a16:creationId xmlns:a16="http://schemas.microsoft.com/office/drawing/2014/main" id="{CE45DBD5-DE18-4C12-86FC-EC31DD428377}"/>
              </a:ext>
            </a:extLst>
          </p:cNvPr>
          <p:cNvSpPr>
            <a:spLocks xmlns:a="http://schemas.openxmlformats.org/drawingml/2006/main" noGrp="1"/>
          </p:cNvSpPr>
          <p:nvPr/>
        </p:nvSpPr>
        <p:spPr>
          <a:xfrm xmlns:a="http://schemas.openxmlformats.org/drawingml/2006/main">
            <a:off x="1200150" y="2381250"/>
            <a:ext cx="433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13" b="1" i="0">
                <a:solidFill>
                  <a:srgbClr val="5B5B5B"/>
                </a:solidFill>
                <a:latin typeface="Yu Gothic"/>
                <a:ea typeface="Yu Gothic"/>
                <a:cs typeface="Yu Gothic"/>
              </a:defRPr>
            </a:pPr>
            <a:r>
              <a:rPr sz="1013" b="1" i="0">
                <a:solidFill>
                  <a:srgbClr val="5B5B5B"/>
                </a:solidFill>
                <a:latin typeface="Yu Gothic"/>
                <a:ea typeface="Yu Gothic"/>
                <a:cs typeface="Yu Gothic"/>
              </a:rPr>
              <a:t>TopCell benchmark</a:t>
            </a:r>
          </a:p>
        </p:txBody>
      </p:sp>
      <p:sp>
        <p:nvSpPr>
          <p:cNvPr id="15" name="">
            <a:extLst xmlns:a="http://schemas.openxmlformats.org/drawingml/2006/main">
              <a:ext uri="{FF2B5EF4-FFF2-40B4-BE49-F238E27FC236}">
                <a16:creationId xmlns:a16="http://schemas.microsoft.com/office/drawing/2014/main" id="{509272E2-2B11-4115-9F88-A6B7F804A3B2}"/>
              </a:ext>
            </a:extLst>
          </p:cNvPr>
          <p:cNvSpPr>
            <a:spLocks xmlns:a="http://schemas.openxmlformats.org/drawingml/2006/main" noGrp="1"/>
          </p:cNvSpPr>
          <p:nvPr/>
        </p:nvSpPr>
        <p:spPr>
          <a:xfrm xmlns:a="http://schemas.openxmlformats.org/drawingml/2006/main">
            <a:off x="1200150" y="2619375"/>
            <a:ext cx="43338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benchmarks/topcell/work/outputs/benchmark/</a:t>
            </a:r>
          </a:p>
        </p:txBody>
      </p:sp>
      <p:sp>
        <p:nvSpPr>
          <p:cNvPr id="16" name="">
            <a:extLst xmlns:a="http://schemas.openxmlformats.org/drawingml/2006/main">
              <a:ext uri="{FF2B5EF4-FFF2-40B4-BE49-F238E27FC236}">
                <a16:creationId xmlns:a16="http://schemas.microsoft.com/office/drawing/2014/main" id="{953ABDCA-BCEC-4FBE-8EDE-13073A22578C}"/>
              </a:ext>
            </a:extLst>
          </p:cNvPr>
          <p:cNvSpPr>
            <a:spLocks xmlns:a="http://schemas.openxmlformats.org/drawingml/2006/main" noGrp="1"/>
          </p:cNvSpPr>
          <p:nvPr/>
        </p:nvSpPr>
        <p:spPr>
          <a:xfrm xmlns:a="http://schemas.openxmlformats.org/drawingml/2006/main">
            <a:off x="552450" y="29908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007FA8"/>
                </a:solidFill>
                <a:latin typeface="Yu Gothic"/>
                <a:ea typeface="Yu Gothic"/>
                <a:cs typeface="Yu Gothic"/>
              </a:defRPr>
            </a:pPr>
            <a:r>
              <a:rPr sz="825" b="1" i="0">
                <a:solidFill>
                  <a:srgbClr val="007FA8"/>
                </a:solidFill>
                <a:latin typeface="Yu Gothic"/>
                <a:ea typeface="Yu Gothic"/>
                <a:cs typeface="Yu Gothic"/>
              </a:rPr>
              <a:t>[E3]</a:t>
            </a:r>
          </a:p>
        </p:txBody>
      </p:sp>
      <p:sp>
        <p:nvSpPr>
          <p:cNvPr id="17" name="">
            <a:extLst xmlns:a="http://schemas.openxmlformats.org/drawingml/2006/main">
              <a:ext uri="{FF2B5EF4-FFF2-40B4-BE49-F238E27FC236}">
                <a16:creationId xmlns:a16="http://schemas.microsoft.com/office/drawing/2014/main" id="{D1F2E429-EF89-47AE-BCA8-016921AC913E}"/>
              </a:ext>
            </a:extLst>
          </p:cNvPr>
          <p:cNvSpPr>
            <a:spLocks xmlns:a="http://schemas.openxmlformats.org/drawingml/2006/main" noGrp="1"/>
          </p:cNvSpPr>
          <p:nvPr/>
        </p:nvSpPr>
        <p:spPr>
          <a:xfrm xmlns:a="http://schemas.openxmlformats.org/drawingml/2006/main">
            <a:off x="1200150" y="2990850"/>
            <a:ext cx="433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13" b="1" i="0">
                <a:solidFill>
                  <a:srgbClr val="5B5B5B"/>
                </a:solidFill>
                <a:latin typeface="Yu Gothic"/>
                <a:ea typeface="Yu Gothic"/>
                <a:cs typeface="Yu Gothic"/>
              </a:defRPr>
            </a:pPr>
            <a:r>
              <a:rPr sz="1013" b="1" i="0">
                <a:solidFill>
                  <a:srgbClr val="5B5B5B"/>
                </a:solidFill>
                <a:latin typeface="Yu Gothic"/>
                <a:ea typeface="Yu Gothic"/>
                <a:cs typeface="Yu Gothic"/>
              </a:rPr>
              <a:t>Linear COMSOL evaluation</a:t>
            </a:r>
          </a:p>
        </p:txBody>
      </p:sp>
      <p:sp>
        <p:nvSpPr>
          <p:cNvPr id="18" name="">
            <a:extLst xmlns:a="http://schemas.openxmlformats.org/drawingml/2006/main">
              <a:ext uri="{FF2B5EF4-FFF2-40B4-BE49-F238E27FC236}">
                <a16:creationId xmlns:a16="http://schemas.microsoft.com/office/drawing/2014/main" id="{896B601A-2437-49BB-A24D-90325D57ECEF}"/>
              </a:ext>
            </a:extLst>
          </p:cNvPr>
          <p:cNvSpPr>
            <a:spLocks xmlns:a="http://schemas.openxmlformats.org/drawingml/2006/main" noGrp="1"/>
          </p:cNvSpPr>
          <p:nvPr/>
        </p:nvSpPr>
        <p:spPr>
          <a:xfrm xmlns:a="http://schemas.openxmlformats.org/drawingml/2006/main">
            <a:off x="1200150" y="3228975"/>
            <a:ext cx="43338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external_tools/comsol_chip_cooling/work/evaluation/</a:t>
            </a:r>
          </a:p>
        </p:txBody>
      </p:sp>
      <p:sp>
        <p:nvSpPr>
          <p:cNvPr id="19" name="">
            <a:extLst xmlns:a="http://schemas.openxmlformats.org/drawingml/2006/main">
              <a:ext uri="{FF2B5EF4-FFF2-40B4-BE49-F238E27FC236}">
                <a16:creationId xmlns:a16="http://schemas.microsoft.com/office/drawing/2014/main" id="{8EFC71A0-2E54-493E-92B7-8FB819D792C1}"/>
              </a:ext>
            </a:extLst>
          </p:cNvPr>
          <p:cNvSpPr>
            <a:spLocks xmlns:a="http://schemas.openxmlformats.org/drawingml/2006/main" noGrp="1"/>
          </p:cNvSpPr>
          <p:nvPr/>
        </p:nvSpPr>
        <p:spPr>
          <a:xfrm xmlns:a="http://schemas.openxmlformats.org/drawingml/2006/main">
            <a:off x="552450" y="36004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007FA8"/>
                </a:solidFill>
                <a:latin typeface="Yu Gothic"/>
                <a:ea typeface="Yu Gothic"/>
                <a:cs typeface="Yu Gothic"/>
              </a:defRPr>
            </a:pPr>
            <a:r>
              <a:rPr sz="825" b="1" i="0">
                <a:solidFill>
                  <a:srgbClr val="007FA8"/>
                </a:solidFill>
                <a:latin typeface="Yu Gothic"/>
                <a:ea typeface="Yu Gothic"/>
                <a:cs typeface="Yu Gothic"/>
              </a:rPr>
              <a:t>[E4]</a:t>
            </a:r>
          </a:p>
        </p:txBody>
      </p:sp>
      <p:sp>
        <p:nvSpPr>
          <p:cNvPr id="20" name="">
            <a:extLst xmlns:a="http://schemas.openxmlformats.org/drawingml/2006/main">
              <a:ext uri="{FF2B5EF4-FFF2-40B4-BE49-F238E27FC236}">
                <a16:creationId xmlns:a16="http://schemas.microsoft.com/office/drawing/2014/main" id="{539735FF-627C-4A2D-A2E1-51CA6F9DCF62}"/>
              </a:ext>
            </a:extLst>
          </p:cNvPr>
          <p:cNvSpPr>
            <a:spLocks xmlns:a="http://schemas.openxmlformats.org/drawingml/2006/main" noGrp="1"/>
          </p:cNvSpPr>
          <p:nvPr/>
        </p:nvSpPr>
        <p:spPr>
          <a:xfrm xmlns:a="http://schemas.openxmlformats.org/drawingml/2006/main">
            <a:off x="1200150" y="3600450"/>
            <a:ext cx="433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13" b="1" i="0">
                <a:solidFill>
                  <a:srgbClr val="5B5B5B"/>
                </a:solidFill>
                <a:latin typeface="Yu Gothic"/>
                <a:ea typeface="Yu Gothic"/>
                <a:cs typeface="Yu Gothic"/>
              </a:defRPr>
            </a:pPr>
            <a:r>
              <a:rPr sz="1013" b="1" i="0">
                <a:solidFill>
                  <a:srgbClr val="5B5B5B"/>
                </a:solidFill>
                <a:latin typeface="Yu Gothic"/>
                <a:ea typeface="Yu Gothic"/>
                <a:cs typeface="Yu Gothic"/>
              </a:rPr>
              <a:t>Monitor traces</a:t>
            </a:r>
          </a:p>
        </p:txBody>
      </p:sp>
      <p:sp>
        <p:nvSpPr>
          <p:cNvPr id="21" name="">
            <a:extLst xmlns:a="http://schemas.openxmlformats.org/drawingml/2006/main">
              <a:ext uri="{FF2B5EF4-FFF2-40B4-BE49-F238E27FC236}">
                <a16:creationId xmlns:a16="http://schemas.microsoft.com/office/drawing/2014/main" id="{67A53B95-8687-43B6-9D93-997078EB058E}"/>
              </a:ext>
            </a:extLst>
          </p:cNvPr>
          <p:cNvSpPr>
            <a:spLocks xmlns:a="http://schemas.openxmlformats.org/drawingml/2006/main" noGrp="1"/>
          </p:cNvSpPr>
          <p:nvPr/>
        </p:nvSpPr>
        <p:spPr>
          <a:xfrm xmlns:a="http://schemas.openxmlformats.org/drawingml/2006/main">
            <a:off x="1200150" y="3838575"/>
            <a:ext cx="43338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external_tools/comsol_chip_cooling/work/outputs/monitor/</a:t>
            </a:r>
          </a:p>
        </p:txBody>
      </p:sp>
      <p:sp>
        <p:nvSpPr>
          <p:cNvPr id="22" name="">
            <a:extLst xmlns:a="http://schemas.openxmlformats.org/drawingml/2006/main">
              <a:ext uri="{FF2B5EF4-FFF2-40B4-BE49-F238E27FC236}">
                <a16:creationId xmlns:a16="http://schemas.microsoft.com/office/drawing/2014/main" id="{F4EFFE81-50AA-47D1-B666-BA90583BF344}"/>
              </a:ext>
            </a:extLst>
          </p:cNvPr>
          <p:cNvSpPr>
            <a:spLocks xmlns:a="http://schemas.openxmlformats.org/drawingml/2006/main" noGrp="1"/>
          </p:cNvSpPr>
          <p:nvPr/>
        </p:nvSpPr>
        <p:spPr>
          <a:xfrm xmlns:a="http://schemas.openxmlformats.org/drawingml/2006/main">
            <a:off x="552450" y="4210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007FA8"/>
                </a:solidFill>
                <a:latin typeface="Yu Gothic"/>
                <a:ea typeface="Yu Gothic"/>
                <a:cs typeface="Yu Gothic"/>
              </a:defRPr>
            </a:pPr>
            <a:r>
              <a:rPr sz="825" b="1" i="0">
                <a:solidFill>
                  <a:srgbClr val="007FA8"/>
                </a:solidFill>
                <a:latin typeface="Yu Gothic"/>
                <a:ea typeface="Yu Gothic"/>
                <a:cs typeface="Yu Gothic"/>
              </a:rPr>
              <a:t>[E5]</a:t>
            </a:r>
          </a:p>
        </p:txBody>
      </p:sp>
      <p:sp>
        <p:nvSpPr>
          <p:cNvPr id="23" name="">
            <a:extLst xmlns:a="http://schemas.openxmlformats.org/drawingml/2006/main">
              <a:ext uri="{FF2B5EF4-FFF2-40B4-BE49-F238E27FC236}">
                <a16:creationId xmlns:a16="http://schemas.microsoft.com/office/drawing/2014/main" id="{C2D707E3-9BF1-444B-8C59-C863959DD285}"/>
              </a:ext>
            </a:extLst>
          </p:cNvPr>
          <p:cNvSpPr>
            <a:spLocks xmlns:a="http://schemas.openxmlformats.org/drawingml/2006/main" noGrp="1"/>
          </p:cNvSpPr>
          <p:nvPr/>
        </p:nvSpPr>
        <p:spPr>
          <a:xfrm xmlns:a="http://schemas.openxmlformats.org/drawingml/2006/main">
            <a:off x="1200150" y="4210050"/>
            <a:ext cx="433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13" b="1" i="0">
                <a:solidFill>
                  <a:srgbClr val="5B5B5B"/>
                </a:solidFill>
                <a:latin typeface="Yu Gothic"/>
                <a:ea typeface="Yu Gothic"/>
                <a:cs typeface="Yu Gothic"/>
              </a:defRPr>
            </a:pPr>
            <a:r>
              <a:rPr sz="1013" b="1" i="0">
                <a:solidFill>
                  <a:srgbClr val="5B5B5B"/>
                </a:solidFill>
                <a:latin typeface="Yu Gothic"/>
                <a:ea typeface="Yu Gothic"/>
                <a:cs typeface="Yu Gothic"/>
              </a:rPr>
              <a:t>CAE report source data</a:t>
            </a:r>
          </a:p>
        </p:txBody>
      </p:sp>
      <p:sp>
        <p:nvSpPr>
          <p:cNvPr id="24" name="">
            <a:extLst xmlns:a="http://schemas.openxmlformats.org/drawingml/2006/main">
              <a:ext uri="{FF2B5EF4-FFF2-40B4-BE49-F238E27FC236}">
                <a16:creationId xmlns:a16="http://schemas.microsoft.com/office/drawing/2014/main" id="{C654D989-7985-43A9-8009-79EBCE67FD48}"/>
              </a:ext>
            </a:extLst>
          </p:cNvPr>
          <p:cNvSpPr>
            <a:spLocks xmlns:a="http://schemas.openxmlformats.org/drawingml/2006/main" noGrp="1"/>
          </p:cNvSpPr>
          <p:nvPr/>
        </p:nvSpPr>
        <p:spPr>
          <a:xfrm xmlns:a="http://schemas.openxmlformats.org/drawingml/2006/main">
            <a:off x="1200150" y="4448175"/>
            <a:ext cx="43338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external_tools/.../reports/cae_benchmark_report/source_data/</a:t>
            </a:r>
          </a:p>
        </p:txBody>
      </p:sp>
      <p:sp>
        <p:nvSpPr>
          <p:cNvPr id="25" name="">
            <a:extLst xmlns:a="http://schemas.openxmlformats.org/drawingml/2006/main">
              <a:ext uri="{FF2B5EF4-FFF2-40B4-BE49-F238E27FC236}">
                <a16:creationId xmlns:a16="http://schemas.microsoft.com/office/drawing/2014/main" id="{53E0353B-ABC0-40D5-9811-CE8674E655F0}"/>
              </a:ext>
            </a:extLst>
          </p:cNvPr>
          <p:cNvSpPr>
            <a:spLocks xmlns:a="http://schemas.openxmlformats.org/drawingml/2006/main" noGrp="1"/>
          </p:cNvSpPr>
          <p:nvPr/>
        </p:nvSpPr>
        <p:spPr>
          <a:xfrm xmlns:a="http://schemas.openxmlformats.org/drawingml/2006/main">
            <a:off x="552450" y="48196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007FA8"/>
                </a:solidFill>
                <a:latin typeface="Yu Gothic"/>
                <a:ea typeface="Yu Gothic"/>
                <a:cs typeface="Yu Gothic"/>
              </a:defRPr>
            </a:pPr>
            <a:r>
              <a:rPr sz="825" b="1" i="0">
                <a:solidFill>
                  <a:srgbClr val="007FA8"/>
                </a:solidFill>
                <a:latin typeface="Yu Gothic"/>
                <a:ea typeface="Yu Gothic"/>
                <a:cs typeface="Yu Gothic"/>
              </a:rPr>
              <a:t>[E6]</a:t>
            </a:r>
          </a:p>
        </p:txBody>
      </p:sp>
      <p:sp>
        <p:nvSpPr>
          <p:cNvPr id="26" name="">
            <a:extLst xmlns:a="http://schemas.openxmlformats.org/drawingml/2006/main">
              <a:ext uri="{FF2B5EF4-FFF2-40B4-BE49-F238E27FC236}">
                <a16:creationId xmlns:a16="http://schemas.microsoft.com/office/drawing/2014/main" id="{B930DFD0-2FD7-4302-904D-400FEBEEB8A2}"/>
              </a:ext>
            </a:extLst>
          </p:cNvPr>
          <p:cNvSpPr>
            <a:spLocks xmlns:a="http://schemas.openxmlformats.org/drawingml/2006/main" noGrp="1"/>
          </p:cNvSpPr>
          <p:nvPr/>
        </p:nvSpPr>
        <p:spPr>
          <a:xfrm xmlns:a="http://schemas.openxmlformats.org/drawingml/2006/main">
            <a:off x="1200150" y="4819650"/>
            <a:ext cx="433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13" b="1" i="0">
                <a:solidFill>
                  <a:srgbClr val="5B5B5B"/>
                </a:solidFill>
                <a:latin typeface="Yu Gothic"/>
                <a:ea typeface="Yu Gothic"/>
                <a:cs typeface="Yu Gothic"/>
              </a:defRPr>
            </a:pPr>
            <a:r>
              <a:rPr sz="1013" b="1" i="0">
                <a:solidFill>
                  <a:srgbClr val="5B5B5B"/>
                </a:solidFill>
                <a:latin typeface="Yu Gothic"/>
                <a:ea typeface="Yu Gothic"/>
                <a:cs typeface="Yu Gothic"/>
              </a:rPr>
              <a:t>High-fidelity validation</a:t>
            </a:r>
          </a:p>
        </p:txBody>
      </p:sp>
      <p:sp>
        <p:nvSpPr>
          <p:cNvPr id="27" name="">
            <a:extLst xmlns:a="http://schemas.openxmlformats.org/drawingml/2006/main">
              <a:ext uri="{FF2B5EF4-FFF2-40B4-BE49-F238E27FC236}">
                <a16:creationId xmlns:a16="http://schemas.microsoft.com/office/drawing/2014/main" id="{37DD6AFD-CD29-4E1C-A08B-566A7344D5D4}"/>
              </a:ext>
            </a:extLst>
          </p:cNvPr>
          <p:cNvSpPr>
            <a:spLocks xmlns:a="http://schemas.openxmlformats.org/drawingml/2006/main" noGrp="1"/>
          </p:cNvSpPr>
          <p:nvPr/>
        </p:nvSpPr>
        <p:spPr>
          <a:xfrm xmlns:a="http://schemas.openxmlformats.org/drawingml/2006/main">
            <a:off x="1200150" y="5057775"/>
            <a:ext cx="43338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external_tools/comsol_chip_cooling/docs/high_fidelity_validation.md</a:t>
            </a:r>
          </a:p>
        </p:txBody>
      </p:sp>
      <p:sp>
        <p:nvSpPr>
          <p:cNvPr id="28" name="">
            <a:extLst xmlns:a="http://schemas.openxmlformats.org/drawingml/2006/main">
              <a:ext uri="{FF2B5EF4-FFF2-40B4-BE49-F238E27FC236}">
                <a16:creationId xmlns:a16="http://schemas.microsoft.com/office/drawing/2014/main" id="{B56B28A6-7468-4C3F-8CE5-1CE56DEAAFE3}"/>
              </a:ext>
            </a:extLst>
          </p:cNvPr>
          <p:cNvSpPr>
            <a:spLocks xmlns:a="http://schemas.openxmlformats.org/drawingml/2006/main" noGrp="1"/>
          </p:cNvSpPr>
          <p:nvPr/>
        </p:nvSpPr>
        <p:spPr>
          <a:xfrm xmlns:a="http://schemas.openxmlformats.org/drawingml/2006/main">
            <a:off x="6381750" y="1381125"/>
            <a:ext cx="525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Theory and methods</a:t>
            </a:r>
          </a:p>
        </p:txBody>
      </p:sp>
      <p:sp>
        <p:nvSpPr>
          <p:cNvPr id="29" name="">
            <a:extLst xmlns:a="http://schemas.openxmlformats.org/drawingml/2006/main">
              <a:ext uri="{FF2B5EF4-FFF2-40B4-BE49-F238E27FC236}">
                <a16:creationId xmlns:a16="http://schemas.microsoft.com/office/drawing/2014/main" id="{C7B54153-5823-4D57-800F-78E55A840B35}"/>
              </a:ext>
            </a:extLst>
          </p:cNvPr>
          <p:cNvSpPr>
            <a:spLocks xmlns:a="http://schemas.openxmlformats.org/drawingml/2006/main" noGrp="1"/>
          </p:cNvSpPr>
          <p:nvPr/>
        </p:nvSpPr>
        <p:spPr>
          <a:xfrm xmlns:a="http://schemas.openxmlformats.org/drawingml/2006/main">
            <a:off x="6381750" y="17430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[R1]</a:t>
            </a:r>
          </a:p>
        </p:txBody>
      </p:sp>
      <p:sp>
        <p:nvSpPr>
          <p:cNvPr id="30" name="">
            <a:extLst xmlns:a="http://schemas.openxmlformats.org/drawingml/2006/main">
              <a:ext uri="{FF2B5EF4-FFF2-40B4-BE49-F238E27FC236}">
                <a16:creationId xmlns:a16="http://schemas.microsoft.com/office/drawing/2014/main" id="{0F81B5A2-03CE-4579-9BEA-A95717FD1395}"/>
              </a:ext>
            </a:extLst>
          </p:cNvPr>
          <p:cNvSpPr>
            <a:spLocks xmlns:a="http://schemas.openxmlformats.org/drawingml/2006/main" noGrp="1"/>
          </p:cNvSpPr>
          <p:nvPr/>
        </p:nvSpPr>
        <p:spPr>
          <a:xfrm xmlns:a="http://schemas.openxmlformats.org/drawingml/2006/main">
            <a:off x="7029450" y="17430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Huang et al. (2006)</a:t>
            </a:r>
          </a:p>
        </p:txBody>
      </p:sp>
      <p:sp>
        <p:nvSpPr>
          <p:cNvPr id="31" name="">
            <a:extLst xmlns:a="http://schemas.openxmlformats.org/drawingml/2006/main">
              <a:ext uri="{FF2B5EF4-FFF2-40B4-BE49-F238E27FC236}">
                <a16:creationId xmlns:a16="http://schemas.microsoft.com/office/drawing/2014/main" id="{973398D6-2680-4644-8074-D787EDF937AA}"/>
              </a:ext>
            </a:extLst>
          </p:cNvPr>
          <p:cNvSpPr>
            <a:spLocks xmlns:a="http://schemas.openxmlformats.org/drawingml/2006/main" noGrp="1"/>
          </p:cNvSpPr>
          <p:nvPr/>
        </p:nvSpPr>
        <p:spPr>
          <a:xfrm xmlns:a="http://schemas.openxmlformats.org/drawingml/2006/main">
            <a:off x="7029450" y="19621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HotSpot compact thermal modeling, IEEE TVLSI</a:t>
            </a:r>
          </a:p>
        </p:txBody>
      </p:sp>
      <p:sp>
        <p:nvSpPr>
          <p:cNvPr id="32" name="">
            <a:extLst xmlns:a="http://schemas.openxmlformats.org/drawingml/2006/main">
              <a:ext uri="{FF2B5EF4-FFF2-40B4-BE49-F238E27FC236}">
                <a16:creationId xmlns:a16="http://schemas.microsoft.com/office/drawing/2014/main" id="{A7CADF13-25EE-44FB-BD44-341172D88738}"/>
              </a:ext>
            </a:extLst>
          </p:cNvPr>
          <p:cNvSpPr>
            <a:spLocks xmlns:a="http://schemas.openxmlformats.org/drawingml/2006/main" noGrp="1"/>
          </p:cNvSpPr>
          <p:nvPr/>
        </p:nvSpPr>
        <p:spPr>
          <a:xfrm xmlns:a="http://schemas.openxmlformats.org/drawingml/2006/main">
            <a:off x="6381750" y="22383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[R2]</a:t>
            </a:r>
          </a:p>
        </p:txBody>
      </p:sp>
      <p:sp>
        <p:nvSpPr>
          <p:cNvPr id="33" name="">
            <a:extLst xmlns:a="http://schemas.openxmlformats.org/drawingml/2006/main">
              <a:ext uri="{FF2B5EF4-FFF2-40B4-BE49-F238E27FC236}">
                <a16:creationId xmlns:a16="http://schemas.microsoft.com/office/drawing/2014/main" id="{347B4FF7-D0B3-4482-AE85-AE805879AEB2}"/>
              </a:ext>
            </a:extLst>
          </p:cNvPr>
          <p:cNvSpPr>
            <a:spLocks xmlns:a="http://schemas.openxmlformats.org/drawingml/2006/main" noGrp="1"/>
          </p:cNvSpPr>
          <p:nvPr/>
        </p:nvSpPr>
        <p:spPr>
          <a:xfrm xmlns:a="http://schemas.openxmlformats.org/drawingml/2006/main">
            <a:off x="7029450" y="22383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Farina &amp; Rinaldi (2000)</a:t>
            </a:r>
          </a:p>
        </p:txBody>
      </p:sp>
      <p:sp>
        <p:nvSpPr>
          <p:cNvPr id="34" name="">
            <a:extLst xmlns:a="http://schemas.openxmlformats.org/drawingml/2006/main">
              <a:ext uri="{FF2B5EF4-FFF2-40B4-BE49-F238E27FC236}">
                <a16:creationId xmlns:a16="http://schemas.microsoft.com/office/drawing/2014/main" id="{195951A7-E9DE-4AE7-B34E-54D4F553629F}"/>
              </a:ext>
            </a:extLst>
          </p:cNvPr>
          <p:cNvSpPr>
            <a:spLocks xmlns:a="http://schemas.openxmlformats.org/drawingml/2006/main" noGrp="1"/>
          </p:cNvSpPr>
          <p:nvPr/>
        </p:nvSpPr>
        <p:spPr>
          <a:xfrm xmlns:a="http://schemas.openxmlformats.org/drawingml/2006/main">
            <a:off x="7029450" y="24574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Positive Linear Systems</a:t>
            </a:r>
          </a:p>
        </p:txBody>
      </p:sp>
      <p:sp>
        <p:nvSpPr>
          <p:cNvPr id="35" name="">
            <a:extLst xmlns:a="http://schemas.openxmlformats.org/drawingml/2006/main">
              <a:ext uri="{FF2B5EF4-FFF2-40B4-BE49-F238E27FC236}">
                <a16:creationId xmlns:a16="http://schemas.microsoft.com/office/drawing/2014/main" id="{D4229203-2C77-4971-9EBD-8EE0E085E898}"/>
              </a:ext>
            </a:extLst>
          </p:cNvPr>
          <p:cNvSpPr>
            <a:spLocks xmlns:a="http://schemas.openxmlformats.org/drawingml/2006/main" noGrp="1"/>
          </p:cNvSpPr>
          <p:nvPr/>
        </p:nvSpPr>
        <p:spPr>
          <a:xfrm xmlns:a="http://schemas.openxmlformats.org/drawingml/2006/main">
            <a:off x="6381750" y="27336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[R3]</a:t>
            </a:r>
          </a:p>
        </p:txBody>
      </p:sp>
      <p:sp>
        <p:nvSpPr>
          <p:cNvPr id="36" name="">
            <a:extLst xmlns:a="http://schemas.openxmlformats.org/drawingml/2006/main">
              <a:ext uri="{FF2B5EF4-FFF2-40B4-BE49-F238E27FC236}">
                <a16:creationId xmlns:a16="http://schemas.microsoft.com/office/drawing/2014/main" id="{621A2382-B770-4AD8-9012-C678F50FAC7E}"/>
              </a:ext>
            </a:extLst>
          </p:cNvPr>
          <p:cNvSpPr>
            <a:spLocks xmlns:a="http://schemas.openxmlformats.org/drawingml/2006/main" noGrp="1"/>
          </p:cNvSpPr>
          <p:nvPr/>
        </p:nvSpPr>
        <p:spPr>
          <a:xfrm xmlns:a="http://schemas.openxmlformats.org/drawingml/2006/main">
            <a:off x="7029450" y="27336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Kalman (1960)</a:t>
            </a:r>
          </a:p>
        </p:txBody>
      </p:sp>
      <p:sp>
        <p:nvSpPr>
          <p:cNvPr id="37" name="">
            <a:extLst xmlns:a="http://schemas.openxmlformats.org/drawingml/2006/main">
              <a:ext uri="{FF2B5EF4-FFF2-40B4-BE49-F238E27FC236}">
                <a16:creationId xmlns:a16="http://schemas.microsoft.com/office/drawing/2014/main" id="{224A22B7-2006-4A98-8A5E-C066CB14F86E}"/>
              </a:ext>
            </a:extLst>
          </p:cNvPr>
          <p:cNvSpPr>
            <a:spLocks xmlns:a="http://schemas.openxmlformats.org/drawingml/2006/main" noGrp="1"/>
          </p:cNvSpPr>
          <p:nvPr/>
        </p:nvSpPr>
        <p:spPr>
          <a:xfrm xmlns:a="http://schemas.openxmlformats.org/drawingml/2006/main">
            <a:off x="7029450" y="29527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Linear filtering and prediction</a:t>
            </a:r>
          </a:p>
        </p:txBody>
      </p:sp>
      <p:sp>
        <p:nvSpPr>
          <p:cNvPr id="38" name="">
            <a:extLst xmlns:a="http://schemas.openxmlformats.org/drawingml/2006/main">
              <a:ext uri="{FF2B5EF4-FFF2-40B4-BE49-F238E27FC236}">
                <a16:creationId xmlns:a16="http://schemas.microsoft.com/office/drawing/2014/main" id="{9C9BABF0-69C6-428B-AF0A-48A1CDE1FE99}"/>
              </a:ext>
            </a:extLst>
          </p:cNvPr>
          <p:cNvSpPr>
            <a:spLocks xmlns:a="http://schemas.openxmlformats.org/drawingml/2006/main" noGrp="1"/>
          </p:cNvSpPr>
          <p:nvPr/>
        </p:nvSpPr>
        <p:spPr>
          <a:xfrm xmlns:a="http://schemas.openxmlformats.org/drawingml/2006/main">
            <a:off x="6381750" y="32289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[R4]</a:t>
            </a:r>
          </a:p>
        </p:txBody>
      </p:sp>
      <p:sp>
        <p:nvSpPr>
          <p:cNvPr id="39" name="">
            <a:extLst xmlns:a="http://schemas.openxmlformats.org/drawingml/2006/main">
              <a:ext uri="{FF2B5EF4-FFF2-40B4-BE49-F238E27FC236}">
                <a16:creationId xmlns:a16="http://schemas.microsoft.com/office/drawing/2014/main" id="{20825F24-2225-4303-AD27-FE0321C1A0A6}"/>
              </a:ext>
            </a:extLst>
          </p:cNvPr>
          <p:cNvSpPr>
            <a:spLocks xmlns:a="http://schemas.openxmlformats.org/drawingml/2006/main" noGrp="1"/>
          </p:cNvSpPr>
          <p:nvPr/>
        </p:nvSpPr>
        <p:spPr>
          <a:xfrm xmlns:a="http://schemas.openxmlformats.org/drawingml/2006/main">
            <a:off x="7029450" y="32289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Van Loan (1978)</a:t>
            </a:r>
          </a:p>
        </p:txBody>
      </p:sp>
      <p:sp>
        <p:nvSpPr>
          <p:cNvPr id="40" name="">
            <a:extLst xmlns:a="http://schemas.openxmlformats.org/drawingml/2006/main">
              <a:ext uri="{FF2B5EF4-FFF2-40B4-BE49-F238E27FC236}">
                <a16:creationId xmlns:a16="http://schemas.microsoft.com/office/drawing/2014/main" id="{FCD49329-7B9E-4677-AC9C-42C8EEEAE530}"/>
              </a:ext>
            </a:extLst>
          </p:cNvPr>
          <p:cNvSpPr>
            <a:spLocks xmlns:a="http://schemas.openxmlformats.org/drawingml/2006/main" noGrp="1"/>
          </p:cNvSpPr>
          <p:nvPr/>
        </p:nvSpPr>
        <p:spPr>
          <a:xfrm xmlns:a="http://schemas.openxmlformats.org/drawingml/2006/main">
            <a:off x="7029450" y="34480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Computing integrals involving the matrix exponential</a:t>
            </a:r>
          </a:p>
        </p:txBody>
      </p:sp>
      <p:sp>
        <p:nvSpPr>
          <p:cNvPr id="41" name="">
            <a:extLst xmlns:a="http://schemas.openxmlformats.org/drawingml/2006/main">
              <a:ext uri="{FF2B5EF4-FFF2-40B4-BE49-F238E27FC236}">
                <a16:creationId xmlns:a16="http://schemas.microsoft.com/office/drawing/2014/main" id="{608B4E38-DCCC-4B44-BA31-7C7C47F3C216}"/>
              </a:ext>
            </a:extLst>
          </p:cNvPr>
          <p:cNvSpPr>
            <a:spLocks xmlns:a="http://schemas.openxmlformats.org/drawingml/2006/main" noGrp="1"/>
          </p:cNvSpPr>
          <p:nvPr/>
        </p:nvSpPr>
        <p:spPr>
          <a:xfrm xmlns:a="http://schemas.openxmlformats.org/drawingml/2006/main">
            <a:off x="6381750" y="37242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[R5]</a:t>
            </a:r>
          </a:p>
        </p:txBody>
      </p:sp>
      <p:sp>
        <p:nvSpPr>
          <p:cNvPr id="42" name="">
            <a:extLst xmlns:a="http://schemas.openxmlformats.org/drawingml/2006/main">
              <a:ext uri="{FF2B5EF4-FFF2-40B4-BE49-F238E27FC236}">
                <a16:creationId xmlns:a16="http://schemas.microsoft.com/office/drawing/2014/main" id="{AD04B078-586D-446E-8221-0201DAE24D93}"/>
              </a:ext>
            </a:extLst>
          </p:cNvPr>
          <p:cNvSpPr>
            <a:spLocks xmlns:a="http://schemas.openxmlformats.org/drawingml/2006/main" noGrp="1"/>
          </p:cNvSpPr>
          <p:nvPr/>
        </p:nvSpPr>
        <p:spPr>
          <a:xfrm xmlns:a="http://schemas.openxmlformats.org/drawingml/2006/main">
            <a:off x="7029450" y="37242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Higham (2005)</a:t>
            </a:r>
          </a:p>
        </p:txBody>
      </p:sp>
      <p:sp>
        <p:nvSpPr>
          <p:cNvPr id="43" name="">
            <a:extLst xmlns:a="http://schemas.openxmlformats.org/drawingml/2006/main">
              <a:ext uri="{FF2B5EF4-FFF2-40B4-BE49-F238E27FC236}">
                <a16:creationId xmlns:a16="http://schemas.microsoft.com/office/drawing/2014/main" id="{8EDBA775-1311-435B-A8FC-1476516906C0}"/>
              </a:ext>
            </a:extLst>
          </p:cNvPr>
          <p:cNvSpPr>
            <a:spLocks xmlns:a="http://schemas.openxmlformats.org/drawingml/2006/main" noGrp="1"/>
          </p:cNvSpPr>
          <p:nvPr/>
        </p:nvSpPr>
        <p:spPr>
          <a:xfrm xmlns:a="http://schemas.openxmlformats.org/drawingml/2006/main">
            <a:off x="7029450" y="39433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Scaling and squaring for the matrix exponential</a:t>
            </a:r>
          </a:p>
        </p:txBody>
      </p:sp>
      <p:sp>
        <p:nvSpPr>
          <p:cNvPr id="44" name="">
            <a:extLst xmlns:a="http://schemas.openxmlformats.org/drawingml/2006/main">
              <a:ext uri="{FF2B5EF4-FFF2-40B4-BE49-F238E27FC236}">
                <a16:creationId xmlns:a16="http://schemas.microsoft.com/office/drawing/2014/main" id="{D1689CCD-50E1-4194-BFC7-E7C84064CE16}"/>
              </a:ext>
            </a:extLst>
          </p:cNvPr>
          <p:cNvSpPr>
            <a:spLocks xmlns:a="http://schemas.openxmlformats.org/drawingml/2006/main" noGrp="1"/>
          </p:cNvSpPr>
          <p:nvPr/>
        </p:nvSpPr>
        <p:spPr>
          <a:xfrm xmlns:a="http://schemas.openxmlformats.org/drawingml/2006/main">
            <a:off x="6381750" y="42195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[R6]</a:t>
            </a:r>
          </a:p>
        </p:txBody>
      </p:sp>
      <p:sp>
        <p:nvSpPr>
          <p:cNvPr id="45" name="">
            <a:extLst xmlns:a="http://schemas.openxmlformats.org/drawingml/2006/main">
              <a:ext uri="{FF2B5EF4-FFF2-40B4-BE49-F238E27FC236}">
                <a16:creationId xmlns:a16="http://schemas.microsoft.com/office/drawing/2014/main" id="{36D6C66C-1319-4A37-9863-589EBCD3DF48}"/>
              </a:ext>
            </a:extLst>
          </p:cNvPr>
          <p:cNvSpPr>
            <a:spLocks xmlns:a="http://schemas.openxmlformats.org/drawingml/2006/main" noGrp="1"/>
          </p:cNvSpPr>
          <p:nvPr/>
        </p:nvSpPr>
        <p:spPr>
          <a:xfrm xmlns:a="http://schemas.openxmlformats.org/drawingml/2006/main">
            <a:off x="7029450" y="42195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Huber (1964)</a:t>
            </a:r>
          </a:p>
        </p:txBody>
      </p:sp>
      <p:sp>
        <p:nvSpPr>
          <p:cNvPr id="46" name="">
            <a:extLst xmlns:a="http://schemas.openxmlformats.org/drawingml/2006/main">
              <a:ext uri="{FF2B5EF4-FFF2-40B4-BE49-F238E27FC236}">
                <a16:creationId xmlns:a16="http://schemas.microsoft.com/office/drawing/2014/main" id="{A86784C3-E91C-46E8-B629-D85BC44829AC}"/>
              </a:ext>
            </a:extLst>
          </p:cNvPr>
          <p:cNvSpPr>
            <a:spLocks xmlns:a="http://schemas.openxmlformats.org/drawingml/2006/main" noGrp="1"/>
          </p:cNvSpPr>
          <p:nvPr/>
        </p:nvSpPr>
        <p:spPr>
          <a:xfrm xmlns:a="http://schemas.openxmlformats.org/drawingml/2006/main">
            <a:off x="7029450" y="44386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Robust estimation of a location parameter</a:t>
            </a:r>
          </a:p>
        </p:txBody>
      </p:sp>
      <p:sp>
        <p:nvSpPr>
          <p:cNvPr id="47" name="">
            <a:extLst xmlns:a="http://schemas.openxmlformats.org/drawingml/2006/main">
              <a:ext uri="{FF2B5EF4-FFF2-40B4-BE49-F238E27FC236}">
                <a16:creationId xmlns:a16="http://schemas.microsoft.com/office/drawing/2014/main" id="{8019D0B0-68A3-4387-AAFA-61A13506D596}"/>
              </a:ext>
            </a:extLst>
          </p:cNvPr>
          <p:cNvSpPr>
            <a:spLocks xmlns:a="http://schemas.openxmlformats.org/drawingml/2006/main" noGrp="1"/>
          </p:cNvSpPr>
          <p:nvPr/>
        </p:nvSpPr>
        <p:spPr>
          <a:xfrm xmlns:a="http://schemas.openxmlformats.org/drawingml/2006/main">
            <a:off x="6381750" y="47148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[R7]</a:t>
            </a:r>
          </a:p>
        </p:txBody>
      </p:sp>
      <p:sp>
        <p:nvSpPr>
          <p:cNvPr id="48" name="">
            <a:extLst xmlns:a="http://schemas.openxmlformats.org/drawingml/2006/main">
              <a:ext uri="{FF2B5EF4-FFF2-40B4-BE49-F238E27FC236}">
                <a16:creationId xmlns:a16="http://schemas.microsoft.com/office/drawing/2014/main" id="{2E2828A4-5C68-4D4E-BA9F-F076193474CF}"/>
              </a:ext>
            </a:extLst>
          </p:cNvPr>
          <p:cNvSpPr>
            <a:spLocks xmlns:a="http://schemas.openxmlformats.org/drawingml/2006/main" noGrp="1"/>
          </p:cNvSpPr>
          <p:nvPr/>
        </p:nvSpPr>
        <p:spPr>
          <a:xfrm xmlns:a="http://schemas.openxmlformats.org/drawingml/2006/main">
            <a:off x="7029450" y="47148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Kingma &amp; Ba (2014)</a:t>
            </a:r>
          </a:p>
        </p:txBody>
      </p:sp>
      <p:sp>
        <p:nvSpPr>
          <p:cNvPr id="49" name="">
            <a:extLst xmlns:a="http://schemas.openxmlformats.org/drawingml/2006/main">
              <a:ext uri="{FF2B5EF4-FFF2-40B4-BE49-F238E27FC236}">
                <a16:creationId xmlns:a16="http://schemas.microsoft.com/office/drawing/2014/main" id="{1C65738C-AD52-493B-BED6-E36402D60592}"/>
              </a:ext>
            </a:extLst>
          </p:cNvPr>
          <p:cNvSpPr>
            <a:spLocks xmlns:a="http://schemas.openxmlformats.org/drawingml/2006/main" noGrp="1"/>
          </p:cNvSpPr>
          <p:nvPr/>
        </p:nvSpPr>
        <p:spPr>
          <a:xfrm xmlns:a="http://schemas.openxmlformats.org/drawingml/2006/main">
            <a:off x="7029450" y="49339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Adam: A Method for Stochastic Optimization</a:t>
            </a:r>
          </a:p>
        </p:txBody>
      </p:sp>
      <p:sp>
        <p:nvSpPr>
          <p:cNvPr id="50" name="">
            <a:extLst xmlns:a="http://schemas.openxmlformats.org/drawingml/2006/main">
              <a:ext uri="{FF2B5EF4-FFF2-40B4-BE49-F238E27FC236}">
                <a16:creationId xmlns:a16="http://schemas.microsoft.com/office/drawing/2014/main" id="{E4190F0F-277D-466A-B8FC-285967FD589C}"/>
              </a:ext>
            </a:extLst>
          </p:cNvPr>
          <p:cNvSpPr>
            <a:spLocks xmlns:a="http://schemas.openxmlformats.org/drawingml/2006/main" noGrp="1"/>
          </p:cNvSpPr>
          <p:nvPr/>
        </p:nvSpPr>
        <p:spPr>
          <a:xfrm xmlns:a="http://schemas.openxmlformats.org/drawingml/2006/main">
            <a:off x="6381750" y="52101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[R8]</a:t>
            </a:r>
          </a:p>
        </p:txBody>
      </p:sp>
      <p:sp>
        <p:nvSpPr>
          <p:cNvPr id="51" name="">
            <a:extLst xmlns:a="http://schemas.openxmlformats.org/drawingml/2006/main">
              <a:ext uri="{FF2B5EF4-FFF2-40B4-BE49-F238E27FC236}">
                <a16:creationId xmlns:a16="http://schemas.microsoft.com/office/drawing/2014/main" id="{7F75C42A-97F8-4370-8BB6-70AE6FDF6236}"/>
              </a:ext>
            </a:extLst>
          </p:cNvPr>
          <p:cNvSpPr>
            <a:spLocks xmlns:a="http://schemas.openxmlformats.org/drawingml/2006/main" noGrp="1"/>
          </p:cNvSpPr>
          <p:nvPr/>
        </p:nvSpPr>
        <p:spPr>
          <a:xfrm xmlns:a="http://schemas.openxmlformats.org/drawingml/2006/main">
            <a:off x="7029450" y="52101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COMSOL documentation</a:t>
            </a:r>
          </a:p>
        </p:txBody>
      </p:sp>
      <p:sp>
        <p:nvSpPr>
          <p:cNvPr id="52" name="">
            <a:extLst xmlns:a="http://schemas.openxmlformats.org/drawingml/2006/main">
              <a:ext uri="{FF2B5EF4-FFF2-40B4-BE49-F238E27FC236}">
                <a16:creationId xmlns:a16="http://schemas.microsoft.com/office/drawing/2014/main" id="{8A6456BB-6862-42A0-BEAC-53A38438627A}"/>
              </a:ext>
            </a:extLst>
          </p:cNvPr>
          <p:cNvSpPr>
            <a:spLocks xmlns:a="http://schemas.openxmlformats.org/drawingml/2006/main" noGrp="1"/>
          </p:cNvSpPr>
          <p:nvPr/>
        </p:nvSpPr>
        <p:spPr>
          <a:xfrm xmlns:a="http://schemas.openxmlformats.org/drawingml/2006/main">
            <a:off x="7029450" y="54292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Electronic Chip Cooling / Nonisothermal Flow</a:t>
            </a:r>
          </a:p>
        </p:txBody>
      </p:sp>
      <p:sp>
        <p:nvSpPr>
          <p:cNvPr id="53" name="">
            <a:extLst xmlns:a="http://schemas.openxmlformats.org/drawingml/2006/main">
              <a:ext uri="{FF2B5EF4-FFF2-40B4-BE49-F238E27FC236}">
                <a16:creationId xmlns:a16="http://schemas.microsoft.com/office/drawing/2014/main" id="{64EE9CD1-AA87-4498-97D2-E620650B4D17}"/>
              </a:ext>
            </a:extLst>
          </p:cNvPr>
          <p:cNvSpPr>
            <a:spLocks xmlns:a="http://schemas.openxmlformats.org/drawingml/2006/main" noGrp="1"/>
          </p:cNvSpPr>
          <p:nvPr/>
        </p:nvSpPr>
        <p:spPr>
          <a:xfrm xmlns:a="http://schemas.openxmlformats.org/drawingml/2006/main">
            <a:off x="552450" y="5695950"/>
            <a:ext cx="11087100" cy="5238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54" name="">
            <a:extLst xmlns:a="http://schemas.openxmlformats.org/drawingml/2006/main">
              <a:ext uri="{FF2B5EF4-FFF2-40B4-BE49-F238E27FC236}">
                <a16:creationId xmlns:a16="http://schemas.microsoft.com/office/drawing/2014/main" id="{6DDFB097-DC09-4D83-A2F9-380956C38018}"/>
              </a:ext>
            </a:extLst>
          </p:cNvPr>
          <p:cNvSpPr>
            <a:spLocks xmlns:a="http://schemas.openxmlformats.org/drawingml/2006/main" noGrp="1"/>
          </p:cNvSpPr>
          <p:nvPr/>
        </p:nvSpPr>
        <p:spPr>
          <a:xfrm xmlns:a="http://schemas.openxmlformats.org/drawingml/2006/main">
            <a:off x="723900" y="581025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1" i="0">
                <a:solidFill>
                  <a:srgbClr val="7B2DAF"/>
                </a:solidFill>
                <a:latin typeface="Yu Gothic"/>
                <a:ea typeface="Yu Gothic"/>
                <a:cs typeface="Yu Gothic"/>
              </a:defRPr>
            </a:pPr>
            <a:r>
              <a:rPr sz="863" b="1" i="0">
                <a:solidFill>
                  <a:srgbClr val="7B2DAF"/>
                </a:solidFill>
                <a:latin typeface="Yu Gothic"/>
                <a:ea typeface="Yu Gothic"/>
                <a:cs typeface="Yu Gothic"/>
              </a:rPr>
              <a:t>Design reference</a:t>
            </a:r>
          </a:p>
        </p:txBody>
      </p:sp>
      <p:sp>
        <p:nvSpPr>
          <p:cNvPr id="55" name="">
            <a:extLst xmlns:a="http://schemas.openxmlformats.org/drawingml/2006/main">
              <a:ext uri="{FF2B5EF4-FFF2-40B4-BE49-F238E27FC236}">
                <a16:creationId xmlns:a16="http://schemas.microsoft.com/office/drawing/2014/main" id="{8F525109-221F-44BC-ABBB-92BF60AC1040}"/>
              </a:ext>
            </a:extLst>
          </p:cNvPr>
          <p:cNvSpPr>
            <a:spLocks xmlns:a="http://schemas.openxmlformats.org/drawingml/2006/main" noGrp="1"/>
          </p:cNvSpPr>
          <p:nvPr/>
        </p:nvSpPr>
        <p:spPr>
          <a:xfrm xmlns:a="http://schemas.openxmlformats.org/drawingml/2006/main">
            <a:off x="2038350" y="57912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Tokyo Electron public IR presentation (visual language only; no logo/template reuse)</a:t>
            </a:r>
          </a:p>
        </p:txBody>
      </p:sp>
    </p:spTree>
    <p:extLst>
      <p:ext uri="{BB962C8B-B14F-4D97-AF65-F5344CB8AC3E}">
        <p14:creationId xmlns:p14="http://schemas.microsoft.com/office/powerpoint/2010/main" val="172865451"/>
      </p:ext>
    </p:extLst>
  </p:cSld>
</p:sld>
</file>

<file path=ppt/theme/theme1.xml><?xml version="1.0" encoding="utf-8"?>
<a:theme xmlns:a="http://schemas.openxmlformats.org/drawingml/2006/main" name="ChatGPT">
  <a:themeElements>
    <a:clrScheme name="Equipment Engineering Review">
      <a:dk1>
        <a:srgbClr val="1B1B1B"/>
      </a:dk1>
      <a:lt1>
        <a:srgbClr val="FFFFFF"/>
      </a:lt1>
      <a:dk2>
        <a:srgbClr val="201445"/>
      </a:dk2>
      <a:lt2>
        <a:srgbClr val="D6D6D6"/>
      </a:lt2>
      <a:accent1>
        <a:srgbClr val="00A5D8"/>
      </a:accent1>
      <a:accent2>
        <a:srgbClr val="76BE18"/>
      </a:accent2>
      <a:accent3>
        <a:srgbClr val="7B2DAF"/>
      </a:accent3>
      <a:accent4>
        <a:srgbClr val="00A89D"/>
      </a:accent4>
      <a:accent5>
        <a:srgbClr val="E5A900"/>
      </a:accent5>
      <a:accent6>
        <a:srgbClr val="C4493D"/>
      </a:accent6>
      <a:hlink>
        <a:srgbClr val="007FA8"/>
      </a:hlink>
      <a:folHlink>
        <a:srgbClr val="7B2DAF"/>
      </a:folHlink>
    </a:clrScheme>
    <a:fontScheme name="Office">
      <a:majorFont>
        <a:latin typeface="Calibri Light"/>
        <a:ea typeface="Calibri Light"/>
        <a:cs typeface="Calibri Light"/>
      </a:majorFont>
      <a:minorFont>
        <a:latin typeface="Calibri"/>
        <a:ea typeface="Calibri"/>
        <a:cs typeface="Calibri"/>
      </a:minorFont>
    </a:fontScheme>
    <a:fmtScheme name="Equipment Engineering Review">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2026-09-17T04:19:06.6190000Z</dcterms:created>
  <dcterms:modified xsi:type="dcterms:W3CDTF">2026-09-17T04:19:06.6190000Z</dcterms:modified>
</coreProperties>
</file>