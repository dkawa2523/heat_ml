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2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3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36d0336da424260" /><Relationship Type="http://schemas.openxmlformats.org/officeDocument/2006/relationships/extended-properties" Target="/docProps/app.xml" Id="R24f3232e17f04e44" /><Relationship Type="http://schemas.openxmlformats.org/officeDocument/2006/relationships/officeDocument" Target="/ppt/presentation.xml" Id="Rb841bb38cdb9446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0a871c371894661"/>
  </p:sldMasterIdLst>
  <p:notesMasterIdLst>
    <p:notesMasterId xmlns:r="http://schemas.openxmlformats.org/officeDocument/2006/relationships" r:id="Re21a39bdef994bf4"/>
  </p:notesMasterIdLst>
  <p:sldIdLst>
    <p:sldId xmlns:r="http://schemas.openxmlformats.org/officeDocument/2006/relationships" id="256" r:id="R2b06897746594f37"/>
    <p:sldId xmlns:r="http://schemas.openxmlformats.org/officeDocument/2006/relationships" id="257" r:id="Re89ce030964c4a89"/>
    <p:sldId xmlns:r="http://schemas.openxmlformats.org/officeDocument/2006/relationships" id="258" r:id="R135fa6e5fe8a4988"/>
    <p:sldId xmlns:r="http://schemas.openxmlformats.org/officeDocument/2006/relationships" id="259" r:id="R26fb1da701214262"/>
    <p:sldId xmlns:r="http://schemas.openxmlformats.org/officeDocument/2006/relationships" id="260" r:id="Rb4fc01c11947473e"/>
    <p:sldId xmlns:r="http://schemas.openxmlformats.org/officeDocument/2006/relationships" id="261" r:id="Rc6ed87fc5416417d"/>
    <p:sldId xmlns:r="http://schemas.openxmlformats.org/officeDocument/2006/relationships" id="262" r:id="R708d39f101ae439c"/>
    <p:sldId xmlns:r="http://schemas.openxmlformats.org/officeDocument/2006/relationships" id="263" r:id="R276f095e32fc4d4e"/>
    <p:sldId xmlns:r="http://schemas.openxmlformats.org/officeDocument/2006/relationships" id="264" r:id="R78392996b7504669"/>
    <p:sldId xmlns:r="http://schemas.openxmlformats.org/officeDocument/2006/relationships" id="265" r:id="R24c5027065604526"/>
    <p:sldId xmlns:r="http://schemas.openxmlformats.org/officeDocument/2006/relationships" id="266" r:id="Rd186f92c373e4db7"/>
    <p:sldId xmlns:r="http://schemas.openxmlformats.org/officeDocument/2006/relationships" id="267" r:id="R03a8931877d34913"/>
    <p:sldId xmlns:r="http://schemas.openxmlformats.org/officeDocument/2006/relationships" id="268" r:id="Raf871e648de94a7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39ee511c6184a85" /><Relationship Type="http://schemas.openxmlformats.org/officeDocument/2006/relationships/slideMaster" Target="/ppt/slideMasters/slideMaster1.xml" Id="R00a871c371894661" /><Relationship Type="http://schemas.openxmlformats.org/officeDocument/2006/relationships/notesMaster" Target="/ppt/notesMasters/notesMaster1.xml" Id="Re21a39bdef994bf4" /><Relationship Type="http://schemas.openxmlformats.org/officeDocument/2006/relationships/presProps" Target="/ppt/presProps.xml" Id="R89661a388e864abd" /><Relationship Type="http://schemas.openxmlformats.org/officeDocument/2006/relationships/tableStyles" Target="/ppt/tableStyles.xml" Id="Rabf82089d35749bd" /><Relationship Type="http://schemas.openxmlformats.org/officeDocument/2006/relationships/slide" Target="/ppt/slides/slide1.xml" Id="R2b06897746594f37" /><Relationship Type="http://schemas.openxmlformats.org/officeDocument/2006/relationships/slide" Target="/ppt/slides/slide2.xml" Id="Re89ce030964c4a89" /><Relationship Type="http://schemas.openxmlformats.org/officeDocument/2006/relationships/slide" Target="/ppt/slides/slide3.xml" Id="R135fa6e5fe8a4988" /><Relationship Type="http://schemas.openxmlformats.org/officeDocument/2006/relationships/slide" Target="/ppt/slides/slide4.xml" Id="R26fb1da701214262" /><Relationship Type="http://schemas.openxmlformats.org/officeDocument/2006/relationships/slide" Target="/ppt/slides/slide5.xml" Id="Rb4fc01c11947473e" /><Relationship Type="http://schemas.openxmlformats.org/officeDocument/2006/relationships/slide" Target="/ppt/slides/slide6.xml" Id="Rc6ed87fc5416417d" /><Relationship Type="http://schemas.openxmlformats.org/officeDocument/2006/relationships/slide" Target="/ppt/slides/slide7.xml" Id="R708d39f101ae439c" /><Relationship Type="http://schemas.openxmlformats.org/officeDocument/2006/relationships/slide" Target="/ppt/slides/slide8.xml" Id="R276f095e32fc4d4e" /><Relationship Type="http://schemas.openxmlformats.org/officeDocument/2006/relationships/slide" Target="/ppt/slides/slide9.xml" Id="R78392996b7504669" /><Relationship Type="http://schemas.openxmlformats.org/officeDocument/2006/relationships/slide" Target="/ppt/slides/slide10.xml" Id="R24c5027065604526" /><Relationship Type="http://schemas.openxmlformats.org/officeDocument/2006/relationships/slide" Target="/ppt/slides/slide11.xml" Id="Rd186f92c373e4db7" /><Relationship Type="http://schemas.openxmlformats.org/officeDocument/2006/relationships/slide" Target="/ppt/slides/slide12.xml" Id="R03a8931877d34913" /><Relationship Type="http://schemas.openxmlformats.org/officeDocument/2006/relationships/slide" Target="/ppt/slides/slide13.xml" Id="Raf871e648de94a7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008d27a6160428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Thermal Cell Technical">
      <a:dk1>
        <a:srgbClr val="000000"/>
      </a:dk1>
      <a:lt1>
        <a:srgbClr val="FFFFFF"/>
      </a:lt1>
      <a:dk2>
        <a:srgbClr val="142735"/>
      </a:dk2>
      <a:lt2>
        <a:srgbClr val="D5DEE3"/>
      </a:lt2>
      <a:accent1>
        <a:srgbClr val="285E8E"/>
      </a:accent1>
      <a:accent2>
        <a:srgbClr val="4F9D9B"/>
      </a:accent2>
      <a:accent3>
        <a:srgbClr val="D6A84B"/>
      </a:accent3>
      <a:accent4>
        <a:srgbClr val="D97963"/>
      </a:accent4>
      <a:accent5>
        <a:srgbClr val="4C8A6E"/>
      </a:accent5>
      <a:accent6>
        <a:srgbClr val="7E6BA8"/>
      </a:accent6>
      <a:hlink>
        <a:srgbClr val="285E8E"/>
      </a:hlink>
      <a:folHlink>
        <a:srgbClr val="7E6BA8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hermal Cell Technic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beaf2b5ac6a4c32" /><Relationship Type="http://schemas.openxmlformats.org/officeDocument/2006/relationships/notesMaster" Target="/ppt/notesMasters/notesMaster1.xml" Id="R89e0baa662f54fd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e333bc11ccf4f5b" /><Relationship Type="http://schemas.openxmlformats.org/officeDocument/2006/relationships/notesMaster" Target="/ppt/notesMasters/notesMaster1.xml" Id="R211dafba45c343b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01fe318251f4b44" /><Relationship Type="http://schemas.openxmlformats.org/officeDocument/2006/relationships/notesMaster" Target="/ppt/notesMasters/notesMaster1.xml" Id="Rade45ea29ca4467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34b2821c0864f22" /><Relationship Type="http://schemas.openxmlformats.org/officeDocument/2006/relationships/notesMaster" Target="/ppt/notesMasters/notesMaster1.xml" Id="R119aeb4d099a4f7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ef842edbe7e457e" /><Relationship Type="http://schemas.openxmlformats.org/officeDocument/2006/relationships/notesMaster" Target="/ppt/notesMasters/notesMaster1.xml" Id="Rfa7e97606ddd4ce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15bcacccaa24a44" /><Relationship Type="http://schemas.openxmlformats.org/officeDocument/2006/relationships/notesMaster" Target="/ppt/notesMasters/notesMaster1.xml" Id="R45a4e0d6c4d54c8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cbcbb66c81a41d5" /><Relationship Type="http://schemas.openxmlformats.org/officeDocument/2006/relationships/notesMaster" Target="/ppt/notesMasters/notesMaster1.xml" Id="R02d00cab120b45e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1aef862060b412e" /><Relationship Type="http://schemas.openxmlformats.org/officeDocument/2006/relationships/notesMaster" Target="/ppt/notesMasters/notesMaster1.xml" Id="R941becb411e9401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a345419354b47c0" /><Relationship Type="http://schemas.openxmlformats.org/officeDocument/2006/relationships/notesMaster" Target="/ppt/notesMasters/notesMaster1.xml" Id="R1641408d45de410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67bc7e9120e4116" /><Relationship Type="http://schemas.openxmlformats.org/officeDocument/2006/relationships/notesMaster" Target="/ppt/notesMasters/notesMaster1.xml" Id="R382e73bab4c4474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41c5a48ae2f40a2" /><Relationship Type="http://schemas.openxmlformats.org/officeDocument/2006/relationships/notesMaster" Target="/ppt/notesMasters/notesMaster1.xml" Id="R73f1584e350c462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26b8d9aa20f4910" /><Relationship Type="http://schemas.openxmlformats.org/officeDocument/2006/relationships/notesMaster" Target="/ppt/notesMasters/notesMaster1.xml" Id="R6855ffa105b1482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1ebc8e5a00145c0" /><Relationship Type="http://schemas.openxmlformats.org/officeDocument/2006/relationships/notesMaster" Target="/ppt/notesMasters/notesMaster1.xml" Id="Rc084975d52e9475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docs/technical_specification.md</a:t>
            </a:r>
          </a:p>
          <a:p xmlns:a="http://schemas.openxmlformats.org/drawingml/2006/main">
            <a:r>
              <a:t>Repository: thermal-cell-practical, commit f1b979f9b57ae2262a74cf26d6ba6b250f7698ab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docs/technical_specification.md sections 2, 3, 9 and 10.</a:t>
            </a:r>
          </a:p>
          <a:p xmlns:a="http://schemas.openxmlformats.org/drawingml/2006/main">
            <a:r>
              <a:t>Implementation responsibility map: src/celltemp/domain, engine, learning and workflows.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external_tools/comsol_chip_cooling/system_nonlinear.yaml</a:t>
            </a:r>
          </a:p>
          <a:p xmlns:a="http://schemas.openxmlformats.org/drawingml/2006/main">
            <a:r>
              <a:t>Source: docs/technical_specification.md sections 4.2 to 4.4 and 6.1.</a:t>
            </a:r>
          </a:p>
          <a:p xmlns:a="http://schemas.openxmlformats.org/drawingml/2006/main">
            <a:r>
              <a:t>Conductance values shown are engineering priors in the system definition, not the fitted high-fidelity values.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docs/technical_specification.md sections 4.2, 4.3, 4.8 and 4.10.</a:t>
            </a:r>
          </a:p>
          <a:p xmlns:a="http://schemas.openxmlformats.org/drawingml/2006/main">
            <a:r>
              <a:t>References: Farina and Rinaldi, Positive Linear Systems; Huang et al., HotSpot compact thermal modeling.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docs/technical_specification.md section 5.</a:t>
            </a:r>
          </a:p>
          <a:p xmlns:a="http://schemas.openxmlformats.org/drawingml/2006/main">
            <a:r>
              <a:t>References: Van Loan (matrix exponential integrals), Higham (scaling and squaring), Dahlquist (A-stability).</a:t>
            </a:r>
          </a:p>
          <a:p xmlns:a="http://schemas.openxmlformats.org/drawingml/2006/main">
            <a:r>
              <a:t>Editable native table on this slide compares the two implemented integrators.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docs/technical_specification.md section 6.</a:t>
            </a:r>
          </a:p>
          <a:p xmlns:a="http://schemas.openxmlformats.org/drawingml/2006/main">
            <a:r>
              <a:t>References: Huber (robust loss), Kingma and Ba (Adam), PyTorch autograd documentation.</a:t>
            </a:r>
          </a:p>
          <a:p xmlns:a="http://schemas.openxmlformats.org/drawingml/2006/main">
            <a:r>
              <a:t>The project uses PyTorch for automatic differentiation and optimization; it does not construct a neural network for the thermal state equation.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docs/technical_specification.md section 7.</a:t>
            </a:r>
          </a:p>
          <a:p xmlns:a="http://schemas.openxmlformats.org/drawingml/2006/main">
            <a:r>
              <a:t>Forecast contract: the first fully unobserved row defines the future suffix; observations may not reappear after that 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docs/technical_specification.md section 8.</a:t>
            </a:r>
          </a:p>
          <a:p xmlns:a="http://schemas.openxmlformats.org/drawingml/2006/main">
            <a:r>
              <a:t>Benchmark source: external_tools/comsol_chip_cooling/reports/cae_benchmark_report/source_data/linear_monitor_metrics.csv</a:t>
            </a:r>
          </a:p>
          <a:p xmlns:a="http://schemas.openxmlformats.org/drawingml/2006/main">
            <a:r>
              <a:t>References: Kalman (1960), Van Loan (1978), Bar-Shalom et al. (2001).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benchmarks/topcell/work/outputs/benchmark/forecast_by_case.csv</a:t>
            </a:r>
          </a:p>
          <a:p xmlns:a="http://schemas.openxmlformats.org/drawingml/2006/main">
            <a:r>
              <a:t>Source: benchmarks/topcell/work/outputs/benchmark/benchmark_summary.json</a:t>
            </a:r>
          </a:p>
          <a:p xmlns:a="http://schemas.openxmlformats.org/drawingml/2006/main">
            <a:r>
              <a:t>The native chart embeds the eleven core-case RMSE values. F11 is not included in the chart because it is an intentional model-gap case.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external_tools/comsol_chip_cooling/reports/cae_benchmark_report/source_data/linear_forecast_metrics.csv</a:t>
            </a:r>
          </a:p>
          <a:p xmlns:a="http://schemas.openxmlformats.org/drawingml/2006/main">
            <a:r>
              <a:t>Source: external_tools/comsol_chip_cooling/data/qa_summary.csv</a:t>
            </a:r>
          </a:p>
          <a:p xmlns:a="http://schemas.openxmlformats.org/drawingml/2006/main">
            <a:r>
              <a:t>The native chart embeds the eight external forecast RMSE values. Reported temperatures are volume averages; hotspot metrics are separate columns in the source 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external_tools/comsol_chip_cooling/data/nonlinear_high_fidelity/benchmark/summary.json</a:t>
            </a:r>
          </a:p>
          <a:p xmlns:a="http://schemas.openxmlformats.org/drawingml/2006/main">
            <a:r>
              <a:t>Source: external_tools/comsol_chip_cooling/reports/cae_benchmark_report/source_data/high_fidelity_case_metrics.csv</a:t>
            </a:r>
          </a:p>
          <a:p xmlns:a="http://schemas.openxmlformats.org/drawingml/2006/main">
            <a:r>
              <a:t>Source: external_tools/comsol_chip_cooling/reports/cae_benchmark_report/source_data/mesh_summary.csv</a:t>
            </a:r>
          </a:p>
          <a:p xmlns:a="http://schemas.openxmlformats.org/drawingml/2006/main">
            <a:r>
              <a:t>The high-fidelity data are permitted for model-form screening only. Mesh, temporal and experimental qualification remain open.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docs/technical_specification.md sections 11 and 12.</a:t>
            </a:r>
          </a:p>
          <a:p xmlns:a="http://schemas.openxmlformats.org/drawingml/2006/main">
            <a:r>
              <a:t>Software quality status reflects the repository fast quality gate observed for the documented revision.</a:t>
            </a:r>
          </a:p>
          <a:p xmlns:a="http://schemas.openxmlformats.org/drawingml/2006/main">
            <a:r>
              <a:t>Editable native table on this slide separates implementation readiness from physical validation status.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Primary specification: docs/technical_specification.md</a:t>
            </a:r>
          </a:p>
          <a:p xmlns:a="http://schemas.openxmlformats.org/drawingml/2006/main">
            <a:r>
              <a:t>R2 https://doi.org/10.1109/TVLSI.2006.876103</a:t>
            </a:r>
          </a:p>
          <a:p xmlns:a="http://schemas.openxmlformats.org/drawingml/2006/main">
            <a:r>
              <a:t>R3 https://onlinelibrary.wiley.com/doi/book/10.1002/9781118033029</a:t>
            </a:r>
          </a:p>
          <a:p xmlns:a="http://schemas.openxmlformats.org/drawingml/2006/main">
            <a:r>
              <a:t>R4 https://doi.org/10.1115/1.3662552</a:t>
            </a:r>
          </a:p>
          <a:p xmlns:a="http://schemas.openxmlformats.org/drawingml/2006/main">
            <a:r>
              <a:t>R5 https://ieeexplore.ieee.org/document/1101743/</a:t>
            </a:r>
          </a:p>
          <a:p xmlns:a="http://schemas.openxmlformats.org/drawingml/2006/main">
            <a:r>
              <a:t>R6 https://epubs.siam.org/doi/10.1137/04061101X</a:t>
            </a:r>
          </a:p>
          <a:p xmlns:a="http://schemas.openxmlformats.org/drawingml/2006/main">
            <a:r>
              <a:t>R8 https://doi.org/10.1007/BF01963532</a:t>
            </a:r>
          </a:p>
          <a:p xmlns:a="http://schemas.openxmlformats.org/drawingml/2006/main">
            <a:r>
              <a:t>R9 https://doi.org/10.1214/aoms/1177703732</a:t>
            </a:r>
          </a:p>
          <a:p xmlns:a="http://schemas.openxmlformats.org/drawingml/2006/main">
            <a:r>
              <a:t>R10 https://arxiv.org/abs/1412.6980</a:t>
            </a:r>
          </a:p>
          <a:p xmlns:a="http://schemas.openxmlformats.org/drawingml/2006/main">
            <a:r>
              <a:t>R16 https://doc.comsol.com/6.4/doc/com.comsol.help.heat/heat_introduction.02.03.html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03054cb51e488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cb1d77e553d4098" /><Relationship Type="http://schemas.openxmlformats.org/officeDocument/2006/relationships/slideLayout" Target="/ppt/slideLayouts/slideLayout1.xml" Id="R5d7561e38c1f433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d7561e38c1f433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Thermal Cell Technical">
      <a:dk1>
        <a:srgbClr val="000000"/>
      </a:dk1>
      <a:lt1>
        <a:srgbClr val="FFFFFF"/>
      </a:lt1>
      <a:dk2>
        <a:srgbClr val="142735"/>
      </a:dk2>
      <a:lt2>
        <a:srgbClr val="D5DEE3"/>
      </a:lt2>
      <a:accent1>
        <a:srgbClr val="285E8E"/>
      </a:accent1>
      <a:accent2>
        <a:srgbClr val="4F9D9B"/>
      </a:accent2>
      <a:accent3>
        <a:srgbClr val="D6A84B"/>
      </a:accent3>
      <a:accent4>
        <a:srgbClr val="D97963"/>
      </a:accent4>
      <a:accent5>
        <a:srgbClr val="4C8A6E"/>
      </a:accent5>
      <a:accent6>
        <a:srgbClr val="7E6BA8"/>
      </a:accent6>
      <a:hlink>
        <a:srgbClr val="285E8E"/>
      </a:hlink>
      <a:folHlink>
        <a:srgbClr val="7E6BA8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hermal Cell Technic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31f5eb189147e2" /><Relationship Type="http://schemas.openxmlformats.org/officeDocument/2006/relationships/notesSlide" Target="/ppt/notesSlides/notesSlide1.xml" Id="R1ff7c5e8e776453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8047bd6bfb472a" /><Relationship Type="http://schemas.openxmlformats.org/officeDocument/2006/relationships/notesSlide" Target="/ppt/notesSlides/notesSlide2.xml" Id="R2e6ac2574ac1496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1a42e22d3a4a7e" /><Relationship Type="http://schemas.openxmlformats.org/officeDocument/2006/relationships/notesSlide" Target="/ppt/notesSlides/notesSlide3.xml" Id="Re3bd74af90f1466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5a98240b8648fc" /><Relationship Type="http://schemas.openxmlformats.org/officeDocument/2006/relationships/notesSlide" Target="/ppt/notesSlides/notesSlide4.xml" Id="R13ad46138d4543a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4ff16b405a44c6" /><Relationship Type="http://schemas.openxmlformats.org/officeDocument/2006/relationships/notesSlide" Target="/ppt/notesSlides/notesSlide5.xml" Id="Rbd3792d2022c4ec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71c12243c34d91" /><Relationship Type="http://schemas.openxmlformats.org/officeDocument/2006/relationships/notesSlide" Target="/ppt/notesSlides/notesSlide6.xml" Id="R30ce9f56b7d142b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a05fd1067c4887" /><Relationship Type="http://schemas.openxmlformats.org/officeDocument/2006/relationships/notesSlide" Target="/ppt/notesSlides/notesSlide7.xml" Id="R852bfb8b738545c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34f56dad864f0d" /><Relationship Type="http://schemas.openxmlformats.org/officeDocument/2006/relationships/notesSlide" Target="/ppt/notesSlides/notesSlide8.xml" Id="Rd93925e9247f479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9251d3b19840c0" /><Relationship Type="http://schemas.openxmlformats.org/officeDocument/2006/relationships/chart" Target="/ppt/slides/charts/chart1.xml" Id="Rbd300c756a7e4877" /><Relationship Type="http://schemas.openxmlformats.org/officeDocument/2006/relationships/notesSlide" Target="/ppt/notesSlides/notesSlide9.xml" Id="R7a9c88c8548f483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93cac718094e73" /><Relationship Type="http://schemas.openxmlformats.org/officeDocument/2006/relationships/chart" Target="/ppt/slides/charts/chart2.xml" Id="R6d21a266f47744c2" /><Relationship Type="http://schemas.openxmlformats.org/officeDocument/2006/relationships/notesSlide" Target="/ppt/notesSlides/notesSlide10.xml" Id="Re7779f39acd74e0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f06780e6164794" /><Relationship Type="http://schemas.openxmlformats.org/officeDocument/2006/relationships/chart" Target="/ppt/slides/charts/chart3.xml" Id="R0fcd5d08bfdb4eaa" /><Relationship Type="http://schemas.openxmlformats.org/officeDocument/2006/relationships/notesSlide" Target="/ppt/notesSlides/notesSlide11.xml" Id="R2c82f49be4f042e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5517ce741b4cfb" /><Relationship Type="http://schemas.openxmlformats.org/officeDocument/2006/relationships/notesSlide" Target="/ppt/notesSlides/notesSlide12.xml" Id="R1fad6346abe643a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363297db834f26" /><Relationship Type="http://schemas.openxmlformats.org/officeDocument/2006/relationships/notesSlide" Target="/ppt/notesSlides/notesSlide13.xml" Id="Rb648d2f64094422f" /></Relationships>
</file>

<file path=ppt/slides/charts/chart1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42735"/>
                </a:solidFill>
              </a:rPr>
              <a:t>外部予測ケース別 RMSE  [K]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 b="1">
              <a:solidFill>
                <a:srgbClr val="142735"/>
              </a:solidFill>
            </a:defRPr>
          </a:pPr>
        </a:p>
      </c:txPr>
    </c:title>
    <c:plotArea>
      <c:barChart>
        <c:barDir val="bar"/>
        <c:grouping val="clustered"/>
        <c:varyColors val="0"/>
        <c:ser>
          <c:idx val="0"/>
          <c:order val="0"/>
          <c:tx>
            <c:v>learned RMSE</c:v>
          </c:tx>
          <c:spPr>
            <a:solidFill xmlns:a="http://schemas.openxmlformats.org/drawingml/2006/main">
              <a:srgbClr val="4F9D9B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4F9D9B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4F9D9B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4F9D9B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4F9D9B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4F9D9B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4F9D9B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4F9D9B"/>
              </a:solidFill>
            </c:spPr>
          </c:dPt>
          <c:dPt>
            <c:idx val="7"/>
            <c:invertIfNegative val="0"/>
            <c:spPr>
              <a:solidFill xmlns:a="http://schemas.openxmlformats.org/drawingml/2006/main">
                <a:srgbClr val="4F9D9B"/>
              </a:solidFill>
            </c:spPr>
          </c:dPt>
          <c:dPt>
            <c:idx val="8"/>
            <c:invertIfNegative val="0"/>
            <c:spPr>
              <a:solidFill xmlns:a="http://schemas.openxmlformats.org/drawingml/2006/main">
                <a:srgbClr val="D97963"/>
              </a:solidFill>
            </c:spPr>
          </c:dPt>
          <c:dPt>
            <c:idx val="9"/>
            <c:invertIfNegative val="0"/>
            <c:spPr>
              <a:solidFill xmlns:a="http://schemas.openxmlformats.org/drawingml/2006/main">
                <a:srgbClr val="4F9D9B"/>
              </a:solidFill>
            </c:spPr>
          </c:dPt>
          <c:dPt>
            <c:idx val="10"/>
            <c:invertIfNegative val="0"/>
            <c:spPr>
              <a:solidFill xmlns:a="http://schemas.openxmlformats.org/drawingml/2006/main">
                <a:srgbClr val="4F9D9B"/>
              </a:solidFill>
            </c:spPr>
          </c:dPt>
          <c:cat>
            <c:strLit>
              <c:ptCount val="11"/>
              <c:pt idx="0">
                <c:v>F01</c:v>
              </c:pt>
              <c:pt idx="1">
                <c:v>F02</c:v>
              </c:pt>
              <c:pt idx="2">
                <c:v>F03</c:v>
              </c:pt>
              <c:pt idx="3">
                <c:v>F04</c:v>
              </c:pt>
              <c:pt idx="4">
                <c:v>F05</c:v>
              </c:pt>
              <c:pt idx="5">
                <c:v>F06</c:v>
              </c:pt>
              <c:pt idx="6">
                <c:v>F07</c:v>
              </c:pt>
              <c:pt idx="7">
                <c:v>F08</c:v>
              </c:pt>
              <c:pt idx="8">
                <c:v>F09</c:v>
              </c:pt>
              <c:pt idx="9">
                <c:v>F10</c:v>
              </c:pt>
              <c:pt idx="10">
                <c:v>F12</c:v>
              </c:pt>
            </c:strLit>
          </c:cat>
          <c:val>
            <c:numLit>
              <c:formatCode>0.000</c:formatCode>
              <c:ptCount val="11"/>
              <c:pt idx="0">
                <c:v>0.031264</c:v>
              </c:pt>
              <c:pt idx="1">
                <c:v>0.011634</c:v>
              </c:pt>
              <c:pt idx="2">
                <c:v>0.027355</c:v>
              </c:pt>
              <c:pt idx="3">
                <c:v>0.005126</c:v>
              </c:pt>
              <c:pt idx="4">
                <c:v>0.024467</c:v>
              </c:pt>
              <c:pt idx="5">
                <c:v>0.03872</c:v>
              </c:pt>
              <c:pt idx="6">
                <c:v>0.031726</c:v>
              </c:pt>
              <c:pt idx="7">
                <c:v>0.010844</c:v>
              </c:pt>
              <c:pt idx="8">
                <c:v>1.302677</c:v>
              </c:pt>
              <c:pt idx="9">
                <c:v>0.050123</c:v>
              </c:pt>
              <c:pt idx="10">
                <c:v>0.038094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3F515D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6ECEF"/>
              </a:solidFill>
              <a:prstDash val="solid"/>
            </a:ln>
          </c:spPr>
        </c:majorGridlines>
        <c:numFmt formatCode="0.00"/>
        <c:majorTickMark val="none"/>
        <c:minorTickMark val="none"/>
        <c:spPr>
          <a:ln xmlns:a="http://schemas.openxmlformats.org/drawingml/2006/main" w="9525">
            <a:solidFill>
              <a:srgbClr val="D5DEE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F7E87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5DEE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3F515D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42735"/>
                </a:solidFill>
              </a:rPr>
              <a:t>外部 forecast RMSE  [K]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 b="1">
              <a:solidFill>
                <a:srgbClr val="142735"/>
              </a:solidFill>
            </a:defRPr>
          </a:pPr>
        </a:p>
      </c:txPr>
    </c:title>
    <c:plotArea>
      <c:barChart>
        <c:barDir val="bar"/>
        <c:grouping val="clustered"/>
        <c:varyColors val="0"/>
        <c:ser>
          <c:idx val="0"/>
          <c:order val="0"/>
          <c:tx>
            <c:v>RMSE</c:v>
          </c:tx>
          <c:spPr>
            <a:solidFill xmlns:a="http://schemas.openxmlformats.org/drawingml/2006/main">
              <a:srgbClr val="285E8E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285E8E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285E8E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285E8E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285E8E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D97963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285E8E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285E8E"/>
              </a:solidFill>
            </c:spPr>
          </c:dPt>
          <c:dPt>
            <c:idx val="7"/>
            <c:invertIfNegative val="0"/>
            <c:spPr>
              <a:solidFill xmlns:a="http://schemas.openxmlformats.org/drawingml/2006/main">
                <a:srgbClr val="285E8E"/>
              </a:solidFill>
            </c:spPr>
          </c:dPt>
          <c:cat>
            <c:strLit>
              <c:ptCount val="8"/>
              <c:pt idx="0">
                <c:v>F01</c:v>
              </c:pt>
              <c:pt idx="1">
                <c:v>F02</c:v>
              </c:pt>
              <c:pt idx="2">
                <c:v>F03</c:v>
              </c:pt>
              <c:pt idx="3">
                <c:v>F04</c:v>
              </c:pt>
              <c:pt idx="4">
                <c:v>F05</c:v>
              </c:pt>
              <c:pt idx="5">
                <c:v>F06</c:v>
              </c:pt>
              <c:pt idx="6">
                <c:v>F07</c:v>
              </c:pt>
              <c:pt idx="7">
                <c:v>F08</c:v>
              </c:pt>
            </c:strLit>
          </c:cat>
          <c:val>
            <c:numLit>
              <c:formatCode>0.000</c:formatCode>
              <c:ptCount val="8"/>
              <c:pt idx="0">
                <c:v>0.006396</c:v>
              </c:pt>
              <c:pt idx="1">
                <c:v>0.024712</c:v>
              </c:pt>
              <c:pt idx="2">
                <c:v>0.014253</c:v>
              </c:pt>
              <c:pt idx="3">
                <c:v>0.020676</c:v>
              </c:pt>
              <c:pt idx="4">
                <c:v>0.082974</c:v>
              </c:pt>
              <c:pt idx="5">
                <c:v>0.058981</c:v>
              </c:pt>
              <c:pt idx="6">
                <c:v>0.03859</c:v>
              </c:pt>
              <c:pt idx="7">
                <c:v>0.043629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3F515D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6ECEF"/>
              </a:solidFill>
              <a:prstDash val="solid"/>
            </a:ln>
          </c:spPr>
        </c:majorGridlines>
        <c:numFmt formatCode="0.00"/>
        <c:majorTickMark val="none"/>
        <c:minorTickMark val="none"/>
        <c:spPr>
          <a:ln xmlns:a="http://schemas.openxmlformats.org/drawingml/2006/main" w="9525">
            <a:solidFill>
              <a:srgbClr val="D5DEE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F7E87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5DEE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3F515D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42735"/>
                </a:solidFill>
              </a:rPr>
              <a:t>High-fidelity external RMSE  [K]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 b="1">
              <a:solidFill>
                <a:srgbClr val="142735"/>
              </a:solidFill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learned</c:v>
          </c:tx>
          <c:spPr>
            <a:solidFill xmlns:a="http://schemas.openxmlformats.org/drawingml/2006/main">
              <a:srgbClr val="4F9D9B"/>
            </a:solidFill>
          </c:spPr>
          <c:cat>
            <c:strLit>
              <c:ptCount val="2"/>
              <c:pt idx="0">
                <c:v>HV01
conjugate</c:v>
              </c:pt>
              <c:pt idx="1">
                <c:v>HV02
radiation</c:v>
              </c:pt>
            </c:strLit>
          </c:cat>
          <c:val>
            <c:numLit>
              <c:formatCode>0.000</c:formatCode>
              <c:ptCount val="2"/>
              <c:pt idx="0">
                <c:v>0.047653</c:v>
              </c:pt>
              <c:pt idx="1">
                <c:v>0.143584</c:v>
              </c:pt>
            </c:numLit>
          </c:val>
        </c:ser>
        <c:ser>
          <c:idx val="1"/>
          <c:order val="1"/>
          <c:tx>
            <c:v>prior</c:v>
          </c:tx>
          <c:spPr>
            <a:solidFill xmlns:a="http://schemas.openxmlformats.org/drawingml/2006/main">
              <a:srgbClr val="D5DEE3"/>
            </a:solidFill>
          </c:spPr>
          <c:cat>
            <c:strLit>
              <c:ptCount val="2"/>
              <c:pt idx="0">
                <c:v>HV01
conjugate</c:v>
              </c:pt>
              <c:pt idx="1">
                <c:v>HV02
radiation</c:v>
              </c:pt>
            </c:strLit>
          </c:cat>
          <c:val>
            <c:numLit>
              <c:formatCode>0.000</c:formatCode>
              <c:ptCount val="2"/>
              <c:pt idx="0">
                <c:v>0.976932</c:v>
              </c:pt>
              <c:pt idx="1">
                <c:v>0.800906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3F515D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5DEE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3F515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.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6ECEF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D5DEE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F7E87"/>
                </a:solidFill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3F515D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27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F75101-B598-4B2B-B99E-7C210D59E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rPr>
              <a:t>THERMAL-CELL-PRACTICAL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681F01-D06E-4282-B995-3A3F82C9B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1028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4F9D9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533770-7492-4F24-B033-AB15BE1F9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9334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3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熱RCモデルによる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3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3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温度同定・予測・状態監視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A35AF2-CAA8-4ED0-8BE3-55A339F48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00425"/>
            <a:ext cx="895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D8E4E9"/>
                </a:solidFill>
                <a:latin typeface="Noto Sans JP"/>
                <a:ea typeface="Noto Sans JP"/>
                <a:cs typeface="Noto Sans JP"/>
              </a:defRPr>
            </a:pPr>
            <a:r>
              <a:rPr sz="1650" b="0">
                <a:solidFill>
                  <a:srgbClr val="D8E4E9"/>
                </a:solidFill>
                <a:latin typeface="Noto Sans JP"/>
                <a:ea typeface="Noto Sans JP"/>
                <a:cs typeface="Noto Sans JP"/>
              </a:rPr>
              <a:t>物理モデル、数値計算、機械学習、CAEベンチマークの技術レビュー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2F6D4B-A9F2-4BC8-B41D-14163CAC3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434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60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20BACD-E12A-498F-BDEE-039F875CD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rPr>
              <a:t>対象仕様書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D31640-CEEE-41CC-9798-DC2872C56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1275" b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docs/technical_specification.md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29CA48-7733-4B93-ACEE-CC1E25F50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962650"/>
            <a:ext cx="1885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0">
                <a:solidFill>
                  <a:srgbClr val="AFC2CB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AFC2CB"/>
                </a:solidFill>
                <a:latin typeface="Noto Sans JP"/>
                <a:ea typeface="Noto Sans JP"/>
                <a:cs typeface="Noto Sans JP"/>
              </a:rPr>
              <a:t>2026-09-16</a:t>
            </a:r>
          </a:p>
        </p:txBody>
      </p:sp>
    </p:spTree>
    <p:extLst>
      <p:ext uri="{BB962C8B-B14F-4D97-AF65-F5344CB8AC3E}">
        <p14:creationId xmlns:p14="http://schemas.microsoft.com/office/powerpoint/2010/main" val="156926161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C4BB957-EAF2-463E-BFD5-B45A2EE5C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rPr>
              <a:t>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3A4E6F-E981-4077-83D8-9D1A15DFE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0" rIns="28575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42735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142735"/>
                </a:solidFill>
                <a:latin typeface="Yu Gothic"/>
                <a:ea typeface="Yu Gothic"/>
                <a:cs typeface="Yu Gothic"/>
              </a:rPr>
              <a:t>同じ物理状態定義を学習・予測・監視で共有する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CD303D-E960-4106-952A-A49BC35F1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1075"/>
            <a:ext cx="1057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オフライン同定とオンライン推論を、データ契約と評価ゲートで接続する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29A278-BC74-4DD4-A1CB-F25CE88CA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DEE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DE0935-68E0-4DC8-840B-432B51C09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25" b="1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1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CBFC19-3DC4-4990-A307-99E3E767B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43100"/>
            <a:ext cx="1866900" cy="2238375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EE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1F2C01-E329-4948-A1ED-533852F8F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8597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285E8E"/>
                </a:solidFill>
                <a:latin typeface="Noto Sans JP"/>
                <a:ea typeface="Noto Sans JP"/>
                <a:cs typeface="Noto Sans JP"/>
              </a:defRPr>
            </a:pPr>
            <a:r>
              <a:rPr sz="975" b="1">
                <a:solidFill>
                  <a:srgbClr val="285E8E"/>
                </a:solidFill>
                <a:latin typeface="Noto Sans JP"/>
                <a:ea typeface="Noto Sans JP"/>
                <a:cs typeface="Noto Sans JP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94F7FD-9F45-409C-8CD2-EB9B7531E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152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42735"/>
                </a:solidFill>
                <a:latin typeface="Noto Sans JP"/>
                <a:ea typeface="Noto Sans JP"/>
                <a:cs typeface="Noto Sans JP"/>
              </a:defRPr>
            </a:pPr>
            <a:r>
              <a:rPr sz="1650" b="1">
                <a:solidFill>
                  <a:srgbClr val="142735"/>
                </a:solidFill>
                <a:latin typeface="Noto Sans JP"/>
                <a:ea typeface="Noto Sans JP"/>
                <a:cs typeface="Noto Sans JP"/>
              </a:rPr>
              <a:t>データ契約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76FEA4-3264-4948-BDD0-E1A27C117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43225"/>
            <a:ext cx="1524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85E8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EF823E-A75F-47CC-B9BE-E8C373A5D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52775"/>
            <a:ext cx="15240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CSV / YAML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単位・時刻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欠測mask・ZOH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278D26-5833-49C1-A318-910F00275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943100"/>
            <a:ext cx="1866900" cy="2238375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EE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EABCC8-F5B6-41B7-B65A-045FE4205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08597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4F9D9B"/>
                </a:solidFill>
                <a:latin typeface="Noto Sans JP"/>
                <a:ea typeface="Noto Sans JP"/>
                <a:cs typeface="Noto Sans JP"/>
              </a:defRPr>
            </a:pPr>
            <a:r>
              <a:rPr sz="975" b="1">
                <a:solidFill>
                  <a:srgbClr val="4F9D9B"/>
                </a:solidFill>
                <a:latin typeface="Noto Sans JP"/>
                <a:ea typeface="Noto Sans JP"/>
                <a:cs typeface="Noto Sans JP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CA249A-C713-4D44-BA56-A441EDD7B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57450"/>
            <a:ext cx="152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42735"/>
                </a:solidFill>
                <a:latin typeface="Noto Sans JP"/>
                <a:ea typeface="Noto Sans JP"/>
                <a:cs typeface="Noto Sans JP"/>
              </a:defRPr>
            </a:pPr>
            <a:r>
              <a:rPr sz="1650" b="1">
                <a:solidFill>
                  <a:srgbClr val="142735"/>
                </a:solidFill>
                <a:latin typeface="Noto Sans JP"/>
                <a:ea typeface="Noto Sans JP"/>
                <a:cs typeface="Noto Sans JP"/>
              </a:rPr>
              <a:t>物理同定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D573B5-9120-4E3E-B171-82080B45C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943225"/>
            <a:ext cx="1524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F9D9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5D922E-EC01-4422-BAA7-1A66ABA98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52775"/>
            <a:ext cx="15240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RC rollout / Huber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Adam最適化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因果validation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0E5BF2-4A9A-442F-8AFF-32FC500B3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43100"/>
            <a:ext cx="1866900" cy="2238375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EE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814D9D-7E18-4F53-BC7E-E6614C2C8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08597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4C8A6E"/>
                </a:solidFill>
                <a:latin typeface="Noto Sans JP"/>
                <a:ea typeface="Noto Sans JP"/>
                <a:cs typeface="Noto Sans JP"/>
              </a:defRPr>
            </a:pPr>
            <a:r>
              <a:rPr sz="975" b="1">
                <a:solidFill>
                  <a:srgbClr val="4C8A6E"/>
                </a:solidFill>
                <a:latin typeface="Noto Sans JP"/>
                <a:ea typeface="Noto Sans JP"/>
                <a:cs typeface="Noto Sans JP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B4DCFC-86F6-48BF-9FF7-A90F00E09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457450"/>
            <a:ext cx="152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42735"/>
                </a:solidFill>
                <a:latin typeface="Noto Sans JP"/>
                <a:ea typeface="Noto Sans JP"/>
                <a:cs typeface="Noto Sans JP"/>
              </a:defRPr>
            </a:pPr>
            <a:r>
              <a:rPr sz="1650" b="1">
                <a:solidFill>
                  <a:srgbClr val="142735"/>
                </a:solidFill>
                <a:latin typeface="Noto Sans JP"/>
                <a:ea typeface="Noto Sans JP"/>
                <a:cs typeface="Noto Sans JP"/>
              </a:rPr>
              <a:t>将来予測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DF9D8C-463C-4C5E-8032-1553DFEC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943225"/>
            <a:ext cx="1524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C8A6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E932E3-7250-477C-B671-7289D83A6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152775"/>
            <a:ext cx="15240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履歴同化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開ループsuffix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状態共分散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205519-1FAF-4D13-8C12-05D93D524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943100"/>
            <a:ext cx="1866900" cy="2238375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EE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BBCB35-DC23-4B25-B7F8-8F8069CD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08597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D6A84B"/>
                </a:solidFill>
                <a:latin typeface="Noto Sans JP"/>
                <a:ea typeface="Noto Sans JP"/>
                <a:cs typeface="Noto Sans JP"/>
              </a:defRPr>
            </a:pPr>
            <a:r>
              <a:rPr sz="975" b="1">
                <a:solidFill>
                  <a:srgbClr val="D6A84B"/>
                </a:solidFill>
                <a:latin typeface="Noto Sans JP"/>
                <a:ea typeface="Noto Sans JP"/>
                <a:cs typeface="Noto Sans JP"/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EDEDB9-4CF7-4A78-B86F-5380B0E9A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457450"/>
            <a:ext cx="152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42735"/>
                </a:solidFill>
                <a:latin typeface="Noto Sans JP"/>
                <a:ea typeface="Noto Sans JP"/>
                <a:cs typeface="Noto Sans JP"/>
              </a:defRPr>
            </a:pPr>
            <a:r>
              <a:rPr sz="1650" b="1">
                <a:solidFill>
                  <a:srgbClr val="142735"/>
                </a:solidFill>
                <a:latin typeface="Noto Sans JP"/>
                <a:ea typeface="Noto Sans JP"/>
                <a:cs typeface="Noto Sans JP"/>
              </a:rPr>
              <a:t>状態監視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95BD04-0D7E-414D-9A67-051838F9B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943225"/>
            <a:ext cx="1524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6A84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69C762-B242-43D0-8CB5-B8F770319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152775"/>
            <a:ext cx="15240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Kalman update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未知熱・sensor bias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innovation・NIS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221153-AF47-4030-AFFC-CFA10B962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943100"/>
            <a:ext cx="1866900" cy="2238375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EE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F0BC5-C50A-4319-B1A1-C0DD02EFA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08597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D97963"/>
                </a:solidFill>
                <a:latin typeface="Noto Sans JP"/>
                <a:ea typeface="Noto Sans JP"/>
                <a:cs typeface="Noto Sans JP"/>
              </a:defRPr>
            </a:pPr>
            <a:r>
              <a:rPr sz="975" b="1">
                <a:solidFill>
                  <a:srgbClr val="D97963"/>
                </a:solidFill>
                <a:latin typeface="Noto Sans JP"/>
                <a:ea typeface="Noto Sans JP"/>
                <a:cs typeface="Noto Sans JP"/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17E371-EEBA-469A-96FC-A2E7CD414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457450"/>
            <a:ext cx="152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42735"/>
                </a:solidFill>
                <a:latin typeface="Noto Sans JP"/>
                <a:ea typeface="Noto Sans JP"/>
                <a:cs typeface="Noto Sans JP"/>
              </a:defRPr>
            </a:pPr>
            <a:r>
              <a:rPr sz="1650" b="1">
                <a:solidFill>
                  <a:srgbClr val="142735"/>
                </a:solidFill>
                <a:latin typeface="Noto Sans JP"/>
                <a:ea typeface="Noto Sans JP"/>
                <a:cs typeface="Noto Sans JP"/>
              </a:rPr>
              <a:t>適用判定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EDB42C5-5415-4465-A0E7-9FCAD9447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943225"/>
            <a:ext cx="1524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79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803F522-9ABA-4BBE-9047-E689210A6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152775"/>
            <a:ext cx="15240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外部RMSE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model gap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CAE・実験</a:t>
            </a:r>
          </a:p>
        </p:txBody>
      </p:sp>
      <p:cxnSp>
        <p:nvCxnSpPr>
          <p:cNvPr id="78" name=""/>
          <p:cNvCxnSpPr>
            <a:stCxn xmlns:a="http://schemas.openxmlformats.org/drawingml/2006/main" id="6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2533650" y="3062288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F7E87"/>
            </a:solidFill>
            <a:prstDash val="solid"/>
            <a:tailEnd type="triangle" w="sm" len="sm"/>
          </a:ln>
        </p:spPr>
      </p:cxnSp>
      <p:cxnSp>
        <p:nvCxnSpPr>
          <p:cNvPr id="79" name=""/>
          <p:cNvCxnSpPr>
            <a:stCxn xmlns:a="http://schemas.openxmlformats.org/drawingml/2006/main" id="11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4724400" y="3062288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F7E87"/>
            </a:solidFill>
            <a:prstDash val="solid"/>
            <a:tailEnd type="triangle" w="sm" len="sm"/>
          </a:ln>
        </p:spPr>
      </p:cxnSp>
      <p:cxnSp>
        <p:nvCxnSpPr>
          <p:cNvPr id="80" name=""/>
          <p:cNvCxnSpPr>
            <a:stCxn xmlns:a="http://schemas.openxmlformats.org/drawingml/2006/main" id="16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6915150" y="3062288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F7E87"/>
            </a:solidFill>
            <a:prstDash val="solid"/>
            <a:tailEnd type="triangle" w="sm" len="sm"/>
          </a:ln>
        </p:spPr>
      </p:cxnSp>
      <p:cxnSp>
        <p:nvCxnSpPr>
          <p:cNvPr id="81" name=""/>
          <p:cNvCxnSpPr>
            <a:stCxn xmlns:a="http://schemas.openxmlformats.org/drawingml/2006/main" id="21" idx="3"/>
            <a:endCxn xmlns:a="http://schemas.openxmlformats.org/drawingml/2006/main" id="26" idx="1"/>
          </p:cNvCxnSpPr>
          <p:nvPr/>
        </p:nvCxnSpPr>
        <p:spPr>
          <a:xfrm xmlns:a="http://schemas.openxmlformats.org/drawingml/2006/main">
            <a:off x="9105900" y="3062288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F7E87"/>
            </a:solidFill>
            <a:prstDash val="solid"/>
            <a:tailEnd type="triangle" w="sm" len="sm"/>
          </a:ln>
        </p:spPr>
      </p:cxn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65751C6-3A11-463C-BCD9-97DB703C5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524000"/>
            <a:ext cx="10668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285E8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C38D5F7-F1D4-4708-A5AD-44A305580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533525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1">
                <a:solidFill>
                  <a:srgbClr val="285E8E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1">
                <a:solidFill>
                  <a:srgbClr val="285E8E"/>
                </a:solidFill>
                <a:latin typeface="Noto Sans JP"/>
                <a:ea typeface="Noto Sans JP"/>
                <a:cs typeface="Noto Sans JP"/>
              </a:rPr>
              <a:t>OFFLINE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5DBFE04-C7CB-4D4A-B095-32EB09F4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1524000"/>
            <a:ext cx="10668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ECE6"/>
          </a:solidFill>
          <a:ln xmlns:a="http://schemas.openxmlformats.org/drawingml/2006/main" w="9525">
            <a:solidFill>
              <a:srgbClr val="4C8A6E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496C942-4687-42DD-BFF5-77C946AC4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533525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1">
                <a:solidFill>
                  <a:srgbClr val="4C8A6E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1">
                <a:solidFill>
                  <a:srgbClr val="4C8A6E"/>
                </a:solidFill>
                <a:latin typeface="Noto Sans JP"/>
                <a:ea typeface="Noto Sans JP"/>
                <a:cs typeface="Noto Sans JP"/>
              </a:rPr>
              <a:t>ONLINE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EC976AA-6CA8-44C0-A3FB-14FDB374C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524000"/>
            <a:ext cx="10668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DFDA"/>
          </a:solidFill>
          <a:ln xmlns:a="http://schemas.openxmlformats.org/drawingml/2006/main" w="9525">
            <a:solidFill>
              <a:srgbClr val="D979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85AFAB5-EDB0-428E-9863-2B3F105F1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1533525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1">
                <a:solidFill>
                  <a:srgbClr val="D97963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1">
                <a:solidFill>
                  <a:srgbClr val="D97963"/>
                </a:solidFill>
                <a:latin typeface="Noto Sans JP"/>
                <a:ea typeface="Noto Sans JP"/>
                <a:cs typeface="Noto Sans JP"/>
              </a:rPr>
              <a:t>EVIDENCE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6BBFFD7-E973-4CC9-831A-7273D2ECD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0"/>
            <a:ext cx="10629900" cy="1285875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427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0560B5A-707F-4881-9089-284CA85E4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52975"/>
            <a:ext cx="1571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rPr>
              <a:t>共有される中核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07CCB81-9F71-4817-97FA-120FFC4C4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153025"/>
            <a:ext cx="1762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Cambria Math"/>
                <a:ea typeface="Cambria Math"/>
                <a:cs typeface="Cambria Math"/>
              </a:defRPr>
            </a:pPr>
            <a:r>
              <a:rPr sz="1500" b="1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T  ノード温度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32E1AF3-77D8-4E5C-833C-08077B89E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153025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Cambria Math"/>
                <a:ea typeface="Cambria Math"/>
                <a:cs typeface="Cambria Math"/>
              </a:defRPr>
            </a:pPr>
            <a:r>
              <a:rPr sz="1500" b="1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C  熱容量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739B7AA-FEF9-4B8E-BD2A-6795EDB69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5153025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Cambria Math"/>
                <a:ea typeface="Cambria Math"/>
                <a:cs typeface="Cambria Math"/>
              </a:defRPr>
            </a:pPr>
            <a:r>
              <a:rPr sz="1500" b="1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G  コンダクタンス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CE147F4-2C15-464E-B596-83B3DEB56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153025"/>
            <a:ext cx="1762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Cambria Math"/>
                <a:ea typeface="Cambria Math"/>
                <a:cs typeface="Cambria Math"/>
              </a:defRPr>
            </a:pPr>
            <a:r>
              <a:rPr sz="1500" b="1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H  観測行列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3D0B50B-25A9-4FBC-A854-D4A1D82B8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153025"/>
            <a:ext cx="1857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D8E4E9"/>
                </a:solidFill>
                <a:latin typeface="Noto Sans JP"/>
                <a:ea typeface="Noto Sans JP"/>
                <a:cs typeface="Noto Sans JP"/>
              </a:defRPr>
            </a:pPr>
            <a:r>
              <a:rPr sz="1350" b="1">
                <a:solidFill>
                  <a:srgbClr val="D8E4E9"/>
                </a:solidFill>
                <a:latin typeface="Noto Sans JP"/>
                <a:ea typeface="Noto Sans JP"/>
                <a:cs typeface="Noto Sans JP"/>
              </a:rPr>
              <a:t>system schema v3</a:t>
            </a:r>
          </a:p>
        </p:txBody>
      </p:sp>
    </p:spTree>
    <p:extLst>
      <p:ext uri="{BB962C8B-B14F-4D97-AF65-F5344CB8AC3E}">
        <p14:creationId xmlns:p14="http://schemas.microsoft.com/office/powerpoint/2010/main" val="196921894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DE5EC1B-F89F-435E-A268-9C61BE9B1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rPr>
              <a:t>PHYSICS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6B6C37-C459-4F75-A120-4963D85F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0" rIns="28575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42735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142735"/>
                </a:solidFill>
                <a:latin typeface="Yu Gothic"/>
                <a:ea typeface="Yu Gothic"/>
                <a:cs typeface="Yu Gothic"/>
              </a:rPr>
              <a:t>COMSOL評価用の3ノード集中定数伝熱回路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BCD0D8-6045-414C-9001-258119E30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1075"/>
            <a:ext cx="1057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熱容量は物性・体積から固定し、内部および境界コンダクタンスを同定する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95268C-66D5-469B-B7E9-0E622D6C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DEE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3B4082-99B5-4EE6-9E42-1A1F05234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25" b="1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1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C02AFF-F135-472D-A537-3E41717AE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686050"/>
            <a:ext cx="123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D97963"/>
                </a:solidFill>
                <a:latin typeface="Cambria Math"/>
                <a:ea typeface="Cambria Math"/>
                <a:cs typeface="Cambria Math"/>
              </a:defRPr>
            </a:pPr>
            <a:r>
              <a:rPr sz="1650" b="1">
                <a:solidFill>
                  <a:srgbClr val="D97963"/>
                </a:solidFill>
                <a:latin typeface="Cambria Math"/>
                <a:ea typeface="Cambria Math"/>
                <a:cs typeface="Cambria Math"/>
              </a:rPr>
              <a:t>Pchip(t)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F551A0-5C79-4B47-9E2E-79A3EAB73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105150"/>
            <a:ext cx="93345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DFDA"/>
          </a:solidFill>
          <a:ln xmlns:a="http://schemas.openxmlformats.org/drawingml/2006/main" w="19050">
            <a:solidFill>
              <a:srgbClr val="D979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B77F60-7AF3-4AE7-9B19-DBBAE7153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152775"/>
            <a:ext cx="819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B9574A"/>
                </a:solidFill>
                <a:latin typeface="Noto Sans JP"/>
                <a:ea typeface="Noto Sans JP"/>
                <a:cs typeface="Noto Sans JP"/>
              </a:defRPr>
            </a:pPr>
            <a:r>
              <a:rPr sz="1125" b="1">
                <a:solidFill>
                  <a:srgbClr val="B9574A"/>
                </a:solidFill>
                <a:latin typeface="Noto Sans JP"/>
                <a:ea typeface="Noto Sans JP"/>
                <a:cs typeface="Noto Sans JP"/>
              </a:rPr>
              <a:t>発熱入力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8492CA-2BA6-4F91-BBB7-B54A134D7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266950"/>
            <a:ext cx="1962150" cy="16764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4DFDA"/>
          </a:solidFill>
          <a:ln xmlns:a="http://schemas.openxmlformats.org/drawingml/2006/main" w="19050">
            <a:solidFill>
              <a:srgbClr val="D979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E4AD91-765E-4E46-8361-CEFCD187F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466975"/>
            <a:ext cx="15811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B9574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B9574A"/>
                </a:solidFill>
                <a:latin typeface="Noto Sans JP"/>
                <a:ea typeface="Noto Sans JP"/>
                <a:cs typeface="Noto Sans JP"/>
              </a:rPr>
              <a:t>chip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D94871-389C-4FDD-A145-063534A73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943225"/>
            <a:ext cx="1581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42735"/>
                </a:solidFill>
                <a:latin typeface="Cambria Math"/>
                <a:ea typeface="Cambria Math"/>
                <a:cs typeface="Cambria Math"/>
              </a:defRPr>
            </a:pPr>
            <a:r>
              <a:rPr sz="2025" b="1">
                <a:solidFill>
                  <a:srgbClr val="142735"/>
                </a:solidFill>
                <a:latin typeface="Cambria Math"/>
                <a:ea typeface="Cambria Math"/>
                <a:cs typeface="Cambria Math"/>
              </a:rPr>
              <a:t>Tchip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584A06-E23B-4541-A1F9-729270479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476625"/>
            <a:ext cx="1581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C = 10.43392 J/K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37C402-19FD-4528-9CCA-402AF6BF4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790825"/>
            <a:ext cx="1219200" cy="6286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6A84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C618C6-C6FD-43D1-87FA-F22EF5A96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2838450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9722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D6A84B"/>
                </a:solidFill>
                <a:latin typeface="Cambria Math"/>
                <a:ea typeface="Cambria Math"/>
                <a:cs typeface="Cambria Math"/>
              </a:defRPr>
            </a:pPr>
            <a:r>
              <a:rPr sz="1350" b="1">
                <a:solidFill>
                  <a:srgbClr val="D6A84B"/>
                </a:solidFill>
                <a:latin typeface="Cambria Math"/>
                <a:ea typeface="Cambria Math"/>
                <a:cs typeface="Cambria Math"/>
              </a:rPr>
              <a:t>G₁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F0DDDB-5D78-4128-BFE4-428E1A14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105150"/>
            <a:ext cx="99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97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40 W/K prior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6A2546-C228-4E30-906C-B17F58C46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266950"/>
            <a:ext cx="1962150" cy="16764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4EAD4"/>
          </a:solidFill>
          <a:ln xmlns:a="http://schemas.openxmlformats.org/drawingml/2006/main" w="19050">
            <a:solidFill>
              <a:srgbClr val="D6A84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8A7C72-C688-4BDA-8AB9-A88285701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466975"/>
            <a:ext cx="15811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9A7326"/>
                </a:solidFill>
                <a:latin typeface="Noto Sans JP"/>
                <a:ea typeface="Noto Sans JP"/>
                <a:cs typeface="Noto Sans JP"/>
              </a:defRPr>
            </a:pPr>
            <a:r>
              <a:rPr sz="1650" b="1">
                <a:solidFill>
                  <a:srgbClr val="9A7326"/>
                </a:solidFill>
                <a:latin typeface="Noto Sans JP"/>
                <a:ea typeface="Noto Sans JP"/>
                <a:cs typeface="Noto Sans JP"/>
              </a:rPr>
              <a:t>sink_base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FC33E1-1312-4527-B781-1DF714330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943225"/>
            <a:ext cx="1581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42735"/>
                </a:solidFill>
                <a:latin typeface="Cambria Math"/>
                <a:ea typeface="Cambria Math"/>
                <a:cs typeface="Cambria Math"/>
              </a:defRPr>
            </a:pPr>
            <a:r>
              <a:rPr sz="2025" b="1">
                <a:solidFill>
                  <a:srgbClr val="142735"/>
                </a:solidFill>
                <a:latin typeface="Cambria Math"/>
                <a:ea typeface="Cambria Math"/>
                <a:cs typeface="Cambria Math"/>
              </a:rPr>
              <a:t>Tbase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4A5CC3-0241-46C1-8D2D-84BE29DD2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476625"/>
            <a:ext cx="1581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C = 24.3 J/K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5A1B1F-6B6F-4E4B-BB0F-59F7DF0B8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90825"/>
            <a:ext cx="1219200" cy="6286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4F9D9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656A3E-8D50-458F-BA69-D82CA89E6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38450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9722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4F9D9B"/>
                </a:solidFill>
                <a:latin typeface="Cambria Math"/>
                <a:ea typeface="Cambria Math"/>
                <a:cs typeface="Cambria Math"/>
              </a:defRPr>
            </a:pPr>
            <a:r>
              <a:rPr sz="1350" b="1">
                <a:solidFill>
                  <a:srgbClr val="4F9D9B"/>
                </a:solidFill>
                <a:latin typeface="Cambria Math"/>
                <a:ea typeface="Cambria Math"/>
                <a:cs typeface="Cambria Math"/>
              </a:rPr>
              <a:t>G₂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D56ADC-FE64-478E-B1B4-12735539F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3105150"/>
            <a:ext cx="99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97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12 W/K prior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AB3B17-E1E9-4FBE-A104-A13369C1C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2266950"/>
            <a:ext cx="1790700" cy="16764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DCEDEC"/>
          </a:solidFill>
          <a:ln xmlns:a="http://schemas.openxmlformats.org/drawingml/2006/main" w="19050">
            <a:solidFill>
              <a:srgbClr val="4F9D9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03C897-2767-4265-95D9-E40B423E1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2466975"/>
            <a:ext cx="1409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337B79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337B79"/>
                </a:solidFill>
                <a:latin typeface="Noto Sans JP"/>
                <a:ea typeface="Noto Sans JP"/>
                <a:cs typeface="Noto Sans JP"/>
              </a:rPr>
              <a:t>fins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C006C23-B7C0-49FD-A2E7-D63B394BD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2943225"/>
            <a:ext cx="1409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42735"/>
                </a:solidFill>
                <a:latin typeface="Cambria Math"/>
                <a:ea typeface="Cambria Math"/>
                <a:cs typeface="Cambria Math"/>
              </a:defRPr>
            </a:pPr>
            <a:r>
              <a:rPr sz="2025" b="1">
                <a:solidFill>
                  <a:srgbClr val="142735"/>
                </a:solidFill>
                <a:latin typeface="Cambria Math"/>
                <a:ea typeface="Cambria Math"/>
                <a:cs typeface="Cambria Math"/>
              </a:rPr>
              <a:t>Tfins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B6161E-8FC5-4208-8272-57BA05E9F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34766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C = 46.17 J/K</a:t>
            </a:r>
          </a:p>
        </p:txBody>
      </p:sp>
      <p:cxnSp>
        <p:nvCxnSpPr>
          <p:cNvPr id="71" name=""/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 flipV="1">
            <a:off x="1533525" y="3105150"/>
            <a:ext cx="609600" cy="2286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97963"/>
            </a:solidFill>
            <a:prstDash val="solid"/>
            <a:tailEnd type="triangle" w="sm" len="sm"/>
          </a:ln>
        </p:spPr>
      </p:cxnSp>
      <p:cxnSp>
        <p:nvCxnSpPr>
          <p:cNvPr id="72" name=""/>
          <p:cNvCxnSpPr>
            <a:stCxn xmlns:a="http://schemas.openxmlformats.org/drawingml/2006/main" id="9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4105275" y="3105150"/>
            <a:ext cx="3143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6A84B"/>
            </a:solidFill>
            <a:prstDash val="solid"/>
          </a:ln>
        </p:spPr>
      </p:cxnSp>
      <p:cxnSp>
        <p:nvCxnSpPr>
          <p:cNvPr id="73" name=""/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5638800" y="3105150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6A84B"/>
            </a:solidFill>
            <a:prstDash val="solid"/>
          </a:ln>
        </p:spPr>
      </p:cxnSp>
      <p:cxnSp>
        <p:nvCxnSpPr>
          <p:cNvPr id="74" name=""/>
          <p:cNvCxnSpPr>
            <a:stCxn xmlns:a="http://schemas.openxmlformats.org/drawingml/2006/main" id="16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7924800" y="3105150"/>
            <a:ext cx="3143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4F9D9B"/>
            </a:solidFill>
            <a:prstDash val="solid"/>
          </a:ln>
        </p:spPr>
      </p:cxnSp>
      <p:cxnSp>
        <p:nvCxnSpPr>
          <p:cNvPr id="75" name=""/>
          <p:cNvCxnSpPr>
            <a:stCxn xmlns:a="http://schemas.openxmlformats.org/drawingml/2006/main" id="20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9458325" y="3105150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4F9D9B"/>
            </a:solidFill>
            <a:prstDash val="solid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1BA80FB-38C6-4376-AFC5-5A8A79FD6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543425"/>
            <a:ext cx="31432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85E8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543A4D8-CB92-4904-B687-61D0FC6FC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667250"/>
            <a:ext cx="2800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285E8E"/>
                </a:solidFill>
                <a:latin typeface="Cambria Math"/>
                <a:ea typeface="Cambria Math"/>
                <a:cs typeface="Cambria Math"/>
              </a:defRPr>
            </a:pPr>
            <a:r>
              <a:rPr sz="1350" b="1">
                <a:solidFill>
                  <a:srgbClr val="285E8E"/>
                </a:solidFill>
                <a:latin typeface="Cambria Math"/>
                <a:ea typeface="Cambria Math"/>
                <a:cs typeface="Cambria Math"/>
              </a:rPr>
              <a:t>h(v) = 0.04 + 0.40 (v / 0.1)⁰·⁸  W/K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A65BD99-62CF-40CD-8CED-8D182B252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4591050"/>
            <a:ext cx="1409700" cy="628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19050">
            <a:solidFill>
              <a:srgbClr val="285E8E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5C73B8D-18AC-4165-92FF-459DF6912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4686300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8771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285E8E"/>
                </a:solidFill>
                <a:latin typeface="Cambria Math"/>
                <a:ea typeface="Cambria Math"/>
                <a:cs typeface="Cambria Math"/>
              </a:defRPr>
            </a:pPr>
            <a:r>
              <a:rPr sz="1425" b="1">
                <a:solidFill>
                  <a:srgbClr val="285E8E"/>
                </a:solidFill>
                <a:latin typeface="Cambria Math"/>
                <a:ea typeface="Cambria Math"/>
                <a:cs typeface="Cambria Math"/>
              </a:rPr>
              <a:t>Tcoolant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CDD94AA-B86D-4491-9CA9-90184FAB0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4933950"/>
            <a:ext cx="1162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0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0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reservoir</a:t>
            </a:r>
          </a:p>
        </p:txBody>
      </p:sp>
      <p:cxnSp>
        <p:nvCxnSpPr>
          <p:cNvPr id="81" name=""/>
          <p:cNvCxnSpPr>
            <a:stCxn xmlns:a="http://schemas.openxmlformats.org/drawingml/2006/main" id="16" idx="2"/>
            <a:endCxn xmlns:a="http://schemas.openxmlformats.org/drawingml/2006/main" id="32" idx="0"/>
          </p:cNvCxnSpPr>
          <p:nvPr/>
        </p:nvCxnSpPr>
        <p:spPr>
          <a:xfrm xmlns:a="http://schemas.openxmlformats.org/drawingml/2006/main">
            <a:off x="6943725" y="3943350"/>
            <a:ext cx="1200150" cy="6000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85E8E"/>
            </a:solidFill>
            <a:prstDash val="dash"/>
          </a:ln>
        </p:spPr>
      </p:cxnSp>
      <p:cxnSp>
        <p:nvCxnSpPr>
          <p:cNvPr id="82" name=""/>
          <p:cNvCxnSpPr>
            <a:stCxn xmlns:a="http://schemas.openxmlformats.org/drawingml/2006/main" id="23" idx="2"/>
            <a:endCxn xmlns:a="http://schemas.openxmlformats.org/drawingml/2006/main" id="32" idx="0"/>
          </p:cNvCxnSpPr>
          <p:nvPr/>
        </p:nvCxnSpPr>
        <p:spPr>
          <a:xfrm xmlns:a="http://schemas.openxmlformats.org/drawingml/2006/main" flipH="1">
            <a:off x="8143875" y="3943350"/>
            <a:ext cx="2533650" cy="6000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85E8E"/>
            </a:solidFill>
            <a:prstDash val="dash"/>
          </a:ln>
        </p:spPr>
      </p:cxnSp>
      <p:cxnSp>
        <p:nvCxnSpPr>
          <p:cNvPr id="83" name=""/>
          <p:cNvCxnSpPr>
            <a:stCxn xmlns:a="http://schemas.openxmlformats.org/drawingml/2006/main" id="32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9715500" y="4905375"/>
            <a:ext cx="4381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85E8E"/>
            </a:solidFill>
            <a:prstDash val="solid"/>
          </a:ln>
        </p:spPr>
      </p:cxn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27B2C25-CFA2-464B-B57C-176F98192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1175" y="4200525"/>
            <a:ext cx="1123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0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0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weight 0.091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EDD79DA-96B4-4362-A9C5-6F5143EDC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200525"/>
            <a:ext cx="1123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0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0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weight 0.909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6574E85-2119-44E8-BD03-AC27024D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9728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427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A8D921A-D053-4509-9CFE-94970F013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67375"/>
            <a:ext cx="1028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rPr>
              <a:t>設計原則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A290592-D1AB-409F-80A9-3E09B2B82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5648325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135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topology・熱容量・node weightは物理設計入力。学習は指定された正の係数だけを更新する。</a:t>
            </a:r>
          </a:p>
        </p:txBody>
      </p:sp>
    </p:spTree>
    <p:extLst>
      <p:ext uri="{BB962C8B-B14F-4D97-AF65-F5344CB8AC3E}">
        <p14:creationId xmlns:p14="http://schemas.microsoft.com/office/powerpoint/2010/main" val="106730219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A0E9224-4E43-46A1-9915-6CAD216F1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rPr>
              <a:t>PHYSICS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4B2F0D-7257-4C14-86E1-4F759B86F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0" rIns="28575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42735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142735"/>
                </a:solidFill>
                <a:latin typeface="Yu Gothic"/>
                <a:ea typeface="Yu Gothic"/>
                <a:cs typeface="Yu Gothic"/>
              </a:rPr>
              <a:t>第一法則から熱RC状態方程式を構成する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DAC73F-7C0A-4213-B973-CC2EC7BC2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1075"/>
            <a:ext cx="1057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相反性、エネルギー保存、散逸性、正値性を構造として保持する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CD3E3E-D816-419B-A189-293F1606C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DEE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278F44-B5B9-40F3-80B5-2D2F60AA9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25" b="1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1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6986A7-469A-43CC-A101-410723421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68580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EE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5AFD4B-5194-492F-BCDD-24AF5E5AC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52600"/>
            <a:ext cx="14097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DFDA"/>
          </a:solidFill>
          <a:ln xmlns:a="http://schemas.openxmlformats.org/drawingml/2006/main" w="9525">
            <a:solidFill>
              <a:srgbClr val="D979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2613AA-B8BA-49D1-AE43-68A3CA168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62125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1">
                <a:solidFill>
                  <a:srgbClr val="D97963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1">
                <a:solidFill>
                  <a:srgbClr val="D97963"/>
                </a:solidFill>
                <a:latin typeface="Noto Sans JP"/>
                <a:ea typeface="Noto Sans JP"/>
                <a:cs typeface="Noto Sans JP"/>
              </a:rPr>
              <a:t>NODE BALANCE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2347E8-ACBE-472A-A11F-C4CB18FD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00275"/>
            <a:ext cx="6248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75" b="0">
                <a:solidFill>
                  <a:srgbClr val="142735"/>
                </a:solidFill>
                <a:latin typeface="Cambria Math"/>
                <a:ea typeface="Cambria Math"/>
                <a:cs typeface="Cambria Math"/>
              </a:defRPr>
            </a:pPr>
            <a:r>
              <a:rPr sz="1875" b="0">
                <a:solidFill>
                  <a:srgbClr val="142735"/>
                </a:solidFill>
                <a:latin typeface="Cambria Math"/>
                <a:ea typeface="Cambria Math"/>
                <a:cs typeface="Cambria Math"/>
              </a:rPr>
              <a:t>Cᵢ dTᵢ/dt = Σⱼ Gᵢⱼ(a)(Tⱼ − Tᵢ) + Σₛ qₛ(a)wₛ,ᵢ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875" b="0">
                <a:solidFill>
                  <a:srgbClr val="142735"/>
                </a:solidFill>
                <a:latin typeface="Cambria Math"/>
                <a:ea typeface="Cambria Math"/>
                <a:cs typeface="Cambria Math"/>
              </a:defRPr>
            </a:pPr>
            <a:r>
              <a:rPr sz="1875" b="0">
                <a:solidFill>
                  <a:srgbClr val="142735"/>
                </a:solidFill>
                <a:latin typeface="Cambria Math"/>
                <a:ea typeface="Cambria Math"/>
                <a:cs typeface="Cambria Math"/>
              </a:rPr>
              <a:t>                 + Σᵦ hᵦ(a)wᵦ,ᵢ(Tᵣ,ᵦ − Tᵢ) + (Wᵀd)ᵢ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F13B36-15AC-494F-B056-8FC574BF5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6858000" cy="224790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1427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E87829-DB6E-4E6A-B4A6-9F293995B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67125"/>
            <a:ext cx="12573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3F4F"/>
          </a:solidFill>
          <a:ln xmlns:a="http://schemas.openxmlformats.org/drawingml/2006/main" w="9525">
            <a:solidFill>
              <a:srgbClr val="4F9D9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E514A7-69F8-42D5-9477-AD9863999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76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1">
                <a:solidFill>
                  <a:srgbClr val="4F9D9B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1">
                <a:solidFill>
                  <a:srgbClr val="4F9D9B"/>
                </a:solidFill>
                <a:latin typeface="Noto Sans JP"/>
                <a:ea typeface="Noto Sans JP"/>
                <a:cs typeface="Noto Sans JP"/>
              </a:rPr>
              <a:t>MATRIX FORM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D4CEFA-053D-40A9-A40D-990DE8DAC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76700"/>
            <a:ext cx="609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FFFFFF"/>
                </a:solidFill>
                <a:latin typeface="Cambria Math"/>
                <a:ea typeface="Cambria Math"/>
                <a:cs typeface="Cambria Math"/>
              </a:defRPr>
            </a:pPr>
            <a:r>
              <a:rPr sz="2175" b="1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L(a) = Bₑᵀ diag(g(a)) Bₑ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E5FD2F-65D2-4E49-9929-29DD4AA4E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91050"/>
            <a:ext cx="609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0">
                <a:solidFill>
                  <a:srgbClr val="FFFFFF"/>
                </a:solidFill>
                <a:latin typeface="Cambria Math"/>
                <a:ea typeface="Cambria Math"/>
                <a:cs typeface="Cambria Math"/>
              </a:defRPr>
            </a:pPr>
            <a:r>
              <a:rPr sz="1875" b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C Ṫ = −L(a)T + q(a) + h(a) ⊙ (Tᵣ(a)1 − T) + Wᵀd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89A1B4-B747-4C68-A766-17DC55678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62550"/>
            <a:ext cx="609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4F9D9B"/>
                </a:solidFill>
                <a:latin typeface="Cambria Math"/>
                <a:ea typeface="Cambria Math"/>
                <a:cs typeface="Cambria Math"/>
              </a:defRPr>
            </a:pPr>
            <a:r>
              <a:rPr sz="2100" b="1">
                <a:solidFill>
                  <a:srgbClr val="4F9D9B"/>
                </a:solidFill>
                <a:latin typeface="Cambria Math"/>
                <a:ea typeface="Cambria Math"/>
                <a:cs typeface="Cambria Math"/>
              </a:rPr>
              <a:t>Ṫ = A(a)T + b(a)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5F29A7-7835-488F-A897-4D29FAF20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562100"/>
            <a:ext cx="3848100" cy="4162425"/>
          </a:xfrm>
          <a:prstGeom xmlns:a="http://schemas.openxmlformats.org/drawingml/2006/main" prst="roundRect">
            <a:avLst>
              <a:gd name="adj" fmla="val 29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E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D4A69E-E907-4FD2-83F8-C2709A46A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71650"/>
            <a:ext cx="335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42735"/>
                </a:solidFill>
                <a:latin typeface="Noto Sans JP"/>
                <a:ea typeface="Noto Sans JP"/>
                <a:cs typeface="Noto Sans JP"/>
              </a:defRPr>
            </a:pPr>
            <a:r>
              <a:rPr sz="1650" b="1">
                <a:solidFill>
                  <a:srgbClr val="142735"/>
                </a:solidFill>
                <a:latin typeface="Noto Sans JP"/>
                <a:ea typeface="Noto Sans JP"/>
                <a:cs typeface="Noto Sans JP"/>
              </a:rPr>
              <a:t>構造的に保証する性質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DB67A6-8062-48EE-9CFE-D9FE43A26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37172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9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C61316-6473-4A5A-8921-9B3A1697A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324100"/>
            <a:ext cx="2686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1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相反性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951A96-42E3-46A9-9F50-6D2E8F1C6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6098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42735"/>
                </a:solidFill>
                <a:latin typeface="Cambria Math"/>
                <a:ea typeface="Cambria Math"/>
                <a:cs typeface="Cambria Math"/>
              </a:defRPr>
            </a:pPr>
            <a:r>
              <a:rPr sz="1350" b="0">
                <a:solidFill>
                  <a:srgbClr val="142735"/>
                </a:solidFill>
                <a:latin typeface="Cambria Math"/>
                <a:ea typeface="Cambria Math"/>
                <a:cs typeface="Cambria Math"/>
              </a:rPr>
              <a:t>qᵢ←ⱼ = −qⱼ←ᵢ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7A3F18-2117-4EAE-8B6F-32E02A428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15277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5E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9F7489-A874-4C2A-9CFB-501575E17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105150"/>
            <a:ext cx="2686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1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閉系の保存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970D78-7878-40E7-A3C6-AB23E6359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39090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42735"/>
                </a:solidFill>
                <a:latin typeface="Cambria Math"/>
                <a:ea typeface="Cambria Math"/>
                <a:cs typeface="Cambria Math"/>
              </a:defRPr>
            </a:pPr>
            <a:r>
              <a:rPr sz="1350" b="0">
                <a:solidFill>
                  <a:srgbClr val="142735"/>
                </a:solidFill>
                <a:latin typeface="Cambria Math"/>
                <a:ea typeface="Cambria Math"/>
                <a:cs typeface="Cambria Math"/>
              </a:rPr>
              <a:t>d(1ᵀCT)/dt = 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BDC836-CDC6-4071-97CF-CB17F8275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93382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9D9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67727D-8FB7-45A3-A8C7-C896A1EFD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886200"/>
            <a:ext cx="2686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1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温度差の散逸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9E9557D-D85A-49A7-90BB-A8E298137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1719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42735"/>
                </a:solidFill>
                <a:latin typeface="Cambria Math"/>
                <a:ea typeface="Cambria Math"/>
                <a:cs typeface="Cambria Math"/>
              </a:defRPr>
            </a:pPr>
            <a:r>
              <a:rPr sz="1350" b="0">
                <a:solidFill>
                  <a:srgbClr val="142735"/>
                </a:solidFill>
                <a:latin typeface="Cambria Math"/>
                <a:ea typeface="Cambria Math"/>
                <a:cs typeface="Cambria Math"/>
              </a:rPr>
              <a:t>TᵀLT = Σₑ Gₑ(ΔTₑ)² ≥ 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5FE0323-CD25-4E43-9476-15294DB8E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71487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8A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B4FAAD-D320-47F5-930C-A9E9A6F2D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667250"/>
            <a:ext cx="2686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1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正値パラメータ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A48DE0C-0DBD-40CD-B2ED-6EAE31807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95300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42735"/>
                </a:solidFill>
                <a:latin typeface="Cambria Math"/>
                <a:ea typeface="Cambria Math"/>
                <a:cs typeface="Cambria Math"/>
              </a:defRPr>
            </a:pPr>
            <a:r>
              <a:rPr sz="1350" b="0">
                <a:solidFill>
                  <a:srgbClr val="142735"/>
                </a:solidFill>
                <a:latin typeface="Cambria Math"/>
                <a:ea typeface="Cambria Math"/>
                <a:cs typeface="Cambria Math"/>
              </a:rPr>
              <a:t>p = p₀ exp(ℓ) &gt; 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89619F5-FD7C-4D4C-8B5A-A15B2FC96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886450"/>
            <a:ext cx="384810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4EAD4"/>
          </a:solidFill>
          <a:ln xmlns:a="http://schemas.openxmlformats.org/drawingml/2006/main" w="9525">
            <a:solidFill>
              <a:srgbClr val="D6A84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0339115-3F58-4D26-BD80-3B2542527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934075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>
                <a:solidFill>
                  <a:srgbClr val="77591E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1">
                <a:solidFill>
                  <a:srgbClr val="77591E"/>
                </a:solidFill>
                <a:latin typeface="Noto Sans JP"/>
                <a:ea typeface="Noto Sans JP"/>
                <a:cs typeface="Noto Sans JP"/>
              </a:rPr>
              <a:t>T⁴放射・相変化・局所hotspotは外部証拠が必要</a:t>
            </a:r>
          </a:p>
        </p:txBody>
      </p:sp>
    </p:spTree>
    <p:extLst>
      <p:ext uri="{BB962C8B-B14F-4D97-AF65-F5344CB8AC3E}">
        <p14:creationId xmlns:p14="http://schemas.microsoft.com/office/powerpoint/2010/main" val="133460736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4244F1-42D5-42D6-B468-8566B757B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rPr>
              <a:t>NUMERICS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4244D5-9F7C-45FF-ACCA-8E4EB5CC3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0" rIns="28575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42735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142735"/>
                </a:solidFill>
                <a:latin typeface="Yu Gothic"/>
                <a:ea typeface="Yu Gothic"/>
                <a:cs typeface="Yu Gothic"/>
              </a:rPr>
              <a:t>運転区間の構造に応じて exact と implicit を使い分ける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558446-F131-424D-AC39-FAD854135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1075"/>
            <a:ext cx="1057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少数ノードのため、密行列指数と密線形solveを直接用いる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9CE88A-1AF6-447D-ADEE-28BABFCDE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DEE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CAB928-0B8E-4B32-A85D-7C7047DF2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25" b="1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1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1C0F0E-F6F2-45EF-8E55-9F328080F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52197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85E8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86A7AF-408F-435D-8AF4-E9193417C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24025"/>
            <a:ext cx="135255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285E8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2B9A9B-C2B2-47EB-83BC-7A03A1114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335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1">
                <a:solidFill>
                  <a:srgbClr val="285E8E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1">
                <a:solidFill>
                  <a:srgbClr val="285E8E"/>
                </a:solidFill>
                <a:latin typeface="Noto Sans JP"/>
                <a:ea typeface="Noto Sans JP"/>
                <a:cs typeface="Noto Sans JP"/>
              </a:rPr>
              <a:t>EXACT AFFINE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F829D7-6ED8-4CC7-B4BB-6C8978B6D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42735"/>
                </a:solidFill>
                <a:latin typeface="Cambria Math"/>
                <a:ea typeface="Cambria Math"/>
                <a:cs typeface="Cambria Math"/>
              </a:defRPr>
            </a:pPr>
            <a:r>
              <a:rPr sz="1950" b="1">
                <a:solidFill>
                  <a:srgbClr val="142735"/>
                </a:solidFill>
                <a:latin typeface="Cambria Math"/>
                <a:ea typeface="Cambria Math"/>
                <a:cs typeface="Cambria Math"/>
              </a:rPr>
              <a:t>[xₖ₊₁; 1] = exp( [F  c; 0  0] Δtₖ ) [xₖ; 1]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49DDA7-8062-47B8-8E84-975C6404D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57500"/>
            <a:ext cx="4667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936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区間内で係数とactive setが一定なら時間離散化誤差なし。F⁻¹を作らず、閉系のゼロ固有値も扱う。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394AB5-CF93-457B-A870-8A6A75E4F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524000"/>
            <a:ext cx="550545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4F9D9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4B54A9-39E7-4A57-8E6A-32BE5C97A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24025"/>
            <a:ext cx="146685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DEC"/>
          </a:solidFill>
          <a:ln xmlns:a="http://schemas.openxmlformats.org/drawingml/2006/main" w="9525">
            <a:solidFill>
              <a:srgbClr val="4F9D9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87C15F-A4B5-4DA6-8A16-E5D36E062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733550"/>
            <a:ext cx="1352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1">
                <a:solidFill>
                  <a:srgbClr val="4F9D9B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1">
                <a:solidFill>
                  <a:srgbClr val="4F9D9B"/>
                </a:solidFill>
                <a:latin typeface="Noto Sans JP"/>
                <a:ea typeface="Noto Sans JP"/>
                <a:cs typeface="Noto Sans JP"/>
              </a:rPr>
              <a:t>IMPLICIT EULER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70EF5B-F946-4B6B-BFC0-9392B819C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09800"/>
            <a:ext cx="5048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42735"/>
                </a:solidFill>
                <a:latin typeface="Cambria Math"/>
                <a:ea typeface="Cambria Math"/>
                <a:cs typeface="Cambria Math"/>
              </a:defRPr>
            </a:pPr>
            <a:r>
              <a:rPr sz="1875" b="1">
                <a:solidFill>
                  <a:srgbClr val="142735"/>
                </a:solidFill>
                <a:latin typeface="Cambria Math"/>
                <a:ea typeface="Cambria Math"/>
                <a:cs typeface="Cambria Math"/>
              </a:rPr>
              <a:t>Tₖ₊₁ = (I − ΔtₖA(aₘ))⁻¹ [Tₖ + Δtₖb(aₘ)]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B01040-2ACD-4BDB-B3E3-434B07786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8575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操作量依存係数が区間内で変化する場合に適用。A-stableだが一次精度で、aₘは区間中央の実効操作量。</a:t>
            </a:r>
          </a:p>
        </p:txBody>
      </p:sp>
      <p:graphicFrame>
        <p:nvGraphicFramePr>
          <p:cNvPr id="33" name=""/>
          <p:cNvGraphicFramePr/>
          <p:nvPr/>
        </p:nvGraphicFramePr>
        <p:xfrm>
          <a:off xmlns:a="http://schemas.openxmlformats.org/drawingml/2006/main" x="609600" y="3905250"/>
          <a:ext xmlns:a="http://schemas.openxmlformats.org/drawingml/2006/main" cx="10972800" cy="2019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4457700"/>
                <a:gridCol w="4514850"/>
              </a:tblGrid>
              <a:tr h="336550"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</a:rPr>
                        <a:t>判断軸</a:t>
                      </a:r>
                    </a:p>
                  </a:txBody>
                  <a:tcPr marL="91440" marR="91440" marT="45720" marB="45720">
                    <a:solidFill>
                      <a:srgbClr val="1427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</a:rPr>
                        <a:t>exact</a:t>
                      </a:r>
                    </a:p>
                  </a:txBody>
                  <a:tcPr marL="91440" marR="91440" marT="45720" marB="45720">
                    <a:solidFill>
                      <a:srgbClr val="1427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</a:rPr>
                        <a:t>implicit</a:t>
                      </a:r>
                    </a:p>
                  </a:txBody>
                  <a:tcPr marL="91440" marR="91440" marT="45720" marB="45720">
                    <a:solidFill>
                      <a:srgbClr val="142735"/>
                    </a:solidFill>
                  </a:tcPr>
                </a:tc>
              </a:tr>
              <a:tr h="3365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3F515D"/>
                          </a:solidFill>
                        </a:rPr>
                        <a:t>区間条件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3F515D"/>
                          </a:solidFill>
                        </a:rPr>
                        <a:t>affineを満たす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3F515D"/>
                          </a:solidFill>
                        </a:rPr>
                        <a:t>非affineも可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365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3F515D"/>
                          </a:solidFill>
                        </a:rPr>
                        <a:t>時間離散化</a:t>
                      </a:r>
                    </a:p>
                  </a:txBody>
                  <a:tcPr marL="91440" marR="91440" marT="45720" marB="45720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3F515D"/>
                          </a:solidFill>
                        </a:rPr>
                        <a:t>仮定内では厳密</a:t>
                      </a:r>
                    </a:p>
                  </a:txBody>
                  <a:tcPr marL="91440" marR="91440" marT="45720" marB="45720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3F515D"/>
                          </a:solidFill>
                        </a:rPr>
                        <a:t>一次精度</a:t>
                      </a:r>
                    </a:p>
                  </a:txBody>
                  <a:tcPr marL="91440" marR="91440" marT="45720" marB="45720">
                    <a:solidFill>
                      <a:srgbClr val="F7F9FA"/>
                    </a:solidFill>
                  </a:tcPr>
                </a:tc>
              </a:tr>
              <a:tr h="3365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3F515D"/>
                          </a:solidFill>
                        </a:rPr>
                        <a:t>stiff熱系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3F515D"/>
                          </a:solidFill>
                        </a:rPr>
                        <a:t>行列指数で安定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3F515D"/>
                          </a:solidFill>
                        </a:rPr>
                        <a:t>A-stable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365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3F515D"/>
                          </a:solidFill>
                        </a:rPr>
                        <a:t>主演算</a:t>
                      </a:r>
                    </a:p>
                  </a:txBody>
                  <a:tcPr marL="91440" marR="91440" marT="45720" marB="45720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3F515D"/>
                          </a:solidFill>
                        </a:rPr>
                        <a:t>matrix exponential</a:t>
                      </a:r>
                    </a:p>
                  </a:txBody>
                  <a:tcPr marL="91440" marR="91440" marT="45720" marB="45720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3F515D"/>
                          </a:solidFill>
                        </a:rPr>
                        <a:t>linear solve</a:t>
                      </a:r>
                    </a:p>
                  </a:txBody>
                  <a:tcPr marL="91440" marR="91440" marT="45720" marB="45720">
                    <a:solidFill>
                      <a:srgbClr val="F7F9FA"/>
                    </a:solidFill>
                  </a:tcPr>
                </a:tc>
              </a:tr>
              <a:tr h="3365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3F515D"/>
                          </a:solidFill>
                        </a:rPr>
                        <a:t>主な用途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3F515D"/>
                          </a:solidFill>
                        </a:rPr>
                        <a:t>ゼロ次ホールド、少数ノード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3F515D"/>
                          </a:solidFill>
                        </a:rPr>
                        <a:t>遅れた非線形係数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5D19F2-7B5D-4D27-863B-C682C5A8F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057900"/>
            <a:ext cx="10896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0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975" b="0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threshold通過は解析的に交差時刻を求め、区間を分割してexact積分する</a:t>
            </a:r>
          </a:p>
        </p:txBody>
      </p:sp>
    </p:spTree>
    <p:extLst>
      <p:ext uri="{BB962C8B-B14F-4D97-AF65-F5344CB8AC3E}">
        <p14:creationId xmlns:p14="http://schemas.microsoft.com/office/powerpoint/2010/main" val="194279731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423E92A-6E37-4170-AC75-5C03205CF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rPr>
              <a:t>IDENTIFICATION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9603A0-F68E-45B7-8AFB-1137D51CE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0" rIns="28575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42735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142735"/>
                </a:solidFill>
                <a:latin typeface="Yu Gothic"/>
                <a:ea typeface="Yu Gothic"/>
                <a:cs typeface="Yu Gothic"/>
              </a:rPr>
              <a:t>機械学習は物理軌道の微分・最適化に使う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40A389-A405-4507-A248-B0AA73051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1075"/>
            <a:ext cx="1057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topology探索やニューラルネットワークではなく、少数の正値物理係数を同定する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AFA8CB-76A9-4B92-837D-7F51399B9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DEE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5D05BF-5BD4-44C3-B5EE-7A5379F26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25" b="1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1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5675B2-4F28-47B8-96C5-003EEC820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16002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EE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862C49-1843-47DB-A9D0-A6FDA90CE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716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4F9D9B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1">
                <a:solidFill>
                  <a:srgbClr val="4F9D9B"/>
                </a:solidFill>
                <a:latin typeface="Noto Sans JP"/>
                <a:ea typeface="Noto Sans JP"/>
                <a:cs typeface="Noto Sans JP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B2BD8B-7F02-485B-9839-4C110E6BE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66950"/>
            <a:ext cx="1333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42735"/>
                </a:solidFill>
                <a:latin typeface="Noto Sans JP"/>
                <a:ea typeface="Noto Sans JP"/>
                <a:cs typeface="Noto Sans JP"/>
              </a:defRPr>
            </a:pPr>
            <a:r>
              <a:rPr sz="1275" b="1">
                <a:solidFill>
                  <a:srgbClr val="142735"/>
                </a:solidFill>
                <a:latin typeface="Noto Sans JP"/>
                <a:ea typeface="Noto Sans JP"/>
                <a:cs typeface="Noto Sans JP"/>
              </a:rPr>
              <a:t>軌道単位の分割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566EDA-3C6B-4A72-9CBC-EF2753B64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4795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864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0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同一recipeを同じpartitionへ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0444AF-5C94-4D8D-B52B-E6035B3B1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828800"/>
            <a:ext cx="16002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EE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391E3E-C813-4DF9-8575-4CC1BD178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9716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4F9D9B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1">
                <a:solidFill>
                  <a:srgbClr val="4F9D9B"/>
                </a:solidFill>
                <a:latin typeface="Noto Sans JP"/>
                <a:ea typeface="Noto Sans JP"/>
                <a:cs typeface="Noto Sans JP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C946A6-D3E7-4B3B-AE7D-9E04AA298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266950"/>
            <a:ext cx="1333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42735"/>
                </a:solidFill>
                <a:latin typeface="Noto Sans JP"/>
                <a:ea typeface="Noto Sans JP"/>
                <a:cs typeface="Noto Sans JP"/>
              </a:defRPr>
            </a:pPr>
            <a:r>
              <a:rPr sz="1275" b="1">
                <a:solidFill>
                  <a:srgbClr val="142735"/>
                </a:solidFill>
                <a:latin typeface="Noto Sans JP"/>
                <a:ea typeface="Noto Sans JP"/>
                <a:cs typeface="Noto Sans JP"/>
              </a:rPr>
              <a:t>隠れ初期温度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97BEE5-B64C-4276-98D1-7B44CCD4F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64795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0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SVD null spaceで推定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BE68F7-7DBB-407F-A089-CAC943BD3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828800"/>
            <a:ext cx="16002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EE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F2F40C-EF4A-4BC5-9EE9-C607682E1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9716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4F9D9B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1">
                <a:solidFill>
                  <a:srgbClr val="4F9D9B"/>
                </a:solidFill>
                <a:latin typeface="Noto Sans JP"/>
                <a:ea typeface="Noto Sans JP"/>
                <a:cs typeface="Noto Sans JP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18C3B0-C01C-4E4E-8BFF-89AB37066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66950"/>
            <a:ext cx="1333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42735"/>
                </a:solidFill>
                <a:latin typeface="Noto Sans JP"/>
                <a:ea typeface="Noto Sans JP"/>
                <a:cs typeface="Noto Sans JP"/>
              </a:defRPr>
            </a:pPr>
            <a:r>
              <a:rPr sz="1275" b="1">
                <a:solidFill>
                  <a:srgbClr val="142735"/>
                </a:solidFill>
                <a:latin typeface="Noto Sans JP"/>
                <a:ea typeface="Noto Sans JP"/>
                <a:cs typeface="Noto Sans JP"/>
              </a:rPr>
              <a:t>RC rollout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F65883-EBDC-4CD7-9C9D-E725A659B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64795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0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可変Δtをbatch積分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283EEE-A577-4D63-93AC-A3A27C6DB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828800"/>
            <a:ext cx="16002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EE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F57AD4-6A99-46A5-A939-0A326C880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716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4F9D9B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1">
                <a:solidFill>
                  <a:srgbClr val="4F9D9B"/>
                </a:solidFill>
                <a:latin typeface="Noto Sans JP"/>
                <a:ea typeface="Noto Sans JP"/>
                <a:cs typeface="Noto Sans JP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73DC57-0684-4FE9-9A18-D06B3F6C6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66950"/>
            <a:ext cx="1333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42735"/>
                </a:solidFill>
                <a:latin typeface="Noto Sans JP"/>
                <a:ea typeface="Noto Sans JP"/>
                <a:cs typeface="Noto Sans JP"/>
              </a:defRPr>
            </a:pPr>
            <a:r>
              <a:rPr sz="1275" b="1">
                <a:solidFill>
                  <a:srgbClr val="142735"/>
                </a:solidFill>
                <a:latin typeface="Noto Sans JP"/>
                <a:ea typeface="Noto Sans JP"/>
                <a:cs typeface="Noto Sans JP"/>
              </a:rPr>
              <a:t>robust目的関数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155CA0-A807-4B47-8F6A-D7D9138AE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4795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9050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0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mask付きHuber＋log prior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9E782F-410C-48BB-A062-04417F262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28800"/>
            <a:ext cx="16002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EE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5A8055E-E885-491F-91EC-C35F4F5F9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9716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4F9D9B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1">
                <a:solidFill>
                  <a:srgbClr val="4F9D9B"/>
                </a:solidFill>
                <a:latin typeface="Noto Sans JP"/>
                <a:ea typeface="Noto Sans JP"/>
                <a:cs typeface="Noto Sans JP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48C915B-1FB9-41EC-B410-31E69EC39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266950"/>
            <a:ext cx="1333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42735"/>
                </a:solidFill>
                <a:latin typeface="Noto Sans JP"/>
                <a:ea typeface="Noto Sans JP"/>
                <a:cs typeface="Noto Sans JP"/>
              </a:defRPr>
            </a:pPr>
            <a:r>
              <a:rPr sz="1275" b="1">
                <a:solidFill>
                  <a:srgbClr val="142735"/>
                </a:solidFill>
                <a:latin typeface="Noto Sans JP"/>
                <a:ea typeface="Noto Sans JP"/>
                <a:cs typeface="Noto Sans JP"/>
              </a:rPr>
              <a:t>Adam更新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E0F8373-3246-4572-8780-884AC4172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64795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0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gradient clip＋範囲制約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96FFFA2-F020-47A5-80A1-614F06321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1828800"/>
            <a:ext cx="13716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79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5D99A3E-7340-412C-8721-997CD238E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19716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D97963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1">
                <a:solidFill>
                  <a:srgbClr val="D97963"/>
                </a:solidFill>
                <a:latin typeface="Noto Sans JP"/>
                <a:ea typeface="Noto Sans JP"/>
                <a:cs typeface="Noto Sans JP"/>
              </a:rPr>
              <a:t>06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7739F29-E60D-4C5C-9825-76F4F348D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266950"/>
            <a:ext cx="1104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926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42735"/>
                </a:solidFill>
                <a:latin typeface="Noto Sans JP"/>
                <a:ea typeface="Noto Sans JP"/>
                <a:cs typeface="Noto Sans JP"/>
              </a:defRPr>
            </a:pPr>
            <a:r>
              <a:rPr sz="1275" b="1">
                <a:solidFill>
                  <a:srgbClr val="142735"/>
                </a:solidFill>
                <a:latin typeface="Noto Sans JP"/>
                <a:ea typeface="Noto Sans JP"/>
                <a:cs typeface="Noto Sans JP"/>
              </a:rPr>
              <a:t>因果validation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139F82F-BA34-4906-82D4-7E6EDE7C7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647950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859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0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初期観測だけでmodel selection</a:t>
            </a:r>
          </a:p>
        </p:txBody>
      </p:sp>
      <p:cxnSp>
        <p:nvCxnSpPr>
          <p:cNvPr id="83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286000" y="2447925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F7E87"/>
            </a:solidFill>
            <a:prstDash val="solid"/>
            <a:tailEnd type="triangle" w="sm" len="sm"/>
          </a:ln>
        </p:spPr>
      </p:cxnSp>
      <p:cxnSp>
        <p:nvCxnSpPr>
          <p:cNvPr id="84" name="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4191000" y="2447925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F7E87"/>
            </a:solidFill>
            <a:prstDash val="solid"/>
            <a:tailEnd type="triangle" w="sm" len="sm"/>
          </a:ln>
        </p:spPr>
      </p:cxnSp>
      <p:cxnSp>
        <p:nvCxnSpPr>
          <p:cNvPr id="85" name="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6096000" y="2447925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F7E87"/>
            </a:solidFill>
            <a:prstDash val="solid"/>
            <a:tailEnd type="triangle" w="sm" len="sm"/>
          </a:ln>
        </p:spPr>
      </p:cxnSp>
      <p:cxnSp>
        <p:nvCxnSpPr>
          <p:cNvPr id="86" name=""/>
          <p:cNvCxnSpPr>
            <a:stCxn xmlns:a="http://schemas.openxmlformats.org/drawingml/2006/main" id="18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8001000" y="2447925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F7E87"/>
            </a:solidFill>
            <a:prstDash val="solid"/>
            <a:tailEnd type="triangle" w="sm" len="sm"/>
          </a:ln>
        </p:spPr>
      </p:cxnSp>
      <p:cxnSp>
        <p:nvCxnSpPr>
          <p:cNvPr id="87" name=""/>
          <p:cNvCxnSpPr>
            <a:stCxn xmlns:a="http://schemas.openxmlformats.org/drawingml/2006/main" id="22" idx="3"/>
            <a:endCxn xmlns:a="http://schemas.openxmlformats.org/drawingml/2006/main" id="26" idx="1"/>
          </p:cNvCxnSpPr>
          <p:nvPr/>
        </p:nvCxnSpPr>
        <p:spPr>
          <a:xfrm xmlns:a="http://schemas.openxmlformats.org/drawingml/2006/main">
            <a:off x="9906000" y="2447925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F7E87"/>
            </a:solidFill>
            <a:prstDash val="solid"/>
            <a:tailEnd type="triangle" w="sm" len="sm"/>
          </a:ln>
        </p:spPr>
      </p:cxn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5BC4280-2A0F-47E3-913F-8E2A34A2F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342900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1427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E618A6D-DCAC-48E7-AFCD-739EF3F7C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86175"/>
            <a:ext cx="169545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3F4F"/>
          </a:solidFill>
          <a:ln xmlns:a="http://schemas.openxmlformats.org/drawingml/2006/main" w="9525">
            <a:solidFill>
              <a:srgbClr val="4F9D9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A1493C9-09F6-4817-B5CB-5AC517B99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95700"/>
            <a:ext cx="1581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1">
                <a:solidFill>
                  <a:srgbClr val="4F9D9B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1">
                <a:solidFill>
                  <a:srgbClr val="4F9D9B"/>
                </a:solidFill>
                <a:latin typeface="Noto Sans JP"/>
                <a:ea typeface="Noto Sans JP"/>
                <a:cs typeface="Noto Sans JP"/>
              </a:rPr>
              <a:t>POSITIVE PARAMETERS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BDA48FF-F5E6-4890-A05D-8C2050EFB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5290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625" b="1">
                <a:solidFill>
                  <a:srgbClr val="FFFFFF"/>
                </a:solidFill>
                <a:latin typeface="Cambria Math"/>
                <a:ea typeface="Cambria Math"/>
                <a:cs typeface="Cambria Math"/>
              </a:defRPr>
            </a:pPr>
            <a:r>
              <a:rPr sz="2625" b="1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p = p₀ exp(ℓ)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FBFBFFF-E3F2-4394-82A2-D661DE04B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863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0">
                <a:solidFill>
                  <a:srgbClr val="4F9D9B"/>
                </a:solidFill>
                <a:latin typeface="Cambria Math"/>
                <a:ea typeface="Cambria Math"/>
                <a:cs typeface="Cambria Math"/>
              </a:defRPr>
            </a:pPr>
            <a:r>
              <a:rPr sz="1800" b="0">
                <a:solidFill>
                  <a:srgbClr val="4F9D9B"/>
                </a:solidFill>
                <a:latin typeface="Cambria Math"/>
                <a:ea typeface="Cambria Math"/>
                <a:cs typeface="Cambria Math"/>
              </a:rPr>
              <a:t>p₀e⁻⁴ ≤ p ≤ p₀e⁴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C37915B-DB91-439E-AEF3-7122DFAA6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38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>
                <a:solidFill>
                  <a:srgbClr val="D8E4E9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D8E4E9"/>
                </a:solidFill>
                <a:latin typeface="Noto Sans JP"/>
                <a:ea typeface="Noto Sans JP"/>
                <a:cs typeface="Noto Sans JP"/>
              </a:rPr>
              <a:t>負の熱伝達率・時定数を生成しない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12F9BB3-F5C2-4486-828C-350A63F6A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476625"/>
            <a:ext cx="335280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EE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260A362-E0BE-4D63-9932-76631C20B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686175"/>
            <a:ext cx="173355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285E8E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37938AD-9205-411A-8B33-BD381270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6957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1">
                <a:solidFill>
                  <a:srgbClr val="285E8E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1">
                <a:solidFill>
                  <a:srgbClr val="285E8E"/>
                </a:solidFill>
                <a:latin typeface="Noto Sans JP"/>
                <a:ea typeface="Noto Sans JP"/>
                <a:cs typeface="Noto Sans JP"/>
              </a:rPr>
              <a:t>HIDDEN INITIAL STATE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AF48516-D948-48D1-8B26-DC7434465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1719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42735"/>
                </a:solidFill>
                <a:latin typeface="Cambria Math"/>
                <a:ea typeface="Cambria Math"/>
                <a:cs typeface="Cambria Math"/>
              </a:defRPr>
            </a:pPr>
            <a:r>
              <a:rPr sz="2025" b="1">
                <a:solidFill>
                  <a:srgbClr val="142735"/>
                </a:solidFill>
                <a:latin typeface="Cambria Math"/>
                <a:ea typeface="Cambria Math"/>
                <a:cs typeface="Cambria Math"/>
              </a:rPr>
              <a:t>H₀ = UΣVᵀ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88E328C-574A-414D-B635-8F3C9B54D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6291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0">
                <a:solidFill>
                  <a:srgbClr val="285E8E"/>
                </a:solidFill>
                <a:latin typeface="Cambria Math"/>
                <a:ea typeface="Cambria Math"/>
                <a:cs typeface="Cambria Math"/>
              </a:defRPr>
            </a:pPr>
            <a:r>
              <a:rPr sz="2025" b="0">
                <a:solidFill>
                  <a:srgbClr val="285E8E"/>
                </a:solidFill>
                <a:latin typeface="Cambria Math"/>
                <a:ea typeface="Cambria Math"/>
                <a:cs typeface="Cambria Math"/>
              </a:rPr>
              <a:t>T₀(z) = T̄₀ + Nz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9E3A566-C78B-4FF1-B1CA-54D68A9C3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076825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0">
                <a:solidFill>
                  <a:srgbClr val="3F515D"/>
                </a:solidFill>
                <a:latin typeface="Cambria Math"/>
                <a:ea typeface="Cambria Math"/>
                <a:cs typeface="Cambria Math"/>
              </a:defRPr>
            </a:pPr>
            <a:r>
              <a:rPr sz="1650" b="0">
                <a:solidFill>
                  <a:srgbClr val="3F515D"/>
                </a:solidFill>
                <a:latin typeface="Cambria Math"/>
                <a:ea typeface="Cambria Math"/>
                <a:cs typeface="Cambria Math"/>
              </a:rPr>
              <a:t>H₀Nz = 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DE8EDD4-C49C-4ABC-9206-3FB28A074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476625"/>
            <a:ext cx="373380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EE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C117659-9E98-4B7F-A158-6318F2B28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686175"/>
            <a:ext cx="158115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ECE6"/>
          </a:solidFill>
          <a:ln xmlns:a="http://schemas.openxmlformats.org/drawingml/2006/main" w="9525">
            <a:solidFill>
              <a:srgbClr val="4C8A6E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9083552-D015-418E-8125-EB7AEC514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695700"/>
            <a:ext cx="1466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1">
                <a:solidFill>
                  <a:srgbClr val="4C8A6E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1">
                <a:solidFill>
                  <a:srgbClr val="4C8A6E"/>
                </a:solidFill>
                <a:latin typeface="Noto Sans JP"/>
                <a:ea typeface="Noto Sans JP"/>
                <a:cs typeface="Noto Sans JP"/>
              </a:rPr>
              <a:t>ROBUST OBJECTIVE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36A6EFA-CAF7-4056-9998-D4B868B34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086225"/>
            <a:ext cx="323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142735"/>
                </a:solidFill>
                <a:latin typeface="Cambria Math"/>
                <a:ea typeface="Cambria Math"/>
                <a:cs typeface="Cambria Math"/>
              </a:defRPr>
            </a:pPr>
            <a:r>
              <a:rPr sz="1725" b="0">
                <a:solidFill>
                  <a:srgbClr val="142735"/>
                </a:solidFill>
                <a:latin typeface="Cambria Math"/>
                <a:ea typeface="Cambria Math"/>
                <a:cs typeface="Cambria Math"/>
              </a:rPr>
              <a:t>ρδ(e) = ½e²              |e| ≤ δ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142735"/>
                </a:solidFill>
                <a:latin typeface="Cambria Math"/>
                <a:ea typeface="Cambria Math"/>
                <a:cs typeface="Cambria Math"/>
              </a:defRPr>
            </a:pPr>
            <a:r>
              <a:rPr sz="1725" b="0">
                <a:solidFill>
                  <a:srgbClr val="142735"/>
                </a:solidFill>
                <a:latin typeface="Cambria Math"/>
                <a:ea typeface="Cambria Math"/>
                <a:cs typeface="Cambria Math"/>
              </a:rPr>
              <a:t>          δ(|e| − ½δ)    |e| &gt; δ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5BCE967-4B14-467F-AA01-85A43EF26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9530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9943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4C8A6E"/>
                </a:solidFill>
                <a:latin typeface="Cambria Math"/>
                <a:ea typeface="Cambria Math"/>
                <a:cs typeface="Cambria Math"/>
              </a:defRPr>
            </a:pPr>
            <a:r>
              <a:rPr sz="1500" b="1">
                <a:solidFill>
                  <a:srgbClr val="4C8A6E"/>
                </a:solidFill>
                <a:latin typeface="Cambria Math"/>
                <a:ea typeface="Cambria Math"/>
                <a:cs typeface="Cambria Math"/>
              </a:rPr>
              <a:t>L = mean_case[mean_obs ρδ] + λ‖ℓ‖²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EAAB20E-C0BB-49FF-8536-CFD9AEABD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4EAD4"/>
          </a:solidFill>
          <a:ln xmlns:a="http://schemas.openxmlformats.org/drawingml/2006/main" w="9525">
            <a:solidFill>
              <a:srgbClr val="D6A84B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4E04704-8939-4ED2-B201-21DC85FEE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53125"/>
            <a:ext cx="10706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77591E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1">
                <a:solidFill>
                  <a:srgbClr val="77591E"/>
                </a:solidFill>
                <a:latin typeface="Noto Sans JP"/>
                <a:ea typeface="Noto Sans JP"/>
                <a:cs typeface="Noto Sans JP"/>
              </a:rPr>
              <a:t>低いRMSEだけでは識別可能性を保証しない。感度SVD、profile、seed・split再学習を別途確認する。</a:t>
            </a:r>
          </a:p>
        </p:txBody>
      </p:sp>
    </p:spTree>
    <p:extLst>
      <p:ext uri="{BB962C8B-B14F-4D97-AF65-F5344CB8AC3E}">
        <p14:creationId xmlns:p14="http://schemas.microsoft.com/office/powerpoint/2010/main" val="71281130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77A696A-A559-48FA-9142-54EEAC5A0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rPr>
              <a:t>FORECAST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35F78B-4706-4822-84CE-ECA919BC4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0" rIns="28575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42735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142735"/>
                </a:solidFill>
                <a:latin typeface="Yu Gothic"/>
                <a:ea typeface="Yu Gothic"/>
                <a:cs typeface="Yu Gothic"/>
              </a:rPr>
              <a:t>観測履歴を同化し、将来区間はcommandだけで開ループ計算する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598C07-4D62-44CD-826C-DBD482A3B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1075"/>
            <a:ext cx="1057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予測器が将来真値へアクセスしない入力境界をCSV契約で強制する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FF4B93-D068-4C73-9165-C254A217D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DEE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6D4C18-D974-4010-A251-D79569EC4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25" b="1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1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AF3A5B-DD7F-422D-A307-7A01A129C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895475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975" b="1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time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207147-7441-44A6-BB19-3351201BE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019300"/>
            <a:ext cx="990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F7E8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C73C34-7494-41CE-9183-5EC2CF629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695450"/>
            <a:ext cx="47625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285E8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75F958-C40E-40D3-86B2-C157AB67F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80975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285E8E"/>
                </a:solidFill>
                <a:latin typeface="Noto Sans JP"/>
                <a:ea typeface="Noto Sans JP"/>
                <a:cs typeface="Noto Sans JP"/>
              </a:defRPr>
            </a:pPr>
            <a:r>
              <a:rPr sz="1425" b="1">
                <a:solidFill>
                  <a:srgbClr val="285E8E"/>
                </a:solidFill>
                <a:latin typeface="Noto Sans JP"/>
                <a:ea typeface="Noto Sans JP"/>
                <a:cs typeface="Noto Sans JP"/>
              </a:rPr>
              <a:t>履歴 prefix：各時刻に1つ以上の観測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5937CD-61EE-4215-B82D-22780BAD5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695450"/>
            <a:ext cx="49339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DCEDEC"/>
          </a:solidFill>
          <a:ln xmlns:a="http://schemas.openxmlformats.org/drawingml/2006/main" w="9525">
            <a:solidFill>
              <a:srgbClr val="4F9D9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4FFDE4-08F2-4E23-8E33-0BEC32D3F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809750"/>
            <a:ext cx="4514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337B79"/>
                </a:solidFill>
                <a:latin typeface="Noto Sans JP"/>
                <a:ea typeface="Noto Sans JP"/>
                <a:cs typeface="Noto Sans JP"/>
              </a:defRPr>
            </a:pPr>
            <a:r>
              <a:rPr sz="1425" b="1">
                <a:solidFill>
                  <a:srgbClr val="337B79"/>
                </a:solidFill>
                <a:latin typeface="Noto Sans JP"/>
                <a:ea typeface="Noto Sans JP"/>
                <a:cs typeface="Noto Sans JP"/>
              </a:rPr>
              <a:t>将来 suffix：全温度列を欠測、commandのみ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3756E6-DE15-4844-B89C-AC9787DB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419350"/>
            <a:ext cx="4000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42735"/>
                </a:solidFill>
                <a:latin typeface="Cambria Math"/>
                <a:ea typeface="Cambria Math"/>
                <a:cs typeface="Cambria Math"/>
              </a:defRPr>
            </a:pPr>
            <a:r>
              <a:rPr sz="1350" b="1">
                <a:solidFill>
                  <a:srgbClr val="142735"/>
                </a:solidFill>
                <a:latin typeface="Cambria Math"/>
                <a:ea typeface="Cambria Math"/>
                <a:cs typeface="Cambria Math"/>
              </a:rPr>
              <a:t>kₒ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6323B3-975E-42BE-A693-7A39A736B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2419350"/>
            <a:ext cx="4000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42735"/>
                </a:solidFill>
                <a:latin typeface="Cambria Math"/>
                <a:ea typeface="Cambria Math"/>
                <a:cs typeface="Cambria Math"/>
              </a:defRPr>
            </a:pPr>
            <a:r>
              <a:rPr sz="1350" b="1">
                <a:solidFill>
                  <a:srgbClr val="142735"/>
                </a:solidFill>
                <a:latin typeface="Cambria Math"/>
                <a:ea typeface="Cambria Math"/>
                <a:cs typeface="Cambria Math"/>
              </a:rPr>
              <a:t>kƒ</a:t>
            </a:r>
          </a:p>
        </p:txBody>
      </p:sp>
      <p:cxnSp>
        <p:nvCxnSpPr>
          <p:cNvPr id="54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6191250" y="20288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42735"/>
            </a:solidFill>
            <a:prstDash val="solid"/>
            <a:tailEnd type="triangle" w="sm" len="sm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17020A-BBF7-4FB5-BC19-9456E2FF2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5238750" cy="2743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EE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81DF4D-3D3D-4962-A080-3379864E7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05150"/>
            <a:ext cx="180975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285E8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7FD5AD-52E5-45AB-A816-0A68AE8F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14675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1">
                <a:solidFill>
                  <a:srgbClr val="285E8E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1">
                <a:solidFill>
                  <a:srgbClr val="285E8E"/>
                </a:solidFill>
                <a:latin typeface="Noto Sans JP"/>
                <a:ea typeface="Noto Sans JP"/>
                <a:cs typeface="Noto Sans JP"/>
              </a:rPr>
              <a:t>CAUSAL ASSIMILATION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DD3EF9-F698-4D70-BFAE-50A3CC5DA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9092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5E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6F8170-BFC6-42B4-A627-77326B670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909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975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348465-A9B2-4232-9218-AA6F35DC9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58140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初回観測を一度だけposteriorへ反映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EA8503-49EF-4478-849D-51E6DA97C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6717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5E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85400E-4644-497C-AE04-7264F8BC7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671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975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DEA9FC-E346-4752-83AE-50F5868F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5765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履歴端 kₒ までpredict/updateを時系列実行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A8A746-B0B4-4C21-BA49-79A6C74CB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4342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5E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8873296-645B-4E80-A363-A86F9F9A2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434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975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BCDF86-DD27-4F4F-AFA4-E8882EA20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53390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未知熱・biasの平均を0へ戻し、共分散は保持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0DD4BA-FDB8-494B-94E5-53AC00E8B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1967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5E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F5DB767-DF31-4E2C-A038-0D590A672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196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975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5AB11D-2968-4E25-9E1A-41EDBF0C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01015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将来はRC状態と共分散だけを伝播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C7F203-6BA6-4396-BCFF-A0B470724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895600"/>
            <a:ext cx="5505450" cy="2743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1427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7DAFFE2-06B5-4EB6-A777-01003C288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05150"/>
            <a:ext cx="123825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3F4F"/>
          </a:solidFill>
          <a:ln xmlns:a="http://schemas.openxmlformats.org/drawingml/2006/main" w="9525">
            <a:solidFill>
              <a:srgbClr val="4F9D9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748825D-D7E3-4E24-B7C8-B4048829A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114675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1">
                <a:solidFill>
                  <a:srgbClr val="4F9D9B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1">
                <a:solidFill>
                  <a:srgbClr val="4F9D9B"/>
                </a:solidFill>
                <a:latin typeface="Noto Sans JP"/>
                <a:ea typeface="Noto Sans JP"/>
                <a:cs typeface="Noto Sans JP"/>
              </a:rPr>
              <a:t>UNCERTAINTY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D349B29-277A-4630-9C27-D127983CD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552825"/>
            <a:ext cx="4933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FFFFFF"/>
                </a:solidFill>
                <a:latin typeface="Cambria Math"/>
                <a:ea typeface="Cambria Math"/>
                <a:cs typeface="Cambria Math"/>
              </a:defRPr>
            </a:pPr>
            <a:r>
              <a:rPr sz="2025" b="1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ŷⱼ,ₖ ± 1.95996 √(H Pᵀ,ₖ Hᵀ)ⱼⱼ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467B657-CF4C-4B54-B338-679A53FE7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2100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rPr>
              <a:t>95%区間に含む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8293977-71A4-4864-8200-8F78E8FF3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505325"/>
            <a:ext cx="217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初期状態・process noise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47AD0D0-817E-491E-9581-22836E48A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2100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D6A84B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1">
                <a:solidFill>
                  <a:srgbClr val="D6A84B"/>
                </a:solidFill>
                <a:latin typeface="Noto Sans JP"/>
                <a:ea typeface="Noto Sans JP"/>
                <a:cs typeface="Noto Sans JP"/>
              </a:rPr>
              <a:t>95%区間に含まない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63FE2BB-80DA-4094-9C43-09EF037C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505325"/>
            <a:ext cx="2209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1125" b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parameter・future input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1125" b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model form・measurement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C26B9DE-855A-404D-999B-8CF44E688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257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C5D4DB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0">
                <a:solidFill>
                  <a:srgbClr val="C5D4DB"/>
                </a:solidFill>
                <a:latin typeface="Noto Sans JP"/>
                <a:ea typeface="Noto Sans JP"/>
                <a:cs typeface="Noto Sans JP"/>
              </a:rPr>
              <a:t>区間は将来測定値ではなく、潜在物理温度の不確かさを表す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B8A0F64-7F55-46A4-B4D9-345F8F5CB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0ECE6"/>
          </a:solidFill>
          <a:ln xmlns:a="http://schemas.openxmlformats.org/drawingml/2006/main" w="9525">
            <a:solidFill>
              <a:srgbClr val="4C8A6E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036F455-4AF5-4DF9-AE3B-2210B9E34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245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356650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1">
                <a:solidFill>
                  <a:srgbClr val="356650"/>
                </a:solidFill>
                <a:latin typeface="Noto Sans JP"/>
                <a:ea typeface="Noto Sans JP"/>
                <a:cs typeface="Noto Sans JP"/>
              </a:rPr>
              <a:t>範囲内判定は各軸のmin/max照合であり、内挿の保証ではない。外挿警告は停止条件と分けて運用する。</a:t>
            </a:r>
          </a:p>
        </p:txBody>
      </p:sp>
    </p:spTree>
    <p:extLst>
      <p:ext uri="{BB962C8B-B14F-4D97-AF65-F5344CB8AC3E}">
        <p14:creationId xmlns:p14="http://schemas.microsoft.com/office/powerpoint/2010/main" val="77119536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2D004E2-74D6-4E7B-B58D-7EF3EDCB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rPr>
              <a:t>MONITORING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CAEF1E-49B6-4391-A5E7-D27B58F72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0" rIns="28575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42735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142735"/>
                </a:solidFill>
                <a:latin typeface="Yu Gothic"/>
                <a:ea typeface="Yu Gothic"/>
                <a:cs typeface="Yu Gothic"/>
              </a:rPr>
              <a:t>温度・未知熱・biasを因果的に同時推定する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38101B-F95A-4D8B-BC21-396C9FDEC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1075"/>
            <a:ext cx="1057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NISは異常の統計量を提供するが、alarm閾値と継続条件は配備側で校正する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4A046D-0D5D-4CFA-B493-E28B88D76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DEE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495EEB-8B49-45D8-917A-32E3D7A6B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25" b="1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1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91102D-2DB2-4BDC-965E-0CD8DF9DE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3333750" cy="2238375"/>
          </a:xfrm>
          <a:prstGeom xmlns:a="http://schemas.openxmlformats.org/drawingml/2006/main" prst="roundRect">
            <a:avLst>
              <a:gd name="adj" fmla="val 5106"/>
            </a:avLst>
          </a:prstGeom>
          <a:solidFill xmlns:a="http://schemas.openxmlformats.org/drawingml/2006/main">
            <a:srgbClr val="1427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7E0F24-B5FB-4168-B940-765A7E559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52600"/>
            <a:ext cx="15621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3F4F"/>
          </a:solidFill>
          <a:ln xmlns:a="http://schemas.openxmlformats.org/drawingml/2006/main" w="9525">
            <a:solidFill>
              <a:srgbClr val="4F9D9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21F209-D475-43F1-861D-75C5A5210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62125"/>
            <a:ext cx="1447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1">
                <a:solidFill>
                  <a:srgbClr val="4F9D9B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1">
                <a:solidFill>
                  <a:srgbClr val="4F9D9B"/>
                </a:solidFill>
                <a:latin typeface="Noto Sans JP"/>
                <a:ea typeface="Noto Sans JP"/>
                <a:cs typeface="Noto Sans JP"/>
              </a:rPr>
              <a:t>AUGMENTED STATE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C38220-F718-459E-B093-805ABCB62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09800"/>
            <a:ext cx="276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>
                <a:solidFill>
                  <a:srgbClr val="FFFFFF"/>
                </a:solidFill>
                <a:latin typeface="Cambria Math"/>
                <a:ea typeface="Cambria Math"/>
                <a:cs typeface="Cambria Math"/>
              </a:defRPr>
            </a:pPr>
            <a:r>
              <a:rPr sz="2550" b="1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z = [ T ; d ; β ]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307057-EE1B-48F0-95A6-A4712495A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575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D8E4E9"/>
                </a:solidFill>
                <a:latin typeface="Noto Sans JP"/>
                <a:ea typeface="Noto Sans JP"/>
                <a:cs typeface="Noto Sans JP"/>
              </a:defRPr>
            </a:pPr>
            <a:r>
              <a:rPr sz="1275" b="0">
                <a:solidFill>
                  <a:srgbClr val="D8E4E9"/>
                </a:solidFill>
                <a:latin typeface="Noto Sans JP"/>
                <a:ea typeface="Noto Sans JP"/>
                <a:cs typeface="Noto Sans JP"/>
              </a:rPr>
              <a:t>T  物理温度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D8E4E9"/>
                </a:solidFill>
                <a:latin typeface="Noto Sans JP"/>
                <a:ea typeface="Noto Sans JP"/>
                <a:cs typeface="Noto Sans JP"/>
              </a:defRPr>
            </a:pPr>
            <a:r>
              <a:rPr sz="1275" b="0">
                <a:solidFill>
                  <a:srgbClr val="D8E4E9"/>
                </a:solidFill>
                <a:latin typeface="Noto Sans JP"/>
                <a:ea typeface="Noto Sans JP"/>
                <a:cs typeface="Noto Sans JP"/>
              </a:rPr>
              <a:t>d  未知熱流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D8E4E9"/>
                </a:solidFill>
                <a:latin typeface="Noto Sans JP"/>
                <a:ea typeface="Noto Sans JP"/>
                <a:cs typeface="Noto Sans JP"/>
              </a:defRPr>
            </a:pPr>
            <a:r>
              <a:rPr sz="1275" b="0">
                <a:solidFill>
                  <a:srgbClr val="D8E4E9"/>
                </a:solidFill>
                <a:latin typeface="Noto Sans JP"/>
                <a:ea typeface="Noto Sans JP"/>
                <a:cs typeface="Noto Sans JP"/>
              </a:rPr>
              <a:t>β  識別可能な相対bias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6B46B7-DA81-4908-BF55-5278A137D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695450"/>
            <a:ext cx="18478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19050">
            <a:solidFill>
              <a:srgbClr val="285E8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60CC32-0025-43D5-AAE7-4A8686A4B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09750"/>
            <a:ext cx="1543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9722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285E8E"/>
                </a:solidFill>
                <a:latin typeface="Noto Sans JP"/>
                <a:ea typeface="Noto Sans JP"/>
                <a:cs typeface="Noto Sans JP"/>
              </a:defRPr>
            </a:pPr>
            <a:r>
              <a:rPr sz="1350" b="1">
                <a:solidFill>
                  <a:srgbClr val="285E8E"/>
                </a:solidFill>
                <a:latin typeface="Noto Sans JP"/>
                <a:ea typeface="Noto Sans JP"/>
                <a:cs typeface="Noto Sans JP"/>
              </a:rPr>
              <a:t>predict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514707-0649-4D1B-A707-9DF7C701A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105025"/>
            <a:ext cx="15430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9469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0">
                <a:solidFill>
                  <a:srgbClr val="142735"/>
                </a:solidFill>
                <a:latin typeface="Cambria Math"/>
                <a:ea typeface="Cambria Math"/>
                <a:cs typeface="Cambria Math"/>
              </a:defRPr>
            </a:pPr>
            <a:r>
              <a:rPr sz="1650" b="0">
                <a:solidFill>
                  <a:srgbClr val="142735"/>
                </a:solidFill>
                <a:latin typeface="Cambria Math"/>
                <a:ea typeface="Cambria Math"/>
                <a:cs typeface="Cambria Math"/>
              </a:rPr>
              <a:t>z⁻, P⁻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40113E-3B30-4D39-80A9-314517602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695450"/>
            <a:ext cx="18478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4EAD4"/>
          </a:solidFill>
          <a:ln xmlns:a="http://schemas.openxmlformats.org/drawingml/2006/main" w="19050">
            <a:solidFill>
              <a:srgbClr val="D6A84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E67966-642B-4F09-967F-31A0F0C6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809750"/>
            <a:ext cx="1543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9722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9A7326"/>
                </a:solidFill>
                <a:latin typeface="Noto Sans JP"/>
                <a:ea typeface="Noto Sans JP"/>
                <a:cs typeface="Noto Sans JP"/>
              </a:defRPr>
            </a:pPr>
            <a:r>
              <a:rPr sz="1350" b="1">
                <a:solidFill>
                  <a:srgbClr val="9A7326"/>
                </a:solidFill>
                <a:latin typeface="Noto Sans JP"/>
                <a:ea typeface="Noto Sans JP"/>
                <a:cs typeface="Noto Sans JP"/>
              </a:rPr>
              <a:t>innovation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38AF24-9307-445E-B2A4-78D29828B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105025"/>
            <a:ext cx="15430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142735"/>
                </a:solidFill>
                <a:latin typeface="Cambria Math"/>
                <a:ea typeface="Cambria Math"/>
                <a:cs typeface="Cambria Math"/>
              </a:defRPr>
            </a:pPr>
            <a:r>
              <a:rPr sz="1500" b="0">
                <a:solidFill>
                  <a:srgbClr val="142735"/>
                </a:solidFill>
                <a:latin typeface="Cambria Math"/>
                <a:ea typeface="Cambria Math"/>
                <a:cs typeface="Cambria Math"/>
              </a:rPr>
              <a:t>ν = y − Hz⁻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5A528C-C8EE-4ED7-884C-90ACEE900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695450"/>
            <a:ext cx="18478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0ECE6"/>
          </a:solidFill>
          <a:ln xmlns:a="http://schemas.openxmlformats.org/drawingml/2006/main" w="19050">
            <a:solidFill>
              <a:srgbClr val="4C8A6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3A22BB-E834-49B7-A549-91C1CD169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809750"/>
            <a:ext cx="1543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9722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4C8A6E"/>
                </a:solidFill>
                <a:latin typeface="Noto Sans JP"/>
                <a:ea typeface="Noto Sans JP"/>
                <a:cs typeface="Noto Sans JP"/>
              </a:defRPr>
            </a:pPr>
            <a:r>
              <a:rPr sz="1350" b="1">
                <a:solidFill>
                  <a:srgbClr val="4C8A6E"/>
                </a:solidFill>
                <a:latin typeface="Noto Sans JP"/>
                <a:ea typeface="Noto Sans JP"/>
                <a:cs typeface="Noto Sans JP"/>
              </a:rPr>
              <a:t>robust update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754CCF-D9D5-43E3-8426-FBDBF1150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105025"/>
            <a:ext cx="15430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9469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0">
                <a:solidFill>
                  <a:srgbClr val="142735"/>
                </a:solidFill>
                <a:latin typeface="Cambria Math"/>
                <a:ea typeface="Cambria Math"/>
                <a:cs typeface="Cambria Math"/>
              </a:defRPr>
            </a:pPr>
            <a:r>
              <a:rPr sz="1650" b="0">
                <a:solidFill>
                  <a:srgbClr val="142735"/>
                </a:solidFill>
                <a:latin typeface="Cambria Math"/>
                <a:ea typeface="Cambria Math"/>
                <a:cs typeface="Cambria Math"/>
              </a:rPr>
              <a:t>z⁺, P⁺</a:t>
            </a:r>
          </a:p>
        </p:txBody>
      </p:sp>
      <p:cxnSp>
        <p:nvCxnSpPr>
          <p:cNvPr id="63" name=""/>
          <p:cNvCxnSpPr>
            <a:stCxn xmlns:a="http://schemas.openxmlformats.org/drawingml/2006/main" id="11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210300" y="2105025"/>
            <a:ext cx="4095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F7E87"/>
            </a:solidFill>
            <a:prstDash val="solid"/>
            <a:tailEnd type="triangle" w="sm" len="sm"/>
          </a:ln>
        </p:spPr>
      </p:cxnSp>
      <p:cxnSp>
        <p:nvCxnSpPr>
          <p:cNvPr id="64" name=""/>
          <p:cNvCxnSpPr>
            <a:stCxn xmlns:a="http://schemas.openxmlformats.org/drawingml/2006/main" id="14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8467725" y="2105025"/>
            <a:ext cx="4095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F7E87"/>
            </a:solidFill>
            <a:prstDash val="solid"/>
            <a:tailEnd type="triangle" w="sm" len="sm"/>
          </a:ln>
        </p:spPr>
      </p:cxn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2D29E5-537E-40B0-9888-7602E51F8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8605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0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Van Loan / implicit Qd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DF8642-3124-4F10-89C5-4F6ADF287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68605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0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missing sensorは観測行を縮約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27FEF4-2167-4681-B837-25F5E7F01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686050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0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Joseph form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78518C-19D0-425E-AAF6-A2267A604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105150"/>
            <a:ext cx="6362700" cy="676275"/>
          </a:xfrm>
          <a:prstGeom xmlns:a="http://schemas.openxmlformats.org/drawingml/2006/main" prst="roundRect">
            <a:avLst>
              <a:gd name="adj" fmla="val 1126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EE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BAD134-A4C4-44C2-A988-5D268E44B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219450"/>
            <a:ext cx="2857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42735"/>
                </a:solidFill>
                <a:latin typeface="Cambria Math"/>
                <a:ea typeface="Cambria Math"/>
                <a:cs typeface="Cambria Math"/>
              </a:defRPr>
            </a:pPr>
            <a:r>
              <a:rPr sz="2025" b="1">
                <a:solidFill>
                  <a:srgbClr val="142735"/>
                </a:solidFill>
                <a:latin typeface="Cambria Math"/>
                <a:ea typeface="Cambria Math"/>
                <a:cs typeface="Cambria Math"/>
              </a:rPr>
              <a:t>NISₖ = νₖᵀ Sₖ⁻¹ νₖ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2B1735-8921-48A5-9B56-181967CB5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190875"/>
            <a:ext cx="2971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915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97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理想条件では χ²(dof) を基準にできる。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97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自己相関・model error・多重比較を正常保持データで校正する。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571933-5D68-4184-8442-BE80C769B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385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42735"/>
                </a:solidFill>
                <a:latin typeface="Noto Sans JP"/>
                <a:ea typeface="Noto Sans JP"/>
                <a:cs typeface="Noto Sans JP"/>
              </a:defRPr>
            </a:pPr>
            <a:r>
              <a:rPr sz="1650" b="1">
                <a:solidFill>
                  <a:srgbClr val="142735"/>
                </a:solidFill>
                <a:latin typeface="Noto Sans JP"/>
                <a:ea typeface="Noto Sans JP"/>
                <a:cs typeface="Noto Sans JP"/>
              </a:rPr>
              <a:t>線形COMSOL monitor evidence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852F20C-C7EC-4722-943F-18C5B595A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333375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EE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28D4545-9E4C-47F2-A58F-FF894D04A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66675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9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554BBA4-839F-46A7-AE62-C01529A93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8630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42735"/>
                </a:solidFill>
                <a:latin typeface="Noto Sans JP"/>
                <a:ea typeface="Noto Sans JP"/>
                <a:cs typeface="Noto Sans JP"/>
              </a:defRPr>
            </a:pPr>
            <a:r>
              <a:rPr sz="2175" b="1">
                <a:solidFill>
                  <a:srgbClr val="142735"/>
                </a:solidFill>
                <a:latin typeface="Noto Sans JP"/>
                <a:ea typeface="Noto Sans JP"/>
                <a:cs typeface="Noto Sans JP"/>
              </a:rPr>
              <a:t>0 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8A897D6-F7BD-4C79-8ED6-76A5192CB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0540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1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M03  +3 K sensor offset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52EE078-6464-4032-91A4-023D9A68E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91150"/>
            <a:ext cx="304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0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最大NIS 403.305。検知前のfalse alert 0。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CCC19E4-0D6D-4B50-A0CD-9790E6406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552950"/>
            <a:ext cx="333375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EE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ED68584-F037-4E54-8119-6CB43F1DA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552950"/>
            <a:ext cx="66675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E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51E57E-A1AD-4669-8372-05E5F2405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68630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42735"/>
                </a:solidFill>
                <a:latin typeface="Noto Sans JP"/>
                <a:ea typeface="Noto Sans JP"/>
                <a:cs typeface="Noto Sans JP"/>
              </a:defRPr>
            </a:pPr>
            <a:r>
              <a:rPr sz="2175" b="1">
                <a:solidFill>
                  <a:srgbClr val="142735"/>
                </a:solidFill>
                <a:latin typeface="Noto Sans JP"/>
                <a:ea typeface="Noto Sans JP"/>
                <a:cs typeface="Noto Sans JP"/>
              </a:rPr>
              <a:t>0.040 K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1A26204-1752-4EC3-AEC9-9FB8D43A2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10540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1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M04  欠測区間posterior RMSE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BB4BAB5-6593-4C4F-9CD4-BFC270A1F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391150"/>
            <a:ext cx="304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0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132点の欠測後もposteriorは有限。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5E83C27-2FB4-42EB-A4BB-BA3EC315B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52950"/>
            <a:ext cx="38481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EE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6F0B60A-3D68-486E-88C3-F316F3DA8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52950"/>
            <a:ext cx="66675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8A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2627EE9-2AEF-4B47-8358-C25BF5526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686300"/>
            <a:ext cx="3562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42735"/>
                </a:solidFill>
                <a:latin typeface="Noto Sans JP"/>
                <a:ea typeface="Noto Sans JP"/>
                <a:cs typeface="Noto Sans JP"/>
              </a:defRPr>
            </a:pPr>
            <a:r>
              <a:rPr sz="2175" b="1">
                <a:solidFill>
                  <a:srgbClr val="142735"/>
                </a:solidFill>
                <a:latin typeface="Noto Sans JP"/>
                <a:ea typeface="Noto Sans JP"/>
                <a:cs typeface="Noto Sans JP"/>
              </a:rPr>
              <a:t>10 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8340CBF-9C3D-4343-A8DA-855C57E58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105400"/>
            <a:ext cx="3562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1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M05  3 W hidden heat detection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1C65CBA-EAB2-44EA-9234-6248913D9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91150"/>
            <a:ext cx="3562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0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推定peak 3.182 W。event中bias ≤ 0.061 K。</a:t>
            </a:r>
          </a:p>
        </p:txBody>
      </p:sp>
    </p:spTree>
    <p:extLst>
      <p:ext uri="{BB962C8B-B14F-4D97-AF65-F5344CB8AC3E}">
        <p14:creationId xmlns:p14="http://schemas.microsoft.com/office/powerpoint/2010/main" val="149875065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8083EE-2ACB-45E8-914C-05209CD77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rPr>
              <a:t>BENCHMARK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17CC5-3B80-46C7-8E4D-8A55C9E73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0" rIns="28575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42735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142735"/>
                </a:solidFill>
                <a:latin typeface="Yu Gothic"/>
                <a:ea typeface="Yu Gothic"/>
                <a:cs typeface="Yu Gothic"/>
              </a:rPr>
              <a:t>TopCell合成benchmarkはcore予測11ケースを通過した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11AE12-6BC7-41A2-8160-EB4A239EB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1075"/>
            <a:ext cx="1057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既知真値に対する回帰試験。F11 model gapはcore集計から分離して表示する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4ECB0E-0468-4099-A701-93BD457D3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DEE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DB7F20-07EE-44C9-9594-A945CB1EB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25" b="1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1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A01191-3024-45BC-9125-5B03A88DB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562850" cy="4495800"/>
          </a:xfrm>
          <a:prstGeom xmlns:a="http://schemas.openxmlformats.org/drawingml/2006/main" prst="roundRect">
            <a:avLst>
              <a:gd name="adj" fmla="val 25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EE3"/>
            </a:solidFill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800100" y="1676400"/>
          <a:ext xmlns:a="http://schemas.openxmlformats.org/drawingml/2006/main" cx="718185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d300c756a7e4877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2F62A9-9863-4A68-BF3D-6DF78EFEF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524000"/>
            <a:ext cx="3162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EE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09F1D1-68F9-4A7C-91DA-A6BB5D637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524000"/>
            <a:ext cx="6667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9D9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1B90DE-755B-4275-A077-4ED11D749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657350"/>
            <a:ext cx="2876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42735"/>
                </a:solidFill>
                <a:latin typeface="Noto Sans JP"/>
                <a:ea typeface="Noto Sans JP"/>
                <a:cs typeface="Noto Sans JP"/>
              </a:defRPr>
            </a:pPr>
            <a:r>
              <a:rPr sz="2175" b="1">
                <a:solidFill>
                  <a:srgbClr val="142735"/>
                </a:solidFill>
                <a:latin typeface="Noto Sans JP"/>
                <a:ea typeface="Noto Sans JP"/>
                <a:cs typeface="Noto Sans JP"/>
              </a:rPr>
              <a:t>0.143 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9016C3-7BAB-4D6E-87DC-F11B7E8E0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076450"/>
            <a:ext cx="2876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1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core平均RMSE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A7D28A-F2CE-4B3C-A420-8FE3DF949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667000"/>
            <a:ext cx="3162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E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89112C-F156-4831-9946-2D412A879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667000"/>
            <a:ext cx="6667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9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20A66F-A035-44B0-A9BC-426710F60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800350"/>
            <a:ext cx="2876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42735"/>
                </a:solidFill>
                <a:latin typeface="Noto Sans JP"/>
                <a:ea typeface="Noto Sans JP"/>
                <a:cs typeface="Noto Sans JP"/>
              </a:defRPr>
            </a:pPr>
            <a:r>
              <a:rPr sz="2175" b="1">
                <a:solidFill>
                  <a:srgbClr val="142735"/>
                </a:solidFill>
                <a:latin typeface="Noto Sans JP"/>
                <a:ea typeface="Noto Sans JP"/>
                <a:cs typeface="Noto Sans JP"/>
              </a:rPr>
              <a:t>1.303 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6D8704-3DEE-4798-8813-DD3156F99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219450"/>
            <a:ext cx="2876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1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core最大RMSE  F09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6670B2-0AD6-4BF7-94E2-D3E62F875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505200"/>
            <a:ext cx="287655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4545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0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初期観測が4点中2点のみ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365D06-4C8B-4DF1-A803-F5DDFE1E1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810000"/>
            <a:ext cx="3162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EE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B729D7-E5E7-4F74-ACD8-9B41DAAB7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810000"/>
            <a:ext cx="6667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E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9DDB5B-1E19-432F-8323-F50356430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943350"/>
            <a:ext cx="2876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42735"/>
                </a:solidFill>
                <a:latin typeface="Noto Sans JP"/>
                <a:ea typeface="Noto Sans JP"/>
                <a:cs typeface="Noto Sans JP"/>
              </a:defRPr>
            </a:pPr>
            <a:r>
              <a:rPr sz="2175" b="1">
                <a:solidFill>
                  <a:srgbClr val="142735"/>
                </a:solidFill>
                <a:latin typeface="Noto Sans JP"/>
                <a:ea typeface="Noto Sans JP"/>
                <a:cs typeface="Noto Sans JP"/>
              </a:rPr>
              <a:t>7.185 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524B2F-9018-4C66-BE1D-97107E0C0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362450"/>
            <a:ext cx="2876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1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事前モデル平均RMSE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8E5B92-599D-4A2E-8194-A52FB4866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53000"/>
            <a:ext cx="31623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EE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29A9DC-3705-45F3-8F3A-CCA770F8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5300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B50AEF3-024A-431C-AB58-6F258E058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086350"/>
            <a:ext cx="2876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42735"/>
                </a:solidFill>
                <a:latin typeface="Noto Sans JP"/>
                <a:ea typeface="Noto Sans JP"/>
                <a:cs typeface="Noto Sans JP"/>
              </a:defRPr>
            </a:pPr>
            <a:r>
              <a:rPr sz="2175" b="1">
                <a:solidFill>
                  <a:srgbClr val="142735"/>
                </a:solidFill>
                <a:latin typeface="Noto Sans JP"/>
                <a:ea typeface="Noto Sans JP"/>
                <a:cs typeface="Noto Sans JP"/>
              </a:rPr>
              <a:t>9.823 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DE6CFC8-E356-4490-89BA-C41491475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505450"/>
            <a:ext cx="2876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1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意図的model gap  F11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674E4D2-662C-4834-B0E6-94173AC6B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791200"/>
            <a:ext cx="2876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0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温度依存heat lossを未表現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536786-33E3-474D-8346-B1FC0E7D5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115050"/>
            <a:ext cx="1095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0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F01–F10, F12をcore集計。F11は仕様上のmodel-form failureを可視化する独立ケース。</a:t>
            </a:r>
          </a:p>
        </p:txBody>
      </p:sp>
    </p:spTree>
    <p:extLst>
      <p:ext uri="{BB962C8B-B14F-4D97-AF65-F5344CB8AC3E}">
        <p14:creationId xmlns:p14="http://schemas.microsoft.com/office/powerpoint/2010/main" val="6390167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73E09C-E28F-4084-850A-BAFCE59E3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rPr>
              <a:t>BENCHMARK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5C0563-DD3B-40D5-8498-18E380DBF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0" rIns="28575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42735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142735"/>
                </a:solidFill>
                <a:latin typeface="Yu Gothic"/>
                <a:ea typeface="Yu Gothic"/>
                <a:cs typeface="Yu Gothic"/>
              </a:rPr>
              <a:t>線形COMSOL外部8ケースで平均RMSE 0.036 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66B937-D0B4-409C-B45D-C9F59F61D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1075"/>
            <a:ext cx="1057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体積平均3温度に対する評価。局所hotspot誤差は別指標として扱う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334797-32E1-459F-A908-501DDA3CB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DEE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E771DD-B2A6-4E3B-ADFF-30BBA77C2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25" b="1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1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E1037B-85C6-418D-BC4A-FFEE91E37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239000" cy="4495800"/>
          </a:xfrm>
          <a:prstGeom xmlns:a="http://schemas.openxmlformats.org/drawingml/2006/main" prst="roundRect">
            <a:avLst>
              <a:gd name="adj" fmla="val 25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EE3"/>
            </a:solidFill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800100" y="1676400"/>
          <a:ext xmlns:a="http://schemas.openxmlformats.org/drawingml/2006/main" cx="6858000" cy="40767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d21a266f47744c2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8C2338-08D4-49DA-8DDA-B32F0F707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24000"/>
            <a:ext cx="34861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EE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708363-4DB9-4450-94A5-2DF7C32EF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24000"/>
            <a:ext cx="6667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9D9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A3434B-0134-4AC1-BA40-521ADA4EA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57350"/>
            <a:ext cx="320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42735"/>
                </a:solidFill>
                <a:latin typeface="Noto Sans JP"/>
                <a:ea typeface="Noto Sans JP"/>
                <a:cs typeface="Noto Sans JP"/>
              </a:defRPr>
            </a:pPr>
            <a:r>
              <a:rPr sz="2175" b="1">
                <a:solidFill>
                  <a:srgbClr val="142735"/>
                </a:solidFill>
                <a:latin typeface="Noto Sans JP"/>
                <a:ea typeface="Noto Sans JP"/>
                <a:cs typeface="Noto Sans JP"/>
              </a:rPr>
              <a:t>0.036 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79E015-C0CD-46EC-BB17-11E5BDD44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76450"/>
            <a:ext cx="320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1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8ケース平均RMSE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92C569-BE02-4751-B827-4CC0C2BD1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62200"/>
            <a:ext cx="32004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4545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0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screening limit 0.25 K未満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0E0283-7464-4CC9-BE95-0A1FBDD18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67000"/>
            <a:ext cx="34861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EE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8A6D2A-C35B-4F21-9617-33B47539E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67000"/>
            <a:ext cx="6667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9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26832B-37F7-4A27-ADEA-3692DCD36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00350"/>
            <a:ext cx="320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42735"/>
                </a:solidFill>
                <a:latin typeface="Noto Sans JP"/>
                <a:ea typeface="Noto Sans JP"/>
                <a:cs typeface="Noto Sans JP"/>
              </a:defRPr>
            </a:pPr>
            <a:r>
              <a:rPr sz="2175" b="1">
                <a:solidFill>
                  <a:srgbClr val="142735"/>
                </a:solidFill>
                <a:latin typeface="Noto Sans JP"/>
                <a:ea typeface="Noto Sans JP"/>
                <a:cs typeface="Noto Sans JP"/>
              </a:rPr>
              <a:t>0.083 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2DD240-BE35-48F4-8B10-D5CB7E515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219450"/>
            <a:ext cx="320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1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最大RMSE  F05 short pulses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6E86EB-D0AE-4809-85AB-BCC8D76DC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810000"/>
            <a:ext cx="34861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EE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68163F-E99E-4D1E-97F2-35928F9FF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810000"/>
            <a:ext cx="6667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8A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0937A9-ABA7-4F3D-8079-04D3F91B9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943350"/>
            <a:ext cx="320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42735"/>
                </a:solidFill>
                <a:latin typeface="Noto Sans JP"/>
                <a:ea typeface="Noto Sans JP"/>
                <a:cs typeface="Noto Sans JP"/>
              </a:defRPr>
            </a:pPr>
            <a:r>
              <a:rPr sz="2175" b="1">
                <a:solidFill>
                  <a:srgbClr val="142735"/>
                </a:solidFill>
                <a:latin typeface="Noto Sans JP"/>
                <a:ea typeface="Noto Sans JP"/>
                <a:cs typeface="Noto Sans JP"/>
              </a:rPr>
              <a:t>99.06%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9BE2AD-D319-41FE-8460-395D47944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362450"/>
            <a:ext cx="320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1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事前モデル比 平均改善率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831BD3-7C77-43C3-8E1E-C745BD340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648200"/>
            <a:ext cx="32004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4545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0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prior平均 7.362 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223138-3B2F-4BA8-BCDC-0564A4835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953000"/>
            <a:ext cx="34861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EE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7A9CAC-3A50-4F2E-8A53-F1F11646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95300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326475-1774-4235-8876-331DD515A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086350"/>
            <a:ext cx="320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42735"/>
                </a:solidFill>
                <a:latin typeface="Noto Sans JP"/>
                <a:ea typeface="Noto Sans JP"/>
                <a:cs typeface="Noto Sans JP"/>
              </a:defRPr>
            </a:pPr>
            <a:r>
              <a:rPr sz="2175" b="1">
                <a:solidFill>
                  <a:srgbClr val="142735"/>
                </a:solidFill>
                <a:latin typeface="Noto Sans JP"/>
                <a:ea typeface="Noto Sans JP"/>
                <a:cs typeface="Noto Sans JP"/>
              </a:rPr>
              <a:t>0.328 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360E94-4866-4439-B4F6-DB9BD8CA8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505450"/>
            <a:ext cx="320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1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最大hotspot過小評価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65E3D11-A9F1-46DB-A882-95692D1A8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791200"/>
            <a:ext cx="3200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0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平均温度の精度から局所安全余裕を推定しない</a:t>
            </a:r>
          </a:p>
        </p:txBody>
      </p:sp>
    </p:spTree>
    <p:extLst>
      <p:ext uri="{BB962C8B-B14F-4D97-AF65-F5344CB8AC3E}">
        <p14:creationId xmlns:p14="http://schemas.microsoft.com/office/powerpoint/2010/main" val="160711860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67F8BD2-5552-4520-B91E-EFEAA1173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rPr>
              <a:t>VALIDATION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2C6201-49CE-4F72-ACC5-52DE5AC70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0" rIns="28575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42735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142735"/>
                </a:solidFill>
                <a:latin typeface="Yu Gothic"/>
                <a:ea typeface="Yu Gothic"/>
                <a:cs typeface="Yu Gothic"/>
              </a:rPr>
              <a:t>高忠実度CAEでは誤差よりメッシュ不確かさが支配的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DE947A-4886-4CBB-B314-5FB78A257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1075"/>
            <a:ext cx="1057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数値はmodel-form screeningに使えるが、厳密妥当化は未達である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699C04-A5D7-4274-8A75-00EE41061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DEE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098ECE-B84E-4541-A62E-563C6B217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25" b="1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1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8341C8-1D2B-4E82-AD1F-A684A9140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6572250" cy="428625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EE3"/>
            </a:solidFill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819150" y="1704975"/>
          <a:ext xmlns:a="http://schemas.openxmlformats.org/drawingml/2006/main" cx="6153150" cy="37814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fcd5d08bfdb4eaa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B59EB6-9210-47D6-B7C4-6B3711C12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524500"/>
            <a:ext cx="6153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4F9D9B"/>
                </a:solidFill>
                <a:latin typeface="Noto Sans JP"/>
                <a:ea typeface="Noto Sans JP"/>
                <a:cs typeface="Noto Sans JP"/>
              </a:defRPr>
            </a:pPr>
            <a:r>
              <a:rPr sz="975" b="1">
                <a:solidFill>
                  <a:srgbClr val="4F9D9B"/>
                </a:solidFill>
                <a:latin typeface="Noto Sans JP"/>
                <a:ea typeface="Noto Sans JP"/>
                <a:cs typeface="Noto Sans JP"/>
              </a:rPr>
              <a:t>2ケース平均 learned RMSE 0.0956 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AC2F1D-E70A-4BD8-90F9-F9E7BB4D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524000"/>
            <a:ext cx="4152900" cy="4286250"/>
          </a:xfrm>
          <a:prstGeom xmlns:a="http://schemas.openxmlformats.org/drawingml/2006/main" prst="roundRect">
            <a:avLst>
              <a:gd name="adj" fmla="val 2752"/>
            </a:avLst>
          </a:prstGeom>
          <a:solidFill xmlns:a="http://schemas.openxmlformats.org/drawingml/2006/main">
            <a:srgbClr val="1427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9F682A-F36F-49AE-BFBC-603A26ED1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752600"/>
            <a:ext cx="3657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165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証拠レベル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BD03A9-8E25-4173-9C9A-E6CEC8B8D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276475"/>
            <a:ext cx="1600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1125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scalar error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2022FA-68FE-488B-A67C-50AC51F49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524125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C9D8DE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0">
                <a:solidFill>
                  <a:srgbClr val="C9D8DE"/>
                </a:solidFill>
                <a:latin typeface="Noto Sans JP"/>
                <a:ea typeface="Noto Sans JP"/>
                <a:cs typeface="Noto Sans JP"/>
              </a:rPr>
              <a:t>全33点が隣接mesh差以内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C95435-4E93-4B44-A24C-0BDC4763B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314575"/>
            <a:ext cx="8953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C8A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6CCC36-03BC-4A21-9E67-F2877A797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2333625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1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PASS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F47A70-FA74-43D3-B5DA-1BFB839FA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914650"/>
            <a:ext cx="1600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1125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mesh convergence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5C346F-1D0E-4392-99F4-42BD2CE07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1623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C9D8DE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0">
                <a:solidFill>
                  <a:srgbClr val="C9D8DE"/>
                </a:solidFill>
                <a:latin typeface="Noto Sans JP"/>
                <a:ea typeface="Noto Sans JP"/>
                <a:cs typeface="Noto Sans JP"/>
              </a:rPr>
              <a:t>最大隣接mesh差 0.496 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CAA7A0-6E74-4E4B-8D4D-BA05D2D46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952750"/>
            <a:ext cx="8953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A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F154D8-1B55-4753-8BCB-480D2B71D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2971800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1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OPEN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D74CD7-DFDE-47EC-8F36-5A906D17E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552825"/>
            <a:ext cx="1600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9855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1125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temporal convergence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087718-BF88-459D-B1EC-B15991988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800475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C9D8DE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0">
                <a:solidFill>
                  <a:srgbClr val="C9D8DE"/>
                </a:solidFill>
                <a:latin typeface="Noto Sans JP"/>
                <a:ea typeface="Noto Sans JP"/>
                <a:cs typeface="Noto Sans JP"/>
              </a:rPr>
              <a:t>未qualified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E429A6-97C1-40D7-96FF-B7A94EF16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3590925"/>
            <a:ext cx="8953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A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69B196-B8B9-4A90-9C20-FA3D341F7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3609975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1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OPEN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99B9BE-3322-4130-901B-FF76B940C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191000"/>
            <a:ext cx="1600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923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1125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experiment comparison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400113-3D3D-4D1F-96AE-F2592D539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43865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C9D8DE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0">
                <a:solidFill>
                  <a:srgbClr val="C9D8DE"/>
                </a:solidFill>
                <a:latin typeface="Noto Sans JP"/>
                <a:ea typeface="Noto Sans JP"/>
                <a:cs typeface="Noto Sans JP"/>
              </a:rPr>
              <a:t>未実施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15CB1D-4B1A-4198-9B13-22BF3D53B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4229100"/>
            <a:ext cx="8953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9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33D174-DB0C-4441-AD92-E25EE8CE9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4248150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1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OPEN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35F8EA1-4AAE-487E-ADA1-DC984282A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895850"/>
            <a:ext cx="3657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9647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EBBE1AF-3042-4424-8D6D-03E523264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057775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4F9D9B"/>
                </a:solidFill>
                <a:latin typeface="Noto Sans JP"/>
                <a:ea typeface="Noto Sans JP"/>
                <a:cs typeface="Noto Sans JP"/>
              </a:defRPr>
            </a:pPr>
            <a:r>
              <a:rPr sz="975" b="1">
                <a:solidFill>
                  <a:srgbClr val="4F9D9B"/>
                </a:solidFill>
                <a:latin typeface="Noto Sans JP"/>
                <a:ea typeface="Noto Sans JP"/>
                <a:cs typeface="Noto Sans JP"/>
              </a:rPr>
              <a:t>放射pair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BA8D30E-1D96-420B-9093-88F44F1B0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038725"/>
            <a:ext cx="2552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0">
                <a:solidFill>
                  <a:srgbClr val="FFFFFF"/>
                </a:solidFill>
                <a:latin typeface="Cambria Math"/>
                <a:ea typeface="Cambria Math"/>
                <a:cs typeface="Cambria Math"/>
              </a:defRPr>
            </a:pPr>
            <a:r>
              <a:rPr sz="1050" b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truth効果 0.393 K / mesh差 0.492 K = 0.798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55D697-000C-4401-8016-B7DB28898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953125"/>
            <a:ext cx="4152900" cy="342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4DFDA"/>
          </a:solidFill>
          <a:ln xmlns:a="http://schemas.openxmlformats.org/drawingml/2006/main" w="9525">
            <a:solidFill>
              <a:srgbClr val="D979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3609B57-28C5-4AF8-B79D-A76EC83A4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6000750"/>
            <a:ext cx="3924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B9574A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1">
                <a:solidFill>
                  <a:srgbClr val="B9574A"/>
                </a:solidFill>
                <a:latin typeface="Noto Sans JP"/>
                <a:ea typeface="Noto Sans JP"/>
                <a:cs typeface="Noto Sans JP"/>
              </a:rPr>
              <a:t>strict validation status: not qualified</a:t>
            </a:r>
          </a:p>
        </p:txBody>
      </p:sp>
    </p:spTree>
    <p:extLst>
      <p:ext uri="{BB962C8B-B14F-4D97-AF65-F5344CB8AC3E}">
        <p14:creationId xmlns:p14="http://schemas.microsoft.com/office/powerpoint/2010/main" val="16138205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6E26F8-9EEE-4E62-BE69-AF506F0E7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rPr>
              <a:t>DECISION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B8EBCD-C4C5-4ACD-B685-98836A3CD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0" rIns="28575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42735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142735"/>
                </a:solidFill>
                <a:latin typeface="Yu Gothic"/>
                <a:ea typeface="Yu Gothic"/>
                <a:cs typeface="Yu Gothic"/>
              </a:rPr>
              <a:t>精度と妥当性証拠を分離して採用判定する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2C1137-27A9-423F-967D-18B64E9E5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1075"/>
            <a:ext cx="1057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ソフトウェア試験の合格は、装置ごとの安全性・性能妥当化を代替しない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AE29C2-BDB8-4FC4-9D95-CB43E3FBF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DEE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690D8E-75F7-4DB0-98D2-CF4C7CB93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25" b="1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1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12</a:t>
            </a:r>
          </a:p>
        </p:txBody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609600" y="1581150"/>
          <a:ext xmlns:a="http://schemas.openxmlformats.org/drawingml/2006/main" cx="109728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47800"/>
                <a:gridCol w="3143250"/>
                <a:gridCol w="4286250"/>
                <a:gridCol w="2095500"/>
              </a:tblGrid>
              <a:tr h="489857"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</a:rPr>
                        <a:t>Gate</a:t>
                      </a:r>
                    </a:p>
                  </a:txBody>
                  <a:tcPr marL="91440" marR="91440" marT="45720" marB="45720">
                    <a:solidFill>
                      <a:srgbClr val="1427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</a:rPr>
                        <a:t>確認対象</a:t>
                      </a:r>
                    </a:p>
                  </a:txBody>
                  <a:tcPr marL="91440" marR="91440" marT="45720" marB="45720">
                    <a:solidFill>
                      <a:srgbClr val="1427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</a:rPr>
                        <a:t>現時点の証拠</a:t>
                      </a:r>
                    </a:p>
                  </a:txBody>
                  <a:tcPr marL="91440" marR="91440" marT="45720" marB="45720">
                    <a:solidFill>
                      <a:srgbClr val="1427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</a:rPr>
                        <a:t>判定</a:t>
                      </a:r>
                    </a:p>
                  </a:txBody>
                  <a:tcPr marL="91440" marR="91440" marT="45720" marB="45720">
                    <a:solidFill>
                      <a:srgbClr val="142735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3F515D"/>
                          </a:solidFill>
                        </a:rPr>
                        <a:t>Software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3F515D"/>
                          </a:solidFill>
                        </a:rPr>
                        <a:t>format / lint / types / unit / property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3F515D"/>
                          </a:solidFill>
                        </a:rPr>
                        <a:t>fast quality gate pass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356650"/>
                          </a:solidFill>
                        </a:rPr>
                        <a:t>利用可</a:t>
                      </a:r>
                    </a:p>
                  </a:txBody>
                  <a:tcPr marL="91440" marR="91440" marT="45720" marB="45720">
                    <a:solidFill>
                      <a:srgbClr val="E0ECE6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3F515D"/>
                          </a:solidFill>
                        </a:rPr>
                        <a:t>Physics</a:t>
                      </a:r>
                    </a:p>
                  </a:txBody>
                  <a:tcPr marL="91440" marR="91440" marT="45720" marB="45720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3F515D"/>
                          </a:solidFill>
                        </a:rPr>
                        <a:t>単位、熱容量、境界、受動性</a:t>
                      </a:r>
                    </a:p>
                  </a:txBody>
                  <a:tcPr marL="91440" marR="91440" marT="45720" marB="45720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3F515D"/>
                          </a:solidFill>
                        </a:rPr>
                        <a:t>schema v3・正値制約・CAE回路</a:t>
                      </a:r>
                    </a:p>
                  </a:txBody>
                  <a:tcPr marL="91440" marR="91440" marT="45720" marB="45720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77591E"/>
                          </a:solidFill>
                        </a:rPr>
                        <a:t>要装置確認</a:t>
                      </a:r>
                    </a:p>
                  </a:txBody>
                  <a:tcPr marL="91440" marR="91440" marT="45720" marB="45720">
                    <a:solidFill>
                      <a:srgbClr val="F4EAD4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3F515D"/>
                          </a:solidFill>
                        </a:rPr>
                        <a:t>Prediction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3F515D"/>
                          </a:solidFill>
                        </a:rPr>
                        <a:t>独立case RMSE、worst、phase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3F515D"/>
                          </a:solidFill>
                        </a:rPr>
                        <a:t>TopCell / linear COMSOL pass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356650"/>
                          </a:solidFill>
                        </a:rPr>
                        <a:t>screening可</a:t>
                      </a:r>
                    </a:p>
                  </a:txBody>
                  <a:tcPr marL="91440" marR="91440" marT="45720" marB="45720">
                    <a:solidFill>
                      <a:srgbClr val="E0ECE6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3F515D"/>
                          </a:solidFill>
                        </a:rPr>
                        <a:t>Monitoring</a:t>
                      </a:r>
                    </a:p>
                  </a:txBody>
                  <a:tcPr marL="91440" marR="91440" marT="45720" marB="45720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3F515D"/>
                          </a:solidFill>
                        </a:rPr>
                        <a:t>検知遅れ、false alert、誤帰属</a:t>
                      </a:r>
                    </a:p>
                  </a:txBody>
                  <a:tcPr marL="91440" marR="91440" marT="45720" marB="45720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3F515D"/>
                          </a:solidFill>
                        </a:rPr>
                        <a:t>offset・欠測・hidden heat cases</a:t>
                      </a:r>
                    </a:p>
                  </a:txBody>
                  <a:tcPr marL="91440" marR="91440" marT="45720" marB="45720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77591E"/>
                          </a:solidFill>
                        </a:rPr>
                        <a:t>現場校正要</a:t>
                      </a:r>
                    </a:p>
                  </a:txBody>
                  <a:tcPr marL="91440" marR="91440" marT="45720" marB="45720">
                    <a:solidFill>
                      <a:srgbClr val="F4EAD4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3F515D"/>
                          </a:solidFill>
                        </a:rPr>
                        <a:t>Model form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3F515D"/>
                          </a:solidFill>
                        </a:rPr>
                        <a:t>放射、物性依存、hotspot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3F515D"/>
                          </a:solidFill>
                        </a:rPr>
                        <a:t>意図的gapとnonlinear CAEで可視化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77591E"/>
                          </a:solidFill>
                        </a:rPr>
                        <a:t>範囲制限</a:t>
                      </a:r>
                    </a:p>
                  </a:txBody>
                  <a:tcPr marL="91440" marR="91440" marT="45720" marB="45720">
                    <a:solidFill>
                      <a:srgbClr val="F4EAD4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3F515D"/>
                          </a:solidFill>
                        </a:rPr>
                        <a:t>Validation</a:t>
                      </a:r>
                    </a:p>
                  </a:txBody>
                  <a:tcPr marL="91440" marR="91440" marT="45720" marB="45720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3F515D"/>
                          </a:solidFill>
                        </a:rPr>
                        <a:t>mesh・time・実験との比較</a:t>
                      </a:r>
                    </a:p>
                  </a:txBody>
                  <a:tcPr marL="91440" marR="91440" marT="45720" marB="45720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3F515D"/>
                          </a:solidFill>
                        </a:rPr>
                        <a:t>high-fidelity strict status not qualified</a:t>
                      </a:r>
                    </a:p>
                  </a:txBody>
                  <a:tcPr marL="91440" marR="91440" marT="45720" marB="45720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B9574A"/>
                          </a:solidFill>
                        </a:rPr>
                        <a:t>未完了</a:t>
                      </a:r>
                    </a:p>
                  </a:txBody>
                  <a:tcPr marL="91440" marR="91440" marT="45720" marB="45720">
                    <a:solidFill>
                      <a:srgbClr val="F4DFDA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72F784-1F9B-4E2F-A5AB-8B422E5E0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34099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E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32959F-9FDA-4A57-AD53-EEAF74F49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38775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42735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1">
                <a:solidFill>
                  <a:srgbClr val="142735"/>
                </a:solidFill>
                <a:latin typeface="Noto Sans JP"/>
                <a:ea typeface="Noto Sans JP"/>
                <a:cs typeface="Noto Sans JP"/>
              </a:rPr>
              <a:t>採用前に固定するもの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976118-0B19-4AC8-B4ED-2613A150A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43575"/>
            <a:ext cx="3028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運転域、許容誤差、安全余裕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023C02-D7BB-41F4-A312-F22A340EC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286375"/>
            <a:ext cx="34099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EE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9C934B-34A9-47D2-BF08-E8D4EE072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438775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42735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1">
                <a:solidFill>
                  <a:srgbClr val="142735"/>
                </a:solidFill>
                <a:latin typeface="Noto Sans JP"/>
                <a:ea typeface="Noto Sans JP"/>
                <a:cs typeface="Noto Sans JP"/>
              </a:rPr>
              <a:t>再評価を起動する変更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B00D9C-2E87-45D5-AA15-6A39FC475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743575"/>
            <a:ext cx="3028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125" b="0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材質、geometry、sensor、境界条件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6F23A6-B9F3-4EEE-8EF7-4ABFE0096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286375"/>
            <a:ext cx="36576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1427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5FD37C-4303-4D4D-89CB-F8B0378CE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438775"/>
            <a:ext cx="685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rPr>
              <a:t>結論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6057CA-0227-4690-B8BD-1CAF0527A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5400675"/>
            <a:ext cx="2533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1275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予測・監視の基盤として有効。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1275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製品保証には装置別V&amp;Vが必要。</a:t>
            </a:r>
          </a:p>
        </p:txBody>
      </p:sp>
    </p:spTree>
    <p:extLst>
      <p:ext uri="{BB962C8B-B14F-4D97-AF65-F5344CB8AC3E}">
        <p14:creationId xmlns:p14="http://schemas.microsoft.com/office/powerpoint/2010/main" val="185466584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43ED7BB-1165-4D3D-AACB-A7B5EB988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rPr>
              <a:t>REFERENCES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6AA24E-9D19-4F64-B663-C23B55B7E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0" rIns="28575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42735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142735"/>
                </a:solidFill>
                <a:latin typeface="Yu Gothic"/>
                <a:ea typeface="Yu Gothic"/>
                <a:cs typeface="Yu Gothic"/>
              </a:rPr>
              <a:t>理論、実装、評価成果物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C14FB0-3310-4755-BA81-EA14A7A7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1075"/>
            <a:ext cx="1057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数値の完全な出典パスと補足条件は各スライドのspeaker notesに記載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D983B3-B6F6-42DF-A455-A77640F05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DEE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7AF9C2-CB9D-4474-9BAF-F34F6135D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25" b="1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1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1E2298-141C-4AE5-8A15-6CFD77D6C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5314950" cy="4514850"/>
          </a:xfrm>
          <a:prstGeom xmlns:a="http://schemas.openxmlformats.org/drawingml/2006/main" prst="roundRect">
            <a:avLst>
              <a:gd name="adj" fmla="val 25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EE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37181F-8856-413D-AB3F-88E500750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52600"/>
            <a:ext cx="485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42735"/>
                </a:solidFill>
                <a:latin typeface="Noto Sans JP"/>
                <a:ea typeface="Noto Sans JP"/>
                <a:cs typeface="Noto Sans JP"/>
              </a:defRPr>
            </a:pPr>
            <a:r>
              <a:rPr sz="1650" b="1">
                <a:solidFill>
                  <a:srgbClr val="142735"/>
                </a:solidFill>
                <a:latin typeface="Noto Sans JP"/>
                <a:ea typeface="Noto Sans JP"/>
                <a:cs typeface="Noto Sans JP"/>
              </a:rPr>
              <a:t>Repository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4694CD-C51A-421D-ABC2-F89EC68F7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76475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rPr>
              <a:t>[E1]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1C6BC4-1647-4EAE-BB54-134DB4208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76475"/>
            <a:ext cx="3943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125" b="1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TopCell benchmark summary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C88412-A3D5-4CE2-846C-18EAD8DF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524125"/>
            <a:ext cx="3943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0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benchmarks/topcell/.../benchmark_summary.json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E74544-F8F1-4EF3-A473-C67F24AB4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57500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rPr>
              <a:t>[E2]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521943-6975-4CCA-9A3C-0D589BE91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57500"/>
            <a:ext cx="3943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125" b="1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Linear COMSOL forecast metrics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82A53B-5875-4654-8C6C-CA04BE94E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105150"/>
            <a:ext cx="3943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0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.../source_data/linear_forecast_metrics.csv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795DDC-DC1A-4A41-A704-3D72B4A14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38525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rPr>
              <a:t>[E8]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7025B8-5715-46FA-BB97-ADA7B0E19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438525"/>
            <a:ext cx="3943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125" b="1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Linear COMSOL monitor metrics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87EF9C-2F18-48CC-90CC-840782006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686175"/>
            <a:ext cx="3943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0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.../source_data/linear_monitor_metrics.csv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5F31EB-8A1D-469E-BBEF-A44E9C67E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19550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rPr>
              <a:t>[E4]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6A2A1F-C07C-4717-B97B-65D43FD6E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19550"/>
            <a:ext cx="3943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125" b="1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High-fidelity benchmark summary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8E41FB-A75D-4822-9F8C-DC632AE9B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267200"/>
            <a:ext cx="3943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0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.../nonlinear_high_fidelity/benchmark/summary.json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BCDFE6-0651-41A2-A7B1-A6BCBA751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00575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rPr>
              <a:t>[C3–C5]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016FD2-4855-4A10-A160-6CC598735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600575"/>
            <a:ext cx="3943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125" b="1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RC engine, integrator, observer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9FE6E3-2EA4-4301-BD54-315C67130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848225"/>
            <a:ext cx="3943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0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src/celltemp/engine/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EFA1D6-38BB-4ADB-B669-9F272E188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81600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rPr>
              <a:t>[C7–C10]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0B94DD-6E69-4B13-AFB3-E3A94706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81600"/>
            <a:ext cx="3943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F515D"/>
                </a:solidFill>
                <a:latin typeface="Noto Sans JP"/>
                <a:ea typeface="Noto Sans JP"/>
                <a:cs typeface="Noto Sans JP"/>
              </a:defRPr>
            </a:pPr>
            <a:r>
              <a:rPr sz="1125" b="1">
                <a:solidFill>
                  <a:srgbClr val="3F515D"/>
                </a:solidFill>
                <a:latin typeface="Noto Sans JP"/>
                <a:ea typeface="Noto Sans JP"/>
                <a:cs typeface="Noto Sans JP"/>
              </a:rPr>
              <a:t>objective, trainer, forecast, monitor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CBE226-046C-450B-852F-595D7771D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429250"/>
            <a:ext cx="3943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F7E87"/>
                </a:solidFill>
                <a:latin typeface="Noto Sans JP"/>
                <a:ea typeface="Noto Sans JP"/>
                <a:cs typeface="Noto Sans JP"/>
              </a:defRPr>
            </a:pPr>
            <a:r>
              <a:rPr sz="825" b="0">
                <a:solidFill>
                  <a:srgbClr val="6F7E87"/>
                </a:solidFill>
                <a:latin typeface="Noto Sans JP"/>
                <a:ea typeface="Noto Sans JP"/>
                <a:cs typeface="Noto Sans JP"/>
              </a:rPr>
              <a:t>src/celltemp/learning/  ·  workflows/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099C9B-ABB1-4C95-973B-548CBDE95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543050"/>
            <a:ext cx="5410200" cy="4514850"/>
          </a:xfrm>
          <a:prstGeom xmlns:a="http://schemas.openxmlformats.org/drawingml/2006/main" prst="roundRect">
            <a:avLst>
              <a:gd name="adj" fmla="val 2532"/>
            </a:avLst>
          </a:prstGeom>
          <a:solidFill xmlns:a="http://schemas.openxmlformats.org/drawingml/2006/main">
            <a:srgbClr val="1427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6EBCBBD-2EFE-483B-B2D3-06363B182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752600"/>
            <a:ext cx="4914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165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Theory and methods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DAA177C-C106-4914-98C8-242F091BF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20980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rPr>
              <a:t>[R2]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4A407D-9617-4BD5-80D0-C1BE85203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209800"/>
            <a:ext cx="3790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1125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Huang et al.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CED766A-2675-49C7-B03D-F225E51F9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428875"/>
            <a:ext cx="3790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C9D8DE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0">
                <a:solidFill>
                  <a:srgbClr val="C9D8DE"/>
                </a:solidFill>
                <a:latin typeface="Noto Sans JP"/>
                <a:ea typeface="Noto Sans JP"/>
                <a:cs typeface="Noto Sans JP"/>
              </a:rPr>
              <a:t>HotSpot compact thermal modeling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CC08BFA-6C8C-4789-8E3B-A6D2E1473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0510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rPr>
              <a:t>[R3]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29EFCE1-4780-4451-BE85-E6D32AB2D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705100"/>
            <a:ext cx="3790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1125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Farina &amp; Rinaldi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901FA28-2F6F-4F75-9568-A816E7A97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924175"/>
            <a:ext cx="3790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C9D8DE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0">
                <a:solidFill>
                  <a:srgbClr val="C9D8DE"/>
                </a:solidFill>
                <a:latin typeface="Noto Sans JP"/>
                <a:ea typeface="Noto Sans JP"/>
                <a:cs typeface="Noto Sans JP"/>
              </a:rPr>
              <a:t>Positive Linear Systems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ECBA911-2FE5-4CBC-99DE-E7269DE89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20040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rPr>
              <a:t>[R4]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F2BD66B-B61B-4008-820A-1E1BED846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200400"/>
            <a:ext cx="3790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1125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Kalman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95876E5-1E3C-46DA-90FE-3BB80A8E7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419475"/>
            <a:ext cx="3790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C9D8DE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0">
                <a:solidFill>
                  <a:srgbClr val="C9D8DE"/>
                </a:solidFill>
                <a:latin typeface="Noto Sans JP"/>
                <a:ea typeface="Noto Sans JP"/>
                <a:cs typeface="Noto Sans JP"/>
              </a:rPr>
              <a:t>Linear filtering and prediction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1A06176-062A-405E-8805-C60217D4C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69570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rPr>
              <a:t>[R5–R8]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884DFFD-1C1C-42D9-8594-5F1B35C32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695700"/>
            <a:ext cx="3790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1125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Van Loan, Higham, Dahlquist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8212681-02B9-43EB-B227-2A3CCEA81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914775"/>
            <a:ext cx="3790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C9D8DE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0">
                <a:solidFill>
                  <a:srgbClr val="C9D8DE"/>
                </a:solidFill>
                <a:latin typeface="Noto Sans JP"/>
                <a:ea typeface="Noto Sans JP"/>
                <a:cs typeface="Noto Sans JP"/>
              </a:rPr>
              <a:t>Matrix exponential and A-stability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C518B96-AE1A-4D6F-9E19-46C0B0ED9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19100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rPr>
              <a:t>[R9]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08CBC3C-32C8-4571-A906-323632361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191000"/>
            <a:ext cx="3790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1125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Huber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96862C2-3CC0-4540-9F1E-B5D37BB87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410075"/>
            <a:ext cx="3790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C9D8DE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0">
                <a:solidFill>
                  <a:srgbClr val="C9D8DE"/>
                </a:solidFill>
                <a:latin typeface="Noto Sans JP"/>
                <a:ea typeface="Noto Sans JP"/>
                <a:cs typeface="Noto Sans JP"/>
              </a:rPr>
              <a:t>Robust estimation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C0D226A-3808-4855-B6E5-4AC64E16E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68630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rPr>
              <a:t>[R10–R13]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4E307B7-F1B0-407D-83FB-250505342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686300"/>
            <a:ext cx="3790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1125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Kingma &amp; Ba, PyTorch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B4397FA-D252-48D7-BE5F-426F4D849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905375"/>
            <a:ext cx="3790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C9D8DE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0">
                <a:solidFill>
                  <a:srgbClr val="C9D8DE"/>
                </a:solidFill>
                <a:latin typeface="Noto Sans JP"/>
                <a:ea typeface="Noto Sans JP"/>
                <a:cs typeface="Noto Sans JP"/>
              </a:rPr>
              <a:t>Adam, autograd, matrix exponential, Huber loss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D8A3409-C70C-4AD6-94AD-AF863A7BF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18160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1">
                <a:solidFill>
                  <a:srgbClr val="4F9D9B"/>
                </a:solidFill>
                <a:latin typeface="Noto Sans JP"/>
                <a:ea typeface="Noto Sans JP"/>
                <a:cs typeface="Noto Sans JP"/>
              </a:rPr>
              <a:t>[R16–R18]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FB9F2AA-6FB0-41BC-A273-B13FCEFE8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181600"/>
            <a:ext cx="3790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1125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COMSOL documentation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210D2A5-4137-4E44-904C-54A681CC2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400675"/>
            <a:ext cx="3790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C9D8DE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0">
                <a:solidFill>
                  <a:srgbClr val="C9D8DE"/>
                </a:solidFill>
                <a:latin typeface="Noto Sans JP"/>
                <a:ea typeface="Noto Sans JP"/>
                <a:cs typeface="Noto Sans JP"/>
              </a:rPr>
              <a:t>Chip cooling and nonisothermal flow</a:t>
            </a:r>
          </a:p>
        </p:txBody>
      </p:sp>
    </p:spTree>
    <p:extLst>
      <p:ext uri="{BB962C8B-B14F-4D97-AF65-F5344CB8AC3E}">
        <p14:creationId xmlns:p14="http://schemas.microsoft.com/office/powerpoint/2010/main" val="707005338"/>
      </p:ext>
    </p:extLst>
  </p:cSld>
</p:sld>
</file>

<file path=ppt/theme/theme1.xml><?xml version="1.0" encoding="utf-8"?>
<a:theme xmlns:a="http://schemas.openxmlformats.org/drawingml/2006/main" name="ChatGPT">
  <a:themeElements>
    <a:clrScheme name="Thermal Cell Technical">
      <a:dk1>
        <a:srgbClr val="000000"/>
      </a:dk1>
      <a:lt1>
        <a:srgbClr val="FFFFFF"/>
      </a:lt1>
      <a:dk2>
        <a:srgbClr val="142735"/>
      </a:dk2>
      <a:lt2>
        <a:srgbClr val="D5DEE3"/>
      </a:lt2>
      <a:accent1>
        <a:srgbClr val="285E8E"/>
      </a:accent1>
      <a:accent2>
        <a:srgbClr val="4F9D9B"/>
      </a:accent2>
      <a:accent3>
        <a:srgbClr val="D6A84B"/>
      </a:accent3>
      <a:accent4>
        <a:srgbClr val="D97963"/>
      </a:accent4>
      <a:accent5>
        <a:srgbClr val="4C8A6E"/>
      </a:accent5>
      <a:accent6>
        <a:srgbClr val="7E6BA8"/>
      </a:accent6>
      <a:hlink>
        <a:srgbClr val="285E8E"/>
      </a:hlink>
      <a:folHlink>
        <a:srgbClr val="7E6BA8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hermal Cell Technic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2026-09-16T14:00:54.4000000Z</dcterms:created>
  <dcterms:modified xsi:type="dcterms:W3CDTF">2026-09-16T14:00:54.4000000Z</dcterms:modified>
</coreProperties>
</file>