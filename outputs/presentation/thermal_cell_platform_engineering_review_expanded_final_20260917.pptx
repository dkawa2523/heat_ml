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23.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24.xml" ContentType="application/vnd.openxmlformats-officedocument.presentationml.notesSlide+xml"/>
  <Override PartName="/ppt/charts/chart5.xml" ContentType="application/vnd.openxmlformats-officedocument.drawingml.chart+xml"/>
  <Override PartName="/ppt/notesSlides/notesSlide25.xml" ContentType="application/vnd.openxmlformats-officedocument.presentationml.notesSlide+xml"/>
  <Override PartName="/ppt/charts/chart6.xml" ContentType="application/vnd.openxmlformats-officedocument.drawingml.chart+xml"/>
  <Override PartName="/ppt/notesSlides/notesSlide26.xml" ContentType="application/vnd.openxmlformats-officedocument.presentationml.notesSlide+xml"/>
  <Override PartName="/ppt/charts/chart7.xml" ContentType="application/vnd.openxmlformats-officedocument.drawingml.chart+xml"/>
  <Override PartName="/ppt/charts/chart8.xml" ContentType="application/vnd.openxmlformats-officedocument.drawingml.chart+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lineChart>
        <c:grouping val="standard"/>
        <c:varyColors val="0"/>
        <c:ser>
          <c:idx val="0"/>
          <c:order val="0"/>
          <c:tx>
            <c:v>NIS / threshold</c:v>
          </c:tx>
          <c:spPr>
            <a:ln w="28575">
              <a:solidFill>
                <a:srgbClr val="7B2DAF"/>
              </a:solidFill>
              <a:prstDash val="solid"/>
            </a:ln>
          </c:spPr>
          <c:marker>
            <c:symbol val="circle"/>
            <c:size val="4"/>
            <c:spPr>
              <a:solidFill>
                <a:srgbClr val="7B2DAF"/>
              </a:solidFill>
            </c:spPr>
          </c:marker>
          <c:cat>
            <c:numLit>
              <c:formatCode>General</c:formatCode>
              <c:ptCount val="7"/>
              <c:pt idx="0">
                <c:v>270</c:v>
              </c:pt>
              <c:pt idx="1">
                <c:v>280</c:v>
              </c:pt>
              <c:pt idx="2">
                <c:v>290</c:v>
              </c:pt>
              <c:pt idx="3">
                <c:v>300</c:v>
              </c:pt>
              <c:pt idx="4">
                <c:v>310</c:v>
              </c:pt>
              <c:pt idx="5">
                <c:v>320</c:v>
              </c:pt>
              <c:pt idx="6">
                <c:v>330</c:v>
              </c:pt>
            </c:numLit>
          </c:cat>
          <c:val>
            <c:numLit>
              <c:formatCode>0</c:formatCode>
              <c:ptCount val="7"/>
              <c:pt idx="0">
                <c:v>0.14996139382261342</c:v>
              </c:pt>
              <c:pt idx="1">
                <c:v>7.1175750200796001E-2</c:v>
              </c:pt>
              <c:pt idx="2">
                <c:v>0.11192551014700317</c:v>
              </c:pt>
              <c:pt idx="3">
                <c:v>19.107189007272705</c:v>
              </c:pt>
              <c:pt idx="4">
                <c:v>18.749142383005655</c:v>
              </c:pt>
              <c:pt idx="5">
                <c:v>16.301546321778073</c:v>
              </c:pt>
              <c:pt idx="6">
                <c:v>12.866841582465351</c:v>
              </c:pt>
            </c:numLit>
          </c:val>
          <c:smooth val="0"/>
          <c:extLst>
            <c:ext xmlns:c16="http://schemas.microsoft.com/office/drawing/2014/chart" uri="{C3380CC4-5D6E-409C-BE32-E72D297353CC}">
              <c16:uniqueId val="{00000000-D8DB-4590-B3E7-27B08723EBDE}"/>
            </c:ext>
          </c:extLst>
        </c:ser>
        <c:ser>
          <c:idx val="1"/>
          <c:order val="1"/>
          <c:tx>
            <c:v>alarm threshold</c:v>
          </c:tx>
          <c:spPr>
            <a:ln w="19050">
              <a:solidFill>
                <a:srgbClr val="C4493D"/>
              </a:solidFill>
              <a:prstDash val="dash"/>
            </a:ln>
          </c:spPr>
          <c:marker>
            <c:symbol val="none"/>
          </c:marker>
          <c:cat>
            <c:numLit>
              <c:formatCode>General</c:formatCode>
              <c:ptCount val="7"/>
              <c:pt idx="0">
                <c:v>270</c:v>
              </c:pt>
              <c:pt idx="1">
                <c:v>280</c:v>
              </c:pt>
              <c:pt idx="2">
                <c:v>290</c:v>
              </c:pt>
              <c:pt idx="3">
                <c:v>300</c:v>
              </c:pt>
              <c:pt idx="4">
                <c:v>310</c:v>
              </c:pt>
              <c:pt idx="5">
                <c:v>320</c:v>
              </c:pt>
              <c:pt idx="6">
                <c:v>330</c:v>
              </c:pt>
            </c:numLit>
          </c:cat>
          <c:val>
            <c:numLit>
              <c:formatCode>0</c:formatCode>
              <c:ptCount val="7"/>
              <c:pt idx="0">
                <c:v>1</c:v>
              </c:pt>
              <c:pt idx="1">
                <c:v>1</c:v>
              </c:pt>
              <c:pt idx="2">
                <c:v>1</c:v>
              </c:pt>
              <c:pt idx="3">
                <c:v>1</c:v>
              </c:pt>
              <c:pt idx="4">
                <c:v>1</c:v>
              </c:pt>
              <c:pt idx="5">
                <c:v>1</c:v>
              </c:pt>
              <c:pt idx="6">
                <c:v>1</c:v>
              </c:pt>
            </c:numLit>
          </c:val>
          <c:smooth val="0"/>
          <c:extLst>
            <c:ext xmlns:c16="http://schemas.microsoft.com/office/drawing/2014/chart" uri="{C3380CC4-5D6E-409C-BE32-E72D297353CC}">
              <c16:uniqueId val="{00000001-D8DB-4590-B3E7-27B08723EBDE}"/>
            </c:ext>
          </c:extLst>
        </c:ser>
        <c:dLbls>
          <c:showLegendKey val="0"/>
          <c:showVal val="0"/>
          <c:showCatName val="0"/>
          <c:showSerName val="0"/>
          <c:showPercent val="0"/>
          <c:showBubbleSize val="0"/>
        </c:dLbls>
        <c:marker val="1"/>
        <c:smooth val="0"/>
        <c:axId val="48650112"/>
        <c:axId val="48672768"/>
      </c:lineChart>
      <c:catAx>
        <c:axId val="48650112"/>
        <c:scaling>
          <c:orientation val="minMax"/>
        </c:scaling>
        <c:delete val="0"/>
        <c:axPos val="b"/>
        <c:title>
          <c:tx>
            <c:rich>
              <a:bodyPr/>
              <a:lstStyle/>
              <a:p>
                <a:r>
                  <a:rPr>
                    <a:latin typeface="Yu Gothic"/>
                    <a:ea typeface="Yu Gothic"/>
                    <a:cs typeface="Yu Gothic"/>
                  </a:rPr>
                  <a:t>time [s]</a:t>
                </a:r>
              </a:p>
            </c:rich>
          </c:tx>
          <c:overlay val="0"/>
        </c:title>
        <c:numFmt formatCode="General" sourceLinked="1"/>
        <c:majorTickMark val="none"/>
        <c:minorTickMark val="none"/>
        <c:tickLblPos val="nextTo"/>
        <c:spPr>
          <a:ln w="9525">
            <a:solidFill>
              <a:srgbClr val="D6D6D6"/>
            </a:solidFill>
            <a:prstDash val="solid"/>
          </a:ln>
        </c:spPr>
        <c:txPr>
          <a:bodyPr anchorCtr="1"/>
          <a:lstStyle/>
          <a:p>
            <a:pPr>
              <a:defRPr sz="675">
                <a:solidFill>
                  <a:srgbClr val="777777"/>
                </a:solidFill>
                <a:latin typeface="Yu Gothic"/>
                <a:ea typeface="Yu Gothic"/>
                <a:cs typeface="Yu Gothic"/>
              </a:defRPr>
            </a:pPr>
            <a:endParaRPr lang="ja-JP"/>
          </a:p>
        </c:txPr>
        <c:crossAx val="48672768"/>
        <c:crosses val="autoZero"/>
        <c:auto val="1"/>
        <c:lblAlgn val="ctr"/>
        <c:lblOffset val="100"/>
        <c:noMultiLvlLbl val="1"/>
      </c:catAx>
      <c:valAx>
        <c:axId val="48672768"/>
        <c:scaling>
          <c:orientation val="minMax"/>
          <c:max val="20"/>
          <c:min val="0"/>
        </c:scaling>
        <c:delete val="0"/>
        <c:axPos val="l"/>
        <c:majorGridlines>
          <c:spPr>
            <a:ln w="9525">
              <a:solidFill>
                <a:srgbClr val="F2F2F2"/>
              </a:solidFill>
              <a:prstDash val="solid"/>
            </a:ln>
          </c:spPr>
        </c:majorGridlines>
        <c:title>
          <c:tx>
            <c:rich>
              <a:bodyPr/>
              <a:lstStyle/>
              <a:p>
                <a:r>
                  <a:rPr>
                    <a:latin typeface="Yu Gothic"/>
                    <a:ea typeface="Yu Gothic"/>
                    <a:cs typeface="Yu Gothic"/>
                  </a:rPr>
                  <a:t>normalized NIS</a:t>
                </a:r>
              </a:p>
            </c:rich>
          </c:tx>
          <c:overlay val="0"/>
        </c:title>
        <c:numFmt formatCode="0" sourceLinked="1"/>
        <c:majorTickMark val="none"/>
        <c:minorTickMark val="none"/>
        <c:tickLblPos val="nextTo"/>
        <c:spPr>
          <a:ln w="9525">
            <a:solidFill>
              <a:srgbClr val="D6D6D6"/>
            </a:solidFill>
            <a:prstDash val="solid"/>
          </a:ln>
        </c:spPr>
        <c:txPr>
          <a:bodyPr anchorCtr="1"/>
          <a:lstStyle/>
          <a:p>
            <a:pPr>
              <a:defRPr sz="675">
                <a:solidFill>
                  <a:srgbClr val="777777"/>
                </a:solidFill>
                <a:latin typeface="Yu Gothic"/>
                <a:ea typeface="Yu Gothic"/>
                <a:cs typeface="Yu Gothic"/>
              </a:defRPr>
            </a:pPr>
            <a:endParaRPr lang="ja-JP"/>
          </a:p>
        </c:txPr>
        <c:crossAx val="48650112"/>
        <c:crosses val="autoZero"/>
        <c:crossBetween val="between"/>
        <c:majorUnit val="5"/>
      </c:valAx>
      <c:spPr>
        <a:solidFill>
          <a:srgbClr val="FFFFFF"/>
        </a:solidFill>
        <a:ln w="0">
          <a:noFill/>
          <a:prstDash val="solid"/>
        </a:ln>
      </c:spPr>
    </c:plotArea>
    <c:legend>
      <c:legendPos val="b"/>
      <c:overlay val="0"/>
      <c:txPr>
        <a:bodyPr anchorCtr="1"/>
        <a:lstStyle/>
        <a:p>
          <a:pPr>
            <a:defRPr sz="750">
              <a:solidFill>
                <a:srgbClr val="5B5B5B"/>
              </a:solidFill>
              <a:latin typeface="Yu Gothic"/>
              <a:ea typeface="Yu Gothic"/>
              <a:cs typeface="Yu Gothic"/>
            </a:defRPr>
          </a:pPr>
          <a:endParaRPr lang="ja-JP"/>
        </a:p>
      </c:txPr>
    </c:legend>
    <c:plotVisOnly val="1"/>
    <c:dispBlanksAs val="zero"/>
    <c:showDLblsOverMax val="1"/>
  </c:chart>
  <c:spPr>
    <a:solidFill>
      <a:srgbClr val="FFFFFF"/>
    </a:solidFill>
    <a:ln w="0">
      <a:noFill/>
      <a:prstDash val="solid"/>
    </a:ln>
  </c:spPr>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lineChart>
        <c:grouping val="standard"/>
        <c:varyColors val="0"/>
        <c:ser>
          <c:idx val="0"/>
          <c:order val="0"/>
          <c:tx>
            <c:v>truth hidden heat</c:v>
          </c:tx>
          <c:spPr>
            <a:ln w="28575">
              <a:solidFill>
                <a:srgbClr val="3F3F3F"/>
              </a:solidFill>
              <a:prstDash val="solid"/>
            </a:ln>
          </c:spPr>
          <c:marker>
            <c:symbol val="none"/>
          </c:marker>
          <c:cat>
            <c:numLit>
              <c:formatCode>General</c:formatCode>
              <c:ptCount val="21"/>
              <c:pt idx="0">
                <c:v>250</c:v>
              </c:pt>
              <c:pt idx="1">
                <c:v>260</c:v>
              </c:pt>
              <c:pt idx="2">
                <c:v>270</c:v>
              </c:pt>
              <c:pt idx="3">
                <c:v>280</c:v>
              </c:pt>
              <c:pt idx="4">
                <c:v>282</c:v>
              </c:pt>
              <c:pt idx="5">
                <c:v>290</c:v>
              </c:pt>
              <c:pt idx="6">
                <c:v>292</c:v>
              </c:pt>
              <c:pt idx="7">
                <c:v>300</c:v>
              </c:pt>
              <c:pt idx="8">
                <c:v>310</c:v>
              </c:pt>
              <c:pt idx="9">
                <c:v>320</c:v>
              </c:pt>
              <c:pt idx="10">
                <c:v>330</c:v>
              </c:pt>
              <c:pt idx="11">
                <c:v>340</c:v>
              </c:pt>
              <c:pt idx="12">
                <c:v>350</c:v>
              </c:pt>
              <c:pt idx="13">
                <c:v>360</c:v>
              </c:pt>
              <c:pt idx="14">
                <c:v>370</c:v>
              </c:pt>
              <c:pt idx="15">
                <c:v>380</c:v>
              </c:pt>
              <c:pt idx="16">
                <c:v>382</c:v>
              </c:pt>
              <c:pt idx="17">
                <c:v>390</c:v>
              </c:pt>
              <c:pt idx="18">
                <c:v>400</c:v>
              </c:pt>
              <c:pt idx="19">
                <c:v>410</c:v>
              </c:pt>
              <c:pt idx="20">
                <c:v>420</c:v>
              </c:pt>
            </c:numLit>
          </c:cat>
          <c:val>
            <c:numLit>
              <c:formatCode>0.0</c:formatCode>
              <c:ptCount val="21"/>
              <c:pt idx="0">
                <c:v>0</c:v>
              </c:pt>
              <c:pt idx="1">
                <c:v>0</c:v>
              </c:pt>
              <c:pt idx="2">
                <c:v>0</c:v>
              </c:pt>
              <c:pt idx="3">
                <c:v>0</c:v>
              </c:pt>
              <c:pt idx="4">
                <c:v>3</c:v>
              </c:pt>
              <c:pt idx="5">
                <c:v>3</c:v>
              </c:pt>
              <c:pt idx="6">
                <c:v>3</c:v>
              </c:pt>
              <c:pt idx="7">
                <c:v>3</c:v>
              </c:pt>
              <c:pt idx="8">
                <c:v>3</c:v>
              </c:pt>
              <c:pt idx="9">
                <c:v>3</c:v>
              </c:pt>
              <c:pt idx="10">
                <c:v>3</c:v>
              </c:pt>
              <c:pt idx="11">
                <c:v>3</c:v>
              </c:pt>
              <c:pt idx="12">
                <c:v>3</c:v>
              </c:pt>
              <c:pt idx="13">
                <c:v>3</c:v>
              </c:pt>
              <c:pt idx="14">
                <c:v>3</c:v>
              </c:pt>
              <c:pt idx="15">
                <c:v>3</c:v>
              </c:pt>
              <c:pt idx="16">
                <c:v>0</c:v>
              </c:pt>
              <c:pt idx="17">
                <c:v>0</c:v>
              </c:pt>
              <c:pt idx="18">
                <c:v>0</c:v>
              </c:pt>
              <c:pt idx="19">
                <c:v>0</c:v>
              </c:pt>
              <c:pt idx="20">
                <c:v>0</c:v>
              </c:pt>
            </c:numLit>
          </c:val>
          <c:smooth val="0"/>
          <c:extLst>
            <c:ext xmlns:c16="http://schemas.microsoft.com/office/drawing/2014/chart" uri="{C3380CC4-5D6E-409C-BE32-E72D297353CC}">
              <c16:uniqueId val="{00000000-C570-4491-8EA9-9BA1DE34F360}"/>
            </c:ext>
          </c:extLst>
        </c:ser>
        <c:ser>
          <c:idx val="1"/>
          <c:order val="1"/>
          <c:tx>
            <c:v>estimated disturbance</c:v>
          </c:tx>
          <c:spPr>
            <a:ln w="28575">
              <a:solidFill>
                <a:srgbClr val="00A5D8"/>
              </a:solidFill>
              <a:prstDash val="solid"/>
            </a:ln>
          </c:spPr>
          <c:marker>
            <c:symbol val="circle"/>
            <c:size val="4"/>
            <c:spPr>
              <a:solidFill>
                <a:srgbClr val="00A5D8"/>
              </a:solidFill>
            </c:spPr>
          </c:marker>
          <c:cat>
            <c:numLit>
              <c:formatCode>General</c:formatCode>
              <c:ptCount val="21"/>
              <c:pt idx="0">
                <c:v>250</c:v>
              </c:pt>
              <c:pt idx="1">
                <c:v>260</c:v>
              </c:pt>
              <c:pt idx="2">
                <c:v>270</c:v>
              </c:pt>
              <c:pt idx="3">
                <c:v>280</c:v>
              </c:pt>
              <c:pt idx="4">
                <c:v>282</c:v>
              </c:pt>
              <c:pt idx="5">
                <c:v>290</c:v>
              </c:pt>
              <c:pt idx="6">
                <c:v>292</c:v>
              </c:pt>
              <c:pt idx="7">
                <c:v>300</c:v>
              </c:pt>
              <c:pt idx="8">
                <c:v>310</c:v>
              </c:pt>
              <c:pt idx="9">
                <c:v>320</c:v>
              </c:pt>
              <c:pt idx="10">
                <c:v>330</c:v>
              </c:pt>
              <c:pt idx="11">
                <c:v>340</c:v>
              </c:pt>
              <c:pt idx="12">
                <c:v>350</c:v>
              </c:pt>
              <c:pt idx="13">
                <c:v>360</c:v>
              </c:pt>
              <c:pt idx="14">
                <c:v>370</c:v>
              </c:pt>
              <c:pt idx="15">
                <c:v>380</c:v>
              </c:pt>
              <c:pt idx="16">
                <c:v>382</c:v>
              </c:pt>
              <c:pt idx="17">
                <c:v>390</c:v>
              </c:pt>
              <c:pt idx="18">
                <c:v>400</c:v>
              </c:pt>
              <c:pt idx="19">
                <c:v>410</c:v>
              </c:pt>
              <c:pt idx="20">
                <c:v>420</c:v>
              </c:pt>
            </c:numLit>
          </c:cat>
          <c:val>
            <c:numLit>
              <c:formatCode>0.0</c:formatCode>
              <c:ptCount val="21"/>
              <c:pt idx="0">
                <c:v>3.3609681471935438E-2</c:v>
              </c:pt>
              <c:pt idx="1">
                <c:v>-3.5886283053816324E-2</c:v>
              </c:pt>
              <c:pt idx="2">
                <c:v>-3.7419491955870521E-2</c:v>
              </c:pt>
              <c:pt idx="3">
                <c:v>-6.1647723741180147E-2</c:v>
              </c:pt>
              <c:pt idx="4">
                <c:v>-7.1469554557021545E-2</c:v>
              </c:pt>
              <c:pt idx="5">
                <c:v>0.11469420860490795</c:v>
              </c:pt>
              <c:pt idx="6">
                <c:v>0.24686282424242165</c:v>
              </c:pt>
              <c:pt idx="7">
                <c:v>0.63656371175540905</c:v>
              </c:pt>
              <c:pt idx="8">
                <c:v>1.2844757448911741</c:v>
              </c:pt>
              <c:pt idx="9">
                <c:v>1.8948691173207985</c:v>
              </c:pt>
              <c:pt idx="10">
                <c:v>2.2668685000112023</c:v>
              </c:pt>
              <c:pt idx="11">
                <c:v>2.5700216887680107</c:v>
              </c:pt>
              <c:pt idx="12">
                <c:v>2.7862118092493575</c:v>
              </c:pt>
              <c:pt idx="13">
                <c:v>3.0754272736641157</c:v>
              </c:pt>
              <c:pt idx="14">
                <c:v>3.1695509773601676</c:v>
              </c:pt>
              <c:pt idx="15">
                <c:v>3.1324595955393257</c:v>
              </c:pt>
              <c:pt idx="16">
                <c:v>3.1212384113914857</c:v>
              </c:pt>
              <c:pt idx="17">
                <c:v>2.9825803590187938</c:v>
              </c:pt>
              <c:pt idx="18">
                <c:v>2.5002193451574688</c:v>
              </c:pt>
              <c:pt idx="19">
                <c:v>1.876142783364904</c:v>
              </c:pt>
              <c:pt idx="20">
                <c:v>1.2955912969540631</c:v>
              </c:pt>
            </c:numLit>
          </c:val>
          <c:smooth val="0"/>
          <c:extLst>
            <c:ext xmlns:c16="http://schemas.microsoft.com/office/drawing/2014/chart" uri="{C3380CC4-5D6E-409C-BE32-E72D297353CC}">
              <c16:uniqueId val="{00000001-C570-4491-8EA9-9BA1DE34F360}"/>
            </c:ext>
          </c:extLst>
        </c:ser>
        <c:dLbls>
          <c:showLegendKey val="0"/>
          <c:showVal val="0"/>
          <c:showCatName val="0"/>
          <c:showSerName val="0"/>
          <c:showPercent val="0"/>
          <c:showBubbleSize val="0"/>
        </c:dLbls>
        <c:smooth val="0"/>
        <c:axId val="48650112"/>
        <c:axId val="48672768"/>
      </c:lineChart>
      <c:catAx>
        <c:axId val="48650112"/>
        <c:scaling>
          <c:orientation val="minMax"/>
        </c:scaling>
        <c:delete val="0"/>
        <c:axPos val="b"/>
        <c:title>
          <c:tx>
            <c:rich>
              <a:bodyPr/>
              <a:lstStyle/>
              <a:p>
                <a:r>
                  <a:rPr>
                    <a:latin typeface="Yu Gothic"/>
                    <a:ea typeface="Yu Gothic"/>
                    <a:cs typeface="Yu Gothic"/>
                  </a:rPr>
                  <a:t>time [s]</a:t>
                </a:r>
              </a:p>
            </c:rich>
          </c:tx>
          <c:overlay val="0"/>
        </c:title>
        <c:numFmt formatCode="General" sourceLinked="1"/>
        <c:majorTickMark val="none"/>
        <c:minorTickMark val="none"/>
        <c:tickLblPos val="nextTo"/>
        <c:spPr>
          <a:ln w="9525">
            <a:solidFill>
              <a:srgbClr val="D6D6D6"/>
            </a:solidFill>
            <a:prstDash val="solid"/>
          </a:ln>
        </c:spPr>
        <c:txPr>
          <a:bodyPr anchorCtr="1"/>
          <a:lstStyle/>
          <a:p>
            <a:pPr>
              <a:defRPr sz="675">
                <a:solidFill>
                  <a:srgbClr val="777777"/>
                </a:solidFill>
                <a:latin typeface="Yu Gothic"/>
                <a:ea typeface="Yu Gothic"/>
                <a:cs typeface="Yu Gothic"/>
              </a:defRPr>
            </a:pPr>
            <a:endParaRPr lang="ja-JP"/>
          </a:p>
        </c:txPr>
        <c:crossAx val="48672768"/>
        <c:crosses val="autoZero"/>
        <c:auto val="1"/>
        <c:lblAlgn val="ctr"/>
        <c:lblOffset val="100"/>
        <c:noMultiLvlLbl val="1"/>
      </c:catAx>
      <c:valAx>
        <c:axId val="48672768"/>
        <c:scaling>
          <c:orientation val="minMax"/>
          <c:max val="4"/>
          <c:min val="0"/>
        </c:scaling>
        <c:delete val="0"/>
        <c:axPos val="l"/>
        <c:majorGridlines>
          <c:spPr>
            <a:ln w="9525">
              <a:solidFill>
                <a:srgbClr val="F2F2F2"/>
              </a:solidFill>
              <a:prstDash val="solid"/>
            </a:ln>
          </c:spPr>
        </c:majorGridlines>
        <c:title>
          <c:tx>
            <c:rich>
              <a:bodyPr/>
              <a:lstStyle/>
              <a:p>
                <a:r>
                  <a:rPr>
                    <a:latin typeface="Yu Gothic"/>
                    <a:ea typeface="Yu Gothic"/>
                    <a:cs typeface="Yu Gothic"/>
                  </a:rPr>
                  <a:t>heat [W]</a:t>
                </a:r>
              </a:p>
            </c:rich>
          </c:tx>
          <c:overlay val="0"/>
        </c:title>
        <c:numFmt formatCode="0.0" sourceLinked="1"/>
        <c:majorTickMark val="none"/>
        <c:minorTickMark val="none"/>
        <c:tickLblPos val="nextTo"/>
        <c:spPr>
          <a:ln w="9525">
            <a:solidFill>
              <a:srgbClr val="D6D6D6"/>
            </a:solidFill>
            <a:prstDash val="solid"/>
          </a:ln>
        </c:spPr>
        <c:txPr>
          <a:bodyPr anchorCtr="1"/>
          <a:lstStyle/>
          <a:p>
            <a:pPr>
              <a:defRPr sz="675">
                <a:solidFill>
                  <a:srgbClr val="777777"/>
                </a:solidFill>
                <a:latin typeface="Yu Gothic"/>
                <a:ea typeface="Yu Gothic"/>
                <a:cs typeface="Yu Gothic"/>
              </a:defRPr>
            </a:pPr>
            <a:endParaRPr lang="ja-JP"/>
          </a:p>
        </c:txPr>
        <c:crossAx val="48650112"/>
        <c:crosses val="autoZero"/>
        <c:crossBetween val="between"/>
        <c:majorUnit val="1"/>
      </c:valAx>
      <c:spPr>
        <a:solidFill>
          <a:srgbClr val="FFFFFF"/>
        </a:solidFill>
        <a:ln w="0">
          <a:noFill/>
          <a:prstDash val="solid"/>
        </a:ln>
      </c:spPr>
    </c:plotArea>
    <c:legend>
      <c:legendPos val="b"/>
      <c:overlay val="0"/>
      <c:txPr>
        <a:bodyPr anchorCtr="1"/>
        <a:lstStyle/>
        <a:p>
          <a:pPr>
            <a:defRPr sz="750">
              <a:solidFill>
                <a:srgbClr val="5B5B5B"/>
              </a:solidFill>
              <a:latin typeface="Yu Gothic"/>
              <a:ea typeface="Yu Gothic"/>
              <a:cs typeface="Yu Gothic"/>
            </a:defRPr>
          </a:pPr>
          <a:endParaRPr lang="ja-JP"/>
        </a:p>
      </c:txPr>
    </c:legend>
    <c:plotVisOnly val="1"/>
    <c:dispBlanksAs val="zero"/>
    <c:showDLblsOverMax val="1"/>
  </c:chart>
  <c:spPr>
    <a:solidFill>
      <a:srgbClr val="FFFFFF"/>
    </a:solidFill>
    <a:ln w="0">
      <a:noFill/>
      <a:prstDash val="solid"/>
    </a:ln>
  </c:spPr>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barChart>
        <c:barDir val="bar"/>
        <c:grouping val="clustered"/>
        <c:varyColors val="0"/>
        <c:ser>
          <c:idx val="0"/>
          <c:order val="0"/>
          <c:tx>
            <c:v>mean RMSE</c:v>
          </c:tx>
          <c:spPr>
            <a:solidFill>
              <a:srgbClr val="00A5D8"/>
            </a:solidFill>
          </c:spPr>
          <c:invertIfNegative val="1"/>
          <c:dPt>
            <c:idx val="0"/>
            <c:invertIfNegative val="0"/>
            <c:bubble3D val="0"/>
            <c:extLst>
              <c:ext xmlns:c16="http://schemas.microsoft.com/office/drawing/2014/chart" uri="{C3380CC4-5D6E-409C-BE32-E72D297353CC}">
                <c16:uniqueId val="{00000001-0D0D-49FD-A73B-CE087E099FB9}"/>
              </c:ext>
            </c:extLst>
          </c:dPt>
          <c:dPt>
            <c:idx val="1"/>
            <c:invertIfNegative val="0"/>
            <c:bubble3D val="0"/>
            <c:extLst>
              <c:ext xmlns:c16="http://schemas.microsoft.com/office/drawing/2014/chart" uri="{C3380CC4-5D6E-409C-BE32-E72D297353CC}">
                <c16:uniqueId val="{00000003-0D0D-49FD-A73B-CE087E099FB9}"/>
              </c:ext>
            </c:extLst>
          </c:dPt>
          <c:dPt>
            <c:idx val="2"/>
            <c:invertIfNegative val="0"/>
            <c:bubble3D val="0"/>
            <c:extLst>
              <c:ext xmlns:c16="http://schemas.microsoft.com/office/drawing/2014/chart" uri="{C3380CC4-5D6E-409C-BE32-E72D297353CC}">
                <c16:uniqueId val="{00000005-0D0D-49FD-A73B-CE087E099FB9}"/>
              </c:ext>
            </c:extLst>
          </c:dPt>
          <c:dPt>
            <c:idx val="3"/>
            <c:invertIfNegative val="0"/>
            <c:bubble3D val="0"/>
            <c:spPr>
              <a:solidFill>
                <a:srgbClr val="7B2DAF"/>
              </a:solidFill>
            </c:spPr>
            <c:extLst>
              <c:ext xmlns:c16="http://schemas.microsoft.com/office/drawing/2014/chart" uri="{C3380CC4-5D6E-409C-BE32-E72D297353CC}">
                <c16:uniqueId val="{00000007-0D0D-49FD-A73B-CE087E099FB9}"/>
              </c:ext>
            </c:extLst>
          </c:dPt>
          <c:dPt>
            <c:idx val="4"/>
            <c:invertIfNegative val="0"/>
            <c:bubble3D val="0"/>
            <c:extLst>
              <c:ext xmlns:c16="http://schemas.microsoft.com/office/drawing/2014/chart" uri="{C3380CC4-5D6E-409C-BE32-E72D297353CC}">
                <c16:uniqueId val="{00000009-0D0D-49FD-A73B-CE087E099FB9}"/>
              </c:ext>
            </c:extLst>
          </c:dPt>
          <c:dLbls>
            <c:spPr>
              <a:noFill/>
              <a:ln>
                <a:noFill/>
              </a:ln>
              <a:effectLst/>
            </c:spPr>
            <c:txPr>
              <a:bodyPr anchorCtr="1"/>
              <a:lstStyle/>
              <a:p>
                <a:pPr>
                  <a:defRPr sz="750" b="1">
                    <a:solidFill>
                      <a:srgbClr val="5B5B5B"/>
                    </a:solidFill>
                    <a:latin typeface="Yu Gothic"/>
                    <a:ea typeface="Yu Gothic"/>
                    <a:cs typeface="Yu Gothic"/>
                  </a:defRPr>
                </a:pPr>
                <a:endParaRPr lang="ja-JP"/>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5"/>
              <c:pt idx="0">
                <c:v>interpolation</c:v>
              </c:pt>
              <c:pt idx="1">
                <c:v>extrapolation</c:v>
              </c:pt>
              <c:pt idx="2">
                <c:v>dynamics</c:v>
              </c:pt>
              <c:pt idx="3">
                <c:v>initialization</c:v>
              </c:pt>
              <c:pt idx="4">
                <c:v>sampling</c:v>
              </c:pt>
            </c:strLit>
          </c:cat>
          <c:val>
            <c:numLit>
              <c:formatCode>0.000</c:formatCode>
              <c:ptCount val="5"/>
              <c:pt idx="0">
                <c:v>2.1449300000000001E-2</c:v>
              </c:pt>
              <c:pt idx="1">
                <c:v>1.6240500000000001E-2</c:v>
              </c:pt>
              <c:pt idx="2">
                <c:v>3.1637699999999998E-2</c:v>
              </c:pt>
              <c:pt idx="3">
                <c:v>0.4505383</c:v>
              </c:pt>
              <c:pt idx="4">
                <c:v>5.0123300000000003E-2</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A-0D0D-49FD-A73B-CE087E099FB9}"/>
            </c:ext>
          </c:extLst>
        </c:ser>
        <c:dLbls>
          <c:dLblPos val="outEnd"/>
          <c:showLegendKey val="0"/>
          <c:showVal val="1"/>
          <c:showCatName val="0"/>
          <c:showSerName val="0"/>
          <c:showPercent val="0"/>
          <c:showBubbleSize val="0"/>
        </c:dLbls>
        <c:gapWidth val="42"/>
        <c:axId val="48650112"/>
        <c:axId val="48672768"/>
      </c:barChart>
      <c:catAx>
        <c:axId val="48650112"/>
        <c:scaling>
          <c:orientation val="minMax"/>
        </c:scaling>
        <c:delete val="0"/>
        <c:axPos val="l"/>
        <c:majorGridlines>
          <c:spPr>
            <a:ln w="9525">
              <a:solidFill>
                <a:srgbClr val="F2F2F2"/>
              </a:solidFill>
              <a:prstDash val="solid"/>
            </a:ln>
          </c:spPr>
        </c:majorGridlines>
        <c:numFmt formatCode="General" sourceLinked="1"/>
        <c:majorTickMark val="none"/>
        <c:minorTickMark val="none"/>
        <c:tickLblPos val="nextTo"/>
        <c:spPr>
          <a:ln w="9525">
            <a:solidFill>
              <a:srgbClr val="D6D6D6"/>
            </a:solidFill>
            <a:prstDash val="solid"/>
          </a:ln>
        </c:spPr>
        <c:txPr>
          <a:bodyPr anchorCtr="1"/>
          <a:lstStyle/>
          <a:p>
            <a:pPr>
              <a:defRPr sz="675">
                <a:solidFill>
                  <a:srgbClr val="777777"/>
                </a:solidFill>
                <a:latin typeface="Yu Gothic"/>
                <a:ea typeface="Yu Gothic"/>
                <a:cs typeface="Yu Gothic"/>
              </a:defRPr>
            </a:pPr>
            <a:endParaRPr lang="ja-JP"/>
          </a:p>
        </c:txPr>
        <c:crossAx val="48672768"/>
        <c:crosses val="autoZero"/>
        <c:auto val="1"/>
        <c:lblAlgn val="ctr"/>
        <c:lblOffset val="100"/>
        <c:noMultiLvlLbl val="1"/>
      </c:catAx>
      <c:valAx>
        <c:axId val="48672768"/>
        <c:scaling>
          <c:orientation val="minMax"/>
        </c:scaling>
        <c:delete val="0"/>
        <c:axPos val="b"/>
        <c:numFmt formatCode="0.000" sourceLinked="1"/>
        <c:majorTickMark val="none"/>
        <c:minorTickMark val="none"/>
        <c:tickLblPos val="nextTo"/>
        <c:spPr>
          <a:ln w="9525">
            <a:solidFill>
              <a:srgbClr val="D6D6D6"/>
            </a:solidFill>
            <a:prstDash val="solid"/>
          </a:ln>
        </c:spPr>
        <c:txPr>
          <a:bodyPr anchorCtr="1"/>
          <a:lstStyle/>
          <a:p>
            <a:pPr>
              <a:defRPr sz="750">
                <a:solidFill>
                  <a:srgbClr val="5B5B5B"/>
                </a:solidFill>
                <a:latin typeface="Yu Gothic"/>
                <a:ea typeface="Yu Gothic"/>
                <a:cs typeface="Yu Gothic"/>
              </a:defRPr>
            </a:pPr>
            <a:endParaRPr lang="ja-JP"/>
          </a:p>
        </c:txPr>
        <c:crossAx val="48650112"/>
        <c:crosses val="autoZero"/>
        <c:crossBetween val="between"/>
      </c:valAx>
      <c:spPr>
        <a:solidFill>
          <a:srgbClr val="FFFFFF"/>
        </a:solidFill>
        <a:ln w="0">
          <a:noFill/>
          <a:prstDash val="solid"/>
        </a:ln>
      </c:spPr>
    </c:plotArea>
    <c:plotVisOnly val="1"/>
    <c:dispBlanksAs val="zero"/>
    <c:showDLblsOverMax val="1"/>
  </c:chart>
  <c:spPr>
    <a:solidFill>
      <a:srgbClr val="FFFFFF"/>
    </a:solidFill>
    <a:ln w="0">
      <a:noFill/>
      <a:prstDash val="solid"/>
    </a:ln>
  </c:spPr>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barChart>
        <c:barDir val="col"/>
        <c:grouping val="clustered"/>
        <c:varyColors val="0"/>
        <c:ser>
          <c:idx val="0"/>
          <c:order val="0"/>
          <c:tx>
            <c:v>RMSE</c:v>
          </c:tx>
          <c:spPr>
            <a:solidFill>
              <a:srgbClr val="7B2DAF"/>
            </a:solidFill>
          </c:spPr>
          <c:invertIfNegative val="1"/>
          <c:dPt>
            <c:idx val="0"/>
            <c:invertIfNegative val="0"/>
            <c:bubble3D val="0"/>
            <c:extLst>
              <c:ext xmlns:c16="http://schemas.microsoft.com/office/drawing/2014/chart" uri="{C3380CC4-5D6E-409C-BE32-E72D297353CC}">
                <c16:uniqueId val="{00000001-ACDE-4693-815D-1740C8E55389}"/>
              </c:ext>
            </c:extLst>
          </c:dPt>
          <c:dPt>
            <c:idx val="1"/>
            <c:invertIfNegative val="0"/>
            <c:bubble3D val="0"/>
            <c:spPr>
              <a:solidFill>
                <a:srgbClr val="76BE18"/>
              </a:solidFill>
            </c:spPr>
            <c:extLst>
              <c:ext xmlns:c16="http://schemas.microsoft.com/office/drawing/2014/chart" uri="{C3380CC4-5D6E-409C-BE32-E72D297353CC}">
                <c16:uniqueId val="{00000003-ACDE-4693-815D-1740C8E55389}"/>
              </c:ext>
            </c:extLst>
          </c:dPt>
          <c:dLbls>
            <c:spPr>
              <a:noFill/>
              <a:ln>
                <a:noFill/>
              </a:ln>
              <a:effectLst/>
            </c:spPr>
            <c:txPr>
              <a:bodyPr anchorCtr="1"/>
              <a:lstStyle/>
              <a:p>
                <a:pPr>
                  <a:defRPr sz="825" b="1">
                    <a:solidFill>
                      <a:srgbClr val="5B5B5B"/>
                    </a:solidFill>
                    <a:latin typeface="Yu Gothic"/>
                    <a:ea typeface="Yu Gothic"/>
                    <a:cs typeface="Yu Gothic"/>
                  </a:defRPr>
                </a:pPr>
                <a:endParaRPr lang="ja-JP"/>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F09
sparse initial</c:v>
              </c:pt>
              <c:pt idx="1">
                <c:v>F12
history initialized</c:v>
              </c:pt>
            </c:strLit>
          </c:cat>
          <c:val>
            <c:numLit>
              <c:formatCode>0.000</c:formatCode>
              <c:ptCount val="2"/>
              <c:pt idx="0">
                <c:v>1.3026766000000001</c:v>
              </c:pt>
              <c:pt idx="1">
                <c:v>3.80944E-2</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4-ACDE-4693-815D-1740C8E55389}"/>
            </c:ext>
          </c:extLst>
        </c:ser>
        <c:dLbls>
          <c:dLblPos val="outEnd"/>
          <c:showLegendKey val="0"/>
          <c:showVal val="1"/>
          <c:showCatName val="0"/>
          <c:showSerName val="0"/>
          <c:showPercent val="0"/>
          <c:showBubbleSize val="0"/>
        </c:dLbls>
        <c:gapWidth val="7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6D6D6"/>
            </a:solidFill>
            <a:prstDash val="solid"/>
          </a:ln>
        </c:spPr>
        <c:txPr>
          <a:bodyPr anchorCtr="1"/>
          <a:lstStyle/>
          <a:p>
            <a:pPr>
              <a:defRPr sz="788">
                <a:solidFill>
                  <a:srgbClr val="5B5B5B"/>
                </a:solidFill>
                <a:latin typeface="Yu Gothic"/>
                <a:ea typeface="Yu Gothic"/>
                <a:cs typeface="Yu Gothic"/>
              </a:defRPr>
            </a:pPr>
            <a:endParaRPr lang="ja-JP"/>
          </a:p>
        </c:txPr>
        <c:crossAx val="48672768"/>
        <c:crosses val="autoZero"/>
        <c:auto val="1"/>
        <c:lblAlgn val="ctr"/>
        <c:lblOffset val="100"/>
        <c:noMultiLvlLbl val="1"/>
      </c:catAx>
      <c:valAx>
        <c:axId val="48672768"/>
        <c:scaling>
          <c:orientation val="minMax"/>
          <c:max val="1.5"/>
          <c:min val="0"/>
        </c:scaling>
        <c:delete val="0"/>
        <c:axPos val="l"/>
        <c:majorGridlines>
          <c:spPr>
            <a:ln w="9525">
              <a:solidFill>
                <a:srgbClr val="F2F2F2"/>
              </a:solidFill>
              <a:prstDash val="solid"/>
            </a:ln>
          </c:spPr>
        </c:majorGridlines>
        <c:numFmt formatCode="0.000" sourceLinked="1"/>
        <c:majorTickMark val="none"/>
        <c:minorTickMark val="none"/>
        <c:tickLblPos val="nextTo"/>
        <c:spPr>
          <a:ln w="9525">
            <a:solidFill>
              <a:srgbClr val="D6D6D6"/>
            </a:solidFill>
            <a:prstDash val="solid"/>
          </a:ln>
        </c:spPr>
        <c:txPr>
          <a:bodyPr anchorCtr="1"/>
          <a:lstStyle/>
          <a:p>
            <a:pPr>
              <a:defRPr sz="675">
                <a:solidFill>
                  <a:srgbClr val="777777"/>
                </a:solidFill>
                <a:latin typeface="Yu Gothic"/>
                <a:ea typeface="Yu Gothic"/>
                <a:cs typeface="Yu Gothic"/>
              </a:defRPr>
            </a:pPr>
            <a:endParaRPr lang="ja-JP"/>
          </a:p>
        </c:txPr>
        <c:crossAx val="48650112"/>
        <c:crosses val="autoZero"/>
        <c:crossBetween val="between"/>
        <c:majorUnit val="0.25"/>
      </c:valAx>
      <c:spPr>
        <a:solidFill>
          <a:srgbClr val="FFFFFF"/>
        </a:solidFill>
        <a:ln w="0">
          <a:noFill/>
          <a:prstDash val="solid"/>
        </a:ln>
      </c:spPr>
    </c:plotArea>
    <c:plotVisOnly val="1"/>
    <c:dispBlanksAs val="zero"/>
    <c:showDLblsOverMax val="1"/>
  </c:chart>
  <c:spPr>
    <a:solidFill>
      <a:srgbClr val="FFFFFF"/>
    </a:solidFill>
    <a:ln w="0">
      <a:noFill/>
      <a:prstDash val="solid"/>
    </a:ln>
  </c:spPr>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sz="1050" b="1">
                <a:solidFill>
                  <a:srgbClr val="3F3F3F"/>
                </a:solidFill>
                <a:latin typeface="Yu Gothic"/>
                <a:ea typeface="Yu Gothic"/>
                <a:cs typeface="Yu Gothic"/>
              </a:rPr>
              <a:t>external forecast RMSE [K]</a:t>
            </a:r>
          </a:p>
        </c:rich>
      </c:tx>
      <c:overlay val="0"/>
    </c:title>
    <c:autoTitleDeleted val="0"/>
    <c:plotArea>
      <c:layout/>
      <c:barChart>
        <c:barDir val="col"/>
        <c:grouping val="clustered"/>
        <c:varyColors val="0"/>
        <c:ser>
          <c:idx val="0"/>
          <c:order val="0"/>
          <c:tx>
            <c:v>RMSE</c:v>
          </c:tx>
          <c:spPr>
            <a:solidFill>
              <a:srgbClr val="00A5D8"/>
            </a:solidFill>
          </c:spPr>
          <c:invertIfNegative val="1"/>
          <c:dPt>
            <c:idx val="0"/>
            <c:invertIfNegative val="0"/>
            <c:bubble3D val="0"/>
            <c:extLst>
              <c:ext xmlns:c16="http://schemas.microsoft.com/office/drawing/2014/chart" uri="{C3380CC4-5D6E-409C-BE32-E72D297353CC}">
                <c16:uniqueId val="{00000001-33DA-40A9-8A97-29A7BFCE98F3}"/>
              </c:ext>
            </c:extLst>
          </c:dPt>
          <c:dPt>
            <c:idx val="1"/>
            <c:invertIfNegative val="0"/>
            <c:bubble3D val="0"/>
            <c:extLst>
              <c:ext xmlns:c16="http://schemas.microsoft.com/office/drawing/2014/chart" uri="{C3380CC4-5D6E-409C-BE32-E72D297353CC}">
                <c16:uniqueId val="{00000003-33DA-40A9-8A97-29A7BFCE98F3}"/>
              </c:ext>
            </c:extLst>
          </c:dPt>
          <c:dPt>
            <c:idx val="2"/>
            <c:invertIfNegative val="0"/>
            <c:bubble3D val="0"/>
            <c:extLst>
              <c:ext xmlns:c16="http://schemas.microsoft.com/office/drawing/2014/chart" uri="{C3380CC4-5D6E-409C-BE32-E72D297353CC}">
                <c16:uniqueId val="{00000005-33DA-40A9-8A97-29A7BFCE98F3}"/>
              </c:ext>
            </c:extLst>
          </c:dPt>
          <c:dPt>
            <c:idx val="3"/>
            <c:invertIfNegative val="0"/>
            <c:bubble3D val="0"/>
            <c:extLst>
              <c:ext xmlns:c16="http://schemas.microsoft.com/office/drawing/2014/chart" uri="{C3380CC4-5D6E-409C-BE32-E72D297353CC}">
                <c16:uniqueId val="{00000007-33DA-40A9-8A97-29A7BFCE98F3}"/>
              </c:ext>
            </c:extLst>
          </c:dPt>
          <c:dPt>
            <c:idx val="4"/>
            <c:invertIfNegative val="0"/>
            <c:bubble3D val="0"/>
            <c:spPr>
              <a:solidFill>
                <a:srgbClr val="7B2DAF"/>
              </a:solidFill>
            </c:spPr>
            <c:extLst>
              <c:ext xmlns:c16="http://schemas.microsoft.com/office/drawing/2014/chart" uri="{C3380CC4-5D6E-409C-BE32-E72D297353CC}">
                <c16:uniqueId val="{00000009-33DA-40A9-8A97-29A7BFCE98F3}"/>
              </c:ext>
            </c:extLst>
          </c:dPt>
          <c:dPt>
            <c:idx val="5"/>
            <c:invertIfNegative val="0"/>
            <c:bubble3D val="0"/>
            <c:extLst>
              <c:ext xmlns:c16="http://schemas.microsoft.com/office/drawing/2014/chart" uri="{C3380CC4-5D6E-409C-BE32-E72D297353CC}">
                <c16:uniqueId val="{0000000B-33DA-40A9-8A97-29A7BFCE98F3}"/>
              </c:ext>
            </c:extLst>
          </c:dPt>
          <c:dPt>
            <c:idx val="6"/>
            <c:invertIfNegative val="0"/>
            <c:bubble3D val="0"/>
            <c:extLst>
              <c:ext xmlns:c16="http://schemas.microsoft.com/office/drawing/2014/chart" uri="{C3380CC4-5D6E-409C-BE32-E72D297353CC}">
                <c16:uniqueId val="{0000000D-33DA-40A9-8A97-29A7BFCE98F3}"/>
              </c:ext>
            </c:extLst>
          </c:dPt>
          <c:dPt>
            <c:idx val="7"/>
            <c:invertIfNegative val="0"/>
            <c:bubble3D val="0"/>
            <c:extLst>
              <c:ext xmlns:c16="http://schemas.microsoft.com/office/drawing/2014/chart" uri="{C3380CC4-5D6E-409C-BE32-E72D297353CC}">
                <c16:uniqueId val="{0000000F-33DA-40A9-8A97-29A7BFCE98F3}"/>
              </c:ext>
            </c:extLst>
          </c:dPt>
          <c:dLbls>
            <c:spPr>
              <a:noFill/>
              <a:ln>
                <a:noFill/>
              </a:ln>
              <a:effectLst/>
            </c:spPr>
            <c:txPr>
              <a:bodyPr anchorCtr="1"/>
              <a:lstStyle/>
              <a:p>
                <a:pPr>
                  <a:defRPr sz="713" b="1">
                    <a:solidFill>
                      <a:srgbClr val="5B5B5B"/>
                    </a:solidFill>
                    <a:latin typeface="Yu Gothic"/>
                    <a:ea typeface="Yu Gothic"/>
                    <a:cs typeface="Yu Gothic"/>
                  </a:defRPr>
                </a:pPr>
                <a:endParaRPr lang="ja-JP"/>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8"/>
              <c:pt idx="0">
                <c:v>F01</c:v>
              </c:pt>
              <c:pt idx="1">
                <c:v>F02</c:v>
              </c:pt>
              <c:pt idx="2">
                <c:v>F03</c:v>
              </c:pt>
              <c:pt idx="3">
                <c:v>F04</c:v>
              </c:pt>
              <c:pt idx="4">
                <c:v>F05</c:v>
              </c:pt>
              <c:pt idx="5">
                <c:v>F06</c:v>
              </c:pt>
              <c:pt idx="6">
                <c:v>F07</c:v>
              </c:pt>
              <c:pt idx="7">
                <c:v>F08</c:v>
              </c:pt>
            </c:strLit>
          </c:cat>
          <c:val>
            <c:numLit>
              <c:formatCode>0.000</c:formatCode>
              <c:ptCount val="8"/>
              <c:pt idx="0">
                <c:v>6.3957049999999998E-3</c:v>
              </c:pt>
              <c:pt idx="1">
                <c:v>2.4712003999999999E-2</c:v>
              </c:pt>
              <c:pt idx="2">
                <c:v>1.4252666000000001E-2</c:v>
              </c:pt>
              <c:pt idx="3">
                <c:v>2.0676292999999998E-2</c:v>
              </c:pt>
              <c:pt idx="4">
                <c:v>8.2973699999999997E-2</c:v>
              </c:pt>
              <c:pt idx="5">
                <c:v>5.8981351000000001E-2</c:v>
              </c:pt>
              <c:pt idx="6">
                <c:v>3.8589825000000001E-2</c:v>
              </c:pt>
              <c:pt idx="7">
                <c:v>4.3629309999999998E-2</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10-33DA-40A9-8A97-29A7BFCE98F3}"/>
            </c:ext>
          </c:extLst>
        </c:ser>
        <c:dLbls>
          <c:dLblPos val="outEnd"/>
          <c:showLegendKey val="0"/>
          <c:showVal val="1"/>
          <c:showCatName val="0"/>
          <c:showSerName val="0"/>
          <c:showPercent val="0"/>
          <c:showBubbleSize val="0"/>
        </c:dLbls>
        <c:gapWidth val="48"/>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6D6D6"/>
            </a:solidFill>
            <a:prstDash val="solid"/>
          </a:ln>
        </c:spPr>
        <c:txPr>
          <a:bodyPr anchorCtr="1"/>
          <a:lstStyle/>
          <a:p>
            <a:pPr>
              <a:defRPr sz="750">
                <a:solidFill>
                  <a:srgbClr val="5B5B5B"/>
                </a:solidFill>
                <a:latin typeface="Yu Gothic"/>
                <a:ea typeface="Yu Gothic"/>
                <a:cs typeface="Yu Gothic"/>
              </a:defRPr>
            </a:pPr>
            <a:endParaRPr lang="ja-JP"/>
          </a:p>
        </c:txPr>
        <c:crossAx val="48672768"/>
        <c:crosses val="autoZero"/>
        <c:auto val="1"/>
        <c:lblAlgn val="ctr"/>
        <c:lblOffset val="100"/>
        <c:noMultiLvlLbl val="1"/>
      </c:catAx>
      <c:valAx>
        <c:axId val="48672768"/>
        <c:scaling>
          <c:orientation val="minMax"/>
          <c:max val="0.1"/>
          <c:min val="0"/>
        </c:scaling>
        <c:delete val="0"/>
        <c:axPos val="l"/>
        <c:majorGridlines>
          <c:spPr>
            <a:ln w="9525">
              <a:solidFill>
                <a:srgbClr val="F2F2F2"/>
              </a:solidFill>
              <a:prstDash val="solid"/>
            </a:ln>
          </c:spPr>
        </c:majorGridlines>
        <c:numFmt formatCode="0.000" sourceLinked="1"/>
        <c:majorTickMark val="none"/>
        <c:minorTickMark val="none"/>
        <c:tickLblPos val="nextTo"/>
        <c:spPr>
          <a:ln w="9525">
            <a:solidFill>
              <a:srgbClr val="D6D6D6"/>
            </a:solidFill>
            <a:prstDash val="solid"/>
          </a:ln>
        </c:spPr>
        <c:txPr>
          <a:bodyPr anchorCtr="1"/>
          <a:lstStyle/>
          <a:p>
            <a:pPr>
              <a:defRPr sz="675">
                <a:solidFill>
                  <a:srgbClr val="777777"/>
                </a:solidFill>
                <a:latin typeface="Yu Gothic"/>
                <a:ea typeface="Yu Gothic"/>
                <a:cs typeface="Yu Gothic"/>
              </a:defRPr>
            </a:pPr>
            <a:endParaRPr lang="ja-JP"/>
          </a:p>
        </c:txPr>
        <c:crossAx val="48650112"/>
        <c:crosses val="autoZero"/>
        <c:crossBetween val="between"/>
        <c:majorUnit val="0.02"/>
      </c:valAx>
      <c:spPr>
        <a:solidFill>
          <a:srgbClr val="FFFFFF"/>
        </a:solidFill>
        <a:ln w="0">
          <a:noFill/>
          <a:prstDash val="solid"/>
        </a:ln>
      </c:spPr>
    </c:plotArea>
    <c:plotVisOnly val="1"/>
    <c:dispBlanksAs val="zero"/>
    <c:showDLblsOverMax val="1"/>
  </c:chart>
  <c:spPr>
    <a:solidFill>
      <a:srgbClr val="FFFFFF"/>
    </a:solidFill>
    <a:ln w="0">
      <a:noFill/>
      <a:prstDash val="solid"/>
    </a:ln>
  </c:spPr>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barChart>
        <c:barDir val="col"/>
        <c:grouping val="clustered"/>
        <c:varyColors val="0"/>
        <c:ser>
          <c:idx val="0"/>
          <c:order val="0"/>
          <c:tx>
            <c:v>|medium − fine|</c:v>
          </c:tx>
          <c:spPr>
            <a:solidFill>
              <a:srgbClr val="E5A900"/>
            </a:solidFill>
          </c:spPr>
          <c:invertIfNegative val="1"/>
          <c:dPt>
            <c:idx val="0"/>
            <c:invertIfNegative val="0"/>
            <c:bubble3D val="0"/>
            <c:extLst>
              <c:ext xmlns:c16="http://schemas.microsoft.com/office/drawing/2014/chart" uri="{C3380CC4-5D6E-409C-BE32-E72D297353CC}">
                <c16:uniqueId val="{00000001-EE9A-4B5D-8458-2870167A68A9}"/>
              </c:ext>
            </c:extLst>
          </c:dPt>
          <c:dPt>
            <c:idx val="1"/>
            <c:invertIfNegative val="0"/>
            <c:bubble3D val="0"/>
            <c:spPr>
              <a:solidFill>
                <a:srgbClr val="76BE18"/>
              </a:solidFill>
            </c:spPr>
            <c:extLst>
              <c:ext xmlns:c16="http://schemas.microsoft.com/office/drawing/2014/chart" uri="{C3380CC4-5D6E-409C-BE32-E72D297353CC}">
                <c16:uniqueId val="{00000003-EE9A-4B5D-8458-2870167A68A9}"/>
              </c:ext>
            </c:extLst>
          </c:dPt>
          <c:dLbls>
            <c:spPr>
              <a:noFill/>
              <a:ln>
                <a:noFill/>
              </a:ln>
              <a:effectLst/>
            </c:spPr>
            <c:txPr>
              <a:bodyPr anchorCtr="1"/>
              <a:lstStyle/>
              <a:p>
                <a:pPr>
                  <a:defRPr sz="825" b="1">
                    <a:solidFill>
                      <a:srgbClr val="5B5B5B"/>
                    </a:solidFill>
                    <a:latin typeface="Yu Gothic"/>
                    <a:ea typeface="Yu Gothic"/>
                    <a:cs typeface="Yu Gothic"/>
                  </a:defRPr>
                </a:pPr>
                <a:endParaRPr lang="ja-JP"/>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MC01</c:v>
              </c:pt>
              <c:pt idx="1">
                <c:v>MC02</c:v>
              </c:pt>
            </c:strLit>
          </c:cat>
          <c:val>
            <c:numLit>
              <c:formatCode>0.000</c:formatCode>
              <c:ptCount val="2"/>
              <c:pt idx="0">
                <c:v>0.4962086</c:v>
              </c:pt>
              <c:pt idx="1">
                <c:v>0.1544275</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4-EE9A-4B5D-8458-2870167A68A9}"/>
            </c:ext>
          </c:extLst>
        </c:ser>
        <c:dLbls>
          <c:dLblPos val="outEnd"/>
          <c:showLegendKey val="0"/>
          <c:showVal val="1"/>
          <c:showCatName val="0"/>
          <c:showSerName val="0"/>
          <c:showPercent val="0"/>
          <c:showBubbleSize val="0"/>
        </c:dLbls>
        <c:gapWidth val="7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6D6D6"/>
            </a:solidFill>
            <a:prstDash val="solid"/>
          </a:ln>
        </c:spPr>
        <c:txPr>
          <a:bodyPr anchorCtr="1"/>
          <a:lstStyle/>
          <a:p>
            <a:pPr>
              <a:defRPr sz="825">
                <a:solidFill>
                  <a:srgbClr val="5B5B5B"/>
                </a:solidFill>
                <a:latin typeface="Yu Gothic"/>
                <a:ea typeface="Yu Gothic"/>
                <a:cs typeface="Yu Gothic"/>
              </a:defRPr>
            </a:pPr>
            <a:endParaRPr lang="ja-JP"/>
          </a:p>
        </c:txPr>
        <c:crossAx val="48672768"/>
        <c:crosses val="autoZero"/>
        <c:auto val="1"/>
        <c:lblAlgn val="ctr"/>
        <c:lblOffset val="100"/>
        <c:noMultiLvlLbl val="1"/>
      </c:catAx>
      <c:valAx>
        <c:axId val="48672768"/>
        <c:scaling>
          <c:orientation val="minMax"/>
          <c:max val="0.6"/>
          <c:min val="0"/>
        </c:scaling>
        <c:delete val="0"/>
        <c:axPos val="l"/>
        <c:majorGridlines>
          <c:spPr>
            <a:ln w="9525">
              <a:solidFill>
                <a:srgbClr val="F2F2F2"/>
              </a:solidFill>
              <a:prstDash val="solid"/>
            </a:ln>
          </c:spPr>
        </c:majorGridlines>
        <c:title>
          <c:tx>
            <c:rich>
              <a:bodyPr/>
              <a:lstStyle/>
              <a:p>
                <a:r>
                  <a:rPr>
                    <a:latin typeface="Yu Gothic"/>
                    <a:ea typeface="Yu Gothic"/>
                    <a:cs typeface="Yu Gothic"/>
                  </a:rPr>
                  <a:t>chip-average ΔT [K]</a:t>
                </a:r>
              </a:p>
            </c:rich>
          </c:tx>
          <c:overlay val="0"/>
        </c:title>
        <c:numFmt formatCode="0.000" sourceLinked="1"/>
        <c:majorTickMark val="none"/>
        <c:minorTickMark val="none"/>
        <c:tickLblPos val="nextTo"/>
        <c:spPr>
          <a:ln w="9525">
            <a:solidFill>
              <a:srgbClr val="D6D6D6"/>
            </a:solidFill>
            <a:prstDash val="solid"/>
          </a:ln>
        </c:spPr>
        <c:txPr>
          <a:bodyPr anchorCtr="1"/>
          <a:lstStyle/>
          <a:p>
            <a:pPr>
              <a:defRPr sz="675">
                <a:solidFill>
                  <a:srgbClr val="777777"/>
                </a:solidFill>
                <a:latin typeface="Yu Gothic"/>
                <a:ea typeface="Yu Gothic"/>
                <a:cs typeface="Yu Gothic"/>
              </a:defRPr>
            </a:pPr>
            <a:endParaRPr lang="ja-JP"/>
          </a:p>
        </c:txPr>
        <c:crossAx val="48650112"/>
        <c:crosses val="autoZero"/>
        <c:crossBetween val="between"/>
        <c:majorUnit val="0.1"/>
      </c:valAx>
      <c:spPr>
        <a:solidFill>
          <a:srgbClr val="FFFFFF"/>
        </a:solidFill>
        <a:ln w="0">
          <a:noFill/>
          <a:prstDash val="solid"/>
        </a:ln>
      </c:spPr>
    </c:plotArea>
    <c:plotVisOnly val="1"/>
    <c:dispBlanksAs val="zero"/>
    <c:showDLblsOverMax val="1"/>
  </c:chart>
  <c:spPr>
    <a:solidFill>
      <a:srgbClr val="FFFFFF"/>
    </a:solidFill>
    <a:ln w="0">
      <a:noFill/>
      <a:prstDash val="solid"/>
    </a:ln>
  </c:spPr>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barChart>
        <c:barDir val="col"/>
        <c:grouping val="clustered"/>
        <c:varyColors val="0"/>
        <c:ser>
          <c:idx val="0"/>
          <c:order val="0"/>
          <c:tx>
            <c:v>learned</c:v>
          </c:tx>
          <c:spPr>
            <a:solidFill>
              <a:srgbClr val="00A5D8"/>
            </a:solidFill>
          </c:spPr>
          <c:invertIfNegative val="1"/>
          <c:dLbls>
            <c:spPr>
              <a:noFill/>
              <a:ln>
                <a:noFill/>
              </a:ln>
              <a:effectLst/>
            </c:spPr>
            <c:txPr>
              <a:bodyPr anchorCtr="1"/>
              <a:lstStyle/>
              <a:p>
                <a:pPr>
                  <a:defRPr sz="713" b="1">
                    <a:solidFill>
                      <a:srgbClr val="5B5B5B"/>
                    </a:solidFill>
                    <a:latin typeface="Yu Gothic"/>
                    <a:ea typeface="Yu Gothic"/>
                    <a:cs typeface="Yu Gothic"/>
                  </a:defRPr>
                </a:pPr>
                <a:endParaRPr lang="ja-JP"/>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HV01
conjugate</c:v>
              </c:pt>
              <c:pt idx="1">
                <c:v>HV02
radiation</c:v>
              </c:pt>
            </c:strLit>
          </c:cat>
          <c:val>
            <c:numLit>
              <c:formatCode>0.000</c:formatCode>
              <c:ptCount val="2"/>
              <c:pt idx="0">
                <c:v>4.7653000000000001E-2</c:v>
              </c:pt>
              <c:pt idx="1">
                <c:v>0.14358399999999999</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197C-4AEB-A9F2-59A2A75A8C62}"/>
            </c:ext>
          </c:extLst>
        </c:ser>
        <c:ser>
          <c:idx val="1"/>
          <c:order val="1"/>
          <c:tx>
            <c:v>prior</c:v>
          </c:tx>
          <c:spPr>
            <a:solidFill>
              <a:srgbClr val="D6D6D6"/>
            </a:solidFill>
          </c:spPr>
          <c:invertIfNegative val="1"/>
          <c:dLbls>
            <c:spPr>
              <a:noFill/>
              <a:ln>
                <a:noFill/>
              </a:ln>
              <a:effectLst/>
            </c:spPr>
            <c:txPr>
              <a:bodyPr anchorCtr="1"/>
              <a:lstStyle/>
              <a:p>
                <a:pPr>
                  <a:defRPr sz="713" b="1">
                    <a:solidFill>
                      <a:srgbClr val="5B5B5B"/>
                    </a:solidFill>
                    <a:latin typeface="Yu Gothic"/>
                    <a:ea typeface="Yu Gothic"/>
                    <a:cs typeface="Yu Gothic"/>
                  </a:defRPr>
                </a:pPr>
                <a:endParaRPr lang="ja-JP"/>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HV01
conjugate</c:v>
              </c:pt>
              <c:pt idx="1">
                <c:v>HV02
radiation</c:v>
              </c:pt>
            </c:strLit>
          </c:cat>
          <c:val>
            <c:numLit>
              <c:formatCode>0.000</c:formatCode>
              <c:ptCount val="2"/>
              <c:pt idx="0">
                <c:v>0.97693200000000002</c:v>
              </c:pt>
              <c:pt idx="1">
                <c:v>0.80090600000000001</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197C-4AEB-A9F2-59A2A75A8C62}"/>
            </c:ext>
          </c:extLst>
        </c:ser>
        <c:dLbls>
          <c:dLblPos val="outEnd"/>
          <c:showLegendKey val="0"/>
          <c:showVal val="1"/>
          <c:showCatName val="0"/>
          <c:showSerName val="0"/>
          <c:showPercent val="0"/>
          <c:showBubbleSize val="0"/>
        </c:dLbls>
        <c:gapWidth val="58"/>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6D6D6"/>
            </a:solidFill>
            <a:prstDash val="solid"/>
          </a:ln>
        </c:spPr>
        <c:txPr>
          <a:bodyPr anchorCtr="1"/>
          <a:lstStyle/>
          <a:p>
            <a:pPr>
              <a:defRPr sz="750">
                <a:solidFill>
                  <a:srgbClr val="5B5B5B"/>
                </a:solidFill>
                <a:latin typeface="Yu Gothic"/>
                <a:ea typeface="Yu Gothic"/>
                <a:cs typeface="Yu Gothic"/>
              </a:defRPr>
            </a:pPr>
            <a:endParaRPr lang="ja-JP"/>
          </a:p>
        </c:txPr>
        <c:crossAx val="48672768"/>
        <c:crosses val="autoZero"/>
        <c:auto val="1"/>
        <c:lblAlgn val="ctr"/>
        <c:lblOffset val="100"/>
        <c:noMultiLvlLbl val="1"/>
      </c:catAx>
      <c:valAx>
        <c:axId val="48672768"/>
        <c:scaling>
          <c:orientation val="minMax"/>
          <c:max val="1.1000000000000001"/>
          <c:min val="0"/>
        </c:scaling>
        <c:delete val="0"/>
        <c:axPos val="l"/>
        <c:majorGridlines>
          <c:spPr>
            <a:ln w="9525">
              <a:solidFill>
                <a:srgbClr val="F2F2F2"/>
              </a:solidFill>
              <a:prstDash val="solid"/>
            </a:ln>
          </c:spPr>
        </c:majorGridlines>
        <c:title>
          <c:tx>
            <c:rich>
              <a:bodyPr/>
              <a:lstStyle/>
              <a:p>
                <a:r>
                  <a:rPr>
                    <a:latin typeface="Yu Gothic"/>
                    <a:ea typeface="Yu Gothic"/>
                    <a:cs typeface="Yu Gothic"/>
                  </a:rPr>
                  <a:t>RMSE [K]</a:t>
                </a:r>
              </a:p>
            </c:rich>
          </c:tx>
          <c:overlay val="0"/>
        </c:title>
        <c:numFmt formatCode="0.000" sourceLinked="1"/>
        <c:majorTickMark val="none"/>
        <c:minorTickMark val="none"/>
        <c:tickLblPos val="nextTo"/>
        <c:spPr>
          <a:ln w="9525">
            <a:solidFill>
              <a:srgbClr val="D6D6D6"/>
            </a:solidFill>
            <a:prstDash val="solid"/>
          </a:ln>
        </c:spPr>
        <c:txPr>
          <a:bodyPr anchorCtr="1"/>
          <a:lstStyle/>
          <a:p>
            <a:pPr>
              <a:defRPr sz="675">
                <a:solidFill>
                  <a:srgbClr val="777777"/>
                </a:solidFill>
                <a:latin typeface="Yu Gothic"/>
                <a:ea typeface="Yu Gothic"/>
                <a:cs typeface="Yu Gothic"/>
              </a:defRPr>
            </a:pPr>
            <a:endParaRPr lang="ja-JP"/>
          </a:p>
        </c:txPr>
        <c:crossAx val="48650112"/>
        <c:crosses val="autoZero"/>
        <c:crossBetween val="between"/>
        <c:majorUnit val="0.2"/>
      </c:valAx>
      <c:spPr>
        <a:solidFill>
          <a:srgbClr val="FFFFFF"/>
        </a:solidFill>
        <a:ln w="0">
          <a:noFill/>
          <a:prstDash val="solid"/>
        </a:ln>
      </c:spPr>
    </c:plotArea>
    <c:legend>
      <c:legendPos val="b"/>
      <c:overlay val="0"/>
      <c:txPr>
        <a:bodyPr anchorCtr="1"/>
        <a:lstStyle/>
        <a:p>
          <a:pPr>
            <a:defRPr sz="750">
              <a:solidFill>
                <a:srgbClr val="5B5B5B"/>
              </a:solidFill>
              <a:latin typeface="Yu Gothic"/>
              <a:ea typeface="Yu Gothic"/>
              <a:cs typeface="Yu Gothic"/>
            </a:defRPr>
          </a:pPr>
          <a:endParaRPr lang="ja-JP"/>
        </a:p>
      </c:txPr>
    </c:legend>
    <c:plotVisOnly val="1"/>
    <c:dispBlanksAs val="zero"/>
    <c:showDLblsOverMax val="1"/>
  </c:chart>
  <c:spPr>
    <a:solidFill>
      <a:srgbClr val="FFFFFF"/>
    </a:solidFill>
    <a:ln w="0">
      <a:noFill/>
      <a:prstDash val="solid"/>
    </a:ln>
  </c:spPr>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lineChart>
        <c:grouping val="standard"/>
        <c:varyColors val="0"/>
        <c:ser>
          <c:idx val="0"/>
          <c:order val="0"/>
          <c:tx>
            <c:v>truth ΔT with radiation</c:v>
          </c:tx>
          <c:spPr>
            <a:ln w="28575">
              <a:solidFill>
                <a:srgbClr val="7B2DAF"/>
              </a:solidFill>
              <a:prstDash val="solid"/>
            </a:ln>
          </c:spPr>
          <c:marker>
            <c:symbol val="circle"/>
            <c:size val="4"/>
            <c:spPr>
              <a:solidFill>
                <a:srgbClr val="7B2DAF"/>
              </a:solidFill>
            </c:spPr>
          </c:marker>
          <c:cat>
            <c:numLit>
              <c:formatCode>General</c:formatCode>
              <c:ptCount val="12"/>
              <c:pt idx="0">
                <c:v>0</c:v>
              </c:pt>
              <c:pt idx="1">
                <c:v>20</c:v>
              </c:pt>
              <c:pt idx="2">
                <c:v>40</c:v>
              </c:pt>
              <c:pt idx="3">
                <c:v>60</c:v>
              </c:pt>
              <c:pt idx="4">
                <c:v>80</c:v>
              </c:pt>
              <c:pt idx="5">
                <c:v>100</c:v>
              </c:pt>
              <c:pt idx="6">
                <c:v>120</c:v>
              </c:pt>
              <c:pt idx="7">
                <c:v>140</c:v>
              </c:pt>
              <c:pt idx="8">
                <c:v>160</c:v>
              </c:pt>
              <c:pt idx="9">
                <c:v>180</c:v>
              </c:pt>
              <c:pt idx="10">
                <c:v>200</c:v>
              </c:pt>
              <c:pt idx="11">
                <c:v>220</c:v>
              </c:pt>
            </c:numLit>
          </c:cat>
          <c:val>
            <c:numLit>
              <c:formatCode>0.0</c:formatCode>
              <c:ptCount val="12"/>
              <c:pt idx="0">
                <c:v>-1.8545700000025533E-3</c:v>
              </c:pt>
              <c:pt idx="1">
                <c:v>-1.8549800000009498E-3</c:v>
              </c:pt>
              <c:pt idx="2">
                <c:v>-1.8553600000004167E-3</c:v>
              </c:pt>
              <c:pt idx="3">
                <c:v>-1.8556099999997855E-3</c:v>
              </c:pt>
              <c:pt idx="4">
                <c:v>-7.4855300000002956E-3</c:v>
              </c:pt>
              <c:pt idx="5">
                <c:v>-1.1850699999982339E-3</c:v>
              </c:pt>
              <c:pt idx="6">
                <c:v>-2.2883150000001962E-2</c:v>
              </c:pt>
              <c:pt idx="7">
                <c:v>-8.4162999999996657E-2</c:v>
              </c:pt>
              <c:pt idx="8">
                <c:v>-0.16855853000000565</c:v>
              </c:pt>
              <c:pt idx="9">
                <c:v>-0.24409413000000058</c:v>
              </c:pt>
              <c:pt idx="10">
                <c:v>-0.31718865999999935</c:v>
              </c:pt>
              <c:pt idx="11">
                <c:v>-0.38133367000000362</c:v>
              </c:pt>
            </c:numLit>
          </c:val>
          <c:smooth val="0"/>
          <c:extLst>
            <c:ext xmlns:c16="http://schemas.microsoft.com/office/drawing/2014/chart" uri="{C3380CC4-5D6E-409C-BE32-E72D297353CC}">
              <c16:uniqueId val="{00000000-0B46-428C-95AD-11D6863617E4}"/>
            </c:ext>
          </c:extLst>
        </c:ser>
        <c:ser>
          <c:idx val="1"/>
          <c:order val="1"/>
          <c:tx>
            <c:v>model predicted ΔT</c:v>
          </c:tx>
          <c:spPr>
            <a:ln w="28575">
              <a:solidFill>
                <a:srgbClr val="00A5D8"/>
              </a:solidFill>
              <a:prstDash val="solid"/>
            </a:ln>
          </c:spPr>
          <c:marker>
            <c:symbol val="square"/>
            <c:size val="4"/>
            <c:spPr>
              <a:solidFill>
                <a:srgbClr val="00A5D8"/>
              </a:solidFill>
            </c:spPr>
          </c:marker>
          <c:cat>
            <c:numLit>
              <c:formatCode>General</c:formatCode>
              <c:ptCount val="12"/>
              <c:pt idx="0">
                <c:v>0</c:v>
              </c:pt>
              <c:pt idx="1">
                <c:v>20</c:v>
              </c:pt>
              <c:pt idx="2">
                <c:v>40</c:v>
              </c:pt>
              <c:pt idx="3">
                <c:v>60</c:v>
              </c:pt>
              <c:pt idx="4">
                <c:v>80</c:v>
              </c:pt>
              <c:pt idx="5">
                <c:v>100</c:v>
              </c:pt>
              <c:pt idx="6">
                <c:v>120</c:v>
              </c:pt>
              <c:pt idx="7">
                <c:v>140</c:v>
              </c:pt>
              <c:pt idx="8">
                <c:v>160</c:v>
              </c:pt>
              <c:pt idx="9">
                <c:v>180</c:v>
              </c:pt>
              <c:pt idx="10">
                <c:v>200</c:v>
              </c:pt>
              <c:pt idx="11">
                <c:v>220</c:v>
              </c:pt>
            </c:numLit>
          </c:cat>
          <c:val>
            <c:numLit>
              <c:formatCode>0.0</c:formatCode>
              <c:ptCount val="12"/>
              <c:pt idx="0">
                <c:v>-1.8545700000025533E-3</c:v>
              </c:pt>
              <c:pt idx="1">
                <c:v>-1.777789999998447E-3</c:v>
              </c:pt>
              <c:pt idx="2">
                <c:v>-1.7016000000005249E-3</c:v>
              </c:pt>
              <c:pt idx="3">
                <c:v>-1.6286799999996049E-3</c:v>
              </c:pt>
              <c:pt idx="4">
                <c:v>-1.5588800000010394E-3</c:v>
              </c:pt>
              <c:pt idx="5">
                <c:v>-1.492069999997625E-3</c:v>
              </c:pt>
              <c:pt idx="6">
                <c:v>-1.4281300000007491E-3</c:v>
              </c:pt>
              <c:pt idx="7">
                <c:v>-1.3735799999992082E-3</c:v>
              </c:pt>
              <c:pt idx="8">
                <c:v>-1.3282800000027351E-3</c:v>
              </c:pt>
              <c:pt idx="9">
                <c:v>-1.2915400000039767E-3</c:v>
              </c:pt>
              <c:pt idx="10">
                <c:v>-1.2564700000012863E-3</c:v>
              </c:pt>
              <c:pt idx="11">
                <c:v>-1.2223400000053175E-3</c:v>
              </c:pt>
            </c:numLit>
          </c:val>
          <c:smooth val="0"/>
          <c:extLst>
            <c:ext xmlns:c16="http://schemas.microsoft.com/office/drawing/2014/chart" uri="{C3380CC4-5D6E-409C-BE32-E72D297353CC}">
              <c16:uniqueId val="{00000001-0B46-428C-95AD-11D6863617E4}"/>
            </c:ext>
          </c:extLst>
        </c:ser>
        <c:dLbls>
          <c:showLegendKey val="0"/>
          <c:showVal val="0"/>
          <c:showCatName val="0"/>
          <c:showSerName val="0"/>
          <c:showPercent val="0"/>
          <c:showBubbleSize val="0"/>
        </c:dLbls>
        <c:marker val="1"/>
        <c:smooth val="0"/>
        <c:axId val="48650112"/>
        <c:axId val="48672768"/>
      </c:lineChart>
      <c:catAx>
        <c:axId val="48650112"/>
        <c:scaling>
          <c:orientation val="minMax"/>
        </c:scaling>
        <c:delete val="0"/>
        <c:axPos val="b"/>
        <c:title>
          <c:tx>
            <c:rich>
              <a:bodyPr/>
              <a:lstStyle/>
              <a:p>
                <a:r>
                  <a:rPr>
                    <a:latin typeface="Yu Gothic"/>
                    <a:ea typeface="Yu Gothic"/>
                    <a:cs typeface="Yu Gothic"/>
                  </a:rPr>
                  <a:t>time [s]</a:t>
                </a:r>
              </a:p>
            </c:rich>
          </c:tx>
          <c:overlay val="0"/>
        </c:title>
        <c:numFmt formatCode="General" sourceLinked="1"/>
        <c:majorTickMark val="none"/>
        <c:minorTickMark val="none"/>
        <c:tickLblPos val="nextTo"/>
        <c:spPr>
          <a:ln w="9525">
            <a:solidFill>
              <a:srgbClr val="D6D6D6"/>
            </a:solidFill>
            <a:prstDash val="solid"/>
          </a:ln>
        </c:spPr>
        <c:txPr>
          <a:bodyPr anchorCtr="1"/>
          <a:lstStyle/>
          <a:p>
            <a:pPr>
              <a:defRPr sz="638">
                <a:solidFill>
                  <a:srgbClr val="777777"/>
                </a:solidFill>
                <a:latin typeface="Yu Gothic"/>
                <a:ea typeface="Yu Gothic"/>
                <a:cs typeface="Yu Gothic"/>
              </a:defRPr>
            </a:pPr>
            <a:endParaRPr lang="ja-JP"/>
          </a:p>
        </c:txPr>
        <c:crossAx val="48672768"/>
        <c:crosses val="autoZero"/>
        <c:auto val="1"/>
        <c:lblAlgn val="ctr"/>
        <c:lblOffset val="100"/>
        <c:noMultiLvlLbl val="1"/>
      </c:catAx>
      <c:valAx>
        <c:axId val="48672768"/>
        <c:scaling>
          <c:orientation val="minMax"/>
          <c:max val="0.05"/>
          <c:min val="-0.45"/>
        </c:scaling>
        <c:delete val="0"/>
        <c:axPos val="l"/>
        <c:majorGridlines>
          <c:spPr>
            <a:ln w="9525">
              <a:solidFill>
                <a:srgbClr val="F2F2F2"/>
              </a:solidFill>
              <a:prstDash val="solid"/>
            </a:ln>
          </c:spPr>
        </c:majorGridlines>
        <c:title>
          <c:tx>
            <c:rich>
              <a:bodyPr/>
              <a:lstStyle/>
              <a:p>
                <a:r>
                  <a:rPr>
                    <a:latin typeface="Yu Gothic"/>
                    <a:ea typeface="Yu Gothic"/>
                    <a:cs typeface="Yu Gothic"/>
                  </a:rPr>
                  <a:t>ΔT chip [K]</a:t>
                </a:r>
              </a:p>
            </c:rich>
          </c:tx>
          <c:overlay val="0"/>
        </c:title>
        <c:numFmt formatCode="0.0" sourceLinked="1"/>
        <c:majorTickMark val="none"/>
        <c:minorTickMark val="none"/>
        <c:tickLblPos val="nextTo"/>
        <c:spPr>
          <a:ln w="9525">
            <a:solidFill>
              <a:srgbClr val="D6D6D6"/>
            </a:solidFill>
            <a:prstDash val="solid"/>
          </a:ln>
        </c:spPr>
        <c:txPr>
          <a:bodyPr anchorCtr="1"/>
          <a:lstStyle/>
          <a:p>
            <a:pPr>
              <a:defRPr sz="675">
                <a:solidFill>
                  <a:srgbClr val="777777"/>
                </a:solidFill>
                <a:latin typeface="Yu Gothic"/>
                <a:ea typeface="Yu Gothic"/>
                <a:cs typeface="Yu Gothic"/>
              </a:defRPr>
            </a:pPr>
            <a:endParaRPr lang="ja-JP"/>
          </a:p>
        </c:txPr>
        <c:crossAx val="48650112"/>
        <c:crosses val="autoZero"/>
        <c:crossBetween val="between"/>
        <c:majorUnit val="0.1"/>
      </c:valAx>
      <c:spPr>
        <a:solidFill>
          <a:srgbClr val="FFFFFF"/>
        </a:solidFill>
        <a:ln w="0">
          <a:noFill/>
          <a:prstDash val="solid"/>
        </a:ln>
      </c:spPr>
    </c:plotArea>
    <c:legend>
      <c:legendPos val="b"/>
      <c:overlay val="0"/>
      <c:txPr>
        <a:bodyPr anchorCtr="1"/>
        <a:lstStyle/>
        <a:p>
          <a:pPr>
            <a:defRPr sz="713">
              <a:solidFill>
                <a:srgbClr val="5B5B5B"/>
              </a:solidFill>
              <a:latin typeface="Yu Gothic"/>
              <a:ea typeface="Yu Gothic"/>
              <a:cs typeface="Yu Gothic"/>
            </a:defRPr>
          </a:pPr>
          <a:endParaRPr lang="ja-JP"/>
        </a:p>
      </c:txPr>
    </c:legend>
    <c:plotVisOnly val="1"/>
    <c:dispBlanksAs val="zero"/>
    <c:showDLblsOverMax val="1"/>
  </c:chart>
  <c:spPr>
    <a:solidFill>
      <a:srgbClr val="FFFFFF"/>
    </a:solidFill>
    <a:ln w="0">
      <a:noFill/>
      <a:prstDash val="solid"/>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Primary source: docs/technical_specification.md</a:t>
            </a:r>
          </a:p>
          <a:p>
            <a:r>
              <a:t>Visual design reference only: Tokyo Electron FY2027 Q1 Financial Announcement, https://www.tel.com/ir/library/report/i242su0000000goz-att/fy27q1presentations-e.pdf</a:t>
            </a:r>
          </a:p>
          <a:p>
            <a:r>
              <a:t>Tokyo Electron logo, trademark lockup, and official slide master are not used.</a:t>
            </a:r>
          </a:p>
          <a:p>
            <a:r>
              <a:t>Repository: thermal-cell-practical.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README.md; docs/product_architecture.md sections 1 and 10.</a:t>
            </a:r>
          </a:p>
          <a:p>
            <a:r>
              <a:t>The process diagram is a responsibility map, not a proprietary equipment architecture.</a:t>
            </a:r>
          </a:p>
          <a:p>
            <a:r>
              <a:t>Claims about hotspot and radiation limits are supported by the COMSOL benchmark slides later in this deck.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README.md sections Purpose, Deployment artifact, Current model boundaries.</a:t>
            </a:r>
          </a:p>
          <a:p>
            <a:r>
              <a:t>Sources: docs/product_architecture.md sections 5–8 and 10.</a:t>
            </a:r>
          </a:p>
          <a:p>
            <a:r>
              <a:t>Forecast intervals include state/process uncertainty only; parameter, future-input, and model-form uncertainty are excluded.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docs/product_architecture.md sections 1, 7–10.</a:t>
            </a:r>
          </a:p>
          <a:p>
            <a:r>
              <a:t>Source code: src/celltemp/cli.py, workflows/, inference.py, artifact.py, learning/, engine/, domain/, io/.</a:t>
            </a:r>
          </a:p>
          <a:p>
            <a:r>
              <a:t>Architecture diagram shows dependency and responsibility, not runtime thread/process topology.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README.md; docs/product_architecture.md sections 1, 5–7, and 11.</a:t>
            </a:r>
          </a:p>
          <a:p>
            <a:r>
              <a:t>Implemented status refers to repository workflows; equipment qualification remains a separate validation activity.</a:t>
            </a:r>
          </a:p>
          <a:p>
            <a:r>
              <a:t>Future items are explicitly not claims about current behavior.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benchmarks/topcell/work/outputs/benchmark/benchmark_summary.json</a:t>
            </a:r>
          </a:p>
          <a:p>
            <a:r>
              <a:t>Sources: external_tools/comsol_chip_cooling/work/evaluation/forecast_cases.csv</a:t>
            </a:r>
          </a:p>
          <a:p>
            <a:r>
              <a:t>Sources: external_tools/comsol_chip_cooling/reports/cae_benchmark_report/source_data/high_fidelity_case_metrics.csv</a:t>
            </a:r>
          </a:p>
          <a:p>
            <a:r>
              <a:t>Hotspot gap source: external_tools/comsol_chip_cooling/data/qa_summary.csv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Conceptual semiconductor-equipment mapping; no proprietary equipment geometry is represented.</a:t>
            </a:r>
          </a:p>
          <a:p>
            <a:r>
              <a:t>Physics source: docs/technical_specification.md sections 4 and 6.</a:t>
            </a:r>
          </a:p>
          <a:p>
            <a:r>
              <a:t>System mapping source: external_tools/comsol_chip_cooling/system.yaml.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docs/technical_specification.md sections 11 and 12.</a:t>
            </a:r>
          </a:p>
          <a:p>
            <a:r>
              <a:t>TopCell: benchmarks/topcell/work/outputs/benchmark/benchmark_summary.json.</a:t>
            </a:r>
          </a:p>
          <a:p>
            <a:r>
              <a:t>Linear COMSOL: external_tools/comsol_chip_cooling/work/evaluation/forecast_cases.csv.</a:t>
            </a:r>
          </a:p>
          <a:p>
            <a:r>
              <a:t>High fidelity: external_tools/comsol_chip_cooling/docs/high_fidelity_validation.md.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external_tools/comsol_chip_cooling/system.yaml.</a:t>
            </a:r>
          </a:p>
          <a:p>
            <a:r>
              <a:t>Fitted values: external_tools/comsol_chip_cooling/work/evaluation/fitted_parameters.csv.</a:t>
            </a:r>
          </a:p>
          <a:p>
            <a:r>
              <a:t>Boundary node weights are fixed at base 0.090909 and fins 0.909091.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docs/technical_specification.md sections 4.2, 4.3, 4.8, and 4.10.</a:t>
            </a:r>
          </a:p>
          <a:p>
            <a:r>
              <a:t>Compact thermal modeling reference: Huang et al., IEEE TVLSI 2006, doi:10.1109/TVLSI.2006.876103.</a:t>
            </a:r>
          </a:p>
          <a:p>
            <a:r>
              <a:t>Biot-number criterion is an engineering screening criterion for lumped-capacitance validity; node adequacy must be checked against local gradients.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src/celltemp/engine/laws.py, src/celltemp/engine/rc.py, src/celltemp/domain/topology.py.</a:t>
            </a:r>
          </a:p>
          <a:p>
            <a:r>
              <a:t>Sources: docs/product_architecture.md sections 2 and 3; docs/model_notes.md.</a:t>
            </a:r>
          </a:p>
          <a:p>
            <a:r>
              <a:t>All scalar-law outputs inherit the physical unit of the owning path: W/K for conductance and W for source heat rate.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Derived calculation using external_tools/comsol_chip_cooling/system.yaml and fitted_parameters.csv.</a:t>
            </a:r>
          </a:p>
          <a:p>
            <a:r>
              <a:t>Generalized eigenproblem K phi = lambda C phi at the nominal fitted linear condition.</a:t>
            </a:r>
          </a:p>
          <a:p>
            <a:r>
              <a:t>Derived modal time constants: 0.186 s, 2.028 s, and 425.354 s. These are model modes, not directly measured equipment constants.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docs/technical_specification.md section 5.</a:t>
            </a:r>
          </a:p>
          <a:p>
            <a:r>
              <a:t>References: Van Loan (1978), Higham (2005), Dahlquist (1963).</a:t>
            </a:r>
          </a:p>
          <a:p>
            <a:r>
              <a:t>The exact-affine solver removes time-discretization error only under the piecewise-constant coefficient contract.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src/celltemp/learning/trainer.py and objective.py.</a:t>
            </a:r>
          </a:p>
          <a:p>
            <a:r>
              <a:t>Example defaults: examples/topcell_quickstart/config.yaml and benchmarks/topcell/config.yaml.</a:t>
            </a:r>
          </a:p>
          <a:p>
            <a:r>
              <a:t>The selected model is the state with minimum causal validation RMSE, not the final optimizer state.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docs/technical_specification.md sections 6 and 7.</a:t>
            </a:r>
          </a:p>
          <a:p>
            <a:r>
              <a:t>Parameter-specific DOE recommendations are engineering implications of the fitted three-mode time constants shown on slide 7.</a:t>
            </a:r>
          </a:p>
          <a:p>
            <a:r>
              <a:t>Robust loss reference: Huber (1964). Optimizer reference: Kingma and Ba (2014).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src/celltemp/engine/rc.py, learning/objective.py, learning/trainer.py, inference.py, engine/observer.py.</a:t>
            </a:r>
          </a:p>
          <a:p>
            <a:r>
              <a:t>Coverage source: src/celltemp/workflows/forecast.py.</a:t>
            </a:r>
          </a:p>
          <a:p>
            <a:r>
              <a:t>Extension rule source: docs/product_architecture.md section 11.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docs/product_architecture.md sections 2, 7, and 8.</a:t>
            </a:r>
          </a:p>
          <a:p>
            <a:r>
              <a:t>Sources: src/celltemp/domain/trajectory.py, artifact.py, workflows/common.py, inference.py.</a:t>
            </a:r>
          </a:p>
          <a:p>
            <a:r>
              <a:t>Artifact metadata schema version is 4 in the current repository implementation.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src/celltemp/cli.py, workflows/train.py, workflows/common.py, artifact.py.</a:t>
            </a:r>
          </a:p>
          <a:p>
            <a:r>
              <a:t>Split grouping source: src/celltemp/learning/split.py.</a:t>
            </a:r>
          </a:p>
          <a:p>
            <a:r>
              <a:t>The command shown is equivalent to the documented console entry point `celltemp train --config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docs/technical_specification.md section 7.</a:t>
            </a:r>
          </a:p>
          <a:p>
            <a:r>
              <a:t>The causal cutoff is a data-contract requirement, not a presentation-only convention.</a:t>
            </a:r>
          </a:p>
          <a:p>
            <a:r>
              <a:t>Uncertainty scope distinguishes propagated state covariance from parameter and model-form uncertainty.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docs/technical_specification.md section 8.</a:t>
            </a:r>
          </a:p>
          <a:p>
            <a:r>
              <a:t>Thresholds: chi-square quantiles at confidence 0.9999 used by external_tools/comsol_chip_cooling/evaluate.py.</a:t>
            </a:r>
          </a:p>
          <a:p>
            <a:r>
              <a:t>References: Kalman (1960), Van Loan (1978), Bar-Shalom et al. (2001).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benchmarks/topcell/run.py and benchmarks/topcell/README.md.</a:t>
            </a:r>
          </a:p>
          <a:p>
            <a:r>
              <a:t>Sources: external_tools/comsol_chip_cooling/run.py, evaluate.py, benchmark_high_fidelity.py.</a:t>
            </a:r>
          </a:p>
          <a:p>
            <a:r>
              <a:t>Report source: external_tools/comsol_chip_cooling/reports/cae_benchmark_report/build_report.py and source_data/.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M03 trace: external_tools/comsol_chip_cooling/work/outputs/monitor/M03_sensor_offset.csv.</a:t>
            </a:r>
          </a:p>
          <a:p>
            <a:r>
              <a:t>M05 estimate: external_tools/comsol_chip_cooling/work/outputs/monitor/M05_uncommanded_heat.csv.</a:t>
            </a:r>
          </a:p>
          <a:p>
            <a:r>
              <a:t>M05 truth: external_tools/comsol_chip_cooling/data/eval/monitor/M05_uncommanded_heat.csv.</a:t>
            </a:r>
          </a:p>
          <a:p>
            <a:r>
              <a:t>Metrics/events: external_tools/comsol_chip_cooling/work/evaluation/monitor_cases.csv and monitor_events.csv.</a:t>
            </a:r>
          </a:p>
          <a:p>
            <a:r>
              <a:t>Charts use downsampled display points while preserving event start and first-detection timestamps.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benchmarks/topcell/work/outputs/benchmark/forecast_by_group.csv.</a:t>
            </a:r>
          </a:p>
          <a:p>
            <a:r>
              <a:t>Source: benchmarks/topcell/work/outputs/benchmark/forecast_by_case.csv.</a:t>
            </a:r>
          </a:p>
          <a:p>
            <a:r>
              <a:t>Source: benchmarks/topcell/work/outputs/benchmark/benchmark_summary.json.</a:t>
            </a:r>
          </a:p>
          <a:p>
            <a:r>
              <a:t>F11 is an intentional model-form-gap case and is excluded from the core mean.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external_tools/comsol_chip_cooling/work/evaluation/forecast_cases.csv.</a:t>
            </a:r>
          </a:p>
          <a:p>
            <a:r>
              <a:t>Parameters: external_tools/comsol_chip_cooling/work/evaluation/fitted_parameters.csv.</a:t>
            </a:r>
          </a:p>
          <a:p>
            <a:r>
              <a:t>Hotspot metrics: external_tools/comsol_chip_cooling/data/qa_summary.csv and CAE report source data.</a:t>
            </a:r>
          </a:p>
          <a:p>
            <a:r>
              <a:t>Reported model outputs are volume-average node temperatures; hotspot metrics are separate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external_tools/comsol_chip_cooling/reports/cae_benchmark_report/source_data/mesh_convergence.csv.</a:t>
            </a:r>
          </a:p>
          <a:p>
            <a:r>
              <a:t>Source: external_tools/comsol_chip_cooling/docs/high_fidelity_validation.md.</a:t>
            </a:r>
          </a:p>
          <a:p>
            <a:r>
              <a:t>The red dashed line is a visual guide for the documented strict-average criterion of 0.25 K.</a:t>
            </a:r>
          </a:p>
          <a:p>
            <a:r>
              <a:t>Global-8 to local-coarse MC01 chip-average difference is 15.9128095 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High-fidelity metrics: external_tools/comsol_chip_cooling/reports/cae_benchmark_report/source_data/high_fidelity_case_metrics.csv.</a:t>
            </a:r>
          </a:p>
          <a:p>
            <a:r>
              <a:t>Radiation trace: external_tools/comsol_chip_cooling/reports/cae_benchmark_report/source_data/high_fidelity_radiation_trace.csv.</a:t>
            </a:r>
          </a:p>
          <a:p>
            <a:r>
              <a:t>At 220 s: truth radiation delta = -0.38133367 K; model delta = -0.00122234 K; conservative mesh difference = 0.4962085957 K.</a:t>
            </a:r>
          </a:p>
          <a:p>
            <a:r>
              <a:t>Interpretation: absolute forecast screening improved, but the radiation sensitivity magnitude is not validated.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cases are derived from the implemented forecast and monitor workflows documented in docs/technical_specification.md.</a:t>
            </a:r>
          </a:p>
          <a:p>
            <a:r>
              <a:t>No runtime-speedup or cost-saving figure is claimed because the current benchmark does not report an end-to-end operational baseline.</a:t>
            </a:r>
          </a:p>
          <a:p>
            <a:r>
              <a:t>Adoption gates are engineering recommendations for semiconductor-equipment integration.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docs/technical_specification.md sections 11 and 12.</a:t>
            </a:r>
          </a:p>
          <a:p>
            <a:r>
              <a:t>Validation stages are an equipment-engineering implementation plan derived from the current evidence gaps.</a:t>
            </a:r>
          </a:p>
          <a:p>
            <a:r>
              <a:t>Acceptance thresholds must be agreed from FMEA, control specifications, and the product thermal budget before testing.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R1 doi:10.1109/TVLSI.2006.876103.</a:t>
            </a:r>
          </a:p>
          <a:p>
            <a:r>
              <a:t>R2 Farina and Rinaldi, Positive Linear Systems, Wiley.</a:t>
            </a:r>
          </a:p>
          <a:p>
            <a:r>
              <a:t>R3 doi:10.1115/1.3662552.</a:t>
            </a:r>
          </a:p>
          <a:p>
            <a:r>
              <a:t>R4 IEEE Transactions on Automatic Control 23(3), 1978.</a:t>
            </a:r>
          </a:p>
          <a:p>
            <a:r>
              <a:t>R5 SIAM Journal on Matrix Analysis and Applications 26(4), 2005.</a:t>
            </a:r>
          </a:p>
          <a:p>
            <a:r>
              <a:t>R6 doi:10.1214/aoms/1177703732.</a:t>
            </a:r>
          </a:p>
          <a:p>
            <a:r>
              <a:t>R7 https://arxiv.org/abs/1412.6980.</a:t>
            </a:r>
          </a:p>
          <a:p>
            <a:r>
              <a:t>Visual reference: https://www.tel.com/ir/library/report/i242su0000000goz-att/fy27q1presentations-e.pdf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23.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chart" Target="../charts/chart4.xml"/></Relationships>
</file>

<file path=ppt/slides/_rels/slide24.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chart" Target="../charts/chart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01445"/>
        </a:solidFill>
        <a:effectLst/>
      </p:bgPr>
    </p:bg>
    <p:spTree>
      <p:nvGrpSpPr>
        <p:cNvPr id="1" name=""/>
        <p:cNvGrpSpPr/>
        <p:nvPr/>
      </p:nvGrpSpPr>
      <p:grpSpPr>
        <a:xfrm>
          <a:off x="0" y="0"/>
          <a:ext cx="0" cy="0"/>
          <a:chOff x="0" y="0"/>
          <a:chExt cx="0" cy="0"/>
        </a:xfrm>
      </p:grpSpPr>
      <p:sp>
        <p:nvSpPr>
          <p:cNvPr id="26" name="正方形/長方形 25">
            <a:extLst>
              <a:ext uri="{FF2B5EF4-FFF2-40B4-BE49-F238E27FC236}">
                <a16:creationId xmlns:a16="http://schemas.microsoft.com/office/drawing/2014/main" id="{55944DEB-2CF8-489C-98D6-DCB0C8E5FF20}"/>
              </a:ext>
            </a:extLst>
          </p:cNvPr>
          <p:cNvSpPr>
            <a:spLocks noGrp="1"/>
          </p:cNvSpPr>
          <p:nvPr/>
        </p:nvSpPr>
        <p:spPr>
          <a:xfrm>
            <a:off x="0" y="0"/>
            <a:ext cx="171450" cy="6858000"/>
          </a:xfrm>
          <a:prstGeom prst="rect">
            <a:avLst/>
          </a:prstGeom>
          <a:solidFill>
            <a:srgbClr val="00A5D8"/>
          </a:solidFill>
          <a:ln w="0">
            <a:noFill/>
            <a:prstDash val="solid"/>
          </a:ln>
        </p:spPr>
      </p:sp>
      <p:sp>
        <p:nvSpPr>
          <p:cNvPr id="2" name="正方形/長方形 1">
            <a:extLst>
              <a:ext uri="{FF2B5EF4-FFF2-40B4-BE49-F238E27FC236}">
                <a16:creationId xmlns:a16="http://schemas.microsoft.com/office/drawing/2014/main" id="{88613FCD-C0E7-4273-9DAC-46758660EDEF}"/>
              </a:ext>
            </a:extLst>
          </p:cNvPr>
          <p:cNvSpPr>
            <a:spLocks noGrp="1"/>
          </p:cNvSpPr>
          <p:nvPr/>
        </p:nvSpPr>
        <p:spPr>
          <a:xfrm>
            <a:off x="647700" y="552450"/>
            <a:ext cx="5619750" cy="247650"/>
          </a:xfrm>
          <a:prstGeom prst="rect">
            <a:avLst/>
          </a:prstGeom>
          <a:noFill/>
          <a:ln w="0">
            <a:noFill/>
            <a:prstDash val="solid"/>
          </a:ln>
        </p:spPr>
        <p:txBody>
          <a:bodyPr wrap="none" lIns="28575" tIns="19050" rIns="28575" bIns="19050" anchor="ctr">
            <a:noAutofit/>
          </a:bodyPr>
          <a:lstStyle/>
          <a:p>
            <a:pPr algn="l">
              <a:lnSpc>
                <a:spcPct val="100000"/>
              </a:lnSpc>
              <a:buNone/>
              <a:defRPr sz="975" b="1" i="0">
                <a:solidFill>
                  <a:srgbClr val="76BE18"/>
                </a:solidFill>
                <a:latin typeface="Yu Gothic"/>
                <a:ea typeface="Yu Gothic"/>
                <a:cs typeface="Yu Gothic"/>
              </a:defRPr>
            </a:pPr>
            <a:r>
              <a:rPr sz="975" b="1" i="0">
                <a:solidFill>
                  <a:srgbClr val="76BE18"/>
                </a:solidFill>
                <a:latin typeface="Yu Gothic"/>
                <a:ea typeface="Yu Gothic"/>
                <a:cs typeface="Yu Gothic"/>
              </a:rPr>
              <a:t>THERMAL MODEL / EQUIPMENT ENGINEERING REVIEW</a:t>
            </a:r>
          </a:p>
        </p:txBody>
      </p:sp>
      <p:sp>
        <p:nvSpPr>
          <p:cNvPr id="3" name="正方形/長方形 2">
            <a:extLst>
              <a:ext uri="{FF2B5EF4-FFF2-40B4-BE49-F238E27FC236}">
                <a16:creationId xmlns:a16="http://schemas.microsoft.com/office/drawing/2014/main" id="{790048E8-6EDA-4985-A215-61F8E9FA2A82}"/>
              </a:ext>
            </a:extLst>
          </p:cNvPr>
          <p:cNvSpPr>
            <a:spLocks noGrp="1"/>
          </p:cNvSpPr>
          <p:nvPr/>
        </p:nvSpPr>
        <p:spPr>
          <a:xfrm>
            <a:off x="628650" y="1219200"/>
            <a:ext cx="10287000" cy="1381125"/>
          </a:xfrm>
          <a:prstGeom prst="rect">
            <a:avLst/>
          </a:prstGeom>
          <a:noFill/>
          <a:ln w="0">
            <a:noFill/>
            <a:prstDash val="solid"/>
          </a:ln>
        </p:spPr>
        <p:txBody>
          <a:bodyPr wrap="square" lIns="28575" tIns="0" rIns="28575" bIns="0" anchor="t">
            <a:normAutofit/>
          </a:bodyPr>
          <a:lstStyle/>
          <a:p>
            <a:pPr algn="l">
              <a:lnSpc>
                <a:spcPct val="98000"/>
              </a:lnSpc>
              <a:buNone/>
              <a:defRPr sz="3450" b="1" i="0">
                <a:solidFill>
                  <a:srgbClr val="FFFFFF"/>
                </a:solidFill>
                <a:latin typeface="Yu Gothic"/>
                <a:ea typeface="Yu Gothic"/>
                <a:cs typeface="Yu Gothic"/>
              </a:defRPr>
            </a:pPr>
            <a:r>
              <a:rPr sz="3450" b="1" i="0">
                <a:solidFill>
                  <a:srgbClr val="FFFFFF"/>
                </a:solidFill>
                <a:latin typeface="Yu Gothic"/>
                <a:ea typeface="Yu Gothic"/>
                <a:cs typeface="Yu Gothic"/>
              </a:rPr>
              <a:t>熱RCモデル基盤による</a:t>
            </a:r>
          </a:p>
          <a:p>
            <a:pPr algn="l">
              <a:lnSpc>
                <a:spcPct val="98000"/>
              </a:lnSpc>
              <a:buNone/>
              <a:defRPr sz="3450" b="1" i="0">
                <a:solidFill>
                  <a:srgbClr val="FFFFFF"/>
                </a:solidFill>
                <a:latin typeface="Yu Gothic"/>
                <a:ea typeface="Yu Gothic"/>
                <a:cs typeface="Yu Gothic"/>
              </a:defRPr>
            </a:pPr>
            <a:r>
              <a:rPr sz="3450" b="1" i="0">
                <a:solidFill>
                  <a:srgbClr val="FFFFFF"/>
                </a:solidFill>
                <a:latin typeface="Yu Gothic"/>
                <a:ea typeface="Yu Gothic"/>
                <a:cs typeface="Yu Gothic"/>
              </a:rPr>
              <a:t>半導体装置の同定・予測・状態監視</a:t>
            </a:r>
          </a:p>
        </p:txBody>
      </p:sp>
      <p:sp>
        <p:nvSpPr>
          <p:cNvPr id="4" name="正方形/長方形 3">
            <a:extLst>
              <a:ext uri="{FF2B5EF4-FFF2-40B4-BE49-F238E27FC236}">
                <a16:creationId xmlns:a16="http://schemas.microsoft.com/office/drawing/2014/main" id="{4C9492EC-7F56-4FD2-8D2E-016BD3CF5276}"/>
              </a:ext>
            </a:extLst>
          </p:cNvPr>
          <p:cNvSpPr>
            <a:spLocks noGrp="1"/>
          </p:cNvSpPr>
          <p:nvPr/>
        </p:nvSpPr>
        <p:spPr>
          <a:xfrm>
            <a:off x="666750" y="2905125"/>
            <a:ext cx="10001250" cy="361950"/>
          </a:xfrm>
          <a:prstGeom prst="rect">
            <a:avLst/>
          </a:prstGeom>
          <a:noFill/>
          <a:ln w="0">
            <a:noFill/>
            <a:prstDash val="solid"/>
          </a:ln>
        </p:spPr>
        <p:txBody>
          <a:bodyPr wrap="square" lIns="28575" tIns="19050" rIns="28575" bIns="19050" anchor="ctr">
            <a:normAutofit/>
          </a:bodyPr>
          <a:lstStyle/>
          <a:p>
            <a:pPr algn="l">
              <a:lnSpc>
                <a:spcPct val="100000"/>
              </a:lnSpc>
              <a:buNone/>
              <a:defRPr sz="1500" b="0" i="0">
                <a:solidFill>
                  <a:srgbClr val="D9D2EA"/>
                </a:solidFill>
                <a:latin typeface="Yu Gothic"/>
                <a:ea typeface="Yu Gothic"/>
                <a:cs typeface="Yu Gothic"/>
              </a:defRPr>
            </a:pPr>
            <a:r>
              <a:rPr sz="1500" b="0" i="0">
                <a:solidFill>
                  <a:srgbClr val="D9D2EA"/>
                </a:solidFill>
                <a:latin typeface="Yu Gothic"/>
                <a:ea typeface="Yu Gothic"/>
                <a:cs typeface="Yu Gothic"/>
              </a:rPr>
              <a:t>背景、コード構成、処理workflow、最適化、推定モデル、CAEベンチマークを一体で評価</a:t>
            </a:r>
          </a:p>
        </p:txBody>
      </p:sp>
      <p:sp>
        <p:nvSpPr>
          <p:cNvPr id="5" name="正方形/長方形 4">
            <a:extLst>
              <a:ext uri="{FF2B5EF4-FFF2-40B4-BE49-F238E27FC236}">
                <a16:creationId xmlns:a16="http://schemas.microsoft.com/office/drawing/2014/main" id="{938B633F-1F30-4E63-AF60-5DFEF65C77FB}"/>
              </a:ext>
            </a:extLst>
          </p:cNvPr>
          <p:cNvSpPr>
            <a:spLocks noGrp="1"/>
          </p:cNvSpPr>
          <p:nvPr/>
        </p:nvSpPr>
        <p:spPr>
          <a:xfrm>
            <a:off x="666750" y="3571875"/>
            <a:ext cx="5334000" cy="238125"/>
          </a:xfrm>
          <a:prstGeom prst="rect">
            <a:avLst/>
          </a:prstGeom>
          <a:noFill/>
          <a:ln w="0">
            <a:noFill/>
            <a:prstDash val="solid"/>
          </a:ln>
        </p:spPr>
        <p:txBody>
          <a:bodyPr wrap="square" lIns="28575" tIns="19050" rIns="28575" bIns="19050" anchor="ctr">
            <a:normAutofit/>
          </a:bodyPr>
          <a:lstStyle/>
          <a:p>
            <a:pPr algn="l">
              <a:lnSpc>
                <a:spcPct val="100000"/>
              </a:lnSpc>
              <a:buNone/>
              <a:defRPr sz="975" b="0" i="0">
                <a:solidFill>
                  <a:srgbClr val="BFB7D2"/>
                </a:solidFill>
                <a:latin typeface="Yu Gothic"/>
                <a:ea typeface="Yu Gothic"/>
                <a:cs typeface="Yu Gothic"/>
              </a:defRPr>
            </a:pPr>
            <a:r>
              <a:rPr sz="975" b="0" i="0">
                <a:solidFill>
                  <a:srgbClr val="BFB7D2"/>
                </a:solidFill>
                <a:latin typeface="Yu Gothic"/>
                <a:ea typeface="Yu Gothic"/>
                <a:cs typeface="Yu Gothic"/>
              </a:rPr>
              <a:t>Technical review  /  thermal-cell-practical</a:t>
            </a:r>
          </a:p>
        </p:txBody>
      </p:sp>
      <p:sp>
        <p:nvSpPr>
          <p:cNvPr id="6" name="正方形/長方形 5">
            <a:extLst>
              <a:ext uri="{FF2B5EF4-FFF2-40B4-BE49-F238E27FC236}">
                <a16:creationId xmlns:a16="http://schemas.microsoft.com/office/drawing/2014/main" id="{0E2300E7-332C-458A-918F-3CB32C9E13F6}"/>
              </a:ext>
            </a:extLst>
          </p:cNvPr>
          <p:cNvSpPr>
            <a:spLocks noGrp="1"/>
          </p:cNvSpPr>
          <p:nvPr/>
        </p:nvSpPr>
        <p:spPr>
          <a:xfrm>
            <a:off x="0" y="4619625"/>
            <a:ext cx="12192000" cy="2238375"/>
          </a:xfrm>
          <a:prstGeom prst="rect">
            <a:avLst/>
          </a:prstGeom>
          <a:solidFill>
            <a:srgbClr val="3B1F68"/>
          </a:solidFill>
          <a:ln w="0">
            <a:noFill/>
            <a:prstDash val="solid"/>
          </a:ln>
        </p:spPr>
      </p:sp>
      <p:sp>
        <p:nvSpPr>
          <p:cNvPr id="7" name="正方形/長方形 6">
            <a:extLst>
              <a:ext uri="{FF2B5EF4-FFF2-40B4-BE49-F238E27FC236}">
                <a16:creationId xmlns:a16="http://schemas.microsoft.com/office/drawing/2014/main" id="{2BE0B015-7D91-4B7C-9F37-B7E94B7937DF}"/>
              </a:ext>
            </a:extLst>
          </p:cNvPr>
          <p:cNvSpPr>
            <a:spLocks noGrp="1"/>
          </p:cNvSpPr>
          <p:nvPr/>
        </p:nvSpPr>
        <p:spPr>
          <a:xfrm>
            <a:off x="0" y="4619625"/>
            <a:ext cx="3476625" cy="2238375"/>
          </a:xfrm>
          <a:prstGeom prst="rect">
            <a:avLst/>
          </a:prstGeom>
          <a:solidFill>
            <a:srgbClr val="7B2DAF"/>
          </a:solidFill>
          <a:ln w="0">
            <a:noFill/>
            <a:prstDash val="solid"/>
          </a:ln>
        </p:spPr>
      </p:sp>
      <p:sp>
        <p:nvSpPr>
          <p:cNvPr id="8" name="正方形/長方形 7">
            <a:extLst>
              <a:ext uri="{FF2B5EF4-FFF2-40B4-BE49-F238E27FC236}">
                <a16:creationId xmlns:a16="http://schemas.microsoft.com/office/drawing/2014/main" id="{89BF9323-271B-4125-AA12-741B7F596482}"/>
              </a:ext>
            </a:extLst>
          </p:cNvPr>
          <p:cNvSpPr>
            <a:spLocks noGrp="1"/>
          </p:cNvSpPr>
          <p:nvPr/>
        </p:nvSpPr>
        <p:spPr>
          <a:xfrm>
            <a:off x="3476625" y="4619625"/>
            <a:ext cx="2952750" cy="2238375"/>
          </a:xfrm>
          <a:prstGeom prst="rect">
            <a:avLst/>
          </a:prstGeom>
          <a:solidFill>
            <a:srgbClr val="007FA8"/>
          </a:solidFill>
          <a:ln w="0">
            <a:noFill/>
            <a:prstDash val="solid"/>
          </a:ln>
        </p:spPr>
      </p:sp>
      <p:sp>
        <p:nvSpPr>
          <p:cNvPr id="9" name="正方形/長方形 8">
            <a:extLst>
              <a:ext uri="{FF2B5EF4-FFF2-40B4-BE49-F238E27FC236}">
                <a16:creationId xmlns:a16="http://schemas.microsoft.com/office/drawing/2014/main" id="{8873AA31-0CF4-4A1E-B686-2D3223B281FD}"/>
              </a:ext>
            </a:extLst>
          </p:cNvPr>
          <p:cNvSpPr>
            <a:spLocks noGrp="1"/>
          </p:cNvSpPr>
          <p:nvPr/>
        </p:nvSpPr>
        <p:spPr>
          <a:xfrm>
            <a:off x="6429375" y="4619625"/>
            <a:ext cx="1714500" cy="2238375"/>
          </a:xfrm>
          <a:prstGeom prst="rect">
            <a:avLst/>
          </a:prstGeom>
          <a:solidFill>
            <a:srgbClr val="4D8710"/>
          </a:solidFill>
          <a:ln w="0">
            <a:noFill/>
            <a:prstDash val="solid"/>
          </a:ln>
        </p:spPr>
      </p:sp>
      <p:sp>
        <p:nvSpPr>
          <p:cNvPr id="10" name="正方形/長方形 9">
            <a:extLst>
              <a:ext uri="{FF2B5EF4-FFF2-40B4-BE49-F238E27FC236}">
                <a16:creationId xmlns:a16="http://schemas.microsoft.com/office/drawing/2014/main" id="{FD7C274D-6397-4F9C-B691-63C69A0333E7}"/>
              </a:ext>
            </a:extLst>
          </p:cNvPr>
          <p:cNvSpPr>
            <a:spLocks noGrp="1"/>
          </p:cNvSpPr>
          <p:nvPr/>
        </p:nvSpPr>
        <p:spPr>
          <a:xfrm>
            <a:off x="8143875" y="4619625"/>
            <a:ext cx="4048125" cy="2238375"/>
          </a:xfrm>
          <a:prstGeom prst="rect">
            <a:avLst/>
          </a:prstGeom>
          <a:solidFill>
            <a:srgbClr val="2A2050"/>
          </a:solidFill>
          <a:ln w="0">
            <a:noFill/>
            <a:prstDash val="solid"/>
          </a:ln>
        </p:spPr>
      </p:sp>
      <p:sp>
        <p:nvSpPr>
          <p:cNvPr id="11" name="正方形/長方形 10">
            <a:extLst>
              <a:ext uri="{FF2B5EF4-FFF2-40B4-BE49-F238E27FC236}">
                <a16:creationId xmlns:a16="http://schemas.microsoft.com/office/drawing/2014/main" id="{CDD16541-7108-481E-8245-BE4601280049}"/>
              </a:ext>
            </a:extLst>
          </p:cNvPr>
          <p:cNvSpPr>
            <a:spLocks noGrp="1"/>
          </p:cNvSpPr>
          <p:nvPr/>
        </p:nvSpPr>
        <p:spPr>
          <a:xfrm>
            <a:off x="981075" y="5124450"/>
            <a:ext cx="1047750" cy="876300"/>
          </a:xfrm>
          <a:prstGeom prst="rect">
            <a:avLst/>
          </a:prstGeom>
          <a:noFill/>
          <a:ln w="0">
            <a:noFill/>
            <a:prstDash val="solid"/>
          </a:ln>
        </p:spPr>
        <p:txBody>
          <a:bodyPr wrap="square" lIns="28575" tIns="19050" rIns="28575" bIns="19050" anchor="ctr">
            <a:normAutofit/>
          </a:bodyPr>
          <a:lstStyle/>
          <a:p>
            <a:pPr algn="ctr">
              <a:lnSpc>
                <a:spcPct val="100000"/>
              </a:lnSpc>
              <a:buNone/>
              <a:defRPr sz="4650" b="1" i="0">
                <a:solidFill>
                  <a:srgbClr val="FFFFFF"/>
                </a:solidFill>
                <a:latin typeface="Cambria Math"/>
                <a:ea typeface="Cambria Math"/>
                <a:cs typeface="Cambria Math"/>
              </a:defRPr>
            </a:pPr>
            <a:r>
              <a:rPr sz="4650" b="1" i="0">
                <a:solidFill>
                  <a:srgbClr val="FFFFFF"/>
                </a:solidFill>
                <a:latin typeface="Cambria Math"/>
                <a:ea typeface="Cambria Math"/>
                <a:cs typeface="Cambria Math"/>
              </a:rPr>
              <a:t>Q̇</a:t>
            </a:r>
          </a:p>
        </p:txBody>
      </p:sp>
      <p:sp>
        <p:nvSpPr>
          <p:cNvPr id="12" name="正方形/長方形 11">
            <a:extLst>
              <a:ext uri="{FF2B5EF4-FFF2-40B4-BE49-F238E27FC236}">
                <a16:creationId xmlns:a16="http://schemas.microsoft.com/office/drawing/2014/main" id="{BD400C4A-CE40-4CFC-A6A7-567996D4EC26}"/>
              </a:ext>
            </a:extLst>
          </p:cNvPr>
          <p:cNvSpPr>
            <a:spLocks noGrp="1"/>
          </p:cNvSpPr>
          <p:nvPr/>
        </p:nvSpPr>
        <p:spPr>
          <a:xfrm>
            <a:off x="3724275" y="5219700"/>
            <a:ext cx="2476500" cy="590550"/>
          </a:xfrm>
          <a:prstGeom prst="rect">
            <a:avLst/>
          </a:prstGeom>
          <a:noFill/>
          <a:ln w="0">
            <a:noFill/>
            <a:prstDash val="solid"/>
          </a:ln>
        </p:spPr>
        <p:txBody>
          <a:bodyPr wrap="square" lIns="28575" tIns="19050" rIns="28575" bIns="19050" anchor="ctr">
            <a:normAutofit/>
          </a:bodyPr>
          <a:lstStyle/>
          <a:p>
            <a:pPr algn="ctr">
              <a:lnSpc>
                <a:spcPct val="100000"/>
              </a:lnSpc>
              <a:buNone/>
              <a:defRPr sz="2175" b="1" i="0">
                <a:solidFill>
                  <a:srgbClr val="FFFFFF"/>
                </a:solidFill>
                <a:latin typeface="Cambria Math"/>
                <a:ea typeface="Cambria Math"/>
                <a:cs typeface="Cambria Math"/>
              </a:defRPr>
            </a:pPr>
            <a:r>
              <a:rPr sz="2175" b="1" i="0">
                <a:solidFill>
                  <a:srgbClr val="FFFFFF"/>
                </a:solidFill>
                <a:latin typeface="Cambria Math"/>
                <a:ea typeface="Cambria Math"/>
                <a:cs typeface="Cambria Math"/>
              </a:rPr>
              <a:t>C Ṫ = −L T + b</a:t>
            </a:r>
          </a:p>
        </p:txBody>
      </p:sp>
      <p:sp>
        <p:nvSpPr>
          <p:cNvPr id="13" name="正方形/長方形 12">
            <a:extLst>
              <a:ext uri="{FF2B5EF4-FFF2-40B4-BE49-F238E27FC236}">
                <a16:creationId xmlns:a16="http://schemas.microsoft.com/office/drawing/2014/main" id="{122F1716-85E3-42DC-824C-CC70B4378A83}"/>
              </a:ext>
            </a:extLst>
          </p:cNvPr>
          <p:cNvSpPr>
            <a:spLocks noGrp="1"/>
          </p:cNvSpPr>
          <p:nvPr/>
        </p:nvSpPr>
        <p:spPr>
          <a:xfrm>
            <a:off x="6724650" y="5219700"/>
            <a:ext cx="1162050" cy="590550"/>
          </a:xfrm>
          <a:prstGeom prst="rect">
            <a:avLst/>
          </a:prstGeom>
          <a:noFill/>
          <a:ln w="0">
            <a:noFill/>
            <a:prstDash val="solid"/>
          </a:ln>
        </p:spPr>
        <p:txBody>
          <a:bodyPr wrap="square" lIns="28575" tIns="19050" rIns="28575" bIns="19050" anchor="ctr">
            <a:normAutofit/>
          </a:bodyPr>
          <a:lstStyle/>
          <a:p>
            <a:pPr algn="ctr">
              <a:lnSpc>
                <a:spcPct val="100000"/>
              </a:lnSpc>
              <a:buNone/>
              <a:defRPr sz="2925" b="1" i="0">
                <a:solidFill>
                  <a:srgbClr val="FFFFFF"/>
                </a:solidFill>
                <a:latin typeface="Cambria Math"/>
                <a:ea typeface="Cambria Math"/>
                <a:cs typeface="Cambria Math"/>
              </a:defRPr>
            </a:pPr>
            <a:r>
              <a:rPr sz="2925" b="1" i="0">
                <a:solidFill>
                  <a:srgbClr val="FFFFFF"/>
                </a:solidFill>
                <a:latin typeface="Cambria Math"/>
                <a:ea typeface="Cambria Math"/>
                <a:cs typeface="Cambria Math"/>
              </a:rPr>
              <a:t>ΔT</a:t>
            </a:r>
          </a:p>
        </p:txBody>
      </p:sp>
      <p:sp>
        <p:nvSpPr>
          <p:cNvPr id="14" name="直線コネクタ 13">
            <a:extLst>
              <a:ext uri="{FF2B5EF4-FFF2-40B4-BE49-F238E27FC236}">
                <a16:creationId xmlns:a16="http://schemas.microsoft.com/office/drawing/2014/main" id="{9C41623B-2B0D-4E4D-95CB-D47CBB600FD2}"/>
              </a:ext>
            </a:extLst>
          </p:cNvPr>
          <p:cNvSpPr>
            <a:spLocks noGrp="1"/>
          </p:cNvSpPr>
          <p:nvPr/>
        </p:nvSpPr>
        <p:spPr>
          <a:xfrm>
            <a:off x="8667750" y="5057775"/>
            <a:ext cx="0" cy="1123950"/>
          </a:xfrm>
          <a:prstGeom prst="line">
            <a:avLst/>
          </a:prstGeom>
          <a:noFill/>
          <a:ln w="9525">
            <a:solidFill>
              <a:srgbClr val="665A86"/>
            </a:solidFill>
            <a:prstDash val="solid"/>
          </a:ln>
        </p:spPr>
      </p:sp>
      <p:sp>
        <p:nvSpPr>
          <p:cNvPr id="15" name="直線コネクタ 14">
            <a:extLst>
              <a:ext uri="{FF2B5EF4-FFF2-40B4-BE49-F238E27FC236}">
                <a16:creationId xmlns:a16="http://schemas.microsoft.com/office/drawing/2014/main" id="{76875603-30AC-4836-880D-889B6CE8AED3}"/>
              </a:ext>
            </a:extLst>
          </p:cNvPr>
          <p:cNvSpPr>
            <a:spLocks noGrp="1"/>
          </p:cNvSpPr>
          <p:nvPr/>
        </p:nvSpPr>
        <p:spPr>
          <a:xfrm>
            <a:off x="9220200" y="5057775"/>
            <a:ext cx="0" cy="1123950"/>
          </a:xfrm>
          <a:prstGeom prst="line">
            <a:avLst/>
          </a:prstGeom>
          <a:noFill/>
          <a:ln w="9525">
            <a:solidFill>
              <a:srgbClr val="665A86"/>
            </a:solidFill>
            <a:prstDash val="solid"/>
          </a:ln>
        </p:spPr>
      </p:sp>
      <p:sp>
        <p:nvSpPr>
          <p:cNvPr id="16" name="直線コネクタ 15">
            <a:extLst>
              <a:ext uri="{FF2B5EF4-FFF2-40B4-BE49-F238E27FC236}">
                <a16:creationId xmlns:a16="http://schemas.microsoft.com/office/drawing/2014/main" id="{872570E6-8AC2-42F2-9E30-F4CFAE724636}"/>
              </a:ext>
            </a:extLst>
          </p:cNvPr>
          <p:cNvSpPr>
            <a:spLocks noGrp="1"/>
          </p:cNvSpPr>
          <p:nvPr/>
        </p:nvSpPr>
        <p:spPr>
          <a:xfrm>
            <a:off x="9772650" y="5057775"/>
            <a:ext cx="0" cy="1123950"/>
          </a:xfrm>
          <a:prstGeom prst="line">
            <a:avLst/>
          </a:prstGeom>
          <a:noFill/>
          <a:ln w="9525">
            <a:solidFill>
              <a:srgbClr val="665A86"/>
            </a:solidFill>
            <a:prstDash val="solid"/>
          </a:ln>
        </p:spPr>
      </p:sp>
      <p:sp>
        <p:nvSpPr>
          <p:cNvPr id="17" name="直線コネクタ 16">
            <a:extLst>
              <a:ext uri="{FF2B5EF4-FFF2-40B4-BE49-F238E27FC236}">
                <a16:creationId xmlns:a16="http://schemas.microsoft.com/office/drawing/2014/main" id="{03AB104E-E9BC-4E64-B5B2-4F931610C8F7}"/>
              </a:ext>
            </a:extLst>
          </p:cNvPr>
          <p:cNvSpPr>
            <a:spLocks noGrp="1"/>
          </p:cNvSpPr>
          <p:nvPr/>
        </p:nvSpPr>
        <p:spPr>
          <a:xfrm>
            <a:off x="10325100" y="5057775"/>
            <a:ext cx="0" cy="1123950"/>
          </a:xfrm>
          <a:prstGeom prst="line">
            <a:avLst/>
          </a:prstGeom>
          <a:noFill/>
          <a:ln w="9525">
            <a:solidFill>
              <a:srgbClr val="665A86"/>
            </a:solidFill>
            <a:prstDash val="solid"/>
          </a:ln>
        </p:spPr>
      </p:sp>
      <p:sp>
        <p:nvSpPr>
          <p:cNvPr id="18" name="直線コネクタ 17">
            <a:extLst>
              <a:ext uri="{FF2B5EF4-FFF2-40B4-BE49-F238E27FC236}">
                <a16:creationId xmlns:a16="http://schemas.microsoft.com/office/drawing/2014/main" id="{DF33D1C1-48A0-4AA7-B332-C42C868B5368}"/>
              </a:ext>
            </a:extLst>
          </p:cNvPr>
          <p:cNvSpPr>
            <a:spLocks noGrp="1"/>
          </p:cNvSpPr>
          <p:nvPr/>
        </p:nvSpPr>
        <p:spPr>
          <a:xfrm>
            <a:off x="10877550" y="5057775"/>
            <a:ext cx="0" cy="1123950"/>
          </a:xfrm>
          <a:prstGeom prst="line">
            <a:avLst/>
          </a:prstGeom>
          <a:noFill/>
          <a:ln w="9525">
            <a:solidFill>
              <a:srgbClr val="665A86"/>
            </a:solidFill>
            <a:prstDash val="solid"/>
          </a:ln>
        </p:spPr>
      </p:sp>
      <p:sp>
        <p:nvSpPr>
          <p:cNvPr id="19" name="直線コネクタ 18">
            <a:extLst>
              <a:ext uri="{FF2B5EF4-FFF2-40B4-BE49-F238E27FC236}">
                <a16:creationId xmlns:a16="http://schemas.microsoft.com/office/drawing/2014/main" id="{33FA245D-AE6E-4385-BC8D-D57193751E03}"/>
              </a:ext>
            </a:extLst>
          </p:cNvPr>
          <p:cNvSpPr>
            <a:spLocks noGrp="1"/>
          </p:cNvSpPr>
          <p:nvPr/>
        </p:nvSpPr>
        <p:spPr>
          <a:xfrm>
            <a:off x="8496300" y="5219700"/>
            <a:ext cx="2857500" cy="0"/>
          </a:xfrm>
          <a:prstGeom prst="line">
            <a:avLst/>
          </a:prstGeom>
          <a:noFill/>
          <a:ln w="9525">
            <a:solidFill>
              <a:srgbClr val="665A86"/>
            </a:solidFill>
            <a:prstDash val="solid"/>
          </a:ln>
        </p:spPr>
      </p:sp>
      <p:sp>
        <p:nvSpPr>
          <p:cNvPr id="20" name="直線コネクタ 19">
            <a:extLst>
              <a:ext uri="{FF2B5EF4-FFF2-40B4-BE49-F238E27FC236}">
                <a16:creationId xmlns:a16="http://schemas.microsoft.com/office/drawing/2014/main" id="{13F00A61-4FF8-43FE-B5B0-1B2D4064F5E9}"/>
              </a:ext>
            </a:extLst>
          </p:cNvPr>
          <p:cNvSpPr>
            <a:spLocks noGrp="1"/>
          </p:cNvSpPr>
          <p:nvPr/>
        </p:nvSpPr>
        <p:spPr>
          <a:xfrm>
            <a:off x="8496300" y="5619750"/>
            <a:ext cx="2857500" cy="0"/>
          </a:xfrm>
          <a:prstGeom prst="line">
            <a:avLst/>
          </a:prstGeom>
          <a:noFill/>
          <a:ln w="9525">
            <a:solidFill>
              <a:srgbClr val="665A86"/>
            </a:solidFill>
            <a:prstDash val="solid"/>
          </a:ln>
        </p:spPr>
      </p:sp>
      <p:sp>
        <p:nvSpPr>
          <p:cNvPr id="21" name="直線コネクタ 20">
            <a:extLst>
              <a:ext uri="{FF2B5EF4-FFF2-40B4-BE49-F238E27FC236}">
                <a16:creationId xmlns:a16="http://schemas.microsoft.com/office/drawing/2014/main" id="{FEA7B660-64B4-4695-8DFD-3AFF3BD139F8}"/>
              </a:ext>
            </a:extLst>
          </p:cNvPr>
          <p:cNvSpPr>
            <a:spLocks noGrp="1"/>
          </p:cNvSpPr>
          <p:nvPr/>
        </p:nvSpPr>
        <p:spPr>
          <a:xfrm>
            <a:off x="8496300" y="6019800"/>
            <a:ext cx="2857500" cy="0"/>
          </a:xfrm>
          <a:prstGeom prst="line">
            <a:avLst/>
          </a:prstGeom>
          <a:noFill/>
          <a:ln w="9525">
            <a:solidFill>
              <a:srgbClr val="665A86"/>
            </a:solidFill>
            <a:prstDash val="solid"/>
          </a:ln>
        </p:spPr>
      </p:sp>
      <p:sp>
        <p:nvSpPr>
          <p:cNvPr id="22" name="正方形/長方形 21">
            <a:extLst>
              <a:ext uri="{FF2B5EF4-FFF2-40B4-BE49-F238E27FC236}">
                <a16:creationId xmlns:a16="http://schemas.microsoft.com/office/drawing/2014/main" id="{5DD96C17-444D-4D07-B643-B177715C2777}"/>
              </a:ext>
            </a:extLst>
          </p:cNvPr>
          <p:cNvSpPr>
            <a:spLocks noGrp="1"/>
          </p:cNvSpPr>
          <p:nvPr/>
        </p:nvSpPr>
        <p:spPr>
          <a:xfrm>
            <a:off x="8991600" y="5381625"/>
            <a:ext cx="552450" cy="400050"/>
          </a:xfrm>
          <a:prstGeom prst="rect">
            <a:avLst/>
          </a:prstGeom>
          <a:solidFill>
            <a:srgbClr val="00A5D8"/>
          </a:solidFill>
          <a:ln w="0">
            <a:noFill/>
            <a:prstDash val="solid"/>
          </a:ln>
        </p:spPr>
      </p:sp>
      <p:sp>
        <p:nvSpPr>
          <p:cNvPr id="23" name="正方形/長方形 22">
            <a:extLst>
              <a:ext uri="{FF2B5EF4-FFF2-40B4-BE49-F238E27FC236}">
                <a16:creationId xmlns:a16="http://schemas.microsoft.com/office/drawing/2014/main" id="{2CBCD67F-71B8-4442-B50B-CDC4E91D6EB9}"/>
              </a:ext>
            </a:extLst>
          </p:cNvPr>
          <p:cNvSpPr>
            <a:spLocks noGrp="1"/>
          </p:cNvSpPr>
          <p:nvPr/>
        </p:nvSpPr>
        <p:spPr>
          <a:xfrm>
            <a:off x="10096500" y="4981575"/>
            <a:ext cx="552450" cy="800100"/>
          </a:xfrm>
          <a:prstGeom prst="rect">
            <a:avLst/>
          </a:prstGeom>
          <a:solidFill>
            <a:srgbClr val="76BE18"/>
          </a:solidFill>
          <a:ln w="0">
            <a:noFill/>
            <a:prstDash val="solid"/>
          </a:ln>
        </p:spPr>
      </p:sp>
      <p:sp>
        <p:nvSpPr>
          <p:cNvPr id="24" name="正方形/長方形 23">
            <a:extLst>
              <a:ext uri="{FF2B5EF4-FFF2-40B4-BE49-F238E27FC236}">
                <a16:creationId xmlns:a16="http://schemas.microsoft.com/office/drawing/2014/main" id="{6A503DD8-272A-431F-AF45-0B51E93F6A86}"/>
              </a:ext>
            </a:extLst>
          </p:cNvPr>
          <p:cNvSpPr>
            <a:spLocks noGrp="1"/>
          </p:cNvSpPr>
          <p:nvPr/>
        </p:nvSpPr>
        <p:spPr>
          <a:xfrm>
            <a:off x="9544050" y="5781675"/>
            <a:ext cx="552450" cy="400050"/>
          </a:xfrm>
          <a:prstGeom prst="rect">
            <a:avLst/>
          </a:prstGeom>
          <a:solidFill>
            <a:srgbClr val="7B2DAF"/>
          </a:solidFill>
          <a:ln w="0">
            <a:noFill/>
            <a:prstDash val="solid"/>
          </a:ln>
        </p:spPr>
      </p:sp>
      <p:sp>
        <p:nvSpPr>
          <p:cNvPr id="25" name="正方形/長方形 24">
            <a:extLst>
              <a:ext uri="{FF2B5EF4-FFF2-40B4-BE49-F238E27FC236}">
                <a16:creationId xmlns:a16="http://schemas.microsoft.com/office/drawing/2014/main" id="{95E2DA2D-D846-4F91-9E30-9D3D92BDD0FD}"/>
              </a:ext>
            </a:extLst>
          </p:cNvPr>
          <p:cNvSpPr>
            <a:spLocks noGrp="1"/>
          </p:cNvSpPr>
          <p:nvPr/>
        </p:nvSpPr>
        <p:spPr>
          <a:xfrm>
            <a:off x="10287000" y="6438900"/>
            <a:ext cx="1352550" cy="190500"/>
          </a:xfrm>
          <a:prstGeom prst="rect">
            <a:avLst/>
          </a:prstGeom>
          <a:noFill/>
          <a:ln w="0">
            <a:noFill/>
            <a:prstDash val="solid"/>
          </a:ln>
        </p:spPr>
        <p:txBody>
          <a:bodyPr wrap="square" lIns="28575" tIns="19050" rIns="28575" bIns="19050" anchor="ctr">
            <a:noAutofit/>
          </a:bodyPr>
          <a:lstStyle/>
          <a:p>
            <a:pPr algn="r">
              <a:lnSpc>
                <a:spcPct val="100000"/>
              </a:lnSpc>
              <a:buNone/>
              <a:defRPr sz="825" b="0" i="0">
                <a:solidFill>
                  <a:srgbClr val="C6BFDA"/>
                </a:solidFill>
                <a:latin typeface="Yu Gothic"/>
                <a:ea typeface="Yu Gothic"/>
                <a:cs typeface="Yu Gothic"/>
              </a:defRPr>
            </a:pPr>
            <a:r>
              <a:rPr sz="825" b="0" i="0">
                <a:solidFill>
                  <a:srgbClr val="C6BFDA"/>
                </a:solidFill>
                <a:latin typeface="Yu Gothic"/>
                <a:ea typeface="Yu Gothic"/>
                <a:cs typeface="Yu Gothic"/>
              </a:rPr>
              <a:t>2026-09-17</a:t>
            </a:r>
          </a:p>
        </p:txBody>
      </p:sp>
    </p:spTree>
    <p:extLst>
      <p:ext uri="{BB962C8B-B14F-4D97-AF65-F5344CB8AC3E}">
        <p14:creationId xmlns:p14="http://schemas.microsoft.com/office/powerpoint/2010/main" val="13323709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8" name="正方形/長方形 47">
            <a:extLst>
              <a:ext uri="{FF2B5EF4-FFF2-40B4-BE49-F238E27FC236}">
                <a16:creationId xmlns:a16="http://schemas.microsoft.com/office/drawing/2014/main" id="{92A67AC0-D6D3-4A8B-910E-EB526080C6C8}"/>
              </a:ext>
            </a:extLst>
          </p:cNvPr>
          <p:cNvSpPr>
            <a:spLocks noGrp="1"/>
          </p:cNvSpPr>
          <p:nvPr/>
        </p:nvSpPr>
        <p:spPr>
          <a:xfrm>
            <a:off x="552450" y="190500"/>
            <a:ext cx="76200" cy="142875"/>
          </a:xfrm>
          <a:prstGeom prst="rect">
            <a:avLst/>
          </a:prstGeom>
          <a:solidFill>
            <a:srgbClr val="76BE18"/>
          </a:solidFill>
          <a:ln w="0">
            <a:noFill/>
            <a:prstDash val="solid"/>
          </a:ln>
        </p:spPr>
      </p:sp>
      <p:sp>
        <p:nvSpPr>
          <p:cNvPr id="2" name="正方形/長方形 1">
            <a:extLst>
              <a:ext uri="{FF2B5EF4-FFF2-40B4-BE49-F238E27FC236}">
                <a16:creationId xmlns:a16="http://schemas.microsoft.com/office/drawing/2014/main" id="{CED42045-C5DA-4D32-97A0-82542DFD9ED2}"/>
              </a:ext>
            </a:extLst>
          </p:cNvPr>
          <p:cNvSpPr>
            <a:spLocks noGrp="1"/>
          </p:cNvSpPr>
          <p:nvPr/>
        </p:nvSpPr>
        <p:spPr>
          <a:xfrm>
            <a:off x="704850" y="161925"/>
            <a:ext cx="3429000" cy="190500"/>
          </a:xfrm>
          <a:prstGeom prst="rect">
            <a:avLst/>
          </a:prstGeom>
          <a:noFill/>
          <a:ln w="0">
            <a:noFill/>
            <a:prstDash val="solid"/>
          </a:ln>
        </p:spPr>
        <p:txBody>
          <a:bodyPr wrap="none" lIns="28575" tIns="19050" rIns="28575" bIns="19050" anchor="ctr">
            <a:noAutofit/>
          </a:bodyPr>
          <a:lstStyle/>
          <a:p>
            <a:pPr algn="l">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BACKGROUND</a:t>
            </a:r>
          </a:p>
        </p:txBody>
      </p:sp>
      <p:sp>
        <p:nvSpPr>
          <p:cNvPr id="3" name="正方形/長方形 2">
            <a:extLst>
              <a:ext uri="{FF2B5EF4-FFF2-40B4-BE49-F238E27FC236}">
                <a16:creationId xmlns:a16="http://schemas.microsoft.com/office/drawing/2014/main" id="{24A43CF3-41D1-4A32-9399-991FA9157140}"/>
              </a:ext>
            </a:extLst>
          </p:cNvPr>
          <p:cNvSpPr>
            <a:spLocks noGrp="1"/>
          </p:cNvSpPr>
          <p:nvPr/>
        </p:nvSpPr>
        <p:spPr>
          <a:xfrm>
            <a:off x="552450" y="400050"/>
            <a:ext cx="11001375" cy="400050"/>
          </a:xfrm>
          <a:prstGeom prst="rect">
            <a:avLst/>
          </a:prstGeom>
          <a:noFill/>
          <a:ln w="0">
            <a:noFill/>
            <a:prstDash val="solid"/>
          </a:ln>
        </p:spPr>
        <p:txBody>
          <a:bodyPr wrap="none" lIns="19050" tIns="0" rIns="19050" bIns="0" anchor="ctr">
            <a:normAutofit/>
          </a:bodyPr>
          <a:lstStyle/>
          <a:p>
            <a:pPr algn="l">
              <a:lnSpc>
                <a:spcPct val="100000"/>
              </a:lnSpc>
              <a:buNone/>
              <a:defRPr sz="2175" b="1" i="0">
                <a:solidFill>
                  <a:srgbClr val="00A5D8"/>
                </a:solidFill>
                <a:latin typeface="Yu Gothic"/>
                <a:ea typeface="Yu Gothic"/>
                <a:cs typeface="Yu Gothic"/>
              </a:defRPr>
            </a:pPr>
            <a:r>
              <a:rPr sz="2175" b="1" i="0">
                <a:solidFill>
                  <a:srgbClr val="00A5D8"/>
                </a:solidFill>
                <a:latin typeface="Yu Gothic"/>
                <a:ea typeface="Yu Gothic"/>
                <a:cs typeface="Yu Gothic"/>
              </a:rPr>
              <a:t>熱設計と装置運用の間には、時間尺度・観測密度・説明責任のギャップが残る</a:t>
            </a:r>
          </a:p>
        </p:txBody>
      </p:sp>
      <p:sp>
        <p:nvSpPr>
          <p:cNvPr id="4" name="正方形/長方形 3">
            <a:extLst>
              <a:ext uri="{FF2B5EF4-FFF2-40B4-BE49-F238E27FC236}">
                <a16:creationId xmlns:a16="http://schemas.microsoft.com/office/drawing/2014/main" id="{75E17171-4D96-4758-941F-5DA6BB685A41}"/>
              </a:ext>
            </a:extLst>
          </p:cNvPr>
          <p:cNvSpPr>
            <a:spLocks noGrp="1"/>
          </p:cNvSpPr>
          <p:nvPr/>
        </p:nvSpPr>
        <p:spPr>
          <a:xfrm>
            <a:off x="571500" y="838200"/>
            <a:ext cx="10906125" cy="228600"/>
          </a:xfrm>
          <a:prstGeom prst="rect">
            <a:avLst/>
          </a:prstGeom>
          <a:noFill/>
          <a:ln w="0">
            <a:noFill/>
            <a:prstDash val="solid"/>
          </a:ln>
        </p:spPr>
        <p:txBody>
          <a:bodyPr wrap="none" lIns="28575" tIns="19050" rIns="28575" bIns="19050" anchor="ctr">
            <a:noAutofit/>
          </a:bodyPr>
          <a:lstStyle/>
          <a:p>
            <a:pPr algn="l">
              <a:lnSpc>
                <a:spcPct val="100000"/>
              </a:lnSpc>
              <a:buNone/>
              <a:defRPr sz="975" b="0" i="0">
                <a:solidFill>
                  <a:srgbClr val="5B5B5B"/>
                </a:solidFill>
                <a:latin typeface="Yu Gothic"/>
                <a:ea typeface="Yu Gothic"/>
                <a:cs typeface="Yu Gothic"/>
              </a:defRPr>
            </a:pPr>
            <a:r>
              <a:rPr sz="975" b="0" i="0">
                <a:solidFill>
                  <a:srgbClr val="5B5B5B"/>
                </a:solidFill>
                <a:latin typeface="Yu Gothic"/>
                <a:ea typeface="Yu Gothic"/>
                <a:cs typeface="Yu Gothic"/>
              </a:rPr>
              <a:t>高忠実度CAEと実測を、制御周期で扱える共通の物理状態へ圧縮することが本基盤の出発点である</a:t>
            </a:r>
          </a:p>
        </p:txBody>
      </p:sp>
      <p:sp>
        <p:nvSpPr>
          <p:cNvPr id="5" name="直線コネクタ 4">
            <a:extLst>
              <a:ext uri="{FF2B5EF4-FFF2-40B4-BE49-F238E27FC236}">
                <a16:creationId xmlns:a16="http://schemas.microsoft.com/office/drawing/2014/main" id="{A0F6341F-8E72-41E6-B77A-44B02A6A9F03}"/>
              </a:ext>
            </a:extLst>
          </p:cNvPr>
          <p:cNvSpPr>
            <a:spLocks noGrp="1"/>
          </p:cNvSpPr>
          <p:nvPr/>
        </p:nvSpPr>
        <p:spPr>
          <a:xfrm>
            <a:off x="552450" y="1152525"/>
            <a:ext cx="11087100" cy="0"/>
          </a:xfrm>
          <a:prstGeom prst="line">
            <a:avLst/>
          </a:prstGeom>
          <a:noFill/>
          <a:ln w="9525">
            <a:solidFill>
              <a:srgbClr val="D6D6D6"/>
            </a:solidFill>
            <a:prstDash val="solid"/>
          </a:ln>
        </p:spPr>
      </p:sp>
      <p:sp>
        <p:nvSpPr>
          <p:cNvPr id="6" name="直線コネクタ 5">
            <a:extLst>
              <a:ext uri="{FF2B5EF4-FFF2-40B4-BE49-F238E27FC236}">
                <a16:creationId xmlns:a16="http://schemas.microsoft.com/office/drawing/2014/main" id="{193BB97A-317C-4A51-B66C-C92C3D4D23C0}"/>
              </a:ext>
            </a:extLst>
          </p:cNvPr>
          <p:cNvSpPr>
            <a:spLocks noGrp="1"/>
          </p:cNvSpPr>
          <p:nvPr/>
        </p:nvSpPr>
        <p:spPr>
          <a:xfrm>
            <a:off x="552450" y="6438900"/>
            <a:ext cx="11087100" cy="0"/>
          </a:xfrm>
          <a:prstGeom prst="line">
            <a:avLst/>
          </a:prstGeom>
          <a:noFill/>
          <a:ln w="9525">
            <a:solidFill>
              <a:srgbClr val="D6D6D6"/>
            </a:solidFill>
            <a:prstDash val="solid"/>
          </a:ln>
        </p:spPr>
      </p:sp>
      <p:sp>
        <p:nvSpPr>
          <p:cNvPr id="7" name="正方形/長方形 6">
            <a:extLst>
              <a:ext uri="{FF2B5EF4-FFF2-40B4-BE49-F238E27FC236}">
                <a16:creationId xmlns:a16="http://schemas.microsoft.com/office/drawing/2014/main" id="{B14B643B-88E3-44D8-B7FE-9FD88CF38572}"/>
              </a:ext>
            </a:extLst>
          </p:cNvPr>
          <p:cNvSpPr>
            <a:spLocks noGrp="1"/>
          </p:cNvSpPr>
          <p:nvPr/>
        </p:nvSpPr>
        <p:spPr>
          <a:xfrm>
            <a:off x="571500" y="6505575"/>
            <a:ext cx="5334000" cy="171450"/>
          </a:xfrm>
          <a:prstGeom prst="rect">
            <a:avLst/>
          </a:prstGeom>
          <a:noFill/>
          <a:ln w="0">
            <a:noFill/>
            <a:prstDash val="solid"/>
          </a:ln>
        </p:spPr>
        <p:txBody>
          <a:bodyPr wrap="none" lIns="28575" tIns="19050" rIns="28575" bIns="19050" anchor="ctr">
            <a:noAutofit/>
          </a:bodyPr>
          <a:lstStyle/>
          <a:p>
            <a:pPr algn="l">
              <a:lnSpc>
                <a:spcPct val="100000"/>
              </a:lnSpc>
              <a:buNone/>
              <a:defRPr sz="713" b="0" i="0">
                <a:solidFill>
                  <a:srgbClr val="777777"/>
                </a:solidFill>
                <a:latin typeface="Yu Gothic"/>
                <a:ea typeface="Yu Gothic"/>
                <a:cs typeface="Yu Gothic"/>
              </a:defRPr>
            </a:pPr>
            <a:r>
              <a:rPr sz="713" b="0" i="0">
                <a:solidFill>
                  <a:srgbClr val="777777"/>
                </a:solidFill>
                <a:latin typeface="Yu Gothic"/>
                <a:ea typeface="Yu Gothic"/>
                <a:cs typeface="Yu Gothic"/>
              </a:rPr>
              <a:t>THERMAL RC / EQUIPMENT ENGINEERING REVIEW  ·  2026-09-17</a:t>
            </a:r>
          </a:p>
        </p:txBody>
      </p:sp>
      <p:sp>
        <p:nvSpPr>
          <p:cNvPr id="8" name="正方形/長方形 7">
            <a:extLst>
              <a:ext uri="{FF2B5EF4-FFF2-40B4-BE49-F238E27FC236}">
                <a16:creationId xmlns:a16="http://schemas.microsoft.com/office/drawing/2014/main" id="{C22DE3B9-BB2C-48F6-90ED-8D2E1683B164}"/>
              </a:ext>
            </a:extLst>
          </p:cNvPr>
          <p:cNvSpPr>
            <a:spLocks noGrp="1"/>
          </p:cNvSpPr>
          <p:nvPr/>
        </p:nvSpPr>
        <p:spPr>
          <a:xfrm>
            <a:off x="11125200" y="6496050"/>
            <a:ext cx="476250" cy="171450"/>
          </a:xfrm>
          <a:prstGeom prst="rect">
            <a:avLst/>
          </a:prstGeom>
          <a:noFill/>
          <a:ln w="0">
            <a:noFill/>
            <a:prstDash val="solid"/>
          </a:ln>
        </p:spPr>
        <p:txBody>
          <a:bodyPr wrap="square" lIns="28575" tIns="19050" rIns="28575" bIns="19050" anchor="ctr">
            <a:noAutofit/>
          </a:bodyPr>
          <a:lstStyle/>
          <a:p>
            <a:pPr algn="r">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2</a:t>
            </a:r>
          </a:p>
        </p:txBody>
      </p:sp>
      <p:sp>
        <p:nvSpPr>
          <p:cNvPr id="9" name="正方形/長方形 8">
            <a:extLst>
              <a:ext uri="{FF2B5EF4-FFF2-40B4-BE49-F238E27FC236}">
                <a16:creationId xmlns:a16="http://schemas.microsoft.com/office/drawing/2014/main" id="{BDD30C0F-FE23-44DC-882A-7E7E0F241B24}"/>
              </a:ext>
            </a:extLst>
          </p:cNvPr>
          <p:cNvSpPr>
            <a:spLocks noGrp="1"/>
          </p:cNvSpPr>
          <p:nvPr/>
        </p:nvSpPr>
        <p:spPr>
          <a:xfrm>
            <a:off x="552450" y="1457325"/>
            <a:ext cx="2266950" cy="1619250"/>
          </a:xfrm>
          <a:prstGeom prst="rect">
            <a:avLst/>
          </a:prstGeom>
          <a:solidFill>
            <a:srgbClr val="FFFFFF"/>
          </a:solidFill>
          <a:ln w="9525">
            <a:solidFill>
              <a:srgbClr val="D6D6D6"/>
            </a:solidFill>
            <a:prstDash val="solid"/>
          </a:ln>
        </p:spPr>
      </p:sp>
      <p:sp>
        <p:nvSpPr>
          <p:cNvPr id="10" name="正方形/長方形 9">
            <a:extLst>
              <a:ext uri="{FF2B5EF4-FFF2-40B4-BE49-F238E27FC236}">
                <a16:creationId xmlns:a16="http://schemas.microsoft.com/office/drawing/2014/main" id="{D3915DE3-155B-43EB-B8C2-17B5A5BBCC78}"/>
              </a:ext>
            </a:extLst>
          </p:cNvPr>
          <p:cNvSpPr>
            <a:spLocks noGrp="1"/>
          </p:cNvSpPr>
          <p:nvPr/>
        </p:nvSpPr>
        <p:spPr>
          <a:xfrm>
            <a:off x="552450" y="1457325"/>
            <a:ext cx="2266950" cy="76200"/>
          </a:xfrm>
          <a:prstGeom prst="rect">
            <a:avLst/>
          </a:prstGeom>
          <a:solidFill>
            <a:srgbClr val="7B2DAF"/>
          </a:solidFill>
          <a:ln w="0">
            <a:noFill/>
            <a:prstDash val="solid"/>
          </a:ln>
        </p:spPr>
      </p:sp>
      <p:sp>
        <p:nvSpPr>
          <p:cNvPr id="11" name="正方形/長方形 10">
            <a:extLst>
              <a:ext uri="{FF2B5EF4-FFF2-40B4-BE49-F238E27FC236}">
                <a16:creationId xmlns:a16="http://schemas.microsoft.com/office/drawing/2014/main" id="{835E944F-A8CC-4C58-A47F-EF7C001B22F4}"/>
              </a:ext>
            </a:extLst>
          </p:cNvPr>
          <p:cNvSpPr>
            <a:spLocks noGrp="1"/>
          </p:cNvSpPr>
          <p:nvPr/>
        </p:nvSpPr>
        <p:spPr>
          <a:xfrm>
            <a:off x="714375" y="1676400"/>
            <a:ext cx="1943100" cy="285750"/>
          </a:xfrm>
          <a:prstGeom prst="rect">
            <a:avLst/>
          </a:prstGeom>
          <a:noFill/>
          <a:ln w="0">
            <a:noFill/>
            <a:prstDash val="solid"/>
          </a:ln>
        </p:spPr>
        <p:txBody>
          <a:bodyPr wrap="square" lIns="28575" tIns="19050" rIns="28575" bIns="19050" anchor="ctr">
            <a:normAutofit/>
          </a:bodyPr>
          <a:lstStyle/>
          <a:p>
            <a:pPr algn="l">
              <a:lnSpc>
                <a:spcPct val="100000"/>
              </a:lnSpc>
              <a:buNone/>
              <a:defRPr sz="1350" b="1" i="0">
                <a:solidFill>
                  <a:srgbClr val="7B2DAF"/>
                </a:solidFill>
                <a:latin typeface="Yu Gothic"/>
                <a:ea typeface="Yu Gothic"/>
                <a:cs typeface="Yu Gothic"/>
              </a:defRPr>
            </a:pPr>
            <a:r>
              <a:rPr sz="1350" b="1" i="0">
                <a:solidFill>
                  <a:srgbClr val="7B2DAF"/>
                </a:solidFill>
                <a:latin typeface="Yu Gothic"/>
                <a:ea typeface="Yu Gothic"/>
                <a:cs typeface="Yu Gothic"/>
              </a:rPr>
              <a:t>CAE / 実験</a:t>
            </a:r>
          </a:p>
        </p:txBody>
      </p:sp>
      <p:sp>
        <p:nvSpPr>
          <p:cNvPr id="12" name="正方形/長方形 11">
            <a:extLst>
              <a:ext uri="{FF2B5EF4-FFF2-40B4-BE49-F238E27FC236}">
                <a16:creationId xmlns:a16="http://schemas.microsoft.com/office/drawing/2014/main" id="{DC1B19D0-64F5-4A3F-A826-F796DB9CDC0D}"/>
              </a:ext>
            </a:extLst>
          </p:cNvPr>
          <p:cNvSpPr>
            <a:spLocks noGrp="1"/>
          </p:cNvSpPr>
          <p:nvPr/>
        </p:nvSpPr>
        <p:spPr>
          <a:xfrm>
            <a:off x="714375" y="2000250"/>
            <a:ext cx="1943100" cy="209550"/>
          </a:xfrm>
          <a:prstGeom prst="rect">
            <a:avLst/>
          </a:prstGeom>
          <a:noFill/>
          <a:ln w="0">
            <a:noFill/>
            <a:prstDash val="solid"/>
          </a:ln>
        </p:spPr>
        <p:txBody>
          <a:bodyPr wrap="square" lIns="28575" tIns="19050" rIns="28575" bIns="19050" anchor="ctr">
            <a:normAutofit/>
          </a:bodyPr>
          <a:lstStyle/>
          <a:p>
            <a:pPr algn="l">
              <a:lnSpc>
                <a:spcPct val="100000"/>
              </a:lnSpc>
              <a:buNone/>
              <a:defRPr sz="788" b="1" i="0">
                <a:solidFill>
                  <a:srgbClr val="777777"/>
                </a:solidFill>
                <a:latin typeface="Yu Gothic"/>
                <a:ea typeface="Yu Gothic"/>
                <a:cs typeface="Yu Gothic"/>
              </a:defRPr>
            </a:pPr>
            <a:r>
              <a:rPr sz="788" b="1" i="0">
                <a:solidFill>
                  <a:srgbClr val="777777"/>
                </a:solidFill>
                <a:latin typeface="Yu Gothic"/>
                <a:ea typeface="Yu Gothic"/>
                <a:cs typeface="Yu Gothic"/>
              </a:rPr>
              <a:t>高空間分解能・高コスト</a:t>
            </a:r>
          </a:p>
        </p:txBody>
      </p:sp>
      <p:sp>
        <p:nvSpPr>
          <p:cNvPr id="13" name="直線コネクタ 12">
            <a:extLst>
              <a:ext uri="{FF2B5EF4-FFF2-40B4-BE49-F238E27FC236}">
                <a16:creationId xmlns:a16="http://schemas.microsoft.com/office/drawing/2014/main" id="{053455C1-ADC1-41C1-B42A-2C9E4322A02F}"/>
              </a:ext>
            </a:extLst>
          </p:cNvPr>
          <p:cNvSpPr>
            <a:spLocks noGrp="1"/>
          </p:cNvSpPr>
          <p:nvPr/>
        </p:nvSpPr>
        <p:spPr>
          <a:xfrm>
            <a:off x="714375" y="2295525"/>
            <a:ext cx="1943100" cy="0"/>
          </a:xfrm>
          <a:prstGeom prst="line">
            <a:avLst/>
          </a:prstGeom>
          <a:noFill/>
          <a:ln w="9525">
            <a:solidFill>
              <a:srgbClr val="D6D6D6"/>
            </a:solidFill>
            <a:prstDash val="solid"/>
          </a:ln>
        </p:spPr>
      </p:sp>
      <p:sp>
        <p:nvSpPr>
          <p:cNvPr id="14" name="正方形/長方形 13">
            <a:extLst>
              <a:ext uri="{FF2B5EF4-FFF2-40B4-BE49-F238E27FC236}">
                <a16:creationId xmlns:a16="http://schemas.microsoft.com/office/drawing/2014/main" id="{A62CFA5E-4CCC-47FF-8704-5B7F38461000}"/>
              </a:ext>
            </a:extLst>
          </p:cNvPr>
          <p:cNvSpPr>
            <a:spLocks noGrp="1"/>
          </p:cNvSpPr>
          <p:nvPr/>
        </p:nvSpPr>
        <p:spPr>
          <a:xfrm>
            <a:off x="714375" y="2400300"/>
            <a:ext cx="1943100" cy="523875"/>
          </a:xfrm>
          <a:prstGeom prst="rect">
            <a:avLst/>
          </a:prstGeom>
          <a:noFill/>
          <a:ln w="0">
            <a:noFill/>
            <a:prstDash val="solid"/>
          </a:ln>
        </p:spPr>
        <p:txBody>
          <a:bodyPr wrap="square" lIns="28575" tIns="19050" rIns="28575" bIns="19050" anchor="ctr">
            <a:normAutofit fontScale="95351"/>
          </a:bodyPr>
          <a:lstStyle/>
          <a:p>
            <a:pPr algn="ctr">
              <a:lnSpc>
                <a:spcPct val="110000"/>
              </a:lnSpc>
              <a:buNone/>
              <a:defRPr sz="1013" b="0" i="0">
                <a:solidFill>
                  <a:srgbClr val="5B5B5B"/>
                </a:solidFill>
                <a:latin typeface="Yu Gothic"/>
                <a:ea typeface="Yu Gothic"/>
                <a:cs typeface="Yu Gothic"/>
              </a:defRPr>
            </a:pPr>
            <a:r>
              <a:rPr sz="1013" b="0" i="0">
                <a:solidFill>
                  <a:srgbClr val="5B5B5B"/>
                </a:solidFill>
                <a:latin typeface="Yu Gothic"/>
                <a:ea typeface="Yu Gothic"/>
                <a:cs typeface="Yu Gothic"/>
              </a:rPr>
              <a:t>mesh field</a:t>
            </a:r>
          </a:p>
          <a:p>
            <a:pPr algn="ctr">
              <a:lnSpc>
                <a:spcPct val="110000"/>
              </a:lnSpc>
              <a:buNone/>
              <a:defRPr sz="1013" b="0" i="0">
                <a:solidFill>
                  <a:srgbClr val="5B5B5B"/>
                </a:solidFill>
                <a:latin typeface="Yu Gothic"/>
                <a:ea typeface="Yu Gothic"/>
                <a:cs typeface="Yu Gothic"/>
              </a:defRPr>
            </a:pPr>
            <a:r>
              <a:rPr sz="1013" b="0" i="0">
                <a:solidFill>
                  <a:srgbClr val="5B5B5B"/>
                </a:solidFill>
                <a:latin typeface="Yu Gothic"/>
                <a:ea typeface="Yu Gothic"/>
                <a:cs typeface="Yu Gothic"/>
              </a:rPr>
              <a:t>熱流・境界条件</a:t>
            </a:r>
          </a:p>
          <a:p>
            <a:pPr algn="ctr">
              <a:lnSpc>
                <a:spcPct val="110000"/>
              </a:lnSpc>
              <a:buNone/>
              <a:defRPr sz="1013" b="0" i="0">
                <a:solidFill>
                  <a:srgbClr val="5B5B5B"/>
                </a:solidFill>
                <a:latin typeface="Yu Gothic"/>
                <a:ea typeface="Yu Gothic"/>
                <a:cs typeface="Yu Gothic"/>
              </a:defRPr>
            </a:pPr>
            <a:r>
              <a:rPr sz="1013" b="0" i="0">
                <a:solidFill>
                  <a:srgbClr val="5B5B5B"/>
                </a:solidFill>
                <a:latin typeface="Yu Gothic"/>
                <a:ea typeface="Yu Gothic"/>
                <a:cs typeface="Yu Gothic"/>
              </a:rPr>
              <a:t>校正済み計測</a:t>
            </a:r>
          </a:p>
        </p:txBody>
      </p:sp>
      <p:sp>
        <p:nvSpPr>
          <p:cNvPr id="15" name="正方形/長方形 14">
            <a:extLst>
              <a:ext uri="{FF2B5EF4-FFF2-40B4-BE49-F238E27FC236}">
                <a16:creationId xmlns:a16="http://schemas.microsoft.com/office/drawing/2014/main" id="{65AE3379-2A0B-4BF5-83F9-AE8E2ADBD98B}"/>
              </a:ext>
            </a:extLst>
          </p:cNvPr>
          <p:cNvSpPr>
            <a:spLocks noGrp="1"/>
          </p:cNvSpPr>
          <p:nvPr/>
        </p:nvSpPr>
        <p:spPr>
          <a:xfrm>
            <a:off x="3200400" y="1457325"/>
            <a:ext cx="2266950" cy="1619250"/>
          </a:xfrm>
          <a:prstGeom prst="rect">
            <a:avLst/>
          </a:prstGeom>
          <a:solidFill>
            <a:srgbClr val="FFFFFF"/>
          </a:solidFill>
          <a:ln w="9525">
            <a:solidFill>
              <a:srgbClr val="D6D6D6"/>
            </a:solidFill>
            <a:prstDash val="solid"/>
          </a:ln>
        </p:spPr>
      </p:sp>
      <p:sp>
        <p:nvSpPr>
          <p:cNvPr id="16" name="正方形/長方形 15">
            <a:extLst>
              <a:ext uri="{FF2B5EF4-FFF2-40B4-BE49-F238E27FC236}">
                <a16:creationId xmlns:a16="http://schemas.microsoft.com/office/drawing/2014/main" id="{2B379964-D7A6-4267-9A07-24620816B376}"/>
              </a:ext>
            </a:extLst>
          </p:cNvPr>
          <p:cNvSpPr>
            <a:spLocks noGrp="1"/>
          </p:cNvSpPr>
          <p:nvPr/>
        </p:nvSpPr>
        <p:spPr>
          <a:xfrm>
            <a:off x="3200400" y="1457325"/>
            <a:ext cx="2266950" cy="76200"/>
          </a:xfrm>
          <a:prstGeom prst="rect">
            <a:avLst/>
          </a:prstGeom>
          <a:solidFill>
            <a:srgbClr val="00A5D8"/>
          </a:solidFill>
          <a:ln w="0">
            <a:noFill/>
            <a:prstDash val="solid"/>
          </a:ln>
        </p:spPr>
      </p:sp>
      <p:sp>
        <p:nvSpPr>
          <p:cNvPr id="17" name="正方形/長方形 16">
            <a:extLst>
              <a:ext uri="{FF2B5EF4-FFF2-40B4-BE49-F238E27FC236}">
                <a16:creationId xmlns:a16="http://schemas.microsoft.com/office/drawing/2014/main" id="{1EEA57AB-FBE6-4113-BC90-659814E497EA}"/>
              </a:ext>
            </a:extLst>
          </p:cNvPr>
          <p:cNvSpPr>
            <a:spLocks noGrp="1"/>
          </p:cNvSpPr>
          <p:nvPr/>
        </p:nvSpPr>
        <p:spPr>
          <a:xfrm>
            <a:off x="3362325" y="1676400"/>
            <a:ext cx="1943100" cy="285750"/>
          </a:xfrm>
          <a:prstGeom prst="rect">
            <a:avLst/>
          </a:prstGeom>
          <a:noFill/>
          <a:ln w="0">
            <a:noFill/>
            <a:prstDash val="solid"/>
          </a:ln>
        </p:spPr>
        <p:txBody>
          <a:bodyPr wrap="square" lIns="28575" tIns="19050" rIns="28575" bIns="19050" anchor="ctr">
            <a:normAutofit/>
          </a:bodyPr>
          <a:lstStyle/>
          <a:p>
            <a:pPr algn="l">
              <a:lnSpc>
                <a:spcPct val="100000"/>
              </a:lnSpc>
              <a:buNone/>
              <a:defRPr sz="1350" b="1" i="0">
                <a:solidFill>
                  <a:srgbClr val="00A5D8"/>
                </a:solidFill>
                <a:latin typeface="Yu Gothic"/>
                <a:ea typeface="Yu Gothic"/>
                <a:cs typeface="Yu Gothic"/>
              </a:defRPr>
            </a:pPr>
            <a:r>
              <a:rPr sz="1350" b="1" i="0">
                <a:solidFill>
                  <a:srgbClr val="00A5D8"/>
                </a:solidFill>
                <a:latin typeface="Yu Gothic"/>
                <a:ea typeface="Yu Gothic"/>
                <a:cs typeface="Yu Gothic"/>
              </a:rPr>
              <a:t>装置log</a:t>
            </a:r>
          </a:p>
        </p:txBody>
      </p:sp>
      <p:sp>
        <p:nvSpPr>
          <p:cNvPr id="18" name="正方形/長方形 17">
            <a:extLst>
              <a:ext uri="{FF2B5EF4-FFF2-40B4-BE49-F238E27FC236}">
                <a16:creationId xmlns:a16="http://schemas.microsoft.com/office/drawing/2014/main" id="{CE83A6A5-FF48-4EE8-8134-8C3C3036AAD5}"/>
              </a:ext>
            </a:extLst>
          </p:cNvPr>
          <p:cNvSpPr>
            <a:spLocks noGrp="1"/>
          </p:cNvSpPr>
          <p:nvPr/>
        </p:nvSpPr>
        <p:spPr>
          <a:xfrm>
            <a:off x="3362325" y="2000250"/>
            <a:ext cx="1943100" cy="209550"/>
          </a:xfrm>
          <a:prstGeom prst="rect">
            <a:avLst/>
          </a:prstGeom>
          <a:noFill/>
          <a:ln w="0">
            <a:noFill/>
            <a:prstDash val="solid"/>
          </a:ln>
        </p:spPr>
        <p:txBody>
          <a:bodyPr wrap="square" lIns="28575" tIns="19050" rIns="28575" bIns="19050" anchor="ctr">
            <a:normAutofit/>
          </a:bodyPr>
          <a:lstStyle/>
          <a:p>
            <a:pPr algn="l">
              <a:lnSpc>
                <a:spcPct val="100000"/>
              </a:lnSpc>
              <a:buNone/>
              <a:defRPr sz="788" b="1" i="0">
                <a:solidFill>
                  <a:srgbClr val="777777"/>
                </a:solidFill>
                <a:latin typeface="Yu Gothic"/>
                <a:ea typeface="Yu Gothic"/>
                <a:cs typeface="Yu Gothic"/>
              </a:defRPr>
            </a:pPr>
            <a:r>
              <a:rPr sz="788" b="1" i="0">
                <a:solidFill>
                  <a:srgbClr val="777777"/>
                </a:solidFill>
                <a:latin typeface="Yu Gothic"/>
                <a:ea typeface="Yu Gothic"/>
                <a:cs typeface="Yu Gothic"/>
              </a:rPr>
              <a:t>疎観測・欠測・bias</a:t>
            </a:r>
          </a:p>
        </p:txBody>
      </p:sp>
      <p:sp>
        <p:nvSpPr>
          <p:cNvPr id="19" name="直線コネクタ 18">
            <a:extLst>
              <a:ext uri="{FF2B5EF4-FFF2-40B4-BE49-F238E27FC236}">
                <a16:creationId xmlns:a16="http://schemas.microsoft.com/office/drawing/2014/main" id="{2C05DAB4-2266-4C32-A2D4-356021095FD2}"/>
              </a:ext>
            </a:extLst>
          </p:cNvPr>
          <p:cNvSpPr>
            <a:spLocks noGrp="1"/>
          </p:cNvSpPr>
          <p:nvPr/>
        </p:nvSpPr>
        <p:spPr>
          <a:xfrm>
            <a:off x="3362325" y="2295525"/>
            <a:ext cx="1943100" cy="0"/>
          </a:xfrm>
          <a:prstGeom prst="line">
            <a:avLst/>
          </a:prstGeom>
          <a:noFill/>
          <a:ln w="9525">
            <a:solidFill>
              <a:srgbClr val="D6D6D6"/>
            </a:solidFill>
            <a:prstDash val="solid"/>
          </a:ln>
        </p:spPr>
      </p:sp>
      <p:sp>
        <p:nvSpPr>
          <p:cNvPr id="20" name="正方形/長方形 19">
            <a:extLst>
              <a:ext uri="{FF2B5EF4-FFF2-40B4-BE49-F238E27FC236}">
                <a16:creationId xmlns:a16="http://schemas.microsoft.com/office/drawing/2014/main" id="{E914FF2D-B663-43FD-8FFB-33ED01152B73}"/>
              </a:ext>
            </a:extLst>
          </p:cNvPr>
          <p:cNvSpPr>
            <a:spLocks noGrp="1"/>
          </p:cNvSpPr>
          <p:nvPr/>
        </p:nvSpPr>
        <p:spPr>
          <a:xfrm>
            <a:off x="3362325" y="2400300"/>
            <a:ext cx="1943100" cy="523875"/>
          </a:xfrm>
          <a:prstGeom prst="rect">
            <a:avLst/>
          </a:prstGeom>
          <a:noFill/>
          <a:ln w="0">
            <a:noFill/>
            <a:prstDash val="solid"/>
          </a:ln>
        </p:spPr>
        <p:txBody>
          <a:bodyPr wrap="square" lIns="28575" tIns="19050" rIns="28575" bIns="19050" anchor="ctr">
            <a:normAutofit fontScale="95351"/>
          </a:bodyPr>
          <a:lstStyle/>
          <a:p>
            <a:pPr algn="ctr">
              <a:lnSpc>
                <a:spcPct val="110000"/>
              </a:lnSpc>
              <a:buNone/>
              <a:defRPr sz="1013" b="0" i="0">
                <a:solidFill>
                  <a:srgbClr val="5B5B5B"/>
                </a:solidFill>
                <a:latin typeface="Yu Gothic"/>
                <a:ea typeface="Yu Gothic"/>
                <a:cs typeface="Yu Gothic"/>
              </a:defRPr>
            </a:pPr>
            <a:r>
              <a:rPr sz="1013" b="0" i="0">
                <a:solidFill>
                  <a:srgbClr val="5B5B5B"/>
                </a:solidFill>
                <a:latin typeface="Yu Gothic"/>
                <a:ea typeface="Yu Gothic"/>
                <a:cs typeface="Yu Gothic"/>
              </a:rPr>
              <a:t>temperature</a:t>
            </a:r>
          </a:p>
          <a:p>
            <a:pPr algn="ctr">
              <a:lnSpc>
                <a:spcPct val="110000"/>
              </a:lnSpc>
              <a:buNone/>
              <a:defRPr sz="1013" b="0" i="0">
                <a:solidFill>
                  <a:srgbClr val="5B5B5B"/>
                </a:solidFill>
                <a:latin typeface="Yu Gothic"/>
                <a:ea typeface="Yu Gothic"/>
                <a:cs typeface="Yu Gothic"/>
              </a:defRPr>
            </a:pPr>
            <a:r>
              <a:rPr sz="1013" b="0" i="0">
                <a:solidFill>
                  <a:srgbClr val="5B5B5B"/>
                </a:solidFill>
                <a:latin typeface="Yu Gothic"/>
                <a:ea typeface="Yu Gothic"/>
                <a:cs typeface="Yu Gothic"/>
              </a:rPr>
              <a:t>command</a:t>
            </a:r>
          </a:p>
          <a:p>
            <a:pPr algn="ctr">
              <a:lnSpc>
                <a:spcPct val="110000"/>
              </a:lnSpc>
              <a:buNone/>
              <a:defRPr sz="1013" b="0" i="0">
                <a:solidFill>
                  <a:srgbClr val="5B5B5B"/>
                </a:solidFill>
                <a:latin typeface="Yu Gothic"/>
                <a:ea typeface="Yu Gothic"/>
                <a:cs typeface="Yu Gothic"/>
              </a:defRPr>
            </a:pPr>
            <a:r>
              <a:rPr sz="1013" b="0" i="0">
                <a:solidFill>
                  <a:srgbClr val="5B5B5B"/>
                </a:solidFill>
                <a:latin typeface="Yu Gothic"/>
                <a:ea typeface="Yu Gothic"/>
                <a:cs typeface="Yu Gothic"/>
              </a:rPr>
              <a:t>timestamp</a:t>
            </a:r>
          </a:p>
        </p:txBody>
      </p:sp>
      <p:sp>
        <p:nvSpPr>
          <p:cNvPr id="21" name="正方形/長方形 20">
            <a:extLst>
              <a:ext uri="{FF2B5EF4-FFF2-40B4-BE49-F238E27FC236}">
                <a16:creationId xmlns:a16="http://schemas.microsoft.com/office/drawing/2014/main" id="{38C5488E-5FEC-4809-B018-14656DE980B5}"/>
              </a:ext>
            </a:extLst>
          </p:cNvPr>
          <p:cNvSpPr>
            <a:spLocks noGrp="1"/>
          </p:cNvSpPr>
          <p:nvPr/>
        </p:nvSpPr>
        <p:spPr>
          <a:xfrm>
            <a:off x="5848350" y="1457325"/>
            <a:ext cx="2266950" cy="1619250"/>
          </a:xfrm>
          <a:prstGeom prst="rect">
            <a:avLst/>
          </a:prstGeom>
          <a:solidFill>
            <a:srgbClr val="FFFFFF"/>
          </a:solidFill>
          <a:ln w="9525">
            <a:solidFill>
              <a:srgbClr val="D6D6D6"/>
            </a:solidFill>
            <a:prstDash val="solid"/>
          </a:ln>
        </p:spPr>
      </p:sp>
      <p:sp>
        <p:nvSpPr>
          <p:cNvPr id="22" name="正方形/長方形 21">
            <a:extLst>
              <a:ext uri="{FF2B5EF4-FFF2-40B4-BE49-F238E27FC236}">
                <a16:creationId xmlns:a16="http://schemas.microsoft.com/office/drawing/2014/main" id="{8A7C3080-D78B-41EE-A684-9E6F11D533F4}"/>
              </a:ext>
            </a:extLst>
          </p:cNvPr>
          <p:cNvSpPr>
            <a:spLocks noGrp="1"/>
          </p:cNvSpPr>
          <p:nvPr/>
        </p:nvSpPr>
        <p:spPr>
          <a:xfrm>
            <a:off x="5848350" y="1457325"/>
            <a:ext cx="2266950" cy="76200"/>
          </a:xfrm>
          <a:prstGeom prst="rect">
            <a:avLst/>
          </a:prstGeom>
          <a:solidFill>
            <a:srgbClr val="76BE18"/>
          </a:solidFill>
          <a:ln w="0">
            <a:noFill/>
            <a:prstDash val="solid"/>
          </a:ln>
        </p:spPr>
      </p:sp>
      <p:sp>
        <p:nvSpPr>
          <p:cNvPr id="23" name="正方形/長方形 22">
            <a:extLst>
              <a:ext uri="{FF2B5EF4-FFF2-40B4-BE49-F238E27FC236}">
                <a16:creationId xmlns:a16="http://schemas.microsoft.com/office/drawing/2014/main" id="{1B3D37AC-C78F-47F0-8A5D-E3409758D586}"/>
              </a:ext>
            </a:extLst>
          </p:cNvPr>
          <p:cNvSpPr>
            <a:spLocks noGrp="1"/>
          </p:cNvSpPr>
          <p:nvPr/>
        </p:nvSpPr>
        <p:spPr>
          <a:xfrm>
            <a:off x="6010275" y="1676400"/>
            <a:ext cx="1943100" cy="285750"/>
          </a:xfrm>
          <a:prstGeom prst="rect">
            <a:avLst/>
          </a:prstGeom>
          <a:noFill/>
          <a:ln w="0">
            <a:noFill/>
            <a:prstDash val="solid"/>
          </a:ln>
        </p:spPr>
        <p:txBody>
          <a:bodyPr wrap="square" lIns="28575" tIns="19050" rIns="28575" bIns="19050" anchor="ctr">
            <a:normAutofit/>
          </a:bodyPr>
          <a:lstStyle/>
          <a:p>
            <a:pPr algn="l">
              <a:lnSpc>
                <a:spcPct val="100000"/>
              </a:lnSpc>
              <a:buNone/>
              <a:defRPr sz="1350" b="1" i="0">
                <a:solidFill>
                  <a:srgbClr val="76BE18"/>
                </a:solidFill>
                <a:latin typeface="Yu Gothic"/>
                <a:ea typeface="Yu Gothic"/>
                <a:cs typeface="Yu Gothic"/>
              </a:defRPr>
            </a:pPr>
            <a:r>
              <a:rPr sz="1350" b="1" i="0">
                <a:solidFill>
                  <a:srgbClr val="76BE18"/>
                </a:solidFill>
                <a:latin typeface="Yu Gothic"/>
                <a:ea typeface="Yu Gothic"/>
                <a:cs typeface="Yu Gothic"/>
              </a:rPr>
              <a:t>共通熱状態</a:t>
            </a:r>
          </a:p>
        </p:txBody>
      </p:sp>
      <p:sp>
        <p:nvSpPr>
          <p:cNvPr id="24" name="正方形/長方形 23">
            <a:extLst>
              <a:ext uri="{FF2B5EF4-FFF2-40B4-BE49-F238E27FC236}">
                <a16:creationId xmlns:a16="http://schemas.microsoft.com/office/drawing/2014/main" id="{4D5B009F-AD60-4AA7-A769-BD32D9B5E0DE}"/>
              </a:ext>
            </a:extLst>
          </p:cNvPr>
          <p:cNvSpPr>
            <a:spLocks noGrp="1"/>
          </p:cNvSpPr>
          <p:nvPr/>
        </p:nvSpPr>
        <p:spPr>
          <a:xfrm>
            <a:off x="6010275" y="2000250"/>
            <a:ext cx="1943100" cy="209550"/>
          </a:xfrm>
          <a:prstGeom prst="rect">
            <a:avLst/>
          </a:prstGeom>
          <a:noFill/>
          <a:ln w="0">
            <a:noFill/>
            <a:prstDash val="solid"/>
          </a:ln>
        </p:spPr>
        <p:txBody>
          <a:bodyPr wrap="square" lIns="28575" tIns="19050" rIns="28575" bIns="19050" anchor="ctr">
            <a:normAutofit/>
          </a:bodyPr>
          <a:lstStyle/>
          <a:p>
            <a:pPr algn="l">
              <a:lnSpc>
                <a:spcPct val="100000"/>
              </a:lnSpc>
              <a:buNone/>
              <a:defRPr sz="788" b="1" i="0">
                <a:solidFill>
                  <a:srgbClr val="777777"/>
                </a:solidFill>
                <a:latin typeface="Yu Gothic"/>
                <a:ea typeface="Yu Gothic"/>
                <a:cs typeface="Yu Gothic"/>
              </a:defRPr>
            </a:pPr>
            <a:r>
              <a:rPr sz="788" b="1" i="0">
                <a:solidFill>
                  <a:srgbClr val="777777"/>
                </a:solidFill>
                <a:latin typeface="Yu Gothic"/>
                <a:ea typeface="Yu Gothic"/>
                <a:cs typeface="Yu Gothic"/>
              </a:rPr>
              <a:t>保存則付き低次元model</a:t>
            </a:r>
          </a:p>
        </p:txBody>
      </p:sp>
      <p:sp>
        <p:nvSpPr>
          <p:cNvPr id="25" name="直線コネクタ 24">
            <a:extLst>
              <a:ext uri="{FF2B5EF4-FFF2-40B4-BE49-F238E27FC236}">
                <a16:creationId xmlns:a16="http://schemas.microsoft.com/office/drawing/2014/main" id="{3161D82F-BC7E-4BCF-A1BA-B86A974E4A3D}"/>
              </a:ext>
            </a:extLst>
          </p:cNvPr>
          <p:cNvSpPr>
            <a:spLocks noGrp="1"/>
          </p:cNvSpPr>
          <p:nvPr/>
        </p:nvSpPr>
        <p:spPr>
          <a:xfrm>
            <a:off x="6010275" y="2295525"/>
            <a:ext cx="1943100" cy="0"/>
          </a:xfrm>
          <a:prstGeom prst="line">
            <a:avLst/>
          </a:prstGeom>
          <a:noFill/>
          <a:ln w="9525">
            <a:solidFill>
              <a:srgbClr val="D6D6D6"/>
            </a:solidFill>
            <a:prstDash val="solid"/>
          </a:ln>
        </p:spPr>
      </p:sp>
      <p:sp>
        <p:nvSpPr>
          <p:cNvPr id="26" name="正方形/長方形 25">
            <a:extLst>
              <a:ext uri="{FF2B5EF4-FFF2-40B4-BE49-F238E27FC236}">
                <a16:creationId xmlns:a16="http://schemas.microsoft.com/office/drawing/2014/main" id="{CA06417D-262B-49BF-BFBF-B5E36E51D511}"/>
              </a:ext>
            </a:extLst>
          </p:cNvPr>
          <p:cNvSpPr>
            <a:spLocks noGrp="1"/>
          </p:cNvSpPr>
          <p:nvPr/>
        </p:nvSpPr>
        <p:spPr>
          <a:xfrm>
            <a:off x="6010275" y="2400300"/>
            <a:ext cx="1943100" cy="523875"/>
          </a:xfrm>
          <a:prstGeom prst="rect">
            <a:avLst/>
          </a:prstGeom>
          <a:noFill/>
          <a:ln w="0">
            <a:noFill/>
            <a:prstDash val="solid"/>
          </a:ln>
        </p:spPr>
        <p:txBody>
          <a:bodyPr wrap="square" lIns="28575" tIns="19050" rIns="28575" bIns="19050" anchor="ctr">
            <a:normAutofit fontScale="95351"/>
          </a:bodyPr>
          <a:lstStyle/>
          <a:p>
            <a:pPr algn="ctr">
              <a:lnSpc>
                <a:spcPct val="110000"/>
              </a:lnSpc>
              <a:buNone/>
              <a:defRPr sz="1013" b="0" i="0">
                <a:solidFill>
                  <a:srgbClr val="5B5B5B"/>
                </a:solidFill>
                <a:latin typeface="Yu Gothic"/>
                <a:ea typeface="Yu Gothic"/>
                <a:cs typeface="Yu Gothic"/>
              </a:defRPr>
            </a:pPr>
            <a:r>
              <a:rPr sz="1013" b="0" i="0">
                <a:solidFill>
                  <a:srgbClr val="5B5B5B"/>
                </a:solidFill>
                <a:latin typeface="Yu Gothic"/>
                <a:ea typeface="Yu Gothic"/>
                <a:cs typeface="Yu Gothic"/>
              </a:rPr>
              <a:t>node temperature</a:t>
            </a:r>
          </a:p>
          <a:p>
            <a:pPr algn="ctr">
              <a:lnSpc>
                <a:spcPct val="110000"/>
              </a:lnSpc>
              <a:buNone/>
              <a:defRPr sz="1013" b="0" i="0">
                <a:solidFill>
                  <a:srgbClr val="5B5B5B"/>
                </a:solidFill>
                <a:latin typeface="Yu Gothic"/>
                <a:ea typeface="Yu Gothic"/>
                <a:cs typeface="Yu Gothic"/>
              </a:defRPr>
            </a:pPr>
            <a:r>
              <a:rPr sz="1013" b="0" i="0">
                <a:solidFill>
                  <a:srgbClr val="5B5B5B"/>
                </a:solidFill>
                <a:latin typeface="Yu Gothic"/>
                <a:ea typeface="Yu Gothic"/>
                <a:cs typeface="Yu Gothic"/>
              </a:rPr>
              <a:t>effective actuator</a:t>
            </a:r>
          </a:p>
          <a:p>
            <a:pPr algn="ctr">
              <a:lnSpc>
                <a:spcPct val="110000"/>
              </a:lnSpc>
              <a:buNone/>
              <a:defRPr sz="1013" b="0" i="0">
                <a:solidFill>
                  <a:srgbClr val="5B5B5B"/>
                </a:solidFill>
                <a:latin typeface="Yu Gothic"/>
                <a:ea typeface="Yu Gothic"/>
                <a:cs typeface="Yu Gothic"/>
              </a:defRPr>
            </a:pPr>
            <a:r>
              <a:rPr sz="1013" b="0" i="0">
                <a:solidFill>
                  <a:srgbClr val="5B5B5B"/>
                </a:solidFill>
                <a:latin typeface="Yu Gothic"/>
                <a:ea typeface="Yu Gothic"/>
                <a:cs typeface="Yu Gothic"/>
              </a:rPr>
              <a:t>unknown heat</a:t>
            </a:r>
          </a:p>
        </p:txBody>
      </p:sp>
      <p:sp>
        <p:nvSpPr>
          <p:cNvPr id="27" name="正方形/長方形 26">
            <a:extLst>
              <a:ext uri="{FF2B5EF4-FFF2-40B4-BE49-F238E27FC236}">
                <a16:creationId xmlns:a16="http://schemas.microsoft.com/office/drawing/2014/main" id="{FFF27AB8-24E1-4323-9E8D-45C10A640ADD}"/>
              </a:ext>
            </a:extLst>
          </p:cNvPr>
          <p:cNvSpPr>
            <a:spLocks noGrp="1"/>
          </p:cNvSpPr>
          <p:nvPr/>
        </p:nvSpPr>
        <p:spPr>
          <a:xfrm>
            <a:off x="8496300" y="1457325"/>
            <a:ext cx="3143250" cy="1619250"/>
          </a:xfrm>
          <a:prstGeom prst="rect">
            <a:avLst/>
          </a:prstGeom>
          <a:solidFill>
            <a:srgbClr val="FFFFFF"/>
          </a:solidFill>
          <a:ln w="9525">
            <a:solidFill>
              <a:srgbClr val="D6D6D6"/>
            </a:solidFill>
            <a:prstDash val="solid"/>
          </a:ln>
        </p:spPr>
      </p:sp>
      <p:sp>
        <p:nvSpPr>
          <p:cNvPr id="28" name="正方形/長方形 27">
            <a:extLst>
              <a:ext uri="{FF2B5EF4-FFF2-40B4-BE49-F238E27FC236}">
                <a16:creationId xmlns:a16="http://schemas.microsoft.com/office/drawing/2014/main" id="{364C9EFF-5382-42BF-91DD-38C7290B7992}"/>
              </a:ext>
            </a:extLst>
          </p:cNvPr>
          <p:cNvSpPr>
            <a:spLocks noGrp="1"/>
          </p:cNvSpPr>
          <p:nvPr/>
        </p:nvSpPr>
        <p:spPr>
          <a:xfrm>
            <a:off x="8496300" y="1457325"/>
            <a:ext cx="3143250" cy="76200"/>
          </a:xfrm>
          <a:prstGeom prst="rect">
            <a:avLst/>
          </a:prstGeom>
          <a:solidFill>
            <a:srgbClr val="E5A900"/>
          </a:solidFill>
          <a:ln w="0">
            <a:noFill/>
            <a:prstDash val="solid"/>
          </a:ln>
        </p:spPr>
      </p:sp>
      <p:sp>
        <p:nvSpPr>
          <p:cNvPr id="29" name="正方形/長方形 28">
            <a:extLst>
              <a:ext uri="{FF2B5EF4-FFF2-40B4-BE49-F238E27FC236}">
                <a16:creationId xmlns:a16="http://schemas.microsoft.com/office/drawing/2014/main" id="{11C6CDDD-BAD1-40BF-A063-1A53B05B8AD1}"/>
              </a:ext>
            </a:extLst>
          </p:cNvPr>
          <p:cNvSpPr>
            <a:spLocks noGrp="1"/>
          </p:cNvSpPr>
          <p:nvPr/>
        </p:nvSpPr>
        <p:spPr>
          <a:xfrm>
            <a:off x="8658225" y="1676400"/>
            <a:ext cx="2819400" cy="285750"/>
          </a:xfrm>
          <a:prstGeom prst="rect">
            <a:avLst/>
          </a:prstGeom>
          <a:noFill/>
          <a:ln w="0">
            <a:noFill/>
            <a:prstDash val="solid"/>
          </a:ln>
        </p:spPr>
        <p:txBody>
          <a:bodyPr wrap="square" lIns="28575" tIns="19050" rIns="28575" bIns="19050" anchor="ctr">
            <a:normAutofit/>
          </a:bodyPr>
          <a:lstStyle/>
          <a:p>
            <a:pPr algn="l">
              <a:lnSpc>
                <a:spcPct val="100000"/>
              </a:lnSpc>
              <a:buNone/>
              <a:defRPr sz="1350" b="1" i="0">
                <a:solidFill>
                  <a:srgbClr val="E5A900"/>
                </a:solidFill>
                <a:latin typeface="Yu Gothic"/>
                <a:ea typeface="Yu Gothic"/>
                <a:cs typeface="Yu Gothic"/>
              </a:defRPr>
            </a:pPr>
            <a:r>
              <a:rPr sz="1350" b="1" i="0">
                <a:solidFill>
                  <a:srgbClr val="E5A900"/>
                </a:solidFill>
                <a:latin typeface="Yu Gothic"/>
                <a:ea typeface="Yu Gothic"/>
                <a:cs typeface="Yu Gothic"/>
              </a:rPr>
              <a:t>工学判断</a:t>
            </a:r>
          </a:p>
        </p:txBody>
      </p:sp>
      <p:sp>
        <p:nvSpPr>
          <p:cNvPr id="30" name="正方形/長方形 29">
            <a:extLst>
              <a:ext uri="{FF2B5EF4-FFF2-40B4-BE49-F238E27FC236}">
                <a16:creationId xmlns:a16="http://schemas.microsoft.com/office/drawing/2014/main" id="{3600E4CC-B066-41F8-9739-A684239A43F8}"/>
              </a:ext>
            </a:extLst>
          </p:cNvPr>
          <p:cNvSpPr>
            <a:spLocks noGrp="1"/>
          </p:cNvSpPr>
          <p:nvPr/>
        </p:nvSpPr>
        <p:spPr>
          <a:xfrm>
            <a:off x="8658225" y="2000250"/>
            <a:ext cx="2819400" cy="209550"/>
          </a:xfrm>
          <a:prstGeom prst="rect">
            <a:avLst/>
          </a:prstGeom>
          <a:noFill/>
          <a:ln w="0">
            <a:noFill/>
            <a:prstDash val="solid"/>
          </a:ln>
        </p:spPr>
        <p:txBody>
          <a:bodyPr wrap="square" lIns="28575" tIns="19050" rIns="28575" bIns="19050" anchor="ctr">
            <a:normAutofit/>
          </a:bodyPr>
          <a:lstStyle/>
          <a:p>
            <a:pPr algn="l">
              <a:lnSpc>
                <a:spcPct val="100000"/>
              </a:lnSpc>
              <a:buNone/>
              <a:defRPr sz="788" b="1" i="0">
                <a:solidFill>
                  <a:srgbClr val="777777"/>
                </a:solidFill>
                <a:latin typeface="Yu Gothic"/>
                <a:ea typeface="Yu Gothic"/>
                <a:cs typeface="Yu Gothic"/>
              </a:defRPr>
            </a:pPr>
            <a:r>
              <a:rPr sz="788" b="1" i="0">
                <a:solidFill>
                  <a:srgbClr val="777777"/>
                </a:solidFill>
                <a:latin typeface="Yu Gothic"/>
                <a:ea typeface="Yu Gothic"/>
                <a:cs typeface="Yu Gothic"/>
              </a:rPr>
              <a:t>予測・監視・再評価</a:t>
            </a:r>
          </a:p>
        </p:txBody>
      </p:sp>
      <p:sp>
        <p:nvSpPr>
          <p:cNvPr id="31" name="直線コネクタ 30">
            <a:extLst>
              <a:ext uri="{FF2B5EF4-FFF2-40B4-BE49-F238E27FC236}">
                <a16:creationId xmlns:a16="http://schemas.microsoft.com/office/drawing/2014/main" id="{7E8B14BB-D099-4C34-B95D-0C6A17029612}"/>
              </a:ext>
            </a:extLst>
          </p:cNvPr>
          <p:cNvSpPr>
            <a:spLocks noGrp="1"/>
          </p:cNvSpPr>
          <p:nvPr/>
        </p:nvSpPr>
        <p:spPr>
          <a:xfrm>
            <a:off x="8658225" y="2295525"/>
            <a:ext cx="2819400" cy="0"/>
          </a:xfrm>
          <a:prstGeom prst="line">
            <a:avLst/>
          </a:prstGeom>
          <a:noFill/>
          <a:ln w="9525">
            <a:solidFill>
              <a:srgbClr val="D6D6D6"/>
            </a:solidFill>
            <a:prstDash val="solid"/>
          </a:ln>
        </p:spPr>
      </p:sp>
      <p:sp>
        <p:nvSpPr>
          <p:cNvPr id="32" name="正方形/長方形 31">
            <a:extLst>
              <a:ext uri="{FF2B5EF4-FFF2-40B4-BE49-F238E27FC236}">
                <a16:creationId xmlns:a16="http://schemas.microsoft.com/office/drawing/2014/main" id="{48EB74A5-BB09-4C73-94D0-195ACEA34580}"/>
              </a:ext>
            </a:extLst>
          </p:cNvPr>
          <p:cNvSpPr>
            <a:spLocks noGrp="1"/>
          </p:cNvSpPr>
          <p:nvPr/>
        </p:nvSpPr>
        <p:spPr>
          <a:xfrm>
            <a:off x="8658225" y="2400300"/>
            <a:ext cx="2819400" cy="523875"/>
          </a:xfrm>
          <a:prstGeom prst="rect">
            <a:avLst/>
          </a:prstGeom>
          <a:noFill/>
          <a:ln w="0">
            <a:noFill/>
            <a:prstDash val="solid"/>
          </a:ln>
        </p:spPr>
        <p:txBody>
          <a:bodyPr wrap="square" lIns="28575" tIns="19050" rIns="28575" bIns="19050" anchor="ctr">
            <a:normAutofit fontScale="95351"/>
          </a:bodyPr>
          <a:lstStyle/>
          <a:p>
            <a:pPr algn="ctr">
              <a:lnSpc>
                <a:spcPct val="110000"/>
              </a:lnSpc>
              <a:buNone/>
              <a:defRPr sz="1013" b="0" i="0">
                <a:solidFill>
                  <a:srgbClr val="5B5B5B"/>
                </a:solidFill>
                <a:latin typeface="Yu Gothic"/>
                <a:ea typeface="Yu Gothic"/>
                <a:cs typeface="Yu Gothic"/>
              </a:defRPr>
            </a:pPr>
            <a:r>
              <a:rPr sz="1013" b="0" i="0">
                <a:solidFill>
                  <a:srgbClr val="5B5B5B"/>
                </a:solidFill>
                <a:latin typeface="Yu Gothic"/>
                <a:ea typeface="Yu Gothic"/>
                <a:cs typeface="Yu Gothic"/>
              </a:rPr>
              <a:t>warm-up / cooldown</a:t>
            </a:r>
          </a:p>
          <a:p>
            <a:pPr algn="ctr">
              <a:lnSpc>
                <a:spcPct val="110000"/>
              </a:lnSpc>
              <a:buNone/>
              <a:defRPr sz="1013" b="0" i="0">
                <a:solidFill>
                  <a:srgbClr val="5B5B5B"/>
                </a:solidFill>
                <a:latin typeface="Yu Gothic"/>
                <a:ea typeface="Yu Gothic"/>
                <a:cs typeface="Yu Gothic"/>
              </a:defRPr>
            </a:pPr>
            <a:r>
              <a:rPr sz="1013" b="0" i="0">
                <a:solidFill>
                  <a:srgbClr val="5B5B5B"/>
                </a:solidFill>
                <a:latin typeface="Yu Gothic"/>
                <a:ea typeface="Yu Gothic"/>
                <a:cs typeface="Yu Gothic"/>
              </a:rPr>
              <a:t>virtual sensor / anomaly</a:t>
            </a:r>
          </a:p>
          <a:p>
            <a:pPr algn="ctr">
              <a:lnSpc>
                <a:spcPct val="110000"/>
              </a:lnSpc>
              <a:buNone/>
              <a:defRPr sz="1013" b="0" i="0">
                <a:solidFill>
                  <a:srgbClr val="5B5B5B"/>
                </a:solidFill>
                <a:latin typeface="Yu Gothic"/>
                <a:ea typeface="Yu Gothic"/>
                <a:cs typeface="Yu Gothic"/>
              </a:defRPr>
            </a:pPr>
            <a:r>
              <a:rPr sz="1013" b="0" i="0">
                <a:solidFill>
                  <a:srgbClr val="5B5B5B"/>
                </a:solidFill>
                <a:latin typeface="Yu Gothic"/>
                <a:ea typeface="Yu Gothic"/>
                <a:cs typeface="Yu Gothic"/>
              </a:rPr>
              <a:t>CAE再計算の優先順位</a:t>
            </a:r>
          </a:p>
        </p:txBody>
      </p:sp>
      <p:cxnSp>
        <p:nvCxnSpPr>
          <p:cNvPr id="80" name="直線矢印コネクタ 79"/>
          <p:cNvCxnSpPr>
            <a:stCxn id="9" idx="3"/>
            <a:endCxn id="15" idx="1"/>
          </p:cNvCxnSpPr>
          <p:nvPr/>
        </p:nvCxnSpPr>
        <p:spPr>
          <a:xfrm>
            <a:off x="2819400" y="2266950"/>
            <a:ext cx="381000" cy="0"/>
          </a:xfrm>
          <a:prstGeom prst="straightConnector1">
            <a:avLst/>
          </a:prstGeom>
          <a:ln w="19050">
            <a:solidFill>
              <a:srgbClr val="007FA8"/>
            </a:solidFill>
            <a:prstDash val="solid"/>
            <a:tailEnd type="triangle" w="sm" len="sm"/>
          </a:ln>
        </p:spPr>
      </p:cxnSp>
      <p:cxnSp>
        <p:nvCxnSpPr>
          <p:cNvPr id="81" name="直線矢印コネクタ 80"/>
          <p:cNvCxnSpPr>
            <a:stCxn id="15" idx="3"/>
            <a:endCxn id="21" idx="1"/>
          </p:cNvCxnSpPr>
          <p:nvPr/>
        </p:nvCxnSpPr>
        <p:spPr>
          <a:xfrm>
            <a:off x="5467350" y="2266950"/>
            <a:ext cx="381000" cy="0"/>
          </a:xfrm>
          <a:prstGeom prst="straightConnector1">
            <a:avLst/>
          </a:prstGeom>
          <a:ln w="19050">
            <a:solidFill>
              <a:srgbClr val="007FA8"/>
            </a:solidFill>
            <a:prstDash val="solid"/>
            <a:tailEnd type="triangle" w="sm" len="sm"/>
          </a:ln>
        </p:spPr>
      </p:cxnSp>
      <p:cxnSp>
        <p:nvCxnSpPr>
          <p:cNvPr id="82" name="直線矢印コネクタ 81"/>
          <p:cNvCxnSpPr>
            <a:stCxn id="21" idx="3"/>
            <a:endCxn id="27" idx="1"/>
          </p:cNvCxnSpPr>
          <p:nvPr/>
        </p:nvCxnSpPr>
        <p:spPr>
          <a:xfrm>
            <a:off x="8115300" y="2266950"/>
            <a:ext cx="381000" cy="0"/>
          </a:xfrm>
          <a:prstGeom prst="straightConnector1">
            <a:avLst/>
          </a:prstGeom>
          <a:ln w="19050">
            <a:solidFill>
              <a:srgbClr val="007FA8"/>
            </a:solidFill>
            <a:prstDash val="solid"/>
            <a:tailEnd type="triangle" w="sm" len="sm"/>
          </a:ln>
        </p:spPr>
      </p:cxnSp>
      <p:sp>
        <p:nvSpPr>
          <p:cNvPr id="36" name="四角形: 角を丸くする 35">
            <a:extLst>
              <a:ext uri="{FF2B5EF4-FFF2-40B4-BE49-F238E27FC236}">
                <a16:creationId xmlns:a16="http://schemas.microsoft.com/office/drawing/2014/main" id="{A088119D-F56D-4D73-B49C-68AE0006FC24}"/>
              </a:ext>
            </a:extLst>
          </p:cNvPr>
          <p:cNvSpPr>
            <a:spLocks noGrp="1"/>
          </p:cNvSpPr>
          <p:nvPr/>
        </p:nvSpPr>
        <p:spPr>
          <a:xfrm>
            <a:off x="2305050" y="3190875"/>
            <a:ext cx="685800" cy="238125"/>
          </a:xfrm>
          <a:prstGeom prst="roundRect">
            <a:avLst>
              <a:gd name="adj" fmla="val 50000"/>
            </a:avLst>
          </a:prstGeom>
          <a:solidFill>
            <a:srgbClr val="FBE9E7"/>
          </a:solidFill>
          <a:ln w="9525">
            <a:solidFill>
              <a:srgbClr val="C4493D"/>
            </a:solidFill>
            <a:prstDash val="solid"/>
          </a:ln>
        </p:spPr>
      </p:sp>
      <p:sp>
        <p:nvSpPr>
          <p:cNvPr id="37" name="正方形/長方形 36">
            <a:extLst>
              <a:ext uri="{FF2B5EF4-FFF2-40B4-BE49-F238E27FC236}">
                <a16:creationId xmlns:a16="http://schemas.microsoft.com/office/drawing/2014/main" id="{145D7EB7-ABC3-4053-A11E-38D62E4D7D8D}"/>
              </a:ext>
            </a:extLst>
          </p:cNvPr>
          <p:cNvSpPr>
            <a:spLocks noGrp="1"/>
          </p:cNvSpPr>
          <p:nvPr/>
        </p:nvSpPr>
        <p:spPr>
          <a:xfrm>
            <a:off x="2352675" y="3200400"/>
            <a:ext cx="590550" cy="209550"/>
          </a:xfrm>
          <a:prstGeom prst="rect">
            <a:avLst/>
          </a:prstGeom>
          <a:noFill/>
          <a:ln w="0">
            <a:noFill/>
            <a:prstDash val="solid"/>
          </a:ln>
        </p:spPr>
        <p:txBody>
          <a:bodyPr wrap="none" lIns="28575" tIns="19050" rIns="28575" bIns="19050" anchor="ctr">
            <a:noAutofit/>
          </a:bodyPr>
          <a:lstStyle/>
          <a:p>
            <a:pPr algn="ctr">
              <a:lnSpc>
                <a:spcPct val="100000"/>
              </a:lnSpc>
              <a:buNone/>
              <a:defRPr sz="788" b="1" i="0">
                <a:solidFill>
                  <a:srgbClr val="C4493D"/>
                </a:solidFill>
                <a:latin typeface="Yu Gothic"/>
                <a:ea typeface="Yu Gothic"/>
                <a:cs typeface="Yu Gothic"/>
              </a:defRPr>
            </a:pPr>
            <a:r>
              <a:rPr sz="788" b="1" i="0">
                <a:solidFill>
                  <a:srgbClr val="C4493D"/>
                </a:solidFill>
                <a:latin typeface="Yu Gothic"/>
                <a:ea typeface="Yu Gothic"/>
                <a:cs typeface="Yu Gothic"/>
              </a:rPr>
              <a:t>GAP 1</a:t>
            </a:r>
          </a:p>
        </p:txBody>
      </p:sp>
      <p:sp>
        <p:nvSpPr>
          <p:cNvPr id="38" name="正方形/長方形 37">
            <a:extLst>
              <a:ext uri="{FF2B5EF4-FFF2-40B4-BE49-F238E27FC236}">
                <a16:creationId xmlns:a16="http://schemas.microsoft.com/office/drawing/2014/main" id="{B2E59044-0FDC-4E3D-B4F9-E9322B4B6D07}"/>
              </a:ext>
            </a:extLst>
          </p:cNvPr>
          <p:cNvSpPr>
            <a:spLocks noGrp="1"/>
          </p:cNvSpPr>
          <p:nvPr/>
        </p:nvSpPr>
        <p:spPr>
          <a:xfrm>
            <a:off x="3028950" y="3181350"/>
            <a:ext cx="2000250" cy="238125"/>
          </a:xfrm>
          <a:prstGeom prst="rect">
            <a:avLst/>
          </a:prstGeom>
          <a:noFill/>
          <a:ln w="0">
            <a:noFill/>
            <a:prstDash val="solid"/>
          </a:ln>
        </p:spPr>
        <p:txBody>
          <a:bodyPr wrap="square" lIns="28575" tIns="19050" rIns="28575" bIns="19050" anchor="ctr">
            <a:normAutofit/>
          </a:bodyPr>
          <a:lstStyle/>
          <a:p>
            <a:pPr algn="l">
              <a:lnSpc>
                <a:spcPct val="100000"/>
              </a:lnSpc>
              <a:buNone/>
              <a:defRPr sz="863" b="0" i="0">
                <a:solidFill>
                  <a:srgbClr val="5B5B5B"/>
                </a:solidFill>
                <a:latin typeface="Yu Gothic"/>
                <a:ea typeface="Yu Gothic"/>
                <a:cs typeface="Yu Gothic"/>
              </a:defRPr>
            </a:pPr>
            <a:r>
              <a:rPr sz="863" b="0" i="0">
                <a:solidFill>
                  <a:srgbClr val="5B5B5B"/>
                </a:solidFill>
                <a:latin typeface="Yu Gothic"/>
                <a:ea typeface="Yu Gothic"/>
                <a:cs typeface="Yu Gothic"/>
              </a:rPr>
              <a:t>場の情報をsensor列へ縮約</a:t>
            </a:r>
          </a:p>
        </p:txBody>
      </p:sp>
      <p:sp>
        <p:nvSpPr>
          <p:cNvPr id="39" name="四角形: 角を丸くする 38">
            <a:extLst>
              <a:ext uri="{FF2B5EF4-FFF2-40B4-BE49-F238E27FC236}">
                <a16:creationId xmlns:a16="http://schemas.microsoft.com/office/drawing/2014/main" id="{48F88D8E-FDED-475E-A43E-FC19D0751744}"/>
              </a:ext>
            </a:extLst>
          </p:cNvPr>
          <p:cNvSpPr>
            <a:spLocks noGrp="1"/>
          </p:cNvSpPr>
          <p:nvPr/>
        </p:nvSpPr>
        <p:spPr>
          <a:xfrm>
            <a:off x="5657850" y="3190875"/>
            <a:ext cx="685800" cy="238125"/>
          </a:xfrm>
          <a:prstGeom prst="roundRect">
            <a:avLst>
              <a:gd name="adj" fmla="val 50000"/>
            </a:avLst>
          </a:prstGeom>
          <a:solidFill>
            <a:srgbClr val="FBE9E7"/>
          </a:solidFill>
          <a:ln w="9525">
            <a:solidFill>
              <a:srgbClr val="C4493D"/>
            </a:solidFill>
            <a:prstDash val="solid"/>
          </a:ln>
        </p:spPr>
      </p:sp>
      <p:sp>
        <p:nvSpPr>
          <p:cNvPr id="40" name="正方形/長方形 39">
            <a:extLst>
              <a:ext uri="{FF2B5EF4-FFF2-40B4-BE49-F238E27FC236}">
                <a16:creationId xmlns:a16="http://schemas.microsoft.com/office/drawing/2014/main" id="{7159DEF2-548D-450A-A94C-337929C06A1F}"/>
              </a:ext>
            </a:extLst>
          </p:cNvPr>
          <p:cNvSpPr>
            <a:spLocks noGrp="1"/>
          </p:cNvSpPr>
          <p:nvPr/>
        </p:nvSpPr>
        <p:spPr>
          <a:xfrm>
            <a:off x="5705475" y="3200400"/>
            <a:ext cx="590550" cy="209550"/>
          </a:xfrm>
          <a:prstGeom prst="rect">
            <a:avLst/>
          </a:prstGeom>
          <a:noFill/>
          <a:ln w="0">
            <a:noFill/>
            <a:prstDash val="solid"/>
          </a:ln>
        </p:spPr>
        <p:txBody>
          <a:bodyPr wrap="none" lIns="28575" tIns="19050" rIns="28575" bIns="19050" anchor="ctr">
            <a:noAutofit/>
          </a:bodyPr>
          <a:lstStyle/>
          <a:p>
            <a:pPr algn="ctr">
              <a:lnSpc>
                <a:spcPct val="100000"/>
              </a:lnSpc>
              <a:buNone/>
              <a:defRPr sz="788" b="1" i="0">
                <a:solidFill>
                  <a:srgbClr val="C4493D"/>
                </a:solidFill>
                <a:latin typeface="Yu Gothic"/>
                <a:ea typeface="Yu Gothic"/>
                <a:cs typeface="Yu Gothic"/>
              </a:defRPr>
            </a:pPr>
            <a:r>
              <a:rPr sz="788" b="1" i="0">
                <a:solidFill>
                  <a:srgbClr val="C4493D"/>
                </a:solidFill>
                <a:latin typeface="Yu Gothic"/>
                <a:ea typeface="Yu Gothic"/>
                <a:cs typeface="Yu Gothic"/>
              </a:rPr>
              <a:t>GAP 2</a:t>
            </a:r>
          </a:p>
        </p:txBody>
      </p:sp>
      <p:sp>
        <p:nvSpPr>
          <p:cNvPr id="41" name="正方形/長方形 40">
            <a:extLst>
              <a:ext uri="{FF2B5EF4-FFF2-40B4-BE49-F238E27FC236}">
                <a16:creationId xmlns:a16="http://schemas.microsoft.com/office/drawing/2014/main" id="{3C6DA1BD-202D-4800-8474-575CB93EB361}"/>
              </a:ext>
            </a:extLst>
          </p:cNvPr>
          <p:cNvSpPr>
            <a:spLocks noGrp="1"/>
          </p:cNvSpPr>
          <p:nvPr/>
        </p:nvSpPr>
        <p:spPr>
          <a:xfrm>
            <a:off x="6381750" y="3181350"/>
            <a:ext cx="2209800" cy="238125"/>
          </a:xfrm>
          <a:prstGeom prst="rect">
            <a:avLst/>
          </a:prstGeom>
          <a:noFill/>
          <a:ln w="0">
            <a:noFill/>
            <a:prstDash val="solid"/>
          </a:ln>
        </p:spPr>
        <p:txBody>
          <a:bodyPr wrap="square" lIns="28575" tIns="19050" rIns="28575" bIns="19050" anchor="ctr">
            <a:normAutofit/>
          </a:bodyPr>
          <a:lstStyle/>
          <a:p>
            <a:pPr algn="l">
              <a:lnSpc>
                <a:spcPct val="100000"/>
              </a:lnSpc>
              <a:buNone/>
              <a:defRPr sz="863" b="0" i="0">
                <a:solidFill>
                  <a:srgbClr val="5B5B5B"/>
                </a:solidFill>
                <a:latin typeface="Yu Gothic"/>
                <a:ea typeface="Yu Gothic"/>
                <a:cs typeface="Yu Gothic"/>
              </a:defRPr>
            </a:pPr>
            <a:r>
              <a:rPr sz="863" b="0" i="0">
                <a:solidFill>
                  <a:srgbClr val="5B5B5B"/>
                </a:solidFill>
                <a:latin typeface="Yu Gothic"/>
                <a:ea typeface="Yu Gothic"/>
                <a:cs typeface="Yu Gothic"/>
              </a:rPr>
              <a:t>欠測・未観測stateを因果推定</a:t>
            </a:r>
          </a:p>
        </p:txBody>
      </p:sp>
      <p:sp>
        <p:nvSpPr>
          <p:cNvPr id="42" name="四角形: 角を丸くする 41">
            <a:extLst>
              <a:ext uri="{FF2B5EF4-FFF2-40B4-BE49-F238E27FC236}">
                <a16:creationId xmlns:a16="http://schemas.microsoft.com/office/drawing/2014/main" id="{55EE24CE-67A1-4F2C-BDD8-905BD33D6FDF}"/>
              </a:ext>
            </a:extLst>
          </p:cNvPr>
          <p:cNvSpPr>
            <a:spLocks noGrp="1"/>
          </p:cNvSpPr>
          <p:nvPr/>
        </p:nvSpPr>
        <p:spPr>
          <a:xfrm>
            <a:off x="8963025" y="3190875"/>
            <a:ext cx="685800" cy="238125"/>
          </a:xfrm>
          <a:prstGeom prst="roundRect">
            <a:avLst>
              <a:gd name="adj" fmla="val 50000"/>
            </a:avLst>
          </a:prstGeom>
          <a:solidFill>
            <a:srgbClr val="FBE9E7"/>
          </a:solidFill>
          <a:ln w="9525">
            <a:solidFill>
              <a:srgbClr val="C4493D"/>
            </a:solidFill>
            <a:prstDash val="solid"/>
          </a:ln>
        </p:spPr>
      </p:sp>
      <p:sp>
        <p:nvSpPr>
          <p:cNvPr id="43" name="正方形/長方形 42">
            <a:extLst>
              <a:ext uri="{FF2B5EF4-FFF2-40B4-BE49-F238E27FC236}">
                <a16:creationId xmlns:a16="http://schemas.microsoft.com/office/drawing/2014/main" id="{DF10DD1C-0ABF-43D9-81A6-4FBB43723F8B}"/>
              </a:ext>
            </a:extLst>
          </p:cNvPr>
          <p:cNvSpPr>
            <a:spLocks noGrp="1"/>
          </p:cNvSpPr>
          <p:nvPr/>
        </p:nvSpPr>
        <p:spPr>
          <a:xfrm>
            <a:off x="9010650" y="3200400"/>
            <a:ext cx="590550" cy="209550"/>
          </a:xfrm>
          <a:prstGeom prst="rect">
            <a:avLst/>
          </a:prstGeom>
          <a:noFill/>
          <a:ln w="0">
            <a:noFill/>
            <a:prstDash val="solid"/>
          </a:ln>
        </p:spPr>
        <p:txBody>
          <a:bodyPr wrap="none" lIns="28575" tIns="19050" rIns="28575" bIns="19050" anchor="ctr">
            <a:noAutofit/>
          </a:bodyPr>
          <a:lstStyle/>
          <a:p>
            <a:pPr algn="ctr">
              <a:lnSpc>
                <a:spcPct val="100000"/>
              </a:lnSpc>
              <a:buNone/>
              <a:defRPr sz="788" b="1" i="0">
                <a:solidFill>
                  <a:srgbClr val="C4493D"/>
                </a:solidFill>
                <a:latin typeface="Yu Gothic"/>
                <a:ea typeface="Yu Gothic"/>
                <a:cs typeface="Yu Gothic"/>
              </a:defRPr>
            </a:pPr>
            <a:r>
              <a:rPr sz="788" b="1" i="0">
                <a:solidFill>
                  <a:srgbClr val="C4493D"/>
                </a:solidFill>
                <a:latin typeface="Yu Gothic"/>
                <a:ea typeface="Yu Gothic"/>
                <a:cs typeface="Yu Gothic"/>
              </a:rPr>
              <a:t>GAP 3</a:t>
            </a:r>
          </a:p>
        </p:txBody>
      </p:sp>
      <p:sp>
        <p:nvSpPr>
          <p:cNvPr id="44" name="正方形/長方形 43">
            <a:extLst>
              <a:ext uri="{FF2B5EF4-FFF2-40B4-BE49-F238E27FC236}">
                <a16:creationId xmlns:a16="http://schemas.microsoft.com/office/drawing/2014/main" id="{A27B7720-C88C-4EFE-A0C7-70581114A2A0}"/>
              </a:ext>
            </a:extLst>
          </p:cNvPr>
          <p:cNvSpPr>
            <a:spLocks noGrp="1"/>
          </p:cNvSpPr>
          <p:nvPr/>
        </p:nvSpPr>
        <p:spPr>
          <a:xfrm>
            <a:off x="9686925" y="3181350"/>
            <a:ext cx="1952625" cy="238125"/>
          </a:xfrm>
          <a:prstGeom prst="rect">
            <a:avLst/>
          </a:prstGeom>
          <a:noFill/>
          <a:ln w="0">
            <a:noFill/>
            <a:prstDash val="solid"/>
          </a:ln>
        </p:spPr>
        <p:txBody>
          <a:bodyPr wrap="square" lIns="28575" tIns="19050" rIns="28575" bIns="19050" anchor="ctr">
            <a:normAutofit/>
          </a:bodyPr>
          <a:lstStyle/>
          <a:p>
            <a:pPr algn="l">
              <a:lnSpc>
                <a:spcPct val="100000"/>
              </a:lnSpc>
              <a:buNone/>
              <a:defRPr sz="863" b="0" i="0">
                <a:solidFill>
                  <a:srgbClr val="5B5B5B"/>
                </a:solidFill>
                <a:latin typeface="Yu Gothic"/>
                <a:ea typeface="Yu Gothic"/>
                <a:cs typeface="Yu Gothic"/>
              </a:defRPr>
            </a:pPr>
            <a:r>
              <a:rPr sz="863" b="0" i="0">
                <a:solidFill>
                  <a:srgbClr val="5B5B5B"/>
                </a:solidFill>
                <a:latin typeface="Yu Gothic"/>
                <a:ea typeface="Yu Gothic"/>
                <a:cs typeface="Yu Gothic"/>
              </a:rPr>
              <a:t>平均精度と安全保証を分離</a:t>
            </a:r>
          </a:p>
        </p:txBody>
      </p:sp>
      <p:graphicFrame>
        <p:nvGraphicFramePr>
          <p:cNvPr id="92" name="表 91"/>
          <p:cNvGraphicFramePr/>
          <p:nvPr/>
        </p:nvGraphicFramePr>
        <p:xfrm>
          <a:off x="552450" y="3657600"/>
          <a:ext cx="11087100" cy="2038350"/>
        </p:xfrm>
        <a:graphic>
          <a:graphicData uri="http://schemas.openxmlformats.org/drawingml/2006/table">
            <a:tbl>
              <a:tblPr/>
              <a:tblGrid>
                <a:gridCol w="249555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3009900">
                  <a:extLst>
                    <a:ext uri="{9D8B030D-6E8A-4147-A177-3AD203B41FA5}">
                      <a16:colId xmlns:a16="http://schemas.microsoft.com/office/drawing/2014/main" val="20002"/>
                    </a:ext>
                  </a:extLst>
                </a:gridCol>
                <a:gridCol w="2838450">
                  <a:extLst>
                    <a:ext uri="{9D8B030D-6E8A-4147-A177-3AD203B41FA5}">
                      <a16:colId xmlns:a16="http://schemas.microsoft.com/office/drawing/2014/main" val="20003"/>
                    </a:ext>
                  </a:extLst>
                </a:gridCol>
              </a:tblGrid>
              <a:tr h="509588">
                <a:tc>
                  <a:txBody>
                    <a:bodyPr/>
                    <a:lstStyle/>
                    <a:p>
                      <a:r>
                        <a:rPr sz="938" b="1">
                          <a:solidFill>
                            <a:srgbClr val="FFFFFF"/>
                          </a:solidFill>
                          <a:latin typeface="Yu Gothic"/>
                          <a:ea typeface="Yu Gothic"/>
                          <a:cs typeface="Yu Gothic"/>
                        </a:rPr>
                        <a:t>設計上の課題</a:t>
                      </a:r>
                    </a:p>
                  </a:txBody>
                  <a:tcPr>
                    <a:solidFill>
                      <a:srgbClr val="007FA8"/>
                    </a:solidFill>
                  </a:tcPr>
                </a:tc>
                <a:tc>
                  <a:txBody>
                    <a:bodyPr/>
                    <a:lstStyle/>
                    <a:p>
                      <a:r>
                        <a:rPr sz="938" b="1">
                          <a:solidFill>
                            <a:srgbClr val="FFFFFF"/>
                          </a:solidFill>
                          <a:latin typeface="Yu Gothic"/>
                          <a:ea typeface="Yu Gothic"/>
                          <a:cs typeface="Yu Gothic"/>
                        </a:rPr>
                        <a:t>現場で起きる問題</a:t>
                      </a:r>
                    </a:p>
                  </a:txBody>
                  <a:tcPr>
                    <a:solidFill>
                      <a:srgbClr val="007FA8"/>
                    </a:solidFill>
                  </a:tcPr>
                </a:tc>
                <a:tc>
                  <a:txBody>
                    <a:bodyPr/>
                    <a:lstStyle/>
                    <a:p>
                      <a:r>
                        <a:rPr sz="938" b="1">
                          <a:solidFill>
                            <a:srgbClr val="FFFFFF"/>
                          </a:solidFill>
                          <a:latin typeface="Yu Gothic"/>
                          <a:ea typeface="Yu Gothic"/>
                          <a:cs typeface="Yu Gothic"/>
                        </a:rPr>
                        <a:t>本基盤で埋める部分</a:t>
                      </a:r>
                    </a:p>
                  </a:txBody>
                  <a:tcPr>
                    <a:solidFill>
                      <a:srgbClr val="007FA8"/>
                    </a:solidFill>
                  </a:tcPr>
                </a:tc>
                <a:tc>
                  <a:txBody>
                    <a:bodyPr/>
                    <a:lstStyle/>
                    <a:p>
                      <a:r>
                        <a:rPr sz="938" b="1">
                          <a:solidFill>
                            <a:srgbClr val="FFFFFF"/>
                          </a:solidFill>
                          <a:latin typeface="Yu Gothic"/>
                          <a:ea typeface="Yu Gothic"/>
                          <a:cs typeface="Yu Gothic"/>
                        </a:rPr>
                        <a:t>残すべき検証境界</a:t>
                      </a:r>
                    </a:p>
                  </a:txBody>
                  <a:tcPr>
                    <a:solidFill>
                      <a:srgbClr val="007FA8"/>
                    </a:solidFill>
                  </a:tcPr>
                </a:tc>
                <a:extLst>
                  <a:ext uri="{0D108BD9-81ED-4DB2-BD59-A6C34878D82A}">
                    <a16:rowId xmlns:a16="http://schemas.microsoft.com/office/drawing/2014/main" val="10000"/>
                  </a:ext>
                </a:extLst>
              </a:tr>
              <a:tr h="509588">
                <a:tc>
                  <a:txBody>
                    <a:bodyPr/>
                    <a:lstStyle/>
                    <a:p>
                      <a:r>
                        <a:rPr sz="878">
                          <a:solidFill>
                            <a:srgbClr val="5B5B5B"/>
                          </a:solidFill>
                          <a:latin typeface="Yu Gothic"/>
                          <a:ea typeface="Yu Gothic"/>
                          <a:cs typeface="Yu Gothic"/>
                        </a:rPr>
                        <a:t>CAEは高忠実度だがoffline</a:t>
                      </a:r>
                    </a:p>
                  </a:txBody>
                  <a:tcPr>
                    <a:solidFill>
                      <a:srgbClr val="FFFFFF"/>
                    </a:solidFill>
                  </a:tcPr>
                </a:tc>
                <a:tc>
                  <a:txBody>
                    <a:bodyPr/>
                    <a:lstStyle/>
                    <a:p>
                      <a:r>
                        <a:rPr sz="878">
                          <a:solidFill>
                            <a:srgbClr val="5B5B5B"/>
                          </a:solidFill>
                          <a:latin typeface="Yu Gothic"/>
                          <a:ea typeface="Yu Gothic"/>
                          <a:cs typeface="Yu Gothic"/>
                        </a:rPr>
                        <a:t>recipe変更ごとの再計算が重い</a:t>
                      </a:r>
                    </a:p>
                  </a:txBody>
                  <a:tcPr>
                    <a:solidFill>
                      <a:srgbClr val="FFFFFF"/>
                    </a:solidFill>
                  </a:tcPr>
                </a:tc>
                <a:tc>
                  <a:txBody>
                    <a:bodyPr/>
                    <a:lstStyle/>
                    <a:p>
                      <a:r>
                        <a:rPr sz="878">
                          <a:solidFill>
                            <a:srgbClr val="5B5B5B"/>
                          </a:solidFill>
                          <a:latin typeface="Yu Gothic"/>
                          <a:ea typeface="Yu Gothic"/>
                          <a:cs typeface="Yu Gothic"/>
                        </a:rPr>
                        <a:t>学習済みartifactで高速rollout</a:t>
                      </a:r>
                    </a:p>
                  </a:txBody>
                  <a:tcPr>
                    <a:solidFill>
                      <a:srgbClr val="FFFFFF"/>
                    </a:solidFill>
                  </a:tcPr>
                </a:tc>
                <a:tc>
                  <a:txBody>
                    <a:bodyPr/>
                    <a:lstStyle/>
                    <a:p>
                      <a:r>
                        <a:rPr sz="878">
                          <a:solidFill>
                            <a:srgbClr val="5B5B5B"/>
                          </a:solidFill>
                          <a:latin typeface="Yu Gothic"/>
                          <a:ea typeface="Yu Gothic"/>
                          <a:cs typeface="Yu Gothic"/>
                        </a:rPr>
                        <a:t>形状・物性変更時は再CAE</a:t>
                      </a:r>
                    </a:p>
                  </a:txBody>
                  <a:tcPr>
                    <a:solidFill>
                      <a:srgbClr val="FFFFFF"/>
                    </a:solidFill>
                  </a:tcPr>
                </a:tc>
                <a:extLst>
                  <a:ext uri="{0D108BD9-81ED-4DB2-BD59-A6C34878D82A}">
                    <a16:rowId xmlns:a16="http://schemas.microsoft.com/office/drawing/2014/main" val="10001"/>
                  </a:ext>
                </a:extLst>
              </a:tr>
              <a:tr h="509588">
                <a:tc>
                  <a:txBody>
                    <a:bodyPr/>
                    <a:lstStyle/>
                    <a:p>
                      <a:r>
                        <a:rPr sz="878">
                          <a:solidFill>
                            <a:srgbClr val="5B5B5B"/>
                          </a:solidFill>
                          <a:latin typeface="Yu Gothic"/>
                          <a:ea typeface="Yu Gothic"/>
                          <a:cs typeface="Yu Gothic"/>
                        </a:rPr>
                        <a:t>sensorは局所・疎・非同期</a:t>
                      </a:r>
                    </a:p>
                  </a:txBody>
                  <a:tcPr>
                    <a:solidFill>
                      <a:srgbClr val="F8F8F8"/>
                    </a:solidFill>
                  </a:tcPr>
                </a:tc>
                <a:tc>
                  <a:txBody>
                    <a:bodyPr/>
                    <a:lstStyle/>
                    <a:p>
                      <a:r>
                        <a:rPr sz="878">
                          <a:solidFill>
                            <a:srgbClr val="5B5B5B"/>
                          </a:solidFill>
                          <a:latin typeface="Yu Gothic"/>
                          <a:ea typeface="Yu Gothic"/>
                          <a:cs typeface="Yu Gothic"/>
                        </a:rPr>
                        <a:t>内部温度と遅れが直接見えない</a:t>
                      </a:r>
                    </a:p>
                  </a:txBody>
                  <a:tcPr>
                    <a:solidFill>
                      <a:srgbClr val="F8F8F8"/>
                    </a:solidFill>
                  </a:tcPr>
                </a:tc>
                <a:tc>
                  <a:txBody>
                    <a:bodyPr/>
                    <a:lstStyle/>
                    <a:p>
                      <a:r>
                        <a:rPr sz="878">
                          <a:solidFill>
                            <a:srgbClr val="5B5B5B"/>
                          </a:solidFill>
                          <a:latin typeface="Yu Gothic"/>
                          <a:ea typeface="Yu Gothic"/>
                          <a:cs typeface="Yu Gothic"/>
                        </a:rPr>
                        <a:t>観測写像Hとactuator stateで推定</a:t>
                      </a:r>
                    </a:p>
                  </a:txBody>
                  <a:tcPr>
                    <a:solidFill>
                      <a:srgbClr val="F8F8F8"/>
                    </a:solidFill>
                  </a:tcPr>
                </a:tc>
                <a:tc>
                  <a:txBody>
                    <a:bodyPr/>
                    <a:lstStyle/>
                    <a:p>
                      <a:r>
                        <a:rPr sz="878">
                          <a:solidFill>
                            <a:srgbClr val="5B5B5B"/>
                          </a:solidFill>
                          <a:latin typeface="Yu Gothic"/>
                          <a:ea typeface="Yu Gothic"/>
                          <a:cs typeface="Yu Gothic"/>
                        </a:rPr>
                        <a:t>observabilityと校正基準</a:t>
                      </a:r>
                    </a:p>
                  </a:txBody>
                  <a:tcPr>
                    <a:solidFill>
                      <a:srgbClr val="F8F8F8"/>
                    </a:solidFill>
                  </a:tcPr>
                </a:tc>
                <a:extLst>
                  <a:ext uri="{0D108BD9-81ED-4DB2-BD59-A6C34878D82A}">
                    <a16:rowId xmlns:a16="http://schemas.microsoft.com/office/drawing/2014/main" val="10002"/>
                  </a:ext>
                </a:extLst>
              </a:tr>
              <a:tr h="509588">
                <a:tc>
                  <a:txBody>
                    <a:bodyPr/>
                    <a:lstStyle/>
                    <a:p>
                      <a:r>
                        <a:rPr sz="878">
                          <a:solidFill>
                            <a:srgbClr val="5B5B5B"/>
                          </a:solidFill>
                          <a:latin typeface="Yu Gothic"/>
                          <a:ea typeface="Yu Gothic"/>
                          <a:cs typeface="Yu Gothic"/>
                        </a:rPr>
                        <a:t>平均誤差が小さくてもmodel gapが残る</a:t>
                      </a:r>
                    </a:p>
                  </a:txBody>
                  <a:tcPr>
                    <a:solidFill>
                      <a:srgbClr val="FFFFFF"/>
                    </a:solidFill>
                  </a:tcPr>
                </a:tc>
                <a:tc>
                  <a:txBody>
                    <a:bodyPr/>
                    <a:lstStyle/>
                    <a:p>
                      <a:r>
                        <a:rPr sz="878">
                          <a:solidFill>
                            <a:srgbClr val="5B5B5B"/>
                          </a:solidFill>
                          <a:latin typeface="Yu Gothic"/>
                          <a:ea typeface="Yu Gothic"/>
                          <a:cs typeface="Yu Gothic"/>
                        </a:rPr>
                        <a:t>hotspot・放射感度を過小評価</a:t>
                      </a:r>
                    </a:p>
                  </a:txBody>
                  <a:tcPr>
                    <a:solidFill>
                      <a:srgbClr val="FFFFFF"/>
                    </a:solidFill>
                  </a:tcPr>
                </a:tc>
                <a:tc>
                  <a:txBody>
                    <a:bodyPr/>
                    <a:lstStyle/>
                    <a:p>
                      <a:r>
                        <a:rPr sz="878">
                          <a:solidFill>
                            <a:srgbClr val="5B5B5B"/>
                          </a:solidFill>
                          <a:latin typeface="Yu Gothic"/>
                          <a:ea typeface="Yu Gothic"/>
                          <a:cs typeface="Yu Gothic"/>
                        </a:rPr>
                        <a:t>holdout・negative control・coverage表</a:t>
                      </a:r>
                    </a:p>
                  </a:txBody>
                  <a:tcPr>
                    <a:solidFill>
                      <a:srgbClr val="FFFFFF"/>
                    </a:solidFill>
                  </a:tcPr>
                </a:tc>
                <a:tc>
                  <a:txBody>
                    <a:bodyPr/>
                    <a:lstStyle/>
                    <a:p>
                      <a:r>
                        <a:rPr sz="878">
                          <a:solidFill>
                            <a:srgbClr val="5B5B5B"/>
                          </a:solidFill>
                          <a:latin typeface="Yu Gothic"/>
                          <a:ea typeface="Yu Gothic"/>
                          <a:cs typeface="Yu Gothic"/>
                        </a:rPr>
                        <a:t>local fieldと製品margin</a:t>
                      </a:r>
                    </a:p>
                  </a:txBody>
                  <a:tcPr>
                    <a:solidFill>
                      <a:srgbClr val="FFFFFF"/>
                    </a:solidFill>
                  </a:tcPr>
                </a:tc>
                <a:extLst>
                  <a:ext uri="{0D108BD9-81ED-4DB2-BD59-A6C34878D82A}">
                    <a16:rowId xmlns:a16="http://schemas.microsoft.com/office/drawing/2014/main" val="10003"/>
                  </a:ext>
                </a:extLst>
              </a:tr>
            </a:tbl>
          </a:graphicData>
        </a:graphic>
      </p:graphicFrame>
      <p:sp>
        <p:nvSpPr>
          <p:cNvPr id="46" name="正方形/長方形 45">
            <a:extLst>
              <a:ext uri="{FF2B5EF4-FFF2-40B4-BE49-F238E27FC236}">
                <a16:creationId xmlns:a16="http://schemas.microsoft.com/office/drawing/2014/main" id="{85D2A08E-9AB3-4181-8FE7-EC3C85038B6A}"/>
              </a:ext>
            </a:extLst>
          </p:cNvPr>
          <p:cNvSpPr>
            <a:spLocks noGrp="1"/>
          </p:cNvSpPr>
          <p:nvPr/>
        </p:nvSpPr>
        <p:spPr>
          <a:xfrm>
            <a:off x="552450" y="5857875"/>
            <a:ext cx="11087100" cy="390525"/>
          </a:xfrm>
          <a:prstGeom prst="rect">
            <a:avLst/>
          </a:prstGeom>
          <a:solidFill>
            <a:srgbClr val="201445"/>
          </a:solidFill>
          <a:ln w="0">
            <a:noFill/>
            <a:prstDash val="solid"/>
          </a:ln>
        </p:spPr>
      </p:sp>
      <p:sp>
        <p:nvSpPr>
          <p:cNvPr id="47" name="正方形/長方形 46">
            <a:extLst>
              <a:ext uri="{FF2B5EF4-FFF2-40B4-BE49-F238E27FC236}">
                <a16:creationId xmlns:a16="http://schemas.microsoft.com/office/drawing/2014/main" id="{39785A5D-6D92-44DC-B80E-B2CA6AA93925}"/>
              </a:ext>
            </a:extLst>
          </p:cNvPr>
          <p:cNvSpPr>
            <a:spLocks noGrp="1"/>
          </p:cNvSpPr>
          <p:nvPr/>
        </p:nvSpPr>
        <p:spPr>
          <a:xfrm>
            <a:off x="723900" y="5924550"/>
            <a:ext cx="10744200" cy="228600"/>
          </a:xfrm>
          <a:prstGeom prst="rect">
            <a:avLst/>
          </a:prstGeom>
          <a:noFill/>
          <a:ln w="0">
            <a:noFill/>
            <a:prstDash val="solid"/>
          </a:ln>
        </p:spPr>
        <p:txBody>
          <a:bodyPr wrap="square" lIns="28575" tIns="19050" rIns="28575" bIns="19050" anchor="ctr">
            <a:normAutofit/>
          </a:bodyPr>
          <a:lstStyle/>
          <a:p>
            <a:pPr algn="ctr">
              <a:lnSpc>
                <a:spcPct val="100000"/>
              </a:lnSpc>
              <a:buNone/>
              <a:defRPr sz="938" b="1" i="0">
                <a:solidFill>
                  <a:srgbClr val="FFFFFF"/>
                </a:solidFill>
                <a:latin typeface="Yu Gothic"/>
                <a:ea typeface="Yu Gothic"/>
                <a:cs typeface="Yu Gothic"/>
              </a:defRPr>
            </a:pPr>
            <a:r>
              <a:rPr sz="938" b="1" i="0">
                <a:solidFill>
                  <a:srgbClr val="FFFFFF"/>
                </a:solidFill>
                <a:latin typeface="Yu Gothic"/>
                <a:ea typeface="Yu Gothic"/>
                <a:cs typeface="Yu Gothic"/>
              </a:rPr>
              <a:t>設計原則：高忠実度modelを置き換えるのではなく、同じ検証境界の中で高速な意思決定層を追加する。</a:t>
            </a:r>
          </a:p>
        </p:txBody>
      </p:sp>
    </p:spTree>
    <p:extLst>
      <p:ext uri="{BB962C8B-B14F-4D97-AF65-F5344CB8AC3E}">
        <p14:creationId xmlns:p14="http://schemas.microsoft.com/office/powerpoint/2010/main" val="14052059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正方形/長方形 22">
            <a:extLst>
              <a:ext uri="{FF2B5EF4-FFF2-40B4-BE49-F238E27FC236}">
                <a16:creationId xmlns:a16="http://schemas.microsoft.com/office/drawing/2014/main" id="{F75E78BF-3F7B-41FC-A824-B5C38C47F460}"/>
              </a:ext>
            </a:extLst>
          </p:cNvPr>
          <p:cNvSpPr>
            <a:spLocks noGrp="1"/>
          </p:cNvSpPr>
          <p:nvPr/>
        </p:nvSpPr>
        <p:spPr>
          <a:xfrm>
            <a:off x="552450" y="190500"/>
            <a:ext cx="76200" cy="142875"/>
          </a:xfrm>
          <a:prstGeom prst="rect">
            <a:avLst/>
          </a:prstGeom>
          <a:solidFill>
            <a:srgbClr val="76BE18"/>
          </a:solidFill>
          <a:ln w="0">
            <a:noFill/>
            <a:prstDash val="solid"/>
          </a:ln>
        </p:spPr>
      </p:sp>
      <p:sp>
        <p:nvSpPr>
          <p:cNvPr id="2" name="正方形/長方形 1">
            <a:extLst>
              <a:ext uri="{FF2B5EF4-FFF2-40B4-BE49-F238E27FC236}">
                <a16:creationId xmlns:a16="http://schemas.microsoft.com/office/drawing/2014/main" id="{7B26BCE3-8C6A-455E-B15E-017EEADD8A8C}"/>
              </a:ext>
            </a:extLst>
          </p:cNvPr>
          <p:cNvSpPr>
            <a:spLocks noGrp="1"/>
          </p:cNvSpPr>
          <p:nvPr/>
        </p:nvSpPr>
        <p:spPr>
          <a:xfrm>
            <a:off x="704850" y="161925"/>
            <a:ext cx="3429000" cy="190500"/>
          </a:xfrm>
          <a:prstGeom prst="rect">
            <a:avLst/>
          </a:prstGeom>
          <a:noFill/>
          <a:ln w="0">
            <a:noFill/>
            <a:prstDash val="solid"/>
          </a:ln>
        </p:spPr>
        <p:txBody>
          <a:bodyPr wrap="none" lIns="28575" tIns="19050" rIns="28575" bIns="19050" anchor="ctr">
            <a:noAutofit/>
          </a:bodyPr>
          <a:lstStyle/>
          <a:p>
            <a:pPr algn="l">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PURPOSE</a:t>
            </a:r>
          </a:p>
        </p:txBody>
      </p:sp>
      <p:sp>
        <p:nvSpPr>
          <p:cNvPr id="3" name="正方形/長方形 2">
            <a:extLst>
              <a:ext uri="{FF2B5EF4-FFF2-40B4-BE49-F238E27FC236}">
                <a16:creationId xmlns:a16="http://schemas.microsoft.com/office/drawing/2014/main" id="{ADDB6D61-FB08-43AC-AEDB-18B29B19D757}"/>
              </a:ext>
            </a:extLst>
          </p:cNvPr>
          <p:cNvSpPr>
            <a:spLocks noGrp="1"/>
          </p:cNvSpPr>
          <p:nvPr/>
        </p:nvSpPr>
        <p:spPr>
          <a:xfrm>
            <a:off x="552450" y="400050"/>
            <a:ext cx="11001375" cy="400050"/>
          </a:xfrm>
          <a:prstGeom prst="rect">
            <a:avLst/>
          </a:prstGeom>
          <a:noFill/>
          <a:ln w="0">
            <a:noFill/>
            <a:prstDash val="solid"/>
          </a:ln>
        </p:spPr>
        <p:txBody>
          <a:bodyPr wrap="none" lIns="19050" tIns="0" rIns="19050" bIns="0" anchor="ctr">
            <a:normAutofit/>
          </a:bodyPr>
          <a:lstStyle/>
          <a:p>
            <a:pPr algn="l">
              <a:lnSpc>
                <a:spcPct val="100000"/>
              </a:lnSpc>
              <a:buNone/>
              <a:defRPr sz="2175" b="1" i="0">
                <a:solidFill>
                  <a:srgbClr val="00A5D8"/>
                </a:solidFill>
                <a:latin typeface="Yu Gothic"/>
                <a:ea typeface="Yu Gothic"/>
                <a:cs typeface="Yu Gothic"/>
              </a:defRPr>
            </a:pPr>
            <a:r>
              <a:rPr sz="2175" b="1" i="0">
                <a:solidFill>
                  <a:srgbClr val="00A5D8"/>
                </a:solidFill>
                <a:latin typeface="Yu Gothic"/>
                <a:ea typeface="Yu Gothic"/>
                <a:cs typeface="Yu Gothic"/>
              </a:rPr>
              <a:t>本コードの目的は、同一の熱状態定義で同定・予測・監視を再現可能に実行すること</a:t>
            </a:r>
          </a:p>
        </p:txBody>
      </p:sp>
      <p:sp>
        <p:nvSpPr>
          <p:cNvPr id="4" name="正方形/長方形 3">
            <a:extLst>
              <a:ext uri="{FF2B5EF4-FFF2-40B4-BE49-F238E27FC236}">
                <a16:creationId xmlns:a16="http://schemas.microsoft.com/office/drawing/2014/main" id="{59086A2D-1A14-4F82-B81E-203D32837A9C}"/>
              </a:ext>
            </a:extLst>
          </p:cNvPr>
          <p:cNvSpPr>
            <a:spLocks noGrp="1"/>
          </p:cNvSpPr>
          <p:nvPr/>
        </p:nvSpPr>
        <p:spPr>
          <a:xfrm>
            <a:off x="571500" y="838200"/>
            <a:ext cx="10906125" cy="228600"/>
          </a:xfrm>
          <a:prstGeom prst="rect">
            <a:avLst/>
          </a:prstGeom>
          <a:noFill/>
          <a:ln w="0">
            <a:noFill/>
            <a:prstDash val="solid"/>
          </a:ln>
        </p:spPr>
        <p:txBody>
          <a:bodyPr wrap="none" lIns="28575" tIns="19050" rIns="28575" bIns="19050" anchor="ctr">
            <a:noAutofit/>
          </a:bodyPr>
          <a:lstStyle/>
          <a:p>
            <a:pPr algn="l">
              <a:lnSpc>
                <a:spcPct val="100000"/>
              </a:lnSpc>
              <a:buNone/>
              <a:defRPr sz="975" b="0" i="0">
                <a:solidFill>
                  <a:srgbClr val="5B5B5B"/>
                </a:solidFill>
                <a:latin typeface="Yu Gothic"/>
                <a:ea typeface="Yu Gothic"/>
                <a:cs typeface="Yu Gothic"/>
              </a:defRPr>
            </a:pPr>
            <a:r>
              <a:rPr sz="975" b="0" i="0">
                <a:solidFill>
                  <a:srgbClr val="5B5B5B"/>
                </a:solidFill>
                <a:latin typeface="Yu Gothic"/>
                <a:ea typeface="Yu Gothic"/>
                <a:cs typeface="Yu Gothic"/>
              </a:rPr>
              <a:t>精度だけでなく、因果性、物理単位、artifact来歴、適用範囲を成果物として残す</a:t>
            </a:r>
          </a:p>
        </p:txBody>
      </p:sp>
      <p:sp>
        <p:nvSpPr>
          <p:cNvPr id="5" name="直線コネクタ 4">
            <a:extLst>
              <a:ext uri="{FF2B5EF4-FFF2-40B4-BE49-F238E27FC236}">
                <a16:creationId xmlns:a16="http://schemas.microsoft.com/office/drawing/2014/main" id="{94FC2C3A-D5DB-476B-A85E-07B32CCE2D2E}"/>
              </a:ext>
            </a:extLst>
          </p:cNvPr>
          <p:cNvSpPr>
            <a:spLocks noGrp="1"/>
          </p:cNvSpPr>
          <p:nvPr/>
        </p:nvSpPr>
        <p:spPr>
          <a:xfrm>
            <a:off x="552450" y="1152525"/>
            <a:ext cx="11087100" cy="0"/>
          </a:xfrm>
          <a:prstGeom prst="line">
            <a:avLst/>
          </a:prstGeom>
          <a:noFill/>
          <a:ln w="9525">
            <a:solidFill>
              <a:srgbClr val="D6D6D6"/>
            </a:solidFill>
            <a:prstDash val="solid"/>
          </a:ln>
        </p:spPr>
      </p:sp>
      <p:sp>
        <p:nvSpPr>
          <p:cNvPr id="6" name="直線コネクタ 5">
            <a:extLst>
              <a:ext uri="{FF2B5EF4-FFF2-40B4-BE49-F238E27FC236}">
                <a16:creationId xmlns:a16="http://schemas.microsoft.com/office/drawing/2014/main" id="{92219CB7-7FF0-4CC0-AE9B-CC7555342162}"/>
              </a:ext>
            </a:extLst>
          </p:cNvPr>
          <p:cNvSpPr>
            <a:spLocks noGrp="1"/>
          </p:cNvSpPr>
          <p:nvPr/>
        </p:nvSpPr>
        <p:spPr>
          <a:xfrm>
            <a:off x="552450" y="6438900"/>
            <a:ext cx="11087100" cy="0"/>
          </a:xfrm>
          <a:prstGeom prst="line">
            <a:avLst/>
          </a:prstGeom>
          <a:noFill/>
          <a:ln w="9525">
            <a:solidFill>
              <a:srgbClr val="D6D6D6"/>
            </a:solidFill>
            <a:prstDash val="solid"/>
          </a:ln>
        </p:spPr>
      </p:sp>
      <p:sp>
        <p:nvSpPr>
          <p:cNvPr id="7" name="正方形/長方形 6">
            <a:extLst>
              <a:ext uri="{FF2B5EF4-FFF2-40B4-BE49-F238E27FC236}">
                <a16:creationId xmlns:a16="http://schemas.microsoft.com/office/drawing/2014/main" id="{BCF995BA-6707-49DC-8467-AADA4B44596A}"/>
              </a:ext>
            </a:extLst>
          </p:cNvPr>
          <p:cNvSpPr>
            <a:spLocks noGrp="1"/>
          </p:cNvSpPr>
          <p:nvPr/>
        </p:nvSpPr>
        <p:spPr>
          <a:xfrm>
            <a:off x="571500" y="6505575"/>
            <a:ext cx="5334000" cy="171450"/>
          </a:xfrm>
          <a:prstGeom prst="rect">
            <a:avLst/>
          </a:prstGeom>
          <a:noFill/>
          <a:ln w="0">
            <a:noFill/>
            <a:prstDash val="solid"/>
          </a:ln>
        </p:spPr>
        <p:txBody>
          <a:bodyPr wrap="none" lIns="28575" tIns="19050" rIns="28575" bIns="19050" anchor="ctr">
            <a:noAutofit/>
          </a:bodyPr>
          <a:lstStyle/>
          <a:p>
            <a:pPr algn="l">
              <a:lnSpc>
                <a:spcPct val="100000"/>
              </a:lnSpc>
              <a:buNone/>
              <a:defRPr sz="713" b="0" i="0">
                <a:solidFill>
                  <a:srgbClr val="777777"/>
                </a:solidFill>
                <a:latin typeface="Yu Gothic"/>
                <a:ea typeface="Yu Gothic"/>
                <a:cs typeface="Yu Gothic"/>
              </a:defRPr>
            </a:pPr>
            <a:r>
              <a:rPr sz="713" b="0" i="0">
                <a:solidFill>
                  <a:srgbClr val="777777"/>
                </a:solidFill>
                <a:latin typeface="Yu Gothic"/>
                <a:ea typeface="Yu Gothic"/>
                <a:cs typeface="Yu Gothic"/>
              </a:rPr>
              <a:t>THERMAL RC / EQUIPMENT ENGINEERING REVIEW  ·  2026-09-17</a:t>
            </a:r>
          </a:p>
        </p:txBody>
      </p:sp>
      <p:sp>
        <p:nvSpPr>
          <p:cNvPr id="8" name="正方形/長方形 7">
            <a:extLst>
              <a:ext uri="{FF2B5EF4-FFF2-40B4-BE49-F238E27FC236}">
                <a16:creationId xmlns:a16="http://schemas.microsoft.com/office/drawing/2014/main" id="{C2419321-4E35-4FF2-B5EF-781E619C24FA}"/>
              </a:ext>
            </a:extLst>
          </p:cNvPr>
          <p:cNvSpPr>
            <a:spLocks noGrp="1"/>
          </p:cNvSpPr>
          <p:nvPr/>
        </p:nvSpPr>
        <p:spPr>
          <a:xfrm>
            <a:off x="11125200" y="6496050"/>
            <a:ext cx="476250" cy="171450"/>
          </a:xfrm>
          <a:prstGeom prst="rect">
            <a:avLst/>
          </a:prstGeom>
          <a:noFill/>
          <a:ln w="0">
            <a:noFill/>
            <a:prstDash val="solid"/>
          </a:ln>
        </p:spPr>
        <p:txBody>
          <a:bodyPr wrap="square" lIns="28575" tIns="19050" rIns="28575" bIns="19050" anchor="ctr">
            <a:noAutofit/>
          </a:bodyPr>
          <a:lstStyle/>
          <a:p>
            <a:pPr algn="r">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3</a:t>
            </a:r>
          </a:p>
        </p:txBody>
      </p:sp>
      <p:graphicFrame>
        <p:nvGraphicFramePr>
          <p:cNvPr id="31" name="表 30"/>
          <p:cNvGraphicFramePr/>
          <p:nvPr/>
        </p:nvGraphicFramePr>
        <p:xfrm>
          <a:off x="552450" y="1457325"/>
          <a:ext cx="11087100" cy="2876550"/>
        </p:xfrm>
        <a:graphic>
          <a:graphicData uri="http://schemas.openxmlformats.org/drawingml/2006/table">
            <a:tbl>
              <a:tblPr/>
              <a:tblGrid>
                <a:gridCol w="1809750">
                  <a:extLst>
                    <a:ext uri="{9D8B030D-6E8A-4147-A177-3AD203B41FA5}">
                      <a16:colId xmlns:a16="http://schemas.microsoft.com/office/drawing/2014/main" val="20000"/>
                    </a:ext>
                  </a:extLst>
                </a:gridCol>
                <a:gridCol w="2190750">
                  <a:extLst>
                    <a:ext uri="{9D8B030D-6E8A-4147-A177-3AD203B41FA5}">
                      <a16:colId xmlns:a16="http://schemas.microsoft.com/office/drawing/2014/main" val="20001"/>
                    </a:ext>
                  </a:extLst>
                </a:gridCol>
                <a:gridCol w="2762250">
                  <a:extLst>
                    <a:ext uri="{9D8B030D-6E8A-4147-A177-3AD203B41FA5}">
                      <a16:colId xmlns:a16="http://schemas.microsoft.com/office/drawing/2014/main" val="20002"/>
                    </a:ext>
                  </a:extLst>
                </a:gridCol>
                <a:gridCol w="2647950">
                  <a:extLst>
                    <a:ext uri="{9D8B030D-6E8A-4147-A177-3AD203B41FA5}">
                      <a16:colId xmlns:a16="http://schemas.microsoft.com/office/drawing/2014/main" val="20003"/>
                    </a:ext>
                  </a:extLst>
                </a:gridCol>
                <a:gridCol w="1676400">
                  <a:extLst>
                    <a:ext uri="{9D8B030D-6E8A-4147-A177-3AD203B41FA5}">
                      <a16:colId xmlns:a16="http://schemas.microsoft.com/office/drawing/2014/main" val="20004"/>
                    </a:ext>
                  </a:extLst>
                </a:gridCol>
              </a:tblGrid>
              <a:tr h="575310">
                <a:tc>
                  <a:txBody>
                    <a:bodyPr/>
                    <a:lstStyle/>
                    <a:p>
                      <a:r>
                        <a:rPr sz="938" b="1">
                          <a:solidFill>
                            <a:srgbClr val="FFFFFF"/>
                          </a:solidFill>
                          <a:latin typeface="Yu Gothic"/>
                          <a:ea typeface="Yu Gothic"/>
                          <a:cs typeface="Yu Gothic"/>
                        </a:rPr>
                        <a:t>目的</a:t>
                      </a:r>
                    </a:p>
                  </a:txBody>
                  <a:tcPr>
                    <a:solidFill>
                      <a:srgbClr val="00A5D8"/>
                    </a:solidFill>
                  </a:tcPr>
                </a:tc>
                <a:tc>
                  <a:txBody>
                    <a:bodyPr/>
                    <a:lstStyle/>
                    <a:p>
                      <a:r>
                        <a:rPr sz="938" b="1">
                          <a:solidFill>
                            <a:srgbClr val="FFFFFF"/>
                          </a:solidFill>
                          <a:latin typeface="Yu Gothic"/>
                          <a:ea typeface="Yu Gothic"/>
                          <a:cs typeface="Yu Gothic"/>
                        </a:rPr>
                        <a:t>入力</a:t>
                      </a:r>
                    </a:p>
                  </a:txBody>
                  <a:tcPr>
                    <a:solidFill>
                      <a:srgbClr val="00A5D8"/>
                    </a:solidFill>
                  </a:tcPr>
                </a:tc>
                <a:tc>
                  <a:txBody>
                    <a:bodyPr/>
                    <a:lstStyle/>
                    <a:p>
                      <a:r>
                        <a:rPr sz="938" b="1">
                          <a:solidFill>
                            <a:srgbClr val="FFFFFF"/>
                          </a:solidFill>
                          <a:latin typeface="Yu Gothic"/>
                          <a:ea typeface="Yu Gothic"/>
                          <a:cs typeface="Yu Gothic"/>
                        </a:rPr>
                        <a:t>処理責務</a:t>
                      </a:r>
                    </a:p>
                  </a:txBody>
                  <a:tcPr>
                    <a:solidFill>
                      <a:srgbClr val="00A5D8"/>
                    </a:solidFill>
                  </a:tcPr>
                </a:tc>
                <a:tc>
                  <a:txBody>
                    <a:bodyPr/>
                    <a:lstStyle/>
                    <a:p>
                      <a:r>
                        <a:rPr sz="938" b="1">
                          <a:solidFill>
                            <a:srgbClr val="FFFFFF"/>
                          </a:solidFill>
                          <a:latin typeface="Yu Gothic"/>
                          <a:ea typeface="Yu Gothic"/>
                          <a:cs typeface="Yu Gothic"/>
                        </a:rPr>
                        <a:t>主要出力</a:t>
                      </a:r>
                    </a:p>
                  </a:txBody>
                  <a:tcPr>
                    <a:solidFill>
                      <a:srgbClr val="00A5D8"/>
                    </a:solidFill>
                  </a:tcPr>
                </a:tc>
                <a:tc>
                  <a:txBody>
                    <a:bodyPr/>
                    <a:lstStyle/>
                    <a:p>
                      <a:r>
                        <a:rPr sz="938" b="1">
                          <a:solidFill>
                            <a:srgbClr val="FFFFFF"/>
                          </a:solidFill>
                          <a:latin typeface="Yu Gothic"/>
                          <a:ea typeface="Yu Gothic"/>
                          <a:cs typeface="Yu Gothic"/>
                        </a:rPr>
                        <a:t>成立条件</a:t>
                      </a:r>
                    </a:p>
                  </a:txBody>
                  <a:tcPr>
                    <a:solidFill>
                      <a:srgbClr val="00A5D8"/>
                    </a:solidFill>
                  </a:tcPr>
                </a:tc>
                <a:extLst>
                  <a:ext uri="{0D108BD9-81ED-4DB2-BD59-A6C34878D82A}">
                    <a16:rowId xmlns:a16="http://schemas.microsoft.com/office/drawing/2014/main" val="10000"/>
                  </a:ext>
                </a:extLst>
              </a:tr>
              <a:tr h="575310">
                <a:tc>
                  <a:txBody>
                    <a:bodyPr/>
                    <a:lstStyle/>
                    <a:p>
                      <a:r>
                        <a:rPr sz="855" b="1">
                          <a:solidFill>
                            <a:srgbClr val="007FA8"/>
                          </a:solidFill>
                          <a:latin typeface="Yu Gothic"/>
                          <a:ea typeface="Yu Gothic"/>
                          <a:cs typeface="Yu Gothic"/>
                        </a:rPr>
                        <a:t>物理係数の同定</a:t>
                      </a:r>
                    </a:p>
                  </a:txBody>
                  <a:tcPr>
                    <a:solidFill>
                      <a:srgbClr val="FFFFFF"/>
                    </a:solidFill>
                  </a:tcPr>
                </a:tc>
                <a:tc>
                  <a:txBody>
                    <a:bodyPr/>
                    <a:lstStyle/>
                    <a:p>
                      <a:r>
                        <a:rPr sz="855">
                          <a:solidFill>
                            <a:srgbClr val="5B5B5B"/>
                          </a:solidFill>
                          <a:latin typeface="Yu Gothic"/>
                          <a:ea typeface="Yu Gothic"/>
                          <a:cs typeface="Yu Gothic"/>
                        </a:rPr>
                        <a:t>複数trajectory CSV</a:t>
                      </a:r>
                    </a:p>
                  </a:txBody>
                  <a:tcPr>
                    <a:solidFill>
                      <a:srgbClr val="FFFFFF"/>
                    </a:solidFill>
                  </a:tcPr>
                </a:tc>
                <a:tc>
                  <a:txBody>
                    <a:bodyPr/>
                    <a:lstStyle/>
                    <a:p>
                      <a:r>
                        <a:rPr sz="855">
                          <a:solidFill>
                            <a:srgbClr val="5B5B5B"/>
                          </a:solidFill>
                          <a:latin typeface="Yu Gothic"/>
                          <a:ea typeface="Yu Gothic"/>
                          <a:cs typeface="Yu Gothic"/>
                        </a:rPr>
                        <a:t>full/window rollout + robust最適化</a:t>
                      </a:r>
                    </a:p>
                  </a:txBody>
                  <a:tcPr>
                    <a:solidFill>
                      <a:srgbClr val="FFFFFF"/>
                    </a:solidFill>
                  </a:tcPr>
                </a:tc>
                <a:tc>
                  <a:txBody>
                    <a:bodyPr/>
                    <a:lstStyle/>
                    <a:p>
                      <a:r>
                        <a:rPr sz="855">
                          <a:solidFill>
                            <a:srgbClr val="5B5B5B"/>
                          </a:solidFill>
                          <a:latin typeface="Yu Gothic"/>
                          <a:ea typeface="Yu Gothic"/>
                          <a:cs typeface="Yu Gothic"/>
                        </a:rPr>
                        <a:t>G・q・τ、holdout指標</a:t>
                      </a:r>
                    </a:p>
                  </a:txBody>
                  <a:tcPr>
                    <a:solidFill>
                      <a:srgbClr val="FFFFFF"/>
                    </a:solidFill>
                  </a:tcPr>
                </a:tc>
                <a:tc>
                  <a:txBody>
                    <a:bodyPr/>
                    <a:lstStyle/>
                    <a:p>
                      <a:r>
                        <a:rPr sz="855">
                          <a:solidFill>
                            <a:srgbClr val="5B5B5B"/>
                          </a:solidFill>
                          <a:latin typeface="Yu Gothic"/>
                          <a:ea typeface="Yu Gothic"/>
                          <a:cs typeface="Yu Gothic"/>
                        </a:rPr>
                        <a:t>独立励振と観測可能性</a:t>
                      </a:r>
                    </a:p>
                  </a:txBody>
                  <a:tcPr>
                    <a:solidFill>
                      <a:srgbClr val="FFFFFF"/>
                    </a:solidFill>
                  </a:tcPr>
                </a:tc>
                <a:extLst>
                  <a:ext uri="{0D108BD9-81ED-4DB2-BD59-A6C34878D82A}">
                    <a16:rowId xmlns:a16="http://schemas.microsoft.com/office/drawing/2014/main" val="10001"/>
                  </a:ext>
                </a:extLst>
              </a:tr>
              <a:tr h="575310">
                <a:tc>
                  <a:txBody>
                    <a:bodyPr/>
                    <a:lstStyle/>
                    <a:p>
                      <a:r>
                        <a:rPr sz="855" b="1">
                          <a:solidFill>
                            <a:srgbClr val="4D8710"/>
                          </a:solidFill>
                          <a:latin typeface="Yu Gothic"/>
                          <a:ea typeface="Yu Gothic"/>
                          <a:cs typeface="Yu Gothic"/>
                        </a:rPr>
                        <a:t>将来温度の予測</a:t>
                      </a:r>
                    </a:p>
                  </a:txBody>
                  <a:tcPr>
                    <a:solidFill>
                      <a:srgbClr val="F8F8F8"/>
                    </a:solidFill>
                  </a:tcPr>
                </a:tc>
                <a:tc>
                  <a:txBody>
                    <a:bodyPr/>
                    <a:lstStyle/>
                    <a:p>
                      <a:r>
                        <a:rPr sz="855">
                          <a:solidFill>
                            <a:srgbClr val="5B5B5B"/>
                          </a:solidFill>
                          <a:latin typeface="Yu Gothic"/>
                          <a:ea typeface="Yu Gothic"/>
                          <a:cs typeface="Yu Gothic"/>
                        </a:rPr>
                        <a:t>観測history + command suffix</a:t>
                      </a:r>
                    </a:p>
                  </a:txBody>
                  <a:tcPr>
                    <a:solidFill>
                      <a:srgbClr val="F8F8F8"/>
                    </a:solidFill>
                  </a:tcPr>
                </a:tc>
                <a:tc>
                  <a:txBody>
                    <a:bodyPr/>
                    <a:lstStyle/>
                    <a:p>
                      <a:r>
                        <a:rPr sz="855">
                          <a:solidFill>
                            <a:srgbClr val="5B5B5B"/>
                          </a:solidFill>
                          <a:latin typeface="Yu Gothic"/>
                          <a:ea typeface="Yu Gothic"/>
                          <a:cs typeface="Yu Gothic"/>
                        </a:rPr>
                        <a:t>history同化後のopen-loop積分</a:t>
                      </a:r>
                    </a:p>
                  </a:txBody>
                  <a:tcPr>
                    <a:solidFill>
                      <a:srgbClr val="F8F8F8"/>
                    </a:solidFill>
                  </a:tcPr>
                </a:tc>
                <a:tc>
                  <a:txBody>
                    <a:bodyPr/>
                    <a:lstStyle/>
                    <a:p>
                      <a:r>
                        <a:rPr sz="855">
                          <a:solidFill>
                            <a:srgbClr val="5B5B5B"/>
                          </a:solidFill>
                          <a:latin typeface="Yu Gothic"/>
                          <a:ea typeface="Yu Gothic"/>
                          <a:cs typeface="Yu Gothic"/>
                        </a:rPr>
                        <a:t>node/sensor温度、95%区間</a:t>
                      </a:r>
                    </a:p>
                  </a:txBody>
                  <a:tcPr>
                    <a:solidFill>
                      <a:srgbClr val="F8F8F8"/>
                    </a:solidFill>
                  </a:tcPr>
                </a:tc>
                <a:tc>
                  <a:txBody>
                    <a:bodyPr/>
                    <a:lstStyle/>
                    <a:p>
                      <a:r>
                        <a:rPr sz="855">
                          <a:solidFill>
                            <a:srgbClr val="5B5B5B"/>
                          </a:solidFill>
                          <a:latin typeface="Yu Gothic"/>
                          <a:ea typeface="Yu Gothic"/>
                          <a:cs typeface="Yu Gothic"/>
                        </a:rPr>
                        <a:t>未来観測の非混入</a:t>
                      </a:r>
                    </a:p>
                  </a:txBody>
                  <a:tcPr>
                    <a:solidFill>
                      <a:srgbClr val="F8F8F8"/>
                    </a:solidFill>
                  </a:tcPr>
                </a:tc>
                <a:extLst>
                  <a:ext uri="{0D108BD9-81ED-4DB2-BD59-A6C34878D82A}">
                    <a16:rowId xmlns:a16="http://schemas.microsoft.com/office/drawing/2014/main" val="10002"/>
                  </a:ext>
                </a:extLst>
              </a:tr>
              <a:tr h="575310">
                <a:tc>
                  <a:txBody>
                    <a:bodyPr/>
                    <a:lstStyle/>
                    <a:p>
                      <a:r>
                        <a:rPr sz="855" b="1">
                          <a:solidFill>
                            <a:srgbClr val="7B2DAF"/>
                          </a:solidFill>
                          <a:latin typeface="Yu Gothic"/>
                          <a:ea typeface="Yu Gothic"/>
                          <a:cs typeface="Yu Gothic"/>
                        </a:rPr>
                        <a:t>状態・異常の監視</a:t>
                      </a:r>
                    </a:p>
                  </a:txBody>
                  <a:tcPr>
                    <a:solidFill>
                      <a:srgbClr val="FFFFFF"/>
                    </a:solidFill>
                  </a:tcPr>
                </a:tc>
                <a:tc>
                  <a:txBody>
                    <a:bodyPr/>
                    <a:lstStyle/>
                    <a:p>
                      <a:r>
                        <a:rPr sz="855">
                          <a:solidFill>
                            <a:srgbClr val="5B5B5B"/>
                          </a:solidFill>
                          <a:latin typeface="Yu Gothic"/>
                          <a:ea typeface="Yu Gothic"/>
                          <a:cs typeface="Yu Gothic"/>
                        </a:rPr>
                        <a:t>実測温度 + 適用command</a:t>
                      </a:r>
                    </a:p>
                  </a:txBody>
                  <a:tcPr>
                    <a:solidFill>
                      <a:srgbClr val="FFFFFF"/>
                    </a:solidFill>
                  </a:tcPr>
                </a:tc>
                <a:tc>
                  <a:txBody>
                    <a:bodyPr/>
                    <a:lstStyle/>
                    <a:p>
                      <a:r>
                        <a:rPr sz="855">
                          <a:solidFill>
                            <a:srgbClr val="5B5B5B"/>
                          </a:solidFill>
                          <a:latin typeface="Yu Gothic"/>
                          <a:ea typeface="Yu Gothic"/>
                          <a:cs typeface="Yu Gothic"/>
                        </a:rPr>
                        <a:t>拡張Kalman observer</a:t>
                      </a:r>
                    </a:p>
                  </a:txBody>
                  <a:tcPr>
                    <a:solidFill>
                      <a:srgbClr val="FFFFFF"/>
                    </a:solidFill>
                  </a:tcPr>
                </a:tc>
                <a:tc>
                  <a:txBody>
                    <a:bodyPr/>
                    <a:lstStyle/>
                    <a:p>
                      <a:r>
                        <a:rPr sz="855">
                          <a:solidFill>
                            <a:srgbClr val="5B5B5B"/>
                          </a:solidFill>
                          <a:latin typeface="Yu Gothic"/>
                          <a:ea typeface="Yu Gothic"/>
                          <a:cs typeface="Yu Gothic"/>
                        </a:rPr>
                        <a:t>未知熱、相対bias、innovation、NIS</a:t>
                      </a:r>
                    </a:p>
                  </a:txBody>
                  <a:tcPr>
                    <a:solidFill>
                      <a:srgbClr val="FFFFFF"/>
                    </a:solidFill>
                  </a:tcPr>
                </a:tc>
                <a:tc>
                  <a:txBody>
                    <a:bodyPr/>
                    <a:lstStyle/>
                    <a:p>
                      <a:r>
                        <a:rPr sz="855">
                          <a:solidFill>
                            <a:srgbClr val="5B5B5B"/>
                          </a:solidFill>
                          <a:latin typeface="Yu Gothic"/>
                          <a:ea typeface="Yu Gothic"/>
                          <a:cs typeface="Yu Gothic"/>
                        </a:rPr>
                        <a:t>bias gaugeとnoise調整</a:t>
                      </a:r>
                    </a:p>
                  </a:txBody>
                  <a:tcPr>
                    <a:solidFill>
                      <a:srgbClr val="FFFFFF"/>
                    </a:solidFill>
                  </a:tcPr>
                </a:tc>
                <a:extLst>
                  <a:ext uri="{0D108BD9-81ED-4DB2-BD59-A6C34878D82A}">
                    <a16:rowId xmlns:a16="http://schemas.microsoft.com/office/drawing/2014/main" val="10003"/>
                  </a:ext>
                </a:extLst>
              </a:tr>
              <a:tr h="575310">
                <a:tc>
                  <a:txBody>
                    <a:bodyPr/>
                    <a:lstStyle/>
                    <a:p>
                      <a:r>
                        <a:rPr sz="855" b="1">
                          <a:solidFill>
                            <a:srgbClr val="E5A900"/>
                          </a:solidFill>
                          <a:latin typeface="Yu Gothic"/>
                          <a:ea typeface="Yu Gothic"/>
                          <a:cs typeface="Yu Gothic"/>
                        </a:rPr>
                        <a:t>監査可能な配備</a:t>
                      </a:r>
                    </a:p>
                  </a:txBody>
                  <a:tcPr>
                    <a:solidFill>
                      <a:srgbClr val="F8F8F8"/>
                    </a:solidFill>
                  </a:tcPr>
                </a:tc>
                <a:tc>
                  <a:txBody>
                    <a:bodyPr/>
                    <a:lstStyle/>
                    <a:p>
                      <a:r>
                        <a:rPr sz="855">
                          <a:solidFill>
                            <a:srgbClr val="5B5B5B"/>
                          </a:solidFill>
                          <a:latin typeface="Yu Gothic"/>
                          <a:ea typeface="Yu Gothic"/>
                          <a:cs typeface="Yu Gothic"/>
                        </a:rPr>
                        <a:t>system/config/artifact</a:t>
                      </a:r>
                    </a:p>
                  </a:txBody>
                  <a:tcPr>
                    <a:solidFill>
                      <a:srgbClr val="F8F8F8"/>
                    </a:solidFill>
                  </a:tcPr>
                </a:tc>
                <a:tc>
                  <a:txBody>
                    <a:bodyPr/>
                    <a:lstStyle/>
                    <a:p>
                      <a:r>
                        <a:rPr sz="855">
                          <a:solidFill>
                            <a:srgbClr val="5B5B5B"/>
                          </a:solidFill>
                          <a:latin typeface="Yu Gothic"/>
                          <a:ea typeface="Yu Gothic"/>
                          <a:cs typeface="Yu Gothic"/>
                        </a:rPr>
                        <a:t>hash検証・atomic出力</a:t>
                      </a:r>
                    </a:p>
                  </a:txBody>
                  <a:tcPr>
                    <a:solidFill>
                      <a:srgbClr val="F8F8F8"/>
                    </a:solidFill>
                  </a:tcPr>
                </a:tc>
                <a:tc>
                  <a:txBody>
                    <a:bodyPr/>
                    <a:lstStyle/>
                    <a:p>
                      <a:r>
                        <a:rPr sz="855">
                          <a:solidFill>
                            <a:srgbClr val="5B5B5B"/>
                          </a:solidFill>
                          <a:latin typeface="Yu Gothic"/>
                          <a:ea typeface="Yu Gothic"/>
                          <a:cs typeface="Yu Gothic"/>
                        </a:rPr>
                        <a:t>model.pt / YAML / metadata / manifest</a:t>
                      </a:r>
                    </a:p>
                  </a:txBody>
                  <a:tcPr>
                    <a:solidFill>
                      <a:srgbClr val="F8F8F8"/>
                    </a:solidFill>
                  </a:tcPr>
                </a:tc>
                <a:tc>
                  <a:txBody>
                    <a:bodyPr/>
                    <a:lstStyle/>
                    <a:p>
                      <a:r>
                        <a:rPr sz="855">
                          <a:solidFill>
                            <a:srgbClr val="5B5B5B"/>
                          </a:solidFill>
                          <a:latin typeface="Yu Gothic"/>
                          <a:ea typeface="Yu Gothic"/>
                          <a:cs typeface="Yu Gothic"/>
                        </a:rPr>
                        <a:t>schema互換性と入力契約</a:t>
                      </a:r>
                    </a:p>
                  </a:txBody>
                  <a:tcPr>
                    <a:solidFill>
                      <a:srgbClr val="F8F8F8"/>
                    </a:solidFill>
                  </a:tcPr>
                </a:tc>
                <a:extLst>
                  <a:ext uri="{0D108BD9-81ED-4DB2-BD59-A6C34878D82A}">
                    <a16:rowId xmlns:a16="http://schemas.microsoft.com/office/drawing/2014/main" val="10004"/>
                  </a:ext>
                </a:extLst>
              </a:tr>
            </a:tbl>
          </a:graphicData>
        </a:graphic>
      </p:graphicFrame>
      <p:sp>
        <p:nvSpPr>
          <p:cNvPr id="10" name="正方形/長方形 9">
            <a:extLst>
              <a:ext uri="{FF2B5EF4-FFF2-40B4-BE49-F238E27FC236}">
                <a16:creationId xmlns:a16="http://schemas.microsoft.com/office/drawing/2014/main" id="{E0DC7A3B-7E46-4A7D-B523-0A62FEC7998D}"/>
              </a:ext>
            </a:extLst>
          </p:cNvPr>
          <p:cNvSpPr>
            <a:spLocks noGrp="1"/>
          </p:cNvSpPr>
          <p:nvPr/>
        </p:nvSpPr>
        <p:spPr>
          <a:xfrm>
            <a:off x="552450" y="4572000"/>
            <a:ext cx="2476500" cy="266700"/>
          </a:xfrm>
          <a:prstGeom prst="rect">
            <a:avLst/>
          </a:prstGeom>
          <a:noFill/>
          <a:ln w="0">
            <a:noFill/>
            <a:prstDash val="solid"/>
          </a:ln>
        </p:spPr>
        <p:txBody>
          <a:bodyPr wrap="square" lIns="28575" tIns="19050" rIns="28575" bIns="19050" anchor="ctr">
            <a:normAutofit/>
          </a:bodyPr>
          <a:lstStyle/>
          <a:p>
            <a:pPr algn="l">
              <a:lnSpc>
                <a:spcPct val="100000"/>
              </a:lnSpc>
              <a:buNone/>
              <a:defRPr sz="1350" b="1" i="0">
                <a:solidFill>
                  <a:srgbClr val="3F3F3F"/>
                </a:solidFill>
                <a:latin typeface="Yu Gothic"/>
                <a:ea typeface="Yu Gothic"/>
                <a:cs typeface="Yu Gothic"/>
              </a:defRPr>
            </a:pPr>
            <a:r>
              <a:rPr sz="1350" b="1" i="0">
                <a:solidFill>
                  <a:srgbClr val="3F3F3F"/>
                </a:solidFill>
                <a:latin typeface="Yu Gothic"/>
                <a:ea typeface="Yu Gothic"/>
                <a:cs typeface="Yu Gothic"/>
              </a:rPr>
              <a:t>非目標と責任境界</a:t>
            </a:r>
          </a:p>
        </p:txBody>
      </p:sp>
      <p:sp>
        <p:nvSpPr>
          <p:cNvPr id="11" name="正方形/長方形 10">
            <a:extLst>
              <a:ext uri="{FF2B5EF4-FFF2-40B4-BE49-F238E27FC236}">
                <a16:creationId xmlns:a16="http://schemas.microsoft.com/office/drawing/2014/main" id="{A2C46F36-B8F2-4B09-839A-3B82425E8F28}"/>
              </a:ext>
            </a:extLst>
          </p:cNvPr>
          <p:cNvSpPr>
            <a:spLocks noGrp="1"/>
          </p:cNvSpPr>
          <p:nvPr/>
        </p:nvSpPr>
        <p:spPr>
          <a:xfrm>
            <a:off x="552450" y="4962525"/>
            <a:ext cx="3390900" cy="1000125"/>
          </a:xfrm>
          <a:prstGeom prst="rect">
            <a:avLst/>
          </a:prstGeom>
          <a:solidFill>
            <a:srgbClr val="FBE9E7"/>
          </a:solidFill>
          <a:ln w="9525">
            <a:solidFill>
              <a:srgbClr val="C4493D"/>
            </a:solidFill>
            <a:prstDash val="solid"/>
          </a:ln>
        </p:spPr>
      </p:sp>
      <p:sp>
        <p:nvSpPr>
          <p:cNvPr id="12" name="四角形: 角を丸くする 11">
            <a:extLst>
              <a:ext uri="{FF2B5EF4-FFF2-40B4-BE49-F238E27FC236}">
                <a16:creationId xmlns:a16="http://schemas.microsoft.com/office/drawing/2014/main" id="{1BED7174-06B3-4E19-A66A-ABA103ED54F9}"/>
              </a:ext>
            </a:extLst>
          </p:cNvPr>
          <p:cNvSpPr>
            <a:spLocks noGrp="1"/>
          </p:cNvSpPr>
          <p:nvPr/>
        </p:nvSpPr>
        <p:spPr>
          <a:xfrm>
            <a:off x="704850" y="5095875"/>
            <a:ext cx="781050" cy="238125"/>
          </a:xfrm>
          <a:prstGeom prst="roundRect">
            <a:avLst>
              <a:gd name="adj" fmla="val 50000"/>
            </a:avLst>
          </a:prstGeom>
          <a:solidFill>
            <a:srgbClr val="FFFFFF"/>
          </a:solidFill>
          <a:ln w="9525">
            <a:solidFill>
              <a:srgbClr val="C4493D"/>
            </a:solidFill>
            <a:prstDash val="solid"/>
          </a:ln>
        </p:spPr>
      </p:sp>
      <p:sp>
        <p:nvSpPr>
          <p:cNvPr id="13" name="正方形/長方形 12">
            <a:extLst>
              <a:ext uri="{FF2B5EF4-FFF2-40B4-BE49-F238E27FC236}">
                <a16:creationId xmlns:a16="http://schemas.microsoft.com/office/drawing/2014/main" id="{C08D23CF-FEF1-4353-883E-B71D70E60788}"/>
              </a:ext>
            </a:extLst>
          </p:cNvPr>
          <p:cNvSpPr>
            <a:spLocks noGrp="1"/>
          </p:cNvSpPr>
          <p:nvPr/>
        </p:nvSpPr>
        <p:spPr>
          <a:xfrm>
            <a:off x="752475" y="5105400"/>
            <a:ext cx="685800" cy="209550"/>
          </a:xfrm>
          <a:prstGeom prst="rect">
            <a:avLst/>
          </a:prstGeom>
          <a:noFill/>
          <a:ln w="0">
            <a:noFill/>
            <a:prstDash val="solid"/>
          </a:ln>
        </p:spPr>
        <p:txBody>
          <a:bodyPr wrap="none" lIns="28575" tIns="19050" rIns="28575" bIns="19050" anchor="ctr">
            <a:noAutofit/>
          </a:bodyPr>
          <a:lstStyle/>
          <a:p>
            <a:pPr algn="ctr">
              <a:lnSpc>
                <a:spcPct val="100000"/>
              </a:lnSpc>
              <a:buNone/>
              <a:defRPr sz="788" b="1" i="0">
                <a:solidFill>
                  <a:srgbClr val="C4493D"/>
                </a:solidFill>
                <a:latin typeface="Yu Gothic"/>
                <a:ea typeface="Yu Gothic"/>
                <a:cs typeface="Yu Gothic"/>
              </a:defRPr>
            </a:pPr>
            <a:r>
              <a:rPr sz="788" b="1" i="0">
                <a:solidFill>
                  <a:srgbClr val="C4493D"/>
                </a:solidFill>
                <a:latin typeface="Yu Gothic"/>
                <a:ea typeface="Yu Gothic"/>
                <a:cs typeface="Yu Gothic"/>
              </a:rPr>
              <a:t>非目標</a:t>
            </a:r>
          </a:p>
        </p:txBody>
      </p:sp>
      <p:sp>
        <p:nvSpPr>
          <p:cNvPr id="14" name="正方形/長方形 13">
            <a:extLst>
              <a:ext uri="{FF2B5EF4-FFF2-40B4-BE49-F238E27FC236}">
                <a16:creationId xmlns:a16="http://schemas.microsoft.com/office/drawing/2014/main" id="{790241CC-058D-48BA-9153-3DE41CAC8658}"/>
              </a:ext>
            </a:extLst>
          </p:cNvPr>
          <p:cNvSpPr>
            <a:spLocks noGrp="1"/>
          </p:cNvSpPr>
          <p:nvPr/>
        </p:nvSpPr>
        <p:spPr>
          <a:xfrm>
            <a:off x="704850" y="5419725"/>
            <a:ext cx="3086100" cy="428625"/>
          </a:xfrm>
          <a:prstGeom prst="rect">
            <a:avLst/>
          </a:prstGeom>
          <a:noFill/>
          <a:ln w="0">
            <a:noFill/>
            <a:prstDash val="solid"/>
          </a:ln>
        </p:spPr>
        <p:txBody>
          <a:bodyPr wrap="square" lIns="28575" tIns="19050" rIns="28575" bIns="19050" anchor="ctr">
            <a:normAutofit/>
          </a:bodyPr>
          <a:lstStyle/>
          <a:p>
            <a:pPr algn="l">
              <a:lnSpc>
                <a:spcPct val="108000"/>
              </a:lnSpc>
              <a:buNone/>
              <a:defRPr sz="938" b="1" i="0">
                <a:solidFill>
                  <a:srgbClr val="5B5B5B"/>
                </a:solidFill>
                <a:latin typeface="Yu Gothic"/>
                <a:ea typeface="Yu Gothic"/>
                <a:cs typeface="Yu Gothic"/>
              </a:defRPr>
            </a:pPr>
            <a:r>
              <a:rPr sz="938" b="1" i="0">
                <a:solidFill>
                  <a:srgbClr val="5B5B5B"/>
                </a:solidFill>
                <a:latin typeface="Yu Gothic"/>
                <a:ea typeface="Yu Gothic"/>
                <a:cs typeface="Yu Gothic"/>
              </a:rPr>
              <a:t>局所hotspot・wafer面内均一性を、node平均から直接保証しない</a:t>
            </a:r>
          </a:p>
        </p:txBody>
      </p:sp>
      <p:sp>
        <p:nvSpPr>
          <p:cNvPr id="15" name="正方形/長方形 14">
            <a:extLst>
              <a:ext uri="{FF2B5EF4-FFF2-40B4-BE49-F238E27FC236}">
                <a16:creationId xmlns:a16="http://schemas.microsoft.com/office/drawing/2014/main" id="{E6967680-1DE3-4575-A852-E44044E65783}"/>
              </a:ext>
            </a:extLst>
          </p:cNvPr>
          <p:cNvSpPr>
            <a:spLocks noGrp="1"/>
          </p:cNvSpPr>
          <p:nvPr/>
        </p:nvSpPr>
        <p:spPr>
          <a:xfrm>
            <a:off x="4133850" y="4962525"/>
            <a:ext cx="3581400" cy="1000125"/>
          </a:xfrm>
          <a:prstGeom prst="rect">
            <a:avLst/>
          </a:prstGeom>
          <a:solidFill>
            <a:srgbClr val="FFF5D7"/>
          </a:solidFill>
          <a:ln w="9525">
            <a:solidFill>
              <a:srgbClr val="E5A900"/>
            </a:solidFill>
            <a:prstDash val="solid"/>
          </a:ln>
        </p:spPr>
      </p:sp>
      <p:sp>
        <p:nvSpPr>
          <p:cNvPr id="16" name="四角形: 角を丸くする 15">
            <a:extLst>
              <a:ext uri="{FF2B5EF4-FFF2-40B4-BE49-F238E27FC236}">
                <a16:creationId xmlns:a16="http://schemas.microsoft.com/office/drawing/2014/main" id="{952C553F-247F-4D51-B10E-6E56277AA668}"/>
              </a:ext>
            </a:extLst>
          </p:cNvPr>
          <p:cNvSpPr>
            <a:spLocks noGrp="1"/>
          </p:cNvSpPr>
          <p:nvPr/>
        </p:nvSpPr>
        <p:spPr>
          <a:xfrm>
            <a:off x="4286250" y="5095875"/>
            <a:ext cx="781050" cy="238125"/>
          </a:xfrm>
          <a:prstGeom prst="roundRect">
            <a:avLst>
              <a:gd name="adj" fmla="val 50000"/>
            </a:avLst>
          </a:prstGeom>
          <a:solidFill>
            <a:srgbClr val="FFFFFF"/>
          </a:solidFill>
          <a:ln w="9525">
            <a:solidFill>
              <a:srgbClr val="E5A900"/>
            </a:solidFill>
            <a:prstDash val="solid"/>
          </a:ln>
        </p:spPr>
      </p:sp>
      <p:sp>
        <p:nvSpPr>
          <p:cNvPr id="17" name="正方形/長方形 16">
            <a:extLst>
              <a:ext uri="{FF2B5EF4-FFF2-40B4-BE49-F238E27FC236}">
                <a16:creationId xmlns:a16="http://schemas.microsoft.com/office/drawing/2014/main" id="{7728687B-77F9-4B58-BF1F-B3F243CA0F3D}"/>
              </a:ext>
            </a:extLst>
          </p:cNvPr>
          <p:cNvSpPr>
            <a:spLocks noGrp="1"/>
          </p:cNvSpPr>
          <p:nvPr/>
        </p:nvSpPr>
        <p:spPr>
          <a:xfrm>
            <a:off x="4333875" y="5105400"/>
            <a:ext cx="685800" cy="209550"/>
          </a:xfrm>
          <a:prstGeom prst="rect">
            <a:avLst/>
          </a:prstGeom>
          <a:noFill/>
          <a:ln w="0">
            <a:noFill/>
            <a:prstDash val="solid"/>
          </a:ln>
        </p:spPr>
        <p:txBody>
          <a:bodyPr wrap="none" lIns="28575" tIns="19050" rIns="28575" bIns="19050" anchor="ctr">
            <a:noAutofit/>
          </a:bodyPr>
          <a:lstStyle/>
          <a:p>
            <a:pPr algn="ctr">
              <a:lnSpc>
                <a:spcPct val="100000"/>
              </a:lnSpc>
              <a:buNone/>
              <a:defRPr sz="788" b="1" i="0">
                <a:solidFill>
                  <a:srgbClr val="E5A900"/>
                </a:solidFill>
                <a:latin typeface="Yu Gothic"/>
                <a:ea typeface="Yu Gothic"/>
                <a:cs typeface="Yu Gothic"/>
              </a:defRPr>
            </a:pPr>
            <a:r>
              <a:rPr sz="788" b="1" i="0">
                <a:solidFill>
                  <a:srgbClr val="E5A900"/>
                </a:solidFill>
                <a:latin typeface="Yu Gothic"/>
                <a:ea typeface="Yu Gothic"/>
                <a:cs typeface="Yu Gothic"/>
              </a:rPr>
              <a:t>現行境界</a:t>
            </a:r>
          </a:p>
        </p:txBody>
      </p:sp>
      <p:sp>
        <p:nvSpPr>
          <p:cNvPr id="18" name="正方形/長方形 17">
            <a:extLst>
              <a:ext uri="{FF2B5EF4-FFF2-40B4-BE49-F238E27FC236}">
                <a16:creationId xmlns:a16="http://schemas.microsoft.com/office/drawing/2014/main" id="{8281F984-A5C1-4220-8F6B-7D0328AFD60C}"/>
              </a:ext>
            </a:extLst>
          </p:cNvPr>
          <p:cNvSpPr>
            <a:spLocks noGrp="1"/>
          </p:cNvSpPr>
          <p:nvPr/>
        </p:nvSpPr>
        <p:spPr>
          <a:xfrm>
            <a:off x="4286250" y="5419725"/>
            <a:ext cx="3276600" cy="428625"/>
          </a:xfrm>
          <a:prstGeom prst="rect">
            <a:avLst/>
          </a:prstGeom>
          <a:noFill/>
          <a:ln w="0">
            <a:noFill/>
            <a:prstDash val="solid"/>
          </a:ln>
        </p:spPr>
        <p:txBody>
          <a:bodyPr wrap="square" lIns="28575" tIns="19050" rIns="28575" bIns="19050" anchor="ctr">
            <a:normAutofit/>
          </a:bodyPr>
          <a:lstStyle/>
          <a:p>
            <a:pPr algn="l">
              <a:lnSpc>
                <a:spcPct val="108000"/>
              </a:lnSpc>
              <a:buNone/>
              <a:defRPr sz="938" b="1" i="0">
                <a:solidFill>
                  <a:srgbClr val="5B5B5B"/>
                </a:solidFill>
                <a:latin typeface="Yu Gothic"/>
                <a:ea typeface="Yu Gothic"/>
                <a:cs typeface="Yu Gothic"/>
              </a:defRPr>
            </a:pPr>
            <a:r>
              <a:rPr sz="938" b="1" i="0">
                <a:solidFill>
                  <a:srgbClr val="5B5B5B"/>
                </a:solidFill>
                <a:latin typeface="Yu Gothic"/>
                <a:ea typeface="Yu Gothic"/>
                <a:cs typeface="Yu Gothic"/>
              </a:rPr>
              <a:t>T⁴放射、相変化、温度依存物性はfirst-class termではない</a:t>
            </a:r>
          </a:p>
        </p:txBody>
      </p:sp>
      <p:sp>
        <p:nvSpPr>
          <p:cNvPr id="19" name="正方形/長方形 18">
            <a:extLst>
              <a:ext uri="{FF2B5EF4-FFF2-40B4-BE49-F238E27FC236}">
                <a16:creationId xmlns:a16="http://schemas.microsoft.com/office/drawing/2014/main" id="{12AD058D-4118-46C7-A345-7AB4CA083F33}"/>
              </a:ext>
            </a:extLst>
          </p:cNvPr>
          <p:cNvSpPr>
            <a:spLocks noGrp="1"/>
          </p:cNvSpPr>
          <p:nvPr/>
        </p:nvSpPr>
        <p:spPr>
          <a:xfrm>
            <a:off x="7905750" y="4962525"/>
            <a:ext cx="3733800" cy="1000125"/>
          </a:xfrm>
          <a:prstGeom prst="rect">
            <a:avLst/>
          </a:prstGeom>
          <a:solidFill>
            <a:srgbClr val="EFE5F6"/>
          </a:solidFill>
          <a:ln w="9525">
            <a:solidFill>
              <a:srgbClr val="7B2DAF"/>
            </a:solidFill>
            <a:prstDash val="solid"/>
          </a:ln>
        </p:spPr>
      </p:sp>
      <p:sp>
        <p:nvSpPr>
          <p:cNvPr id="20" name="四角形: 角を丸くする 19">
            <a:extLst>
              <a:ext uri="{FF2B5EF4-FFF2-40B4-BE49-F238E27FC236}">
                <a16:creationId xmlns:a16="http://schemas.microsoft.com/office/drawing/2014/main" id="{4560FDC9-0C1C-4F20-B221-F868AC73B86A}"/>
              </a:ext>
            </a:extLst>
          </p:cNvPr>
          <p:cNvSpPr>
            <a:spLocks noGrp="1"/>
          </p:cNvSpPr>
          <p:nvPr/>
        </p:nvSpPr>
        <p:spPr>
          <a:xfrm>
            <a:off x="8058150" y="5095875"/>
            <a:ext cx="781050" cy="238125"/>
          </a:xfrm>
          <a:prstGeom prst="roundRect">
            <a:avLst>
              <a:gd name="adj" fmla="val 50000"/>
            </a:avLst>
          </a:prstGeom>
          <a:solidFill>
            <a:srgbClr val="FFFFFF"/>
          </a:solidFill>
          <a:ln w="9525">
            <a:solidFill>
              <a:srgbClr val="7B2DAF"/>
            </a:solidFill>
            <a:prstDash val="solid"/>
          </a:ln>
        </p:spPr>
      </p:sp>
      <p:sp>
        <p:nvSpPr>
          <p:cNvPr id="21" name="正方形/長方形 20">
            <a:extLst>
              <a:ext uri="{FF2B5EF4-FFF2-40B4-BE49-F238E27FC236}">
                <a16:creationId xmlns:a16="http://schemas.microsoft.com/office/drawing/2014/main" id="{CACA618E-9A59-454C-B4CD-408B62C2DD37}"/>
              </a:ext>
            </a:extLst>
          </p:cNvPr>
          <p:cNvSpPr>
            <a:spLocks noGrp="1"/>
          </p:cNvSpPr>
          <p:nvPr/>
        </p:nvSpPr>
        <p:spPr>
          <a:xfrm>
            <a:off x="8105775" y="5105400"/>
            <a:ext cx="685800" cy="209550"/>
          </a:xfrm>
          <a:prstGeom prst="rect">
            <a:avLst/>
          </a:prstGeom>
          <a:noFill/>
          <a:ln w="0">
            <a:noFill/>
            <a:prstDash val="solid"/>
          </a:ln>
        </p:spPr>
        <p:txBody>
          <a:bodyPr wrap="none" lIns="28575" tIns="19050" rIns="28575" bIns="19050" anchor="ctr">
            <a:noAutofit/>
          </a:bodyPr>
          <a:lstStyle/>
          <a:p>
            <a:pPr algn="ctr">
              <a:lnSpc>
                <a:spcPct val="100000"/>
              </a:lnSpc>
              <a:buNone/>
              <a:defRPr sz="788" b="1" i="0">
                <a:solidFill>
                  <a:srgbClr val="7B2DAF"/>
                </a:solidFill>
                <a:latin typeface="Yu Gothic"/>
                <a:ea typeface="Yu Gothic"/>
                <a:cs typeface="Yu Gothic"/>
              </a:defRPr>
            </a:pPr>
            <a:r>
              <a:rPr sz="788" b="1" i="0">
                <a:solidFill>
                  <a:srgbClr val="7B2DAF"/>
                </a:solidFill>
                <a:latin typeface="Yu Gothic"/>
                <a:ea typeface="Yu Gothic"/>
                <a:cs typeface="Yu Gothic"/>
              </a:rPr>
              <a:t>識別境界</a:t>
            </a:r>
          </a:p>
        </p:txBody>
      </p:sp>
      <p:sp>
        <p:nvSpPr>
          <p:cNvPr id="22" name="正方形/長方形 21">
            <a:extLst>
              <a:ext uri="{FF2B5EF4-FFF2-40B4-BE49-F238E27FC236}">
                <a16:creationId xmlns:a16="http://schemas.microsoft.com/office/drawing/2014/main" id="{8BBA9DC9-551A-4DDA-8652-4716FEF9302C}"/>
              </a:ext>
            </a:extLst>
          </p:cNvPr>
          <p:cNvSpPr>
            <a:spLocks noGrp="1"/>
          </p:cNvSpPr>
          <p:nvPr/>
        </p:nvSpPr>
        <p:spPr>
          <a:xfrm>
            <a:off x="8058150" y="5419725"/>
            <a:ext cx="3429000" cy="428625"/>
          </a:xfrm>
          <a:prstGeom prst="rect">
            <a:avLst/>
          </a:prstGeom>
          <a:noFill/>
          <a:ln w="0">
            <a:noFill/>
            <a:prstDash val="solid"/>
          </a:ln>
        </p:spPr>
        <p:txBody>
          <a:bodyPr wrap="square" lIns="28575" tIns="19050" rIns="28575" bIns="19050" anchor="ctr">
            <a:normAutofit/>
          </a:bodyPr>
          <a:lstStyle/>
          <a:p>
            <a:pPr algn="l">
              <a:lnSpc>
                <a:spcPct val="108000"/>
              </a:lnSpc>
              <a:buNone/>
              <a:defRPr sz="938" b="1" i="0">
                <a:solidFill>
                  <a:srgbClr val="5B5B5B"/>
                </a:solidFill>
                <a:latin typeface="Yu Gothic"/>
                <a:ea typeface="Yu Gothic"/>
                <a:cs typeface="Yu Gothic"/>
              </a:defRPr>
            </a:pPr>
            <a:r>
              <a:rPr sz="938" b="1" i="0">
                <a:solidFill>
                  <a:srgbClr val="5B5B5B"/>
                </a:solidFill>
                <a:latin typeface="Yu Gothic"/>
                <a:ea typeface="Yu Gothic"/>
                <a:cs typeface="Yu Gothic"/>
              </a:rPr>
              <a:t>外部基準なしの共通sensor offsetと一様温度ずれは分離不能</a:t>
            </a:r>
          </a:p>
        </p:txBody>
      </p:sp>
    </p:spTree>
    <p:extLst>
      <p:ext uri="{BB962C8B-B14F-4D97-AF65-F5344CB8AC3E}">
        <p14:creationId xmlns:p14="http://schemas.microsoft.com/office/powerpoint/2010/main" val="14973305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7" name="正方形/長方形 56">
            <a:extLst>
              <a:ext uri="{FF2B5EF4-FFF2-40B4-BE49-F238E27FC236}">
                <a16:creationId xmlns:a16="http://schemas.microsoft.com/office/drawing/2014/main" id="{9C42FC52-CEDE-44C1-9FD1-93F3FD2E8572}"/>
              </a:ext>
            </a:extLst>
          </p:cNvPr>
          <p:cNvSpPr>
            <a:spLocks noGrp="1"/>
          </p:cNvSpPr>
          <p:nvPr/>
        </p:nvSpPr>
        <p:spPr>
          <a:xfrm>
            <a:off x="552450" y="190500"/>
            <a:ext cx="76200" cy="142875"/>
          </a:xfrm>
          <a:prstGeom prst="rect">
            <a:avLst/>
          </a:prstGeom>
          <a:solidFill>
            <a:srgbClr val="76BE18"/>
          </a:solidFill>
          <a:ln w="0">
            <a:noFill/>
            <a:prstDash val="solid"/>
          </a:ln>
        </p:spPr>
      </p:sp>
      <p:sp>
        <p:nvSpPr>
          <p:cNvPr id="2" name="正方形/長方形 1">
            <a:extLst>
              <a:ext uri="{FF2B5EF4-FFF2-40B4-BE49-F238E27FC236}">
                <a16:creationId xmlns:a16="http://schemas.microsoft.com/office/drawing/2014/main" id="{8DB8AA79-9770-4E81-9CDF-BBF0E08DA412}"/>
              </a:ext>
            </a:extLst>
          </p:cNvPr>
          <p:cNvSpPr>
            <a:spLocks noGrp="1"/>
          </p:cNvSpPr>
          <p:nvPr/>
        </p:nvSpPr>
        <p:spPr>
          <a:xfrm>
            <a:off x="704850" y="161925"/>
            <a:ext cx="3429000" cy="190500"/>
          </a:xfrm>
          <a:prstGeom prst="rect">
            <a:avLst/>
          </a:prstGeom>
          <a:noFill/>
          <a:ln w="0">
            <a:noFill/>
            <a:prstDash val="solid"/>
          </a:ln>
        </p:spPr>
        <p:txBody>
          <a:bodyPr wrap="none" lIns="28575" tIns="19050" rIns="28575" bIns="19050" anchor="ctr">
            <a:noAutofit/>
          </a:bodyPr>
          <a:lstStyle/>
          <a:p>
            <a:pPr algn="l">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CODE ARCHITECTURE</a:t>
            </a:r>
          </a:p>
        </p:txBody>
      </p:sp>
      <p:sp>
        <p:nvSpPr>
          <p:cNvPr id="3" name="正方形/長方形 2">
            <a:extLst>
              <a:ext uri="{FF2B5EF4-FFF2-40B4-BE49-F238E27FC236}">
                <a16:creationId xmlns:a16="http://schemas.microsoft.com/office/drawing/2014/main" id="{048A025A-F551-447B-A056-EA3C1D248F7E}"/>
              </a:ext>
            </a:extLst>
          </p:cNvPr>
          <p:cNvSpPr>
            <a:spLocks noGrp="1"/>
          </p:cNvSpPr>
          <p:nvPr/>
        </p:nvSpPr>
        <p:spPr>
          <a:xfrm>
            <a:off x="552450" y="400050"/>
            <a:ext cx="11001375" cy="400050"/>
          </a:xfrm>
          <a:prstGeom prst="rect">
            <a:avLst/>
          </a:prstGeom>
          <a:noFill/>
          <a:ln w="0">
            <a:noFill/>
            <a:prstDash val="solid"/>
          </a:ln>
        </p:spPr>
        <p:txBody>
          <a:bodyPr wrap="none" lIns="19050" tIns="0" rIns="19050" bIns="0" anchor="ctr">
            <a:normAutofit/>
          </a:bodyPr>
          <a:lstStyle/>
          <a:p>
            <a:pPr algn="l">
              <a:lnSpc>
                <a:spcPct val="100000"/>
              </a:lnSpc>
              <a:buNone/>
              <a:defRPr sz="2175" b="1" i="0">
                <a:solidFill>
                  <a:srgbClr val="00A5D8"/>
                </a:solidFill>
                <a:latin typeface="Yu Gothic"/>
                <a:ea typeface="Yu Gothic"/>
                <a:cs typeface="Yu Gothic"/>
              </a:defRPr>
            </a:pPr>
            <a:r>
              <a:rPr sz="2175" b="1" i="0">
                <a:solidFill>
                  <a:srgbClr val="00A5D8"/>
                </a:solidFill>
                <a:latin typeface="Yu Gothic"/>
                <a:ea typeface="Yu Gothic"/>
                <a:cs typeface="Yu Gothic"/>
              </a:rPr>
              <a:t>依存方向を一方向に固定し、数値engineとCSV・YAML・workflowを分離する</a:t>
            </a:r>
          </a:p>
        </p:txBody>
      </p:sp>
      <p:sp>
        <p:nvSpPr>
          <p:cNvPr id="4" name="正方形/長方形 3">
            <a:extLst>
              <a:ext uri="{FF2B5EF4-FFF2-40B4-BE49-F238E27FC236}">
                <a16:creationId xmlns:a16="http://schemas.microsoft.com/office/drawing/2014/main" id="{5C400C68-4535-4239-9FA4-B5B34931CC4E}"/>
              </a:ext>
            </a:extLst>
          </p:cNvPr>
          <p:cNvSpPr>
            <a:spLocks noGrp="1"/>
          </p:cNvSpPr>
          <p:nvPr/>
        </p:nvSpPr>
        <p:spPr>
          <a:xfrm>
            <a:off x="571500" y="838200"/>
            <a:ext cx="10906125" cy="228600"/>
          </a:xfrm>
          <a:prstGeom prst="rect">
            <a:avLst/>
          </a:prstGeom>
          <a:noFill/>
          <a:ln w="0">
            <a:noFill/>
            <a:prstDash val="solid"/>
          </a:ln>
        </p:spPr>
        <p:txBody>
          <a:bodyPr wrap="none" lIns="28575" tIns="19050" rIns="28575" bIns="19050" anchor="ctr">
            <a:noAutofit/>
          </a:bodyPr>
          <a:lstStyle/>
          <a:p>
            <a:pPr algn="l">
              <a:lnSpc>
                <a:spcPct val="100000"/>
              </a:lnSpc>
              <a:buNone/>
              <a:defRPr sz="975" b="0" i="0">
                <a:solidFill>
                  <a:srgbClr val="5B5B5B"/>
                </a:solidFill>
                <a:latin typeface="Yu Gothic"/>
                <a:ea typeface="Yu Gothic"/>
                <a:cs typeface="Yu Gothic"/>
              </a:defRPr>
            </a:pPr>
            <a:r>
              <a:rPr sz="975" b="0" i="0">
                <a:solidFill>
                  <a:srgbClr val="5B5B5B"/>
                </a:solidFill>
                <a:latin typeface="Yu Gothic"/>
                <a:ea typeface="Yu Gothic"/>
                <a:cs typeface="Yu Gothic"/>
              </a:rPr>
              <a:t>装置差はsystem.yamlとdataで表し、core classを装置部品名ごとに増やさない</a:t>
            </a:r>
          </a:p>
        </p:txBody>
      </p:sp>
      <p:sp>
        <p:nvSpPr>
          <p:cNvPr id="5" name="直線コネクタ 4">
            <a:extLst>
              <a:ext uri="{FF2B5EF4-FFF2-40B4-BE49-F238E27FC236}">
                <a16:creationId xmlns:a16="http://schemas.microsoft.com/office/drawing/2014/main" id="{836F4BCE-519E-4E7E-BD74-69C583E16230}"/>
              </a:ext>
            </a:extLst>
          </p:cNvPr>
          <p:cNvSpPr>
            <a:spLocks noGrp="1"/>
          </p:cNvSpPr>
          <p:nvPr/>
        </p:nvSpPr>
        <p:spPr>
          <a:xfrm>
            <a:off x="552450" y="1152525"/>
            <a:ext cx="11087100" cy="0"/>
          </a:xfrm>
          <a:prstGeom prst="line">
            <a:avLst/>
          </a:prstGeom>
          <a:noFill/>
          <a:ln w="9525">
            <a:solidFill>
              <a:srgbClr val="D6D6D6"/>
            </a:solidFill>
            <a:prstDash val="solid"/>
          </a:ln>
        </p:spPr>
      </p:sp>
      <p:sp>
        <p:nvSpPr>
          <p:cNvPr id="6" name="直線コネクタ 5">
            <a:extLst>
              <a:ext uri="{FF2B5EF4-FFF2-40B4-BE49-F238E27FC236}">
                <a16:creationId xmlns:a16="http://schemas.microsoft.com/office/drawing/2014/main" id="{24BB487C-D03B-4F0F-AD22-28FF202C72EC}"/>
              </a:ext>
            </a:extLst>
          </p:cNvPr>
          <p:cNvSpPr>
            <a:spLocks noGrp="1"/>
          </p:cNvSpPr>
          <p:nvPr/>
        </p:nvSpPr>
        <p:spPr>
          <a:xfrm>
            <a:off x="552450" y="6438900"/>
            <a:ext cx="11087100" cy="0"/>
          </a:xfrm>
          <a:prstGeom prst="line">
            <a:avLst/>
          </a:prstGeom>
          <a:noFill/>
          <a:ln w="9525">
            <a:solidFill>
              <a:srgbClr val="D6D6D6"/>
            </a:solidFill>
            <a:prstDash val="solid"/>
          </a:ln>
        </p:spPr>
      </p:sp>
      <p:sp>
        <p:nvSpPr>
          <p:cNvPr id="7" name="正方形/長方形 6">
            <a:extLst>
              <a:ext uri="{FF2B5EF4-FFF2-40B4-BE49-F238E27FC236}">
                <a16:creationId xmlns:a16="http://schemas.microsoft.com/office/drawing/2014/main" id="{36BC2C03-4D89-44B5-B700-E73BBBBA7820}"/>
              </a:ext>
            </a:extLst>
          </p:cNvPr>
          <p:cNvSpPr>
            <a:spLocks noGrp="1"/>
          </p:cNvSpPr>
          <p:nvPr/>
        </p:nvSpPr>
        <p:spPr>
          <a:xfrm>
            <a:off x="571500" y="6505575"/>
            <a:ext cx="5334000" cy="171450"/>
          </a:xfrm>
          <a:prstGeom prst="rect">
            <a:avLst/>
          </a:prstGeom>
          <a:noFill/>
          <a:ln w="0">
            <a:noFill/>
            <a:prstDash val="solid"/>
          </a:ln>
        </p:spPr>
        <p:txBody>
          <a:bodyPr wrap="none" lIns="28575" tIns="19050" rIns="28575" bIns="19050" anchor="ctr">
            <a:noAutofit/>
          </a:bodyPr>
          <a:lstStyle/>
          <a:p>
            <a:pPr algn="l">
              <a:lnSpc>
                <a:spcPct val="100000"/>
              </a:lnSpc>
              <a:buNone/>
              <a:defRPr sz="713" b="0" i="0">
                <a:solidFill>
                  <a:srgbClr val="777777"/>
                </a:solidFill>
                <a:latin typeface="Yu Gothic"/>
                <a:ea typeface="Yu Gothic"/>
                <a:cs typeface="Yu Gothic"/>
              </a:defRPr>
            </a:pPr>
            <a:r>
              <a:rPr sz="713" b="0" i="0">
                <a:solidFill>
                  <a:srgbClr val="777777"/>
                </a:solidFill>
                <a:latin typeface="Yu Gothic"/>
                <a:ea typeface="Yu Gothic"/>
                <a:cs typeface="Yu Gothic"/>
              </a:rPr>
              <a:t>THERMAL RC / EQUIPMENT ENGINEERING REVIEW  ·  2026-09-17</a:t>
            </a:r>
          </a:p>
        </p:txBody>
      </p:sp>
      <p:sp>
        <p:nvSpPr>
          <p:cNvPr id="8" name="正方形/長方形 7">
            <a:extLst>
              <a:ext uri="{FF2B5EF4-FFF2-40B4-BE49-F238E27FC236}">
                <a16:creationId xmlns:a16="http://schemas.microsoft.com/office/drawing/2014/main" id="{0365B938-BC69-4245-8A94-8B3D2D2BD634}"/>
              </a:ext>
            </a:extLst>
          </p:cNvPr>
          <p:cNvSpPr>
            <a:spLocks noGrp="1"/>
          </p:cNvSpPr>
          <p:nvPr/>
        </p:nvSpPr>
        <p:spPr>
          <a:xfrm>
            <a:off x="11125200" y="6496050"/>
            <a:ext cx="476250" cy="171450"/>
          </a:xfrm>
          <a:prstGeom prst="rect">
            <a:avLst/>
          </a:prstGeom>
          <a:noFill/>
          <a:ln w="0">
            <a:noFill/>
            <a:prstDash val="solid"/>
          </a:ln>
        </p:spPr>
        <p:txBody>
          <a:bodyPr wrap="square" lIns="28575" tIns="19050" rIns="28575" bIns="19050" anchor="ctr">
            <a:noAutofit/>
          </a:bodyPr>
          <a:lstStyle/>
          <a:p>
            <a:pPr algn="r">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4</a:t>
            </a:r>
          </a:p>
        </p:txBody>
      </p:sp>
      <p:sp>
        <p:nvSpPr>
          <p:cNvPr id="9" name="正方形/長方形 8">
            <a:extLst>
              <a:ext uri="{FF2B5EF4-FFF2-40B4-BE49-F238E27FC236}">
                <a16:creationId xmlns:a16="http://schemas.microsoft.com/office/drawing/2014/main" id="{D0945215-D0A4-461D-A757-6F40B45F159E}"/>
              </a:ext>
            </a:extLst>
          </p:cNvPr>
          <p:cNvSpPr>
            <a:spLocks noGrp="1"/>
          </p:cNvSpPr>
          <p:nvPr/>
        </p:nvSpPr>
        <p:spPr>
          <a:xfrm>
            <a:off x="552450" y="1438275"/>
            <a:ext cx="7334250" cy="581025"/>
          </a:xfrm>
          <a:prstGeom prst="rect">
            <a:avLst/>
          </a:prstGeom>
          <a:solidFill>
            <a:srgbClr val="FFFFFF"/>
          </a:solidFill>
          <a:ln w="9525">
            <a:solidFill>
              <a:srgbClr val="D6D6D6"/>
            </a:solidFill>
            <a:prstDash val="solid"/>
          </a:ln>
        </p:spPr>
      </p:sp>
      <p:sp>
        <p:nvSpPr>
          <p:cNvPr id="10" name="正方形/長方形 9">
            <a:extLst>
              <a:ext uri="{FF2B5EF4-FFF2-40B4-BE49-F238E27FC236}">
                <a16:creationId xmlns:a16="http://schemas.microsoft.com/office/drawing/2014/main" id="{67B34EDA-2A57-42FC-A0BA-A5C3945B140D}"/>
              </a:ext>
            </a:extLst>
          </p:cNvPr>
          <p:cNvSpPr>
            <a:spLocks noGrp="1"/>
          </p:cNvSpPr>
          <p:nvPr/>
        </p:nvSpPr>
        <p:spPr>
          <a:xfrm>
            <a:off x="552450" y="1438275"/>
            <a:ext cx="990600" cy="581025"/>
          </a:xfrm>
          <a:prstGeom prst="rect">
            <a:avLst/>
          </a:prstGeom>
          <a:solidFill>
            <a:srgbClr val="201445"/>
          </a:solidFill>
          <a:ln w="0">
            <a:noFill/>
            <a:prstDash val="solid"/>
          </a:ln>
        </p:spPr>
      </p:sp>
      <p:sp>
        <p:nvSpPr>
          <p:cNvPr id="11" name="正方形/長方形 10">
            <a:extLst>
              <a:ext uri="{FF2B5EF4-FFF2-40B4-BE49-F238E27FC236}">
                <a16:creationId xmlns:a16="http://schemas.microsoft.com/office/drawing/2014/main" id="{8D5BC9DA-4956-40AA-BA32-40F619122C92}"/>
              </a:ext>
            </a:extLst>
          </p:cNvPr>
          <p:cNvSpPr>
            <a:spLocks noGrp="1"/>
          </p:cNvSpPr>
          <p:nvPr/>
        </p:nvSpPr>
        <p:spPr>
          <a:xfrm>
            <a:off x="619125" y="1524000"/>
            <a:ext cx="857250" cy="409575"/>
          </a:xfrm>
          <a:prstGeom prst="rect">
            <a:avLst/>
          </a:prstGeom>
          <a:noFill/>
          <a:ln w="0">
            <a:noFill/>
            <a:prstDash val="solid"/>
          </a:ln>
        </p:spPr>
        <p:txBody>
          <a:bodyPr wrap="square" lIns="28575" tIns="19050" rIns="28575" bIns="19050" anchor="ctr">
            <a:normAutofit/>
          </a:bodyPr>
          <a:lstStyle/>
          <a:p>
            <a:pPr algn="ctr">
              <a:lnSpc>
                <a:spcPct val="100000"/>
              </a:lnSpc>
              <a:buNone/>
              <a:defRPr sz="900" b="1" i="0">
                <a:solidFill>
                  <a:srgbClr val="FFFFFF"/>
                </a:solidFill>
                <a:latin typeface="Yu Gothic"/>
                <a:ea typeface="Yu Gothic"/>
                <a:cs typeface="Yu Gothic"/>
              </a:defRPr>
            </a:pPr>
            <a:r>
              <a:rPr sz="900" b="1" i="0">
                <a:solidFill>
                  <a:srgbClr val="FFFFFF"/>
                </a:solidFill>
                <a:latin typeface="Yu Gothic"/>
                <a:ea typeface="Yu Gothic"/>
                <a:cs typeface="Yu Gothic"/>
              </a:rPr>
              <a:t>Interface</a:t>
            </a:r>
          </a:p>
        </p:txBody>
      </p:sp>
      <p:sp>
        <p:nvSpPr>
          <p:cNvPr id="12" name="正方形/長方形 11">
            <a:extLst>
              <a:ext uri="{FF2B5EF4-FFF2-40B4-BE49-F238E27FC236}">
                <a16:creationId xmlns:a16="http://schemas.microsoft.com/office/drawing/2014/main" id="{5BA9AD8E-1565-4BDF-98F3-8200BDBFD9CD}"/>
              </a:ext>
            </a:extLst>
          </p:cNvPr>
          <p:cNvSpPr>
            <a:spLocks noGrp="1"/>
          </p:cNvSpPr>
          <p:nvPr/>
        </p:nvSpPr>
        <p:spPr>
          <a:xfrm>
            <a:off x="1743075" y="1514475"/>
            <a:ext cx="2190750" cy="228600"/>
          </a:xfrm>
          <a:prstGeom prst="rect">
            <a:avLst/>
          </a:prstGeom>
          <a:noFill/>
          <a:ln w="0">
            <a:noFill/>
            <a:prstDash val="solid"/>
          </a:ln>
        </p:spPr>
        <p:txBody>
          <a:bodyPr wrap="square" lIns="28575" tIns="19050" rIns="28575" bIns="19050" anchor="ctr">
            <a:normAutofit/>
          </a:bodyPr>
          <a:lstStyle/>
          <a:p>
            <a:pPr algn="l">
              <a:lnSpc>
                <a:spcPct val="100000"/>
              </a:lnSpc>
              <a:buNone/>
              <a:defRPr sz="1125" b="1" i="0">
                <a:solidFill>
                  <a:srgbClr val="201445"/>
                </a:solidFill>
                <a:latin typeface="Yu Gothic"/>
                <a:ea typeface="Yu Gothic"/>
                <a:cs typeface="Yu Gothic"/>
              </a:defRPr>
            </a:pPr>
            <a:r>
              <a:rPr sz="1125" b="1" i="0">
                <a:solidFill>
                  <a:srgbClr val="201445"/>
                </a:solidFill>
                <a:latin typeface="Yu Gothic"/>
                <a:ea typeface="Yu Gothic"/>
                <a:cs typeface="Yu Gothic"/>
              </a:rPr>
              <a:t>cli.py</a:t>
            </a:r>
          </a:p>
        </p:txBody>
      </p:sp>
      <p:sp>
        <p:nvSpPr>
          <p:cNvPr id="13" name="正方形/長方形 12">
            <a:extLst>
              <a:ext uri="{FF2B5EF4-FFF2-40B4-BE49-F238E27FC236}">
                <a16:creationId xmlns:a16="http://schemas.microsoft.com/office/drawing/2014/main" id="{2305BE37-65E2-460C-8388-8D5D7CEC96C1}"/>
              </a:ext>
            </a:extLst>
          </p:cNvPr>
          <p:cNvSpPr>
            <a:spLocks noGrp="1"/>
          </p:cNvSpPr>
          <p:nvPr/>
        </p:nvSpPr>
        <p:spPr>
          <a:xfrm>
            <a:off x="3981450" y="1514475"/>
            <a:ext cx="3714750" cy="428625"/>
          </a:xfrm>
          <a:prstGeom prst="rect">
            <a:avLst/>
          </a:prstGeom>
          <a:noFill/>
          <a:ln w="0">
            <a:noFill/>
            <a:prstDash val="solid"/>
          </a:ln>
        </p:spPr>
        <p:txBody>
          <a:bodyPr wrap="square" lIns="28575" tIns="19050" rIns="28575" bIns="19050" anchor="ctr">
            <a:normAutofit/>
          </a:bodyPr>
          <a:lstStyle/>
          <a:p>
            <a:pPr algn="l">
              <a:lnSpc>
                <a:spcPct val="106000"/>
              </a:lnSpc>
              <a:buNone/>
              <a:defRPr sz="878" b="0" i="0">
                <a:solidFill>
                  <a:srgbClr val="5B5B5B"/>
                </a:solidFill>
                <a:latin typeface="Yu Gothic"/>
                <a:ea typeface="Yu Gothic"/>
                <a:cs typeface="Yu Gothic"/>
              </a:defRPr>
            </a:pPr>
            <a:r>
              <a:rPr sz="878" b="0" i="0">
                <a:solidFill>
                  <a:srgbClr val="5B5B5B"/>
                </a:solidFill>
                <a:latin typeface="Yu Gothic"/>
                <a:ea typeface="Yu Gothic"/>
                <a:cs typeface="Yu Gothic"/>
              </a:rPr>
              <a:t>train / forecast / monitor</a:t>
            </a:r>
          </a:p>
        </p:txBody>
      </p:sp>
      <p:sp>
        <p:nvSpPr>
          <p:cNvPr id="14" name="正方形/長方形 13">
            <a:extLst>
              <a:ext uri="{FF2B5EF4-FFF2-40B4-BE49-F238E27FC236}">
                <a16:creationId xmlns:a16="http://schemas.microsoft.com/office/drawing/2014/main" id="{988C6FB9-81B0-40E1-A6EA-5403FD61DFFB}"/>
              </a:ext>
            </a:extLst>
          </p:cNvPr>
          <p:cNvSpPr>
            <a:spLocks noGrp="1"/>
          </p:cNvSpPr>
          <p:nvPr/>
        </p:nvSpPr>
        <p:spPr>
          <a:xfrm>
            <a:off x="552450" y="2143125"/>
            <a:ext cx="7334250" cy="723900"/>
          </a:xfrm>
          <a:prstGeom prst="rect">
            <a:avLst/>
          </a:prstGeom>
          <a:solidFill>
            <a:srgbClr val="FFFFFF"/>
          </a:solidFill>
          <a:ln w="9525">
            <a:solidFill>
              <a:srgbClr val="D6D6D6"/>
            </a:solidFill>
            <a:prstDash val="solid"/>
          </a:ln>
        </p:spPr>
      </p:sp>
      <p:sp>
        <p:nvSpPr>
          <p:cNvPr id="15" name="正方形/長方形 14">
            <a:extLst>
              <a:ext uri="{FF2B5EF4-FFF2-40B4-BE49-F238E27FC236}">
                <a16:creationId xmlns:a16="http://schemas.microsoft.com/office/drawing/2014/main" id="{D6E36E21-3270-49F5-ABF0-7D5C0C2E886B}"/>
              </a:ext>
            </a:extLst>
          </p:cNvPr>
          <p:cNvSpPr>
            <a:spLocks noGrp="1"/>
          </p:cNvSpPr>
          <p:nvPr/>
        </p:nvSpPr>
        <p:spPr>
          <a:xfrm>
            <a:off x="552450" y="2143125"/>
            <a:ext cx="990600" cy="723900"/>
          </a:xfrm>
          <a:prstGeom prst="rect">
            <a:avLst/>
          </a:prstGeom>
          <a:solidFill>
            <a:srgbClr val="7B2DAF"/>
          </a:solidFill>
          <a:ln w="0">
            <a:noFill/>
            <a:prstDash val="solid"/>
          </a:ln>
        </p:spPr>
      </p:sp>
      <p:sp>
        <p:nvSpPr>
          <p:cNvPr id="16" name="正方形/長方形 15">
            <a:extLst>
              <a:ext uri="{FF2B5EF4-FFF2-40B4-BE49-F238E27FC236}">
                <a16:creationId xmlns:a16="http://schemas.microsoft.com/office/drawing/2014/main" id="{38F8C238-C703-4C6B-8B22-A2D66CA310BC}"/>
              </a:ext>
            </a:extLst>
          </p:cNvPr>
          <p:cNvSpPr>
            <a:spLocks noGrp="1"/>
          </p:cNvSpPr>
          <p:nvPr/>
        </p:nvSpPr>
        <p:spPr>
          <a:xfrm>
            <a:off x="619125" y="2228850"/>
            <a:ext cx="857250" cy="552450"/>
          </a:xfrm>
          <a:prstGeom prst="rect">
            <a:avLst/>
          </a:prstGeom>
          <a:noFill/>
          <a:ln w="0">
            <a:noFill/>
            <a:prstDash val="solid"/>
          </a:ln>
        </p:spPr>
        <p:txBody>
          <a:bodyPr wrap="square" lIns="28575" tIns="19050" rIns="28575" bIns="19050" anchor="ctr">
            <a:normAutofit/>
          </a:bodyPr>
          <a:lstStyle/>
          <a:p>
            <a:pPr algn="ctr">
              <a:lnSpc>
                <a:spcPct val="100000"/>
              </a:lnSpc>
              <a:buNone/>
              <a:defRPr sz="900" b="1" i="0">
                <a:solidFill>
                  <a:srgbClr val="FFFFFF"/>
                </a:solidFill>
                <a:latin typeface="Yu Gothic"/>
                <a:ea typeface="Yu Gothic"/>
                <a:cs typeface="Yu Gothic"/>
              </a:defRPr>
            </a:pPr>
            <a:r>
              <a:rPr sz="900" b="1" i="0">
                <a:solidFill>
                  <a:srgbClr val="FFFFFF"/>
                </a:solidFill>
                <a:latin typeface="Yu Gothic"/>
                <a:ea typeface="Yu Gothic"/>
                <a:cs typeface="Yu Gothic"/>
              </a:rPr>
              <a:t>Workflow</a:t>
            </a:r>
          </a:p>
        </p:txBody>
      </p:sp>
      <p:sp>
        <p:nvSpPr>
          <p:cNvPr id="17" name="正方形/長方形 16">
            <a:extLst>
              <a:ext uri="{FF2B5EF4-FFF2-40B4-BE49-F238E27FC236}">
                <a16:creationId xmlns:a16="http://schemas.microsoft.com/office/drawing/2014/main" id="{108DD638-FDBB-4A79-A7EB-5034ADE65216}"/>
              </a:ext>
            </a:extLst>
          </p:cNvPr>
          <p:cNvSpPr>
            <a:spLocks noGrp="1"/>
          </p:cNvSpPr>
          <p:nvPr/>
        </p:nvSpPr>
        <p:spPr>
          <a:xfrm>
            <a:off x="1743075" y="2219325"/>
            <a:ext cx="2190750" cy="228600"/>
          </a:xfrm>
          <a:prstGeom prst="rect">
            <a:avLst/>
          </a:prstGeom>
          <a:noFill/>
          <a:ln w="0">
            <a:noFill/>
            <a:prstDash val="solid"/>
          </a:ln>
        </p:spPr>
        <p:txBody>
          <a:bodyPr wrap="square" lIns="28575" tIns="19050" rIns="28575" bIns="19050" anchor="ctr">
            <a:normAutofit/>
          </a:bodyPr>
          <a:lstStyle/>
          <a:p>
            <a:pPr algn="l">
              <a:lnSpc>
                <a:spcPct val="100000"/>
              </a:lnSpc>
              <a:buNone/>
              <a:defRPr sz="1125" b="1" i="0">
                <a:solidFill>
                  <a:srgbClr val="7B2DAF"/>
                </a:solidFill>
                <a:latin typeface="Yu Gothic"/>
                <a:ea typeface="Yu Gothic"/>
                <a:cs typeface="Yu Gothic"/>
              </a:defRPr>
            </a:pPr>
            <a:r>
              <a:rPr sz="1125" b="1" i="0">
                <a:solidFill>
                  <a:srgbClr val="7B2DAF"/>
                </a:solidFill>
                <a:latin typeface="Yu Gothic"/>
                <a:ea typeface="Yu Gothic"/>
                <a:cs typeface="Yu Gothic"/>
              </a:rPr>
              <a:t>workflows/</a:t>
            </a:r>
          </a:p>
        </p:txBody>
      </p:sp>
      <p:sp>
        <p:nvSpPr>
          <p:cNvPr id="18" name="正方形/長方形 17">
            <a:extLst>
              <a:ext uri="{FF2B5EF4-FFF2-40B4-BE49-F238E27FC236}">
                <a16:creationId xmlns:a16="http://schemas.microsoft.com/office/drawing/2014/main" id="{E5453AA6-622E-445B-9465-AB920EBBFD85}"/>
              </a:ext>
            </a:extLst>
          </p:cNvPr>
          <p:cNvSpPr>
            <a:spLocks noGrp="1"/>
          </p:cNvSpPr>
          <p:nvPr/>
        </p:nvSpPr>
        <p:spPr>
          <a:xfrm>
            <a:off x="3981450" y="2219325"/>
            <a:ext cx="3714750" cy="571500"/>
          </a:xfrm>
          <a:prstGeom prst="rect">
            <a:avLst/>
          </a:prstGeom>
          <a:noFill/>
          <a:ln w="0">
            <a:noFill/>
            <a:prstDash val="solid"/>
          </a:ln>
        </p:spPr>
        <p:txBody>
          <a:bodyPr wrap="square" lIns="28575" tIns="19050" rIns="28575" bIns="19050" anchor="ctr">
            <a:normAutofit/>
          </a:bodyPr>
          <a:lstStyle/>
          <a:p>
            <a:pPr algn="l">
              <a:lnSpc>
                <a:spcPct val="106000"/>
              </a:lnSpc>
              <a:buNone/>
              <a:defRPr sz="878" b="0" i="0">
                <a:solidFill>
                  <a:srgbClr val="5B5B5B"/>
                </a:solidFill>
                <a:latin typeface="Yu Gothic"/>
                <a:ea typeface="Yu Gothic"/>
                <a:cs typeface="Yu Gothic"/>
              </a:defRPr>
            </a:pPr>
            <a:r>
              <a:rPr sz="878" b="0" i="0">
                <a:solidFill>
                  <a:srgbClr val="5B5B5B"/>
                </a:solidFill>
                <a:latin typeface="Yu Gothic"/>
                <a:ea typeface="Yu Gothic"/>
                <a:cs typeface="Yu Gothic"/>
              </a:rPr>
              <a:t>config解決、CSV discovery、出力orchestration、run manifest</a:t>
            </a:r>
          </a:p>
        </p:txBody>
      </p:sp>
      <p:sp>
        <p:nvSpPr>
          <p:cNvPr id="19" name="正方形/長方形 18">
            <a:extLst>
              <a:ext uri="{FF2B5EF4-FFF2-40B4-BE49-F238E27FC236}">
                <a16:creationId xmlns:a16="http://schemas.microsoft.com/office/drawing/2014/main" id="{B73EA5C8-9A06-4CB4-85A0-7DA711B10558}"/>
              </a:ext>
            </a:extLst>
          </p:cNvPr>
          <p:cNvSpPr>
            <a:spLocks noGrp="1"/>
          </p:cNvSpPr>
          <p:nvPr/>
        </p:nvSpPr>
        <p:spPr>
          <a:xfrm>
            <a:off x="552450" y="2990850"/>
            <a:ext cx="7334250" cy="723900"/>
          </a:xfrm>
          <a:prstGeom prst="rect">
            <a:avLst/>
          </a:prstGeom>
          <a:solidFill>
            <a:srgbClr val="FFFFFF"/>
          </a:solidFill>
          <a:ln w="9525">
            <a:solidFill>
              <a:srgbClr val="D6D6D6"/>
            </a:solidFill>
            <a:prstDash val="solid"/>
          </a:ln>
        </p:spPr>
      </p:sp>
      <p:sp>
        <p:nvSpPr>
          <p:cNvPr id="20" name="正方形/長方形 19">
            <a:extLst>
              <a:ext uri="{FF2B5EF4-FFF2-40B4-BE49-F238E27FC236}">
                <a16:creationId xmlns:a16="http://schemas.microsoft.com/office/drawing/2014/main" id="{1C2C9543-3F02-4375-B655-F2672EA8B595}"/>
              </a:ext>
            </a:extLst>
          </p:cNvPr>
          <p:cNvSpPr>
            <a:spLocks noGrp="1"/>
          </p:cNvSpPr>
          <p:nvPr/>
        </p:nvSpPr>
        <p:spPr>
          <a:xfrm>
            <a:off x="552450" y="2990850"/>
            <a:ext cx="990600" cy="723900"/>
          </a:xfrm>
          <a:prstGeom prst="rect">
            <a:avLst/>
          </a:prstGeom>
          <a:solidFill>
            <a:srgbClr val="00A5D8"/>
          </a:solidFill>
          <a:ln w="0">
            <a:noFill/>
            <a:prstDash val="solid"/>
          </a:ln>
        </p:spPr>
      </p:sp>
      <p:sp>
        <p:nvSpPr>
          <p:cNvPr id="21" name="正方形/長方形 20">
            <a:extLst>
              <a:ext uri="{FF2B5EF4-FFF2-40B4-BE49-F238E27FC236}">
                <a16:creationId xmlns:a16="http://schemas.microsoft.com/office/drawing/2014/main" id="{B5EB92FA-FB35-4E0C-91C0-B40D72A4FD39}"/>
              </a:ext>
            </a:extLst>
          </p:cNvPr>
          <p:cNvSpPr>
            <a:spLocks noGrp="1"/>
          </p:cNvSpPr>
          <p:nvPr/>
        </p:nvSpPr>
        <p:spPr>
          <a:xfrm>
            <a:off x="619125" y="3076575"/>
            <a:ext cx="857250" cy="552450"/>
          </a:xfrm>
          <a:prstGeom prst="rect">
            <a:avLst/>
          </a:prstGeom>
          <a:noFill/>
          <a:ln w="0">
            <a:noFill/>
            <a:prstDash val="solid"/>
          </a:ln>
        </p:spPr>
        <p:txBody>
          <a:bodyPr wrap="square" lIns="28575" tIns="19050" rIns="28575" bIns="19050" anchor="ctr">
            <a:normAutofit/>
          </a:bodyPr>
          <a:lstStyle/>
          <a:p>
            <a:pPr algn="ctr">
              <a:lnSpc>
                <a:spcPct val="100000"/>
              </a:lnSpc>
              <a:buNone/>
              <a:defRPr sz="900" b="1" i="0">
                <a:solidFill>
                  <a:srgbClr val="FFFFFF"/>
                </a:solidFill>
                <a:latin typeface="Yu Gothic"/>
                <a:ea typeface="Yu Gothic"/>
                <a:cs typeface="Yu Gothic"/>
              </a:defRPr>
            </a:pPr>
            <a:r>
              <a:rPr sz="900" b="1" i="0">
                <a:solidFill>
                  <a:srgbClr val="FFFFFF"/>
                </a:solidFill>
                <a:latin typeface="Yu Gothic"/>
                <a:ea typeface="Yu Gothic"/>
                <a:cs typeface="Yu Gothic"/>
              </a:rPr>
              <a:t>Use case</a:t>
            </a:r>
          </a:p>
        </p:txBody>
      </p:sp>
      <p:sp>
        <p:nvSpPr>
          <p:cNvPr id="22" name="正方形/長方形 21">
            <a:extLst>
              <a:ext uri="{FF2B5EF4-FFF2-40B4-BE49-F238E27FC236}">
                <a16:creationId xmlns:a16="http://schemas.microsoft.com/office/drawing/2014/main" id="{8FF22F7F-D2D2-46B7-86A1-DD34599CC017}"/>
              </a:ext>
            </a:extLst>
          </p:cNvPr>
          <p:cNvSpPr>
            <a:spLocks noGrp="1"/>
          </p:cNvSpPr>
          <p:nvPr/>
        </p:nvSpPr>
        <p:spPr>
          <a:xfrm>
            <a:off x="1743075" y="3067050"/>
            <a:ext cx="2190750" cy="228600"/>
          </a:xfrm>
          <a:prstGeom prst="rect">
            <a:avLst/>
          </a:prstGeom>
          <a:noFill/>
          <a:ln w="0">
            <a:noFill/>
            <a:prstDash val="solid"/>
          </a:ln>
        </p:spPr>
        <p:txBody>
          <a:bodyPr wrap="square" lIns="28575" tIns="19050" rIns="28575" bIns="19050" anchor="ctr">
            <a:normAutofit/>
          </a:bodyPr>
          <a:lstStyle/>
          <a:p>
            <a:pPr algn="l">
              <a:lnSpc>
                <a:spcPct val="100000"/>
              </a:lnSpc>
              <a:buNone/>
              <a:defRPr sz="1125" b="1" i="0">
                <a:solidFill>
                  <a:srgbClr val="00A5D8"/>
                </a:solidFill>
                <a:latin typeface="Yu Gothic"/>
                <a:ea typeface="Yu Gothic"/>
                <a:cs typeface="Yu Gothic"/>
              </a:defRPr>
            </a:pPr>
            <a:r>
              <a:rPr sz="1125" b="1" i="0">
                <a:solidFill>
                  <a:srgbClr val="00A5D8"/>
                </a:solidFill>
                <a:latin typeface="Yu Gothic"/>
                <a:ea typeface="Yu Gothic"/>
                <a:cs typeface="Yu Gothic"/>
              </a:rPr>
              <a:t>learning/  +  inference.py</a:t>
            </a:r>
          </a:p>
        </p:txBody>
      </p:sp>
      <p:sp>
        <p:nvSpPr>
          <p:cNvPr id="23" name="正方形/長方形 22">
            <a:extLst>
              <a:ext uri="{FF2B5EF4-FFF2-40B4-BE49-F238E27FC236}">
                <a16:creationId xmlns:a16="http://schemas.microsoft.com/office/drawing/2014/main" id="{87B53B5B-8C5E-47C7-A9D9-6CFAD6723EB7}"/>
              </a:ext>
            </a:extLst>
          </p:cNvPr>
          <p:cNvSpPr>
            <a:spLocks noGrp="1"/>
          </p:cNvSpPr>
          <p:nvPr/>
        </p:nvSpPr>
        <p:spPr>
          <a:xfrm>
            <a:off x="3981450" y="3067050"/>
            <a:ext cx="3714750" cy="571500"/>
          </a:xfrm>
          <a:prstGeom prst="rect">
            <a:avLst/>
          </a:prstGeom>
          <a:noFill/>
          <a:ln w="0">
            <a:noFill/>
            <a:prstDash val="solid"/>
          </a:ln>
        </p:spPr>
        <p:txBody>
          <a:bodyPr wrap="square" lIns="28575" tIns="19050" rIns="28575" bIns="19050" anchor="ctr">
            <a:normAutofit/>
          </a:bodyPr>
          <a:lstStyle/>
          <a:p>
            <a:pPr algn="l">
              <a:lnSpc>
                <a:spcPct val="106000"/>
              </a:lnSpc>
              <a:buNone/>
              <a:defRPr sz="878" b="0" i="0">
                <a:solidFill>
                  <a:srgbClr val="5B5B5B"/>
                </a:solidFill>
                <a:latin typeface="Yu Gothic"/>
                <a:ea typeface="Yu Gothic"/>
                <a:cs typeface="Yu Gothic"/>
              </a:defRPr>
            </a:pPr>
            <a:r>
              <a:rPr sz="878" b="0" i="0">
                <a:solidFill>
                  <a:srgbClr val="5B5B5B"/>
                </a:solidFill>
                <a:latin typeface="Yu Gothic"/>
                <a:ea typeface="Yu Gothic"/>
                <a:cs typeface="Yu Gothic"/>
              </a:rPr>
              <a:t>係数同定、causal state initialization、forecast、monitor</a:t>
            </a:r>
          </a:p>
        </p:txBody>
      </p:sp>
      <p:sp>
        <p:nvSpPr>
          <p:cNvPr id="24" name="正方形/長方形 23">
            <a:extLst>
              <a:ext uri="{FF2B5EF4-FFF2-40B4-BE49-F238E27FC236}">
                <a16:creationId xmlns:a16="http://schemas.microsoft.com/office/drawing/2014/main" id="{930B1DF4-D473-48F8-827A-BA46660809B4}"/>
              </a:ext>
            </a:extLst>
          </p:cNvPr>
          <p:cNvSpPr>
            <a:spLocks noGrp="1"/>
          </p:cNvSpPr>
          <p:nvPr/>
        </p:nvSpPr>
        <p:spPr>
          <a:xfrm>
            <a:off x="552450" y="3838575"/>
            <a:ext cx="7334250" cy="723900"/>
          </a:xfrm>
          <a:prstGeom prst="rect">
            <a:avLst/>
          </a:prstGeom>
          <a:solidFill>
            <a:srgbClr val="FFFFFF"/>
          </a:solidFill>
          <a:ln w="9525">
            <a:solidFill>
              <a:srgbClr val="D6D6D6"/>
            </a:solidFill>
            <a:prstDash val="solid"/>
          </a:ln>
        </p:spPr>
      </p:sp>
      <p:sp>
        <p:nvSpPr>
          <p:cNvPr id="25" name="正方形/長方形 24">
            <a:extLst>
              <a:ext uri="{FF2B5EF4-FFF2-40B4-BE49-F238E27FC236}">
                <a16:creationId xmlns:a16="http://schemas.microsoft.com/office/drawing/2014/main" id="{9A05BA06-88D4-4A3E-B0FD-2607DC0FECCD}"/>
              </a:ext>
            </a:extLst>
          </p:cNvPr>
          <p:cNvSpPr>
            <a:spLocks noGrp="1"/>
          </p:cNvSpPr>
          <p:nvPr/>
        </p:nvSpPr>
        <p:spPr>
          <a:xfrm>
            <a:off x="552450" y="3838575"/>
            <a:ext cx="990600" cy="723900"/>
          </a:xfrm>
          <a:prstGeom prst="rect">
            <a:avLst/>
          </a:prstGeom>
          <a:solidFill>
            <a:srgbClr val="76BE18"/>
          </a:solidFill>
          <a:ln w="0">
            <a:noFill/>
            <a:prstDash val="solid"/>
          </a:ln>
        </p:spPr>
      </p:sp>
      <p:sp>
        <p:nvSpPr>
          <p:cNvPr id="26" name="正方形/長方形 25">
            <a:extLst>
              <a:ext uri="{FF2B5EF4-FFF2-40B4-BE49-F238E27FC236}">
                <a16:creationId xmlns:a16="http://schemas.microsoft.com/office/drawing/2014/main" id="{E9C4BDFE-7B04-448D-9E88-9E1E33E548A8}"/>
              </a:ext>
            </a:extLst>
          </p:cNvPr>
          <p:cNvSpPr>
            <a:spLocks noGrp="1"/>
          </p:cNvSpPr>
          <p:nvPr/>
        </p:nvSpPr>
        <p:spPr>
          <a:xfrm>
            <a:off x="619125" y="3924300"/>
            <a:ext cx="857250" cy="552450"/>
          </a:xfrm>
          <a:prstGeom prst="rect">
            <a:avLst/>
          </a:prstGeom>
          <a:noFill/>
          <a:ln w="0">
            <a:noFill/>
            <a:prstDash val="solid"/>
          </a:ln>
        </p:spPr>
        <p:txBody>
          <a:bodyPr wrap="square" lIns="28575" tIns="19050" rIns="28575" bIns="19050" anchor="ctr">
            <a:normAutofit/>
          </a:bodyPr>
          <a:lstStyle/>
          <a:p>
            <a:pPr algn="ctr">
              <a:lnSpc>
                <a:spcPct val="100000"/>
              </a:lnSpc>
              <a:buNone/>
              <a:defRPr sz="900" b="1" i="0">
                <a:solidFill>
                  <a:srgbClr val="FFFFFF"/>
                </a:solidFill>
                <a:latin typeface="Yu Gothic"/>
                <a:ea typeface="Yu Gothic"/>
                <a:cs typeface="Yu Gothic"/>
              </a:defRPr>
            </a:pPr>
            <a:r>
              <a:rPr sz="900" b="1" i="0">
                <a:solidFill>
                  <a:srgbClr val="FFFFFF"/>
                </a:solidFill>
                <a:latin typeface="Yu Gothic"/>
                <a:ea typeface="Yu Gothic"/>
                <a:cs typeface="Yu Gothic"/>
              </a:rPr>
              <a:t>Numerics</a:t>
            </a:r>
          </a:p>
        </p:txBody>
      </p:sp>
      <p:sp>
        <p:nvSpPr>
          <p:cNvPr id="27" name="正方形/長方形 26">
            <a:extLst>
              <a:ext uri="{FF2B5EF4-FFF2-40B4-BE49-F238E27FC236}">
                <a16:creationId xmlns:a16="http://schemas.microsoft.com/office/drawing/2014/main" id="{032634E2-E26E-46A4-91BB-2C3F313004DF}"/>
              </a:ext>
            </a:extLst>
          </p:cNvPr>
          <p:cNvSpPr>
            <a:spLocks noGrp="1"/>
          </p:cNvSpPr>
          <p:nvPr/>
        </p:nvSpPr>
        <p:spPr>
          <a:xfrm>
            <a:off x="1743075" y="3914775"/>
            <a:ext cx="2190750" cy="228600"/>
          </a:xfrm>
          <a:prstGeom prst="rect">
            <a:avLst/>
          </a:prstGeom>
          <a:noFill/>
          <a:ln w="0">
            <a:noFill/>
            <a:prstDash val="solid"/>
          </a:ln>
        </p:spPr>
        <p:txBody>
          <a:bodyPr wrap="square" lIns="28575" tIns="19050" rIns="28575" bIns="19050" anchor="ctr">
            <a:normAutofit/>
          </a:bodyPr>
          <a:lstStyle/>
          <a:p>
            <a:pPr algn="l">
              <a:lnSpc>
                <a:spcPct val="100000"/>
              </a:lnSpc>
              <a:buNone/>
              <a:defRPr sz="1125" b="1" i="0">
                <a:solidFill>
                  <a:srgbClr val="76BE18"/>
                </a:solidFill>
                <a:latin typeface="Yu Gothic"/>
                <a:ea typeface="Yu Gothic"/>
                <a:cs typeface="Yu Gothic"/>
              </a:defRPr>
            </a:pPr>
            <a:r>
              <a:rPr sz="1125" b="1" i="0">
                <a:solidFill>
                  <a:srgbClr val="76BE18"/>
                </a:solidFill>
                <a:latin typeface="Yu Gothic"/>
                <a:ea typeface="Yu Gothic"/>
                <a:cs typeface="Yu Gothic"/>
              </a:rPr>
              <a:t>engine/</a:t>
            </a:r>
          </a:p>
        </p:txBody>
      </p:sp>
      <p:sp>
        <p:nvSpPr>
          <p:cNvPr id="28" name="正方形/長方形 27">
            <a:extLst>
              <a:ext uri="{FF2B5EF4-FFF2-40B4-BE49-F238E27FC236}">
                <a16:creationId xmlns:a16="http://schemas.microsoft.com/office/drawing/2014/main" id="{C409591B-FF85-43F4-8992-6485F6F872CD}"/>
              </a:ext>
            </a:extLst>
          </p:cNvPr>
          <p:cNvSpPr>
            <a:spLocks noGrp="1"/>
          </p:cNvSpPr>
          <p:nvPr/>
        </p:nvSpPr>
        <p:spPr>
          <a:xfrm>
            <a:off x="3981450" y="3914775"/>
            <a:ext cx="3714750" cy="571500"/>
          </a:xfrm>
          <a:prstGeom prst="rect">
            <a:avLst/>
          </a:prstGeom>
          <a:noFill/>
          <a:ln w="0">
            <a:noFill/>
            <a:prstDash val="solid"/>
          </a:ln>
        </p:spPr>
        <p:txBody>
          <a:bodyPr wrap="square" lIns="28575" tIns="19050" rIns="28575" bIns="19050" anchor="ctr">
            <a:normAutofit/>
          </a:bodyPr>
          <a:lstStyle/>
          <a:p>
            <a:pPr algn="l">
              <a:lnSpc>
                <a:spcPct val="106000"/>
              </a:lnSpc>
              <a:buNone/>
              <a:defRPr sz="878" b="0" i="0">
                <a:solidFill>
                  <a:srgbClr val="5B5B5B"/>
                </a:solidFill>
                <a:latin typeface="Yu Gothic"/>
                <a:ea typeface="Yu Gothic"/>
                <a:cs typeface="Yu Gothic"/>
              </a:defRPr>
            </a:pPr>
            <a:r>
              <a:rPr sz="878" b="0" i="0">
                <a:solidFill>
                  <a:srgbClr val="5B5B5B"/>
                </a:solidFill>
                <a:latin typeface="Yu Gothic"/>
                <a:ea typeface="Yu Gothic"/>
                <a:cs typeface="Yu Gothic"/>
              </a:rPr>
              <a:t>thermal network、scalar law、exact/implicit積分、Kalman observer</a:t>
            </a:r>
          </a:p>
        </p:txBody>
      </p:sp>
      <p:sp>
        <p:nvSpPr>
          <p:cNvPr id="29" name="正方形/長方形 28">
            <a:extLst>
              <a:ext uri="{FF2B5EF4-FFF2-40B4-BE49-F238E27FC236}">
                <a16:creationId xmlns:a16="http://schemas.microsoft.com/office/drawing/2014/main" id="{E66AB8D2-40A1-40EB-811E-C77DBB8DC51A}"/>
              </a:ext>
            </a:extLst>
          </p:cNvPr>
          <p:cNvSpPr>
            <a:spLocks noGrp="1"/>
          </p:cNvSpPr>
          <p:nvPr/>
        </p:nvSpPr>
        <p:spPr>
          <a:xfrm>
            <a:off x="552450" y="4686300"/>
            <a:ext cx="7334250" cy="723900"/>
          </a:xfrm>
          <a:prstGeom prst="rect">
            <a:avLst/>
          </a:prstGeom>
          <a:solidFill>
            <a:srgbClr val="FFFFFF"/>
          </a:solidFill>
          <a:ln w="9525">
            <a:solidFill>
              <a:srgbClr val="D6D6D6"/>
            </a:solidFill>
            <a:prstDash val="solid"/>
          </a:ln>
        </p:spPr>
      </p:sp>
      <p:sp>
        <p:nvSpPr>
          <p:cNvPr id="30" name="正方形/長方形 29">
            <a:extLst>
              <a:ext uri="{FF2B5EF4-FFF2-40B4-BE49-F238E27FC236}">
                <a16:creationId xmlns:a16="http://schemas.microsoft.com/office/drawing/2014/main" id="{CA1B4386-C78E-4AD2-87EA-281DDCEA8070}"/>
              </a:ext>
            </a:extLst>
          </p:cNvPr>
          <p:cNvSpPr>
            <a:spLocks noGrp="1"/>
          </p:cNvSpPr>
          <p:nvPr/>
        </p:nvSpPr>
        <p:spPr>
          <a:xfrm>
            <a:off x="552450" y="4686300"/>
            <a:ext cx="990600" cy="723900"/>
          </a:xfrm>
          <a:prstGeom prst="rect">
            <a:avLst/>
          </a:prstGeom>
          <a:solidFill>
            <a:srgbClr val="00A89D"/>
          </a:solidFill>
          <a:ln w="0">
            <a:noFill/>
            <a:prstDash val="solid"/>
          </a:ln>
        </p:spPr>
      </p:sp>
      <p:sp>
        <p:nvSpPr>
          <p:cNvPr id="31" name="正方形/長方形 30">
            <a:extLst>
              <a:ext uri="{FF2B5EF4-FFF2-40B4-BE49-F238E27FC236}">
                <a16:creationId xmlns:a16="http://schemas.microsoft.com/office/drawing/2014/main" id="{8334BE1D-4F77-4FAD-8F88-0BC8EF957E45}"/>
              </a:ext>
            </a:extLst>
          </p:cNvPr>
          <p:cNvSpPr>
            <a:spLocks noGrp="1"/>
          </p:cNvSpPr>
          <p:nvPr/>
        </p:nvSpPr>
        <p:spPr>
          <a:xfrm>
            <a:off x="619125" y="4772025"/>
            <a:ext cx="857250" cy="552450"/>
          </a:xfrm>
          <a:prstGeom prst="rect">
            <a:avLst/>
          </a:prstGeom>
          <a:noFill/>
          <a:ln w="0">
            <a:noFill/>
            <a:prstDash val="solid"/>
          </a:ln>
        </p:spPr>
        <p:txBody>
          <a:bodyPr wrap="square" lIns="28575" tIns="19050" rIns="28575" bIns="19050" anchor="ctr">
            <a:normAutofit/>
          </a:bodyPr>
          <a:lstStyle/>
          <a:p>
            <a:pPr algn="ctr">
              <a:lnSpc>
                <a:spcPct val="100000"/>
              </a:lnSpc>
              <a:buNone/>
              <a:defRPr sz="900" b="1" i="0">
                <a:solidFill>
                  <a:srgbClr val="FFFFFF"/>
                </a:solidFill>
                <a:latin typeface="Yu Gothic"/>
                <a:ea typeface="Yu Gothic"/>
                <a:cs typeface="Yu Gothic"/>
              </a:defRPr>
            </a:pPr>
            <a:r>
              <a:rPr sz="900" b="1" i="0">
                <a:solidFill>
                  <a:srgbClr val="FFFFFF"/>
                </a:solidFill>
                <a:latin typeface="Yu Gothic"/>
                <a:ea typeface="Yu Gothic"/>
                <a:cs typeface="Yu Gothic"/>
              </a:rPr>
              <a:t>Domain / I/O</a:t>
            </a:r>
          </a:p>
        </p:txBody>
      </p:sp>
      <p:sp>
        <p:nvSpPr>
          <p:cNvPr id="32" name="正方形/長方形 31">
            <a:extLst>
              <a:ext uri="{FF2B5EF4-FFF2-40B4-BE49-F238E27FC236}">
                <a16:creationId xmlns:a16="http://schemas.microsoft.com/office/drawing/2014/main" id="{E8BE7862-027E-4413-984D-F7636F9121A6}"/>
              </a:ext>
            </a:extLst>
          </p:cNvPr>
          <p:cNvSpPr>
            <a:spLocks noGrp="1"/>
          </p:cNvSpPr>
          <p:nvPr/>
        </p:nvSpPr>
        <p:spPr>
          <a:xfrm>
            <a:off x="1743075" y="4762500"/>
            <a:ext cx="2190750" cy="228600"/>
          </a:xfrm>
          <a:prstGeom prst="rect">
            <a:avLst/>
          </a:prstGeom>
          <a:noFill/>
          <a:ln w="0">
            <a:noFill/>
            <a:prstDash val="solid"/>
          </a:ln>
        </p:spPr>
        <p:txBody>
          <a:bodyPr wrap="square" lIns="28575" tIns="19050" rIns="28575" bIns="19050" anchor="ctr">
            <a:normAutofit/>
          </a:bodyPr>
          <a:lstStyle/>
          <a:p>
            <a:pPr algn="l">
              <a:lnSpc>
                <a:spcPct val="100000"/>
              </a:lnSpc>
              <a:buNone/>
              <a:defRPr sz="1125" b="1" i="0">
                <a:solidFill>
                  <a:srgbClr val="00A89D"/>
                </a:solidFill>
                <a:latin typeface="Yu Gothic"/>
                <a:ea typeface="Yu Gothic"/>
                <a:cs typeface="Yu Gothic"/>
              </a:defRPr>
            </a:pPr>
            <a:r>
              <a:rPr sz="1125" b="1" i="0">
                <a:solidFill>
                  <a:srgbClr val="00A89D"/>
                </a:solidFill>
                <a:latin typeface="Yu Gothic"/>
                <a:ea typeface="Yu Gothic"/>
                <a:cs typeface="Yu Gothic"/>
              </a:rPr>
              <a:t>domain/  +  io/  +  config.py</a:t>
            </a:r>
          </a:p>
        </p:txBody>
      </p:sp>
      <p:sp>
        <p:nvSpPr>
          <p:cNvPr id="33" name="正方形/長方形 32">
            <a:extLst>
              <a:ext uri="{FF2B5EF4-FFF2-40B4-BE49-F238E27FC236}">
                <a16:creationId xmlns:a16="http://schemas.microsoft.com/office/drawing/2014/main" id="{EF28D7E2-861A-46B2-A636-D2205C931FF0}"/>
              </a:ext>
            </a:extLst>
          </p:cNvPr>
          <p:cNvSpPr>
            <a:spLocks noGrp="1"/>
          </p:cNvSpPr>
          <p:nvPr/>
        </p:nvSpPr>
        <p:spPr>
          <a:xfrm>
            <a:off x="3981450" y="4762500"/>
            <a:ext cx="3714750" cy="571500"/>
          </a:xfrm>
          <a:prstGeom prst="rect">
            <a:avLst/>
          </a:prstGeom>
          <a:noFill/>
          <a:ln w="0">
            <a:noFill/>
            <a:prstDash val="solid"/>
          </a:ln>
        </p:spPr>
        <p:txBody>
          <a:bodyPr wrap="square" lIns="28575" tIns="19050" rIns="28575" bIns="19050" anchor="ctr">
            <a:normAutofit/>
          </a:bodyPr>
          <a:lstStyle/>
          <a:p>
            <a:pPr algn="l">
              <a:lnSpc>
                <a:spcPct val="106000"/>
              </a:lnSpc>
              <a:buNone/>
              <a:defRPr sz="878" b="0" i="0">
                <a:solidFill>
                  <a:srgbClr val="5B5B5B"/>
                </a:solidFill>
                <a:latin typeface="Yu Gothic"/>
                <a:ea typeface="Yu Gothic"/>
                <a:cs typeface="Yu Gothic"/>
              </a:defRPr>
            </a:pPr>
            <a:r>
              <a:rPr sz="878" b="0" i="0">
                <a:solidFill>
                  <a:srgbClr val="5B5B5B"/>
                </a:solidFill>
                <a:latin typeface="Yu Gothic"/>
                <a:ea typeface="Yu Gothic"/>
                <a:cs typeface="Yu Gothic"/>
              </a:rPr>
              <a:t>Trajectory、ThermalSystemSpec、CSV/YAML schema、validation</a:t>
            </a:r>
          </a:p>
        </p:txBody>
      </p:sp>
      <p:cxnSp>
        <p:nvCxnSpPr>
          <p:cNvPr id="90" name="直線矢印コネクタ 89"/>
          <p:cNvCxnSpPr>
            <a:stCxn id="9" idx="2"/>
            <a:endCxn id="14" idx="0"/>
          </p:cNvCxnSpPr>
          <p:nvPr/>
        </p:nvCxnSpPr>
        <p:spPr>
          <a:xfrm>
            <a:off x="4219575" y="2019300"/>
            <a:ext cx="0" cy="123825"/>
          </a:xfrm>
          <a:prstGeom prst="straightConnector1">
            <a:avLst/>
          </a:prstGeom>
          <a:ln w="14288">
            <a:solidFill>
              <a:srgbClr val="007FA8"/>
            </a:solidFill>
            <a:prstDash val="solid"/>
            <a:tailEnd type="triangle" w="sm" len="sm"/>
          </a:ln>
        </p:spPr>
      </p:cxnSp>
      <p:cxnSp>
        <p:nvCxnSpPr>
          <p:cNvPr id="91" name="直線矢印コネクタ 90"/>
          <p:cNvCxnSpPr>
            <a:stCxn id="14" idx="2"/>
            <a:endCxn id="19" idx="0"/>
          </p:cNvCxnSpPr>
          <p:nvPr/>
        </p:nvCxnSpPr>
        <p:spPr>
          <a:xfrm>
            <a:off x="4219575" y="2867025"/>
            <a:ext cx="0" cy="123825"/>
          </a:xfrm>
          <a:prstGeom prst="straightConnector1">
            <a:avLst/>
          </a:prstGeom>
          <a:ln w="14288">
            <a:solidFill>
              <a:srgbClr val="007FA8"/>
            </a:solidFill>
            <a:prstDash val="solid"/>
            <a:tailEnd type="triangle" w="sm" len="sm"/>
          </a:ln>
        </p:spPr>
      </p:cxnSp>
      <p:cxnSp>
        <p:nvCxnSpPr>
          <p:cNvPr id="92" name="直線矢印コネクタ 91"/>
          <p:cNvCxnSpPr>
            <a:stCxn id="19" idx="2"/>
            <a:endCxn id="24" idx="0"/>
          </p:cNvCxnSpPr>
          <p:nvPr/>
        </p:nvCxnSpPr>
        <p:spPr>
          <a:xfrm>
            <a:off x="4219575" y="3714750"/>
            <a:ext cx="0" cy="123825"/>
          </a:xfrm>
          <a:prstGeom prst="straightConnector1">
            <a:avLst/>
          </a:prstGeom>
          <a:ln w="14288">
            <a:solidFill>
              <a:srgbClr val="007FA8"/>
            </a:solidFill>
            <a:prstDash val="solid"/>
            <a:tailEnd type="triangle" w="sm" len="sm"/>
          </a:ln>
        </p:spPr>
      </p:cxnSp>
      <p:cxnSp>
        <p:nvCxnSpPr>
          <p:cNvPr id="93" name="直線矢印コネクタ 92"/>
          <p:cNvCxnSpPr>
            <a:stCxn id="24" idx="2"/>
            <a:endCxn id="29" idx="0"/>
          </p:cNvCxnSpPr>
          <p:nvPr/>
        </p:nvCxnSpPr>
        <p:spPr>
          <a:xfrm>
            <a:off x="4219575" y="4562475"/>
            <a:ext cx="0" cy="123825"/>
          </a:xfrm>
          <a:prstGeom prst="straightConnector1">
            <a:avLst/>
          </a:prstGeom>
          <a:ln w="14288">
            <a:solidFill>
              <a:srgbClr val="007FA8"/>
            </a:solidFill>
            <a:prstDash val="solid"/>
            <a:tailEnd type="triangle" w="sm" len="sm"/>
          </a:ln>
        </p:spPr>
      </p:cxnSp>
      <p:sp>
        <p:nvSpPr>
          <p:cNvPr id="38" name="正方形/長方形 37">
            <a:extLst>
              <a:ext uri="{FF2B5EF4-FFF2-40B4-BE49-F238E27FC236}">
                <a16:creationId xmlns:a16="http://schemas.microsoft.com/office/drawing/2014/main" id="{D9468E2A-1466-45B9-AE31-FD836C0EAAFD}"/>
              </a:ext>
            </a:extLst>
          </p:cNvPr>
          <p:cNvSpPr>
            <a:spLocks noGrp="1"/>
          </p:cNvSpPr>
          <p:nvPr/>
        </p:nvSpPr>
        <p:spPr>
          <a:xfrm>
            <a:off x="8267700" y="1438275"/>
            <a:ext cx="3371850" cy="1743075"/>
          </a:xfrm>
          <a:prstGeom prst="rect">
            <a:avLst/>
          </a:prstGeom>
          <a:solidFill>
            <a:srgbClr val="F8F8F8"/>
          </a:solidFill>
          <a:ln w="9525">
            <a:solidFill>
              <a:srgbClr val="D6D6D6"/>
            </a:solidFill>
            <a:prstDash val="solid"/>
          </a:ln>
        </p:spPr>
      </p:sp>
      <p:sp>
        <p:nvSpPr>
          <p:cNvPr id="39" name="正方形/長方形 38">
            <a:extLst>
              <a:ext uri="{FF2B5EF4-FFF2-40B4-BE49-F238E27FC236}">
                <a16:creationId xmlns:a16="http://schemas.microsoft.com/office/drawing/2014/main" id="{666DA6FC-5A3A-4542-8B56-8792E42E460E}"/>
              </a:ext>
            </a:extLst>
          </p:cNvPr>
          <p:cNvSpPr>
            <a:spLocks noGrp="1"/>
          </p:cNvSpPr>
          <p:nvPr/>
        </p:nvSpPr>
        <p:spPr>
          <a:xfrm>
            <a:off x="8467725" y="1619250"/>
            <a:ext cx="2952750" cy="266700"/>
          </a:xfrm>
          <a:prstGeom prst="rect">
            <a:avLst/>
          </a:prstGeom>
          <a:noFill/>
          <a:ln w="0">
            <a:noFill/>
            <a:prstDash val="solid"/>
          </a:ln>
        </p:spPr>
        <p:txBody>
          <a:bodyPr wrap="square" lIns="28575" tIns="19050" rIns="28575" bIns="19050" anchor="ctr">
            <a:normAutofit/>
          </a:bodyPr>
          <a:lstStyle/>
          <a:p>
            <a:pPr algn="l">
              <a:lnSpc>
                <a:spcPct val="100000"/>
              </a:lnSpc>
              <a:buNone/>
              <a:defRPr sz="1350" b="1" i="0">
                <a:solidFill>
                  <a:srgbClr val="3F3F3F"/>
                </a:solidFill>
                <a:latin typeface="Yu Gothic"/>
                <a:ea typeface="Yu Gothic"/>
                <a:cs typeface="Yu Gothic"/>
              </a:defRPr>
            </a:pPr>
            <a:r>
              <a:rPr sz="1350" b="1" i="0">
                <a:solidFill>
                  <a:srgbClr val="3F3F3F"/>
                </a:solidFill>
                <a:latin typeface="Yu Gothic"/>
                <a:ea typeface="Yu Gothic"/>
                <a:cs typeface="Yu Gothic"/>
              </a:rPr>
              <a:t>独立配備artifact</a:t>
            </a:r>
          </a:p>
        </p:txBody>
      </p:sp>
      <p:sp>
        <p:nvSpPr>
          <p:cNvPr id="40" name="正方形/長方形 39">
            <a:extLst>
              <a:ext uri="{FF2B5EF4-FFF2-40B4-BE49-F238E27FC236}">
                <a16:creationId xmlns:a16="http://schemas.microsoft.com/office/drawing/2014/main" id="{C190A835-443F-4057-95C4-A0CADE929B92}"/>
              </a:ext>
            </a:extLst>
          </p:cNvPr>
          <p:cNvSpPr>
            <a:spLocks noGrp="1"/>
          </p:cNvSpPr>
          <p:nvPr/>
        </p:nvSpPr>
        <p:spPr>
          <a:xfrm>
            <a:off x="8467725" y="2038350"/>
            <a:ext cx="1066800" cy="219075"/>
          </a:xfrm>
          <a:prstGeom prst="rect">
            <a:avLst/>
          </a:prstGeom>
          <a:noFill/>
          <a:ln w="0">
            <a:noFill/>
            <a:prstDash val="solid"/>
          </a:ln>
        </p:spPr>
        <p:txBody>
          <a:bodyPr wrap="square" lIns="28575" tIns="19050" rIns="28575" bIns="19050" anchor="ctr">
            <a:normAutofit/>
          </a:bodyPr>
          <a:lstStyle/>
          <a:p>
            <a:pPr algn="l">
              <a:lnSpc>
                <a:spcPct val="100000"/>
              </a:lnSpc>
              <a:buNone/>
              <a:defRPr sz="938" b="1" i="0">
                <a:solidFill>
                  <a:srgbClr val="007FA8"/>
                </a:solidFill>
                <a:latin typeface="Yu Gothic"/>
                <a:ea typeface="Yu Gothic"/>
                <a:cs typeface="Yu Gothic"/>
              </a:defRPr>
            </a:pPr>
            <a:r>
              <a:rPr sz="938" b="1" i="0">
                <a:solidFill>
                  <a:srgbClr val="007FA8"/>
                </a:solidFill>
                <a:latin typeface="Yu Gothic"/>
                <a:ea typeface="Yu Gothic"/>
                <a:cs typeface="Yu Gothic"/>
              </a:rPr>
              <a:t>model.pt</a:t>
            </a:r>
          </a:p>
        </p:txBody>
      </p:sp>
      <p:sp>
        <p:nvSpPr>
          <p:cNvPr id="41" name="正方形/長方形 40">
            <a:extLst>
              <a:ext uri="{FF2B5EF4-FFF2-40B4-BE49-F238E27FC236}">
                <a16:creationId xmlns:a16="http://schemas.microsoft.com/office/drawing/2014/main" id="{21D26BDF-A0F1-4D88-BD74-90940C8146EA}"/>
              </a:ext>
            </a:extLst>
          </p:cNvPr>
          <p:cNvSpPr>
            <a:spLocks noGrp="1"/>
          </p:cNvSpPr>
          <p:nvPr/>
        </p:nvSpPr>
        <p:spPr>
          <a:xfrm>
            <a:off x="9563100" y="2038350"/>
            <a:ext cx="1866900" cy="219075"/>
          </a:xfrm>
          <a:prstGeom prst="rect">
            <a:avLst/>
          </a:prstGeom>
          <a:noFill/>
          <a:ln w="0">
            <a:noFill/>
            <a:prstDash val="solid"/>
          </a:ln>
        </p:spPr>
        <p:txBody>
          <a:bodyPr wrap="square" lIns="28575" tIns="19050" rIns="28575" bIns="19050" anchor="ctr">
            <a:normAutofit/>
          </a:bodyPr>
          <a:lstStyle/>
          <a:p>
            <a:pPr algn="l">
              <a:lnSpc>
                <a:spcPct val="100000"/>
              </a:lnSpc>
              <a:buNone/>
              <a:defRPr sz="840" b="0" i="0">
                <a:solidFill>
                  <a:srgbClr val="5B5B5B"/>
                </a:solidFill>
                <a:latin typeface="Yu Gothic"/>
                <a:ea typeface="Yu Gothic"/>
                <a:cs typeface="Yu Gothic"/>
              </a:defRPr>
            </a:pPr>
            <a:r>
              <a:rPr sz="840" b="0" i="0">
                <a:solidFill>
                  <a:srgbClr val="5B5B5B"/>
                </a:solidFill>
                <a:latin typeface="Yu Gothic"/>
                <a:ea typeface="Yu Gothic"/>
                <a:cs typeface="Yu Gothic"/>
              </a:rPr>
              <a:t>learned state_dict</a:t>
            </a:r>
          </a:p>
        </p:txBody>
      </p:sp>
      <p:sp>
        <p:nvSpPr>
          <p:cNvPr id="42" name="正方形/長方形 41">
            <a:extLst>
              <a:ext uri="{FF2B5EF4-FFF2-40B4-BE49-F238E27FC236}">
                <a16:creationId xmlns:a16="http://schemas.microsoft.com/office/drawing/2014/main" id="{908117CC-58A1-454A-8607-1B06BE093D04}"/>
              </a:ext>
            </a:extLst>
          </p:cNvPr>
          <p:cNvSpPr>
            <a:spLocks noGrp="1"/>
          </p:cNvSpPr>
          <p:nvPr/>
        </p:nvSpPr>
        <p:spPr>
          <a:xfrm>
            <a:off x="8467725" y="2362200"/>
            <a:ext cx="1066800" cy="219075"/>
          </a:xfrm>
          <a:prstGeom prst="rect">
            <a:avLst/>
          </a:prstGeom>
          <a:noFill/>
          <a:ln w="0">
            <a:noFill/>
            <a:prstDash val="solid"/>
          </a:ln>
        </p:spPr>
        <p:txBody>
          <a:bodyPr wrap="square" lIns="28575" tIns="19050" rIns="28575" bIns="19050" anchor="ctr">
            <a:normAutofit/>
          </a:bodyPr>
          <a:lstStyle/>
          <a:p>
            <a:pPr algn="l">
              <a:lnSpc>
                <a:spcPct val="100000"/>
              </a:lnSpc>
              <a:buNone/>
              <a:defRPr sz="938" b="1" i="0">
                <a:solidFill>
                  <a:srgbClr val="007FA8"/>
                </a:solidFill>
                <a:latin typeface="Yu Gothic"/>
                <a:ea typeface="Yu Gothic"/>
                <a:cs typeface="Yu Gothic"/>
              </a:defRPr>
            </a:pPr>
            <a:r>
              <a:rPr sz="938" b="1" i="0">
                <a:solidFill>
                  <a:srgbClr val="007FA8"/>
                </a:solidFill>
                <a:latin typeface="Yu Gothic"/>
                <a:ea typeface="Yu Gothic"/>
                <a:cs typeface="Yu Gothic"/>
              </a:rPr>
              <a:t>system.yaml</a:t>
            </a:r>
          </a:p>
        </p:txBody>
      </p:sp>
      <p:sp>
        <p:nvSpPr>
          <p:cNvPr id="43" name="正方形/長方形 42">
            <a:extLst>
              <a:ext uri="{FF2B5EF4-FFF2-40B4-BE49-F238E27FC236}">
                <a16:creationId xmlns:a16="http://schemas.microsoft.com/office/drawing/2014/main" id="{01C8BF8D-9451-474B-8D90-E85F53C5C361}"/>
              </a:ext>
            </a:extLst>
          </p:cNvPr>
          <p:cNvSpPr>
            <a:spLocks noGrp="1"/>
          </p:cNvSpPr>
          <p:nvPr/>
        </p:nvSpPr>
        <p:spPr>
          <a:xfrm>
            <a:off x="9563100" y="2362200"/>
            <a:ext cx="1866900" cy="219075"/>
          </a:xfrm>
          <a:prstGeom prst="rect">
            <a:avLst/>
          </a:prstGeom>
          <a:noFill/>
          <a:ln w="0">
            <a:noFill/>
            <a:prstDash val="solid"/>
          </a:ln>
        </p:spPr>
        <p:txBody>
          <a:bodyPr wrap="square" lIns="28575" tIns="19050" rIns="28575" bIns="19050" anchor="ctr">
            <a:normAutofit/>
          </a:bodyPr>
          <a:lstStyle/>
          <a:p>
            <a:pPr algn="l">
              <a:lnSpc>
                <a:spcPct val="100000"/>
              </a:lnSpc>
              <a:buNone/>
              <a:defRPr sz="840" b="0" i="0">
                <a:solidFill>
                  <a:srgbClr val="5B5B5B"/>
                </a:solidFill>
                <a:latin typeface="Yu Gothic"/>
                <a:ea typeface="Yu Gothic"/>
                <a:cs typeface="Yu Gothic"/>
              </a:defRPr>
            </a:pPr>
            <a:r>
              <a:rPr sz="840" b="0" i="0">
                <a:solidFill>
                  <a:srgbClr val="5B5B5B"/>
                </a:solidFill>
                <a:latin typeface="Yu Gothic"/>
                <a:ea typeface="Yu Gothic"/>
                <a:cs typeface="Yu Gothic"/>
              </a:rPr>
              <a:t>topology / capacity / priors</a:t>
            </a:r>
          </a:p>
        </p:txBody>
      </p:sp>
      <p:sp>
        <p:nvSpPr>
          <p:cNvPr id="44" name="正方形/長方形 43">
            <a:extLst>
              <a:ext uri="{FF2B5EF4-FFF2-40B4-BE49-F238E27FC236}">
                <a16:creationId xmlns:a16="http://schemas.microsoft.com/office/drawing/2014/main" id="{2EC343D4-E8BA-4486-832F-E17A1C75DDCA}"/>
              </a:ext>
            </a:extLst>
          </p:cNvPr>
          <p:cNvSpPr>
            <a:spLocks noGrp="1"/>
          </p:cNvSpPr>
          <p:nvPr/>
        </p:nvSpPr>
        <p:spPr>
          <a:xfrm>
            <a:off x="8467725" y="2686050"/>
            <a:ext cx="1066800" cy="219075"/>
          </a:xfrm>
          <a:prstGeom prst="rect">
            <a:avLst/>
          </a:prstGeom>
          <a:noFill/>
          <a:ln w="0">
            <a:noFill/>
            <a:prstDash val="solid"/>
          </a:ln>
        </p:spPr>
        <p:txBody>
          <a:bodyPr wrap="square" lIns="28575" tIns="19050" rIns="28575" bIns="19050" anchor="ctr">
            <a:normAutofit/>
          </a:bodyPr>
          <a:lstStyle/>
          <a:p>
            <a:pPr algn="l">
              <a:lnSpc>
                <a:spcPct val="100000"/>
              </a:lnSpc>
              <a:buNone/>
              <a:defRPr sz="938" b="1" i="0">
                <a:solidFill>
                  <a:srgbClr val="007FA8"/>
                </a:solidFill>
                <a:latin typeface="Yu Gothic"/>
                <a:ea typeface="Yu Gothic"/>
                <a:cs typeface="Yu Gothic"/>
              </a:defRPr>
            </a:pPr>
            <a:r>
              <a:rPr sz="938" b="1" i="0">
                <a:solidFill>
                  <a:srgbClr val="007FA8"/>
                </a:solidFill>
                <a:latin typeface="Yu Gothic"/>
                <a:ea typeface="Yu Gothic"/>
                <a:cs typeface="Yu Gothic"/>
              </a:rPr>
              <a:t>metadata.json</a:t>
            </a:r>
          </a:p>
        </p:txBody>
      </p:sp>
      <p:sp>
        <p:nvSpPr>
          <p:cNvPr id="45" name="正方形/長方形 44">
            <a:extLst>
              <a:ext uri="{FF2B5EF4-FFF2-40B4-BE49-F238E27FC236}">
                <a16:creationId xmlns:a16="http://schemas.microsoft.com/office/drawing/2014/main" id="{F970693D-C463-472B-A914-4A182B873DF4}"/>
              </a:ext>
            </a:extLst>
          </p:cNvPr>
          <p:cNvSpPr>
            <a:spLocks noGrp="1"/>
          </p:cNvSpPr>
          <p:nvPr/>
        </p:nvSpPr>
        <p:spPr>
          <a:xfrm>
            <a:off x="9563100" y="2686050"/>
            <a:ext cx="1866900" cy="219075"/>
          </a:xfrm>
          <a:prstGeom prst="rect">
            <a:avLst/>
          </a:prstGeom>
          <a:noFill/>
          <a:ln w="0">
            <a:noFill/>
            <a:prstDash val="solid"/>
          </a:ln>
        </p:spPr>
        <p:txBody>
          <a:bodyPr wrap="square" lIns="28575" tIns="19050" rIns="28575" bIns="19050" anchor="ctr">
            <a:normAutofit/>
          </a:bodyPr>
          <a:lstStyle/>
          <a:p>
            <a:pPr algn="l">
              <a:lnSpc>
                <a:spcPct val="100000"/>
              </a:lnSpc>
              <a:buNone/>
              <a:defRPr sz="840" b="0" i="0">
                <a:solidFill>
                  <a:srgbClr val="5B5B5B"/>
                </a:solidFill>
                <a:latin typeface="Yu Gothic"/>
                <a:ea typeface="Yu Gothic"/>
                <a:cs typeface="Yu Gothic"/>
              </a:defRPr>
            </a:pPr>
            <a:r>
              <a:rPr sz="840" b="0" i="0">
                <a:solidFill>
                  <a:srgbClr val="5B5B5B"/>
                </a:solidFill>
                <a:latin typeface="Yu Gothic"/>
                <a:ea typeface="Yu Gothic"/>
                <a:cs typeface="Yu Gothic"/>
              </a:rPr>
              <a:t>schema / fitted values / SHA-256</a:t>
            </a:r>
          </a:p>
        </p:txBody>
      </p:sp>
      <p:sp>
        <p:nvSpPr>
          <p:cNvPr id="46" name="正方形/長方形 45">
            <a:extLst>
              <a:ext uri="{FF2B5EF4-FFF2-40B4-BE49-F238E27FC236}">
                <a16:creationId xmlns:a16="http://schemas.microsoft.com/office/drawing/2014/main" id="{83EFC6EA-60DA-46DB-A049-1DB7FE8C2713}"/>
              </a:ext>
            </a:extLst>
          </p:cNvPr>
          <p:cNvSpPr>
            <a:spLocks noGrp="1"/>
          </p:cNvSpPr>
          <p:nvPr/>
        </p:nvSpPr>
        <p:spPr>
          <a:xfrm>
            <a:off x="8267700" y="3352800"/>
            <a:ext cx="3371850" cy="1143000"/>
          </a:xfrm>
          <a:prstGeom prst="rect">
            <a:avLst/>
          </a:prstGeom>
          <a:solidFill>
            <a:srgbClr val="E5F6FB"/>
          </a:solidFill>
          <a:ln w="9525">
            <a:solidFill>
              <a:srgbClr val="00A5D8"/>
            </a:solidFill>
            <a:prstDash val="solid"/>
          </a:ln>
        </p:spPr>
      </p:sp>
      <p:cxnSp>
        <p:nvCxnSpPr>
          <p:cNvPr id="103" name="直線矢印コネクタ 102"/>
          <p:cNvCxnSpPr>
            <a:stCxn id="19" idx="3"/>
            <a:endCxn id="46" idx="1"/>
          </p:cNvCxnSpPr>
          <p:nvPr/>
        </p:nvCxnSpPr>
        <p:spPr>
          <a:xfrm>
            <a:off x="7886700" y="3352800"/>
            <a:ext cx="381000" cy="571500"/>
          </a:xfrm>
          <a:prstGeom prst="straightConnector1">
            <a:avLst/>
          </a:prstGeom>
          <a:ln w="19050">
            <a:solidFill>
              <a:srgbClr val="00A5D8"/>
            </a:solidFill>
            <a:prstDash val="solid"/>
            <a:tailEnd type="triangle" w="sm" len="sm"/>
          </a:ln>
        </p:spPr>
      </p:cxnSp>
      <p:sp>
        <p:nvSpPr>
          <p:cNvPr id="48" name="正方形/長方形 47">
            <a:extLst>
              <a:ext uri="{FF2B5EF4-FFF2-40B4-BE49-F238E27FC236}">
                <a16:creationId xmlns:a16="http://schemas.microsoft.com/office/drawing/2014/main" id="{4775F932-2CD6-4E05-A07F-0A1C33BFAE28}"/>
              </a:ext>
            </a:extLst>
          </p:cNvPr>
          <p:cNvSpPr>
            <a:spLocks noGrp="1"/>
          </p:cNvSpPr>
          <p:nvPr/>
        </p:nvSpPr>
        <p:spPr>
          <a:xfrm>
            <a:off x="8467725" y="3505200"/>
            <a:ext cx="2952750" cy="238125"/>
          </a:xfrm>
          <a:prstGeom prst="rect">
            <a:avLst/>
          </a:prstGeom>
          <a:noFill/>
          <a:ln w="0">
            <a:noFill/>
            <a:prstDash val="solid"/>
          </a:ln>
        </p:spPr>
        <p:txBody>
          <a:bodyPr wrap="square" lIns="28575" tIns="19050" rIns="28575" bIns="19050" anchor="ctr">
            <a:normAutofit/>
          </a:bodyPr>
          <a:lstStyle/>
          <a:p>
            <a:pPr algn="l">
              <a:lnSpc>
                <a:spcPct val="100000"/>
              </a:lnSpc>
              <a:buNone/>
              <a:defRPr sz="1200" b="1" i="0">
                <a:solidFill>
                  <a:srgbClr val="007FA8"/>
                </a:solidFill>
                <a:latin typeface="Yu Gothic"/>
                <a:ea typeface="Yu Gothic"/>
                <a:cs typeface="Yu Gothic"/>
              </a:defRPr>
            </a:pPr>
            <a:r>
              <a:rPr sz="1200" b="1" i="0">
                <a:solidFill>
                  <a:srgbClr val="007FA8"/>
                </a:solidFill>
                <a:latin typeface="Yu Gothic"/>
                <a:ea typeface="Yu Gothic"/>
                <a:cs typeface="Yu Gothic"/>
              </a:rPr>
              <a:t>runtime data contract</a:t>
            </a:r>
          </a:p>
        </p:txBody>
      </p:sp>
      <p:sp>
        <p:nvSpPr>
          <p:cNvPr id="49" name="正方形/長方形 48">
            <a:extLst>
              <a:ext uri="{FF2B5EF4-FFF2-40B4-BE49-F238E27FC236}">
                <a16:creationId xmlns:a16="http://schemas.microsoft.com/office/drawing/2014/main" id="{0E1AEDF1-FC4D-4AA4-9DEB-8F760D7E8D5C}"/>
              </a:ext>
            </a:extLst>
          </p:cNvPr>
          <p:cNvSpPr>
            <a:spLocks noGrp="1"/>
          </p:cNvSpPr>
          <p:nvPr/>
        </p:nvSpPr>
        <p:spPr>
          <a:xfrm>
            <a:off x="8467725" y="3829050"/>
            <a:ext cx="2952750" cy="495300"/>
          </a:xfrm>
          <a:prstGeom prst="rect">
            <a:avLst/>
          </a:prstGeom>
          <a:noFill/>
          <a:ln w="0">
            <a:noFill/>
            <a:prstDash val="solid"/>
          </a:ln>
        </p:spPr>
        <p:txBody>
          <a:bodyPr wrap="square" lIns="28575" tIns="19050" rIns="28575" bIns="19050" anchor="ctr">
            <a:normAutofit/>
          </a:bodyPr>
          <a:lstStyle/>
          <a:p>
            <a:pPr algn="ctr">
              <a:lnSpc>
                <a:spcPct val="108000"/>
              </a:lnSpc>
              <a:buNone/>
              <a:defRPr sz="975" b="0" i="0">
                <a:solidFill>
                  <a:srgbClr val="5B5B5B"/>
                </a:solidFill>
                <a:latin typeface="Cambria Math"/>
                <a:ea typeface="Cambria Math"/>
                <a:cs typeface="Cambria Math"/>
              </a:defRPr>
            </a:pPr>
            <a:r>
              <a:rPr sz="975" b="0" i="0">
                <a:solidFill>
                  <a:srgbClr val="5B5B5B"/>
                </a:solidFill>
                <a:latin typeface="Cambria Math"/>
                <a:ea typeface="Cambria Math"/>
                <a:cs typeface="Cambria Math"/>
              </a:rPr>
              <a:t>Trajectory = time[N] + temperature[N,S]</a:t>
            </a:r>
          </a:p>
          <a:p>
            <a:pPr algn="ctr">
              <a:lnSpc>
                <a:spcPct val="108000"/>
              </a:lnSpc>
              <a:buNone/>
              <a:defRPr sz="975" b="0" i="0">
                <a:solidFill>
                  <a:srgbClr val="5B5B5B"/>
                </a:solidFill>
                <a:latin typeface="Cambria Math"/>
                <a:ea typeface="Cambria Math"/>
                <a:cs typeface="Cambria Math"/>
              </a:defRPr>
            </a:pPr>
            <a:r>
              <a:rPr sz="975" b="0" i="0">
                <a:solidFill>
                  <a:srgbClr val="5B5B5B"/>
                </a:solidFill>
                <a:latin typeface="Cambria Math"/>
                <a:ea typeface="Cambria Math"/>
                <a:cs typeface="Cambria Math"/>
              </a:rPr>
              <a:t>+ commands[N−1,U] + mask[N,S]</a:t>
            </a:r>
          </a:p>
        </p:txBody>
      </p:sp>
      <p:sp>
        <p:nvSpPr>
          <p:cNvPr id="50" name="正方形/長方形 49">
            <a:extLst>
              <a:ext uri="{FF2B5EF4-FFF2-40B4-BE49-F238E27FC236}">
                <a16:creationId xmlns:a16="http://schemas.microsoft.com/office/drawing/2014/main" id="{3CF6B13E-4A7F-4F9C-BF92-23EC349FC003}"/>
              </a:ext>
            </a:extLst>
          </p:cNvPr>
          <p:cNvSpPr>
            <a:spLocks noGrp="1"/>
          </p:cNvSpPr>
          <p:nvPr/>
        </p:nvSpPr>
        <p:spPr>
          <a:xfrm>
            <a:off x="8267700" y="4686300"/>
            <a:ext cx="3371850" cy="723900"/>
          </a:xfrm>
          <a:prstGeom prst="rect">
            <a:avLst/>
          </a:prstGeom>
          <a:solidFill>
            <a:srgbClr val="EEF7DF"/>
          </a:solidFill>
          <a:ln w="9525">
            <a:solidFill>
              <a:srgbClr val="76BE18"/>
            </a:solidFill>
            <a:prstDash val="solid"/>
          </a:ln>
        </p:spPr>
      </p:sp>
      <p:sp>
        <p:nvSpPr>
          <p:cNvPr id="51" name="正方形/長方形 50">
            <a:extLst>
              <a:ext uri="{FF2B5EF4-FFF2-40B4-BE49-F238E27FC236}">
                <a16:creationId xmlns:a16="http://schemas.microsoft.com/office/drawing/2014/main" id="{CC534312-71E9-4980-A7A4-B2B26B681303}"/>
              </a:ext>
            </a:extLst>
          </p:cNvPr>
          <p:cNvSpPr>
            <a:spLocks noGrp="1"/>
          </p:cNvSpPr>
          <p:nvPr/>
        </p:nvSpPr>
        <p:spPr>
          <a:xfrm>
            <a:off x="8448675" y="4800600"/>
            <a:ext cx="762000" cy="209550"/>
          </a:xfrm>
          <a:prstGeom prst="rect">
            <a:avLst/>
          </a:prstGeom>
          <a:noFill/>
          <a:ln w="0">
            <a:noFill/>
            <a:prstDash val="solid"/>
          </a:ln>
        </p:spPr>
        <p:txBody>
          <a:bodyPr wrap="square" lIns="28575" tIns="19050" rIns="28575" bIns="19050" anchor="ctr">
            <a:normAutofit/>
          </a:bodyPr>
          <a:lstStyle/>
          <a:p>
            <a:pPr algn="l">
              <a:lnSpc>
                <a:spcPct val="100000"/>
              </a:lnSpc>
              <a:buNone/>
              <a:defRPr sz="938" b="1" i="0">
                <a:solidFill>
                  <a:srgbClr val="4D8710"/>
                </a:solidFill>
                <a:latin typeface="Yu Gothic"/>
                <a:ea typeface="Yu Gothic"/>
                <a:cs typeface="Yu Gothic"/>
              </a:defRPr>
            </a:pPr>
            <a:r>
              <a:rPr sz="938" b="1" i="0">
                <a:solidFill>
                  <a:srgbClr val="4D8710"/>
                </a:solidFill>
                <a:latin typeface="Yu Gothic"/>
                <a:ea typeface="Yu Gothic"/>
                <a:cs typeface="Yu Gothic"/>
              </a:rPr>
              <a:t>外部境界</a:t>
            </a:r>
          </a:p>
        </p:txBody>
      </p:sp>
      <p:sp>
        <p:nvSpPr>
          <p:cNvPr id="52" name="正方形/長方形 51">
            <a:extLst>
              <a:ext uri="{FF2B5EF4-FFF2-40B4-BE49-F238E27FC236}">
                <a16:creationId xmlns:a16="http://schemas.microsoft.com/office/drawing/2014/main" id="{77C473D0-88CC-402D-9B06-93882A58A088}"/>
              </a:ext>
            </a:extLst>
          </p:cNvPr>
          <p:cNvSpPr>
            <a:spLocks noGrp="1"/>
          </p:cNvSpPr>
          <p:nvPr/>
        </p:nvSpPr>
        <p:spPr>
          <a:xfrm>
            <a:off x="9239250" y="4791075"/>
            <a:ext cx="2190750" cy="228600"/>
          </a:xfrm>
          <a:prstGeom prst="rect">
            <a:avLst/>
          </a:prstGeom>
          <a:noFill/>
          <a:ln w="0">
            <a:noFill/>
            <a:prstDash val="solid"/>
          </a:ln>
        </p:spPr>
        <p:txBody>
          <a:bodyPr wrap="square" lIns="28575" tIns="19050" rIns="28575" bIns="19050" anchor="ctr">
            <a:normAutofit/>
          </a:bodyPr>
          <a:lstStyle/>
          <a:p>
            <a:pPr algn="l">
              <a:lnSpc>
                <a:spcPct val="100000"/>
              </a:lnSpc>
              <a:buNone/>
              <a:defRPr sz="863" b="0" i="0">
                <a:solidFill>
                  <a:srgbClr val="5B5B5B"/>
                </a:solidFill>
                <a:latin typeface="Yu Gothic"/>
                <a:ea typeface="Yu Gothic"/>
                <a:cs typeface="Yu Gothic"/>
              </a:defRPr>
            </a:pPr>
            <a:r>
              <a:rPr sz="863" b="0" i="0">
                <a:solidFill>
                  <a:srgbClr val="5B5B5B"/>
                </a:solidFill>
                <a:latin typeface="Yu Gothic"/>
                <a:ea typeface="Yu Gothic"/>
                <a:cs typeface="Yu Gothic"/>
              </a:rPr>
              <a:t>CAE・実験adapter / benchmark / report</a:t>
            </a:r>
          </a:p>
        </p:txBody>
      </p:sp>
      <p:sp>
        <p:nvSpPr>
          <p:cNvPr id="53" name="正方形/長方形 52">
            <a:extLst>
              <a:ext uri="{FF2B5EF4-FFF2-40B4-BE49-F238E27FC236}">
                <a16:creationId xmlns:a16="http://schemas.microsoft.com/office/drawing/2014/main" id="{6A1283AA-3E79-4469-B955-0D47B088225F}"/>
              </a:ext>
            </a:extLst>
          </p:cNvPr>
          <p:cNvSpPr>
            <a:spLocks noGrp="1"/>
          </p:cNvSpPr>
          <p:nvPr/>
        </p:nvSpPr>
        <p:spPr>
          <a:xfrm>
            <a:off x="8448675" y="5067300"/>
            <a:ext cx="2981325" cy="228600"/>
          </a:xfrm>
          <a:prstGeom prst="rect">
            <a:avLst/>
          </a:prstGeom>
          <a:noFill/>
          <a:ln w="0">
            <a:noFill/>
            <a:prstDash val="solid"/>
          </a:ln>
        </p:spPr>
        <p:txBody>
          <a:bodyPr wrap="square" lIns="28575" tIns="19050" rIns="28575" bIns="19050" anchor="ctr">
            <a:normAutofit/>
          </a:bodyPr>
          <a:lstStyle/>
          <a:p>
            <a:pPr algn="l">
              <a:lnSpc>
                <a:spcPct val="100000"/>
              </a:lnSpc>
              <a:buNone/>
              <a:defRPr sz="803" b="0" i="0">
                <a:solidFill>
                  <a:srgbClr val="777777"/>
                </a:solidFill>
                <a:latin typeface="Yu Gothic"/>
                <a:ea typeface="Yu Gothic"/>
                <a:cs typeface="Yu Gothic"/>
              </a:defRPr>
            </a:pPr>
            <a:r>
              <a:rPr sz="803" b="0" i="0">
                <a:solidFill>
                  <a:srgbClr val="777777"/>
                </a:solidFill>
                <a:latin typeface="Yu Gothic"/>
                <a:ea typeface="Yu Gothic"/>
                <a:cs typeface="Yu Gothic"/>
              </a:rPr>
              <a:t>coreはCOMSOL製品・geometry・合否閾値へ依存しない</a:t>
            </a:r>
          </a:p>
        </p:txBody>
      </p:sp>
      <p:sp>
        <p:nvSpPr>
          <p:cNvPr id="54" name="正方形/長方形 53">
            <a:extLst>
              <a:ext uri="{FF2B5EF4-FFF2-40B4-BE49-F238E27FC236}">
                <a16:creationId xmlns:a16="http://schemas.microsoft.com/office/drawing/2014/main" id="{157D8760-0454-4683-85E9-ABA6E476AFD0}"/>
              </a:ext>
            </a:extLst>
          </p:cNvPr>
          <p:cNvSpPr>
            <a:spLocks noGrp="1"/>
          </p:cNvSpPr>
          <p:nvPr/>
        </p:nvSpPr>
        <p:spPr>
          <a:xfrm>
            <a:off x="552450" y="5657850"/>
            <a:ext cx="11087100" cy="590550"/>
          </a:xfrm>
          <a:prstGeom prst="rect">
            <a:avLst/>
          </a:prstGeom>
          <a:solidFill>
            <a:srgbClr val="201445"/>
          </a:solidFill>
          <a:ln w="0">
            <a:noFill/>
            <a:prstDash val="solid"/>
          </a:ln>
        </p:spPr>
      </p:sp>
      <p:sp>
        <p:nvSpPr>
          <p:cNvPr id="55" name="正方形/長方形 54">
            <a:extLst>
              <a:ext uri="{FF2B5EF4-FFF2-40B4-BE49-F238E27FC236}">
                <a16:creationId xmlns:a16="http://schemas.microsoft.com/office/drawing/2014/main" id="{6CE64590-982E-40BE-B817-5F819B36CF38}"/>
              </a:ext>
            </a:extLst>
          </p:cNvPr>
          <p:cNvSpPr>
            <a:spLocks noGrp="1"/>
          </p:cNvSpPr>
          <p:nvPr/>
        </p:nvSpPr>
        <p:spPr>
          <a:xfrm>
            <a:off x="723900" y="5810250"/>
            <a:ext cx="904875" cy="209550"/>
          </a:xfrm>
          <a:prstGeom prst="rect">
            <a:avLst/>
          </a:prstGeom>
          <a:noFill/>
          <a:ln w="0">
            <a:noFill/>
            <a:prstDash val="solid"/>
          </a:ln>
        </p:spPr>
        <p:txBody>
          <a:bodyPr wrap="square" lIns="28575" tIns="19050" rIns="28575" bIns="19050" anchor="ctr">
            <a:normAutofit/>
          </a:bodyPr>
          <a:lstStyle/>
          <a:p>
            <a:pPr algn="l">
              <a:lnSpc>
                <a:spcPct val="100000"/>
              </a:lnSpc>
              <a:buNone/>
              <a:defRPr sz="825" b="1" i="0">
                <a:solidFill>
                  <a:srgbClr val="76BE18"/>
                </a:solidFill>
                <a:latin typeface="Yu Gothic"/>
                <a:ea typeface="Yu Gothic"/>
                <a:cs typeface="Yu Gothic"/>
              </a:defRPr>
            </a:pPr>
            <a:r>
              <a:rPr sz="825" b="1" i="0">
                <a:solidFill>
                  <a:srgbClr val="76BE18"/>
                </a:solidFill>
                <a:latin typeface="Yu Gothic"/>
                <a:ea typeface="Yu Gothic"/>
                <a:cs typeface="Yu Gothic"/>
              </a:rPr>
              <a:t>dependency</a:t>
            </a:r>
          </a:p>
        </p:txBody>
      </p:sp>
      <p:sp>
        <p:nvSpPr>
          <p:cNvPr id="56" name="正方形/長方形 55">
            <a:extLst>
              <a:ext uri="{FF2B5EF4-FFF2-40B4-BE49-F238E27FC236}">
                <a16:creationId xmlns:a16="http://schemas.microsoft.com/office/drawing/2014/main" id="{D1DC7823-A3DD-42D5-8DCE-D39C1439CBA3}"/>
              </a:ext>
            </a:extLst>
          </p:cNvPr>
          <p:cNvSpPr>
            <a:spLocks noGrp="1"/>
          </p:cNvSpPr>
          <p:nvPr/>
        </p:nvSpPr>
        <p:spPr>
          <a:xfrm>
            <a:off x="1657350" y="5753100"/>
            <a:ext cx="9734550" cy="333375"/>
          </a:xfrm>
          <a:prstGeom prst="rect">
            <a:avLst/>
          </a:prstGeom>
          <a:noFill/>
          <a:ln w="0">
            <a:noFill/>
            <a:prstDash val="solid"/>
          </a:ln>
        </p:spPr>
        <p:txBody>
          <a:bodyPr wrap="square" lIns="28575" tIns="19050" rIns="28575" bIns="19050" anchor="ctr">
            <a:normAutofit/>
          </a:bodyPr>
          <a:lstStyle/>
          <a:p>
            <a:pPr algn="ctr">
              <a:lnSpc>
                <a:spcPct val="100000"/>
              </a:lnSpc>
              <a:buNone/>
              <a:defRPr sz="1275" b="1" i="0">
                <a:solidFill>
                  <a:srgbClr val="FFFFFF"/>
                </a:solidFill>
                <a:latin typeface="Cambria Math"/>
                <a:ea typeface="Cambria Math"/>
                <a:cs typeface="Cambria Math"/>
              </a:defRPr>
            </a:pPr>
            <a:r>
              <a:rPr sz="1275" b="1" i="0">
                <a:solidFill>
                  <a:srgbClr val="FFFFFF"/>
                </a:solidFill>
                <a:latin typeface="Cambria Math"/>
                <a:ea typeface="Cambria Math"/>
                <a:cs typeface="Cambria Math"/>
              </a:rPr>
              <a:t>cli  →  workflows  →  artifact / learning / inference  →  engine / io  →  domain / config</a:t>
            </a:r>
          </a:p>
        </p:txBody>
      </p:sp>
    </p:spTree>
    <p:extLst>
      <p:ext uri="{BB962C8B-B14F-4D97-AF65-F5344CB8AC3E}">
        <p14:creationId xmlns:p14="http://schemas.microsoft.com/office/powerpoint/2010/main" val="3659889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 name="正方形/長方形 23">
            <a:extLst>
              <a:ext uri="{FF2B5EF4-FFF2-40B4-BE49-F238E27FC236}">
                <a16:creationId xmlns:a16="http://schemas.microsoft.com/office/drawing/2014/main" id="{D657AE45-DD7D-4DE4-9939-D2CF3292BB29}"/>
              </a:ext>
            </a:extLst>
          </p:cNvPr>
          <p:cNvSpPr>
            <a:spLocks noGrp="1"/>
          </p:cNvSpPr>
          <p:nvPr/>
        </p:nvSpPr>
        <p:spPr>
          <a:xfrm>
            <a:off x="552450" y="190500"/>
            <a:ext cx="76200" cy="142875"/>
          </a:xfrm>
          <a:prstGeom prst="rect">
            <a:avLst/>
          </a:prstGeom>
          <a:solidFill>
            <a:srgbClr val="76BE18"/>
          </a:solidFill>
          <a:ln w="0">
            <a:noFill/>
            <a:prstDash val="solid"/>
          </a:ln>
        </p:spPr>
      </p:sp>
      <p:sp>
        <p:nvSpPr>
          <p:cNvPr id="2" name="正方形/長方形 1">
            <a:extLst>
              <a:ext uri="{FF2B5EF4-FFF2-40B4-BE49-F238E27FC236}">
                <a16:creationId xmlns:a16="http://schemas.microsoft.com/office/drawing/2014/main" id="{242505EE-C4A1-442E-A526-A7A327C40D8A}"/>
              </a:ext>
            </a:extLst>
          </p:cNvPr>
          <p:cNvSpPr>
            <a:spLocks noGrp="1"/>
          </p:cNvSpPr>
          <p:nvPr/>
        </p:nvSpPr>
        <p:spPr>
          <a:xfrm>
            <a:off x="704850" y="161925"/>
            <a:ext cx="3429000" cy="190500"/>
          </a:xfrm>
          <a:prstGeom prst="rect">
            <a:avLst/>
          </a:prstGeom>
          <a:noFill/>
          <a:ln w="0">
            <a:noFill/>
            <a:prstDash val="solid"/>
          </a:ln>
        </p:spPr>
        <p:txBody>
          <a:bodyPr wrap="none" lIns="28575" tIns="19050" rIns="28575" bIns="19050" anchor="ctr">
            <a:noAutofit/>
          </a:bodyPr>
          <a:lstStyle/>
          <a:p>
            <a:pPr algn="l">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PLATFORM CAPABILITY</a:t>
            </a:r>
          </a:p>
        </p:txBody>
      </p:sp>
      <p:sp>
        <p:nvSpPr>
          <p:cNvPr id="3" name="正方形/長方形 2">
            <a:extLst>
              <a:ext uri="{FF2B5EF4-FFF2-40B4-BE49-F238E27FC236}">
                <a16:creationId xmlns:a16="http://schemas.microsoft.com/office/drawing/2014/main" id="{EAA3AD68-27DC-45C5-B5BA-0DAB832FA71A}"/>
              </a:ext>
            </a:extLst>
          </p:cNvPr>
          <p:cNvSpPr>
            <a:spLocks noGrp="1"/>
          </p:cNvSpPr>
          <p:nvPr/>
        </p:nvSpPr>
        <p:spPr>
          <a:xfrm>
            <a:off x="552450" y="400050"/>
            <a:ext cx="11001375" cy="400050"/>
          </a:xfrm>
          <a:prstGeom prst="rect">
            <a:avLst/>
          </a:prstGeom>
          <a:noFill/>
          <a:ln w="0">
            <a:noFill/>
            <a:prstDash val="solid"/>
          </a:ln>
        </p:spPr>
        <p:txBody>
          <a:bodyPr wrap="none" lIns="19050" tIns="0" rIns="19050" bIns="0" anchor="ctr">
            <a:normAutofit/>
          </a:bodyPr>
          <a:lstStyle/>
          <a:p>
            <a:pPr algn="l">
              <a:lnSpc>
                <a:spcPct val="100000"/>
              </a:lnSpc>
              <a:buNone/>
              <a:defRPr sz="2175" b="1" i="0">
                <a:solidFill>
                  <a:srgbClr val="00A5D8"/>
                </a:solidFill>
                <a:latin typeface="Yu Gothic"/>
                <a:ea typeface="Yu Gothic"/>
                <a:cs typeface="Yu Gothic"/>
              </a:defRPr>
            </a:pPr>
            <a:r>
              <a:rPr sz="2175" b="1" i="0">
                <a:solidFill>
                  <a:srgbClr val="00A5D8"/>
                </a:solidFill>
                <a:latin typeface="Yu Gothic"/>
                <a:ea typeface="Yu Gothic"/>
                <a:cs typeface="Yu Gothic"/>
              </a:rPr>
              <a:t>共通のThermalRCModelとartifactから、設計・予測・監視・評価を分岐させる</a:t>
            </a:r>
          </a:p>
        </p:txBody>
      </p:sp>
      <p:sp>
        <p:nvSpPr>
          <p:cNvPr id="4" name="正方形/長方形 3">
            <a:extLst>
              <a:ext uri="{FF2B5EF4-FFF2-40B4-BE49-F238E27FC236}">
                <a16:creationId xmlns:a16="http://schemas.microsoft.com/office/drawing/2014/main" id="{69614E64-89F7-4E10-96F1-AF3697A15466}"/>
              </a:ext>
            </a:extLst>
          </p:cNvPr>
          <p:cNvSpPr>
            <a:spLocks noGrp="1"/>
          </p:cNvSpPr>
          <p:nvPr/>
        </p:nvSpPr>
        <p:spPr>
          <a:xfrm>
            <a:off x="571500" y="838200"/>
            <a:ext cx="10906125" cy="228600"/>
          </a:xfrm>
          <a:prstGeom prst="rect">
            <a:avLst/>
          </a:prstGeom>
          <a:noFill/>
          <a:ln w="0">
            <a:noFill/>
            <a:prstDash val="solid"/>
          </a:ln>
        </p:spPr>
        <p:txBody>
          <a:bodyPr wrap="none" lIns="28575" tIns="19050" rIns="28575" bIns="19050" anchor="ctr">
            <a:noAutofit/>
          </a:bodyPr>
          <a:lstStyle/>
          <a:p>
            <a:pPr algn="l">
              <a:lnSpc>
                <a:spcPct val="100000"/>
              </a:lnSpc>
              <a:buNone/>
              <a:defRPr sz="975" b="0" i="0">
                <a:solidFill>
                  <a:srgbClr val="5B5B5B"/>
                </a:solidFill>
                <a:latin typeface="Yu Gothic"/>
                <a:ea typeface="Yu Gothic"/>
                <a:cs typeface="Yu Gothic"/>
              </a:defRPr>
            </a:pPr>
            <a:r>
              <a:rPr sz="975" b="0" i="0">
                <a:solidFill>
                  <a:srgbClr val="5B5B5B"/>
                </a:solidFill>
                <a:latin typeface="Yu Gothic"/>
                <a:ea typeface="Yu Gothic"/>
                <a:cs typeface="Yu Gothic"/>
              </a:rPr>
              <a:t>実装済み機能と将来拡張を分け、再利用できる基盤の範囲を明示する</a:t>
            </a:r>
          </a:p>
        </p:txBody>
      </p:sp>
      <p:sp>
        <p:nvSpPr>
          <p:cNvPr id="5" name="直線コネクタ 4">
            <a:extLst>
              <a:ext uri="{FF2B5EF4-FFF2-40B4-BE49-F238E27FC236}">
                <a16:creationId xmlns:a16="http://schemas.microsoft.com/office/drawing/2014/main" id="{AA4F5954-51CF-4357-B8BD-E133CE2479FB}"/>
              </a:ext>
            </a:extLst>
          </p:cNvPr>
          <p:cNvSpPr>
            <a:spLocks noGrp="1"/>
          </p:cNvSpPr>
          <p:nvPr/>
        </p:nvSpPr>
        <p:spPr>
          <a:xfrm>
            <a:off x="552450" y="1152525"/>
            <a:ext cx="11087100" cy="0"/>
          </a:xfrm>
          <a:prstGeom prst="line">
            <a:avLst/>
          </a:prstGeom>
          <a:noFill/>
          <a:ln w="9525">
            <a:solidFill>
              <a:srgbClr val="D6D6D6"/>
            </a:solidFill>
            <a:prstDash val="solid"/>
          </a:ln>
        </p:spPr>
      </p:sp>
      <p:sp>
        <p:nvSpPr>
          <p:cNvPr id="6" name="直線コネクタ 5">
            <a:extLst>
              <a:ext uri="{FF2B5EF4-FFF2-40B4-BE49-F238E27FC236}">
                <a16:creationId xmlns:a16="http://schemas.microsoft.com/office/drawing/2014/main" id="{46DDE8D5-A6E1-49E5-877F-469C7BCD815A}"/>
              </a:ext>
            </a:extLst>
          </p:cNvPr>
          <p:cNvSpPr>
            <a:spLocks noGrp="1"/>
          </p:cNvSpPr>
          <p:nvPr/>
        </p:nvSpPr>
        <p:spPr>
          <a:xfrm>
            <a:off x="552450" y="6438900"/>
            <a:ext cx="11087100" cy="0"/>
          </a:xfrm>
          <a:prstGeom prst="line">
            <a:avLst/>
          </a:prstGeom>
          <a:noFill/>
          <a:ln w="9525">
            <a:solidFill>
              <a:srgbClr val="D6D6D6"/>
            </a:solidFill>
            <a:prstDash val="solid"/>
          </a:ln>
        </p:spPr>
      </p:sp>
      <p:sp>
        <p:nvSpPr>
          <p:cNvPr id="7" name="正方形/長方形 6">
            <a:extLst>
              <a:ext uri="{FF2B5EF4-FFF2-40B4-BE49-F238E27FC236}">
                <a16:creationId xmlns:a16="http://schemas.microsoft.com/office/drawing/2014/main" id="{C9C06B2A-5AE9-4079-BD7A-95145490D647}"/>
              </a:ext>
            </a:extLst>
          </p:cNvPr>
          <p:cNvSpPr>
            <a:spLocks noGrp="1"/>
          </p:cNvSpPr>
          <p:nvPr/>
        </p:nvSpPr>
        <p:spPr>
          <a:xfrm>
            <a:off x="571500" y="6505575"/>
            <a:ext cx="5334000" cy="171450"/>
          </a:xfrm>
          <a:prstGeom prst="rect">
            <a:avLst/>
          </a:prstGeom>
          <a:noFill/>
          <a:ln w="0">
            <a:noFill/>
            <a:prstDash val="solid"/>
          </a:ln>
        </p:spPr>
        <p:txBody>
          <a:bodyPr wrap="none" lIns="28575" tIns="19050" rIns="28575" bIns="19050" anchor="ctr">
            <a:noAutofit/>
          </a:bodyPr>
          <a:lstStyle/>
          <a:p>
            <a:pPr algn="l">
              <a:lnSpc>
                <a:spcPct val="100000"/>
              </a:lnSpc>
              <a:buNone/>
              <a:defRPr sz="713" b="0" i="0">
                <a:solidFill>
                  <a:srgbClr val="777777"/>
                </a:solidFill>
                <a:latin typeface="Yu Gothic"/>
                <a:ea typeface="Yu Gothic"/>
                <a:cs typeface="Yu Gothic"/>
              </a:defRPr>
            </a:pPr>
            <a:r>
              <a:rPr sz="713" b="0" i="0">
                <a:solidFill>
                  <a:srgbClr val="777777"/>
                </a:solidFill>
                <a:latin typeface="Yu Gothic"/>
                <a:ea typeface="Yu Gothic"/>
                <a:cs typeface="Yu Gothic"/>
              </a:rPr>
              <a:t>THERMAL RC / EQUIPMENT ENGINEERING REVIEW  ·  2026-09-17</a:t>
            </a:r>
          </a:p>
        </p:txBody>
      </p:sp>
      <p:sp>
        <p:nvSpPr>
          <p:cNvPr id="8" name="正方形/長方形 7">
            <a:extLst>
              <a:ext uri="{FF2B5EF4-FFF2-40B4-BE49-F238E27FC236}">
                <a16:creationId xmlns:a16="http://schemas.microsoft.com/office/drawing/2014/main" id="{D802DC4A-C065-448E-8DC1-A6E4E307401E}"/>
              </a:ext>
            </a:extLst>
          </p:cNvPr>
          <p:cNvSpPr>
            <a:spLocks noGrp="1"/>
          </p:cNvSpPr>
          <p:nvPr/>
        </p:nvSpPr>
        <p:spPr>
          <a:xfrm>
            <a:off x="11125200" y="6496050"/>
            <a:ext cx="476250" cy="171450"/>
          </a:xfrm>
          <a:prstGeom prst="rect">
            <a:avLst/>
          </a:prstGeom>
          <a:noFill/>
          <a:ln w="0">
            <a:noFill/>
            <a:prstDash val="solid"/>
          </a:ln>
        </p:spPr>
        <p:txBody>
          <a:bodyPr wrap="square" lIns="28575" tIns="19050" rIns="28575" bIns="19050" anchor="ctr">
            <a:noAutofit/>
          </a:bodyPr>
          <a:lstStyle/>
          <a:p>
            <a:pPr algn="r">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5</a:t>
            </a:r>
          </a:p>
        </p:txBody>
      </p:sp>
      <p:graphicFrame>
        <p:nvGraphicFramePr>
          <p:cNvPr id="32" name="表 31"/>
          <p:cNvGraphicFramePr/>
          <p:nvPr/>
        </p:nvGraphicFramePr>
        <p:xfrm>
          <a:off x="552450" y="1457325"/>
          <a:ext cx="11087100" cy="3124200"/>
        </p:xfrm>
        <a:graphic>
          <a:graphicData uri="http://schemas.openxmlformats.org/drawingml/2006/table">
            <a:tbl>
              <a:tblPr/>
              <a:tblGrid>
                <a:gridCol w="1485900">
                  <a:extLst>
                    <a:ext uri="{9D8B030D-6E8A-4147-A177-3AD203B41FA5}">
                      <a16:colId xmlns:a16="http://schemas.microsoft.com/office/drawing/2014/main" val="20000"/>
                    </a:ext>
                  </a:extLst>
                </a:gridCol>
                <a:gridCol w="2143125">
                  <a:extLst>
                    <a:ext uri="{9D8B030D-6E8A-4147-A177-3AD203B41FA5}">
                      <a16:colId xmlns:a16="http://schemas.microsoft.com/office/drawing/2014/main" val="20001"/>
                    </a:ext>
                  </a:extLst>
                </a:gridCol>
                <a:gridCol w="3305175">
                  <a:extLst>
                    <a:ext uri="{9D8B030D-6E8A-4147-A177-3AD203B41FA5}">
                      <a16:colId xmlns:a16="http://schemas.microsoft.com/office/drawing/2014/main" val="20002"/>
                    </a:ext>
                  </a:extLst>
                </a:gridCol>
                <a:gridCol w="27813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tblGrid>
              <a:tr h="520700">
                <a:tc>
                  <a:txBody>
                    <a:bodyPr/>
                    <a:lstStyle/>
                    <a:p>
                      <a:r>
                        <a:rPr sz="938" b="1">
                          <a:solidFill>
                            <a:srgbClr val="FFFFFF"/>
                          </a:solidFill>
                          <a:latin typeface="Yu Gothic"/>
                          <a:ea typeface="Yu Gothic"/>
                          <a:cs typeface="Yu Gothic"/>
                        </a:rPr>
                        <a:t>利用場面</a:t>
                      </a:r>
                    </a:p>
                  </a:txBody>
                  <a:tcPr>
                    <a:solidFill>
                      <a:srgbClr val="007FA8"/>
                    </a:solidFill>
                  </a:tcPr>
                </a:tc>
                <a:tc>
                  <a:txBody>
                    <a:bodyPr/>
                    <a:lstStyle/>
                    <a:p>
                      <a:r>
                        <a:rPr sz="938" b="1">
                          <a:solidFill>
                            <a:srgbClr val="FFFFFF"/>
                          </a:solidFill>
                          <a:latin typeface="Yu Gothic"/>
                          <a:ea typeface="Yu Gothic"/>
                          <a:cs typeface="Yu Gothic"/>
                        </a:rPr>
                        <a:t>入口</a:t>
                      </a:r>
                    </a:p>
                  </a:txBody>
                  <a:tcPr>
                    <a:solidFill>
                      <a:srgbClr val="007FA8"/>
                    </a:solidFill>
                  </a:tcPr>
                </a:tc>
                <a:tc>
                  <a:txBody>
                    <a:bodyPr/>
                    <a:lstStyle/>
                    <a:p>
                      <a:r>
                        <a:rPr sz="938" b="1">
                          <a:solidFill>
                            <a:srgbClr val="FFFFFF"/>
                          </a:solidFill>
                          <a:latin typeface="Yu Gothic"/>
                          <a:ea typeface="Yu Gothic"/>
                          <a:cs typeface="Yu Gothic"/>
                        </a:rPr>
                        <a:t>基盤が行うこと</a:t>
                      </a:r>
                    </a:p>
                  </a:txBody>
                  <a:tcPr>
                    <a:solidFill>
                      <a:srgbClr val="007FA8"/>
                    </a:solidFill>
                  </a:tcPr>
                </a:tc>
                <a:tc>
                  <a:txBody>
                    <a:bodyPr/>
                    <a:lstStyle/>
                    <a:p>
                      <a:r>
                        <a:rPr sz="938" b="1">
                          <a:solidFill>
                            <a:srgbClr val="FFFFFF"/>
                          </a:solidFill>
                          <a:latin typeface="Yu Gothic"/>
                          <a:ea typeface="Yu Gothic"/>
                          <a:cs typeface="Yu Gothic"/>
                        </a:rPr>
                        <a:t>成果物 / 判断</a:t>
                      </a:r>
                    </a:p>
                  </a:txBody>
                  <a:tcPr>
                    <a:solidFill>
                      <a:srgbClr val="007FA8"/>
                    </a:solidFill>
                  </a:tcPr>
                </a:tc>
                <a:tc>
                  <a:txBody>
                    <a:bodyPr/>
                    <a:lstStyle/>
                    <a:p>
                      <a:r>
                        <a:rPr sz="938" b="1">
                          <a:solidFill>
                            <a:srgbClr val="FFFFFF"/>
                          </a:solidFill>
                          <a:latin typeface="Yu Gothic"/>
                          <a:ea typeface="Yu Gothic"/>
                          <a:cs typeface="Yu Gothic"/>
                        </a:rPr>
                        <a:t>状態</a:t>
                      </a:r>
                    </a:p>
                  </a:txBody>
                  <a:tcPr>
                    <a:solidFill>
                      <a:srgbClr val="007FA8"/>
                    </a:solidFill>
                  </a:tcPr>
                </a:tc>
                <a:extLst>
                  <a:ext uri="{0D108BD9-81ED-4DB2-BD59-A6C34878D82A}">
                    <a16:rowId xmlns:a16="http://schemas.microsoft.com/office/drawing/2014/main" val="10000"/>
                  </a:ext>
                </a:extLst>
              </a:tr>
              <a:tr h="520700">
                <a:tc>
                  <a:txBody>
                    <a:bodyPr/>
                    <a:lstStyle/>
                    <a:p>
                      <a:r>
                        <a:rPr sz="855" b="1">
                          <a:solidFill>
                            <a:srgbClr val="007FA8"/>
                          </a:solidFill>
                          <a:latin typeface="Yu Gothic"/>
                          <a:ea typeface="Yu Gothic"/>
                          <a:cs typeface="Yu Gothic"/>
                        </a:rPr>
                        <a:t>Train</a:t>
                      </a:r>
                    </a:p>
                  </a:txBody>
                  <a:tcPr>
                    <a:solidFill>
                      <a:srgbClr val="FFFFFF"/>
                    </a:solidFill>
                  </a:tcPr>
                </a:tc>
                <a:tc>
                  <a:txBody>
                    <a:bodyPr/>
                    <a:lstStyle/>
                    <a:p>
                      <a:r>
                        <a:rPr sz="855">
                          <a:solidFill>
                            <a:srgbClr val="5B5B5B"/>
                          </a:solidFill>
                          <a:latin typeface="Yu Gothic"/>
                          <a:ea typeface="Yu Gothic"/>
                          <a:cs typeface="Yu Gothic"/>
                        </a:rPr>
                        <a:t>CAE / 実験trajectory</a:t>
                      </a:r>
                    </a:p>
                  </a:txBody>
                  <a:tcPr>
                    <a:solidFill>
                      <a:srgbClr val="FFFFFF"/>
                    </a:solidFill>
                  </a:tcPr>
                </a:tc>
                <a:tc>
                  <a:txBody>
                    <a:bodyPr/>
                    <a:lstStyle/>
                    <a:p>
                      <a:r>
                        <a:rPr sz="855">
                          <a:solidFill>
                            <a:srgbClr val="5B5B5B"/>
                          </a:solidFill>
                          <a:latin typeface="Yu Gothic"/>
                          <a:ea typeface="Yu Gothic"/>
                          <a:cs typeface="Yu Gothic"/>
                        </a:rPr>
                        <a:t>正値係数をcase-balanced rolloutで同定</a:t>
                      </a:r>
                    </a:p>
                  </a:txBody>
                  <a:tcPr>
                    <a:solidFill>
                      <a:srgbClr val="FFFFFF"/>
                    </a:solidFill>
                  </a:tcPr>
                </a:tc>
                <a:tc>
                  <a:txBody>
                    <a:bodyPr/>
                    <a:lstStyle/>
                    <a:p>
                      <a:r>
                        <a:rPr sz="855">
                          <a:solidFill>
                            <a:srgbClr val="5B5B5B"/>
                          </a:solidFill>
                          <a:latin typeface="Yu Gothic"/>
                          <a:ea typeface="Yu Gothic"/>
                          <a:cs typeface="Yu Gothic"/>
                        </a:rPr>
                        <a:t>artifact、case/sensor指標</a:t>
                      </a:r>
                    </a:p>
                  </a:txBody>
                  <a:tcPr>
                    <a:solidFill>
                      <a:srgbClr val="FFFFFF"/>
                    </a:solidFill>
                  </a:tcPr>
                </a:tc>
                <a:tc>
                  <a:txBody>
                    <a:bodyPr/>
                    <a:lstStyle/>
                    <a:p>
                      <a:r>
                        <a:rPr sz="855" b="1">
                          <a:solidFill>
                            <a:srgbClr val="4D8710"/>
                          </a:solidFill>
                          <a:latin typeface="Yu Gothic"/>
                          <a:ea typeface="Yu Gothic"/>
                          <a:cs typeface="Yu Gothic"/>
                        </a:rPr>
                        <a:t>実装済</a:t>
                      </a:r>
                    </a:p>
                  </a:txBody>
                  <a:tcPr>
                    <a:solidFill>
                      <a:srgbClr val="FFFFFF"/>
                    </a:solidFill>
                  </a:tcPr>
                </a:tc>
                <a:extLst>
                  <a:ext uri="{0D108BD9-81ED-4DB2-BD59-A6C34878D82A}">
                    <a16:rowId xmlns:a16="http://schemas.microsoft.com/office/drawing/2014/main" val="10001"/>
                  </a:ext>
                </a:extLst>
              </a:tr>
              <a:tr h="520700">
                <a:tc>
                  <a:txBody>
                    <a:bodyPr/>
                    <a:lstStyle/>
                    <a:p>
                      <a:r>
                        <a:rPr sz="855" b="1">
                          <a:solidFill>
                            <a:srgbClr val="4D8710"/>
                          </a:solidFill>
                          <a:latin typeface="Yu Gothic"/>
                          <a:ea typeface="Yu Gothic"/>
                          <a:cs typeface="Yu Gothic"/>
                        </a:rPr>
                        <a:t>Forecast</a:t>
                      </a:r>
                    </a:p>
                  </a:txBody>
                  <a:tcPr>
                    <a:solidFill>
                      <a:srgbClr val="F8F8F8"/>
                    </a:solidFill>
                  </a:tcPr>
                </a:tc>
                <a:tc>
                  <a:txBody>
                    <a:bodyPr/>
                    <a:lstStyle/>
                    <a:p>
                      <a:r>
                        <a:rPr sz="855">
                          <a:solidFill>
                            <a:srgbClr val="5B5B5B"/>
                          </a:solidFill>
                          <a:latin typeface="Yu Gothic"/>
                          <a:ea typeface="Yu Gothic"/>
                          <a:cs typeface="Yu Gothic"/>
                        </a:rPr>
                        <a:t>観測prefix + 将来command</a:t>
                      </a:r>
                    </a:p>
                  </a:txBody>
                  <a:tcPr>
                    <a:solidFill>
                      <a:srgbClr val="F8F8F8"/>
                    </a:solidFill>
                  </a:tcPr>
                </a:tc>
                <a:tc>
                  <a:txBody>
                    <a:bodyPr/>
                    <a:lstStyle/>
                    <a:p>
                      <a:r>
                        <a:rPr sz="855">
                          <a:solidFill>
                            <a:srgbClr val="5B5B5B"/>
                          </a:solidFill>
                          <a:latin typeface="Yu Gothic"/>
                          <a:ea typeface="Yu Gothic"/>
                          <a:cs typeface="Yu Gothic"/>
                        </a:rPr>
                        <a:t>history posteriorからopen-loop予測</a:t>
                      </a:r>
                    </a:p>
                  </a:txBody>
                  <a:tcPr>
                    <a:solidFill>
                      <a:srgbClr val="F8F8F8"/>
                    </a:solidFill>
                  </a:tcPr>
                </a:tc>
                <a:tc>
                  <a:txBody>
                    <a:bodyPr/>
                    <a:lstStyle/>
                    <a:p>
                      <a:r>
                        <a:rPr sz="855">
                          <a:solidFill>
                            <a:srgbClr val="5B5B5B"/>
                          </a:solidFill>
                          <a:latin typeface="Yu Gothic"/>
                          <a:ea typeface="Yu Gothic"/>
                          <a:cs typeface="Yu Gothic"/>
                        </a:rPr>
                        <a:t>温度、区間、coverage table</a:t>
                      </a:r>
                    </a:p>
                  </a:txBody>
                  <a:tcPr>
                    <a:solidFill>
                      <a:srgbClr val="F8F8F8"/>
                    </a:solidFill>
                  </a:tcPr>
                </a:tc>
                <a:tc>
                  <a:txBody>
                    <a:bodyPr/>
                    <a:lstStyle/>
                    <a:p>
                      <a:r>
                        <a:rPr sz="855" b="1">
                          <a:solidFill>
                            <a:srgbClr val="4D8710"/>
                          </a:solidFill>
                          <a:latin typeface="Yu Gothic"/>
                          <a:ea typeface="Yu Gothic"/>
                          <a:cs typeface="Yu Gothic"/>
                        </a:rPr>
                        <a:t>実装済</a:t>
                      </a:r>
                    </a:p>
                  </a:txBody>
                  <a:tcPr>
                    <a:solidFill>
                      <a:srgbClr val="F8F8F8"/>
                    </a:solidFill>
                  </a:tcPr>
                </a:tc>
                <a:extLst>
                  <a:ext uri="{0D108BD9-81ED-4DB2-BD59-A6C34878D82A}">
                    <a16:rowId xmlns:a16="http://schemas.microsoft.com/office/drawing/2014/main" val="10002"/>
                  </a:ext>
                </a:extLst>
              </a:tr>
              <a:tr h="520700">
                <a:tc>
                  <a:txBody>
                    <a:bodyPr/>
                    <a:lstStyle/>
                    <a:p>
                      <a:r>
                        <a:rPr sz="855" b="1">
                          <a:solidFill>
                            <a:srgbClr val="7B2DAF"/>
                          </a:solidFill>
                          <a:latin typeface="Yu Gothic"/>
                          <a:ea typeface="Yu Gothic"/>
                          <a:cs typeface="Yu Gothic"/>
                        </a:rPr>
                        <a:t>Monitor</a:t>
                      </a:r>
                    </a:p>
                  </a:txBody>
                  <a:tcPr>
                    <a:solidFill>
                      <a:srgbClr val="FFFFFF"/>
                    </a:solidFill>
                  </a:tcPr>
                </a:tc>
                <a:tc>
                  <a:txBody>
                    <a:bodyPr/>
                    <a:lstStyle/>
                    <a:p>
                      <a:r>
                        <a:rPr sz="855">
                          <a:solidFill>
                            <a:srgbClr val="5B5B5B"/>
                          </a:solidFill>
                          <a:latin typeface="Yu Gothic"/>
                          <a:ea typeface="Yu Gothic"/>
                          <a:cs typeface="Yu Gothic"/>
                        </a:rPr>
                        <a:t>実測stream + command</a:t>
                      </a:r>
                    </a:p>
                  </a:txBody>
                  <a:tcPr>
                    <a:solidFill>
                      <a:srgbClr val="FFFFFF"/>
                    </a:solidFill>
                  </a:tcPr>
                </a:tc>
                <a:tc>
                  <a:txBody>
                    <a:bodyPr/>
                    <a:lstStyle/>
                    <a:p>
                      <a:r>
                        <a:rPr sz="855">
                          <a:solidFill>
                            <a:srgbClr val="5B5B5B"/>
                          </a:solidFill>
                          <a:latin typeface="Yu Gothic"/>
                          <a:ea typeface="Yu Gothic"/>
                          <a:cs typeface="Yu Gothic"/>
                        </a:rPr>
                        <a:t>温度・未知熱・relative biasを因果推定</a:t>
                      </a:r>
                    </a:p>
                  </a:txBody>
                  <a:tcPr>
                    <a:solidFill>
                      <a:srgbClr val="FFFFFF"/>
                    </a:solidFill>
                  </a:tcPr>
                </a:tc>
                <a:tc>
                  <a:txBody>
                    <a:bodyPr/>
                    <a:lstStyle/>
                    <a:p>
                      <a:r>
                        <a:rPr sz="855">
                          <a:solidFill>
                            <a:srgbClr val="5B5B5B"/>
                          </a:solidFill>
                          <a:latin typeface="Yu Gothic"/>
                          <a:ea typeface="Yu Gothic"/>
                          <a:cs typeface="Yu Gothic"/>
                        </a:rPr>
                        <a:t>innovation、NIS、欠測補完</a:t>
                      </a:r>
                    </a:p>
                  </a:txBody>
                  <a:tcPr>
                    <a:solidFill>
                      <a:srgbClr val="FFFFFF"/>
                    </a:solidFill>
                  </a:tcPr>
                </a:tc>
                <a:tc>
                  <a:txBody>
                    <a:bodyPr/>
                    <a:lstStyle/>
                    <a:p>
                      <a:r>
                        <a:rPr sz="855" b="1">
                          <a:solidFill>
                            <a:srgbClr val="4D8710"/>
                          </a:solidFill>
                          <a:latin typeface="Yu Gothic"/>
                          <a:ea typeface="Yu Gothic"/>
                          <a:cs typeface="Yu Gothic"/>
                        </a:rPr>
                        <a:t>実装済</a:t>
                      </a:r>
                    </a:p>
                  </a:txBody>
                  <a:tcPr>
                    <a:solidFill>
                      <a:srgbClr val="FFFFFF"/>
                    </a:solidFill>
                  </a:tcPr>
                </a:tc>
                <a:extLst>
                  <a:ext uri="{0D108BD9-81ED-4DB2-BD59-A6C34878D82A}">
                    <a16:rowId xmlns:a16="http://schemas.microsoft.com/office/drawing/2014/main" val="10003"/>
                  </a:ext>
                </a:extLst>
              </a:tr>
              <a:tr h="520700">
                <a:tc>
                  <a:txBody>
                    <a:bodyPr/>
                    <a:lstStyle/>
                    <a:p>
                      <a:r>
                        <a:rPr sz="855" b="1">
                          <a:solidFill>
                            <a:srgbClr val="E5A900"/>
                          </a:solidFill>
                          <a:latin typeface="Yu Gothic"/>
                          <a:ea typeface="Yu Gothic"/>
                          <a:cs typeface="Yu Gothic"/>
                        </a:rPr>
                        <a:t>Benchmark</a:t>
                      </a:r>
                    </a:p>
                  </a:txBody>
                  <a:tcPr>
                    <a:solidFill>
                      <a:srgbClr val="F8F8F8"/>
                    </a:solidFill>
                  </a:tcPr>
                </a:tc>
                <a:tc>
                  <a:txBody>
                    <a:bodyPr/>
                    <a:lstStyle/>
                    <a:p>
                      <a:r>
                        <a:rPr sz="855">
                          <a:solidFill>
                            <a:srgbClr val="5B5B5B"/>
                          </a:solidFill>
                          <a:latin typeface="Yu Gothic"/>
                          <a:ea typeface="Yu Gothic"/>
                          <a:cs typeface="Yu Gothic"/>
                        </a:rPr>
                        <a:t>分離したexternal holdout</a:t>
                      </a:r>
                    </a:p>
                  </a:txBody>
                  <a:tcPr>
                    <a:solidFill>
                      <a:srgbClr val="F8F8F8"/>
                    </a:solidFill>
                  </a:tcPr>
                </a:tc>
                <a:tc>
                  <a:txBody>
                    <a:bodyPr/>
                    <a:lstStyle/>
                    <a:p>
                      <a:r>
                        <a:rPr sz="855">
                          <a:solidFill>
                            <a:srgbClr val="5B5B5B"/>
                          </a:solidFill>
                          <a:latin typeface="Yu Gothic"/>
                          <a:ea typeface="Yu Gothic"/>
                          <a:cs typeface="Yu Gothic"/>
                        </a:rPr>
                        <a:t>interpolation / dynamics / gapを評価</a:t>
                      </a:r>
                    </a:p>
                  </a:txBody>
                  <a:tcPr>
                    <a:solidFill>
                      <a:srgbClr val="F8F8F8"/>
                    </a:solidFill>
                  </a:tcPr>
                </a:tc>
                <a:tc>
                  <a:txBody>
                    <a:bodyPr/>
                    <a:lstStyle/>
                    <a:p>
                      <a:r>
                        <a:rPr sz="855">
                          <a:solidFill>
                            <a:srgbClr val="5B5B5B"/>
                          </a:solidFill>
                          <a:latin typeface="Yu Gothic"/>
                          <a:ea typeface="Yu Gothic"/>
                          <a:cs typeface="Yu Gothic"/>
                        </a:rPr>
                        <a:t>worst case、negative control</a:t>
                      </a:r>
                    </a:p>
                  </a:txBody>
                  <a:tcPr>
                    <a:solidFill>
                      <a:srgbClr val="F8F8F8"/>
                    </a:solidFill>
                  </a:tcPr>
                </a:tc>
                <a:tc>
                  <a:txBody>
                    <a:bodyPr/>
                    <a:lstStyle/>
                    <a:p>
                      <a:r>
                        <a:rPr sz="855" b="1">
                          <a:solidFill>
                            <a:srgbClr val="4D8710"/>
                          </a:solidFill>
                          <a:latin typeface="Yu Gothic"/>
                          <a:ea typeface="Yu Gothic"/>
                          <a:cs typeface="Yu Gothic"/>
                        </a:rPr>
                        <a:t>実装済</a:t>
                      </a:r>
                    </a:p>
                  </a:txBody>
                  <a:tcPr>
                    <a:solidFill>
                      <a:srgbClr val="F8F8F8"/>
                    </a:solidFill>
                  </a:tcPr>
                </a:tc>
                <a:extLst>
                  <a:ext uri="{0D108BD9-81ED-4DB2-BD59-A6C34878D82A}">
                    <a16:rowId xmlns:a16="http://schemas.microsoft.com/office/drawing/2014/main" val="10004"/>
                  </a:ext>
                </a:extLst>
              </a:tr>
              <a:tr h="520700">
                <a:tc>
                  <a:txBody>
                    <a:bodyPr/>
                    <a:lstStyle/>
                    <a:p>
                      <a:r>
                        <a:rPr sz="855" b="1">
                          <a:solidFill>
                            <a:srgbClr val="00A89D"/>
                          </a:solidFill>
                          <a:latin typeface="Yu Gothic"/>
                          <a:ea typeface="Yu Gothic"/>
                          <a:cs typeface="Yu Gothic"/>
                        </a:rPr>
                        <a:t>CAE report</a:t>
                      </a:r>
                    </a:p>
                  </a:txBody>
                  <a:tcPr>
                    <a:solidFill>
                      <a:srgbClr val="FFFFFF"/>
                    </a:solidFill>
                  </a:tcPr>
                </a:tc>
                <a:tc>
                  <a:txBody>
                    <a:bodyPr/>
                    <a:lstStyle/>
                    <a:p>
                      <a:r>
                        <a:rPr sz="855">
                          <a:solidFill>
                            <a:srgbClr val="5B5B5B"/>
                          </a:solidFill>
                          <a:latin typeface="Yu Gothic"/>
                          <a:ea typeface="Yu Gothic"/>
                          <a:cs typeface="Yu Gothic"/>
                        </a:rPr>
                        <a:t>canonical source_data</a:t>
                      </a:r>
                    </a:p>
                  </a:txBody>
                  <a:tcPr>
                    <a:solidFill>
                      <a:srgbClr val="FFFFFF"/>
                    </a:solidFill>
                  </a:tcPr>
                </a:tc>
                <a:tc>
                  <a:txBody>
                    <a:bodyPr/>
                    <a:lstStyle/>
                    <a:p>
                      <a:r>
                        <a:rPr sz="855">
                          <a:solidFill>
                            <a:srgbClr val="5B5B5B"/>
                          </a:solidFill>
                          <a:latin typeface="Yu Gothic"/>
                          <a:ea typeface="Yu Gothic"/>
                          <a:cs typeface="Yu Gothic"/>
                        </a:rPr>
                        <a:t>mesh・time・model-form evidenceを統合</a:t>
                      </a:r>
                    </a:p>
                  </a:txBody>
                  <a:tcPr>
                    <a:solidFill>
                      <a:srgbClr val="FFFFFF"/>
                    </a:solidFill>
                  </a:tcPr>
                </a:tc>
                <a:tc>
                  <a:txBody>
                    <a:bodyPr/>
                    <a:lstStyle/>
                    <a:p>
                      <a:r>
                        <a:rPr sz="855">
                          <a:solidFill>
                            <a:srgbClr val="5B5B5B"/>
                          </a:solidFill>
                          <a:latin typeface="Yu Gothic"/>
                          <a:ea typeface="Yu Gothic"/>
                          <a:cs typeface="Yu Gothic"/>
                        </a:rPr>
                        <a:t>採用gateと再評価条件</a:t>
                      </a:r>
                    </a:p>
                  </a:txBody>
                  <a:tcPr>
                    <a:solidFill>
                      <a:srgbClr val="FFFFFF"/>
                    </a:solidFill>
                  </a:tcPr>
                </a:tc>
                <a:tc>
                  <a:txBody>
                    <a:bodyPr/>
                    <a:lstStyle/>
                    <a:p>
                      <a:r>
                        <a:rPr sz="855" b="1">
                          <a:solidFill>
                            <a:srgbClr val="7B2DAF"/>
                          </a:solidFill>
                          <a:latin typeface="Yu Gothic"/>
                          <a:ea typeface="Yu Gothic"/>
                          <a:cs typeface="Yu Gothic"/>
                        </a:rPr>
                        <a:t>評価系</a:t>
                      </a:r>
                    </a:p>
                  </a:txBody>
                  <a:tcPr>
                    <a:solidFill>
                      <a:srgbClr val="FFFFFF"/>
                    </a:solidFill>
                  </a:tcPr>
                </a:tc>
                <a:extLst>
                  <a:ext uri="{0D108BD9-81ED-4DB2-BD59-A6C34878D82A}">
                    <a16:rowId xmlns:a16="http://schemas.microsoft.com/office/drawing/2014/main" val="10005"/>
                  </a:ext>
                </a:extLst>
              </a:tr>
            </a:tbl>
          </a:graphicData>
        </a:graphic>
      </p:graphicFrame>
      <p:sp>
        <p:nvSpPr>
          <p:cNvPr id="10" name="正方形/長方形 9">
            <a:extLst>
              <a:ext uri="{FF2B5EF4-FFF2-40B4-BE49-F238E27FC236}">
                <a16:creationId xmlns:a16="http://schemas.microsoft.com/office/drawing/2014/main" id="{252BD77B-5235-4747-94AF-5E2C5370E88A}"/>
              </a:ext>
            </a:extLst>
          </p:cNvPr>
          <p:cNvSpPr>
            <a:spLocks noGrp="1"/>
          </p:cNvSpPr>
          <p:nvPr/>
        </p:nvSpPr>
        <p:spPr>
          <a:xfrm>
            <a:off x="552450" y="4829175"/>
            <a:ext cx="3143250" cy="266700"/>
          </a:xfrm>
          <a:prstGeom prst="rect">
            <a:avLst/>
          </a:prstGeom>
          <a:noFill/>
          <a:ln w="0">
            <a:noFill/>
            <a:prstDash val="solid"/>
          </a:ln>
        </p:spPr>
        <p:txBody>
          <a:bodyPr wrap="square" lIns="28575" tIns="19050" rIns="28575" bIns="19050" anchor="ctr">
            <a:normAutofit/>
          </a:bodyPr>
          <a:lstStyle/>
          <a:p>
            <a:pPr algn="l">
              <a:lnSpc>
                <a:spcPct val="100000"/>
              </a:lnSpc>
              <a:buNone/>
              <a:defRPr sz="1350" b="1" i="0">
                <a:solidFill>
                  <a:srgbClr val="3F3F3F"/>
                </a:solidFill>
                <a:latin typeface="Yu Gothic"/>
                <a:ea typeface="Yu Gothic"/>
                <a:cs typeface="Yu Gothic"/>
              </a:defRPr>
            </a:pPr>
            <a:r>
              <a:rPr sz="1350" b="1" i="0">
                <a:solidFill>
                  <a:srgbClr val="3F3F3F"/>
                </a:solidFill>
                <a:latin typeface="Yu Gothic"/>
                <a:ea typeface="Yu Gothic"/>
                <a:cs typeface="Yu Gothic"/>
              </a:rPr>
              <a:t>同じ基盤から可能になること</a:t>
            </a:r>
          </a:p>
        </p:txBody>
      </p:sp>
      <p:sp>
        <p:nvSpPr>
          <p:cNvPr id="11" name="正方形/長方形 10">
            <a:extLst>
              <a:ext uri="{FF2B5EF4-FFF2-40B4-BE49-F238E27FC236}">
                <a16:creationId xmlns:a16="http://schemas.microsoft.com/office/drawing/2014/main" id="{54612357-142D-4027-9784-B2A9F174BBD8}"/>
              </a:ext>
            </a:extLst>
          </p:cNvPr>
          <p:cNvSpPr>
            <a:spLocks noGrp="1"/>
          </p:cNvSpPr>
          <p:nvPr/>
        </p:nvSpPr>
        <p:spPr>
          <a:xfrm>
            <a:off x="552450" y="5191125"/>
            <a:ext cx="3524250" cy="628650"/>
          </a:xfrm>
          <a:prstGeom prst="rect">
            <a:avLst/>
          </a:prstGeom>
          <a:solidFill>
            <a:srgbClr val="E5F6FB"/>
          </a:solidFill>
          <a:ln w="9525">
            <a:solidFill>
              <a:srgbClr val="00A5D8"/>
            </a:solidFill>
            <a:prstDash val="solid"/>
          </a:ln>
        </p:spPr>
      </p:sp>
      <p:sp>
        <p:nvSpPr>
          <p:cNvPr id="12" name="四角形: 角を丸くする 11">
            <a:extLst>
              <a:ext uri="{FF2B5EF4-FFF2-40B4-BE49-F238E27FC236}">
                <a16:creationId xmlns:a16="http://schemas.microsoft.com/office/drawing/2014/main" id="{001E6E1F-8ECD-457E-AAA9-0E9108207AAC}"/>
              </a:ext>
            </a:extLst>
          </p:cNvPr>
          <p:cNvSpPr>
            <a:spLocks noGrp="1"/>
          </p:cNvSpPr>
          <p:nvPr/>
        </p:nvSpPr>
        <p:spPr>
          <a:xfrm>
            <a:off x="676275" y="5314950"/>
            <a:ext cx="685800" cy="238125"/>
          </a:xfrm>
          <a:prstGeom prst="roundRect">
            <a:avLst>
              <a:gd name="adj" fmla="val 50000"/>
            </a:avLst>
          </a:prstGeom>
          <a:solidFill>
            <a:srgbClr val="FFFFFF"/>
          </a:solidFill>
          <a:ln w="9525">
            <a:solidFill>
              <a:srgbClr val="00A5D8"/>
            </a:solidFill>
            <a:prstDash val="solid"/>
          </a:ln>
        </p:spPr>
      </p:sp>
      <p:sp>
        <p:nvSpPr>
          <p:cNvPr id="13" name="正方形/長方形 12">
            <a:extLst>
              <a:ext uri="{FF2B5EF4-FFF2-40B4-BE49-F238E27FC236}">
                <a16:creationId xmlns:a16="http://schemas.microsoft.com/office/drawing/2014/main" id="{F6EFF22D-3FFE-4DE5-BD6C-3B61A9526AEE}"/>
              </a:ext>
            </a:extLst>
          </p:cNvPr>
          <p:cNvSpPr>
            <a:spLocks noGrp="1"/>
          </p:cNvSpPr>
          <p:nvPr/>
        </p:nvSpPr>
        <p:spPr>
          <a:xfrm>
            <a:off x="723900" y="5324475"/>
            <a:ext cx="590550" cy="209550"/>
          </a:xfrm>
          <a:prstGeom prst="rect">
            <a:avLst/>
          </a:prstGeom>
          <a:noFill/>
          <a:ln w="0">
            <a:noFill/>
            <a:prstDash val="solid"/>
          </a:ln>
        </p:spPr>
        <p:txBody>
          <a:bodyPr wrap="none" lIns="28575" tIns="19050" rIns="28575" bIns="19050" anchor="ctr">
            <a:noAutofit/>
          </a:bodyPr>
          <a:lstStyle/>
          <a:p>
            <a:pPr algn="ctr">
              <a:lnSpc>
                <a:spcPct val="100000"/>
              </a:lnSpc>
              <a:buNone/>
              <a:defRPr sz="788" b="1" i="0">
                <a:solidFill>
                  <a:srgbClr val="00A5D8"/>
                </a:solidFill>
                <a:latin typeface="Yu Gothic"/>
                <a:ea typeface="Yu Gothic"/>
                <a:cs typeface="Yu Gothic"/>
              </a:defRPr>
            </a:pPr>
            <a:r>
              <a:rPr sz="788" b="1" i="0">
                <a:solidFill>
                  <a:srgbClr val="00A5D8"/>
                </a:solidFill>
                <a:latin typeface="Yu Gothic"/>
                <a:ea typeface="Yu Gothic"/>
                <a:cs typeface="Yu Gothic"/>
              </a:rPr>
              <a:t>設計</a:t>
            </a:r>
          </a:p>
        </p:txBody>
      </p:sp>
      <p:sp>
        <p:nvSpPr>
          <p:cNvPr id="14" name="正方形/長方形 13">
            <a:extLst>
              <a:ext uri="{FF2B5EF4-FFF2-40B4-BE49-F238E27FC236}">
                <a16:creationId xmlns:a16="http://schemas.microsoft.com/office/drawing/2014/main" id="{6CFCCB02-49D6-424A-ADE3-60C1A88C359A}"/>
              </a:ext>
            </a:extLst>
          </p:cNvPr>
          <p:cNvSpPr>
            <a:spLocks noGrp="1"/>
          </p:cNvSpPr>
          <p:nvPr/>
        </p:nvSpPr>
        <p:spPr>
          <a:xfrm>
            <a:off x="1447800" y="5267325"/>
            <a:ext cx="2476500" cy="428625"/>
          </a:xfrm>
          <a:prstGeom prst="rect">
            <a:avLst/>
          </a:prstGeom>
          <a:noFill/>
          <a:ln w="0">
            <a:noFill/>
            <a:prstDash val="solid"/>
          </a:ln>
        </p:spPr>
        <p:txBody>
          <a:bodyPr wrap="square" lIns="28575" tIns="19050" rIns="28575" bIns="19050" anchor="ctr">
            <a:normAutofit/>
          </a:bodyPr>
          <a:lstStyle/>
          <a:p>
            <a:pPr algn="l">
              <a:lnSpc>
                <a:spcPct val="106000"/>
              </a:lnSpc>
              <a:buNone/>
              <a:defRPr sz="878" b="1" i="0">
                <a:solidFill>
                  <a:srgbClr val="5B5B5B"/>
                </a:solidFill>
                <a:latin typeface="Yu Gothic"/>
                <a:ea typeface="Yu Gothic"/>
                <a:cs typeface="Yu Gothic"/>
              </a:defRPr>
            </a:pPr>
            <a:r>
              <a:rPr sz="878" b="1" i="0">
                <a:solidFill>
                  <a:srgbClr val="5B5B5B"/>
                </a:solidFill>
                <a:latin typeface="Yu Gothic"/>
                <a:ea typeface="Yu Gothic"/>
                <a:cs typeface="Yu Gothic"/>
              </a:rPr>
              <a:t>DOE候補のscreening / 係数感度 / model gapの発見</a:t>
            </a:r>
          </a:p>
        </p:txBody>
      </p:sp>
      <p:sp>
        <p:nvSpPr>
          <p:cNvPr id="15" name="正方形/長方形 14">
            <a:extLst>
              <a:ext uri="{FF2B5EF4-FFF2-40B4-BE49-F238E27FC236}">
                <a16:creationId xmlns:a16="http://schemas.microsoft.com/office/drawing/2014/main" id="{D67E51AE-D549-4AB4-B0F9-1FBCEEC9703E}"/>
              </a:ext>
            </a:extLst>
          </p:cNvPr>
          <p:cNvSpPr>
            <a:spLocks noGrp="1"/>
          </p:cNvSpPr>
          <p:nvPr/>
        </p:nvSpPr>
        <p:spPr>
          <a:xfrm>
            <a:off x="4248150" y="5191125"/>
            <a:ext cx="3524250" cy="628650"/>
          </a:xfrm>
          <a:prstGeom prst="rect">
            <a:avLst/>
          </a:prstGeom>
          <a:solidFill>
            <a:srgbClr val="EEF7DF"/>
          </a:solidFill>
          <a:ln w="9525">
            <a:solidFill>
              <a:srgbClr val="76BE18"/>
            </a:solidFill>
            <a:prstDash val="solid"/>
          </a:ln>
        </p:spPr>
      </p:sp>
      <p:sp>
        <p:nvSpPr>
          <p:cNvPr id="16" name="四角形: 角を丸くする 15">
            <a:extLst>
              <a:ext uri="{FF2B5EF4-FFF2-40B4-BE49-F238E27FC236}">
                <a16:creationId xmlns:a16="http://schemas.microsoft.com/office/drawing/2014/main" id="{2EA7CC83-D500-4184-B582-8F61A7C4300D}"/>
              </a:ext>
            </a:extLst>
          </p:cNvPr>
          <p:cNvSpPr>
            <a:spLocks noGrp="1"/>
          </p:cNvSpPr>
          <p:nvPr/>
        </p:nvSpPr>
        <p:spPr>
          <a:xfrm>
            <a:off x="4371975" y="5314950"/>
            <a:ext cx="685800" cy="238125"/>
          </a:xfrm>
          <a:prstGeom prst="roundRect">
            <a:avLst>
              <a:gd name="adj" fmla="val 50000"/>
            </a:avLst>
          </a:prstGeom>
          <a:solidFill>
            <a:srgbClr val="FFFFFF"/>
          </a:solidFill>
          <a:ln w="9525">
            <a:solidFill>
              <a:srgbClr val="76BE18"/>
            </a:solidFill>
            <a:prstDash val="solid"/>
          </a:ln>
        </p:spPr>
      </p:sp>
      <p:sp>
        <p:nvSpPr>
          <p:cNvPr id="17" name="正方形/長方形 16">
            <a:extLst>
              <a:ext uri="{FF2B5EF4-FFF2-40B4-BE49-F238E27FC236}">
                <a16:creationId xmlns:a16="http://schemas.microsoft.com/office/drawing/2014/main" id="{2B18602F-1EED-4FE5-9230-E99A0868CB1C}"/>
              </a:ext>
            </a:extLst>
          </p:cNvPr>
          <p:cNvSpPr>
            <a:spLocks noGrp="1"/>
          </p:cNvSpPr>
          <p:nvPr/>
        </p:nvSpPr>
        <p:spPr>
          <a:xfrm>
            <a:off x="4419600" y="5324475"/>
            <a:ext cx="590550" cy="209550"/>
          </a:xfrm>
          <a:prstGeom prst="rect">
            <a:avLst/>
          </a:prstGeom>
          <a:noFill/>
          <a:ln w="0">
            <a:noFill/>
            <a:prstDash val="solid"/>
          </a:ln>
        </p:spPr>
        <p:txBody>
          <a:bodyPr wrap="none" lIns="28575" tIns="19050" rIns="28575" bIns="19050" anchor="ctr">
            <a:noAutofit/>
          </a:bodyPr>
          <a:lstStyle/>
          <a:p>
            <a:pPr algn="ctr">
              <a:lnSpc>
                <a:spcPct val="100000"/>
              </a:lnSpc>
              <a:buNone/>
              <a:defRPr sz="788" b="1" i="0">
                <a:solidFill>
                  <a:srgbClr val="76BE18"/>
                </a:solidFill>
                <a:latin typeface="Yu Gothic"/>
                <a:ea typeface="Yu Gothic"/>
                <a:cs typeface="Yu Gothic"/>
              </a:defRPr>
            </a:pPr>
            <a:r>
              <a:rPr sz="788" b="1" i="0">
                <a:solidFill>
                  <a:srgbClr val="76BE18"/>
                </a:solidFill>
                <a:latin typeface="Yu Gothic"/>
                <a:ea typeface="Yu Gothic"/>
                <a:cs typeface="Yu Gothic"/>
              </a:rPr>
              <a:t>運用</a:t>
            </a:r>
          </a:p>
        </p:txBody>
      </p:sp>
      <p:sp>
        <p:nvSpPr>
          <p:cNvPr id="18" name="正方形/長方形 17">
            <a:extLst>
              <a:ext uri="{FF2B5EF4-FFF2-40B4-BE49-F238E27FC236}">
                <a16:creationId xmlns:a16="http://schemas.microsoft.com/office/drawing/2014/main" id="{0262C464-9425-4D2E-B824-AD624CA5B829}"/>
              </a:ext>
            </a:extLst>
          </p:cNvPr>
          <p:cNvSpPr>
            <a:spLocks noGrp="1"/>
          </p:cNvSpPr>
          <p:nvPr/>
        </p:nvSpPr>
        <p:spPr>
          <a:xfrm>
            <a:off x="5143500" y="5267325"/>
            <a:ext cx="2476500" cy="428625"/>
          </a:xfrm>
          <a:prstGeom prst="rect">
            <a:avLst/>
          </a:prstGeom>
          <a:noFill/>
          <a:ln w="0">
            <a:noFill/>
            <a:prstDash val="solid"/>
          </a:ln>
        </p:spPr>
        <p:txBody>
          <a:bodyPr wrap="square" lIns="28575" tIns="19050" rIns="28575" bIns="19050" anchor="ctr">
            <a:normAutofit/>
          </a:bodyPr>
          <a:lstStyle/>
          <a:p>
            <a:pPr algn="l">
              <a:lnSpc>
                <a:spcPct val="106000"/>
              </a:lnSpc>
              <a:buNone/>
              <a:defRPr sz="878" b="1" i="0">
                <a:solidFill>
                  <a:srgbClr val="5B5B5B"/>
                </a:solidFill>
                <a:latin typeface="Yu Gothic"/>
                <a:ea typeface="Yu Gothic"/>
                <a:cs typeface="Yu Gothic"/>
              </a:defRPr>
            </a:pPr>
            <a:r>
              <a:rPr sz="878" b="1" i="0">
                <a:solidFill>
                  <a:srgbClr val="5B5B5B"/>
                </a:solidFill>
                <a:latin typeface="Yu Gothic"/>
                <a:ea typeface="Yu Gothic"/>
                <a:cs typeface="Yu Gothic"/>
              </a:rPr>
              <a:t>warm-up終了予測 / virtual sensor / sensor欠測継続</a:t>
            </a:r>
          </a:p>
        </p:txBody>
      </p:sp>
      <p:sp>
        <p:nvSpPr>
          <p:cNvPr id="19" name="正方形/長方形 18">
            <a:extLst>
              <a:ext uri="{FF2B5EF4-FFF2-40B4-BE49-F238E27FC236}">
                <a16:creationId xmlns:a16="http://schemas.microsoft.com/office/drawing/2014/main" id="{3448D17E-48BB-4F40-8D6F-BB095A0BBF99}"/>
              </a:ext>
            </a:extLst>
          </p:cNvPr>
          <p:cNvSpPr>
            <a:spLocks noGrp="1"/>
          </p:cNvSpPr>
          <p:nvPr/>
        </p:nvSpPr>
        <p:spPr>
          <a:xfrm>
            <a:off x="7943850" y="5191125"/>
            <a:ext cx="3524250" cy="628650"/>
          </a:xfrm>
          <a:prstGeom prst="rect">
            <a:avLst/>
          </a:prstGeom>
          <a:solidFill>
            <a:srgbClr val="EFE5F6"/>
          </a:solidFill>
          <a:ln w="9525">
            <a:solidFill>
              <a:srgbClr val="7B2DAF"/>
            </a:solidFill>
            <a:prstDash val="solid"/>
          </a:ln>
        </p:spPr>
      </p:sp>
      <p:sp>
        <p:nvSpPr>
          <p:cNvPr id="20" name="四角形: 角を丸くする 19">
            <a:extLst>
              <a:ext uri="{FF2B5EF4-FFF2-40B4-BE49-F238E27FC236}">
                <a16:creationId xmlns:a16="http://schemas.microsoft.com/office/drawing/2014/main" id="{65D66AD7-00D2-497E-8C5F-17981F14E210}"/>
              </a:ext>
            </a:extLst>
          </p:cNvPr>
          <p:cNvSpPr>
            <a:spLocks noGrp="1"/>
          </p:cNvSpPr>
          <p:nvPr/>
        </p:nvSpPr>
        <p:spPr>
          <a:xfrm>
            <a:off x="8067675" y="5314950"/>
            <a:ext cx="685800" cy="238125"/>
          </a:xfrm>
          <a:prstGeom prst="roundRect">
            <a:avLst>
              <a:gd name="adj" fmla="val 50000"/>
            </a:avLst>
          </a:prstGeom>
          <a:solidFill>
            <a:srgbClr val="FFFFFF"/>
          </a:solidFill>
          <a:ln w="9525">
            <a:solidFill>
              <a:srgbClr val="7B2DAF"/>
            </a:solidFill>
            <a:prstDash val="solid"/>
          </a:ln>
        </p:spPr>
      </p:sp>
      <p:sp>
        <p:nvSpPr>
          <p:cNvPr id="21" name="正方形/長方形 20">
            <a:extLst>
              <a:ext uri="{FF2B5EF4-FFF2-40B4-BE49-F238E27FC236}">
                <a16:creationId xmlns:a16="http://schemas.microsoft.com/office/drawing/2014/main" id="{CAF78922-BF6A-40F7-BF26-FBB8B144AD7A}"/>
              </a:ext>
            </a:extLst>
          </p:cNvPr>
          <p:cNvSpPr>
            <a:spLocks noGrp="1"/>
          </p:cNvSpPr>
          <p:nvPr/>
        </p:nvSpPr>
        <p:spPr>
          <a:xfrm>
            <a:off x="8115300" y="5324475"/>
            <a:ext cx="590550" cy="209550"/>
          </a:xfrm>
          <a:prstGeom prst="rect">
            <a:avLst/>
          </a:prstGeom>
          <a:noFill/>
          <a:ln w="0">
            <a:noFill/>
            <a:prstDash val="solid"/>
          </a:ln>
        </p:spPr>
        <p:txBody>
          <a:bodyPr wrap="none" lIns="28575" tIns="19050" rIns="28575" bIns="19050" anchor="ctr">
            <a:noAutofit/>
          </a:bodyPr>
          <a:lstStyle/>
          <a:p>
            <a:pPr algn="ctr">
              <a:lnSpc>
                <a:spcPct val="100000"/>
              </a:lnSpc>
              <a:buNone/>
              <a:defRPr sz="788" b="1" i="0">
                <a:solidFill>
                  <a:srgbClr val="7B2DAF"/>
                </a:solidFill>
                <a:latin typeface="Yu Gothic"/>
                <a:ea typeface="Yu Gothic"/>
                <a:cs typeface="Yu Gothic"/>
              </a:defRPr>
            </a:pPr>
            <a:r>
              <a:rPr sz="788" b="1" i="0">
                <a:solidFill>
                  <a:srgbClr val="7B2DAF"/>
                </a:solidFill>
                <a:latin typeface="Yu Gothic"/>
                <a:ea typeface="Yu Gothic"/>
                <a:cs typeface="Yu Gothic"/>
              </a:rPr>
              <a:t>保全</a:t>
            </a:r>
          </a:p>
        </p:txBody>
      </p:sp>
      <p:sp>
        <p:nvSpPr>
          <p:cNvPr id="22" name="正方形/長方形 21">
            <a:extLst>
              <a:ext uri="{FF2B5EF4-FFF2-40B4-BE49-F238E27FC236}">
                <a16:creationId xmlns:a16="http://schemas.microsoft.com/office/drawing/2014/main" id="{39733FCC-0C72-49EC-A1AA-9260A8144A85}"/>
              </a:ext>
            </a:extLst>
          </p:cNvPr>
          <p:cNvSpPr>
            <a:spLocks noGrp="1"/>
          </p:cNvSpPr>
          <p:nvPr/>
        </p:nvSpPr>
        <p:spPr>
          <a:xfrm>
            <a:off x="8839200" y="5267325"/>
            <a:ext cx="2476500" cy="428625"/>
          </a:xfrm>
          <a:prstGeom prst="rect">
            <a:avLst/>
          </a:prstGeom>
          <a:noFill/>
          <a:ln w="0">
            <a:noFill/>
            <a:prstDash val="solid"/>
          </a:ln>
        </p:spPr>
        <p:txBody>
          <a:bodyPr wrap="square" lIns="28575" tIns="19050" rIns="28575" bIns="19050" anchor="ctr">
            <a:normAutofit/>
          </a:bodyPr>
          <a:lstStyle/>
          <a:p>
            <a:pPr algn="l">
              <a:lnSpc>
                <a:spcPct val="106000"/>
              </a:lnSpc>
              <a:buNone/>
              <a:defRPr sz="878" b="1" i="0">
                <a:solidFill>
                  <a:srgbClr val="5B5B5B"/>
                </a:solidFill>
                <a:latin typeface="Yu Gothic"/>
                <a:ea typeface="Yu Gothic"/>
                <a:cs typeface="Yu Gothic"/>
              </a:defRPr>
            </a:pPr>
            <a:r>
              <a:rPr sz="878" b="1" i="0">
                <a:solidFill>
                  <a:srgbClr val="5B5B5B"/>
                </a:solidFill>
                <a:latin typeface="Yu Gothic"/>
                <a:ea typeface="Yu Gothic"/>
                <a:cs typeface="Yu Gothic"/>
              </a:rPr>
              <a:t>未指令発熱 / relative drift / gross faultの切り分け</a:t>
            </a:r>
          </a:p>
        </p:txBody>
      </p:sp>
      <p:sp>
        <p:nvSpPr>
          <p:cNvPr id="23" name="正方形/長方形 22">
            <a:extLst>
              <a:ext uri="{FF2B5EF4-FFF2-40B4-BE49-F238E27FC236}">
                <a16:creationId xmlns:a16="http://schemas.microsoft.com/office/drawing/2014/main" id="{0A6B3F35-0329-4E53-ACD3-7573949C121C}"/>
              </a:ext>
            </a:extLst>
          </p:cNvPr>
          <p:cNvSpPr>
            <a:spLocks noGrp="1"/>
          </p:cNvSpPr>
          <p:nvPr/>
        </p:nvSpPr>
        <p:spPr>
          <a:xfrm>
            <a:off x="552450" y="5962650"/>
            <a:ext cx="11087100" cy="238125"/>
          </a:xfrm>
          <a:prstGeom prst="rect">
            <a:avLst/>
          </a:prstGeom>
          <a:noFill/>
          <a:ln w="0">
            <a:noFill/>
            <a:prstDash val="solid"/>
          </a:ln>
        </p:spPr>
        <p:txBody>
          <a:bodyPr wrap="square" lIns="28575" tIns="19050" rIns="28575" bIns="19050" anchor="ctr">
            <a:normAutofit/>
          </a:bodyPr>
          <a:lstStyle/>
          <a:p>
            <a:pPr algn="ctr">
              <a:lnSpc>
                <a:spcPct val="100000"/>
              </a:lnSpc>
              <a:buNone/>
              <a:defRPr sz="863" b="0" i="0">
                <a:solidFill>
                  <a:srgbClr val="C4493D"/>
                </a:solidFill>
                <a:latin typeface="Yu Gothic"/>
                <a:ea typeface="Yu Gothic"/>
                <a:cs typeface="Yu Gothic"/>
              </a:defRPr>
            </a:pPr>
            <a:r>
              <a:rPr sz="863" b="0" i="0">
                <a:solidFill>
                  <a:srgbClr val="C4493D"/>
                </a:solidFill>
                <a:latin typeface="Yu Gothic"/>
                <a:ea typeface="Yu Gothic"/>
                <a:cs typeface="Yu Gothic"/>
              </a:rPr>
              <a:t>拡張候補（未実装）：parameter uncertainty、sparse演算、階層同定、複数対象で再現する非線形law。</a:t>
            </a:r>
          </a:p>
        </p:txBody>
      </p:sp>
    </p:spTree>
    <p:extLst>
      <p:ext uri="{BB962C8B-B14F-4D97-AF65-F5344CB8AC3E}">
        <p14:creationId xmlns:p14="http://schemas.microsoft.com/office/powerpoint/2010/main" val="1810679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3" name="正方形/長方形 42">
            <a:extLst>
              <a:ext uri="{FF2B5EF4-FFF2-40B4-BE49-F238E27FC236}">
                <a16:creationId xmlns:a16="http://schemas.microsoft.com/office/drawing/2014/main" id="{60775B64-337D-4372-98FC-81201C5AADED}"/>
              </a:ext>
            </a:extLst>
          </p:cNvPr>
          <p:cNvSpPr>
            <a:spLocks noGrp="1"/>
          </p:cNvSpPr>
          <p:nvPr/>
        </p:nvSpPr>
        <p:spPr>
          <a:xfrm>
            <a:off x="552450" y="190500"/>
            <a:ext cx="76200" cy="142875"/>
          </a:xfrm>
          <a:prstGeom prst="rect">
            <a:avLst/>
          </a:prstGeom>
          <a:solidFill>
            <a:srgbClr val="76BE18"/>
          </a:solidFill>
          <a:ln w="0">
            <a:noFill/>
            <a:prstDash val="solid"/>
          </a:ln>
        </p:spPr>
      </p:sp>
      <p:sp>
        <p:nvSpPr>
          <p:cNvPr id="2" name="正方形/長方形 1">
            <a:extLst>
              <a:ext uri="{FF2B5EF4-FFF2-40B4-BE49-F238E27FC236}">
                <a16:creationId xmlns:a16="http://schemas.microsoft.com/office/drawing/2014/main" id="{C5CCB586-F4F0-428A-BFBA-E39C286A606C}"/>
              </a:ext>
            </a:extLst>
          </p:cNvPr>
          <p:cNvSpPr>
            <a:spLocks noGrp="1"/>
          </p:cNvSpPr>
          <p:nvPr/>
        </p:nvSpPr>
        <p:spPr>
          <a:xfrm>
            <a:off x="704850" y="161925"/>
            <a:ext cx="3429000" cy="190500"/>
          </a:xfrm>
          <a:prstGeom prst="rect">
            <a:avLst/>
          </a:prstGeom>
          <a:noFill/>
          <a:ln w="0">
            <a:noFill/>
            <a:prstDash val="solid"/>
          </a:ln>
        </p:spPr>
        <p:txBody>
          <a:bodyPr wrap="none" lIns="28575" tIns="19050" rIns="28575" bIns="19050" anchor="ctr">
            <a:noAutofit/>
          </a:bodyPr>
          <a:lstStyle/>
          <a:p>
            <a:pPr algn="l">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EXECUTIVE VIEW</a:t>
            </a:r>
          </a:p>
        </p:txBody>
      </p:sp>
      <p:sp>
        <p:nvSpPr>
          <p:cNvPr id="3" name="正方形/長方形 2">
            <a:extLst>
              <a:ext uri="{FF2B5EF4-FFF2-40B4-BE49-F238E27FC236}">
                <a16:creationId xmlns:a16="http://schemas.microsoft.com/office/drawing/2014/main" id="{223233F7-69FA-4E29-8C10-1A3270DB4026}"/>
              </a:ext>
            </a:extLst>
          </p:cNvPr>
          <p:cNvSpPr>
            <a:spLocks noGrp="1"/>
          </p:cNvSpPr>
          <p:nvPr/>
        </p:nvSpPr>
        <p:spPr>
          <a:xfrm>
            <a:off x="552450" y="400050"/>
            <a:ext cx="11001375" cy="400050"/>
          </a:xfrm>
          <a:prstGeom prst="rect">
            <a:avLst/>
          </a:prstGeom>
          <a:noFill/>
          <a:ln w="0">
            <a:noFill/>
            <a:prstDash val="solid"/>
          </a:ln>
        </p:spPr>
        <p:txBody>
          <a:bodyPr wrap="none" lIns="19050" tIns="0" rIns="19050" bIns="0" anchor="ctr">
            <a:normAutofit/>
          </a:bodyPr>
          <a:lstStyle/>
          <a:p>
            <a:pPr algn="l">
              <a:lnSpc>
                <a:spcPct val="100000"/>
              </a:lnSpc>
              <a:buNone/>
              <a:defRPr sz="2175" b="1" i="0">
                <a:solidFill>
                  <a:srgbClr val="00A5D8"/>
                </a:solidFill>
                <a:latin typeface="Yu Gothic"/>
                <a:ea typeface="Yu Gothic"/>
                <a:cs typeface="Yu Gothic"/>
              </a:defRPr>
            </a:pPr>
            <a:r>
              <a:rPr sz="2175" b="1" i="0">
                <a:solidFill>
                  <a:srgbClr val="00A5D8"/>
                </a:solidFill>
                <a:latin typeface="Yu Gothic"/>
                <a:ea typeface="Yu Gothic"/>
                <a:cs typeface="Yu Gothic"/>
              </a:rPr>
              <a:t>装置適用の価値は高いが、平均温度精度と局所安全性は分けて判定する</a:t>
            </a:r>
          </a:p>
        </p:txBody>
      </p:sp>
      <p:sp>
        <p:nvSpPr>
          <p:cNvPr id="4" name="正方形/長方形 3">
            <a:extLst>
              <a:ext uri="{FF2B5EF4-FFF2-40B4-BE49-F238E27FC236}">
                <a16:creationId xmlns:a16="http://schemas.microsoft.com/office/drawing/2014/main" id="{71510212-4A5D-4E99-A2E6-819565EA92C0}"/>
              </a:ext>
            </a:extLst>
          </p:cNvPr>
          <p:cNvSpPr>
            <a:spLocks noGrp="1"/>
          </p:cNvSpPr>
          <p:nvPr/>
        </p:nvSpPr>
        <p:spPr>
          <a:xfrm>
            <a:off x="571500" y="838200"/>
            <a:ext cx="10906125" cy="228600"/>
          </a:xfrm>
          <a:prstGeom prst="rect">
            <a:avLst/>
          </a:prstGeom>
          <a:noFill/>
          <a:ln w="0">
            <a:noFill/>
            <a:prstDash val="solid"/>
          </a:ln>
        </p:spPr>
        <p:txBody>
          <a:bodyPr wrap="none" lIns="28575" tIns="19050" rIns="28575" bIns="19050" anchor="ctr">
            <a:noAutofit/>
          </a:bodyPr>
          <a:lstStyle/>
          <a:p>
            <a:pPr algn="l">
              <a:lnSpc>
                <a:spcPct val="100000"/>
              </a:lnSpc>
              <a:buNone/>
              <a:defRPr sz="975" b="0" i="0">
                <a:solidFill>
                  <a:srgbClr val="5B5B5B"/>
                </a:solidFill>
                <a:latin typeface="Yu Gothic"/>
                <a:ea typeface="Yu Gothic"/>
                <a:cs typeface="Yu Gothic"/>
              </a:defRPr>
            </a:pPr>
            <a:r>
              <a:rPr sz="975" b="0" i="0">
                <a:solidFill>
                  <a:srgbClr val="5B5B5B"/>
                </a:solidFill>
                <a:latin typeface="Yu Gothic"/>
                <a:ea typeface="Yu Gothic"/>
                <a:cs typeface="Yu Gothic"/>
              </a:rPr>
              <a:t>結論は「screeningに有効、製品保証には装置別V&amp;Vが必要」である</a:t>
            </a:r>
          </a:p>
        </p:txBody>
      </p:sp>
      <p:sp>
        <p:nvSpPr>
          <p:cNvPr id="5" name="直線コネクタ 4">
            <a:extLst>
              <a:ext uri="{FF2B5EF4-FFF2-40B4-BE49-F238E27FC236}">
                <a16:creationId xmlns:a16="http://schemas.microsoft.com/office/drawing/2014/main" id="{318FEEE2-7CAB-418C-8003-AB4F5170EB0B}"/>
              </a:ext>
            </a:extLst>
          </p:cNvPr>
          <p:cNvSpPr>
            <a:spLocks noGrp="1"/>
          </p:cNvSpPr>
          <p:nvPr/>
        </p:nvSpPr>
        <p:spPr>
          <a:xfrm>
            <a:off x="552450" y="1152525"/>
            <a:ext cx="11087100" cy="0"/>
          </a:xfrm>
          <a:prstGeom prst="line">
            <a:avLst/>
          </a:prstGeom>
          <a:noFill/>
          <a:ln w="9525">
            <a:solidFill>
              <a:srgbClr val="D6D6D6"/>
            </a:solidFill>
            <a:prstDash val="solid"/>
          </a:ln>
        </p:spPr>
      </p:sp>
      <p:sp>
        <p:nvSpPr>
          <p:cNvPr id="6" name="直線コネクタ 5">
            <a:extLst>
              <a:ext uri="{FF2B5EF4-FFF2-40B4-BE49-F238E27FC236}">
                <a16:creationId xmlns:a16="http://schemas.microsoft.com/office/drawing/2014/main" id="{B625CEED-AF40-4F5C-9B23-5763FF4BF792}"/>
              </a:ext>
            </a:extLst>
          </p:cNvPr>
          <p:cNvSpPr>
            <a:spLocks noGrp="1"/>
          </p:cNvSpPr>
          <p:nvPr/>
        </p:nvSpPr>
        <p:spPr>
          <a:xfrm>
            <a:off x="552450" y="6438900"/>
            <a:ext cx="11087100" cy="0"/>
          </a:xfrm>
          <a:prstGeom prst="line">
            <a:avLst/>
          </a:prstGeom>
          <a:noFill/>
          <a:ln w="9525">
            <a:solidFill>
              <a:srgbClr val="D6D6D6"/>
            </a:solidFill>
            <a:prstDash val="solid"/>
          </a:ln>
        </p:spPr>
      </p:sp>
      <p:sp>
        <p:nvSpPr>
          <p:cNvPr id="7" name="正方形/長方形 6">
            <a:extLst>
              <a:ext uri="{FF2B5EF4-FFF2-40B4-BE49-F238E27FC236}">
                <a16:creationId xmlns:a16="http://schemas.microsoft.com/office/drawing/2014/main" id="{AEF73512-DE18-43BB-A013-0E05A0E1D91B}"/>
              </a:ext>
            </a:extLst>
          </p:cNvPr>
          <p:cNvSpPr>
            <a:spLocks noGrp="1"/>
          </p:cNvSpPr>
          <p:nvPr/>
        </p:nvSpPr>
        <p:spPr>
          <a:xfrm>
            <a:off x="571500" y="6505575"/>
            <a:ext cx="5334000" cy="171450"/>
          </a:xfrm>
          <a:prstGeom prst="rect">
            <a:avLst/>
          </a:prstGeom>
          <a:noFill/>
          <a:ln w="0">
            <a:noFill/>
            <a:prstDash val="solid"/>
          </a:ln>
        </p:spPr>
        <p:txBody>
          <a:bodyPr wrap="none" lIns="28575" tIns="19050" rIns="28575" bIns="19050" anchor="ctr">
            <a:noAutofit/>
          </a:bodyPr>
          <a:lstStyle/>
          <a:p>
            <a:pPr algn="l">
              <a:lnSpc>
                <a:spcPct val="100000"/>
              </a:lnSpc>
              <a:buNone/>
              <a:defRPr sz="713" b="0" i="0">
                <a:solidFill>
                  <a:srgbClr val="777777"/>
                </a:solidFill>
                <a:latin typeface="Yu Gothic"/>
                <a:ea typeface="Yu Gothic"/>
                <a:cs typeface="Yu Gothic"/>
              </a:defRPr>
            </a:pPr>
            <a:r>
              <a:rPr sz="713" b="0" i="0">
                <a:solidFill>
                  <a:srgbClr val="777777"/>
                </a:solidFill>
                <a:latin typeface="Yu Gothic"/>
                <a:ea typeface="Yu Gothic"/>
                <a:cs typeface="Yu Gothic"/>
              </a:rPr>
              <a:t>THERMAL RC / EQUIPMENT ENGINEERING REVIEW  ·  2026-09-17</a:t>
            </a:r>
          </a:p>
        </p:txBody>
      </p:sp>
      <p:sp>
        <p:nvSpPr>
          <p:cNvPr id="8" name="正方形/長方形 7">
            <a:extLst>
              <a:ext uri="{FF2B5EF4-FFF2-40B4-BE49-F238E27FC236}">
                <a16:creationId xmlns:a16="http://schemas.microsoft.com/office/drawing/2014/main" id="{FEE541A4-8BF5-4C91-B1FB-4524146ACD15}"/>
              </a:ext>
            </a:extLst>
          </p:cNvPr>
          <p:cNvSpPr>
            <a:spLocks noGrp="1"/>
          </p:cNvSpPr>
          <p:nvPr/>
        </p:nvSpPr>
        <p:spPr>
          <a:xfrm>
            <a:off x="11125200" y="6496050"/>
            <a:ext cx="476250" cy="171450"/>
          </a:xfrm>
          <a:prstGeom prst="rect">
            <a:avLst/>
          </a:prstGeom>
          <a:noFill/>
          <a:ln w="0">
            <a:noFill/>
            <a:prstDash val="solid"/>
          </a:ln>
        </p:spPr>
        <p:txBody>
          <a:bodyPr wrap="square" lIns="28575" tIns="19050" rIns="28575" bIns="19050" anchor="ctr">
            <a:noAutofit/>
          </a:bodyPr>
          <a:lstStyle/>
          <a:p>
            <a:pPr algn="r">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6</a:t>
            </a:r>
          </a:p>
        </p:txBody>
      </p:sp>
      <p:sp>
        <p:nvSpPr>
          <p:cNvPr id="9" name="正方形/長方形 8">
            <a:extLst>
              <a:ext uri="{FF2B5EF4-FFF2-40B4-BE49-F238E27FC236}">
                <a16:creationId xmlns:a16="http://schemas.microsoft.com/office/drawing/2014/main" id="{9D9A5106-4F60-4C1F-AA0B-E34A4B4A986E}"/>
              </a:ext>
            </a:extLst>
          </p:cNvPr>
          <p:cNvSpPr>
            <a:spLocks noGrp="1"/>
          </p:cNvSpPr>
          <p:nvPr/>
        </p:nvSpPr>
        <p:spPr>
          <a:xfrm>
            <a:off x="552450" y="1457325"/>
            <a:ext cx="3409950" cy="2609850"/>
          </a:xfrm>
          <a:prstGeom prst="rect">
            <a:avLst/>
          </a:prstGeom>
          <a:solidFill>
            <a:srgbClr val="FFFFFF"/>
          </a:solidFill>
          <a:ln w="9525">
            <a:solidFill>
              <a:srgbClr val="D6D6D6"/>
            </a:solidFill>
            <a:prstDash val="solid"/>
          </a:ln>
        </p:spPr>
      </p:sp>
      <p:sp>
        <p:nvSpPr>
          <p:cNvPr id="10" name="正方形/長方形 9">
            <a:extLst>
              <a:ext uri="{FF2B5EF4-FFF2-40B4-BE49-F238E27FC236}">
                <a16:creationId xmlns:a16="http://schemas.microsoft.com/office/drawing/2014/main" id="{231E3522-9874-470D-9814-82E3FD3208F8}"/>
              </a:ext>
            </a:extLst>
          </p:cNvPr>
          <p:cNvSpPr>
            <a:spLocks noGrp="1"/>
          </p:cNvSpPr>
          <p:nvPr/>
        </p:nvSpPr>
        <p:spPr>
          <a:xfrm>
            <a:off x="552450" y="1457325"/>
            <a:ext cx="3409950" cy="76200"/>
          </a:xfrm>
          <a:prstGeom prst="rect">
            <a:avLst/>
          </a:prstGeom>
          <a:solidFill>
            <a:srgbClr val="00A5D8"/>
          </a:solidFill>
          <a:ln w="0">
            <a:noFill/>
            <a:prstDash val="solid"/>
          </a:ln>
        </p:spPr>
      </p:sp>
      <p:sp>
        <p:nvSpPr>
          <p:cNvPr id="11" name="正方形/長方形 10">
            <a:extLst>
              <a:ext uri="{FF2B5EF4-FFF2-40B4-BE49-F238E27FC236}">
                <a16:creationId xmlns:a16="http://schemas.microsoft.com/office/drawing/2014/main" id="{49A02ADD-231A-4D63-A562-8DD971F018D9}"/>
              </a:ext>
            </a:extLst>
          </p:cNvPr>
          <p:cNvSpPr>
            <a:spLocks noGrp="1"/>
          </p:cNvSpPr>
          <p:nvPr/>
        </p:nvSpPr>
        <p:spPr>
          <a:xfrm>
            <a:off x="742950" y="1695450"/>
            <a:ext cx="3028950" cy="323850"/>
          </a:xfrm>
          <a:prstGeom prst="rect">
            <a:avLst/>
          </a:prstGeom>
          <a:noFill/>
          <a:ln w="0">
            <a:noFill/>
            <a:prstDash val="solid"/>
          </a:ln>
        </p:spPr>
        <p:txBody>
          <a:bodyPr wrap="square" lIns="28575" tIns="19050" rIns="28575" bIns="19050" anchor="ctr">
            <a:normAutofit/>
          </a:bodyPr>
          <a:lstStyle/>
          <a:p>
            <a:pPr algn="l">
              <a:lnSpc>
                <a:spcPct val="100000"/>
              </a:lnSpc>
              <a:buNone/>
              <a:defRPr sz="1575" b="1" i="0">
                <a:solidFill>
                  <a:srgbClr val="3F3F3F"/>
                </a:solidFill>
                <a:latin typeface="Yu Gothic"/>
                <a:ea typeface="Yu Gothic"/>
                <a:cs typeface="Yu Gothic"/>
              </a:defRPr>
            </a:pPr>
            <a:r>
              <a:rPr sz="1575" b="1" i="0">
                <a:solidFill>
                  <a:srgbClr val="3F3F3F"/>
                </a:solidFill>
                <a:latin typeface="Yu Gothic"/>
                <a:ea typeface="Yu Gothic"/>
                <a:cs typeface="Yu Gothic"/>
              </a:rPr>
              <a:t>物理モデル</a:t>
            </a:r>
          </a:p>
        </p:txBody>
      </p:sp>
      <p:sp>
        <p:nvSpPr>
          <p:cNvPr id="12" name="正方形/長方形 11">
            <a:extLst>
              <a:ext uri="{FF2B5EF4-FFF2-40B4-BE49-F238E27FC236}">
                <a16:creationId xmlns:a16="http://schemas.microsoft.com/office/drawing/2014/main" id="{F3D69D0C-ED22-491D-B685-9F505F40CB70}"/>
              </a:ext>
            </a:extLst>
          </p:cNvPr>
          <p:cNvSpPr>
            <a:spLocks noGrp="1"/>
          </p:cNvSpPr>
          <p:nvPr/>
        </p:nvSpPr>
        <p:spPr>
          <a:xfrm>
            <a:off x="742950" y="2133600"/>
            <a:ext cx="3028950" cy="590550"/>
          </a:xfrm>
          <a:prstGeom prst="rect">
            <a:avLst/>
          </a:prstGeom>
          <a:noFill/>
          <a:ln w="0">
            <a:noFill/>
            <a:prstDash val="solid"/>
          </a:ln>
        </p:spPr>
        <p:txBody>
          <a:bodyPr wrap="square" lIns="28575" tIns="19050" rIns="28575" bIns="19050" anchor="t">
            <a:normAutofit/>
          </a:bodyPr>
          <a:lstStyle/>
          <a:p>
            <a:pPr algn="l">
              <a:lnSpc>
                <a:spcPct val="108000"/>
              </a:lnSpc>
              <a:buNone/>
              <a:defRPr sz="1200" b="1" i="0">
                <a:solidFill>
                  <a:srgbClr val="00A5D8"/>
                </a:solidFill>
                <a:latin typeface="Yu Gothic"/>
                <a:ea typeface="Yu Gothic"/>
                <a:cs typeface="Yu Gothic"/>
              </a:defRPr>
            </a:pPr>
            <a:r>
              <a:rPr sz="1200" b="1" i="0">
                <a:solidFill>
                  <a:srgbClr val="00A5D8"/>
                </a:solidFill>
                <a:latin typeface="Yu Gothic"/>
                <a:ea typeface="Yu Gothic"/>
                <a:cs typeface="Yu Gothic"/>
              </a:rPr>
              <a:t>小自由度でも、保存則と散逸性を構造として保持</a:t>
            </a:r>
          </a:p>
        </p:txBody>
      </p:sp>
      <p:sp>
        <p:nvSpPr>
          <p:cNvPr id="13" name="正方形/長方形 12">
            <a:extLst>
              <a:ext uri="{FF2B5EF4-FFF2-40B4-BE49-F238E27FC236}">
                <a16:creationId xmlns:a16="http://schemas.microsoft.com/office/drawing/2014/main" id="{6B505C24-2D65-49EA-B034-116C682A938F}"/>
              </a:ext>
            </a:extLst>
          </p:cNvPr>
          <p:cNvSpPr>
            <a:spLocks noGrp="1"/>
          </p:cNvSpPr>
          <p:nvPr/>
        </p:nvSpPr>
        <p:spPr>
          <a:xfrm>
            <a:off x="742950" y="2876550"/>
            <a:ext cx="3028950" cy="971550"/>
          </a:xfrm>
          <a:prstGeom prst="rect">
            <a:avLst/>
          </a:prstGeom>
          <a:noFill/>
          <a:ln w="0">
            <a:noFill/>
            <a:prstDash val="solid"/>
          </a:ln>
        </p:spPr>
        <p:txBody>
          <a:bodyPr wrap="square" lIns="28575" tIns="19050" rIns="28575" bIns="19050" anchor="t">
            <a:normAutofit/>
          </a:bodyPr>
          <a:lstStyle/>
          <a:p>
            <a:pPr algn="l">
              <a:lnSpc>
                <a:spcPct val="118000"/>
              </a:lnSpc>
              <a:buNone/>
              <a:defRPr sz="1013" b="0" i="0">
                <a:solidFill>
                  <a:srgbClr val="5B5B5B"/>
                </a:solidFill>
                <a:latin typeface="Yu Gothic"/>
                <a:ea typeface="Yu Gothic"/>
                <a:cs typeface="Yu Gothic"/>
              </a:defRPr>
            </a:pPr>
            <a:r>
              <a:rPr sz="1013" b="0" i="0">
                <a:solidFill>
                  <a:srgbClr val="5B5B5B"/>
                </a:solidFill>
                <a:latin typeface="Yu Gothic"/>
                <a:ea typeface="Yu Gothic"/>
                <a:cs typeface="Yu Gothic"/>
              </a:rPr>
              <a:t>熱容量 C、コンダクタンス G、境界熱伝達 h を正値化して同定。exact/implicit積分により運転条件に応じた安定計算を行う。</a:t>
            </a:r>
          </a:p>
        </p:txBody>
      </p:sp>
      <p:sp>
        <p:nvSpPr>
          <p:cNvPr id="14" name="正方形/長方形 13">
            <a:extLst>
              <a:ext uri="{FF2B5EF4-FFF2-40B4-BE49-F238E27FC236}">
                <a16:creationId xmlns:a16="http://schemas.microsoft.com/office/drawing/2014/main" id="{FFA6E078-AF32-4A57-858F-21EB6C61DB76}"/>
              </a:ext>
            </a:extLst>
          </p:cNvPr>
          <p:cNvSpPr>
            <a:spLocks noGrp="1"/>
          </p:cNvSpPr>
          <p:nvPr/>
        </p:nvSpPr>
        <p:spPr>
          <a:xfrm>
            <a:off x="4210050" y="1457325"/>
            <a:ext cx="3409950" cy="2609850"/>
          </a:xfrm>
          <a:prstGeom prst="rect">
            <a:avLst/>
          </a:prstGeom>
          <a:solidFill>
            <a:srgbClr val="FFFFFF"/>
          </a:solidFill>
          <a:ln w="9525">
            <a:solidFill>
              <a:srgbClr val="D6D6D6"/>
            </a:solidFill>
            <a:prstDash val="solid"/>
          </a:ln>
        </p:spPr>
      </p:sp>
      <p:sp>
        <p:nvSpPr>
          <p:cNvPr id="15" name="正方形/長方形 14">
            <a:extLst>
              <a:ext uri="{FF2B5EF4-FFF2-40B4-BE49-F238E27FC236}">
                <a16:creationId xmlns:a16="http://schemas.microsoft.com/office/drawing/2014/main" id="{4E4E6F56-7784-4951-B2B5-1ACCC5739292}"/>
              </a:ext>
            </a:extLst>
          </p:cNvPr>
          <p:cNvSpPr>
            <a:spLocks noGrp="1"/>
          </p:cNvSpPr>
          <p:nvPr/>
        </p:nvSpPr>
        <p:spPr>
          <a:xfrm>
            <a:off x="4210050" y="1457325"/>
            <a:ext cx="3409950" cy="76200"/>
          </a:xfrm>
          <a:prstGeom prst="rect">
            <a:avLst/>
          </a:prstGeom>
          <a:solidFill>
            <a:srgbClr val="76BE18"/>
          </a:solidFill>
          <a:ln w="0">
            <a:noFill/>
            <a:prstDash val="solid"/>
          </a:ln>
        </p:spPr>
      </p:sp>
      <p:sp>
        <p:nvSpPr>
          <p:cNvPr id="16" name="正方形/長方形 15">
            <a:extLst>
              <a:ext uri="{FF2B5EF4-FFF2-40B4-BE49-F238E27FC236}">
                <a16:creationId xmlns:a16="http://schemas.microsoft.com/office/drawing/2014/main" id="{526E34E9-99F3-4A50-AEFA-7A02E5EFA1D1}"/>
              </a:ext>
            </a:extLst>
          </p:cNvPr>
          <p:cNvSpPr>
            <a:spLocks noGrp="1"/>
          </p:cNvSpPr>
          <p:nvPr/>
        </p:nvSpPr>
        <p:spPr>
          <a:xfrm>
            <a:off x="4400550" y="1695450"/>
            <a:ext cx="3028950" cy="323850"/>
          </a:xfrm>
          <a:prstGeom prst="rect">
            <a:avLst/>
          </a:prstGeom>
          <a:noFill/>
          <a:ln w="0">
            <a:noFill/>
            <a:prstDash val="solid"/>
          </a:ln>
        </p:spPr>
        <p:txBody>
          <a:bodyPr wrap="square" lIns="28575" tIns="19050" rIns="28575" bIns="19050" anchor="ctr">
            <a:normAutofit/>
          </a:bodyPr>
          <a:lstStyle/>
          <a:p>
            <a:pPr algn="l">
              <a:lnSpc>
                <a:spcPct val="100000"/>
              </a:lnSpc>
              <a:buNone/>
              <a:defRPr sz="1575" b="1" i="0">
                <a:solidFill>
                  <a:srgbClr val="3F3F3F"/>
                </a:solidFill>
                <a:latin typeface="Yu Gothic"/>
                <a:ea typeface="Yu Gothic"/>
                <a:cs typeface="Yu Gothic"/>
              </a:defRPr>
            </a:pPr>
            <a:r>
              <a:rPr sz="1575" b="1" i="0">
                <a:solidFill>
                  <a:srgbClr val="3F3F3F"/>
                </a:solidFill>
                <a:latin typeface="Yu Gothic"/>
                <a:ea typeface="Yu Gothic"/>
                <a:cs typeface="Yu Gothic"/>
              </a:rPr>
              <a:t>検証エビデンス</a:t>
            </a:r>
          </a:p>
        </p:txBody>
      </p:sp>
      <p:sp>
        <p:nvSpPr>
          <p:cNvPr id="17" name="正方形/長方形 16">
            <a:extLst>
              <a:ext uri="{FF2B5EF4-FFF2-40B4-BE49-F238E27FC236}">
                <a16:creationId xmlns:a16="http://schemas.microsoft.com/office/drawing/2014/main" id="{82543215-2BC5-46CF-A93D-ABE373C89339}"/>
              </a:ext>
            </a:extLst>
          </p:cNvPr>
          <p:cNvSpPr>
            <a:spLocks noGrp="1"/>
          </p:cNvSpPr>
          <p:nvPr/>
        </p:nvSpPr>
        <p:spPr>
          <a:xfrm>
            <a:off x="4400550" y="2133600"/>
            <a:ext cx="3028950" cy="590550"/>
          </a:xfrm>
          <a:prstGeom prst="rect">
            <a:avLst/>
          </a:prstGeom>
          <a:noFill/>
          <a:ln w="0">
            <a:noFill/>
            <a:prstDash val="solid"/>
          </a:ln>
        </p:spPr>
        <p:txBody>
          <a:bodyPr wrap="square" lIns="28575" tIns="19050" rIns="28575" bIns="19050" anchor="t">
            <a:normAutofit/>
          </a:bodyPr>
          <a:lstStyle/>
          <a:p>
            <a:pPr algn="l">
              <a:lnSpc>
                <a:spcPct val="108000"/>
              </a:lnSpc>
              <a:buNone/>
              <a:defRPr sz="1200" b="1" i="0">
                <a:solidFill>
                  <a:srgbClr val="76BE18"/>
                </a:solidFill>
                <a:latin typeface="Yu Gothic"/>
                <a:ea typeface="Yu Gothic"/>
                <a:cs typeface="Yu Gothic"/>
              </a:defRPr>
            </a:pPr>
            <a:r>
              <a:rPr sz="1200" b="1" i="0">
                <a:solidFill>
                  <a:srgbClr val="76BE18"/>
                </a:solidFill>
                <a:latin typeface="Yu Gothic"/>
                <a:ea typeface="Yu Gothic"/>
                <a:cs typeface="Yu Gothic"/>
              </a:rPr>
              <a:t>合成 → 線形CAE → 高忠実度CAEの段階評価</a:t>
            </a:r>
          </a:p>
        </p:txBody>
      </p:sp>
      <p:sp>
        <p:nvSpPr>
          <p:cNvPr id="18" name="正方形/長方形 17">
            <a:extLst>
              <a:ext uri="{FF2B5EF4-FFF2-40B4-BE49-F238E27FC236}">
                <a16:creationId xmlns:a16="http://schemas.microsoft.com/office/drawing/2014/main" id="{D24DBD4B-1E9A-4594-A9C0-A52C28A90A06}"/>
              </a:ext>
            </a:extLst>
          </p:cNvPr>
          <p:cNvSpPr>
            <a:spLocks noGrp="1"/>
          </p:cNvSpPr>
          <p:nvPr/>
        </p:nvSpPr>
        <p:spPr>
          <a:xfrm>
            <a:off x="4400550" y="2876550"/>
            <a:ext cx="3028950" cy="971550"/>
          </a:xfrm>
          <a:prstGeom prst="rect">
            <a:avLst/>
          </a:prstGeom>
          <a:noFill/>
          <a:ln w="0">
            <a:noFill/>
            <a:prstDash val="solid"/>
          </a:ln>
        </p:spPr>
        <p:txBody>
          <a:bodyPr wrap="square" lIns="28575" tIns="19050" rIns="28575" bIns="19050" anchor="t">
            <a:normAutofit/>
          </a:bodyPr>
          <a:lstStyle/>
          <a:p>
            <a:pPr algn="l">
              <a:lnSpc>
                <a:spcPct val="118000"/>
              </a:lnSpc>
              <a:buNone/>
              <a:defRPr sz="1013" b="0" i="0">
                <a:solidFill>
                  <a:srgbClr val="5B5B5B"/>
                </a:solidFill>
                <a:latin typeface="Yu Gothic"/>
                <a:ea typeface="Yu Gothic"/>
                <a:cs typeface="Yu Gothic"/>
              </a:defRPr>
            </a:pPr>
            <a:r>
              <a:rPr sz="1013" b="0" i="0">
                <a:solidFill>
                  <a:srgbClr val="5B5B5B"/>
                </a:solidFill>
                <a:latin typeface="Yu Gothic"/>
                <a:ea typeface="Yu Gothic"/>
                <a:cs typeface="Yu Gothic"/>
              </a:rPr>
              <a:t>TopCell core平均 0.143 K、線形COMSOL平均 0.036 K、高忠実度2ケース平均 0.0956 K。model gapとmesh未収束を別枠で保持。</a:t>
            </a:r>
          </a:p>
        </p:txBody>
      </p:sp>
      <p:sp>
        <p:nvSpPr>
          <p:cNvPr id="19" name="正方形/長方形 18">
            <a:extLst>
              <a:ext uri="{FF2B5EF4-FFF2-40B4-BE49-F238E27FC236}">
                <a16:creationId xmlns:a16="http://schemas.microsoft.com/office/drawing/2014/main" id="{48C9FBA9-2826-4104-8932-8CCD4F47B36F}"/>
              </a:ext>
            </a:extLst>
          </p:cNvPr>
          <p:cNvSpPr>
            <a:spLocks noGrp="1"/>
          </p:cNvSpPr>
          <p:nvPr/>
        </p:nvSpPr>
        <p:spPr>
          <a:xfrm>
            <a:off x="7867650" y="1457325"/>
            <a:ext cx="3771900" cy="2609850"/>
          </a:xfrm>
          <a:prstGeom prst="rect">
            <a:avLst/>
          </a:prstGeom>
          <a:solidFill>
            <a:srgbClr val="FFFFFF"/>
          </a:solidFill>
          <a:ln w="9525">
            <a:solidFill>
              <a:srgbClr val="D6D6D6"/>
            </a:solidFill>
            <a:prstDash val="solid"/>
          </a:ln>
        </p:spPr>
      </p:sp>
      <p:sp>
        <p:nvSpPr>
          <p:cNvPr id="20" name="正方形/長方形 19">
            <a:extLst>
              <a:ext uri="{FF2B5EF4-FFF2-40B4-BE49-F238E27FC236}">
                <a16:creationId xmlns:a16="http://schemas.microsoft.com/office/drawing/2014/main" id="{20FE3C74-E6AD-4C88-A7F4-E7A9BCAC7A27}"/>
              </a:ext>
            </a:extLst>
          </p:cNvPr>
          <p:cNvSpPr>
            <a:spLocks noGrp="1"/>
          </p:cNvSpPr>
          <p:nvPr/>
        </p:nvSpPr>
        <p:spPr>
          <a:xfrm>
            <a:off x="7867650" y="1457325"/>
            <a:ext cx="3771900" cy="76200"/>
          </a:xfrm>
          <a:prstGeom prst="rect">
            <a:avLst/>
          </a:prstGeom>
          <a:solidFill>
            <a:srgbClr val="7B2DAF"/>
          </a:solidFill>
          <a:ln w="0">
            <a:noFill/>
            <a:prstDash val="solid"/>
          </a:ln>
        </p:spPr>
      </p:sp>
      <p:sp>
        <p:nvSpPr>
          <p:cNvPr id="21" name="正方形/長方形 20">
            <a:extLst>
              <a:ext uri="{FF2B5EF4-FFF2-40B4-BE49-F238E27FC236}">
                <a16:creationId xmlns:a16="http://schemas.microsoft.com/office/drawing/2014/main" id="{5A548CEF-ACFA-454E-8BB0-DF75BA7B9C90}"/>
              </a:ext>
            </a:extLst>
          </p:cNvPr>
          <p:cNvSpPr>
            <a:spLocks noGrp="1"/>
          </p:cNvSpPr>
          <p:nvPr/>
        </p:nvSpPr>
        <p:spPr>
          <a:xfrm>
            <a:off x="8058150" y="1695450"/>
            <a:ext cx="3390900" cy="323850"/>
          </a:xfrm>
          <a:prstGeom prst="rect">
            <a:avLst/>
          </a:prstGeom>
          <a:noFill/>
          <a:ln w="0">
            <a:noFill/>
            <a:prstDash val="solid"/>
          </a:ln>
        </p:spPr>
        <p:txBody>
          <a:bodyPr wrap="square" lIns="28575" tIns="19050" rIns="28575" bIns="19050" anchor="ctr">
            <a:normAutofit/>
          </a:bodyPr>
          <a:lstStyle/>
          <a:p>
            <a:pPr algn="l">
              <a:lnSpc>
                <a:spcPct val="100000"/>
              </a:lnSpc>
              <a:buNone/>
              <a:defRPr sz="1575" b="1" i="0">
                <a:solidFill>
                  <a:srgbClr val="3F3F3F"/>
                </a:solidFill>
                <a:latin typeface="Yu Gothic"/>
                <a:ea typeface="Yu Gothic"/>
                <a:cs typeface="Yu Gothic"/>
              </a:defRPr>
            </a:pPr>
            <a:r>
              <a:rPr sz="1575" b="1" i="0">
                <a:solidFill>
                  <a:srgbClr val="3F3F3F"/>
                </a:solidFill>
                <a:latin typeface="Yu Gothic"/>
                <a:ea typeface="Yu Gothic"/>
                <a:cs typeface="Yu Gothic"/>
              </a:rPr>
              <a:t>装置実装</a:t>
            </a:r>
          </a:p>
        </p:txBody>
      </p:sp>
      <p:sp>
        <p:nvSpPr>
          <p:cNvPr id="22" name="正方形/長方形 21">
            <a:extLst>
              <a:ext uri="{FF2B5EF4-FFF2-40B4-BE49-F238E27FC236}">
                <a16:creationId xmlns:a16="http://schemas.microsoft.com/office/drawing/2014/main" id="{AC051883-3739-407E-A50E-71BFE4CF5304}"/>
              </a:ext>
            </a:extLst>
          </p:cNvPr>
          <p:cNvSpPr>
            <a:spLocks noGrp="1"/>
          </p:cNvSpPr>
          <p:nvPr/>
        </p:nvSpPr>
        <p:spPr>
          <a:xfrm>
            <a:off x="8058150" y="2133600"/>
            <a:ext cx="3390900" cy="590550"/>
          </a:xfrm>
          <a:prstGeom prst="rect">
            <a:avLst/>
          </a:prstGeom>
          <a:noFill/>
          <a:ln w="0">
            <a:noFill/>
            <a:prstDash val="solid"/>
          </a:ln>
        </p:spPr>
        <p:txBody>
          <a:bodyPr wrap="square" lIns="28575" tIns="19050" rIns="28575" bIns="19050" anchor="t">
            <a:normAutofit/>
          </a:bodyPr>
          <a:lstStyle/>
          <a:p>
            <a:pPr algn="l">
              <a:lnSpc>
                <a:spcPct val="108000"/>
              </a:lnSpc>
              <a:buNone/>
              <a:defRPr sz="1200" b="1" i="0">
                <a:solidFill>
                  <a:srgbClr val="7B2DAF"/>
                </a:solidFill>
                <a:latin typeface="Yu Gothic"/>
                <a:ea typeface="Yu Gothic"/>
                <a:cs typeface="Yu Gothic"/>
              </a:defRPr>
            </a:pPr>
            <a:r>
              <a:rPr sz="1200" b="1" i="0">
                <a:solidFill>
                  <a:srgbClr val="7B2DAF"/>
                </a:solidFill>
                <a:latin typeface="Yu Gothic"/>
                <a:ea typeface="Yu Gothic"/>
                <a:cs typeface="Yu Gothic"/>
              </a:rPr>
              <a:t>予測・virtual sensor・異常検知を同じ状態定義で接続</a:t>
            </a:r>
          </a:p>
        </p:txBody>
      </p:sp>
      <p:sp>
        <p:nvSpPr>
          <p:cNvPr id="23" name="正方形/長方形 22">
            <a:extLst>
              <a:ext uri="{FF2B5EF4-FFF2-40B4-BE49-F238E27FC236}">
                <a16:creationId xmlns:a16="http://schemas.microsoft.com/office/drawing/2014/main" id="{6D693D94-AAC9-4C76-843A-9F0E3B773C7C}"/>
              </a:ext>
            </a:extLst>
          </p:cNvPr>
          <p:cNvSpPr>
            <a:spLocks noGrp="1"/>
          </p:cNvSpPr>
          <p:nvPr/>
        </p:nvSpPr>
        <p:spPr>
          <a:xfrm>
            <a:off x="8058150" y="2876550"/>
            <a:ext cx="3390900" cy="971550"/>
          </a:xfrm>
          <a:prstGeom prst="rect">
            <a:avLst/>
          </a:prstGeom>
          <a:noFill/>
          <a:ln w="0">
            <a:noFill/>
            <a:prstDash val="solid"/>
          </a:ln>
        </p:spPr>
        <p:txBody>
          <a:bodyPr wrap="square" lIns="28575" tIns="19050" rIns="28575" bIns="19050" anchor="t">
            <a:normAutofit/>
          </a:bodyPr>
          <a:lstStyle/>
          <a:p>
            <a:pPr algn="l">
              <a:lnSpc>
                <a:spcPct val="118000"/>
              </a:lnSpc>
              <a:buNone/>
              <a:defRPr sz="1013" b="0" i="0">
                <a:solidFill>
                  <a:srgbClr val="5B5B5B"/>
                </a:solidFill>
                <a:latin typeface="Yu Gothic"/>
                <a:ea typeface="Yu Gothic"/>
                <a:cs typeface="Yu Gothic"/>
              </a:defRPr>
            </a:pPr>
            <a:r>
              <a:rPr sz="1013" b="0" i="0">
                <a:solidFill>
                  <a:srgbClr val="5B5B5B"/>
                </a:solidFill>
                <a:latin typeface="Yu Gothic"/>
                <a:ea typeface="Yu Gothic"/>
                <a:cs typeface="Yu Gothic"/>
              </a:rPr>
              <a:t>warm-up/cool-down予測、欠測補完、未知発熱とsensor biasの推定に利用可能。運転域、sensor帯域、hotspot marginは装置ごとに固定する。</a:t>
            </a:r>
          </a:p>
        </p:txBody>
      </p:sp>
      <p:sp>
        <p:nvSpPr>
          <p:cNvPr id="24" name="正方形/長方形 23">
            <a:extLst>
              <a:ext uri="{FF2B5EF4-FFF2-40B4-BE49-F238E27FC236}">
                <a16:creationId xmlns:a16="http://schemas.microsoft.com/office/drawing/2014/main" id="{C83CFCA0-3AF2-462D-BEC2-47E7AFEB314C}"/>
              </a:ext>
            </a:extLst>
          </p:cNvPr>
          <p:cNvSpPr>
            <a:spLocks noGrp="1"/>
          </p:cNvSpPr>
          <p:nvPr/>
        </p:nvSpPr>
        <p:spPr>
          <a:xfrm>
            <a:off x="552450" y="4333875"/>
            <a:ext cx="2590800" cy="1333500"/>
          </a:xfrm>
          <a:prstGeom prst="rect">
            <a:avLst/>
          </a:prstGeom>
          <a:solidFill>
            <a:srgbClr val="FFFFFF"/>
          </a:solidFill>
          <a:ln w="9525">
            <a:solidFill>
              <a:srgbClr val="D6D6D6"/>
            </a:solidFill>
            <a:prstDash val="solid"/>
          </a:ln>
        </p:spPr>
      </p:sp>
      <p:sp>
        <p:nvSpPr>
          <p:cNvPr id="25" name="正方形/長方形 24">
            <a:extLst>
              <a:ext uri="{FF2B5EF4-FFF2-40B4-BE49-F238E27FC236}">
                <a16:creationId xmlns:a16="http://schemas.microsoft.com/office/drawing/2014/main" id="{B3E5237B-CB33-4002-8314-EAD7E2BC8E55}"/>
              </a:ext>
            </a:extLst>
          </p:cNvPr>
          <p:cNvSpPr>
            <a:spLocks noGrp="1"/>
          </p:cNvSpPr>
          <p:nvPr/>
        </p:nvSpPr>
        <p:spPr>
          <a:xfrm>
            <a:off x="552450" y="4333875"/>
            <a:ext cx="66675" cy="1333500"/>
          </a:xfrm>
          <a:prstGeom prst="rect">
            <a:avLst/>
          </a:prstGeom>
          <a:solidFill>
            <a:srgbClr val="00A5D8"/>
          </a:solidFill>
          <a:ln w="0">
            <a:noFill/>
            <a:prstDash val="solid"/>
          </a:ln>
        </p:spPr>
      </p:sp>
      <p:sp>
        <p:nvSpPr>
          <p:cNvPr id="26" name="正方形/長方形 25">
            <a:extLst>
              <a:ext uri="{FF2B5EF4-FFF2-40B4-BE49-F238E27FC236}">
                <a16:creationId xmlns:a16="http://schemas.microsoft.com/office/drawing/2014/main" id="{1C62B821-F7FC-4B0A-94E5-ED7699FD907E}"/>
              </a:ext>
            </a:extLst>
          </p:cNvPr>
          <p:cNvSpPr>
            <a:spLocks noGrp="1"/>
          </p:cNvSpPr>
          <p:nvPr/>
        </p:nvSpPr>
        <p:spPr>
          <a:xfrm>
            <a:off x="742950" y="4429125"/>
            <a:ext cx="2305050" cy="371475"/>
          </a:xfrm>
          <a:prstGeom prst="rect">
            <a:avLst/>
          </a:prstGeom>
          <a:noFill/>
          <a:ln w="0">
            <a:noFill/>
            <a:prstDash val="solid"/>
          </a:ln>
        </p:spPr>
        <p:txBody>
          <a:bodyPr wrap="square" lIns="28575" tIns="19050" rIns="28575" bIns="19050" anchor="ctr">
            <a:normAutofit/>
          </a:bodyPr>
          <a:lstStyle/>
          <a:p>
            <a:pPr algn="l">
              <a:lnSpc>
                <a:spcPct val="100000"/>
              </a:lnSpc>
              <a:buNone/>
              <a:defRPr sz="2025" b="1" i="0">
                <a:solidFill>
                  <a:srgbClr val="3F3F3F"/>
                </a:solidFill>
                <a:latin typeface="Yu Gothic"/>
                <a:ea typeface="Yu Gothic"/>
                <a:cs typeface="Yu Gothic"/>
              </a:defRPr>
            </a:pPr>
            <a:r>
              <a:rPr sz="2025" b="1" i="0">
                <a:solidFill>
                  <a:srgbClr val="3F3F3F"/>
                </a:solidFill>
                <a:latin typeface="Yu Gothic"/>
                <a:ea typeface="Yu Gothic"/>
                <a:cs typeface="Yu Gothic"/>
              </a:rPr>
              <a:t>0.036 K</a:t>
            </a:r>
          </a:p>
        </p:txBody>
      </p:sp>
      <p:sp>
        <p:nvSpPr>
          <p:cNvPr id="27" name="正方形/長方形 26">
            <a:extLst>
              <a:ext uri="{FF2B5EF4-FFF2-40B4-BE49-F238E27FC236}">
                <a16:creationId xmlns:a16="http://schemas.microsoft.com/office/drawing/2014/main" id="{BA5B5B7D-22DC-417C-B55E-BB4C6ADCCE4A}"/>
              </a:ext>
            </a:extLst>
          </p:cNvPr>
          <p:cNvSpPr>
            <a:spLocks noGrp="1"/>
          </p:cNvSpPr>
          <p:nvPr/>
        </p:nvSpPr>
        <p:spPr>
          <a:xfrm>
            <a:off x="742950" y="4810125"/>
            <a:ext cx="2305050" cy="266700"/>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5B5B5B"/>
                </a:solidFill>
                <a:latin typeface="Yu Gothic"/>
                <a:ea typeface="Yu Gothic"/>
                <a:cs typeface="Yu Gothic"/>
              </a:defRPr>
            </a:pPr>
            <a:r>
              <a:rPr sz="975" b="1" i="0">
                <a:solidFill>
                  <a:srgbClr val="5B5B5B"/>
                </a:solidFill>
                <a:latin typeface="Yu Gothic"/>
                <a:ea typeface="Yu Gothic"/>
                <a:cs typeface="Yu Gothic"/>
              </a:rPr>
              <a:t>線形COMSOL平均RMSE</a:t>
            </a:r>
          </a:p>
        </p:txBody>
      </p:sp>
      <p:sp>
        <p:nvSpPr>
          <p:cNvPr id="28" name="正方形/長方形 27">
            <a:extLst>
              <a:ext uri="{FF2B5EF4-FFF2-40B4-BE49-F238E27FC236}">
                <a16:creationId xmlns:a16="http://schemas.microsoft.com/office/drawing/2014/main" id="{560BA911-195C-43ED-BA9A-2FCDB3EF9B19}"/>
              </a:ext>
            </a:extLst>
          </p:cNvPr>
          <p:cNvSpPr>
            <a:spLocks noGrp="1"/>
          </p:cNvSpPr>
          <p:nvPr/>
        </p:nvSpPr>
        <p:spPr>
          <a:xfrm>
            <a:off x="742950" y="5095875"/>
            <a:ext cx="2305050" cy="514350"/>
          </a:xfrm>
          <a:prstGeom prst="rect">
            <a:avLst/>
          </a:prstGeom>
          <a:noFill/>
          <a:ln w="0">
            <a:noFill/>
            <a:prstDash val="solid"/>
          </a:ln>
        </p:spPr>
        <p:txBody>
          <a:bodyPr wrap="square" lIns="28575" tIns="19050" rIns="28575" bIns="19050" anchor="t">
            <a:normAutofit/>
          </a:bodyPr>
          <a:lstStyle/>
          <a:p>
            <a:pPr algn="l">
              <a:lnSpc>
                <a:spcPct val="106000"/>
              </a:lnSpc>
              <a:buNone/>
              <a:defRPr sz="788" b="0" i="0">
                <a:solidFill>
                  <a:srgbClr val="777777"/>
                </a:solidFill>
                <a:latin typeface="Yu Gothic"/>
                <a:ea typeface="Yu Gothic"/>
                <a:cs typeface="Yu Gothic"/>
              </a:defRPr>
            </a:pPr>
            <a:r>
              <a:rPr sz="788" b="0" i="0">
                <a:solidFill>
                  <a:srgbClr val="777777"/>
                </a:solidFill>
                <a:latin typeface="Yu Gothic"/>
                <a:ea typeface="Yu Gothic"/>
                <a:cs typeface="Yu Gothic"/>
              </a:rPr>
              <a:t>外部forecast 8ケース。最大0.083 K。</a:t>
            </a:r>
          </a:p>
        </p:txBody>
      </p:sp>
      <p:sp>
        <p:nvSpPr>
          <p:cNvPr id="29" name="正方形/長方形 28">
            <a:extLst>
              <a:ext uri="{FF2B5EF4-FFF2-40B4-BE49-F238E27FC236}">
                <a16:creationId xmlns:a16="http://schemas.microsoft.com/office/drawing/2014/main" id="{7F469F77-CF73-41D1-91CD-DECBD00EA9FC}"/>
              </a:ext>
            </a:extLst>
          </p:cNvPr>
          <p:cNvSpPr>
            <a:spLocks noGrp="1"/>
          </p:cNvSpPr>
          <p:nvPr/>
        </p:nvSpPr>
        <p:spPr>
          <a:xfrm>
            <a:off x="3333750" y="4333875"/>
            <a:ext cx="2590800" cy="1333500"/>
          </a:xfrm>
          <a:prstGeom prst="rect">
            <a:avLst/>
          </a:prstGeom>
          <a:solidFill>
            <a:srgbClr val="FFFFFF"/>
          </a:solidFill>
          <a:ln w="9525">
            <a:solidFill>
              <a:srgbClr val="D6D6D6"/>
            </a:solidFill>
            <a:prstDash val="solid"/>
          </a:ln>
        </p:spPr>
      </p:sp>
      <p:sp>
        <p:nvSpPr>
          <p:cNvPr id="30" name="正方形/長方形 29">
            <a:extLst>
              <a:ext uri="{FF2B5EF4-FFF2-40B4-BE49-F238E27FC236}">
                <a16:creationId xmlns:a16="http://schemas.microsoft.com/office/drawing/2014/main" id="{C64EC2B0-17B0-4C32-BAE2-458C1CCB11ED}"/>
              </a:ext>
            </a:extLst>
          </p:cNvPr>
          <p:cNvSpPr>
            <a:spLocks noGrp="1"/>
          </p:cNvSpPr>
          <p:nvPr/>
        </p:nvSpPr>
        <p:spPr>
          <a:xfrm>
            <a:off x="3333750" y="4333875"/>
            <a:ext cx="66675" cy="1333500"/>
          </a:xfrm>
          <a:prstGeom prst="rect">
            <a:avLst/>
          </a:prstGeom>
          <a:solidFill>
            <a:srgbClr val="76BE18"/>
          </a:solidFill>
          <a:ln w="0">
            <a:noFill/>
            <a:prstDash val="solid"/>
          </a:ln>
        </p:spPr>
      </p:sp>
      <p:sp>
        <p:nvSpPr>
          <p:cNvPr id="31" name="正方形/長方形 30">
            <a:extLst>
              <a:ext uri="{FF2B5EF4-FFF2-40B4-BE49-F238E27FC236}">
                <a16:creationId xmlns:a16="http://schemas.microsoft.com/office/drawing/2014/main" id="{FAD43AE1-CBB0-40DB-8EED-80BD4CA8A796}"/>
              </a:ext>
            </a:extLst>
          </p:cNvPr>
          <p:cNvSpPr>
            <a:spLocks noGrp="1"/>
          </p:cNvSpPr>
          <p:nvPr/>
        </p:nvSpPr>
        <p:spPr>
          <a:xfrm>
            <a:off x="3524250" y="4429125"/>
            <a:ext cx="2305050" cy="371475"/>
          </a:xfrm>
          <a:prstGeom prst="rect">
            <a:avLst/>
          </a:prstGeom>
          <a:noFill/>
          <a:ln w="0">
            <a:noFill/>
            <a:prstDash val="solid"/>
          </a:ln>
        </p:spPr>
        <p:txBody>
          <a:bodyPr wrap="square" lIns="28575" tIns="19050" rIns="28575" bIns="19050" anchor="ctr">
            <a:normAutofit/>
          </a:bodyPr>
          <a:lstStyle/>
          <a:p>
            <a:pPr algn="l">
              <a:lnSpc>
                <a:spcPct val="100000"/>
              </a:lnSpc>
              <a:buNone/>
              <a:defRPr sz="2025" b="1" i="0">
                <a:solidFill>
                  <a:srgbClr val="3F3F3F"/>
                </a:solidFill>
                <a:latin typeface="Yu Gothic"/>
                <a:ea typeface="Yu Gothic"/>
                <a:cs typeface="Yu Gothic"/>
              </a:defRPr>
            </a:pPr>
            <a:r>
              <a:rPr sz="2025" b="1" i="0">
                <a:solidFill>
                  <a:srgbClr val="3F3F3F"/>
                </a:solidFill>
                <a:latin typeface="Yu Gothic"/>
                <a:ea typeface="Yu Gothic"/>
                <a:cs typeface="Yu Gothic"/>
              </a:rPr>
              <a:t>0.143 K</a:t>
            </a:r>
          </a:p>
        </p:txBody>
      </p:sp>
      <p:sp>
        <p:nvSpPr>
          <p:cNvPr id="32" name="正方形/長方形 31">
            <a:extLst>
              <a:ext uri="{FF2B5EF4-FFF2-40B4-BE49-F238E27FC236}">
                <a16:creationId xmlns:a16="http://schemas.microsoft.com/office/drawing/2014/main" id="{A3D85350-F9BE-433F-9FC7-876943C2AF05}"/>
              </a:ext>
            </a:extLst>
          </p:cNvPr>
          <p:cNvSpPr>
            <a:spLocks noGrp="1"/>
          </p:cNvSpPr>
          <p:nvPr/>
        </p:nvSpPr>
        <p:spPr>
          <a:xfrm>
            <a:off x="3524250" y="4810125"/>
            <a:ext cx="2305050" cy="266700"/>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5B5B5B"/>
                </a:solidFill>
                <a:latin typeface="Yu Gothic"/>
                <a:ea typeface="Yu Gothic"/>
                <a:cs typeface="Yu Gothic"/>
              </a:defRPr>
            </a:pPr>
            <a:r>
              <a:rPr sz="975" b="1" i="0">
                <a:solidFill>
                  <a:srgbClr val="5B5B5B"/>
                </a:solidFill>
                <a:latin typeface="Yu Gothic"/>
                <a:ea typeface="Yu Gothic"/>
                <a:cs typeface="Yu Gothic"/>
              </a:rPr>
              <a:t>TopCell core平均RMSE</a:t>
            </a:r>
          </a:p>
        </p:txBody>
      </p:sp>
      <p:sp>
        <p:nvSpPr>
          <p:cNvPr id="33" name="正方形/長方形 32">
            <a:extLst>
              <a:ext uri="{FF2B5EF4-FFF2-40B4-BE49-F238E27FC236}">
                <a16:creationId xmlns:a16="http://schemas.microsoft.com/office/drawing/2014/main" id="{BF356D27-507E-404E-82E4-D54F8264C831}"/>
              </a:ext>
            </a:extLst>
          </p:cNvPr>
          <p:cNvSpPr>
            <a:spLocks noGrp="1"/>
          </p:cNvSpPr>
          <p:nvPr/>
        </p:nvSpPr>
        <p:spPr>
          <a:xfrm>
            <a:off x="3524250" y="5095875"/>
            <a:ext cx="2305050" cy="514350"/>
          </a:xfrm>
          <a:prstGeom prst="rect">
            <a:avLst/>
          </a:prstGeom>
          <a:noFill/>
          <a:ln w="0">
            <a:noFill/>
            <a:prstDash val="solid"/>
          </a:ln>
        </p:spPr>
        <p:txBody>
          <a:bodyPr wrap="square" lIns="28575" tIns="19050" rIns="28575" bIns="19050" anchor="t">
            <a:normAutofit/>
          </a:bodyPr>
          <a:lstStyle/>
          <a:p>
            <a:pPr algn="l">
              <a:lnSpc>
                <a:spcPct val="106000"/>
              </a:lnSpc>
              <a:buNone/>
              <a:defRPr sz="788" b="0" i="0">
                <a:solidFill>
                  <a:srgbClr val="777777"/>
                </a:solidFill>
                <a:latin typeface="Yu Gothic"/>
                <a:ea typeface="Yu Gothic"/>
                <a:cs typeface="Yu Gothic"/>
              </a:defRPr>
            </a:pPr>
            <a:r>
              <a:rPr sz="788" b="0" i="0">
                <a:solidFill>
                  <a:srgbClr val="777777"/>
                </a:solidFill>
                <a:latin typeface="Yu Gothic"/>
                <a:ea typeface="Yu Gothic"/>
                <a:cs typeface="Yu Gothic"/>
              </a:rPr>
              <a:t>初期観測が疎なF09がworst 1.303 K。</a:t>
            </a:r>
          </a:p>
        </p:txBody>
      </p:sp>
      <p:sp>
        <p:nvSpPr>
          <p:cNvPr id="34" name="正方形/長方形 33">
            <a:extLst>
              <a:ext uri="{FF2B5EF4-FFF2-40B4-BE49-F238E27FC236}">
                <a16:creationId xmlns:a16="http://schemas.microsoft.com/office/drawing/2014/main" id="{E0A482A9-0111-4220-91B6-6F8BAC1FB99B}"/>
              </a:ext>
            </a:extLst>
          </p:cNvPr>
          <p:cNvSpPr>
            <a:spLocks noGrp="1"/>
          </p:cNvSpPr>
          <p:nvPr/>
        </p:nvSpPr>
        <p:spPr>
          <a:xfrm>
            <a:off x="6115050" y="4333875"/>
            <a:ext cx="2590800" cy="1333500"/>
          </a:xfrm>
          <a:prstGeom prst="rect">
            <a:avLst/>
          </a:prstGeom>
          <a:solidFill>
            <a:srgbClr val="FFFFFF"/>
          </a:solidFill>
          <a:ln w="9525">
            <a:solidFill>
              <a:srgbClr val="D6D6D6"/>
            </a:solidFill>
            <a:prstDash val="solid"/>
          </a:ln>
        </p:spPr>
      </p:sp>
      <p:sp>
        <p:nvSpPr>
          <p:cNvPr id="35" name="正方形/長方形 34">
            <a:extLst>
              <a:ext uri="{FF2B5EF4-FFF2-40B4-BE49-F238E27FC236}">
                <a16:creationId xmlns:a16="http://schemas.microsoft.com/office/drawing/2014/main" id="{1E12801B-7562-4ADF-BD86-C089B3B3E388}"/>
              </a:ext>
            </a:extLst>
          </p:cNvPr>
          <p:cNvSpPr>
            <a:spLocks noGrp="1"/>
          </p:cNvSpPr>
          <p:nvPr/>
        </p:nvSpPr>
        <p:spPr>
          <a:xfrm>
            <a:off x="6115050" y="4333875"/>
            <a:ext cx="66675" cy="1333500"/>
          </a:xfrm>
          <a:prstGeom prst="rect">
            <a:avLst/>
          </a:prstGeom>
          <a:solidFill>
            <a:srgbClr val="7B2DAF"/>
          </a:solidFill>
          <a:ln w="0">
            <a:noFill/>
            <a:prstDash val="solid"/>
          </a:ln>
        </p:spPr>
      </p:sp>
      <p:sp>
        <p:nvSpPr>
          <p:cNvPr id="36" name="正方形/長方形 35">
            <a:extLst>
              <a:ext uri="{FF2B5EF4-FFF2-40B4-BE49-F238E27FC236}">
                <a16:creationId xmlns:a16="http://schemas.microsoft.com/office/drawing/2014/main" id="{DFEE59C4-27BF-499F-83BE-276833A343A9}"/>
              </a:ext>
            </a:extLst>
          </p:cNvPr>
          <p:cNvSpPr>
            <a:spLocks noGrp="1"/>
          </p:cNvSpPr>
          <p:nvPr/>
        </p:nvSpPr>
        <p:spPr>
          <a:xfrm>
            <a:off x="6305550" y="4429125"/>
            <a:ext cx="2305050" cy="371475"/>
          </a:xfrm>
          <a:prstGeom prst="rect">
            <a:avLst/>
          </a:prstGeom>
          <a:noFill/>
          <a:ln w="0">
            <a:noFill/>
            <a:prstDash val="solid"/>
          </a:ln>
        </p:spPr>
        <p:txBody>
          <a:bodyPr wrap="square" lIns="28575" tIns="19050" rIns="28575" bIns="19050" anchor="ctr">
            <a:normAutofit/>
          </a:bodyPr>
          <a:lstStyle/>
          <a:p>
            <a:pPr algn="l">
              <a:lnSpc>
                <a:spcPct val="100000"/>
              </a:lnSpc>
              <a:buNone/>
              <a:defRPr sz="2025" b="1" i="0">
                <a:solidFill>
                  <a:srgbClr val="3F3F3F"/>
                </a:solidFill>
                <a:latin typeface="Yu Gothic"/>
                <a:ea typeface="Yu Gothic"/>
                <a:cs typeface="Yu Gothic"/>
              </a:defRPr>
            </a:pPr>
            <a:r>
              <a:rPr sz="2025" b="1" i="0">
                <a:solidFill>
                  <a:srgbClr val="3F3F3F"/>
                </a:solidFill>
                <a:latin typeface="Yu Gothic"/>
                <a:ea typeface="Yu Gothic"/>
                <a:cs typeface="Yu Gothic"/>
              </a:rPr>
              <a:t>0.0956 K</a:t>
            </a:r>
          </a:p>
        </p:txBody>
      </p:sp>
      <p:sp>
        <p:nvSpPr>
          <p:cNvPr id="37" name="正方形/長方形 36">
            <a:extLst>
              <a:ext uri="{FF2B5EF4-FFF2-40B4-BE49-F238E27FC236}">
                <a16:creationId xmlns:a16="http://schemas.microsoft.com/office/drawing/2014/main" id="{5AE986CC-D36F-4763-B7BA-13E5DB4F8A92}"/>
              </a:ext>
            </a:extLst>
          </p:cNvPr>
          <p:cNvSpPr>
            <a:spLocks noGrp="1"/>
          </p:cNvSpPr>
          <p:nvPr/>
        </p:nvSpPr>
        <p:spPr>
          <a:xfrm>
            <a:off x="6305550" y="4810125"/>
            <a:ext cx="2305050" cy="266700"/>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5B5B5B"/>
                </a:solidFill>
                <a:latin typeface="Yu Gothic"/>
                <a:ea typeface="Yu Gothic"/>
                <a:cs typeface="Yu Gothic"/>
              </a:defRPr>
            </a:pPr>
            <a:r>
              <a:rPr sz="975" b="1" i="0">
                <a:solidFill>
                  <a:srgbClr val="5B5B5B"/>
                </a:solidFill>
                <a:latin typeface="Yu Gothic"/>
                <a:ea typeface="Yu Gothic"/>
                <a:cs typeface="Yu Gothic"/>
              </a:rPr>
              <a:t>高忠実度2ケース平均RMSE</a:t>
            </a:r>
          </a:p>
        </p:txBody>
      </p:sp>
      <p:sp>
        <p:nvSpPr>
          <p:cNvPr id="38" name="正方形/長方形 37">
            <a:extLst>
              <a:ext uri="{FF2B5EF4-FFF2-40B4-BE49-F238E27FC236}">
                <a16:creationId xmlns:a16="http://schemas.microsoft.com/office/drawing/2014/main" id="{071C878F-39D1-4FB7-A013-F2BADFDD1F19}"/>
              </a:ext>
            </a:extLst>
          </p:cNvPr>
          <p:cNvSpPr>
            <a:spLocks noGrp="1"/>
          </p:cNvSpPr>
          <p:nvPr/>
        </p:nvSpPr>
        <p:spPr>
          <a:xfrm>
            <a:off x="6305550" y="5095875"/>
            <a:ext cx="2305050" cy="514350"/>
          </a:xfrm>
          <a:prstGeom prst="rect">
            <a:avLst/>
          </a:prstGeom>
          <a:noFill/>
          <a:ln w="0">
            <a:noFill/>
            <a:prstDash val="solid"/>
          </a:ln>
        </p:spPr>
        <p:txBody>
          <a:bodyPr wrap="square" lIns="28575" tIns="19050" rIns="28575" bIns="19050" anchor="t">
            <a:normAutofit/>
          </a:bodyPr>
          <a:lstStyle/>
          <a:p>
            <a:pPr algn="l">
              <a:lnSpc>
                <a:spcPct val="106000"/>
              </a:lnSpc>
              <a:buNone/>
              <a:defRPr sz="788" b="0" i="0">
                <a:solidFill>
                  <a:srgbClr val="777777"/>
                </a:solidFill>
                <a:latin typeface="Yu Gothic"/>
                <a:ea typeface="Yu Gothic"/>
                <a:cs typeface="Yu Gothic"/>
              </a:defRPr>
            </a:pPr>
            <a:r>
              <a:rPr sz="788" b="0" i="0">
                <a:solidFill>
                  <a:srgbClr val="777777"/>
                </a:solidFill>
                <a:latin typeface="Yu Gothic"/>
                <a:ea typeface="Yu Gothic"/>
                <a:cs typeface="Yu Gothic"/>
              </a:rPr>
              <a:t>mesh/time/experiment strict validationは未完了。</a:t>
            </a:r>
          </a:p>
        </p:txBody>
      </p:sp>
      <p:sp>
        <p:nvSpPr>
          <p:cNvPr id="39" name="正方形/長方形 38">
            <a:extLst>
              <a:ext uri="{FF2B5EF4-FFF2-40B4-BE49-F238E27FC236}">
                <a16:creationId xmlns:a16="http://schemas.microsoft.com/office/drawing/2014/main" id="{FEC82DC0-69EE-47CA-A31C-1CB6D7DA7315}"/>
              </a:ext>
            </a:extLst>
          </p:cNvPr>
          <p:cNvSpPr>
            <a:spLocks noGrp="1"/>
          </p:cNvSpPr>
          <p:nvPr/>
        </p:nvSpPr>
        <p:spPr>
          <a:xfrm>
            <a:off x="8896350" y="4333875"/>
            <a:ext cx="2743200" cy="1333500"/>
          </a:xfrm>
          <a:prstGeom prst="rect">
            <a:avLst/>
          </a:prstGeom>
          <a:solidFill>
            <a:srgbClr val="201445"/>
          </a:solidFill>
          <a:ln w="0">
            <a:noFill/>
            <a:prstDash val="solid"/>
          </a:ln>
        </p:spPr>
      </p:sp>
      <p:sp>
        <p:nvSpPr>
          <p:cNvPr id="40" name="正方形/長方形 39">
            <a:extLst>
              <a:ext uri="{FF2B5EF4-FFF2-40B4-BE49-F238E27FC236}">
                <a16:creationId xmlns:a16="http://schemas.microsoft.com/office/drawing/2014/main" id="{313427B2-17F5-483A-9469-6E527DB7E60C}"/>
              </a:ext>
            </a:extLst>
          </p:cNvPr>
          <p:cNvSpPr>
            <a:spLocks noGrp="1"/>
          </p:cNvSpPr>
          <p:nvPr/>
        </p:nvSpPr>
        <p:spPr>
          <a:xfrm>
            <a:off x="9086850" y="4476750"/>
            <a:ext cx="2381250" cy="238125"/>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76BE18"/>
                </a:solidFill>
                <a:latin typeface="Yu Gothic"/>
                <a:ea typeface="Yu Gothic"/>
                <a:cs typeface="Yu Gothic"/>
              </a:defRPr>
            </a:pPr>
            <a:r>
              <a:rPr sz="975" b="1" i="0">
                <a:solidFill>
                  <a:srgbClr val="76BE18"/>
                </a:solidFill>
                <a:latin typeface="Yu Gothic"/>
                <a:ea typeface="Yu Gothic"/>
                <a:cs typeface="Yu Gothic"/>
              </a:rPr>
              <a:t>工学判断</a:t>
            </a:r>
          </a:p>
        </p:txBody>
      </p:sp>
      <p:sp>
        <p:nvSpPr>
          <p:cNvPr id="41" name="正方形/長方形 40">
            <a:extLst>
              <a:ext uri="{FF2B5EF4-FFF2-40B4-BE49-F238E27FC236}">
                <a16:creationId xmlns:a16="http://schemas.microsoft.com/office/drawing/2014/main" id="{91243D32-8B93-4859-9BEF-0A55FF909972}"/>
              </a:ext>
            </a:extLst>
          </p:cNvPr>
          <p:cNvSpPr>
            <a:spLocks noGrp="1"/>
          </p:cNvSpPr>
          <p:nvPr/>
        </p:nvSpPr>
        <p:spPr>
          <a:xfrm>
            <a:off x="9086850" y="4791075"/>
            <a:ext cx="2381250" cy="533400"/>
          </a:xfrm>
          <a:prstGeom prst="rect">
            <a:avLst/>
          </a:prstGeom>
          <a:noFill/>
          <a:ln w="0">
            <a:noFill/>
            <a:prstDash val="solid"/>
          </a:ln>
        </p:spPr>
        <p:txBody>
          <a:bodyPr wrap="square" lIns="28575" tIns="19050" rIns="28575" bIns="19050" anchor="ctr">
            <a:normAutofit/>
          </a:bodyPr>
          <a:lstStyle/>
          <a:p>
            <a:pPr algn="l">
              <a:lnSpc>
                <a:spcPct val="104000"/>
              </a:lnSpc>
              <a:buNone/>
              <a:defRPr sz="1500" b="1" i="0">
                <a:solidFill>
                  <a:srgbClr val="FFFFFF"/>
                </a:solidFill>
                <a:latin typeface="Yu Gothic"/>
                <a:ea typeface="Yu Gothic"/>
                <a:cs typeface="Yu Gothic"/>
              </a:defRPr>
            </a:pPr>
            <a:r>
              <a:rPr sz="1500" b="1" i="0">
                <a:solidFill>
                  <a:srgbClr val="FFFFFF"/>
                </a:solidFill>
                <a:latin typeface="Yu Gothic"/>
                <a:ea typeface="Yu Gothic"/>
                <a:cs typeface="Yu Gothic"/>
              </a:rPr>
              <a:t>体積平均の高精度を</a:t>
            </a:r>
          </a:p>
          <a:p>
            <a:pPr algn="l">
              <a:lnSpc>
                <a:spcPct val="104000"/>
              </a:lnSpc>
              <a:buNone/>
              <a:defRPr sz="1500" b="1" i="0">
                <a:solidFill>
                  <a:srgbClr val="FFFFFF"/>
                </a:solidFill>
                <a:latin typeface="Yu Gothic"/>
                <a:ea typeface="Yu Gothic"/>
                <a:cs typeface="Yu Gothic"/>
              </a:defRPr>
            </a:pPr>
            <a:r>
              <a:rPr sz="1500" b="1" i="0">
                <a:solidFill>
                  <a:srgbClr val="FFFFFF"/>
                </a:solidFill>
                <a:latin typeface="Yu Gothic"/>
                <a:ea typeface="Yu Gothic"/>
                <a:cs typeface="Yu Gothic"/>
              </a:rPr>
              <a:t>hotspot保証へ外挿しない</a:t>
            </a:r>
          </a:p>
        </p:txBody>
      </p:sp>
      <p:sp>
        <p:nvSpPr>
          <p:cNvPr id="42" name="正方形/長方形 41">
            <a:extLst>
              <a:ext uri="{FF2B5EF4-FFF2-40B4-BE49-F238E27FC236}">
                <a16:creationId xmlns:a16="http://schemas.microsoft.com/office/drawing/2014/main" id="{702C8CB6-5E8F-44EF-87C1-052DA1B2DB24}"/>
              </a:ext>
            </a:extLst>
          </p:cNvPr>
          <p:cNvSpPr>
            <a:spLocks noGrp="1"/>
          </p:cNvSpPr>
          <p:nvPr/>
        </p:nvSpPr>
        <p:spPr>
          <a:xfrm>
            <a:off x="9086850" y="5410200"/>
            <a:ext cx="2381250" cy="171450"/>
          </a:xfrm>
          <a:prstGeom prst="rect">
            <a:avLst/>
          </a:prstGeom>
          <a:noFill/>
          <a:ln w="0">
            <a:noFill/>
            <a:prstDash val="solid"/>
          </a:ln>
        </p:spPr>
        <p:txBody>
          <a:bodyPr wrap="square" lIns="28575" tIns="19050" rIns="28575" bIns="19050" anchor="ctr">
            <a:normAutofit/>
          </a:bodyPr>
          <a:lstStyle/>
          <a:p>
            <a:pPr algn="l">
              <a:lnSpc>
                <a:spcPct val="100000"/>
              </a:lnSpc>
              <a:buNone/>
              <a:defRPr sz="788" b="0" i="0">
                <a:solidFill>
                  <a:srgbClr val="D8D0E8"/>
                </a:solidFill>
                <a:latin typeface="Yu Gothic"/>
                <a:ea typeface="Yu Gothic"/>
                <a:cs typeface="Yu Gothic"/>
              </a:defRPr>
            </a:pPr>
            <a:r>
              <a:rPr sz="788" b="0" i="0">
                <a:solidFill>
                  <a:srgbClr val="D8D0E8"/>
                </a:solidFill>
                <a:latin typeface="Yu Gothic"/>
                <a:ea typeface="Yu Gothic"/>
                <a:cs typeface="Yu Gothic"/>
              </a:rPr>
              <a:t>最大hotspot過小評価 0.328 K</a:t>
            </a:r>
          </a:p>
        </p:txBody>
      </p:sp>
    </p:spTree>
    <p:extLst>
      <p:ext uri="{BB962C8B-B14F-4D97-AF65-F5344CB8AC3E}">
        <p14:creationId xmlns:p14="http://schemas.microsoft.com/office/powerpoint/2010/main" val="4934077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49E24D70-EDCB-4678-B484-25CA0CBF5206}"/>
              </a:ext>
            </a:extLst>
          </p:cNvPr>
          <p:cNvSpPr>
            <a:spLocks noGrp="1"/>
          </p:cNvSpPr>
          <p:nvPr/>
        </p:nvSpPr>
        <p:spPr>
          <a:xfrm>
            <a:off x="552450" y="190500"/>
            <a:ext cx="76200" cy="142875"/>
          </a:xfrm>
          <a:prstGeom prst="rect">
            <a:avLst/>
          </a:prstGeom>
          <a:solidFill>
            <a:srgbClr val="76BE18"/>
          </a:solidFill>
          <a:ln w="0">
            <a:noFill/>
            <a:prstDash val="solid"/>
          </a:ln>
        </p:spPr>
      </p:sp>
      <p:sp>
        <p:nvSpPr>
          <p:cNvPr id="2" name="正方形/長方形 1">
            <a:extLst>
              <a:ext uri="{FF2B5EF4-FFF2-40B4-BE49-F238E27FC236}">
                <a16:creationId xmlns:a16="http://schemas.microsoft.com/office/drawing/2014/main" id="{7A10DB02-0ABD-4AD7-939E-E3DC17341430}"/>
              </a:ext>
            </a:extLst>
          </p:cNvPr>
          <p:cNvSpPr>
            <a:spLocks noGrp="1"/>
          </p:cNvSpPr>
          <p:nvPr/>
        </p:nvSpPr>
        <p:spPr>
          <a:xfrm>
            <a:off x="704850" y="161925"/>
            <a:ext cx="3429000" cy="190500"/>
          </a:xfrm>
          <a:prstGeom prst="rect">
            <a:avLst/>
          </a:prstGeom>
          <a:noFill/>
          <a:ln w="0">
            <a:noFill/>
            <a:prstDash val="solid"/>
          </a:ln>
        </p:spPr>
        <p:txBody>
          <a:bodyPr wrap="none" lIns="28575" tIns="19050" rIns="28575" bIns="19050" anchor="ctr">
            <a:noAutofit/>
          </a:bodyPr>
          <a:lstStyle/>
          <a:p>
            <a:pPr algn="l">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EQUIPMENT CONTEXT</a:t>
            </a:r>
          </a:p>
        </p:txBody>
      </p:sp>
      <p:sp>
        <p:nvSpPr>
          <p:cNvPr id="3" name="正方形/長方形 2">
            <a:extLst>
              <a:ext uri="{FF2B5EF4-FFF2-40B4-BE49-F238E27FC236}">
                <a16:creationId xmlns:a16="http://schemas.microsoft.com/office/drawing/2014/main" id="{E5EEFD68-653D-445C-B7A1-D9332040AFD1}"/>
              </a:ext>
            </a:extLst>
          </p:cNvPr>
          <p:cNvSpPr>
            <a:spLocks noGrp="1"/>
          </p:cNvSpPr>
          <p:nvPr/>
        </p:nvSpPr>
        <p:spPr>
          <a:xfrm>
            <a:off x="552450" y="400050"/>
            <a:ext cx="11001375" cy="400050"/>
          </a:xfrm>
          <a:prstGeom prst="rect">
            <a:avLst/>
          </a:prstGeom>
          <a:noFill/>
          <a:ln w="0">
            <a:noFill/>
            <a:prstDash val="solid"/>
          </a:ln>
        </p:spPr>
        <p:txBody>
          <a:bodyPr wrap="none" lIns="19050" tIns="0" rIns="19050" bIns="0" anchor="ctr">
            <a:normAutofit/>
          </a:bodyPr>
          <a:lstStyle/>
          <a:p>
            <a:pPr algn="l">
              <a:lnSpc>
                <a:spcPct val="100000"/>
              </a:lnSpc>
              <a:buNone/>
              <a:defRPr sz="2175" b="1" i="0">
                <a:solidFill>
                  <a:srgbClr val="00A5D8"/>
                </a:solidFill>
                <a:latin typeface="Yu Gothic"/>
                <a:ea typeface="Yu Gothic"/>
                <a:cs typeface="Yu Gothic"/>
              </a:defRPr>
            </a:pPr>
            <a:r>
              <a:rPr sz="2175" b="1" i="0">
                <a:solidFill>
                  <a:srgbClr val="00A5D8"/>
                </a:solidFill>
                <a:latin typeface="Yu Gothic"/>
                <a:ea typeface="Yu Gothic"/>
                <a:cs typeface="Yu Gothic"/>
              </a:rPr>
              <a:t>半導体装置では、熱源・熱経路・計測点を装置構成に対応付けて使う</a:t>
            </a:r>
          </a:p>
        </p:txBody>
      </p:sp>
      <p:sp>
        <p:nvSpPr>
          <p:cNvPr id="4" name="正方形/長方形 3">
            <a:extLst>
              <a:ext uri="{FF2B5EF4-FFF2-40B4-BE49-F238E27FC236}">
                <a16:creationId xmlns:a16="http://schemas.microsoft.com/office/drawing/2014/main" id="{6B5C6927-6981-4EC8-B116-9B8DF9271CEF}"/>
              </a:ext>
            </a:extLst>
          </p:cNvPr>
          <p:cNvSpPr>
            <a:spLocks noGrp="1"/>
          </p:cNvSpPr>
          <p:nvPr/>
        </p:nvSpPr>
        <p:spPr>
          <a:xfrm>
            <a:off x="571500" y="838200"/>
            <a:ext cx="10906125" cy="228600"/>
          </a:xfrm>
          <a:prstGeom prst="rect">
            <a:avLst/>
          </a:prstGeom>
          <a:noFill/>
          <a:ln w="0">
            <a:noFill/>
            <a:prstDash val="solid"/>
          </a:ln>
        </p:spPr>
        <p:txBody>
          <a:bodyPr wrap="none" lIns="28575" tIns="19050" rIns="28575" bIns="19050" anchor="ctr">
            <a:noAutofit/>
          </a:bodyPr>
          <a:lstStyle/>
          <a:p>
            <a:pPr algn="l">
              <a:lnSpc>
                <a:spcPct val="100000"/>
              </a:lnSpc>
              <a:buNone/>
              <a:defRPr sz="975" b="0" i="0">
                <a:solidFill>
                  <a:srgbClr val="5B5B5B"/>
                </a:solidFill>
                <a:latin typeface="Yu Gothic"/>
                <a:ea typeface="Yu Gothic"/>
                <a:cs typeface="Yu Gothic"/>
              </a:defRPr>
            </a:pPr>
            <a:r>
              <a:rPr sz="975" b="0" i="0">
                <a:solidFill>
                  <a:srgbClr val="5B5B5B"/>
                </a:solidFill>
                <a:latin typeface="Yu Gothic"/>
                <a:ea typeface="Yu Gothic"/>
                <a:cs typeface="Yu Gothic"/>
              </a:rPr>
              <a:t>モデルはCAEの代替ではなく、制御周期で扱える状態推定・予測層として配置する</a:t>
            </a:r>
          </a:p>
        </p:txBody>
      </p:sp>
      <p:sp>
        <p:nvSpPr>
          <p:cNvPr id="5" name="直線コネクタ 4">
            <a:extLst>
              <a:ext uri="{FF2B5EF4-FFF2-40B4-BE49-F238E27FC236}">
                <a16:creationId xmlns:a16="http://schemas.microsoft.com/office/drawing/2014/main" id="{FAF04AE1-AEB0-45EF-B752-C8FEF677A681}"/>
              </a:ext>
            </a:extLst>
          </p:cNvPr>
          <p:cNvSpPr>
            <a:spLocks noGrp="1"/>
          </p:cNvSpPr>
          <p:nvPr/>
        </p:nvSpPr>
        <p:spPr>
          <a:xfrm>
            <a:off x="552450" y="1152525"/>
            <a:ext cx="11087100" cy="0"/>
          </a:xfrm>
          <a:prstGeom prst="line">
            <a:avLst/>
          </a:prstGeom>
          <a:noFill/>
          <a:ln w="9525">
            <a:solidFill>
              <a:srgbClr val="D6D6D6"/>
            </a:solidFill>
            <a:prstDash val="solid"/>
          </a:ln>
        </p:spPr>
      </p:sp>
      <p:sp>
        <p:nvSpPr>
          <p:cNvPr id="6" name="直線コネクタ 5">
            <a:extLst>
              <a:ext uri="{FF2B5EF4-FFF2-40B4-BE49-F238E27FC236}">
                <a16:creationId xmlns:a16="http://schemas.microsoft.com/office/drawing/2014/main" id="{028F6067-4C18-4B1E-AF0C-135241015DF9}"/>
              </a:ext>
            </a:extLst>
          </p:cNvPr>
          <p:cNvSpPr>
            <a:spLocks noGrp="1"/>
          </p:cNvSpPr>
          <p:nvPr/>
        </p:nvSpPr>
        <p:spPr>
          <a:xfrm>
            <a:off x="552450" y="6438900"/>
            <a:ext cx="11087100" cy="0"/>
          </a:xfrm>
          <a:prstGeom prst="line">
            <a:avLst/>
          </a:prstGeom>
          <a:noFill/>
          <a:ln w="9525">
            <a:solidFill>
              <a:srgbClr val="D6D6D6"/>
            </a:solidFill>
            <a:prstDash val="solid"/>
          </a:ln>
        </p:spPr>
      </p:sp>
      <p:sp>
        <p:nvSpPr>
          <p:cNvPr id="7" name="正方形/長方形 6">
            <a:extLst>
              <a:ext uri="{FF2B5EF4-FFF2-40B4-BE49-F238E27FC236}">
                <a16:creationId xmlns:a16="http://schemas.microsoft.com/office/drawing/2014/main" id="{A01EEC85-7FEB-44E1-820A-920679774635}"/>
              </a:ext>
            </a:extLst>
          </p:cNvPr>
          <p:cNvSpPr>
            <a:spLocks noGrp="1"/>
          </p:cNvSpPr>
          <p:nvPr/>
        </p:nvSpPr>
        <p:spPr>
          <a:xfrm>
            <a:off x="571500" y="6505575"/>
            <a:ext cx="5334000" cy="171450"/>
          </a:xfrm>
          <a:prstGeom prst="rect">
            <a:avLst/>
          </a:prstGeom>
          <a:noFill/>
          <a:ln w="0">
            <a:noFill/>
            <a:prstDash val="solid"/>
          </a:ln>
        </p:spPr>
        <p:txBody>
          <a:bodyPr wrap="none" lIns="28575" tIns="19050" rIns="28575" bIns="19050" anchor="ctr">
            <a:noAutofit/>
          </a:bodyPr>
          <a:lstStyle/>
          <a:p>
            <a:pPr algn="l">
              <a:lnSpc>
                <a:spcPct val="100000"/>
              </a:lnSpc>
              <a:buNone/>
              <a:defRPr sz="713" b="0" i="0">
                <a:solidFill>
                  <a:srgbClr val="777777"/>
                </a:solidFill>
                <a:latin typeface="Yu Gothic"/>
                <a:ea typeface="Yu Gothic"/>
                <a:cs typeface="Yu Gothic"/>
              </a:defRPr>
            </a:pPr>
            <a:r>
              <a:rPr sz="713" b="0" i="0">
                <a:solidFill>
                  <a:srgbClr val="777777"/>
                </a:solidFill>
                <a:latin typeface="Yu Gothic"/>
                <a:ea typeface="Yu Gothic"/>
                <a:cs typeface="Yu Gothic"/>
              </a:rPr>
              <a:t>THERMAL RC / EQUIPMENT ENGINEERING REVIEW  ·  2026-09-17</a:t>
            </a:r>
          </a:p>
        </p:txBody>
      </p:sp>
      <p:sp>
        <p:nvSpPr>
          <p:cNvPr id="8" name="正方形/長方形 7">
            <a:extLst>
              <a:ext uri="{FF2B5EF4-FFF2-40B4-BE49-F238E27FC236}">
                <a16:creationId xmlns:a16="http://schemas.microsoft.com/office/drawing/2014/main" id="{8A238EE9-AB89-41DB-ACB4-78B616262D6E}"/>
              </a:ext>
            </a:extLst>
          </p:cNvPr>
          <p:cNvSpPr>
            <a:spLocks noGrp="1"/>
          </p:cNvSpPr>
          <p:nvPr/>
        </p:nvSpPr>
        <p:spPr>
          <a:xfrm>
            <a:off x="11125200" y="6496050"/>
            <a:ext cx="476250" cy="171450"/>
          </a:xfrm>
          <a:prstGeom prst="rect">
            <a:avLst/>
          </a:prstGeom>
          <a:noFill/>
          <a:ln w="0">
            <a:noFill/>
            <a:prstDash val="solid"/>
          </a:ln>
        </p:spPr>
        <p:txBody>
          <a:bodyPr wrap="square" lIns="28575" tIns="19050" rIns="28575" bIns="19050" anchor="ctr">
            <a:noAutofit/>
          </a:bodyPr>
          <a:lstStyle/>
          <a:p>
            <a:pPr algn="r">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7</a:t>
            </a:r>
          </a:p>
        </p:txBody>
      </p:sp>
      <p:sp>
        <p:nvSpPr>
          <p:cNvPr id="9" name="正方形/長方形 8">
            <a:extLst>
              <a:ext uri="{FF2B5EF4-FFF2-40B4-BE49-F238E27FC236}">
                <a16:creationId xmlns:a16="http://schemas.microsoft.com/office/drawing/2014/main" id="{5F5DBABC-4D8F-47EC-955F-682F13BEC84E}"/>
              </a:ext>
            </a:extLst>
          </p:cNvPr>
          <p:cNvSpPr>
            <a:spLocks noGrp="1"/>
          </p:cNvSpPr>
          <p:nvPr/>
        </p:nvSpPr>
        <p:spPr>
          <a:xfrm>
            <a:off x="552450" y="1381125"/>
            <a:ext cx="5429250" cy="285750"/>
          </a:xfrm>
          <a:prstGeom prst="rect">
            <a:avLst/>
          </a:prstGeom>
          <a:noFill/>
          <a:ln w="0">
            <a:noFill/>
            <a:prstDash val="solid"/>
          </a:ln>
        </p:spPr>
        <p:txBody>
          <a:bodyPr wrap="square" lIns="28575" tIns="19050" rIns="28575" bIns="19050" anchor="ctr">
            <a:normAutofit/>
          </a:bodyPr>
          <a:lstStyle/>
          <a:p>
            <a:pPr algn="l">
              <a:lnSpc>
                <a:spcPct val="100000"/>
              </a:lnSpc>
              <a:buNone/>
              <a:defRPr sz="1350" b="1" i="0">
                <a:solidFill>
                  <a:srgbClr val="3F3F3F"/>
                </a:solidFill>
                <a:latin typeface="Yu Gothic"/>
                <a:ea typeface="Yu Gothic"/>
                <a:cs typeface="Yu Gothic"/>
              </a:defRPr>
            </a:pPr>
            <a:r>
              <a:rPr sz="1350" b="1" i="0">
                <a:solidFill>
                  <a:srgbClr val="3F3F3F"/>
                </a:solidFill>
                <a:latin typeface="Yu Gothic"/>
                <a:ea typeface="Yu Gothic"/>
                <a:cs typeface="Yu Gothic"/>
              </a:rPr>
              <a:t>装置断面の概念対応</a:t>
            </a:r>
          </a:p>
        </p:txBody>
      </p:sp>
      <p:sp>
        <p:nvSpPr>
          <p:cNvPr id="10" name="正方形/長方形 9">
            <a:extLst>
              <a:ext uri="{FF2B5EF4-FFF2-40B4-BE49-F238E27FC236}">
                <a16:creationId xmlns:a16="http://schemas.microsoft.com/office/drawing/2014/main" id="{12EE1BB8-32F7-46D9-AA9E-BEFAA7C1E980}"/>
              </a:ext>
            </a:extLst>
          </p:cNvPr>
          <p:cNvSpPr>
            <a:spLocks noGrp="1"/>
          </p:cNvSpPr>
          <p:nvPr/>
        </p:nvSpPr>
        <p:spPr>
          <a:xfrm>
            <a:off x="781050" y="1809750"/>
            <a:ext cx="5143500" cy="3476625"/>
          </a:xfrm>
          <a:prstGeom prst="rect">
            <a:avLst/>
          </a:prstGeom>
          <a:solidFill>
            <a:srgbClr val="F8F8F8"/>
          </a:solidFill>
          <a:ln w="19050">
            <a:solidFill>
              <a:srgbClr val="3F3F3F"/>
            </a:solidFill>
            <a:prstDash val="solid"/>
          </a:ln>
        </p:spPr>
      </p:sp>
      <p:sp>
        <p:nvSpPr>
          <p:cNvPr id="11" name="正方形/長方形 10">
            <a:extLst>
              <a:ext uri="{FF2B5EF4-FFF2-40B4-BE49-F238E27FC236}">
                <a16:creationId xmlns:a16="http://schemas.microsoft.com/office/drawing/2014/main" id="{D610A79C-3344-4D1F-8E80-ADB34F0F2BD7}"/>
              </a:ext>
            </a:extLst>
          </p:cNvPr>
          <p:cNvSpPr>
            <a:spLocks noGrp="1"/>
          </p:cNvSpPr>
          <p:nvPr/>
        </p:nvSpPr>
        <p:spPr>
          <a:xfrm>
            <a:off x="952500" y="1933575"/>
            <a:ext cx="1809750" cy="209550"/>
          </a:xfrm>
          <a:prstGeom prst="rect">
            <a:avLst/>
          </a:prstGeom>
          <a:noFill/>
          <a:ln w="0">
            <a:noFill/>
            <a:prstDash val="solid"/>
          </a:ln>
        </p:spPr>
        <p:txBody>
          <a:bodyPr wrap="square" lIns="28575" tIns="19050" rIns="28575" bIns="19050" anchor="ctr">
            <a:normAutofit/>
          </a:bodyPr>
          <a:lstStyle/>
          <a:p>
            <a:pPr algn="l">
              <a:lnSpc>
                <a:spcPct val="100000"/>
              </a:lnSpc>
              <a:buNone/>
              <a:defRPr sz="825" b="1" i="0">
                <a:solidFill>
                  <a:srgbClr val="777777"/>
                </a:solidFill>
                <a:latin typeface="Yu Gothic"/>
                <a:ea typeface="Yu Gothic"/>
                <a:cs typeface="Yu Gothic"/>
              </a:defRPr>
            </a:pPr>
            <a:r>
              <a:rPr sz="825" b="1" i="0">
                <a:solidFill>
                  <a:srgbClr val="777777"/>
                </a:solidFill>
                <a:latin typeface="Yu Gothic"/>
                <a:ea typeface="Yu Gothic"/>
                <a:cs typeface="Yu Gothic"/>
              </a:rPr>
              <a:t>process chamber</a:t>
            </a:r>
          </a:p>
        </p:txBody>
      </p:sp>
      <p:sp>
        <p:nvSpPr>
          <p:cNvPr id="12" name="正方形/長方形 11">
            <a:extLst>
              <a:ext uri="{FF2B5EF4-FFF2-40B4-BE49-F238E27FC236}">
                <a16:creationId xmlns:a16="http://schemas.microsoft.com/office/drawing/2014/main" id="{08E3159E-B8FA-41A5-A1AC-D94B37339876}"/>
              </a:ext>
            </a:extLst>
          </p:cNvPr>
          <p:cNvSpPr>
            <a:spLocks noGrp="1"/>
          </p:cNvSpPr>
          <p:nvPr/>
        </p:nvSpPr>
        <p:spPr>
          <a:xfrm>
            <a:off x="2771775" y="1438275"/>
            <a:ext cx="1143000" cy="400050"/>
          </a:xfrm>
          <a:prstGeom prst="rect">
            <a:avLst/>
          </a:prstGeom>
          <a:solidFill>
            <a:srgbClr val="E5F6FB"/>
          </a:solidFill>
          <a:ln w="19050">
            <a:solidFill>
              <a:srgbClr val="00A5D8"/>
            </a:solidFill>
            <a:prstDash val="solid"/>
          </a:ln>
        </p:spPr>
      </p:sp>
      <p:sp>
        <p:nvSpPr>
          <p:cNvPr id="13" name="正方形/長方形 12">
            <a:extLst>
              <a:ext uri="{FF2B5EF4-FFF2-40B4-BE49-F238E27FC236}">
                <a16:creationId xmlns:a16="http://schemas.microsoft.com/office/drawing/2014/main" id="{59971B0A-E5EC-4CD5-899F-C7C85F26B367}"/>
              </a:ext>
            </a:extLst>
          </p:cNvPr>
          <p:cNvSpPr>
            <a:spLocks noGrp="1"/>
          </p:cNvSpPr>
          <p:nvPr/>
        </p:nvSpPr>
        <p:spPr>
          <a:xfrm>
            <a:off x="2857500" y="1514475"/>
            <a:ext cx="971550" cy="228600"/>
          </a:xfrm>
          <a:prstGeom prst="rect">
            <a:avLst/>
          </a:prstGeom>
          <a:noFill/>
          <a:ln w="0">
            <a:noFill/>
            <a:prstDash val="solid"/>
          </a:ln>
        </p:spPr>
        <p:txBody>
          <a:bodyPr wrap="square" lIns="28575" tIns="19050" rIns="28575" bIns="19050" anchor="ctr">
            <a:normAutofit/>
          </a:bodyPr>
          <a:lstStyle/>
          <a:p>
            <a:pPr algn="ctr">
              <a:lnSpc>
                <a:spcPct val="100000"/>
              </a:lnSpc>
              <a:buNone/>
              <a:defRPr sz="900" b="1" i="0">
                <a:solidFill>
                  <a:srgbClr val="007FA8"/>
                </a:solidFill>
                <a:latin typeface="Yu Gothic"/>
                <a:ea typeface="Yu Gothic"/>
                <a:cs typeface="Yu Gothic"/>
              </a:defRPr>
            </a:pPr>
            <a:r>
              <a:rPr sz="900" b="1" i="0">
                <a:solidFill>
                  <a:srgbClr val="007FA8"/>
                </a:solidFill>
                <a:latin typeface="Yu Gothic"/>
                <a:ea typeface="Yu Gothic"/>
                <a:cs typeface="Yu Gothic"/>
              </a:rPr>
              <a:t>gas / plasma</a:t>
            </a:r>
          </a:p>
        </p:txBody>
      </p:sp>
      <p:sp>
        <p:nvSpPr>
          <p:cNvPr id="14" name="直線コネクタ 13">
            <a:extLst>
              <a:ext uri="{FF2B5EF4-FFF2-40B4-BE49-F238E27FC236}">
                <a16:creationId xmlns:a16="http://schemas.microsoft.com/office/drawing/2014/main" id="{EC2E9AB7-62B3-4DCD-BD18-8AB59D99B6C8}"/>
              </a:ext>
            </a:extLst>
          </p:cNvPr>
          <p:cNvSpPr>
            <a:spLocks noGrp="1"/>
          </p:cNvSpPr>
          <p:nvPr/>
        </p:nvSpPr>
        <p:spPr>
          <a:xfrm>
            <a:off x="3343275" y="1838325"/>
            <a:ext cx="0" cy="590550"/>
          </a:xfrm>
          <a:prstGeom prst="line">
            <a:avLst/>
          </a:prstGeom>
          <a:noFill/>
          <a:ln w="28575">
            <a:solidFill>
              <a:srgbClr val="00A5D8"/>
            </a:solidFill>
            <a:prstDash val="solid"/>
          </a:ln>
        </p:spPr>
      </p:sp>
      <p:sp>
        <p:nvSpPr>
          <p:cNvPr id="15" name="楕円 14">
            <a:extLst>
              <a:ext uri="{FF2B5EF4-FFF2-40B4-BE49-F238E27FC236}">
                <a16:creationId xmlns:a16="http://schemas.microsoft.com/office/drawing/2014/main" id="{BA81E51E-BA42-4352-B30B-C576E9E6D815}"/>
              </a:ext>
            </a:extLst>
          </p:cNvPr>
          <p:cNvSpPr>
            <a:spLocks noGrp="1"/>
          </p:cNvSpPr>
          <p:nvPr/>
        </p:nvSpPr>
        <p:spPr>
          <a:xfrm>
            <a:off x="1790700" y="2571750"/>
            <a:ext cx="3124200" cy="361950"/>
          </a:xfrm>
          <a:prstGeom prst="ellipse">
            <a:avLst/>
          </a:prstGeom>
          <a:solidFill>
            <a:srgbClr val="BBDDE7"/>
          </a:solidFill>
          <a:ln w="19050">
            <a:solidFill>
              <a:srgbClr val="007FA8"/>
            </a:solidFill>
            <a:prstDash val="solid"/>
          </a:ln>
        </p:spPr>
      </p:sp>
      <p:sp>
        <p:nvSpPr>
          <p:cNvPr id="16" name="正方形/長方形 15">
            <a:extLst>
              <a:ext uri="{FF2B5EF4-FFF2-40B4-BE49-F238E27FC236}">
                <a16:creationId xmlns:a16="http://schemas.microsoft.com/office/drawing/2014/main" id="{C1C3DAC0-D934-40F6-960C-E0B7E754444A}"/>
              </a:ext>
            </a:extLst>
          </p:cNvPr>
          <p:cNvSpPr>
            <a:spLocks noGrp="1"/>
          </p:cNvSpPr>
          <p:nvPr/>
        </p:nvSpPr>
        <p:spPr>
          <a:xfrm>
            <a:off x="2400300" y="2609850"/>
            <a:ext cx="1905000" cy="238125"/>
          </a:xfrm>
          <a:prstGeom prst="rect">
            <a:avLst/>
          </a:prstGeom>
          <a:noFill/>
          <a:ln w="0">
            <a:noFill/>
            <a:prstDash val="solid"/>
          </a:ln>
        </p:spPr>
        <p:txBody>
          <a:bodyPr wrap="square" lIns="28575" tIns="19050" rIns="28575" bIns="19050" anchor="ctr">
            <a:normAutofit/>
          </a:bodyPr>
          <a:lstStyle/>
          <a:p>
            <a:pPr algn="ctr">
              <a:lnSpc>
                <a:spcPct val="100000"/>
              </a:lnSpc>
              <a:buNone/>
              <a:defRPr sz="975" b="1" i="0">
                <a:solidFill>
                  <a:srgbClr val="007FA8"/>
                </a:solidFill>
                <a:latin typeface="Yu Gothic"/>
                <a:ea typeface="Yu Gothic"/>
                <a:cs typeface="Yu Gothic"/>
              </a:defRPr>
            </a:pPr>
            <a:r>
              <a:rPr sz="975" b="1" i="0">
                <a:solidFill>
                  <a:srgbClr val="007FA8"/>
                </a:solidFill>
                <a:latin typeface="Yu Gothic"/>
                <a:ea typeface="Yu Gothic"/>
                <a:cs typeface="Yu Gothic"/>
              </a:rPr>
              <a:t>wafer / workpiece</a:t>
            </a:r>
          </a:p>
        </p:txBody>
      </p:sp>
      <p:sp>
        <p:nvSpPr>
          <p:cNvPr id="17" name="正方形/長方形 16">
            <a:extLst>
              <a:ext uri="{FF2B5EF4-FFF2-40B4-BE49-F238E27FC236}">
                <a16:creationId xmlns:a16="http://schemas.microsoft.com/office/drawing/2014/main" id="{59C7974F-6FAA-48B2-B202-7F4375D94CB5}"/>
              </a:ext>
            </a:extLst>
          </p:cNvPr>
          <p:cNvSpPr>
            <a:spLocks noGrp="1"/>
          </p:cNvSpPr>
          <p:nvPr/>
        </p:nvSpPr>
        <p:spPr>
          <a:xfrm>
            <a:off x="1619250" y="2971800"/>
            <a:ext cx="3467100" cy="1000125"/>
          </a:xfrm>
          <a:prstGeom prst="rect">
            <a:avLst/>
          </a:prstGeom>
          <a:solidFill>
            <a:srgbClr val="EFE5F6"/>
          </a:solidFill>
          <a:ln w="19050">
            <a:solidFill>
              <a:srgbClr val="7B2DAF"/>
            </a:solidFill>
            <a:prstDash val="solid"/>
          </a:ln>
        </p:spPr>
      </p:sp>
      <p:sp>
        <p:nvSpPr>
          <p:cNvPr id="18" name="正方形/長方形 17">
            <a:extLst>
              <a:ext uri="{FF2B5EF4-FFF2-40B4-BE49-F238E27FC236}">
                <a16:creationId xmlns:a16="http://schemas.microsoft.com/office/drawing/2014/main" id="{172E9D81-610E-46A8-A1C5-F37439A78745}"/>
              </a:ext>
            </a:extLst>
          </p:cNvPr>
          <p:cNvSpPr>
            <a:spLocks noGrp="1"/>
          </p:cNvSpPr>
          <p:nvPr/>
        </p:nvSpPr>
        <p:spPr>
          <a:xfrm>
            <a:off x="1981200" y="3095625"/>
            <a:ext cx="2743200" cy="266700"/>
          </a:xfrm>
          <a:prstGeom prst="rect">
            <a:avLst/>
          </a:prstGeom>
          <a:noFill/>
          <a:ln w="0">
            <a:noFill/>
            <a:prstDash val="solid"/>
          </a:ln>
        </p:spPr>
        <p:txBody>
          <a:bodyPr wrap="square" lIns="28575" tIns="19050" rIns="28575" bIns="19050" anchor="ctr">
            <a:normAutofit/>
          </a:bodyPr>
          <a:lstStyle/>
          <a:p>
            <a:pPr algn="ctr">
              <a:lnSpc>
                <a:spcPct val="100000"/>
              </a:lnSpc>
              <a:buNone/>
              <a:defRPr sz="1200" b="1" i="0">
                <a:solidFill>
                  <a:srgbClr val="7B2DAF"/>
                </a:solidFill>
                <a:latin typeface="Yu Gothic"/>
                <a:ea typeface="Yu Gothic"/>
                <a:cs typeface="Yu Gothic"/>
              </a:defRPr>
            </a:pPr>
            <a:r>
              <a:rPr sz="1200" b="1" i="0">
                <a:solidFill>
                  <a:srgbClr val="7B2DAF"/>
                </a:solidFill>
                <a:latin typeface="Yu Gothic"/>
                <a:ea typeface="Yu Gothic"/>
                <a:cs typeface="Yu Gothic"/>
              </a:rPr>
              <a:t>stage / ESC / heater body</a:t>
            </a:r>
          </a:p>
        </p:txBody>
      </p:sp>
      <p:sp>
        <p:nvSpPr>
          <p:cNvPr id="19" name="正方形/長方形 18">
            <a:extLst>
              <a:ext uri="{FF2B5EF4-FFF2-40B4-BE49-F238E27FC236}">
                <a16:creationId xmlns:a16="http://schemas.microsoft.com/office/drawing/2014/main" id="{17BB5089-E644-4493-BC28-AEB082C27157}"/>
              </a:ext>
            </a:extLst>
          </p:cNvPr>
          <p:cNvSpPr>
            <a:spLocks noGrp="1"/>
          </p:cNvSpPr>
          <p:nvPr/>
        </p:nvSpPr>
        <p:spPr>
          <a:xfrm>
            <a:off x="1847850" y="3495675"/>
            <a:ext cx="3009900" cy="171450"/>
          </a:xfrm>
          <a:prstGeom prst="rect">
            <a:avLst/>
          </a:prstGeom>
          <a:solidFill>
            <a:srgbClr val="E5A900"/>
          </a:solidFill>
          <a:ln w="0">
            <a:noFill/>
            <a:prstDash val="solid"/>
          </a:ln>
        </p:spPr>
      </p:sp>
      <p:sp>
        <p:nvSpPr>
          <p:cNvPr id="20" name="正方形/長方形 19">
            <a:extLst>
              <a:ext uri="{FF2B5EF4-FFF2-40B4-BE49-F238E27FC236}">
                <a16:creationId xmlns:a16="http://schemas.microsoft.com/office/drawing/2014/main" id="{00DE4BC2-1CFB-4746-B471-DC81006FEA74}"/>
              </a:ext>
            </a:extLst>
          </p:cNvPr>
          <p:cNvSpPr>
            <a:spLocks noGrp="1"/>
          </p:cNvSpPr>
          <p:nvPr/>
        </p:nvSpPr>
        <p:spPr>
          <a:xfrm>
            <a:off x="2466975" y="3667125"/>
            <a:ext cx="1790700" cy="209550"/>
          </a:xfrm>
          <a:prstGeom prst="rect">
            <a:avLst/>
          </a:prstGeom>
          <a:noFill/>
          <a:ln w="0">
            <a:noFill/>
            <a:prstDash val="solid"/>
          </a:ln>
        </p:spPr>
        <p:txBody>
          <a:bodyPr wrap="square" lIns="28575" tIns="19050" rIns="28575" bIns="19050" anchor="ctr">
            <a:normAutofit/>
          </a:bodyPr>
          <a:lstStyle/>
          <a:p>
            <a:pPr algn="ctr">
              <a:lnSpc>
                <a:spcPct val="100000"/>
              </a:lnSpc>
              <a:buNone/>
              <a:defRPr sz="825" b="0" i="0">
                <a:solidFill>
                  <a:srgbClr val="806000"/>
                </a:solidFill>
                <a:latin typeface="Yu Gothic"/>
                <a:ea typeface="Yu Gothic"/>
                <a:cs typeface="Yu Gothic"/>
              </a:defRPr>
            </a:pPr>
            <a:r>
              <a:rPr sz="825" b="0" i="0">
                <a:solidFill>
                  <a:srgbClr val="806000"/>
                </a:solidFill>
                <a:latin typeface="Yu Gothic"/>
                <a:ea typeface="Yu Gothic"/>
                <a:cs typeface="Yu Gothic"/>
              </a:rPr>
              <a:t>heater zones</a:t>
            </a:r>
          </a:p>
        </p:txBody>
      </p:sp>
      <p:sp>
        <p:nvSpPr>
          <p:cNvPr id="21" name="正方形/長方形 20">
            <a:extLst>
              <a:ext uri="{FF2B5EF4-FFF2-40B4-BE49-F238E27FC236}">
                <a16:creationId xmlns:a16="http://schemas.microsoft.com/office/drawing/2014/main" id="{9191C19F-FEB4-42E0-84D5-E7501D39D548}"/>
              </a:ext>
            </a:extLst>
          </p:cNvPr>
          <p:cNvSpPr>
            <a:spLocks noGrp="1"/>
          </p:cNvSpPr>
          <p:nvPr/>
        </p:nvSpPr>
        <p:spPr>
          <a:xfrm>
            <a:off x="1800225" y="4133850"/>
            <a:ext cx="3105150" cy="400050"/>
          </a:xfrm>
          <a:prstGeom prst="rect">
            <a:avLst/>
          </a:prstGeom>
          <a:solidFill>
            <a:srgbClr val="E5F6FB"/>
          </a:solidFill>
          <a:ln w="19050">
            <a:solidFill>
              <a:srgbClr val="00A5D8"/>
            </a:solidFill>
            <a:prstDash val="solid"/>
          </a:ln>
        </p:spPr>
      </p:sp>
      <p:sp>
        <p:nvSpPr>
          <p:cNvPr id="22" name="四角形: 角を丸くする 21">
            <a:extLst>
              <a:ext uri="{FF2B5EF4-FFF2-40B4-BE49-F238E27FC236}">
                <a16:creationId xmlns:a16="http://schemas.microsoft.com/office/drawing/2014/main" id="{7C3FD66D-D756-4AF2-BD93-6C89D96C555D}"/>
              </a:ext>
            </a:extLst>
          </p:cNvPr>
          <p:cNvSpPr>
            <a:spLocks noGrp="1"/>
          </p:cNvSpPr>
          <p:nvPr/>
        </p:nvSpPr>
        <p:spPr>
          <a:xfrm>
            <a:off x="1962150" y="4238625"/>
            <a:ext cx="323850" cy="171450"/>
          </a:xfrm>
          <a:prstGeom prst="roundRect">
            <a:avLst>
              <a:gd name="adj" fmla="val 50000"/>
            </a:avLst>
          </a:prstGeom>
          <a:solidFill>
            <a:srgbClr val="00A5D8"/>
          </a:solidFill>
          <a:ln w="0">
            <a:noFill/>
            <a:prstDash val="solid"/>
          </a:ln>
        </p:spPr>
      </p:sp>
      <p:sp>
        <p:nvSpPr>
          <p:cNvPr id="23" name="四角形: 角を丸くする 22">
            <a:extLst>
              <a:ext uri="{FF2B5EF4-FFF2-40B4-BE49-F238E27FC236}">
                <a16:creationId xmlns:a16="http://schemas.microsoft.com/office/drawing/2014/main" id="{C83BBEBA-7229-4B3D-A38B-002F92C955DA}"/>
              </a:ext>
            </a:extLst>
          </p:cNvPr>
          <p:cNvSpPr>
            <a:spLocks noGrp="1"/>
          </p:cNvSpPr>
          <p:nvPr/>
        </p:nvSpPr>
        <p:spPr>
          <a:xfrm>
            <a:off x="2438400" y="4238625"/>
            <a:ext cx="323850" cy="171450"/>
          </a:xfrm>
          <a:prstGeom prst="roundRect">
            <a:avLst>
              <a:gd name="adj" fmla="val 50000"/>
            </a:avLst>
          </a:prstGeom>
          <a:solidFill>
            <a:srgbClr val="00A5D8"/>
          </a:solidFill>
          <a:ln w="0">
            <a:noFill/>
            <a:prstDash val="solid"/>
          </a:ln>
        </p:spPr>
      </p:sp>
      <p:sp>
        <p:nvSpPr>
          <p:cNvPr id="24" name="四角形: 角を丸くする 23">
            <a:extLst>
              <a:ext uri="{FF2B5EF4-FFF2-40B4-BE49-F238E27FC236}">
                <a16:creationId xmlns:a16="http://schemas.microsoft.com/office/drawing/2014/main" id="{FFB58E86-3675-484A-BED4-A42961A064BC}"/>
              </a:ext>
            </a:extLst>
          </p:cNvPr>
          <p:cNvSpPr>
            <a:spLocks noGrp="1"/>
          </p:cNvSpPr>
          <p:nvPr/>
        </p:nvSpPr>
        <p:spPr>
          <a:xfrm>
            <a:off x="2914650" y="4238625"/>
            <a:ext cx="323850" cy="171450"/>
          </a:xfrm>
          <a:prstGeom prst="roundRect">
            <a:avLst>
              <a:gd name="adj" fmla="val 50000"/>
            </a:avLst>
          </a:prstGeom>
          <a:solidFill>
            <a:srgbClr val="00A5D8"/>
          </a:solidFill>
          <a:ln w="0">
            <a:noFill/>
            <a:prstDash val="solid"/>
          </a:ln>
        </p:spPr>
      </p:sp>
      <p:sp>
        <p:nvSpPr>
          <p:cNvPr id="25" name="四角形: 角を丸くする 24">
            <a:extLst>
              <a:ext uri="{FF2B5EF4-FFF2-40B4-BE49-F238E27FC236}">
                <a16:creationId xmlns:a16="http://schemas.microsoft.com/office/drawing/2014/main" id="{C68D65BC-B367-4C60-9AA0-8451E354E90C}"/>
              </a:ext>
            </a:extLst>
          </p:cNvPr>
          <p:cNvSpPr>
            <a:spLocks noGrp="1"/>
          </p:cNvSpPr>
          <p:nvPr/>
        </p:nvSpPr>
        <p:spPr>
          <a:xfrm>
            <a:off x="3390900" y="4238625"/>
            <a:ext cx="323850" cy="171450"/>
          </a:xfrm>
          <a:prstGeom prst="roundRect">
            <a:avLst>
              <a:gd name="adj" fmla="val 50000"/>
            </a:avLst>
          </a:prstGeom>
          <a:solidFill>
            <a:srgbClr val="00A5D8"/>
          </a:solidFill>
          <a:ln w="0">
            <a:noFill/>
            <a:prstDash val="solid"/>
          </a:ln>
        </p:spPr>
      </p:sp>
      <p:sp>
        <p:nvSpPr>
          <p:cNvPr id="26" name="四角形: 角を丸くする 25">
            <a:extLst>
              <a:ext uri="{FF2B5EF4-FFF2-40B4-BE49-F238E27FC236}">
                <a16:creationId xmlns:a16="http://schemas.microsoft.com/office/drawing/2014/main" id="{BEE2CE4E-4E41-4D5B-9B54-8431B1E45C72}"/>
              </a:ext>
            </a:extLst>
          </p:cNvPr>
          <p:cNvSpPr>
            <a:spLocks noGrp="1"/>
          </p:cNvSpPr>
          <p:nvPr/>
        </p:nvSpPr>
        <p:spPr>
          <a:xfrm>
            <a:off x="3867150" y="4238625"/>
            <a:ext cx="323850" cy="171450"/>
          </a:xfrm>
          <a:prstGeom prst="roundRect">
            <a:avLst>
              <a:gd name="adj" fmla="val 50000"/>
            </a:avLst>
          </a:prstGeom>
          <a:solidFill>
            <a:srgbClr val="00A5D8"/>
          </a:solidFill>
          <a:ln w="0">
            <a:noFill/>
            <a:prstDash val="solid"/>
          </a:ln>
        </p:spPr>
      </p:sp>
      <p:sp>
        <p:nvSpPr>
          <p:cNvPr id="27" name="四角形: 角を丸くする 26">
            <a:extLst>
              <a:ext uri="{FF2B5EF4-FFF2-40B4-BE49-F238E27FC236}">
                <a16:creationId xmlns:a16="http://schemas.microsoft.com/office/drawing/2014/main" id="{C353BD12-942F-48FA-9981-B7F6D1EE61B1}"/>
              </a:ext>
            </a:extLst>
          </p:cNvPr>
          <p:cNvSpPr>
            <a:spLocks noGrp="1"/>
          </p:cNvSpPr>
          <p:nvPr/>
        </p:nvSpPr>
        <p:spPr>
          <a:xfrm>
            <a:off x="4343400" y="4238625"/>
            <a:ext cx="323850" cy="171450"/>
          </a:xfrm>
          <a:prstGeom prst="roundRect">
            <a:avLst>
              <a:gd name="adj" fmla="val 50000"/>
            </a:avLst>
          </a:prstGeom>
          <a:solidFill>
            <a:srgbClr val="00A5D8"/>
          </a:solidFill>
          <a:ln w="0">
            <a:noFill/>
            <a:prstDash val="solid"/>
          </a:ln>
        </p:spPr>
      </p:sp>
      <p:sp>
        <p:nvSpPr>
          <p:cNvPr id="28" name="正方形/長方形 27">
            <a:extLst>
              <a:ext uri="{FF2B5EF4-FFF2-40B4-BE49-F238E27FC236}">
                <a16:creationId xmlns:a16="http://schemas.microsoft.com/office/drawing/2014/main" id="{9C96C1AF-F798-4CAE-BBDC-9D36A19CD7BB}"/>
              </a:ext>
            </a:extLst>
          </p:cNvPr>
          <p:cNvSpPr>
            <a:spLocks noGrp="1"/>
          </p:cNvSpPr>
          <p:nvPr/>
        </p:nvSpPr>
        <p:spPr>
          <a:xfrm>
            <a:off x="2333625" y="4562475"/>
            <a:ext cx="2047875" cy="209550"/>
          </a:xfrm>
          <a:prstGeom prst="rect">
            <a:avLst/>
          </a:prstGeom>
          <a:noFill/>
          <a:ln w="0">
            <a:noFill/>
            <a:prstDash val="solid"/>
          </a:ln>
        </p:spPr>
        <p:txBody>
          <a:bodyPr wrap="square" lIns="28575" tIns="19050" rIns="28575" bIns="19050" anchor="ctr">
            <a:normAutofit/>
          </a:bodyPr>
          <a:lstStyle/>
          <a:p>
            <a:pPr algn="ctr">
              <a:lnSpc>
                <a:spcPct val="100000"/>
              </a:lnSpc>
              <a:buNone/>
              <a:defRPr sz="825" b="0" i="0">
                <a:solidFill>
                  <a:srgbClr val="007FA8"/>
                </a:solidFill>
                <a:latin typeface="Yu Gothic"/>
                <a:ea typeface="Yu Gothic"/>
                <a:cs typeface="Yu Gothic"/>
              </a:defRPr>
            </a:pPr>
            <a:r>
              <a:rPr sz="825" b="0" i="0">
                <a:solidFill>
                  <a:srgbClr val="007FA8"/>
                </a:solidFill>
                <a:latin typeface="Yu Gothic"/>
                <a:ea typeface="Yu Gothic"/>
                <a:cs typeface="Yu Gothic"/>
              </a:rPr>
              <a:t>coolant channel</a:t>
            </a:r>
          </a:p>
        </p:txBody>
      </p:sp>
      <p:sp>
        <p:nvSpPr>
          <p:cNvPr id="29" name="楕円 28">
            <a:extLst>
              <a:ext uri="{FF2B5EF4-FFF2-40B4-BE49-F238E27FC236}">
                <a16:creationId xmlns:a16="http://schemas.microsoft.com/office/drawing/2014/main" id="{6BA177E2-CF7B-456A-84F9-3D0E78AA3BD4}"/>
              </a:ext>
            </a:extLst>
          </p:cNvPr>
          <p:cNvSpPr>
            <a:spLocks noGrp="1"/>
          </p:cNvSpPr>
          <p:nvPr/>
        </p:nvSpPr>
        <p:spPr>
          <a:xfrm>
            <a:off x="2095500" y="2847975"/>
            <a:ext cx="171450" cy="171450"/>
          </a:xfrm>
          <a:prstGeom prst="ellipse">
            <a:avLst/>
          </a:prstGeom>
          <a:solidFill>
            <a:srgbClr val="76BE18"/>
          </a:solidFill>
          <a:ln w="9525">
            <a:solidFill>
              <a:srgbClr val="4D8710"/>
            </a:solidFill>
            <a:prstDash val="solid"/>
          </a:ln>
        </p:spPr>
      </p:sp>
      <p:sp>
        <p:nvSpPr>
          <p:cNvPr id="30" name="楕円 29">
            <a:extLst>
              <a:ext uri="{FF2B5EF4-FFF2-40B4-BE49-F238E27FC236}">
                <a16:creationId xmlns:a16="http://schemas.microsoft.com/office/drawing/2014/main" id="{2393D26D-9C4E-4C91-8459-8E3BE0C4FEDF}"/>
              </a:ext>
            </a:extLst>
          </p:cNvPr>
          <p:cNvSpPr>
            <a:spLocks noGrp="1"/>
          </p:cNvSpPr>
          <p:nvPr/>
        </p:nvSpPr>
        <p:spPr>
          <a:xfrm>
            <a:off x="3352800" y="3228975"/>
            <a:ext cx="171450" cy="171450"/>
          </a:xfrm>
          <a:prstGeom prst="ellipse">
            <a:avLst/>
          </a:prstGeom>
          <a:solidFill>
            <a:srgbClr val="76BE18"/>
          </a:solidFill>
          <a:ln w="9525">
            <a:solidFill>
              <a:srgbClr val="4D8710"/>
            </a:solidFill>
            <a:prstDash val="solid"/>
          </a:ln>
        </p:spPr>
      </p:sp>
      <p:sp>
        <p:nvSpPr>
          <p:cNvPr id="31" name="楕円 30">
            <a:extLst>
              <a:ext uri="{FF2B5EF4-FFF2-40B4-BE49-F238E27FC236}">
                <a16:creationId xmlns:a16="http://schemas.microsoft.com/office/drawing/2014/main" id="{3E94FF32-A2E6-4234-AC61-0539B95C96B7}"/>
              </a:ext>
            </a:extLst>
          </p:cNvPr>
          <p:cNvSpPr>
            <a:spLocks noGrp="1"/>
          </p:cNvSpPr>
          <p:nvPr/>
        </p:nvSpPr>
        <p:spPr>
          <a:xfrm>
            <a:off x="4610100" y="3609975"/>
            <a:ext cx="171450" cy="171450"/>
          </a:xfrm>
          <a:prstGeom prst="ellipse">
            <a:avLst/>
          </a:prstGeom>
          <a:solidFill>
            <a:srgbClr val="76BE18"/>
          </a:solidFill>
          <a:ln w="9525">
            <a:solidFill>
              <a:srgbClr val="4D8710"/>
            </a:solidFill>
            <a:prstDash val="solid"/>
          </a:ln>
        </p:spPr>
      </p:sp>
      <p:sp>
        <p:nvSpPr>
          <p:cNvPr id="32" name="正方形/長方形 31">
            <a:extLst>
              <a:ext uri="{FF2B5EF4-FFF2-40B4-BE49-F238E27FC236}">
                <a16:creationId xmlns:a16="http://schemas.microsoft.com/office/drawing/2014/main" id="{9EA7651F-96C1-4B20-918B-F70C37563F26}"/>
              </a:ext>
            </a:extLst>
          </p:cNvPr>
          <p:cNvSpPr>
            <a:spLocks noGrp="1"/>
          </p:cNvSpPr>
          <p:nvPr/>
        </p:nvSpPr>
        <p:spPr>
          <a:xfrm>
            <a:off x="904875" y="4953000"/>
            <a:ext cx="1619250" cy="190500"/>
          </a:xfrm>
          <a:prstGeom prst="rect">
            <a:avLst/>
          </a:prstGeom>
          <a:noFill/>
          <a:ln w="0">
            <a:noFill/>
            <a:prstDash val="solid"/>
          </a:ln>
        </p:spPr>
        <p:txBody>
          <a:bodyPr wrap="square" lIns="28575" tIns="19050" rIns="28575" bIns="19050" anchor="ctr">
            <a:normAutofit/>
          </a:bodyPr>
          <a:lstStyle/>
          <a:p>
            <a:pPr algn="l">
              <a:lnSpc>
                <a:spcPct val="100000"/>
              </a:lnSpc>
              <a:buNone/>
              <a:defRPr sz="825" b="0" i="0">
                <a:solidFill>
                  <a:srgbClr val="4D8710"/>
                </a:solidFill>
                <a:latin typeface="Yu Gothic"/>
                <a:ea typeface="Yu Gothic"/>
                <a:cs typeface="Yu Gothic"/>
              </a:defRPr>
            </a:pPr>
            <a:r>
              <a:rPr sz="825" b="0" i="0">
                <a:solidFill>
                  <a:srgbClr val="4D8710"/>
                </a:solidFill>
                <a:latin typeface="Yu Gothic"/>
                <a:ea typeface="Yu Gothic"/>
                <a:cs typeface="Yu Gothic"/>
              </a:rPr>
              <a:t>temperature sensors</a:t>
            </a:r>
          </a:p>
        </p:txBody>
      </p:sp>
      <p:sp>
        <p:nvSpPr>
          <p:cNvPr id="33" name="直線コネクタ 32">
            <a:extLst>
              <a:ext uri="{FF2B5EF4-FFF2-40B4-BE49-F238E27FC236}">
                <a16:creationId xmlns:a16="http://schemas.microsoft.com/office/drawing/2014/main" id="{B7F8FE6C-7880-403B-B583-FF3185A0BA3B}"/>
              </a:ext>
            </a:extLst>
          </p:cNvPr>
          <p:cNvSpPr>
            <a:spLocks noGrp="1"/>
          </p:cNvSpPr>
          <p:nvPr/>
        </p:nvSpPr>
        <p:spPr>
          <a:xfrm>
            <a:off x="1962150" y="4029075"/>
            <a:ext cx="266700" cy="1000125"/>
          </a:xfrm>
          <a:prstGeom prst="line">
            <a:avLst/>
          </a:prstGeom>
          <a:noFill/>
          <a:ln w="9525">
            <a:solidFill>
              <a:srgbClr val="76BE18"/>
            </a:solidFill>
            <a:prstDash val="dash"/>
          </a:ln>
        </p:spPr>
      </p:sp>
      <p:sp>
        <p:nvSpPr>
          <p:cNvPr id="34" name="正方形/長方形 33">
            <a:extLst>
              <a:ext uri="{FF2B5EF4-FFF2-40B4-BE49-F238E27FC236}">
                <a16:creationId xmlns:a16="http://schemas.microsoft.com/office/drawing/2014/main" id="{CB2E17E6-CAD2-44D6-A46C-A53DCE3F359A}"/>
              </a:ext>
            </a:extLst>
          </p:cNvPr>
          <p:cNvSpPr>
            <a:spLocks noGrp="1"/>
          </p:cNvSpPr>
          <p:nvPr/>
        </p:nvSpPr>
        <p:spPr>
          <a:xfrm>
            <a:off x="6381750" y="1381125"/>
            <a:ext cx="5257800" cy="285750"/>
          </a:xfrm>
          <a:prstGeom prst="rect">
            <a:avLst/>
          </a:prstGeom>
          <a:noFill/>
          <a:ln w="0">
            <a:noFill/>
            <a:prstDash val="solid"/>
          </a:ln>
        </p:spPr>
        <p:txBody>
          <a:bodyPr wrap="square" lIns="28575" tIns="19050" rIns="28575" bIns="19050" anchor="ctr">
            <a:normAutofit/>
          </a:bodyPr>
          <a:lstStyle/>
          <a:p>
            <a:pPr algn="l">
              <a:lnSpc>
                <a:spcPct val="100000"/>
              </a:lnSpc>
              <a:buNone/>
              <a:defRPr sz="1350" b="1" i="0">
                <a:solidFill>
                  <a:srgbClr val="3F3F3F"/>
                </a:solidFill>
                <a:latin typeface="Yu Gothic"/>
                <a:ea typeface="Yu Gothic"/>
                <a:cs typeface="Yu Gothic"/>
              </a:defRPr>
            </a:pPr>
            <a:r>
              <a:rPr sz="1350" b="1" i="0">
                <a:solidFill>
                  <a:srgbClr val="3F3F3F"/>
                </a:solidFill>
                <a:latin typeface="Yu Gothic"/>
                <a:ea typeface="Yu Gothic"/>
                <a:cs typeface="Yu Gothic"/>
              </a:rPr>
              <a:t>状態モデルへの写像</a:t>
            </a:r>
          </a:p>
        </p:txBody>
      </p:sp>
      <p:sp>
        <p:nvSpPr>
          <p:cNvPr id="35" name="正方形/長方形 34">
            <a:extLst>
              <a:ext uri="{FF2B5EF4-FFF2-40B4-BE49-F238E27FC236}">
                <a16:creationId xmlns:a16="http://schemas.microsoft.com/office/drawing/2014/main" id="{A3C70A87-0154-424B-82F6-6AF68F82755D}"/>
              </a:ext>
            </a:extLst>
          </p:cNvPr>
          <p:cNvSpPr>
            <a:spLocks noGrp="1"/>
          </p:cNvSpPr>
          <p:nvPr/>
        </p:nvSpPr>
        <p:spPr>
          <a:xfrm>
            <a:off x="6381750" y="1790700"/>
            <a:ext cx="5257800" cy="685800"/>
          </a:xfrm>
          <a:prstGeom prst="rect">
            <a:avLst/>
          </a:prstGeom>
          <a:solidFill>
            <a:srgbClr val="FFFFFF"/>
          </a:solidFill>
          <a:ln w="9525">
            <a:solidFill>
              <a:srgbClr val="D6D6D6"/>
            </a:solidFill>
            <a:prstDash val="solid"/>
          </a:ln>
        </p:spPr>
      </p:sp>
      <p:sp>
        <p:nvSpPr>
          <p:cNvPr id="36" name="正方形/長方形 35">
            <a:extLst>
              <a:ext uri="{FF2B5EF4-FFF2-40B4-BE49-F238E27FC236}">
                <a16:creationId xmlns:a16="http://schemas.microsoft.com/office/drawing/2014/main" id="{CFDA687E-114F-4261-B909-C613724EFDEA}"/>
              </a:ext>
            </a:extLst>
          </p:cNvPr>
          <p:cNvSpPr>
            <a:spLocks noGrp="1"/>
          </p:cNvSpPr>
          <p:nvPr/>
        </p:nvSpPr>
        <p:spPr>
          <a:xfrm>
            <a:off x="6381750" y="1790700"/>
            <a:ext cx="76200" cy="685800"/>
          </a:xfrm>
          <a:prstGeom prst="rect">
            <a:avLst/>
          </a:prstGeom>
          <a:solidFill>
            <a:srgbClr val="E5A900"/>
          </a:solidFill>
          <a:ln w="0">
            <a:noFill/>
            <a:prstDash val="solid"/>
          </a:ln>
        </p:spPr>
      </p:sp>
      <p:sp>
        <p:nvSpPr>
          <p:cNvPr id="37" name="正方形/長方形 36">
            <a:extLst>
              <a:ext uri="{FF2B5EF4-FFF2-40B4-BE49-F238E27FC236}">
                <a16:creationId xmlns:a16="http://schemas.microsoft.com/office/drawing/2014/main" id="{D56A5E45-2929-42A1-BB9F-D1F622870BB6}"/>
              </a:ext>
            </a:extLst>
          </p:cNvPr>
          <p:cNvSpPr>
            <a:spLocks noGrp="1"/>
          </p:cNvSpPr>
          <p:nvPr/>
        </p:nvSpPr>
        <p:spPr>
          <a:xfrm>
            <a:off x="6600825" y="1876425"/>
            <a:ext cx="1352550" cy="238125"/>
          </a:xfrm>
          <a:prstGeom prst="rect">
            <a:avLst/>
          </a:prstGeom>
          <a:noFill/>
          <a:ln w="0">
            <a:noFill/>
            <a:prstDash val="solid"/>
          </a:ln>
        </p:spPr>
        <p:txBody>
          <a:bodyPr wrap="square" lIns="28575" tIns="19050" rIns="28575" bIns="19050" anchor="ctr">
            <a:normAutofit/>
          </a:bodyPr>
          <a:lstStyle/>
          <a:p>
            <a:pPr algn="l">
              <a:lnSpc>
                <a:spcPct val="100000"/>
              </a:lnSpc>
              <a:buNone/>
              <a:defRPr sz="1200" b="1" i="0">
                <a:solidFill>
                  <a:srgbClr val="E5A900"/>
                </a:solidFill>
                <a:latin typeface="Cambria Math"/>
                <a:ea typeface="Cambria Math"/>
                <a:cs typeface="Cambria Math"/>
              </a:defRPr>
            </a:pPr>
            <a:r>
              <a:rPr sz="1200" b="1" i="0">
                <a:solidFill>
                  <a:srgbClr val="E5A900"/>
                </a:solidFill>
                <a:latin typeface="Cambria Math"/>
                <a:ea typeface="Cambria Math"/>
                <a:cs typeface="Cambria Math"/>
              </a:rPr>
              <a:t>熱源 q(t)</a:t>
            </a:r>
          </a:p>
        </p:txBody>
      </p:sp>
      <p:sp>
        <p:nvSpPr>
          <p:cNvPr id="38" name="正方形/長方形 37">
            <a:extLst>
              <a:ext uri="{FF2B5EF4-FFF2-40B4-BE49-F238E27FC236}">
                <a16:creationId xmlns:a16="http://schemas.microsoft.com/office/drawing/2014/main" id="{8EB8FEDB-B98C-4FD3-B349-9BB9BD25740D}"/>
              </a:ext>
            </a:extLst>
          </p:cNvPr>
          <p:cNvSpPr>
            <a:spLocks noGrp="1"/>
          </p:cNvSpPr>
          <p:nvPr/>
        </p:nvSpPr>
        <p:spPr>
          <a:xfrm>
            <a:off x="7962900" y="1876425"/>
            <a:ext cx="3371850" cy="238125"/>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3F3F3F"/>
                </a:solidFill>
                <a:latin typeface="Yu Gothic"/>
                <a:ea typeface="Yu Gothic"/>
                <a:cs typeface="Yu Gothic"/>
              </a:defRPr>
            </a:pPr>
            <a:r>
              <a:rPr sz="975" b="1" i="0">
                <a:solidFill>
                  <a:srgbClr val="3F3F3F"/>
                </a:solidFill>
                <a:latin typeface="Yu Gothic"/>
                <a:ea typeface="Yu Gothic"/>
                <a:cs typeface="Yu Gothic"/>
              </a:rPr>
              <a:t>heater / plasma / chuck loss</a:t>
            </a:r>
          </a:p>
        </p:txBody>
      </p:sp>
      <p:sp>
        <p:nvSpPr>
          <p:cNvPr id="39" name="正方形/長方形 38">
            <a:extLst>
              <a:ext uri="{FF2B5EF4-FFF2-40B4-BE49-F238E27FC236}">
                <a16:creationId xmlns:a16="http://schemas.microsoft.com/office/drawing/2014/main" id="{52ACE5C8-F0BC-4830-9107-74DA277EB90B}"/>
              </a:ext>
            </a:extLst>
          </p:cNvPr>
          <p:cNvSpPr>
            <a:spLocks noGrp="1"/>
          </p:cNvSpPr>
          <p:nvPr/>
        </p:nvSpPr>
        <p:spPr>
          <a:xfrm>
            <a:off x="6600825" y="2162175"/>
            <a:ext cx="4733925" cy="219075"/>
          </a:xfrm>
          <a:prstGeom prst="rect">
            <a:avLst/>
          </a:prstGeom>
          <a:noFill/>
          <a:ln w="0">
            <a:noFill/>
            <a:prstDash val="solid"/>
          </a:ln>
        </p:spPr>
        <p:txBody>
          <a:bodyPr wrap="square" lIns="28575" tIns="19050" rIns="28575" bIns="19050" anchor="ctr">
            <a:normAutofit/>
          </a:bodyPr>
          <a:lstStyle/>
          <a:p>
            <a:pPr algn="l">
              <a:lnSpc>
                <a:spcPct val="100000"/>
              </a:lnSpc>
              <a:buNone/>
              <a:defRPr sz="938" b="0" i="0">
                <a:solidFill>
                  <a:srgbClr val="5B5B5B"/>
                </a:solidFill>
                <a:latin typeface="Yu Gothic"/>
                <a:ea typeface="Yu Gothic"/>
                <a:cs typeface="Yu Gothic"/>
              </a:defRPr>
            </a:pPr>
            <a:r>
              <a:rPr sz="938" b="0" i="0">
                <a:solidFill>
                  <a:srgbClr val="5B5B5B"/>
                </a:solidFill>
                <a:latin typeface="Yu Gothic"/>
                <a:ea typeface="Yu Gothic"/>
                <a:cs typeface="Yu Gothic"/>
              </a:rPr>
              <a:t>recipe変化の過渡温度を予測</a:t>
            </a:r>
          </a:p>
        </p:txBody>
      </p:sp>
      <p:sp>
        <p:nvSpPr>
          <p:cNvPr id="40" name="正方形/長方形 39">
            <a:extLst>
              <a:ext uri="{FF2B5EF4-FFF2-40B4-BE49-F238E27FC236}">
                <a16:creationId xmlns:a16="http://schemas.microsoft.com/office/drawing/2014/main" id="{8DE5F2B1-367E-41C9-AE17-C3933D6EE2C1}"/>
              </a:ext>
            </a:extLst>
          </p:cNvPr>
          <p:cNvSpPr>
            <a:spLocks noGrp="1"/>
          </p:cNvSpPr>
          <p:nvPr/>
        </p:nvSpPr>
        <p:spPr>
          <a:xfrm>
            <a:off x="6381750" y="2628900"/>
            <a:ext cx="5257800" cy="685800"/>
          </a:xfrm>
          <a:prstGeom prst="rect">
            <a:avLst/>
          </a:prstGeom>
          <a:solidFill>
            <a:srgbClr val="FFFFFF"/>
          </a:solidFill>
          <a:ln w="9525">
            <a:solidFill>
              <a:srgbClr val="D6D6D6"/>
            </a:solidFill>
            <a:prstDash val="solid"/>
          </a:ln>
        </p:spPr>
      </p:sp>
      <p:sp>
        <p:nvSpPr>
          <p:cNvPr id="41" name="正方形/長方形 40">
            <a:extLst>
              <a:ext uri="{FF2B5EF4-FFF2-40B4-BE49-F238E27FC236}">
                <a16:creationId xmlns:a16="http://schemas.microsoft.com/office/drawing/2014/main" id="{E13AB402-F8E6-4D73-A796-18942FD55956}"/>
              </a:ext>
            </a:extLst>
          </p:cNvPr>
          <p:cNvSpPr>
            <a:spLocks noGrp="1"/>
          </p:cNvSpPr>
          <p:nvPr/>
        </p:nvSpPr>
        <p:spPr>
          <a:xfrm>
            <a:off x="6381750" y="2628900"/>
            <a:ext cx="76200" cy="685800"/>
          </a:xfrm>
          <a:prstGeom prst="rect">
            <a:avLst/>
          </a:prstGeom>
          <a:solidFill>
            <a:srgbClr val="00A5D8"/>
          </a:solidFill>
          <a:ln w="0">
            <a:noFill/>
            <a:prstDash val="solid"/>
          </a:ln>
        </p:spPr>
      </p:sp>
      <p:sp>
        <p:nvSpPr>
          <p:cNvPr id="42" name="正方形/長方形 41">
            <a:extLst>
              <a:ext uri="{FF2B5EF4-FFF2-40B4-BE49-F238E27FC236}">
                <a16:creationId xmlns:a16="http://schemas.microsoft.com/office/drawing/2014/main" id="{D9E52FAF-A78F-4BBC-BED0-4169B9D64E1F}"/>
              </a:ext>
            </a:extLst>
          </p:cNvPr>
          <p:cNvSpPr>
            <a:spLocks noGrp="1"/>
          </p:cNvSpPr>
          <p:nvPr/>
        </p:nvSpPr>
        <p:spPr>
          <a:xfrm>
            <a:off x="6600825" y="2714625"/>
            <a:ext cx="1352550" cy="238125"/>
          </a:xfrm>
          <a:prstGeom prst="rect">
            <a:avLst/>
          </a:prstGeom>
          <a:noFill/>
          <a:ln w="0">
            <a:noFill/>
            <a:prstDash val="solid"/>
          </a:ln>
        </p:spPr>
        <p:txBody>
          <a:bodyPr wrap="square" lIns="28575" tIns="19050" rIns="28575" bIns="19050" anchor="ctr">
            <a:normAutofit/>
          </a:bodyPr>
          <a:lstStyle/>
          <a:p>
            <a:pPr algn="l">
              <a:lnSpc>
                <a:spcPct val="100000"/>
              </a:lnSpc>
              <a:buNone/>
              <a:defRPr sz="1200" b="1" i="0">
                <a:solidFill>
                  <a:srgbClr val="00A5D8"/>
                </a:solidFill>
                <a:latin typeface="Cambria Math"/>
                <a:ea typeface="Cambria Math"/>
                <a:cs typeface="Cambria Math"/>
              </a:defRPr>
            </a:pPr>
            <a:r>
              <a:rPr sz="1200" b="1" i="0">
                <a:solidFill>
                  <a:srgbClr val="00A5D8"/>
                </a:solidFill>
                <a:latin typeface="Cambria Math"/>
                <a:ea typeface="Cambria Math"/>
                <a:cs typeface="Cambria Math"/>
              </a:rPr>
              <a:t>熱経路 G</a:t>
            </a:r>
          </a:p>
        </p:txBody>
      </p:sp>
      <p:sp>
        <p:nvSpPr>
          <p:cNvPr id="43" name="正方形/長方形 42">
            <a:extLst>
              <a:ext uri="{FF2B5EF4-FFF2-40B4-BE49-F238E27FC236}">
                <a16:creationId xmlns:a16="http://schemas.microsoft.com/office/drawing/2014/main" id="{1C78B098-E6E4-4A76-BA2F-2E06F24517E1}"/>
              </a:ext>
            </a:extLst>
          </p:cNvPr>
          <p:cNvSpPr>
            <a:spLocks noGrp="1"/>
          </p:cNvSpPr>
          <p:nvPr/>
        </p:nvSpPr>
        <p:spPr>
          <a:xfrm>
            <a:off x="7962900" y="2714625"/>
            <a:ext cx="3371850" cy="238125"/>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3F3F3F"/>
                </a:solidFill>
                <a:latin typeface="Yu Gothic"/>
                <a:ea typeface="Yu Gothic"/>
                <a:cs typeface="Yu Gothic"/>
              </a:defRPr>
            </a:pPr>
            <a:r>
              <a:rPr sz="975" b="1" i="0">
                <a:solidFill>
                  <a:srgbClr val="3F3F3F"/>
                </a:solidFill>
                <a:latin typeface="Yu Gothic"/>
                <a:ea typeface="Yu Gothic"/>
                <a:cs typeface="Yu Gothic"/>
              </a:rPr>
              <a:t>contact / interface / cooling path</a:t>
            </a:r>
          </a:p>
        </p:txBody>
      </p:sp>
      <p:sp>
        <p:nvSpPr>
          <p:cNvPr id="44" name="正方形/長方形 43">
            <a:extLst>
              <a:ext uri="{FF2B5EF4-FFF2-40B4-BE49-F238E27FC236}">
                <a16:creationId xmlns:a16="http://schemas.microsoft.com/office/drawing/2014/main" id="{D07A2376-DEDF-4090-B8C2-A11A105AD1B3}"/>
              </a:ext>
            </a:extLst>
          </p:cNvPr>
          <p:cNvSpPr>
            <a:spLocks noGrp="1"/>
          </p:cNvSpPr>
          <p:nvPr/>
        </p:nvSpPr>
        <p:spPr>
          <a:xfrm>
            <a:off x="6600825" y="3000375"/>
            <a:ext cx="4733925" cy="219075"/>
          </a:xfrm>
          <a:prstGeom prst="rect">
            <a:avLst/>
          </a:prstGeom>
          <a:noFill/>
          <a:ln w="0">
            <a:noFill/>
            <a:prstDash val="solid"/>
          </a:ln>
        </p:spPr>
        <p:txBody>
          <a:bodyPr wrap="square" lIns="28575" tIns="19050" rIns="28575" bIns="19050" anchor="ctr">
            <a:normAutofit/>
          </a:bodyPr>
          <a:lstStyle/>
          <a:p>
            <a:pPr algn="l">
              <a:lnSpc>
                <a:spcPct val="100000"/>
              </a:lnSpc>
              <a:buNone/>
              <a:defRPr sz="938" b="0" i="0">
                <a:solidFill>
                  <a:srgbClr val="5B5B5B"/>
                </a:solidFill>
                <a:latin typeface="Yu Gothic"/>
                <a:ea typeface="Yu Gothic"/>
                <a:cs typeface="Yu Gothic"/>
              </a:defRPr>
            </a:pPr>
            <a:r>
              <a:rPr sz="938" b="0" i="0">
                <a:solidFill>
                  <a:srgbClr val="5B5B5B"/>
                </a:solidFill>
                <a:latin typeface="Yu Gothic"/>
                <a:ea typeface="Yu Gothic"/>
                <a:cs typeface="Yu Gothic"/>
              </a:rPr>
              <a:t>接触劣化・冷却能力変化を識別</a:t>
            </a:r>
          </a:p>
        </p:txBody>
      </p:sp>
      <p:sp>
        <p:nvSpPr>
          <p:cNvPr id="45" name="正方形/長方形 44">
            <a:extLst>
              <a:ext uri="{FF2B5EF4-FFF2-40B4-BE49-F238E27FC236}">
                <a16:creationId xmlns:a16="http://schemas.microsoft.com/office/drawing/2014/main" id="{9B790166-FD9C-4F15-90D7-E3E0763D6B53}"/>
              </a:ext>
            </a:extLst>
          </p:cNvPr>
          <p:cNvSpPr>
            <a:spLocks noGrp="1"/>
          </p:cNvSpPr>
          <p:nvPr/>
        </p:nvSpPr>
        <p:spPr>
          <a:xfrm>
            <a:off x="6381750" y="3467100"/>
            <a:ext cx="5257800" cy="685800"/>
          </a:xfrm>
          <a:prstGeom prst="rect">
            <a:avLst/>
          </a:prstGeom>
          <a:solidFill>
            <a:srgbClr val="FFFFFF"/>
          </a:solidFill>
          <a:ln w="9525">
            <a:solidFill>
              <a:srgbClr val="D6D6D6"/>
            </a:solidFill>
            <a:prstDash val="solid"/>
          </a:ln>
        </p:spPr>
      </p:sp>
      <p:sp>
        <p:nvSpPr>
          <p:cNvPr id="46" name="正方形/長方形 45">
            <a:extLst>
              <a:ext uri="{FF2B5EF4-FFF2-40B4-BE49-F238E27FC236}">
                <a16:creationId xmlns:a16="http://schemas.microsoft.com/office/drawing/2014/main" id="{D4BA40FD-8DB5-4840-8307-6E8380E8A9A4}"/>
              </a:ext>
            </a:extLst>
          </p:cNvPr>
          <p:cNvSpPr>
            <a:spLocks noGrp="1"/>
          </p:cNvSpPr>
          <p:nvPr/>
        </p:nvSpPr>
        <p:spPr>
          <a:xfrm>
            <a:off x="6381750" y="3467100"/>
            <a:ext cx="76200" cy="685800"/>
          </a:xfrm>
          <a:prstGeom prst="rect">
            <a:avLst/>
          </a:prstGeom>
          <a:solidFill>
            <a:srgbClr val="7B2DAF"/>
          </a:solidFill>
          <a:ln w="0">
            <a:noFill/>
            <a:prstDash val="solid"/>
          </a:ln>
        </p:spPr>
      </p:sp>
      <p:sp>
        <p:nvSpPr>
          <p:cNvPr id="47" name="正方形/長方形 46">
            <a:extLst>
              <a:ext uri="{FF2B5EF4-FFF2-40B4-BE49-F238E27FC236}">
                <a16:creationId xmlns:a16="http://schemas.microsoft.com/office/drawing/2014/main" id="{D875566E-9C86-48F1-B3E0-B26E8BF38259}"/>
              </a:ext>
            </a:extLst>
          </p:cNvPr>
          <p:cNvSpPr>
            <a:spLocks noGrp="1"/>
          </p:cNvSpPr>
          <p:nvPr/>
        </p:nvSpPr>
        <p:spPr>
          <a:xfrm>
            <a:off x="6600825" y="3552825"/>
            <a:ext cx="1352550" cy="238125"/>
          </a:xfrm>
          <a:prstGeom prst="rect">
            <a:avLst/>
          </a:prstGeom>
          <a:noFill/>
          <a:ln w="0">
            <a:noFill/>
            <a:prstDash val="solid"/>
          </a:ln>
        </p:spPr>
        <p:txBody>
          <a:bodyPr wrap="square" lIns="28575" tIns="19050" rIns="28575" bIns="19050" anchor="ctr">
            <a:normAutofit/>
          </a:bodyPr>
          <a:lstStyle/>
          <a:p>
            <a:pPr algn="l">
              <a:lnSpc>
                <a:spcPct val="100000"/>
              </a:lnSpc>
              <a:buNone/>
              <a:defRPr sz="1200" b="1" i="0">
                <a:solidFill>
                  <a:srgbClr val="7B2DAF"/>
                </a:solidFill>
                <a:latin typeface="Cambria Math"/>
                <a:ea typeface="Cambria Math"/>
                <a:cs typeface="Cambria Math"/>
              </a:defRPr>
            </a:pPr>
            <a:r>
              <a:rPr sz="1200" b="1" i="0">
                <a:solidFill>
                  <a:srgbClr val="7B2DAF"/>
                </a:solidFill>
                <a:latin typeface="Cambria Math"/>
                <a:ea typeface="Cambria Math"/>
                <a:cs typeface="Cambria Math"/>
              </a:rPr>
              <a:t>状態 T</a:t>
            </a:r>
          </a:p>
        </p:txBody>
      </p:sp>
      <p:sp>
        <p:nvSpPr>
          <p:cNvPr id="48" name="正方形/長方形 47">
            <a:extLst>
              <a:ext uri="{FF2B5EF4-FFF2-40B4-BE49-F238E27FC236}">
                <a16:creationId xmlns:a16="http://schemas.microsoft.com/office/drawing/2014/main" id="{5943824D-0DE7-4BAF-BE3F-665B635C42EF}"/>
              </a:ext>
            </a:extLst>
          </p:cNvPr>
          <p:cNvSpPr>
            <a:spLocks noGrp="1"/>
          </p:cNvSpPr>
          <p:nvPr/>
        </p:nvSpPr>
        <p:spPr>
          <a:xfrm>
            <a:off x="7962900" y="3552825"/>
            <a:ext cx="3371850" cy="238125"/>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3F3F3F"/>
                </a:solidFill>
                <a:latin typeface="Yu Gothic"/>
                <a:ea typeface="Yu Gothic"/>
                <a:cs typeface="Yu Gothic"/>
              </a:defRPr>
            </a:pPr>
            <a:r>
              <a:rPr sz="975" b="1" i="0">
                <a:solidFill>
                  <a:srgbClr val="3F3F3F"/>
                </a:solidFill>
                <a:latin typeface="Yu Gothic"/>
                <a:ea typeface="Yu Gothic"/>
                <a:cs typeface="Yu Gothic"/>
              </a:rPr>
              <a:t>wafer近傍 / stage / wall</a:t>
            </a:r>
          </a:p>
        </p:txBody>
      </p:sp>
      <p:sp>
        <p:nvSpPr>
          <p:cNvPr id="49" name="正方形/長方形 48">
            <a:extLst>
              <a:ext uri="{FF2B5EF4-FFF2-40B4-BE49-F238E27FC236}">
                <a16:creationId xmlns:a16="http://schemas.microsoft.com/office/drawing/2014/main" id="{C3385C1A-0B34-420B-B440-E219D42A8B38}"/>
              </a:ext>
            </a:extLst>
          </p:cNvPr>
          <p:cNvSpPr>
            <a:spLocks noGrp="1"/>
          </p:cNvSpPr>
          <p:nvPr/>
        </p:nvSpPr>
        <p:spPr>
          <a:xfrm>
            <a:off x="6600825" y="3838575"/>
            <a:ext cx="4733925" cy="219075"/>
          </a:xfrm>
          <a:prstGeom prst="rect">
            <a:avLst/>
          </a:prstGeom>
          <a:noFill/>
          <a:ln w="0">
            <a:noFill/>
            <a:prstDash val="solid"/>
          </a:ln>
        </p:spPr>
        <p:txBody>
          <a:bodyPr wrap="square" lIns="28575" tIns="19050" rIns="28575" bIns="19050" anchor="ctr">
            <a:normAutofit/>
          </a:bodyPr>
          <a:lstStyle/>
          <a:p>
            <a:pPr algn="l">
              <a:lnSpc>
                <a:spcPct val="100000"/>
              </a:lnSpc>
              <a:buNone/>
              <a:defRPr sz="938" b="0" i="0">
                <a:solidFill>
                  <a:srgbClr val="5B5B5B"/>
                </a:solidFill>
                <a:latin typeface="Yu Gothic"/>
                <a:ea typeface="Yu Gothic"/>
                <a:cs typeface="Yu Gothic"/>
              </a:defRPr>
            </a:pPr>
            <a:r>
              <a:rPr sz="938" b="0" i="0">
                <a:solidFill>
                  <a:srgbClr val="5B5B5B"/>
                </a:solidFill>
                <a:latin typeface="Yu Gothic"/>
                <a:ea typeface="Yu Gothic"/>
                <a:cs typeface="Yu Gothic"/>
              </a:rPr>
              <a:t>virtual sensor・warm-up判定</a:t>
            </a:r>
          </a:p>
        </p:txBody>
      </p:sp>
      <p:sp>
        <p:nvSpPr>
          <p:cNvPr id="50" name="正方形/長方形 49">
            <a:extLst>
              <a:ext uri="{FF2B5EF4-FFF2-40B4-BE49-F238E27FC236}">
                <a16:creationId xmlns:a16="http://schemas.microsoft.com/office/drawing/2014/main" id="{7806135F-4565-43C4-8F7C-19363ECD525A}"/>
              </a:ext>
            </a:extLst>
          </p:cNvPr>
          <p:cNvSpPr>
            <a:spLocks noGrp="1"/>
          </p:cNvSpPr>
          <p:nvPr/>
        </p:nvSpPr>
        <p:spPr>
          <a:xfrm>
            <a:off x="6381750" y="4305300"/>
            <a:ext cx="5257800" cy="685800"/>
          </a:xfrm>
          <a:prstGeom prst="rect">
            <a:avLst/>
          </a:prstGeom>
          <a:solidFill>
            <a:srgbClr val="FFFFFF"/>
          </a:solidFill>
          <a:ln w="9525">
            <a:solidFill>
              <a:srgbClr val="D6D6D6"/>
            </a:solidFill>
            <a:prstDash val="solid"/>
          </a:ln>
        </p:spPr>
      </p:sp>
      <p:sp>
        <p:nvSpPr>
          <p:cNvPr id="51" name="正方形/長方形 50">
            <a:extLst>
              <a:ext uri="{FF2B5EF4-FFF2-40B4-BE49-F238E27FC236}">
                <a16:creationId xmlns:a16="http://schemas.microsoft.com/office/drawing/2014/main" id="{741CAA03-D65D-4E1D-AD59-DA5BB72324B4}"/>
              </a:ext>
            </a:extLst>
          </p:cNvPr>
          <p:cNvSpPr>
            <a:spLocks noGrp="1"/>
          </p:cNvSpPr>
          <p:nvPr/>
        </p:nvSpPr>
        <p:spPr>
          <a:xfrm>
            <a:off x="6381750" y="4305300"/>
            <a:ext cx="76200" cy="685800"/>
          </a:xfrm>
          <a:prstGeom prst="rect">
            <a:avLst/>
          </a:prstGeom>
          <a:solidFill>
            <a:srgbClr val="76BE18"/>
          </a:solidFill>
          <a:ln w="0">
            <a:noFill/>
            <a:prstDash val="solid"/>
          </a:ln>
        </p:spPr>
      </p:sp>
      <p:sp>
        <p:nvSpPr>
          <p:cNvPr id="52" name="正方形/長方形 51">
            <a:extLst>
              <a:ext uri="{FF2B5EF4-FFF2-40B4-BE49-F238E27FC236}">
                <a16:creationId xmlns:a16="http://schemas.microsoft.com/office/drawing/2014/main" id="{147D2D05-8957-4B9B-9C40-9B60A7B962D2}"/>
              </a:ext>
            </a:extLst>
          </p:cNvPr>
          <p:cNvSpPr>
            <a:spLocks noGrp="1"/>
          </p:cNvSpPr>
          <p:nvPr/>
        </p:nvSpPr>
        <p:spPr>
          <a:xfrm>
            <a:off x="6600825" y="4391025"/>
            <a:ext cx="1352550" cy="238125"/>
          </a:xfrm>
          <a:prstGeom prst="rect">
            <a:avLst/>
          </a:prstGeom>
          <a:noFill/>
          <a:ln w="0">
            <a:noFill/>
            <a:prstDash val="solid"/>
          </a:ln>
        </p:spPr>
        <p:txBody>
          <a:bodyPr wrap="square" lIns="28575" tIns="19050" rIns="28575" bIns="19050" anchor="ctr">
            <a:normAutofit/>
          </a:bodyPr>
          <a:lstStyle/>
          <a:p>
            <a:pPr algn="l">
              <a:lnSpc>
                <a:spcPct val="100000"/>
              </a:lnSpc>
              <a:buNone/>
              <a:defRPr sz="1200" b="1" i="0">
                <a:solidFill>
                  <a:srgbClr val="76BE18"/>
                </a:solidFill>
                <a:latin typeface="Cambria Math"/>
                <a:ea typeface="Cambria Math"/>
                <a:cs typeface="Cambria Math"/>
              </a:defRPr>
            </a:pPr>
            <a:r>
              <a:rPr sz="1200" b="1" i="0">
                <a:solidFill>
                  <a:srgbClr val="76BE18"/>
                </a:solidFill>
                <a:latin typeface="Cambria Math"/>
                <a:ea typeface="Cambria Math"/>
                <a:cs typeface="Cambria Math"/>
              </a:rPr>
              <a:t>観測 H</a:t>
            </a:r>
          </a:p>
        </p:txBody>
      </p:sp>
      <p:sp>
        <p:nvSpPr>
          <p:cNvPr id="53" name="正方形/長方形 52">
            <a:extLst>
              <a:ext uri="{FF2B5EF4-FFF2-40B4-BE49-F238E27FC236}">
                <a16:creationId xmlns:a16="http://schemas.microsoft.com/office/drawing/2014/main" id="{9BFE9BB0-051C-485E-8123-010E5D3BE73E}"/>
              </a:ext>
            </a:extLst>
          </p:cNvPr>
          <p:cNvSpPr>
            <a:spLocks noGrp="1"/>
          </p:cNvSpPr>
          <p:nvPr/>
        </p:nvSpPr>
        <p:spPr>
          <a:xfrm>
            <a:off x="7962900" y="4391025"/>
            <a:ext cx="3371850" cy="238125"/>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3F3F3F"/>
                </a:solidFill>
                <a:latin typeface="Yu Gothic"/>
                <a:ea typeface="Yu Gothic"/>
                <a:cs typeface="Yu Gothic"/>
              </a:defRPr>
            </a:pPr>
            <a:r>
              <a:rPr sz="975" b="1" i="0">
                <a:solidFill>
                  <a:srgbClr val="3F3F3F"/>
                </a:solidFill>
                <a:latin typeface="Yu Gothic"/>
                <a:ea typeface="Yu Gothic"/>
                <a:cs typeface="Yu Gothic"/>
              </a:rPr>
              <a:t>TC / RTD / pyrometer</a:t>
            </a:r>
          </a:p>
        </p:txBody>
      </p:sp>
      <p:sp>
        <p:nvSpPr>
          <p:cNvPr id="54" name="正方形/長方形 53">
            <a:extLst>
              <a:ext uri="{FF2B5EF4-FFF2-40B4-BE49-F238E27FC236}">
                <a16:creationId xmlns:a16="http://schemas.microsoft.com/office/drawing/2014/main" id="{AE86B217-5BF3-438F-9351-EF78BBD36E7D}"/>
              </a:ext>
            </a:extLst>
          </p:cNvPr>
          <p:cNvSpPr>
            <a:spLocks noGrp="1"/>
          </p:cNvSpPr>
          <p:nvPr/>
        </p:nvSpPr>
        <p:spPr>
          <a:xfrm>
            <a:off x="6600825" y="4676775"/>
            <a:ext cx="4733925" cy="219075"/>
          </a:xfrm>
          <a:prstGeom prst="rect">
            <a:avLst/>
          </a:prstGeom>
          <a:noFill/>
          <a:ln w="0">
            <a:noFill/>
            <a:prstDash val="solid"/>
          </a:ln>
        </p:spPr>
        <p:txBody>
          <a:bodyPr wrap="square" lIns="28575" tIns="19050" rIns="28575" bIns="19050" anchor="ctr">
            <a:normAutofit/>
          </a:bodyPr>
          <a:lstStyle/>
          <a:p>
            <a:pPr algn="l">
              <a:lnSpc>
                <a:spcPct val="100000"/>
              </a:lnSpc>
              <a:buNone/>
              <a:defRPr sz="938" b="0" i="0">
                <a:solidFill>
                  <a:srgbClr val="5B5B5B"/>
                </a:solidFill>
                <a:latin typeface="Yu Gothic"/>
                <a:ea typeface="Yu Gothic"/>
                <a:cs typeface="Yu Gothic"/>
              </a:defRPr>
            </a:pPr>
            <a:r>
              <a:rPr sz="938" b="0" i="0">
                <a:solidFill>
                  <a:srgbClr val="5B5B5B"/>
                </a:solidFill>
                <a:latin typeface="Yu Gothic"/>
                <a:ea typeface="Yu Gothic"/>
                <a:cs typeface="Yu Gothic"/>
              </a:rPr>
              <a:t>欠測補完・sensor bias監視</a:t>
            </a:r>
          </a:p>
        </p:txBody>
      </p:sp>
      <p:sp>
        <p:nvSpPr>
          <p:cNvPr id="55" name="正方形/長方形 54">
            <a:extLst>
              <a:ext uri="{FF2B5EF4-FFF2-40B4-BE49-F238E27FC236}">
                <a16:creationId xmlns:a16="http://schemas.microsoft.com/office/drawing/2014/main" id="{A8625B95-412A-45DC-A568-BD18C5EB987F}"/>
              </a:ext>
            </a:extLst>
          </p:cNvPr>
          <p:cNvSpPr>
            <a:spLocks noGrp="1"/>
          </p:cNvSpPr>
          <p:nvPr/>
        </p:nvSpPr>
        <p:spPr>
          <a:xfrm>
            <a:off x="6381750" y="5314950"/>
            <a:ext cx="5257800" cy="742950"/>
          </a:xfrm>
          <a:prstGeom prst="rect">
            <a:avLst/>
          </a:prstGeom>
          <a:solidFill>
            <a:srgbClr val="FBE9E7"/>
          </a:solidFill>
          <a:ln w="9525">
            <a:solidFill>
              <a:srgbClr val="C4493D"/>
            </a:solidFill>
            <a:prstDash val="solid"/>
          </a:ln>
        </p:spPr>
      </p:sp>
      <p:sp>
        <p:nvSpPr>
          <p:cNvPr id="56" name="正方形/長方形 55">
            <a:extLst>
              <a:ext uri="{FF2B5EF4-FFF2-40B4-BE49-F238E27FC236}">
                <a16:creationId xmlns:a16="http://schemas.microsoft.com/office/drawing/2014/main" id="{D4FC6E8E-92E3-413B-B44D-CF5840B7879C}"/>
              </a:ext>
            </a:extLst>
          </p:cNvPr>
          <p:cNvSpPr>
            <a:spLocks noGrp="1"/>
          </p:cNvSpPr>
          <p:nvPr/>
        </p:nvSpPr>
        <p:spPr>
          <a:xfrm>
            <a:off x="6572250" y="5438775"/>
            <a:ext cx="876300" cy="209550"/>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C4493D"/>
                </a:solidFill>
                <a:latin typeface="Yu Gothic"/>
                <a:ea typeface="Yu Gothic"/>
                <a:cs typeface="Yu Gothic"/>
              </a:defRPr>
            </a:pPr>
            <a:r>
              <a:rPr sz="975" b="1" i="0">
                <a:solidFill>
                  <a:srgbClr val="C4493D"/>
                </a:solidFill>
                <a:latin typeface="Yu Gothic"/>
                <a:ea typeface="Yu Gothic"/>
                <a:cs typeface="Yu Gothic"/>
              </a:rPr>
              <a:t>適用境界</a:t>
            </a:r>
          </a:p>
        </p:txBody>
      </p:sp>
      <p:sp>
        <p:nvSpPr>
          <p:cNvPr id="57" name="正方形/長方形 56">
            <a:extLst>
              <a:ext uri="{FF2B5EF4-FFF2-40B4-BE49-F238E27FC236}">
                <a16:creationId xmlns:a16="http://schemas.microsoft.com/office/drawing/2014/main" id="{936B1B67-7D42-48BE-9546-DEAEA44C4F56}"/>
              </a:ext>
            </a:extLst>
          </p:cNvPr>
          <p:cNvSpPr>
            <a:spLocks noGrp="1"/>
          </p:cNvSpPr>
          <p:nvPr/>
        </p:nvSpPr>
        <p:spPr>
          <a:xfrm>
            <a:off x="7486650" y="5410200"/>
            <a:ext cx="3962400" cy="457200"/>
          </a:xfrm>
          <a:prstGeom prst="rect">
            <a:avLst/>
          </a:prstGeom>
          <a:noFill/>
          <a:ln w="0">
            <a:noFill/>
            <a:prstDash val="solid"/>
          </a:ln>
        </p:spPr>
        <p:txBody>
          <a:bodyPr wrap="square" lIns="28575" tIns="19050" rIns="28575" bIns="19050" anchor="ctr">
            <a:normAutofit/>
          </a:bodyPr>
          <a:lstStyle/>
          <a:p>
            <a:pPr algn="l">
              <a:lnSpc>
                <a:spcPct val="108000"/>
              </a:lnSpc>
              <a:buNone/>
              <a:defRPr sz="938" b="0" i="0">
                <a:solidFill>
                  <a:srgbClr val="5B5B5B"/>
                </a:solidFill>
                <a:latin typeface="Yu Gothic"/>
                <a:ea typeface="Yu Gothic"/>
                <a:cs typeface="Yu Gothic"/>
              </a:defRPr>
            </a:pPr>
            <a:r>
              <a:rPr sz="938" b="0" i="0">
                <a:solidFill>
                  <a:srgbClr val="5B5B5B"/>
                </a:solidFill>
                <a:latin typeface="Yu Gothic"/>
                <a:ea typeface="Yu Gothic"/>
                <a:cs typeface="Yu Gothic"/>
              </a:rPr>
              <a:t>node温度は領域代表値。wafer面内分布、局所hotspot、放射view factorはCAE/実測で別途拘束する。</a:t>
            </a:r>
          </a:p>
        </p:txBody>
      </p:sp>
    </p:spTree>
    <p:extLst>
      <p:ext uri="{BB962C8B-B14F-4D97-AF65-F5344CB8AC3E}">
        <p14:creationId xmlns:p14="http://schemas.microsoft.com/office/powerpoint/2010/main" val="10236066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正方形/長方形 20">
            <a:extLst>
              <a:ext uri="{FF2B5EF4-FFF2-40B4-BE49-F238E27FC236}">
                <a16:creationId xmlns:a16="http://schemas.microsoft.com/office/drawing/2014/main" id="{E4F6C070-D926-4E08-8830-F332AE64AE8F}"/>
              </a:ext>
            </a:extLst>
          </p:cNvPr>
          <p:cNvSpPr>
            <a:spLocks noGrp="1"/>
          </p:cNvSpPr>
          <p:nvPr/>
        </p:nvSpPr>
        <p:spPr>
          <a:xfrm>
            <a:off x="552450" y="190500"/>
            <a:ext cx="76200" cy="142875"/>
          </a:xfrm>
          <a:prstGeom prst="rect">
            <a:avLst/>
          </a:prstGeom>
          <a:solidFill>
            <a:srgbClr val="76BE18"/>
          </a:solidFill>
          <a:ln w="0">
            <a:noFill/>
            <a:prstDash val="solid"/>
          </a:ln>
        </p:spPr>
      </p:sp>
      <p:sp>
        <p:nvSpPr>
          <p:cNvPr id="2" name="正方形/長方形 1">
            <a:extLst>
              <a:ext uri="{FF2B5EF4-FFF2-40B4-BE49-F238E27FC236}">
                <a16:creationId xmlns:a16="http://schemas.microsoft.com/office/drawing/2014/main" id="{84A08249-5220-4A00-86CF-DA833192027F}"/>
              </a:ext>
            </a:extLst>
          </p:cNvPr>
          <p:cNvSpPr>
            <a:spLocks noGrp="1"/>
          </p:cNvSpPr>
          <p:nvPr/>
        </p:nvSpPr>
        <p:spPr>
          <a:xfrm>
            <a:off x="704850" y="161925"/>
            <a:ext cx="3429000" cy="190500"/>
          </a:xfrm>
          <a:prstGeom prst="rect">
            <a:avLst/>
          </a:prstGeom>
          <a:noFill/>
          <a:ln w="0">
            <a:noFill/>
            <a:prstDash val="solid"/>
          </a:ln>
        </p:spPr>
        <p:txBody>
          <a:bodyPr wrap="none" lIns="28575" tIns="19050" rIns="28575" bIns="19050" anchor="ctr">
            <a:noAutofit/>
          </a:bodyPr>
          <a:lstStyle/>
          <a:p>
            <a:pPr algn="l">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EVIDENCE STRATEGY</a:t>
            </a:r>
          </a:p>
        </p:txBody>
      </p:sp>
      <p:sp>
        <p:nvSpPr>
          <p:cNvPr id="3" name="正方形/長方形 2">
            <a:extLst>
              <a:ext uri="{FF2B5EF4-FFF2-40B4-BE49-F238E27FC236}">
                <a16:creationId xmlns:a16="http://schemas.microsoft.com/office/drawing/2014/main" id="{4F7A398F-CAEB-4863-BA39-DC6C3C92F29D}"/>
              </a:ext>
            </a:extLst>
          </p:cNvPr>
          <p:cNvSpPr>
            <a:spLocks noGrp="1"/>
          </p:cNvSpPr>
          <p:nvPr/>
        </p:nvSpPr>
        <p:spPr>
          <a:xfrm>
            <a:off x="552450" y="400050"/>
            <a:ext cx="11001375" cy="400050"/>
          </a:xfrm>
          <a:prstGeom prst="rect">
            <a:avLst/>
          </a:prstGeom>
          <a:noFill/>
          <a:ln w="0">
            <a:noFill/>
            <a:prstDash val="solid"/>
          </a:ln>
        </p:spPr>
        <p:txBody>
          <a:bodyPr wrap="none" lIns="19050" tIns="0" rIns="19050" bIns="0" anchor="ctr">
            <a:normAutofit/>
          </a:bodyPr>
          <a:lstStyle/>
          <a:p>
            <a:pPr algn="l">
              <a:lnSpc>
                <a:spcPct val="100000"/>
              </a:lnSpc>
              <a:buNone/>
              <a:defRPr sz="2175" b="1" i="0">
                <a:solidFill>
                  <a:srgbClr val="00A5D8"/>
                </a:solidFill>
                <a:latin typeface="Yu Gothic"/>
                <a:ea typeface="Yu Gothic"/>
                <a:cs typeface="Yu Gothic"/>
              </a:defRPr>
            </a:pPr>
            <a:r>
              <a:rPr sz="2175" b="1" i="0">
                <a:solidFill>
                  <a:srgbClr val="00A5D8"/>
                </a:solidFill>
                <a:latin typeface="Yu Gothic"/>
                <a:ea typeface="Yu Gothic"/>
                <a:cs typeface="Yu Gothic"/>
              </a:rPr>
              <a:t>証拠の階層を上げるたびに、主張できる範囲と未解決事項を更新する</a:t>
            </a:r>
          </a:p>
        </p:txBody>
      </p:sp>
      <p:sp>
        <p:nvSpPr>
          <p:cNvPr id="4" name="正方形/長方形 3">
            <a:extLst>
              <a:ext uri="{FF2B5EF4-FFF2-40B4-BE49-F238E27FC236}">
                <a16:creationId xmlns:a16="http://schemas.microsoft.com/office/drawing/2014/main" id="{4B07B6E2-F4D0-4877-AB86-EAAD2E0DE720}"/>
              </a:ext>
            </a:extLst>
          </p:cNvPr>
          <p:cNvSpPr>
            <a:spLocks noGrp="1"/>
          </p:cNvSpPr>
          <p:nvPr/>
        </p:nvSpPr>
        <p:spPr>
          <a:xfrm>
            <a:off x="571500" y="838200"/>
            <a:ext cx="10906125" cy="228600"/>
          </a:xfrm>
          <a:prstGeom prst="rect">
            <a:avLst/>
          </a:prstGeom>
          <a:noFill/>
          <a:ln w="0">
            <a:noFill/>
            <a:prstDash val="solid"/>
          </a:ln>
        </p:spPr>
        <p:txBody>
          <a:bodyPr wrap="none" lIns="28575" tIns="19050" rIns="28575" bIns="19050" anchor="ctr">
            <a:noAutofit/>
          </a:bodyPr>
          <a:lstStyle/>
          <a:p>
            <a:pPr algn="l">
              <a:lnSpc>
                <a:spcPct val="100000"/>
              </a:lnSpc>
              <a:buNone/>
              <a:defRPr sz="975" b="0" i="0">
                <a:solidFill>
                  <a:srgbClr val="5B5B5B"/>
                </a:solidFill>
                <a:latin typeface="Yu Gothic"/>
                <a:ea typeface="Yu Gothic"/>
                <a:cs typeface="Yu Gothic"/>
              </a:defRPr>
            </a:pPr>
            <a:r>
              <a:rPr sz="975" b="0" i="0">
                <a:solidFill>
                  <a:srgbClr val="5B5B5B"/>
                </a:solidFill>
                <a:latin typeface="Yu Gothic"/>
                <a:ea typeface="Yu Gothic"/>
                <a:cs typeface="Yu Gothic"/>
              </a:rPr>
              <a:t>RMSE単独ではなく、model form・mesh・time・experimentの不確かさを分離する</a:t>
            </a:r>
          </a:p>
        </p:txBody>
      </p:sp>
      <p:sp>
        <p:nvSpPr>
          <p:cNvPr id="5" name="直線コネクタ 4">
            <a:extLst>
              <a:ext uri="{FF2B5EF4-FFF2-40B4-BE49-F238E27FC236}">
                <a16:creationId xmlns:a16="http://schemas.microsoft.com/office/drawing/2014/main" id="{1970D2EA-24FB-405C-86E9-33BBB1D4CBBC}"/>
              </a:ext>
            </a:extLst>
          </p:cNvPr>
          <p:cNvSpPr>
            <a:spLocks noGrp="1"/>
          </p:cNvSpPr>
          <p:nvPr/>
        </p:nvSpPr>
        <p:spPr>
          <a:xfrm>
            <a:off x="552450" y="1152525"/>
            <a:ext cx="11087100" cy="0"/>
          </a:xfrm>
          <a:prstGeom prst="line">
            <a:avLst/>
          </a:prstGeom>
          <a:noFill/>
          <a:ln w="9525">
            <a:solidFill>
              <a:srgbClr val="D6D6D6"/>
            </a:solidFill>
            <a:prstDash val="solid"/>
          </a:ln>
        </p:spPr>
      </p:sp>
      <p:sp>
        <p:nvSpPr>
          <p:cNvPr id="6" name="直線コネクタ 5">
            <a:extLst>
              <a:ext uri="{FF2B5EF4-FFF2-40B4-BE49-F238E27FC236}">
                <a16:creationId xmlns:a16="http://schemas.microsoft.com/office/drawing/2014/main" id="{B7B7913E-48EF-4CFE-9185-671B28B188FE}"/>
              </a:ext>
            </a:extLst>
          </p:cNvPr>
          <p:cNvSpPr>
            <a:spLocks noGrp="1"/>
          </p:cNvSpPr>
          <p:nvPr/>
        </p:nvSpPr>
        <p:spPr>
          <a:xfrm>
            <a:off x="552450" y="6438900"/>
            <a:ext cx="11087100" cy="0"/>
          </a:xfrm>
          <a:prstGeom prst="line">
            <a:avLst/>
          </a:prstGeom>
          <a:noFill/>
          <a:ln w="9525">
            <a:solidFill>
              <a:srgbClr val="D6D6D6"/>
            </a:solidFill>
            <a:prstDash val="solid"/>
          </a:ln>
        </p:spPr>
      </p:sp>
      <p:sp>
        <p:nvSpPr>
          <p:cNvPr id="7" name="正方形/長方形 6">
            <a:extLst>
              <a:ext uri="{FF2B5EF4-FFF2-40B4-BE49-F238E27FC236}">
                <a16:creationId xmlns:a16="http://schemas.microsoft.com/office/drawing/2014/main" id="{AB71B708-CB4E-48D5-8F93-2A7BF5B8B468}"/>
              </a:ext>
            </a:extLst>
          </p:cNvPr>
          <p:cNvSpPr>
            <a:spLocks noGrp="1"/>
          </p:cNvSpPr>
          <p:nvPr/>
        </p:nvSpPr>
        <p:spPr>
          <a:xfrm>
            <a:off x="571500" y="6505575"/>
            <a:ext cx="5334000" cy="171450"/>
          </a:xfrm>
          <a:prstGeom prst="rect">
            <a:avLst/>
          </a:prstGeom>
          <a:noFill/>
          <a:ln w="0">
            <a:noFill/>
            <a:prstDash val="solid"/>
          </a:ln>
        </p:spPr>
        <p:txBody>
          <a:bodyPr wrap="none" lIns="28575" tIns="19050" rIns="28575" bIns="19050" anchor="ctr">
            <a:noAutofit/>
          </a:bodyPr>
          <a:lstStyle/>
          <a:p>
            <a:pPr algn="l">
              <a:lnSpc>
                <a:spcPct val="100000"/>
              </a:lnSpc>
              <a:buNone/>
              <a:defRPr sz="713" b="0" i="0">
                <a:solidFill>
                  <a:srgbClr val="777777"/>
                </a:solidFill>
                <a:latin typeface="Yu Gothic"/>
                <a:ea typeface="Yu Gothic"/>
                <a:cs typeface="Yu Gothic"/>
              </a:defRPr>
            </a:pPr>
            <a:r>
              <a:rPr sz="713" b="0" i="0">
                <a:solidFill>
                  <a:srgbClr val="777777"/>
                </a:solidFill>
                <a:latin typeface="Yu Gothic"/>
                <a:ea typeface="Yu Gothic"/>
                <a:cs typeface="Yu Gothic"/>
              </a:rPr>
              <a:t>THERMAL RC / EQUIPMENT ENGINEERING REVIEW  ·  2026-09-17</a:t>
            </a:r>
          </a:p>
        </p:txBody>
      </p:sp>
      <p:sp>
        <p:nvSpPr>
          <p:cNvPr id="8" name="正方形/長方形 7">
            <a:extLst>
              <a:ext uri="{FF2B5EF4-FFF2-40B4-BE49-F238E27FC236}">
                <a16:creationId xmlns:a16="http://schemas.microsoft.com/office/drawing/2014/main" id="{0315C623-3845-4E27-B7EB-B99C9F9FD66A}"/>
              </a:ext>
            </a:extLst>
          </p:cNvPr>
          <p:cNvSpPr>
            <a:spLocks noGrp="1"/>
          </p:cNvSpPr>
          <p:nvPr/>
        </p:nvSpPr>
        <p:spPr>
          <a:xfrm>
            <a:off x="11125200" y="6496050"/>
            <a:ext cx="476250" cy="171450"/>
          </a:xfrm>
          <a:prstGeom prst="rect">
            <a:avLst/>
          </a:prstGeom>
          <a:noFill/>
          <a:ln w="0">
            <a:noFill/>
            <a:prstDash val="solid"/>
          </a:ln>
        </p:spPr>
        <p:txBody>
          <a:bodyPr wrap="square" lIns="28575" tIns="19050" rIns="28575" bIns="19050" anchor="ctr">
            <a:noAutofit/>
          </a:bodyPr>
          <a:lstStyle/>
          <a:p>
            <a:pPr algn="r">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8</a:t>
            </a:r>
          </a:p>
        </p:txBody>
      </p:sp>
      <p:graphicFrame>
        <p:nvGraphicFramePr>
          <p:cNvPr id="29" name="表 28"/>
          <p:cNvGraphicFramePr/>
          <p:nvPr/>
        </p:nvGraphicFramePr>
        <p:xfrm>
          <a:off x="552450" y="1457325"/>
          <a:ext cx="11087100" cy="3695700"/>
        </p:xfrm>
        <a:graphic>
          <a:graphicData uri="http://schemas.openxmlformats.org/drawingml/2006/table">
            <a:tbl>
              <a:tblPr/>
              <a:tblGrid>
                <a:gridCol w="1428750">
                  <a:extLst>
                    <a:ext uri="{9D8B030D-6E8A-4147-A177-3AD203B41FA5}">
                      <a16:colId xmlns:a16="http://schemas.microsoft.com/office/drawing/2014/main" val="20000"/>
                    </a:ext>
                  </a:extLst>
                </a:gridCol>
                <a:gridCol w="2038350">
                  <a:extLst>
                    <a:ext uri="{9D8B030D-6E8A-4147-A177-3AD203B41FA5}">
                      <a16:colId xmlns:a16="http://schemas.microsoft.com/office/drawing/2014/main" val="20001"/>
                    </a:ext>
                  </a:extLst>
                </a:gridCol>
                <a:gridCol w="2686050">
                  <a:extLst>
                    <a:ext uri="{9D8B030D-6E8A-4147-A177-3AD203B41FA5}">
                      <a16:colId xmlns:a16="http://schemas.microsoft.com/office/drawing/2014/main" val="20002"/>
                    </a:ext>
                  </a:extLst>
                </a:gridCol>
                <a:gridCol w="2324100">
                  <a:extLst>
                    <a:ext uri="{9D8B030D-6E8A-4147-A177-3AD203B41FA5}">
                      <a16:colId xmlns:a16="http://schemas.microsoft.com/office/drawing/2014/main" val="20003"/>
                    </a:ext>
                  </a:extLst>
                </a:gridCol>
                <a:gridCol w="2609850">
                  <a:extLst>
                    <a:ext uri="{9D8B030D-6E8A-4147-A177-3AD203B41FA5}">
                      <a16:colId xmlns:a16="http://schemas.microsoft.com/office/drawing/2014/main" val="20004"/>
                    </a:ext>
                  </a:extLst>
                </a:gridCol>
              </a:tblGrid>
              <a:tr h="615950">
                <a:tc>
                  <a:txBody>
                    <a:bodyPr/>
                    <a:lstStyle/>
                    <a:p>
                      <a:r>
                        <a:rPr sz="938" b="1">
                          <a:solidFill>
                            <a:srgbClr val="FFFFFF"/>
                          </a:solidFill>
                          <a:latin typeface="Yu Gothic"/>
                          <a:ea typeface="Yu Gothic"/>
                          <a:cs typeface="Yu Gothic"/>
                        </a:rPr>
                        <a:t>Level</a:t>
                      </a:r>
                    </a:p>
                  </a:txBody>
                  <a:tcPr>
                    <a:solidFill>
                      <a:srgbClr val="00A5D8"/>
                    </a:solidFill>
                  </a:tcPr>
                </a:tc>
                <a:tc>
                  <a:txBody>
                    <a:bodyPr/>
                    <a:lstStyle/>
                    <a:p>
                      <a:r>
                        <a:rPr sz="938" b="1">
                          <a:solidFill>
                            <a:srgbClr val="FFFFFF"/>
                          </a:solidFill>
                          <a:latin typeface="Yu Gothic"/>
                          <a:ea typeface="Yu Gothic"/>
                          <a:cs typeface="Yu Gothic"/>
                        </a:rPr>
                        <a:t>目的</a:t>
                      </a:r>
                    </a:p>
                  </a:txBody>
                  <a:tcPr>
                    <a:solidFill>
                      <a:srgbClr val="00A5D8"/>
                    </a:solidFill>
                  </a:tcPr>
                </a:tc>
                <a:tc>
                  <a:txBody>
                    <a:bodyPr/>
                    <a:lstStyle/>
                    <a:p>
                      <a:r>
                        <a:rPr sz="938" b="1">
                          <a:solidFill>
                            <a:srgbClr val="FFFFFF"/>
                          </a:solidFill>
                          <a:latin typeface="Yu Gothic"/>
                          <a:ea typeface="Yu Gothic"/>
                          <a:cs typeface="Yu Gothic"/>
                        </a:rPr>
                        <a:t>確認済みの証拠</a:t>
                      </a:r>
                    </a:p>
                  </a:txBody>
                  <a:tcPr>
                    <a:solidFill>
                      <a:srgbClr val="00A5D8"/>
                    </a:solidFill>
                  </a:tcPr>
                </a:tc>
                <a:tc>
                  <a:txBody>
                    <a:bodyPr/>
                    <a:lstStyle/>
                    <a:p>
                      <a:r>
                        <a:rPr sz="938" b="1">
                          <a:solidFill>
                            <a:srgbClr val="FFFFFF"/>
                          </a:solidFill>
                          <a:latin typeface="Yu Gothic"/>
                          <a:ea typeface="Yu Gothic"/>
                          <a:cs typeface="Yu Gothic"/>
                        </a:rPr>
                        <a:t>主張できる範囲</a:t>
                      </a:r>
                    </a:p>
                  </a:txBody>
                  <a:tcPr>
                    <a:solidFill>
                      <a:srgbClr val="00A5D8"/>
                    </a:solidFill>
                  </a:tcPr>
                </a:tc>
                <a:tc>
                  <a:txBody>
                    <a:bodyPr/>
                    <a:lstStyle/>
                    <a:p>
                      <a:r>
                        <a:rPr sz="938" b="1">
                          <a:solidFill>
                            <a:srgbClr val="FFFFFF"/>
                          </a:solidFill>
                          <a:latin typeface="Yu Gothic"/>
                          <a:ea typeface="Yu Gothic"/>
                          <a:cs typeface="Yu Gothic"/>
                        </a:rPr>
                        <a:t>残課題</a:t>
                      </a:r>
                    </a:p>
                  </a:txBody>
                  <a:tcPr>
                    <a:solidFill>
                      <a:srgbClr val="00A5D8"/>
                    </a:solidFill>
                  </a:tcPr>
                </a:tc>
                <a:extLst>
                  <a:ext uri="{0D108BD9-81ED-4DB2-BD59-A6C34878D82A}">
                    <a16:rowId xmlns:a16="http://schemas.microsoft.com/office/drawing/2014/main" val="10000"/>
                  </a:ext>
                </a:extLst>
              </a:tr>
              <a:tr h="615950">
                <a:tc>
                  <a:txBody>
                    <a:bodyPr/>
                    <a:lstStyle/>
                    <a:p>
                      <a:r>
                        <a:rPr sz="878" b="1">
                          <a:solidFill>
                            <a:srgbClr val="007FA8"/>
                          </a:solidFill>
                          <a:latin typeface="Yu Gothic"/>
                          <a:ea typeface="Yu Gothic"/>
                          <a:cs typeface="Yu Gothic"/>
                        </a:rPr>
                        <a:t>A  数理・実装</a:t>
                      </a:r>
                    </a:p>
                  </a:txBody>
                  <a:tcPr>
                    <a:solidFill>
                      <a:srgbClr val="FFFFFF"/>
                    </a:solidFill>
                  </a:tcPr>
                </a:tc>
                <a:tc>
                  <a:txBody>
                    <a:bodyPr/>
                    <a:lstStyle/>
                    <a:p>
                      <a:r>
                        <a:rPr sz="878">
                          <a:solidFill>
                            <a:srgbClr val="5B5B5B"/>
                          </a:solidFill>
                          <a:latin typeface="Yu Gothic"/>
                          <a:ea typeface="Yu Gothic"/>
                          <a:cs typeface="Yu Gothic"/>
                        </a:rPr>
                        <a:t>保存則、正値性、数値安定</a:t>
                      </a:r>
                    </a:p>
                  </a:txBody>
                  <a:tcPr>
                    <a:solidFill>
                      <a:srgbClr val="FFFFFF"/>
                    </a:solidFill>
                  </a:tcPr>
                </a:tc>
                <a:tc>
                  <a:txBody>
                    <a:bodyPr/>
                    <a:lstStyle/>
                    <a:p>
                      <a:r>
                        <a:rPr sz="878">
                          <a:solidFill>
                            <a:srgbClr val="5B5B5B"/>
                          </a:solidFill>
                          <a:latin typeface="Yu Gothic"/>
                          <a:ea typeface="Yu Gothic"/>
                          <a:cs typeface="Yu Gothic"/>
                        </a:rPr>
                        <a:t>unit / property / quality gate</a:t>
                      </a:r>
                    </a:p>
                  </a:txBody>
                  <a:tcPr>
                    <a:solidFill>
                      <a:srgbClr val="FFFFFF"/>
                    </a:solidFill>
                  </a:tcPr>
                </a:tc>
                <a:tc>
                  <a:txBody>
                    <a:bodyPr/>
                    <a:lstStyle/>
                    <a:p>
                      <a:r>
                        <a:rPr sz="878">
                          <a:solidFill>
                            <a:srgbClr val="5B5B5B"/>
                          </a:solidFill>
                          <a:latin typeface="Yu Gothic"/>
                          <a:ea typeface="Yu Gothic"/>
                          <a:cs typeface="Yu Gothic"/>
                        </a:rPr>
                        <a:t>実装整合性</a:t>
                      </a:r>
                    </a:p>
                  </a:txBody>
                  <a:tcPr>
                    <a:solidFill>
                      <a:srgbClr val="FFFFFF"/>
                    </a:solidFill>
                  </a:tcPr>
                </a:tc>
                <a:tc>
                  <a:txBody>
                    <a:bodyPr/>
                    <a:lstStyle/>
                    <a:p>
                      <a:r>
                        <a:rPr sz="878">
                          <a:solidFill>
                            <a:srgbClr val="5B5B5B"/>
                          </a:solidFill>
                          <a:latin typeface="Yu Gothic"/>
                          <a:ea typeface="Yu Gothic"/>
                          <a:cs typeface="Yu Gothic"/>
                        </a:rPr>
                        <a:t>装置物理は未証明</a:t>
                      </a:r>
                    </a:p>
                  </a:txBody>
                  <a:tcPr>
                    <a:solidFill>
                      <a:srgbClr val="FFFFFF"/>
                    </a:solidFill>
                  </a:tcPr>
                </a:tc>
                <a:extLst>
                  <a:ext uri="{0D108BD9-81ED-4DB2-BD59-A6C34878D82A}">
                    <a16:rowId xmlns:a16="http://schemas.microsoft.com/office/drawing/2014/main" val="10001"/>
                  </a:ext>
                </a:extLst>
              </a:tr>
              <a:tr h="615950">
                <a:tc>
                  <a:txBody>
                    <a:bodyPr/>
                    <a:lstStyle/>
                    <a:p>
                      <a:r>
                        <a:rPr sz="878" b="1">
                          <a:solidFill>
                            <a:srgbClr val="007FA8"/>
                          </a:solidFill>
                          <a:latin typeface="Yu Gothic"/>
                          <a:ea typeface="Yu Gothic"/>
                          <a:cs typeface="Yu Gothic"/>
                        </a:rPr>
                        <a:t>B  TopCell</a:t>
                      </a:r>
                    </a:p>
                  </a:txBody>
                  <a:tcPr>
                    <a:solidFill>
                      <a:srgbClr val="F8F8F8"/>
                    </a:solidFill>
                  </a:tcPr>
                </a:tc>
                <a:tc>
                  <a:txBody>
                    <a:bodyPr/>
                    <a:lstStyle/>
                    <a:p>
                      <a:r>
                        <a:rPr sz="878">
                          <a:solidFill>
                            <a:srgbClr val="5B5B5B"/>
                          </a:solidFill>
                          <a:latin typeface="Yu Gothic"/>
                          <a:ea typeface="Yu Gothic"/>
                          <a:cs typeface="Yu Gothic"/>
                        </a:rPr>
                        <a:t>真値既知で回帰試験</a:t>
                      </a:r>
                    </a:p>
                  </a:txBody>
                  <a:tcPr>
                    <a:solidFill>
                      <a:srgbClr val="F8F8F8"/>
                    </a:solidFill>
                  </a:tcPr>
                </a:tc>
                <a:tc>
                  <a:txBody>
                    <a:bodyPr/>
                    <a:lstStyle/>
                    <a:p>
                      <a:r>
                        <a:rPr sz="878">
                          <a:solidFill>
                            <a:srgbClr val="5B5B5B"/>
                          </a:solidFill>
                          <a:latin typeface="Yu Gothic"/>
                          <a:ea typeface="Yu Gothic"/>
                          <a:cs typeface="Yu Gothic"/>
                        </a:rPr>
                        <a:t>core 11ケース平均 0.143 K</a:t>
                      </a:r>
                    </a:p>
                  </a:txBody>
                  <a:tcPr>
                    <a:solidFill>
                      <a:srgbClr val="F8F8F8"/>
                    </a:solidFill>
                  </a:tcPr>
                </a:tc>
                <a:tc>
                  <a:txBody>
                    <a:bodyPr/>
                    <a:lstStyle/>
                    <a:p>
                      <a:r>
                        <a:rPr sz="878">
                          <a:solidFill>
                            <a:srgbClr val="5B5B5B"/>
                          </a:solidFill>
                          <a:latin typeface="Yu Gothic"/>
                          <a:ea typeface="Yu Gothic"/>
                          <a:cs typeface="Yu Gothic"/>
                        </a:rPr>
                        <a:t>同一model class内の性能</a:t>
                      </a:r>
                    </a:p>
                  </a:txBody>
                  <a:tcPr>
                    <a:solidFill>
                      <a:srgbClr val="F8F8F8"/>
                    </a:solidFill>
                  </a:tcPr>
                </a:tc>
                <a:tc>
                  <a:txBody>
                    <a:bodyPr/>
                    <a:lstStyle/>
                    <a:p>
                      <a:r>
                        <a:rPr sz="878">
                          <a:solidFill>
                            <a:srgbClr val="5B5B5B"/>
                          </a:solidFill>
                          <a:latin typeface="Yu Gothic"/>
                          <a:ea typeface="Yu Gothic"/>
                          <a:cs typeface="Yu Gothic"/>
                        </a:rPr>
                        <a:t>F11 model gap 9.823 K</a:t>
                      </a:r>
                    </a:p>
                  </a:txBody>
                  <a:tcPr>
                    <a:solidFill>
                      <a:srgbClr val="F8F8F8"/>
                    </a:solidFill>
                  </a:tcPr>
                </a:tc>
                <a:extLst>
                  <a:ext uri="{0D108BD9-81ED-4DB2-BD59-A6C34878D82A}">
                    <a16:rowId xmlns:a16="http://schemas.microsoft.com/office/drawing/2014/main" val="10002"/>
                  </a:ext>
                </a:extLst>
              </a:tr>
              <a:tr h="615950">
                <a:tc>
                  <a:txBody>
                    <a:bodyPr/>
                    <a:lstStyle/>
                    <a:p>
                      <a:r>
                        <a:rPr sz="878" b="1">
                          <a:solidFill>
                            <a:srgbClr val="007FA8"/>
                          </a:solidFill>
                          <a:latin typeface="Yu Gothic"/>
                          <a:ea typeface="Yu Gothic"/>
                          <a:cs typeface="Yu Gothic"/>
                        </a:rPr>
                        <a:t>C  線形COMSOL</a:t>
                      </a:r>
                    </a:p>
                  </a:txBody>
                  <a:tcPr>
                    <a:solidFill>
                      <a:srgbClr val="FFFFFF"/>
                    </a:solidFill>
                  </a:tcPr>
                </a:tc>
                <a:tc>
                  <a:txBody>
                    <a:bodyPr/>
                    <a:lstStyle/>
                    <a:p>
                      <a:r>
                        <a:rPr sz="878">
                          <a:solidFill>
                            <a:srgbClr val="5B5B5B"/>
                          </a:solidFill>
                          <a:latin typeface="Yu Gothic"/>
                          <a:ea typeface="Yu Gothic"/>
                          <a:cs typeface="Yu Gothic"/>
                        </a:rPr>
                        <a:t>外部CAEへの転移</a:t>
                      </a:r>
                    </a:p>
                  </a:txBody>
                  <a:tcPr>
                    <a:solidFill>
                      <a:srgbClr val="FFFFFF"/>
                    </a:solidFill>
                  </a:tcPr>
                </a:tc>
                <a:tc>
                  <a:txBody>
                    <a:bodyPr/>
                    <a:lstStyle/>
                    <a:p>
                      <a:r>
                        <a:rPr sz="878">
                          <a:solidFill>
                            <a:srgbClr val="5B5B5B"/>
                          </a:solidFill>
                          <a:latin typeface="Yu Gothic"/>
                          <a:ea typeface="Yu Gothic"/>
                          <a:cs typeface="Yu Gothic"/>
                        </a:rPr>
                        <a:t>8ケース平均 0.036 K</a:t>
                      </a:r>
                    </a:p>
                  </a:txBody>
                  <a:tcPr>
                    <a:solidFill>
                      <a:srgbClr val="FFFFFF"/>
                    </a:solidFill>
                  </a:tcPr>
                </a:tc>
                <a:tc>
                  <a:txBody>
                    <a:bodyPr/>
                    <a:lstStyle/>
                    <a:p>
                      <a:r>
                        <a:rPr sz="878">
                          <a:solidFill>
                            <a:srgbClr val="5B5B5B"/>
                          </a:solidFill>
                          <a:latin typeface="Yu Gothic"/>
                          <a:ea typeface="Yu Gothic"/>
                          <a:cs typeface="Yu Gothic"/>
                        </a:rPr>
                        <a:t>体積平均・線形境界</a:t>
                      </a:r>
                    </a:p>
                  </a:txBody>
                  <a:tcPr>
                    <a:solidFill>
                      <a:srgbClr val="FFFFFF"/>
                    </a:solidFill>
                  </a:tcPr>
                </a:tc>
                <a:tc>
                  <a:txBody>
                    <a:bodyPr/>
                    <a:lstStyle/>
                    <a:p>
                      <a:r>
                        <a:rPr sz="878">
                          <a:solidFill>
                            <a:srgbClr val="5B5B5B"/>
                          </a:solidFill>
                          <a:latin typeface="Yu Gothic"/>
                          <a:ea typeface="Yu Gothic"/>
                          <a:cs typeface="Yu Gothic"/>
                        </a:rPr>
                        <a:t>hotspot最大過小 0.328 K</a:t>
                      </a:r>
                    </a:p>
                  </a:txBody>
                  <a:tcPr>
                    <a:solidFill>
                      <a:srgbClr val="FFFFFF"/>
                    </a:solidFill>
                  </a:tcPr>
                </a:tc>
                <a:extLst>
                  <a:ext uri="{0D108BD9-81ED-4DB2-BD59-A6C34878D82A}">
                    <a16:rowId xmlns:a16="http://schemas.microsoft.com/office/drawing/2014/main" val="10003"/>
                  </a:ext>
                </a:extLst>
              </a:tr>
              <a:tr h="615950">
                <a:tc>
                  <a:txBody>
                    <a:bodyPr/>
                    <a:lstStyle/>
                    <a:p>
                      <a:r>
                        <a:rPr sz="878" b="1">
                          <a:solidFill>
                            <a:srgbClr val="7B2DAF"/>
                          </a:solidFill>
                          <a:latin typeface="Yu Gothic"/>
                          <a:ea typeface="Yu Gothic"/>
                          <a:cs typeface="Yu Gothic"/>
                        </a:rPr>
                        <a:t>D  高忠実度CAE</a:t>
                      </a:r>
                    </a:p>
                  </a:txBody>
                  <a:tcPr>
                    <a:solidFill>
                      <a:srgbClr val="F8F8F8"/>
                    </a:solidFill>
                  </a:tcPr>
                </a:tc>
                <a:tc>
                  <a:txBody>
                    <a:bodyPr/>
                    <a:lstStyle/>
                    <a:p>
                      <a:r>
                        <a:rPr sz="878">
                          <a:solidFill>
                            <a:srgbClr val="5B5B5B"/>
                          </a:solidFill>
                          <a:latin typeface="Yu Gothic"/>
                          <a:ea typeface="Yu Gothic"/>
                          <a:cs typeface="Yu Gothic"/>
                        </a:rPr>
                        <a:t>非線形・放射のscreening</a:t>
                      </a:r>
                    </a:p>
                  </a:txBody>
                  <a:tcPr>
                    <a:solidFill>
                      <a:srgbClr val="F8F8F8"/>
                    </a:solidFill>
                  </a:tcPr>
                </a:tc>
                <a:tc>
                  <a:txBody>
                    <a:bodyPr/>
                    <a:lstStyle/>
                    <a:p>
                      <a:r>
                        <a:rPr sz="878">
                          <a:solidFill>
                            <a:srgbClr val="5B5B5B"/>
                          </a:solidFill>
                          <a:latin typeface="Yu Gothic"/>
                          <a:ea typeface="Yu Gothic"/>
                          <a:cs typeface="Yu Gothic"/>
                        </a:rPr>
                        <a:t>2ケース平均 0.0956 K</a:t>
                      </a:r>
                    </a:p>
                  </a:txBody>
                  <a:tcPr>
                    <a:solidFill>
                      <a:srgbClr val="F8F8F8"/>
                    </a:solidFill>
                  </a:tcPr>
                </a:tc>
                <a:tc>
                  <a:txBody>
                    <a:bodyPr/>
                    <a:lstStyle/>
                    <a:p>
                      <a:r>
                        <a:rPr sz="878">
                          <a:solidFill>
                            <a:srgbClr val="5B5B5B"/>
                          </a:solidFill>
                          <a:latin typeface="Yu Gothic"/>
                          <a:ea typeface="Yu Gothic"/>
                          <a:cs typeface="Yu Gothic"/>
                        </a:rPr>
                        <a:t>model-form screening</a:t>
                      </a:r>
                    </a:p>
                  </a:txBody>
                  <a:tcPr>
                    <a:solidFill>
                      <a:srgbClr val="F8F8F8"/>
                    </a:solidFill>
                  </a:tcPr>
                </a:tc>
                <a:tc>
                  <a:txBody>
                    <a:bodyPr/>
                    <a:lstStyle/>
                    <a:p>
                      <a:r>
                        <a:rPr sz="878">
                          <a:solidFill>
                            <a:srgbClr val="5B5B5B"/>
                          </a:solidFill>
                          <a:latin typeface="Yu Gothic"/>
                          <a:ea typeface="Yu Gothic"/>
                          <a:cs typeface="Yu Gothic"/>
                        </a:rPr>
                        <a:t>mesh/time strict未qualified</a:t>
                      </a:r>
                    </a:p>
                  </a:txBody>
                  <a:tcPr>
                    <a:solidFill>
                      <a:srgbClr val="F8F8F8"/>
                    </a:solidFill>
                  </a:tcPr>
                </a:tc>
                <a:extLst>
                  <a:ext uri="{0D108BD9-81ED-4DB2-BD59-A6C34878D82A}">
                    <a16:rowId xmlns:a16="http://schemas.microsoft.com/office/drawing/2014/main" val="10004"/>
                  </a:ext>
                </a:extLst>
              </a:tr>
              <a:tr h="615950">
                <a:tc>
                  <a:txBody>
                    <a:bodyPr/>
                    <a:lstStyle/>
                    <a:p>
                      <a:r>
                        <a:rPr sz="878" b="1">
                          <a:solidFill>
                            <a:srgbClr val="C4493D"/>
                          </a:solidFill>
                          <a:latin typeface="Yu Gothic"/>
                          <a:ea typeface="Yu Gothic"/>
                          <a:cs typeface="Yu Gothic"/>
                        </a:rPr>
                        <a:t>E  装置データ</a:t>
                      </a:r>
                    </a:p>
                  </a:txBody>
                  <a:tcPr>
                    <a:solidFill>
                      <a:srgbClr val="FFFFFF"/>
                    </a:solidFill>
                  </a:tcPr>
                </a:tc>
                <a:tc>
                  <a:txBody>
                    <a:bodyPr/>
                    <a:lstStyle/>
                    <a:p>
                      <a:r>
                        <a:rPr sz="878">
                          <a:solidFill>
                            <a:srgbClr val="5B5B5B"/>
                          </a:solidFill>
                          <a:latin typeface="Yu Gothic"/>
                          <a:ea typeface="Yu Gothic"/>
                          <a:cs typeface="Yu Gothic"/>
                        </a:rPr>
                        <a:t>製品運転域で妥当化</a:t>
                      </a:r>
                    </a:p>
                  </a:txBody>
                  <a:tcPr>
                    <a:solidFill>
                      <a:srgbClr val="FFFFFF"/>
                    </a:solidFill>
                  </a:tcPr>
                </a:tc>
                <a:tc>
                  <a:txBody>
                    <a:bodyPr/>
                    <a:lstStyle/>
                    <a:p>
                      <a:r>
                        <a:rPr sz="878" b="1">
                          <a:solidFill>
                            <a:srgbClr val="C4493D"/>
                          </a:solidFill>
                          <a:latin typeface="Yu Gothic"/>
                          <a:ea typeface="Yu Gothic"/>
                          <a:cs typeface="Yu Gothic"/>
                        </a:rPr>
                        <a:t>未実施</a:t>
                      </a:r>
                    </a:p>
                  </a:txBody>
                  <a:tcPr>
                    <a:solidFill>
                      <a:srgbClr val="FBE9E7"/>
                    </a:solidFill>
                  </a:tcPr>
                </a:tc>
                <a:tc>
                  <a:txBody>
                    <a:bodyPr/>
                    <a:lstStyle/>
                    <a:p>
                      <a:r>
                        <a:rPr sz="878">
                          <a:solidFill>
                            <a:srgbClr val="5B5B5B"/>
                          </a:solidFill>
                          <a:latin typeface="Yu Gothic"/>
                          <a:ea typeface="Yu Gothic"/>
                          <a:cs typeface="Yu Gothic"/>
                        </a:rPr>
                        <a:t>—</a:t>
                      </a:r>
                    </a:p>
                  </a:txBody>
                  <a:tcPr>
                    <a:solidFill>
                      <a:srgbClr val="FFFFFF"/>
                    </a:solidFill>
                  </a:tcPr>
                </a:tc>
                <a:tc>
                  <a:txBody>
                    <a:bodyPr/>
                    <a:lstStyle/>
                    <a:p>
                      <a:r>
                        <a:rPr sz="878">
                          <a:solidFill>
                            <a:srgbClr val="5B5B5B"/>
                          </a:solidFill>
                          <a:latin typeface="Yu Gothic"/>
                          <a:ea typeface="Yu Gothic"/>
                          <a:cs typeface="Yu Gothic"/>
                        </a:rPr>
                        <a:t>DOE、sensor校正、holdout</a:t>
                      </a:r>
                    </a:p>
                  </a:txBody>
                  <a:tcPr>
                    <a:solidFill>
                      <a:srgbClr val="FFFFFF"/>
                    </a:solidFill>
                  </a:tcPr>
                </a:tc>
                <a:extLst>
                  <a:ext uri="{0D108BD9-81ED-4DB2-BD59-A6C34878D82A}">
                    <a16:rowId xmlns:a16="http://schemas.microsoft.com/office/drawing/2014/main" val="10005"/>
                  </a:ext>
                </a:extLst>
              </a:tr>
            </a:tbl>
          </a:graphicData>
        </a:graphic>
      </p:graphicFrame>
      <p:sp>
        <p:nvSpPr>
          <p:cNvPr id="10" name="正方形/長方形 9">
            <a:extLst>
              <a:ext uri="{FF2B5EF4-FFF2-40B4-BE49-F238E27FC236}">
                <a16:creationId xmlns:a16="http://schemas.microsoft.com/office/drawing/2014/main" id="{B7DB1381-25C9-4486-AC99-4D210E2B88A7}"/>
              </a:ext>
            </a:extLst>
          </p:cNvPr>
          <p:cNvSpPr>
            <a:spLocks noGrp="1"/>
          </p:cNvSpPr>
          <p:nvPr/>
        </p:nvSpPr>
        <p:spPr>
          <a:xfrm>
            <a:off x="552450" y="5381625"/>
            <a:ext cx="1428750" cy="247650"/>
          </a:xfrm>
          <a:prstGeom prst="rect">
            <a:avLst/>
          </a:prstGeom>
          <a:noFill/>
          <a:ln w="0">
            <a:noFill/>
            <a:prstDash val="solid"/>
          </a:ln>
        </p:spPr>
        <p:txBody>
          <a:bodyPr wrap="square" lIns="28575" tIns="19050" rIns="28575" bIns="19050" anchor="ctr">
            <a:normAutofit/>
          </a:bodyPr>
          <a:lstStyle/>
          <a:p>
            <a:pPr algn="l">
              <a:lnSpc>
                <a:spcPct val="100000"/>
              </a:lnSpc>
              <a:buNone/>
              <a:defRPr sz="1275" b="1" i="0">
                <a:solidFill>
                  <a:srgbClr val="3F3F3F"/>
                </a:solidFill>
                <a:latin typeface="Yu Gothic"/>
                <a:ea typeface="Yu Gothic"/>
                <a:cs typeface="Yu Gothic"/>
              </a:defRPr>
            </a:pPr>
            <a:r>
              <a:rPr sz="1275" b="1" i="0">
                <a:solidFill>
                  <a:srgbClr val="3F3F3F"/>
                </a:solidFill>
                <a:latin typeface="Yu Gothic"/>
                <a:ea typeface="Yu Gothic"/>
                <a:cs typeface="Yu Gothic"/>
              </a:rPr>
              <a:t>主張の境界</a:t>
            </a:r>
          </a:p>
        </p:txBody>
      </p:sp>
      <p:sp>
        <p:nvSpPr>
          <p:cNvPr id="11" name="直線コネクタ 10">
            <a:extLst>
              <a:ext uri="{FF2B5EF4-FFF2-40B4-BE49-F238E27FC236}">
                <a16:creationId xmlns:a16="http://schemas.microsoft.com/office/drawing/2014/main" id="{C0629BDC-C944-414F-BB88-250F66C3747E}"/>
              </a:ext>
            </a:extLst>
          </p:cNvPr>
          <p:cNvSpPr>
            <a:spLocks noGrp="1"/>
          </p:cNvSpPr>
          <p:nvPr/>
        </p:nvSpPr>
        <p:spPr>
          <a:xfrm>
            <a:off x="552450" y="5724525"/>
            <a:ext cx="11087100" cy="0"/>
          </a:xfrm>
          <a:prstGeom prst="line">
            <a:avLst/>
          </a:prstGeom>
          <a:noFill/>
          <a:ln w="9525">
            <a:solidFill>
              <a:srgbClr val="D6D6D6"/>
            </a:solidFill>
            <a:prstDash val="solid"/>
          </a:ln>
        </p:spPr>
      </p:sp>
      <p:sp>
        <p:nvSpPr>
          <p:cNvPr id="12" name="四角形: 角を丸くする 11">
            <a:extLst>
              <a:ext uri="{FF2B5EF4-FFF2-40B4-BE49-F238E27FC236}">
                <a16:creationId xmlns:a16="http://schemas.microsoft.com/office/drawing/2014/main" id="{EF2EF097-12B0-4BE2-985F-28CA1B747BD1}"/>
              </a:ext>
            </a:extLst>
          </p:cNvPr>
          <p:cNvSpPr>
            <a:spLocks noGrp="1"/>
          </p:cNvSpPr>
          <p:nvPr/>
        </p:nvSpPr>
        <p:spPr>
          <a:xfrm>
            <a:off x="552450" y="5848350"/>
            <a:ext cx="685800" cy="238125"/>
          </a:xfrm>
          <a:prstGeom prst="roundRect">
            <a:avLst>
              <a:gd name="adj" fmla="val 50000"/>
            </a:avLst>
          </a:prstGeom>
          <a:solidFill>
            <a:srgbClr val="EEF7DF"/>
          </a:solidFill>
          <a:ln w="9525">
            <a:solidFill>
              <a:srgbClr val="76BE18"/>
            </a:solidFill>
            <a:prstDash val="solid"/>
          </a:ln>
        </p:spPr>
      </p:sp>
      <p:sp>
        <p:nvSpPr>
          <p:cNvPr id="13" name="正方形/長方形 12">
            <a:extLst>
              <a:ext uri="{FF2B5EF4-FFF2-40B4-BE49-F238E27FC236}">
                <a16:creationId xmlns:a16="http://schemas.microsoft.com/office/drawing/2014/main" id="{DECD677A-D9C2-4B4D-92E8-6074C6146DF6}"/>
              </a:ext>
            </a:extLst>
          </p:cNvPr>
          <p:cNvSpPr>
            <a:spLocks noGrp="1"/>
          </p:cNvSpPr>
          <p:nvPr/>
        </p:nvSpPr>
        <p:spPr>
          <a:xfrm>
            <a:off x="600075" y="5857875"/>
            <a:ext cx="590550" cy="209550"/>
          </a:xfrm>
          <a:prstGeom prst="rect">
            <a:avLst/>
          </a:prstGeom>
          <a:noFill/>
          <a:ln w="0">
            <a:noFill/>
            <a:prstDash val="solid"/>
          </a:ln>
        </p:spPr>
        <p:txBody>
          <a:bodyPr wrap="none" lIns="28575" tIns="19050" rIns="28575" bIns="19050" anchor="ctr">
            <a:noAutofit/>
          </a:bodyPr>
          <a:lstStyle/>
          <a:p>
            <a:pPr algn="ctr">
              <a:lnSpc>
                <a:spcPct val="100000"/>
              </a:lnSpc>
              <a:buNone/>
              <a:defRPr sz="788" b="1" i="0">
                <a:solidFill>
                  <a:srgbClr val="76BE18"/>
                </a:solidFill>
                <a:latin typeface="Yu Gothic"/>
                <a:ea typeface="Yu Gothic"/>
                <a:cs typeface="Yu Gothic"/>
              </a:defRPr>
            </a:pPr>
            <a:r>
              <a:rPr sz="788" b="1" i="0">
                <a:solidFill>
                  <a:srgbClr val="76BE18"/>
                </a:solidFill>
                <a:latin typeface="Yu Gothic"/>
                <a:ea typeface="Yu Gothic"/>
                <a:cs typeface="Yu Gothic"/>
              </a:rPr>
              <a:t>可</a:t>
            </a:r>
          </a:p>
        </p:txBody>
      </p:sp>
      <p:sp>
        <p:nvSpPr>
          <p:cNvPr id="14" name="正方形/長方形 13">
            <a:extLst>
              <a:ext uri="{FF2B5EF4-FFF2-40B4-BE49-F238E27FC236}">
                <a16:creationId xmlns:a16="http://schemas.microsoft.com/office/drawing/2014/main" id="{52D6390B-E484-4DA9-86C0-C8F93733C0C9}"/>
              </a:ext>
            </a:extLst>
          </p:cNvPr>
          <p:cNvSpPr>
            <a:spLocks noGrp="1"/>
          </p:cNvSpPr>
          <p:nvPr/>
        </p:nvSpPr>
        <p:spPr>
          <a:xfrm>
            <a:off x="1333500" y="5819775"/>
            <a:ext cx="2743200" cy="323850"/>
          </a:xfrm>
          <a:prstGeom prst="rect">
            <a:avLst/>
          </a:prstGeom>
          <a:noFill/>
          <a:ln w="0">
            <a:noFill/>
            <a:prstDash val="solid"/>
          </a:ln>
        </p:spPr>
        <p:txBody>
          <a:bodyPr wrap="square" lIns="28575" tIns="19050" rIns="28575" bIns="19050" anchor="ctr">
            <a:normAutofit/>
          </a:bodyPr>
          <a:lstStyle/>
          <a:p>
            <a:pPr algn="l">
              <a:lnSpc>
                <a:spcPct val="100000"/>
              </a:lnSpc>
              <a:buNone/>
              <a:defRPr sz="938" b="1" i="0">
                <a:solidFill>
                  <a:srgbClr val="5B5B5B"/>
                </a:solidFill>
                <a:latin typeface="Yu Gothic"/>
                <a:ea typeface="Yu Gothic"/>
                <a:cs typeface="Yu Gothic"/>
              </a:defRPr>
            </a:pPr>
            <a:r>
              <a:rPr sz="938" b="1" i="0">
                <a:solidFill>
                  <a:srgbClr val="5B5B5B"/>
                </a:solidFill>
                <a:latin typeface="Yu Gothic"/>
                <a:ea typeface="Yu Gothic"/>
                <a:cs typeface="Yu Gothic"/>
              </a:rPr>
              <a:t>集中定数モデルとしての因果予測・状態監視</a:t>
            </a:r>
          </a:p>
        </p:txBody>
      </p:sp>
      <p:sp>
        <p:nvSpPr>
          <p:cNvPr id="15" name="四角形: 角を丸くする 14">
            <a:extLst>
              <a:ext uri="{FF2B5EF4-FFF2-40B4-BE49-F238E27FC236}">
                <a16:creationId xmlns:a16="http://schemas.microsoft.com/office/drawing/2014/main" id="{ED380F6B-BC28-4537-97DC-90DD9C20B231}"/>
              </a:ext>
            </a:extLst>
          </p:cNvPr>
          <p:cNvSpPr>
            <a:spLocks noGrp="1"/>
          </p:cNvSpPr>
          <p:nvPr/>
        </p:nvSpPr>
        <p:spPr>
          <a:xfrm>
            <a:off x="4248150" y="5848350"/>
            <a:ext cx="685800" cy="238125"/>
          </a:xfrm>
          <a:prstGeom prst="roundRect">
            <a:avLst>
              <a:gd name="adj" fmla="val 50000"/>
            </a:avLst>
          </a:prstGeom>
          <a:solidFill>
            <a:srgbClr val="FFF5D7"/>
          </a:solidFill>
          <a:ln w="9525">
            <a:solidFill>
              <a:srgbClr val="E5A900"/>
            </a:solidFill>
            <a:prstDash val="solid"/>
          </a:ln>
        </p:spPr>
      </p:sp>
      <p:sp>
        <p:nvSpPr>
          <p:cNvPr id="16" name="正方形/長方形 15">
            <a:extLst>
              <a:ext uri="{FF2B5EF4-FFF2-40B4-BE49-F238E27FC236}">
                <a16:creationId xmlns:a16="http://schemas.microsoft.com/office/drawing/2014/main" id="{4D64724F-B12F-498E-9C3A-881E6A061D02}"/>
              </a:ext>
            </a:extLst>
          </p:cNvPr>
          <p:cNvSpPr>
            <a:spLocks noGrp="1"/>
          </p:cNvSpPr>
          <p:nvPr/>
        </p:nvSpPr>
        <p:spPr>
          <a:xfrm>
            <a:off x="4295775" y="5857875"/>
            <a:ext cx="590550" cy="209550"/>
          </a:xfrm>
          <a:prstGeom prst="rect">
            <a:avLst/>
          </a:prstGeom>
          <a:noFill/>
          <a:ln w="0">
            <a:noFill/>
            <a:prstDash val="solid"/>
          </a:ln>
        </p:spPr>
        <p:txBody>
          <a:bodyPr wrap="none" lIns="28575" tIns="19050" rIns="28575" bIns="19050" anchor="ctr">
            <a:noAutofit/>
          </a:bodyPr>
          <a:lstStyle/>
          <a:p>
            <a:pPr algn="ctr">
              <a:lnSpc>
                <a:spcPct val="100000"/>
              </a:lnSpc>
              <a:buNone/>
              <a:defRPr sz="788" b="1" i="0">
                <a:solidFill>
                  <a:srgbClr val="E5A900"/>
                </a:solidFill>
                <a:latin typeface="Yu Gothic"/>
                <a:ea typeface="Yu Gothic"/>
                <a:cs typeface="Yu Gothic"/>
              </a:defRPr>
            </a:pPr>
            <a:r>
              <a:rPr sz="788" b="1" i="0">
                <a:solidFill>
                  <a:srgbClr val="E5A900"/>
                </a:solidFill>
                <a:latin typeface="Yu Gothic"/>
                <a:ea typeface="Yu Gothic"/>
                <a:cs typeface="Yu Gothic"/>
              </a:rPr>
              <a:t>条件付</a:t>
            </a:r>
          </a:p>
        </p:txBody>
      </p:sp>
      <p:sp>
        <p:nvSpPr>
          <p:cNvPr id="17" name="正方形/長方形 16">
            <a:extLst>
              <a:ext uri="{FF2B5EF4-FFF2-40B4-BE49-F238E27FC236}">
                <a16:creationId xmlns:a16="http://schemas.microsoft.com/office/drawing/2014/main" id="{630B40C4-6FBB-4729-9013-D175E953904C}"/>
              </a:ext>
            </a:extLst>
          </p:cNvPr>
          <p:cNvSpPr>
            <a:spLocks noGrp="1"/>
          </p:cNvSpPr>
          <p:nvPr/>
        </p:nvSpPr>
        <p:spPr>
          <a:xfrm>
            <a:off x="5029200" y="5819775"/>
            <a:ext cx="2743200" cy="323850"/>
          </a:xfrm>
          <a:prstGeom prst="rect">
            <a:avLst/>
          </a:prstGeom>
          <a:noFill/>
          <a:ln w="0">
            <a:noFill/>
            <a:prstDash val="solid"/>
          </a:ln>
        </p:spPr>
        <p:txBody>
          <a:bodyPr wrap="square" lIns="28575" tIns="19050" rIns="28575" bIns="19050" anchor="ctr">
            <a:normAutofit/>
          </a:bodyPr>
          <a:lstStyle/>
          <a:p>
            <a:pPr algn="l">
              <a:lnSpc>
                <a:spcPct val="100000"/>
              </a:lnSpc>
              <a:buNone/>
              <a:defRPr sz="938" b="1" i="0">
                <a:solidFill>
                  <a:srgbClr val="5B5B5B"/>
                </a:solidFill>
                <a:latin typeface="Yu Gothic"/>
                <a:ea typeface="Yu Gothic"/>
                <a:cs typeface="Yu Gothic"/>
              </a:defRPr>
            </a:pPr>
            <a:r>
              <a:rPr sz="938" b="1" i="0">
                <a:solidFill>
                  <a:srgbClr val="5B5B5B"/>
                </a:solidFill>
                <a:latin typeface="Yu Gothic"/>
                <a:ea typeface="Yu Gothic"/>
                <a:cs typeface="Yu Gothic"/>
              </a:rPr>
              <a:t>体積平均温度のscreening精度</a:t>
            </a:r>
          </a:p>
        </p:txBody>
      </p:sp>
      <p:sp>
        <p:nvSpPr>
          <p:cNvPr id="18" name="四角形: 角を丸くする 17">
            <a:extLst>
              <a:ext uri="{FF2B5EF4-FFF2-40B4-BE49-F238E27FC236}">
                <a16:creationId xmlns:a16="http://schemas.microsoft.com/office/drawing/2014/main" id="{E04728AE-D97E-4F9F-A618-734D6A7ACD49}"/>
              </a:ext>
            </a:extLst>
          </p:cNvPr>
          <p:cNvSpPr>
            <a:spLocks noGrp="1"/>
          </p:cNvSpPr>
          <p:nvPr/>
        </p:nvSpPr>
        <p:spPr>
          <a:xfrm>
            <a:off x="7943850" y="5848350"/>
            <a:ext cx="685800" cy="238125"/>
          </a:xfrm>
          <a:prstGeom prst="roundRect">
            <a:avLst>
              <a:gd name="adj" fmla="val 50000"/>
            </a:avLst>
          </a:prstGeom>
          <a:solidFill>
            <a:srgbClr val="FBE9E7"/>
          </a:solidFill>
          <a:ln w="9525">
            <a:solidFill>
              <a:srgbClr val="C4493D"/>
            </a:solidFill>
            <a:prstDash val="solid"/>
          </a:ln>
        </p:spPr>
      </p:sp>
      <p:sp>
        <p:nvSpPr>
          <p:cNvPr id="19" name="正方形/長方形 18">
            <a:extLst>
              <a:ext uri="{FF2B5EF4-FFF2-40B4-BE49-F238E27FC236}">
                <a16:creationId xmlns:a16="http://schemas.microsoft.com/office/drawing/2014/main" id="{8F95E253-6DB9-4F86-8EDD-A4FBC9C3C893}"/>
              </a:ext>
            </a:extLst>
          </p:cNvPr>
          <p:cNvSpPr>
            <a:spLocks noGrp="1"/>
          </p:cNvSpPr>
          <p:nvPr/>
        </p:nvSpPr>
        <p:spPr>
          <a:xfrm>
            <a:off x="7991475" y="5857875"/>
            <a:ext cx="590550" cy="209550"/>
          </a:xfrm>
          <a:prstGeom prst="rect">
            <a:avLst/>
          </a:prstGeom>
          <a:noFill/>
          <a:ln w="0">
            <a:noFill/>
            <a:prstDash val="solid"/>
          </a:ln>
        </p:spPr>
        <p:txBody>
          <a:bodyPr wrap="none" lIns="28575" tIns="19050" rIns="28575" bIns="19050" anchor="ctr">
            <a:noAutofit/>
          </a:bodyPr>
          <a:lstStyle/>
          <a:p>
            <a:pPr algn="ctr">
              <a:lnSpc>
                <a:spcPct val="100000"/>
              </a:lnSpc>
              <a:buNone/>
              <a:defRPr sz="788" b="1" i="0">
                <a:solidFill>
                  <a:srgbClr val="C4493D"/>
                </a:solidFill>
                <a:latin typeface="Yu Gothic"/>
                <a:ea typeface="Yu Gothic"/>
                <a:cs typeface="Yu Gothic"/>
              </a:defRPr>
            </a:pPr>
            <a:r>
              <a:rPr sz="788" b="1" i="0">
                <a:solidFill>
                  <a:srgbClr val="C4493D"/>
                </a:solidFill>
                <a:latin typeface="Yu Gothic"/>
                <a:ea typeface="Yu Gothic"/>
                <a:cs typeface="Yu Gothic"/>
              </a:rPr>
              <a:t>不可</a:t>
            </a:r>
          </a:p>
        </p:txBody>
      </p:sp>
      <p:sp>
        <p:nvSpPr>
          <p:cNvPr id="20" name="正方形/長方形 19">
            <a:extLst>
              <a:ext uri="{FF2B5EF4-FFF2-40B4-BE49-F238E27FC236}">
                <a16:creationId xmlns:a16="http://schemas.microsoft.com/office/drawing/2014/main" id="{22F75D93-24FC-4B26-87F8-E89C0EC5140D}"/>
              </a:ext>
            </a:extLst>
          </p:cNvPr>
          <p:cNvSpPr>
            <a:spLocks noGrp="1"/>
          </p:cNvSpPr>
          <p:nvPr/>
        </p:nvSpPr>
        <p:spPr>
          <a:xfrm>
            <a:off x="8724900" y="5819775"/>
            <a:ext cx="2743200" cy="323850"/>
          </a:xfrm>
          <a:prstGeom prst="rect">
            <a:avLst/>
          </a:prstGeom>
          <a:noFill/>
          <a:ln w="0">
            <a:noFill/>
            <a:prstDash val="solid"/>
          </a:ln>
        </p:spPr>
        <p:txBody>
          <a:bodyPr wrap="square" lIns="28575" tIns="19050" rIns="28575" bIns="19050" anchor="ctr">
            <a:normAutofit fontScale="99947"/>
          </a:bodyPr>
          <a:lstStyle/>
          <a:p>
            <a:pPr algn="l">
              <a:lnSpc>
                <a:spcPct val="100000"/>
              </a:lnSpc>
              <a:buNone/>
              <a:defRPr sz="938" b="1" i="0">
                <a:solidFill>
                  <a:srgbClr val="5B5B5B"/>
                </a:solidFill>
                <a:latin typeface="Yu Gothic"/>
                <a:ea typeface="Yu Gothic"/>
                <a:cs typeface="Yu Gothic"/>
              </a:defRPr>
            </a:pPr>
            <a:r>
              <a:rPr sz="938" b="1" i="0">
                <a:solidFill>
                  <a:srgbClr val="5B5B5B"/>
                </a:solidFill>
                <a:latin typeface="Yu Gothic"/>
                <a:ea typeface="Yu Gothic"/>
                <a:cs typeface="Yu Gothic"/>
              </a:rPr>
              <a:t>局所hotspot・wafer面内均一性・製品保証への直接外挿</a:t>
            </a:r>
          </a:p>
        </p:txBody>
      </p:sp>
    </p:spTree>
    <p:extLst>
      <p:ext uri="{BB962C8B-B14F-4D97-AF65-F5344CB8AC3E}">
        <p14:creationId xmlns:p14="http://schemas.microsoft.com/office/powerpoint/2010/main" val="1208205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9" name="正方形/長方形 48">
            <a:extLst>
              <a:ext uri="{FF2B5EF4-FFF2-40B4-BE49-F238E27FC236}">
                <a16:creationId xmlns:a16="http://schemas.microsoft.com/office/drawing/2014/main" id="{9A5C1FD1-B512-439A-8972-EA3E3ADE8185}"/>
              </a:ext>
            </a:extLst>
          </p:cNvPr>
          <p:cNvSpPr>
            <a:spLocks noGrp="1"/>
          </p:cNvSpPr>
          <p:nvPr/>
        </p:nvSpPr>
        <p:spPr>
          <a:xfrm>
            <a:off x="552450" y="190500"/>
            <a:ext cx="76200" cy="142875"/>
          </a:xfrm>
          <a:prstGeom prst="rect">
            <a:avLst/>
          </a:prstGeom>
          <a:solidFill>
            <a:srgbClr val="76BE18"/>
          </a:solidFill>
          <a:ln w="0">
            <a:noFill/>
            <a:prstDash val="solid"/>
          </a:ln>
        </p:spPr>
      </p:sp>
      <p:sp>
        <p:nvSpPr>
          <p:cNvPr id="2" name="正方形/長方形 1">
            <a:extLst>
              <a:ext uri="{FF2B5EF4-FFF2-40B4-BE49-F238E27FC236}">
                <a16:creationId xmlns:a16="http://schemas.microsoft.com/office/drawing/2014/main" id="{CC7B1DDB-6F48-4F6C-9F87-7E479B421D05}"/>
              </a:ext>
            </a:extLst>
          </p:cNvPr>
          <p:cNvSpPr>
            <a:spLocks noGrp="1"/>
          </p:cNvSpPr>
          <p:nvPr/>
        </p:nvSpPr>
        <p:spPr>
          <a:xfrm>
            <a:off x="704850" y="161925"/>
            <a:ext cx="3429000" cy="190500"/>
          </a:xfrm>
          <a:prstGeom prst="rect">
            <a:avLst/>
          </a:prstGeom>
          <a:noFill/>
          <a:ln w="0">
            <a:noFill/>
            <a:prstDash val="solid"/>
          </a:ln>
        </p:spPr>
        <p:txBody>
          <a:bodyPr wrap="none" lIns="28575" tIns="19050" rIns="28575" bIns="19050" anchor="ctr">
            <a:noAutofit/>
          </a:bodyPr>
          <a:lstStyle/>
          <a:p>
            <a:pPr algn="l">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PHYSICAL MODEL</a:t>
            </a:r>
          </a:p>
        </p:txBody>
      </p:sp>
      <p:sp>
        <p:nvSpPr>
          <p:cNvPr id="3" name="正方形/長方形 2">
            <a:extLst>
              <a:ext uri="{FF2B5EF4-FFF2-40B4-BE49-F238E27FC236}">
                <a16:creationId xmlns:a16="http://schemas.microsoft.com/office/drawing/2014/main" id="{019C2AF8-23A3-4622-96C7-07EBD9C9CC27}"/>
              </a:ext>
            </a:extLst>
          </p:cNvPr>
          <p:cNvSpPr>
            <a:spLocks noGrp="1"/>
          </p:cNvSpPr>
          <p:nvPr/>
        </p:nvSpPr>
        <p:spPr>
          <a:xfrm>
            <a:off x="552450" y="400050"/>
            <a:ext cx="11001375" cy="400050"/>
          </a:xfrm>
          <a:prstGeom prst="rect">
            <a:avLst/>
          </a:prstGeom>
          <a:noFill/>
          <a:ln w="0">
            <a:noFill/>
            <a:prstDash val="solid"/>
          </a:ln>
        </p:spPr>
        <p:txBody>
          <a:bodyPr wrap="none" lIns="19050" tIns="0" rIns="19050" bIns="0" anchor="ctr">
            <a:normAutofit/>
          </a:bodyPr>
          <a:lstStyle/>
          <a:p>
            <a:pPr algn="l">
              <a:lnSpc>
                <a:spcPct val="100000"/>
              </a:lnSpc>
              <a:buNone/>
              <a:defRPr sz="2175" b="1" i="0">
                <a:solidFill>
                  <a:srgbClr val="00A5D8"/>
                </a:solidFill>
                <a:latin typeface="Yu Gothic"/>
                <a:ea typeface="Yu Gothic"/>
                <a:cs typeface="Yu Gothic"/>
              </a:defRPr>
            </a:pPr>
            <a:r>
              <a:rPr sz="2175" b="1" i="0">
                <a:solidFill>
                  <a:srgbClr val="00A5D8"/>
                </a:solidFill>
                <a:latin typeface="Yu Gothic"/>
                <a:ea typeface="Yu Gothic"/>
                <a:cs typeface="Yu Gothic"/>
              </a:rPr>
              <a:t>3ノード伝熱回路は、熱容量を固定し3つの熱伝達係数を同定する</a:t>
            </a:r>
          </a:p>
        </p:txBody>
      </p:sp>
      <p:sp>
        <p:nvSpPr>
          <p:cNvPr id="4" name="正方形/長方形 3">
            <a:extLst>
              <a:ext uri="{FF2B5EF4-FFF2-40B4-BE49-F238E27FC236}">
                <a16:creationId xmlns:a16="http://schemas.microsoft.com/office/drawing/2014/main" id="{416D5A1A-6EA2-487C-B91D-FFD51EA22B54}"/>
              </a:ext>
            </a:extLst>
          </p:cNvPr>
          <p:cNvSpPr>
            <a:spLocks noGrp="1"/>
          </p:cNvSpPr>
          <p:nvPr/>
        </p:nvSpPr>
        <p:spPr>
          <a:xfrm>
            <a:off x="571500" y="838200"/>
            <a:ext cx="10906125" cy="228600"/>
          </a:xfrm>
          <a:prstGeom prst="rect">
            <a:avLst/>
          </a:prstGeom>
          <a:noFill/>
          <a:ln w="0">
            <a:noFill/>
            <a:prstDash val="solid"/>
          </a:ln>
        </p:spPr>
        <p:txBody>
          <a:bodyPr wrap="none" lIns="28575" tIns="19050" rIns="28575" bIns="19050" anchor="ctr">
            <a:noAutofit/>
          </a:bodyPr>
          <a:lstStyle/>
          <a:p>
            <a:pPr algn="l">
              <a:lnSpc>
                <a:spcPct val="100000"/>
              </a:lnSpc>
              <a:buNone/>
              <a:defRPr sz="975" b="0" i="0">
                <a:solidFill>
                  <a:srgbClr val="5B5B5B"/>
                </a:solidFill>
                <a:latin typeface="Yu Gothic"/>
                <a:ea typeface="Yu Gothic"/>
                <a:cs typeface="Yu Gothic"/>
              </a:defRPr>
            </a:pPr>
            <a:r>
              <a:rPr sz="975" b="0" i="0">
                <a:solidFill>
                  <a:srgbClr val="5B5B5B"/>
                </a:solidFill>
                <a:latin typeface="Yu Gothic"/>
                <a:ea typeface="Yu Gothic"/>
                <a:cs typeface="Yu Gothic"/>
              </a:rPr>
              <a:t>線形COMSOL評価モデル：chip → sink base → fins → coolant</a:t>
            </a:r>
          </a:p>
        </p:txBody>
      </p:sp>
      <p:sp>
        <p:nvSpPr>
          <p:cNvPr id="5" name="直線コネクタ 4">
            <a:extLst>
              <a:ext uri="{FF2B5EF4-FFF2-40B4-BE49-F238E27FC236}">
                <a16:creationId xmlns:a16="http://schemas.microsoft.com/office/drawing/2014/main" id="{6BB2191C-F67E-4551-8F7F-80196C86434A}"/>
              </a:ext>
            </a:extLst>
          </p:cNvPr>
          <p:cNvSpPr>
            <a:spLocks noGrp="1"/>
          </p:cNvSpPr>
          <p:nvPr/>
        </p:nvSpPr>
        <p:spPr>
          <a:xfrm>
            <a:off x="552450" y="1152525"/>
            <a:ext cx="11087100" cy="0"/>
          </a:xfrm>
          <a:prstGeom prst="line">
            <a:avLst/>
          </a:prstGeom>
          <a:noFill/>
          <a:ln w="9525">
            <a:solidFill>
              <a:srgbClr val="D6D6D6"/>
            </a:solidFill>
            <a:prstDash val="solid"/>
          </a:ln>
        </p:spPr>
      </p:sp>
      <p:sp>
        <p:nvSpPr>
          <p:cNvPr id="6" name="直線コネクタ 5">
            <a:extLst>
              <a:ext uri="{FF2B5EF4-FFF2-40B4-BE49-F238E27FC236}">
                <a16:creationId xmlns:a16="http://schemas.microsoft.com/office/drawing/2014/main" id="{EEA47B58-8441-49D9-A2F5-AC1C58FA5D14}"/>
              </a:ext>
            </a:extLst>
          </p:cNvPr>
          <p:cNvSpPr>
            <a:spLocks noGrp="1"/>
          </p:cNvSpPr>
          <p:nvPr/>
        </p:nvSpPr>
        <p:spPr>
          <a:xfrm>
            <a:off x="552450" y="6438900"/>
            <a:ext cx="11087100" cy="0"/>
          </a:xfrm>
          <a:prstGeom prst="line">
            <a:avLst/>
          </a:prstGeom>
          <a:noFill/>
          <a:ln w="9525">
            <a:solidFill>
              <a:srgbClr val="D6D6D6"/>
            </a:solidFill>
            <a:prstDash val="solid"/>
          </a:ln>
        </p:spPr>
      </p:sp>
      <p:sp>
        <p:nvSpPr>
          <p:cNvPr id="7" name="正方形/長方形 6">
            <a:extLst>
              <a:ext uri="{FF2B5EF4-FFF2-40B4-BE49-F238E27FC236}">
                <a16:creationId xmlns:a16="http://schemas.microsoft.com/office/drawing/2014/main" id="{B5BDDEFD-E4FC-49C3-B01B-92729DA2DFC0}"/>
              </a:ext>
            </a:extLst>
          </p:cNvPr>
          <p:cNvSpPr>
            <a:spLocks noGrp="1"/>
          </p:cNvSpPr>
          <p:nvPr/>
        </p:nvSpPr>
        <p:spPr>
          <a:xfrm>
            <a:off x="571500" y="6505575"/>
            <a:ext cx="5334000" cy="171450"/>
          </a:xfrm>
          <a:prstGeom prst="rect">
            <a:avLst/>
          </a:prstGeom>
          <a:noFill/>
          <a:ln w="0">
            <a:noFill/>
            <a:prstDash val="solid"/>
          </a:ln>
        </p:spPr>
        <p:txBody>
          <a:bodyPr wrap="none" lIns="28575" tIns="19050" rIns="28575" bIns="19050" anchor="ctr">
            <a:noAutofit/>
          </a:bodyPr>
          <a:lstStyle/>
          <a:p>
            <a:pPr algn="l">
              <a:lnSpc>
                <a:spcPct val="100000"/>
              </a:lnSpc>
              <a:buNone/>
              <a:defRPr sz="713" b="0" i="0">
                <a:solidFill>
                  <a:srgbClr val="777777"/>
                </a:solidFill>
                <a:latin typeface="Yu Gothic"/>
                <a:ea typeface="Yu Gothic"/>
                <a:cs typeface="Yu Gothic"/>
              </a:defRPr>
            </a:pPr>
            <a:r>
              <a:rPr sz="713" b="0" i="0">
                <a:solidFill>
                  <a:srgbClr val="777777"/>
                </a:solidFill>
                <a:latin typeface="Yu Gothic"/>
                <a:ea typeface="Yu Gothic"/>
                <a:cs typeface="Yu Gothic"/>
              </a:rPr>
              <a:t>THERMAL RC / EQUIPMENT ENGINEERING REVIEW  ·  2026-09-17</a:t>
            </a:r>
          </a:p>
        </p:txBody>
      </p:sp>
      <p:sp>
        <p:nvSpPr>
          <p:cNvPr id="8" name="正方形/長方形 7">
            <a:extLst>
              <a:ext uri="{FF2B5EF4-FFF2-40B4-BE49-F238E27FC236}">
                <a16:creationId xmlns:a16="http://schemas.microsoft.com/office/drawing/2014/main" id="{3BDBD164-177B-4345-8AE5-E2ABF5FD7EC6}"/>
              </a:ext>
            </a:extLst>
          </p:cNvPr>
          <p:cNvSpPr>
            <a:spLocks noGrp="1"/>
          </p:cNvSpPr>
          <p:nvPr/>
        </p:nvSpPr>
        <p:spPr>
          <a:xfrm>
            <a:off x="11125200" y="6496050"/>
            <a:ext cx="476250" cy="171450"/>
          </a:xfrm>
          <a:prstGeom prst="rect">
            <a:avLst/>
          </a:prstGeom>
          <a:noFill/>
          <a:ln w="0">
            <a:noFill/>
            <a:prstDash val="solid"/>
          </a:ln>
        </p:spPr>
        <p:txBody>
          <a:bodyPr wrap="square" lIns="28575" tIns="19050" rIns="28575" bIns="19050" anchor="ctr">
            <a:noAutofit/>
          </a:bodyPr>
          <a:lstStyle/>
          <a:p>
            <a:pPr algn="r">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9</a:t>
            </a:r>
          </a:p>
        </p:txBody>
      </p:sp>
      <p:sp>
        <p:nvSpPr>
          <p:cNvPr id="9" name="正方形/長方形 8">
            <a:extLst>
              <a:ext uri="{FF2B5EF4-FFF2-40B4-BE49-F238E27FC236}">
                <a16:creationId xmlns:a16="http://schemas.microsoft.com/office/drawing/2014/main" id="{3F593764-606A-4542-88CC-3C4DA200BE8C}"/>
              </a:ext>
            </a:extLst>
          </p:cNvPr>
          <p:cNvSpPr>
            <a:spLocks noGrp="1"/>
          </p:cNvSpPr>
          <p:nvPr/>
        </p:nvSpPr>
        <p:spPr>
          <a:xfrm>
            <a:off x="552450" y="1381125"/>
            <a:ext cx="6477000" cy="266700"/>
          </a:xfrm>
          <a:prstGeom prst="rect">
            <a:avLst/>
          </a:prstGeom>
          <a:noFill/>
          <a:ln w="0">
            <a:noFill/>
            <a:prstDash val="solid"/>
          </a:ln>
        </p:spPr>
        <p:txBody>
          <a:bodyPr wrap="square" lIns="28575" tIns="19050" rIns="28575" bIns="19050" anchor="ctr">
            <a:normAutofit/>
          </a:bodyPr>
          <a:lstStyle/>
          <a:p>
            <a:pPr algn="l">
              <a:lnSpc>
                <a:spcPct val="100000"/>
              </a:lnSpc>
              <a:buNone/>
              <a:defRPr sz="1350" b="1" i="0">
                <a:solidFill>
                  <a:srgbClr val="3F3F3F"/>
                </a:solidFill>
                <a:latin typeface="Yu Gothic"/>
                <a:ea typeface="Yu Gothic"/>
                <a:cs typeface="Yu Gothic"/>
              </a:defRPr>
            </a:pPr>
            <a:r>
              <a:rPr sz="1350" b="1" i="0">
                <a:solidFill>
                  <a:srgbClr val="3F3F3F"/>
                </a:solidFill>
                <a:latin typeface="Yu Gothic"/>
                <a:ea typeface="Yu Gothic"/>
                <a:cs typeface="Yu Gothic"/>
              </a:rPr>
              <a:t>伝熱回路</a:t>
            </a:r>
          </a:p>
        </p:txBody>
      </p:sp>
      <p:sp>
        <p:nvSpPr>
          <p:cNvPr id="10" name="四角形: 角を丸くする 9">
            <a:extLst>
              <a:ext uri="{FF2B5EF4-FFF2-40B4-BE49-F238E27FC236}">
                <a16:creationId xmlns:a16="http://schemas.microsoft.com/office/drawing/2014/main" id="{EB9108B7-CF4E-437F-B9A6-EE95771E1957}"/>
              </a:ext>
            </a:extLst>
          </p:cNvPr>
          <p:cNvSpPr>
            <a:spLocks noGrp="1"/>
          </p:cNvSpPr>
          <p:nvPr/>
        </p:nvSpPr>
        <p:spPr>
          <a:xfrm>
            <a:off x="552450" y="2600325"/>
            <a:ext cx="1009650" cy="533400"/>
          </a:xfrm>
          <a:prstGeom prst="roundRect">
            <a:avLst>
              <a:gd name="adj" fmla="val 50000"/>
            </a:avLst>
          </a:prstGeom>
          <a:solidFill>
            <a:srgbClr val="FFF5D7"/>
          </a:solidFill>
          <a:ln w="19050">
            <a:solidFill>
              <a:srgbClr val="E5A900"/>
            </a:solidFill>
            <a:prstDash val="solid"/>
          </a:ln>
        </p:spPr>
      </p:sp>
      <p:sp>
        <p:nvSpPr>
          <p:cNvPr id="11" name="正方形/長方形 10">
            <a:extLst>
              <a:ext uri="{FF2B5EF4-FFF2-40B4-BE49-F238E27FC236}">
                <a16:creationId xmlns:a16="http://schemas.microsoft.com/office/drawing/2014/main" id="{CB4D65BA-BC83-463F-9070-05463CD1E885}"/>
              </a:ext>
            </a:extLst>
          </p:cNvPr>
          <p:cNvSpPr>
            <a:spLocks noGrp="1"/>
          </p:cNvSpPr>
          <p:nvPr/>
        </p:nvSpPr>
        <p:spPr>
          <a:xfrm>
            <a:off x="647700" y="2686050"/>
            <a:ext cx="819150" cy="342900"/>
          </a:xfrm>
          <a:prstGeom prst="rect">
            <a:avLst/>
          </a:prstGeom>
          <a:noFill/>
          <a:ln w="0">
            <a:noFill/>
            <a:prstDash val="solid"/>
          </a:ln>
        </p:spPr>
        <p:txBody>
          <a:bodyPr wrap="square" lIns="28575" tIns="19050" rIns="28575" bIns="19050" anchor="ctr">
            <a:normAutofit/>
          </a:bodyPr>
          <a:lstStyle/>
          <a:p>
            <a:pPr algn="ctr">
              <a:lnSpc>
                <a:spcPct val="100000"/>
              </a:lnSpc>
              <a:buNone/>
              <a:defRPr sz="1275" b="1" i="0">
                <a:solidFill>
                  <a:srgbClr val="806000"/>
                </a:solidFill>
                <a:latin typeface="Cambria Math"/>
                <a:ea typeface="Cambria Math"/>
                <a:cs typeface="Cambria Math"/>
              </a:defRPr>
            </a:pPr>
            <a:r>
              <a:rPr sz="1275" b="1" i="0">
                <a:solidFill>
                  <a:srgbClr val="806000"/>
                </a:solidFill>
                <a:latin typeface="Cambria Math"/>
                <a:ea typeface="Cambria Math"/>
                <a:cs typeface="Cambria Math"/>
              </a:rPr>
              <a:t>Pchip(t)</a:t>
            </a:r>
          </a:p>
        </p:txBody>
      </p:sp>
      <p:sp>
        <p:nvSpPr>
          <p:cNvPr id="12" name="正方形/長方形 11">
            <a:extLst>
              <a:ext uri="{FF2B5EF4-FFF2-40B4-BE49-F238E27FC236}">
                <a16:creationId xmlns:a16="http://schemas.microsoft.com/office/drawing/2014/main" id="{07B0F277-0E1F-44E9-967B-ECBC0435C2EC}"/>
              </a:ext>
            </a:extLst>
          </p:cNvPr>
          <p:cNvSpPr>
            <a:spLocks noGrp="1"/>
          </p:cNvSpPr>
          <p:nvPr/>
        </p:nvSpPr>
        <p:spPr>
          <a:xfrm>
            <a:off x="1952625" y="2076450"/>
            <a:ext cx="1543050" cy="1581150"/>
          </a:xfrm>
          <a:prstGeom prst="rect">
            <a:avLst/>
          </a:prstGeom>
          <a:solidFill>
            <a:srgbClr val="EFE5F6"/>
          </a:solidFill>
          <a:ln w="19050">
            <a:solidFill>
              <a:srgbClr val="7B2DAF"/>
            </a:solidFill>
            <a:prstDash val="solid"/>
          </a:ln>
        </p:spPr>
      </p:sp>
      <p:sp>
        <p:nvSpPr>
          <p:cNvPr id="13" name="正方形/長方形 12">
            <a:extLst>
              <a:ext uri="{FF2B5EF4-FFF2-40B4-BE49-F238E27FC236}">
                <a16:creationId xmlns:a16="http://schemas.microsoft.com/office/drawing/2014/main" id="{0B9B1B7A-C2A6-4010-8BEA-55017CFA795D}"/>
              </a:ext>
            </a:extLst>
          </p:cNvPr>
          <p:cNvSpPr>
            <a:spLocks noGrp="1"/>
          </p:cNvSpPr>
          <p:nvPr/>
        </p:nvSpPr>
        <p:spPr>
          <a:xfrm>
            <a:off x="2133600" y="2257425"/>
            <a:ext cx="1181100" cy="266700"/>
          </a:xfrm>
          <a:prstGeom prst="rect">
            <a:avLst/>
          </a:prstGeom>
          <a:noFill/>
          <a:ln w="0">
            <a:noFill/>
            <a:prstDash val="solid"/>
          </a:ln>
        </p:spPr>
        <p:txBody>
          <a:bodyPr wrap="square" lIns="28575" tIns="19050" rIns="28575" bIns="19050" anchor="ctr">
            <a:normAutofit/>
          </a:bodyPr>
          <a:lstStyle/>
          <a:p>
            <a:pPr algn="ctr">
              <a:lnSpc>
                <a:spcPct val="100000"/>
              </a:lnSpc>
              <a:buNone/>
              <a:defRPr sz="1500" b="1" i="0">
                <a:solidFill>
                  <a:srgbClr val="7B2DAF"/>
                </a:solidFill>
                <a:latin typeface="Yu Gothic"/>
                <a:ea typeface="Yu Gothic"/>
                <a:cs typeface="Yu Gothic"/>
              </a:defRPr>
            </a:pPr>
            <a:r>
              <a:rPr sz="1500" b="1" i="0">
                <a:solidFill>
                  <a:srgbClr val="7B2DAF"/>
                </a:solidFill>
                <a:latin typeface="Yu Gothic"/>
                <a:ea typeface="Yu Gothic"/>
                <a:cs typeface="Yu Gothic"/>
              </a:rPr>
              <a:t>chip</a:t>
            </a:r>
          </a:p>
        </p:txBody>
      </p:sp>
      <p:sp>
        <p:nvSpPr>
          <p:cNvPr id="14" name="正方形/長方形 13">
            <a:extLst>
              <a:ext uri="{FF2B5EF4-FFF2-40B4-BE49-F238E27FC236}">
                <a16:creationId xmlns:a16="http://schemas.microsoft.com/office/drawing/2014/main" id="{778582C8-B589-40E2-B823-B534D0AE0621}"/>
              </a:ext>
            </a:extLst>
          </p:cNvPr>
          <p:cNvSpPr>
            <a:spLocks noGrp="1"/>
          </p:cNvSpPr>
          <p:nvPr/>
        </p:nvSpPr>
        <p:spPr>
          <a:xfrm>
            <a:off x="2133600" y="2628900"/>
            <a:ext cx="1181100" cy="361950"/>
          </a:xfrm>
          <a:prstGeom prst="rect">
            <a:avLst/>
          </a:prstGeom>
          <a:noFill/>
          <a:ln w="0">
            <a:noFill/>
            <a:prstDash val="solid"/>
          </a:ln>
        </p:spPr>
        <p:txBody>
          <a:bodyPr wrap="square" lIns="28575" tIns="19050" rIns="28575" bIns="19050" anchor="ctr">
            <a:normAutofit fontScale="97701"/>
          </a:bodyPr>
          <a:lstStyle/>
          <a:p>
            <a:pPr algn="ctr">
              <a:lnSpc>
                <a:spcPct val="100000"/>
              </a:lnSpc>
              <a:buNone/>
              <a:defRPr sz="2175" b="1" i="0">
                <a:solidFill>
                  <a:srgbClr val="3F3F3F"/>
                </a:solidFill>
                <a:latin typeface="Cambria Math"/>
                <a:ea typeface="Cambria Math"/>
                <a:cs typeface="Cambria Math"/>
              </a:defRPr>
            </a:pPr>
            <a:r>
              <a:rPr sz="2175" b="1" i="0">
                <a:solidFill>
                  <a:srgbClr val="3F3F3F"/>
                </a:solidFill>
                <a:latin typeface="Cambria Math"/>
                <a:ea typeface="Cambria Math"/>
                <a:cs typeface="Cambria Math"/>
              </a:rPr>
              <a:t>T₁</a:t>
            </a:r>
          </a:p>
        </p:txBody>
      </p:sp>
      <p:sp>
        <p:nvSpPr>
          <p:cNvPr id="15" name="正方形/長方形 14">
            <a:extLst>
              <a:ext uri="{FF2B5EF4-FFF2-40B4-BE49-F238E27FC236}">
                <a16:creationId xmlns:a16="http://schemas.microsoft.com/office/drawing/2014/main" id="{02A75CC4-22C6-400E-B230-2F99976DAFDD}"/>
              </a:ext>
            </a:extLst>
          </p:cNvPr>
          <p:cNvSpPr>
            <a:spLocks noGrp="1"/>
          </p:cNvSpPr>
          <p:nvPr/>
        </p:nvSpPr>
        <p:spPr>
          <a:xfrm>
            <a:off x="2047875" y="3143250"/>
            <a:ext cx="1352550" cy="276225"/>
          </a:xfrm>
          <a:prstGeom prst="rect">
            <a:avLst/>
          </a:prstGeom>
          <a:noFill/>
          <a:ln w="0">
            <a:noFill/>
            <a:prstDash val="solid"/>
          </a:ln>
        </p:spPr>
        <p:txBody>
          <a:bodyPr wrap="square" lIns="28575" tIns="19050" rIns="28575" bIns="19050" anchor="ctr">
            <a:normAutofit/>
          </a:bodyPr>
          <a:lstStyle/>
          <a:p>
            <a:pPr algn="ctr">
              <a:lnSpc>
                <a:spcPct val="100000"/>
              </a:lnSpc>
              <a:buNone/>
              <a:defRPr sz="900" b="0" i="0">
                <a:solidFill>
                  <a:srgbClr val="5B5B5B"/>
                </a:solidFill>
                <a:latin typeface="Yu Gothic"/>
                <a:ea typeface="Yu Gothic"/>
                <a:cs typeface="Yu Gothic"/>
              </a:defRPr>
            </a:pPr>
            <a:r>
              <a:rPr sz="900" b="0" i="0">
                <a:solidFill>
                  <a:srgbClr val="5B5B5B"/>
                </a:solidFill>
                <a:latin typeface="Yu Gothic"/>
                <a:ea typeface="Yu Gothic"/>
                <a:cs typeface="Yu Gothic"/>
              </a:rPr>
              <a:t>C₁ = 10.43392 J/K</a:t>
            </a:r>
          </a:p>
        </p:txBody>
      </p:sp>
      <p:sp>
        <p:nvSpPr>
          <p:cNvPr id="16" name="正方形/長方形 15">
            <a:extLst>
              <a:ext uri="{FF2B5EF4-FFF2-40B4-BE49-F238E27FC236}">
                <a16:creationId xmlns:a16="http://schemas.microsoft.com/office/drawing/2014/main" id="{12942B4C-5F0E-40FA-85EF-9E8D908B567E}"/>
              </a:ext>
            </a:extLst>
          </p:cNvPr>
          <p:cNvSpPr>
            <a:spLocks noGrp="1"/>
          </p:cNvSpPr>
          <p:nvPr/>
        </p:nvSpPr>
        <p:spPr>
          <a:xfrm>
            <a:off x="3752850" y="2600325"/>
            <a:ext cx="1066800" cy="533400"/>
          </a:xfrm>
          <a:prstGeom prst="rect">
            <a:avLst/>
          </a:prstGeom>
          <a:solidFill>
            <a:srgbClr val="FFFFFF"/>
          </a:solidFill>
          <a:ln w="19050">
            <a:solidFill>
              <a:srgbClr val="00A5D8"/>
            </a:solidFill>
            <a:prstDash val="solid"/>
          </a:ln>
        </p:spPr>
      </p:sp>
      <p:sp>
        <p:nvSpPr>
          <p:cNvPr id="17" name="正方形/長方形 16">
            <a:extLst>
              <a:ext uri="{FF2B5EF4-FFF2-40B4-BE49-F238E27FC236}">
                <a16:creationId xmlns:a16="http://schemas.microsoft.com/office/drawing/2014/main" id="{50B98914-5BBE-484D-A2A3-3498CD4F397B}"/>
              </a:ext>
            </a:extLst>
          </p:cNvPr>
          <p:cNvSpPr>
            <a:spLocks noGrp="1"/>
          </p:cNvSpPr>
          <p:nvPr/>
        </p:nvSpPr>
        <p:spPr>
          <a:xfrm>
            <a:off x="3810000" y="2667000"/>
            <a:ext cx="952500" cy="190500"/>
          </a:xfrm>
          <a:prstGeom prst="rect">
            <a:avLst/>
          </a:prstGeom>
          <a:noFill/>
          <a:ln w="0">
            <a:noFill/>
            <a:prstDash val="solid"/>
          </a:ln>
        </p:spPr>
        <p:txBody>
          <a:bodyPr wrap="square" lIns="28575" tIns="19050" rIns="28575" bIns="19050" anchor="ctr">
            <a:normAutofit fontScale="95238"/>
          </a:bodyPr>
          <a:lstStyle/>
          <a:p>
            <a:pPr algn="ctr">
              <a:lnSpc>
                <a:spcPct val="100000"/>
              </a:lnSpc>
              <a:buNone/>
              <a:defRPr sz="1050" b="1" i="0">
                <a:solidFill>
                  <a:srgbClr val="007FA8"/>
                </a:solidFill>
                <a:latin typeface="Cambria Math"/>
                <a:ea typeface="Cambria Math"/>
                <a:cs typeface="Cambria Math"/>
              </a:defRPr>
            </a:pPr>
            <a:r>
              <a:rPr sz="1050" b="1" i="0">
                <a:solidFill>
                  <a:srgbClr val="007FA8"/>
                </a:solidFill>
                <a:latin typeface="Cambria Math"/>
                <a:ea typeface="Cambria Math"/>
                <a:cs typeface="Cambria Math"/>
              </a:rPr>
              <a:t>G₁ = 38.220</a:t>
            </a:r>
          </a:p>
        </p:txBody>
      </p:sp>
      <p:sp>
        <p:nvSpPr>
          <p:cNvPr id="18" name="正方形/長方形 17">
            <a:extLst>
              <a:ext uri="{FF2B5EF4-FFF2-40B4-BE49-F238E27FC236}">
                <a16:creationId xmlns:a16="http://schemas.microsoft.com/office/drawing/2014/main" id="{4722A38A-C68B-42E8-9B8D-8E897B85FE9E}"/>
              </a:ext>
            </a:extLst>
          </p:cNvPr>
          <p:cNvSpPr>
            <a:spLocks noGrp="1"/>
          </p:cNvSpPr>
          <p:nvPr/>
        </p:nvSpPr>
        <p:spPr>
          <a:xfrm>
            <a:off x="3810000" y="2876550"/>
            <a:ext cx="952500" cy="171450"/>
          </a:xfrm>
          <a:prstGeom prst="rect">
            <a:avLst/>
          </a:prstGeom>
          <a:noFill/>
          <a:ln w="0">
            <a:noFill/>
            <a:prstDash val="solid"/>
          </a:ln>
        </p:spPr>
        <p:txBody>
          <a:bodyPr wrap="square" lIns="28575" tIns="19050" rIns="28575" bIns="19050" anchor="ctr">
            <a:normAutofit/>
          </a:bodyPr>
          <a:lstStyle/>
          <a:p>
            <a:pPr algn="ctr">
              <a:lnSpc>
                <a:spcPct val="100000"/>
              </a:lnSpc>
              <a:buNone/>
              <a:defRPr sz="750" b="0" i="0">
                <a:solidFill>
                  <a:srgbClr val="777777"/>
                </a:solidFill>
                <a:latin typeface="Yu Gothic"/>
                <a:ea typeface="Yu Gothic"/>
                <a:cs typeface="Yu Gothic"/>
              </a:defRPr>
            </a:pPr>
            <a:r>
              <a:rPr sz="750" b="0" i="0">
                <a:solidFill>
                  <a:srgbClr val="777777"/>
                </a:solidFill>
                <a:latin typeface="Yu Gothic"/>
                <a:ea typeface="Yu Gothic"/>
                <a:cs typeface="Yu Gothic"/>
              </a:rPr>
              <a:t>W/K</a:t>
            </a:r>
          </a:p>
        </p:txBody>
      </p:sp>
      <p:sp>
        <p:nvSpPr>
          <p:cNvPr id="19" name="正方形/長方形 18">
            <a:extLst>
              <a:ext uri="{FF2B5EF4-FFF2-40B4-BE49-F238E27FC236}">
                <a16:creationId xmlns:a16="http://schemas.microsoft.com/office/drawing/2014/main" id="{A0ED7D22-FC21-44C7-B609-582187E03D50}"/>
              </a:ext>
            </a:extLst>
          </p:cNvPr>
          <p:cNvSpPr>
            <a:spLocks noGrp="1"/>
          </p:cNvSpPr>
          <p:nvPr/>
        </p:nvSpPr>
        <p:spPr>
          <a:xfrm>
            <a:off x="5086350" y="2076450"/>
            <a:ext cx="1543050" cy="1581150"/>
          </a:xfrm>
          <a:prstGeom prst="rect">
            <a:avLst/>
          </a:prstGeom>
          <a:solidFill>
            <a:srgbClr val="E5F6FB"/>
          </a:solidFill>
          <a:ln w="19050">
            <a:solidFill>
              <a:srgbClr val="00A5D8"/>
            </a:solidFill>
            <a:prstDash val="solid"/>
          </a:ln>
        </p:spPr>
      </p:sp>
      <p:sp>
        <p:nvSpPr>
          <p:cNvPr id="20" name="正方形/長方形 19">
            <a:extLst>
              <a:ext uri="{FF2B5EF4-FFF2-40B4-BE49-F238E27FC236}">
                <a16:creationId xmlns:a16="http://schemas.microsoft.com/office/drawing/2014/main" id="{A6056E6A-7FCB-475A-9E02-AA5001187F0F}"/>
              </a:ext>
            </a:extLst>
          </p:cNvPr>
          <p:cNvSpPr>
            <a:spLocks noGrp="1"/>
          </p:cNvSpPr>
          <p:nvPr/>
        </p:nvSpPr>
        <p:spPr>
          <a:xfrm>
            <a:off x="5267325" y="2257425"/>
            <a:ext cx="1181100" cy="266700"/>
          </a:xfrm>
          <a:prstGeom prst="rect">
            <a:avLst/>
          </a:prstGeom>
          <a:noFill/>
          <a:ln w="0">
            <a:noFill/>
            <a:prstDash val="solid"/>
          </a:ln>
        </p:spPr>
        <p:txBody>
          <a:bodyPr wrap="square" lIns="28575" tIns="19050" rIns="28575" bIns="19050" anchor="ctr">
            <a:normAutofit/>
          </a:bodyPr>
          <a:lstStyle/>
          <a:p>
            <a:pPr algn="ctr">
              <a:lnSpc>
                <a:spcPct val="100000"/>
              </a:lnSpc>
              <a:buNone/>
              <a:defRPr sz="1350" b="1" i="0">
                <a:solidFill>
                  <a:srgbClr val="007FA8"/>
                </a:solidFill>
                <a:latin typeface="Yu Gothic"/>
                <a:ea typeface="Yu Gothic"/>
                <a:cs typeface="Yu Gothic"/>
              </a:defRPr>
            </a:pPr>
            <a:r>
              <a:rPr sz="1350" b="1" i="0">
                <a:solidFill>
                  <a:srgbClr val="007FA8"/>
                </a:solidFill>
                <a:latin typeface="Yu Gothic"/>
                <a:ea typeface="Yu Gothic"/>
                <a:cs typeface="Yu Gothic"/>
              </a:rPr>
              <a:t>sink base</a:t>
            </a:r>
          </a:p>
        </p:txBody>
      </p:sp>
      <p:sp>
        <p:nvSpPr>
          <p:cNvPr id="21" name="正方形/長方形 20">
            <a:extLst>
              <a:ext uri="{FF2B5EF4-FFF2-40B4-BE49-F238E27FC236}">
                <a16:creationId xmlns:a16="http://schemas.microsoft.com/office/drawing/2014/main" id="{B8CD0DB1-4932-4CAB-9C89-00F1E225F214}"/>
              </a:ext>
            </a:extLst>
          </p:cNvPr>
          <p:cNvSpPr>
            <a:spLocks noGrp="1"/>
          </p:cNvSpPr>
          <p:nvPr/>
        </p:nvSpPr>
        <p:spPr>
          <a:xfrm>
            <a:off x="5267325" y="2628900"/>
            <a:ext cx="1181100" cy="361950"/>
          </a:xfrm>
          <a:prstGeom prst="rect">
            <a:avLst/>
          </a:prstGeom>
          <a:noFill/>
          <a:ln w="0">
            <a:noFill/>
            <a:prstDash val="solid"/>
          </a:ln>
        </p:spPr>
        <p:txBody>
          <a:bodyPr wrap="square" lIns="28575" tIns="19050" rIns="28575" bIns="19050" anchor="ctr">
            <a:normAutofit fontScale="97701"/>
          </a:bodyPr>
          <a:lstStyle/>
          <a:p>
            <a:pPr algn="ctr">
              <a:lnSpc>
                <a:spcPct val="100000"/>
              </a:lnSpc>
              <a:buNone/>
              <a:defRPr sz="2175" b="1" i="0">
                <a:solidFill>
                  <a:srgbClr val="3F3F3F"/>
                </a:solidFill>
                <a:latin typeface="Cambria Math"/>
                <a:ea typeface="Cambria Math"/>
                <a:cs typeface="Cambria Math"/>
              </a:defRPr>
            </a:pPr>
            <a:r>
              <a:rPr sz="2175" b="1" i="0">
                <a:solidFill>
                  <a:srgbClr val="3F3F3F"/>
                </a:solidFill>
                <a:latin typeface="Cambria Math"/>
                <a:ea typeface="Cambria Math"/>
                <a:cs typeface="Cambria Math"/>
              </a:rPr>
              <a:t>T₂</a:t>
            </a:r>
          </a:p>
        </p:txBody>
      </p:sp>
      <p:sp>
        <p:nvSpPr>
          <p:cNvPr id="22" name="正方形/長方形 21">
            <a:extLst>
              <a:ext uri="{FF2B5EF4-FFF2-40B4-BE49-F238E27FC236}">
                <a16:creationId xmlns:a16="http://schemas.microsoft.com/office/drawing/2014/main" id="{C3B8E389-3EF3-4A76-9600-610782B23317}"/>
              </a:ext>
            </a:extLst>
          </p:cNvPr>
          <p:cNvSpPr>
            <a:spLocks noGrp="1"/>
          </p:cNvSpPr>
          <p:nvPr/>
        </p:nvSpPr>
        <p:spPr>
          <a:xfrm>
            <a:off x="5181600" y="3143250"/>
            <a:ext cx="1352550" cy="276225"/>
          </a:xfrm>
          <a:prstGeom prst="rect">
            <a:avLst/>
          </a:prstGeom>
          <a:noFill/>
          <a:ln w="0">
            <a:noFill/>
            <a:prstDash val="solid"/>
          </a:ln>
        </p:spPr>
        <p:txBody>
          <a:bodyPr wrap="square" lIns="28575" tIns="19050" rIns="28575" bIns="19050" anchor="ctr">
            <a:normAutofit/>
          </a:bodyPr>
          <a:lstStyle/>
          <a:p>
            <a:pPr algn="ctr">
              <a:lnSpc>
                <a:spcPct val="100000"/>
              </a:lnSpc>
              <a:buNone/>
              <a:defRPr sz="900" b="0" i="0">
                <a:solidFill>
                  <a:srgbClr val="5B5B5B"/>
                </a:solidFill>
                <a:latin typeface="Yu Gothic"/>
                <a:ea typeface="Yu Gothic"/>
                <a:cs typeface="Yu Gothic"/>
              </a:defRPr>
            </a:pPr>
            <a:r>
              <a:rPr sz="900" b="0" i="0">
                <a:solidFill>
                  <a:srgbClr val="5B5B5B"/>
                </a:solidFill>
                <a:latin typeface="Yu Gothic"/>
                <a:ea typeface="Yu Gothic"/>
                <a:cs typeface="Yu Gothic"/>
              </a:rPr>
              <a:t>C₂ = 24.3 J/K</a:t>
            </a:r>
          </a:p>
        </p:txBody>
      </p:sp>
      <p:sp>
        <p:nvSpPr>
          <p:cNvPr id="23" name="正方形/長方形 22">
            <a:extLst>
              <a:ext uri="{FF2B5EF4-FFF2-40B4-BE49-F238E27FC236}">
                <a16:creationId xmlns:a16="http://schemas.microsoft.com/office/drawing/2014/main" id="{667F04B4-326A-4FE1-88EC-3AF4A7DDD418}"/>
              </a:ext>
            </a:extLst>
          </p:cNvPr>
          <p:cNvSpPr>
            <a:spLocks noGrp="1"/>
          </p:cNvSpPr>
          <p:nvPr/>
        </p:nvSpPr>
        <p:spPr>
          <a:xfrm>
            <a:off x="6886575" y="2600325"/>
            <a:ext cx="1066800" cy="533400"/>
          </a:xfrm>
          <a:prstGeom prst="rect">
            <a:avLst/>
          </a:prstGeom>
          <a:solidFill>
            <a:srgbClr val="FFFFFF"/>
          </a:solidFill>
          <a:ln w="19050">
            <a:solidFill>
              <a:srgbClr val="00A89D"/>
            </a:solidFill>
            <a:prstDash val="solid"/>
          </a:ln>
        </p:spPr>
      </p:sp>
      <p:sp>
        <p:nvSpPr>
          <p:cNvPr id="24" name="正方形/長方形 23">
            <a:extLst>
              <a:ext uri="{FF2B5EF4-FFF2-40B4-BE49-F238E27FC236}">
                <a16:creationId xmlns:a16="http://schemas.microsoft.com/office/drawing/2014/main" id="{FC0CD7B9-BDB6-46A8-90C3-DEC16EC1DFCA}"/>
              </a:ext>
            </a:extLst>
          </p:cNvPr>
          <p:cNvSpPr>
            <a:spLocks noGrp="1"/>
          </p:cNvSpPr>
          <p:nvPr/>
        </p:nvSpPr>
        <p:spPr>
          <a:xfrm>
            <a:off x="6943725" y="2667000"/>
            <a:ext cx="952500" cy="190500"/>
          </a:xfrm>
          <a:prstGeom prst="rect">
            <a:avLst/>
          </a:prstGeom>
          <a:noFill/>
          <a:ln w="0">
            <a:noFill/>
            <a:prstDash val="solid"/>
          </a:ln>
        </p:spPr>
        <p:txBody>
          <a:bodyPr wrap="square" lIns="28575" tIns="19050" rIns="28575" bIns="19050" anchor="ctr">
            <a:normAutofit fontScale="95238"/>
          </a:bodyPr>
          <a:lstStyle/>
          <a:p>
            <a:pPr algn="ctr">
              <a:lnSpc>
                <a:spcPct val="100000"/>
              </a:lnSpc>
              <a:buNone/>
              <a:defRPr sz="1050" b="1" i="0">
                <a:solidFill>
                  <a:srgbClr val="00A89D"/>
                </a:solidFill>
                <a:latin typeface="Cambria Math"/>
                <a:ea typeface="Cambria Math"/>
                <a:cs typeface="Cambria Math"/>
              </a:defRPr>
            </a:pPr>
            <a:r>
              <a:rPr sz="1050" b="1" i="0">
                <a:solidFill>
                  <a:srgbClr val="00A89D"/>
                </a:solidFill>
                <a:latin typeface="Cambria Math"/>
                <a:ea typeface="Cambria Math"/>
                <a:cs typeface="Cambria Math"/>
              </a:rPr>
              <a:t>G₂ = 9.992</a:t>
            </a:r>
          </a:p>
        </p:txBody>
      </p:sp>
      <p:sp>
        <p:nvSpPr>
          <p:cNvPr id="25" name="正方形/長方形 24">
            <a:extLst>
              <a:ext uri="{FF2B5EF4-FFF2-40B4-BE49-F238E27FC236}">
                <a16:creationId xmlns:a16="http://schemas.microsoft.com/office/drawing/2014/main" id="{BF17F5A5-A9A7-40D9-8F6A-6F5D1E37C643}"/>
              </a:ext>
            </a:extLst>
          </p:cNvPr>
          <p:cNvSpPr>
            <a:spLocks noGrp="1"/>
          </p:cNvSpPr>
          <p:nvPr/>
        </p:nvSpPr>
        <p:spPr>
          <a:xfrm>
            <a:off x="6943725" y="2876550"/>
            <a:ext cx="952500" cy="171450"/>
          </a:xfrm>
          <a:prstGeom prst="rect">
            <a:avLst/>
          </a:prstGeom>
          <a:noFill/>
          <a:ln w="0">
            <a:noFill/>
            <a:prstDash val="solid"/>
          </a:ln>
        </p:spPr>
        <p:txBody>
          <a:bodyPr wrap="square" lIns="28575" tIns="19050" rIns="28575" bIns="19050" anchor="ctr">
            <a:normAutofit/>
          </a:bodyPr>
          <a:lstStyle/>
          <a:p>
            <a:pPr algn="ctr">
              <a:lnSpc>
                <a:spcPct val="100000"/>
              </a:lnSpc>
              <a:buNone/>
              <a:defRPr sz="750" b="0" i="0">
                <a:solidFill>
                  <a:srgbClr val="777777"/>
                </a:solidFill>
                <a:latin typeface="Yu Gothic"/>
                <a:ea typeface="Yu Gothic"/>
                <a:cs typeface="Yu Gothic"/>
              </a:defRPr>
            </a:pPr>
            <a:r>
              <a:rPr sz="750" b="0" i="0">
                <a:solidFill>
                  <a:srgbClr val="777777"/>
                </a:solidFill>
                <a:latin typeface="Yu Gothic"/>
                <a:ea typeface="Yu Gothic"/>
                <a:cs typeface="Yu Gothic"/>
              </a:rPr>
              <a:t>W/K</a:t>
            </a:r>
          </a:p>
        </p:txBody>
      </p:sp>
      <p:sp>
        <p:nvSpPr>
          <p:cNvPr id="26" name="正方形/長方形 25">
            <a:extLst>
              <a:ext uri="{FF2B5EF4-FFF2-40B4-BE49-F238E27FC236}">
                <a16:creationId xmlns:a16="http://schemas.microsoft.com/office/drawing/2014/main" id="{52F789A7-74D6-4DDD-A0AE-E0EAF17DA79E}"/>
              </a:ext>
            </a:extLst>
          </p:cNvPr>
          <p:cNvSpPr>
            <a:spLocks noGrp="1"/>
          </p:cNvSpPr>
          <p:nvPr/>
        </p:nvSpPr>
        <p:spPr>
          <a:xfrm>
            <a:off x="8220075" y="2076450"/>
            <a:ext cx="1543050" cy="1581150"/>
          </a:xfrm>
          <a:prstGeom prst="rect">
            <a:avLst/>
          </a:prstGeom>
          <a:solidFill>
            <a:srgbClr val="EEF7DF"/>
          </a:solidFill>
          <a:ln w="19050">
            <a:solidFill>
              <a:srgbClr val="76BE18"/>
            </a:solidFill>
            <a:prstDash val="solid"/>
          </a:ln>
        </p:spPr>
      </p:sp>
      <p:sp>
        <p:nvSpPr>
          <p:cNvPr id="27" name="正方形/長方形 26">
            <a:extLst>
              <a:ext uri="{FF2B5EF4-FFF2-40B4-BE49-F238E27FC236}">
                <a16:creationId xmlns:a16="http://schemas.microsoft.com/office/drawing/2014/main" id="{CCEDC3A7-02A0-49FB-A0FB-369D6036ABD1}"/>
              </a:ext>
            </a:extLst>
          </p:cNvPr>
          <p:cNvSpPr>
            <a:spLocks noGrp="1"/>
          </p:cNvSpPr>
          <p:nvPr/>
        </p:nvSpPr>
        <p:spPr>
          <a:xfrm>
            <a:off x="8401050" y="2257425"/>
            <a:ext cx="1181100" cy="266700"/>
          </a:xfrm>
          <a:prstGeom prst="rect">
            <a:avLst/>
          </a:prstGeom>
          <a:noFill/>
          <a:ln w="0">
            <a:noFill/>
            <a:prstDash val="solid"/>
          </a:ln>
        </p:spPr>
        <p:txBody>
          <a:bodyPr wrap="square" lIns="28575" tIns="19050" rIns="28575" bIns="19050" anchor="ctr">
            <a:normAutofit/>
          </a:bodyPr>
          <a:lstStyle/>
          <a:p>
            <a:pPr algn="ctr">
              <a:lnSpc>
                <a:spcPct val="100000"/>
              </a:lnSpc>
              <a:buNone/>
              <a:defRPr sz="1500" b="1" i="0">
                <a:solidFill>
                  <a:srgbClr val="4D8710"/>
                </a:solidFill>
                <a:latin typeface="Yu Gothic"/>
                <a:ea typeface="Yu Gothic"/>
                <a:cs typeface="Yu Gothic"/>
              </a:defRPr>
            </a:pPr>
            <a:r>
              <a:rPr sz="1500" b="1" i="0">
                <a:solidFill>
                  <a:srgbClr val="4D8710"/>
                </a:solidFill>
                <a:latin typeface="Yu Gothic"/>
                <a:ea typeface="Yu Gothic"/>
                <a:cs typeface="Yu Gothic"/>
              </a:rPr>
              <a:t>fins</a:t>
            </a:r>
          </a:p>
        </p:txBody>
      </p:sp>
      <p:sp>
        <p:nvSpPr>
          <p:cNvPr id="28" name="正方形/長方形 27">
            <a:extLst>
              <a:ext uri="{FF2B5EF4-FFF2-40B4-BE49-F238E27FC236}">
                <a16:creationId xmlns:a16="http://schemas.microsoft.com/office/drawing/2014/main" id="{20B66D7A-E6D9-4D22-A2AE-5ECA9614DBFD}"/>
              </a:ext>
            </a:extLst>
          </p:cNvPr>
          <p:cNvSpPr>
            <a:spLocks noGrp="1"/>
          </p:cNvSpPr>
          <p:nvPr/>
        </p:nvSpPr>
        <p:spPr>
          <a:xfrm>
            <a:off x="8401050" y="2628900"/>
            <a:ext cx="1181100" cy="361950"/>
          </a:xfrm>
          <a:prstGeom prst="rect">
            <a:avLst/>
          </a:prstGeom>
          <a:noFill/>
          <a:ln w="0">
            <a:noFill/>
            <a:prstDash val="solid"/>
          </a:ln>
        </p:spPr>
        <p:txBody>
          <a:bodyPr wrap="square" lIns="28575" tIns="19050" rIns="28575" bIns="19050" anchor="ctr">
            <a:normAutofit fontScale="97701"/>
          </a:bodyPr>
          <a:lstStyle/>
          <a:p>
            <a:pPr algn="ctr">
              <a:lnSpc>
                <a:spcPct val="100000"/>
              </a:lnSpc>
              <a:buNone/>
              <a:defRPr sz="2175" b="1" i="0">
                <a:solidFill>
                  <a:srgbClr val="3F3F3F"/>
                </a:solidFill>
                <a:latin typeface="Cambria Math"/>
                <a:ea typeface="Cambria Math"/>
                <a:cs typeface="Cambria Math"/>
              </a:defRPr>
            </a:pPr>
            <a:r>
              <a:rPr sz="2175" b="1" i="0">
                <a:solidFill>
                  <a:srgbClr val="3F3F3F"/>
                </a:solidFill>
                <a:latin typeface="Cambria Math"/>
                <a:ea typeface="Cambria Math"/>
                <a:cs typeface="Cambria Math"/>
              </a:rPr>
              <a:t>T₃</a:t>
            </a:r>
          </a:p>
        </p:txBody>
      </p:sp>
      <p:sp>
        <p:nvSpPr>
          <p:cNvPr id="29" name="正方形/長方形 28">
            <a:extLst>
              <a:ext uri="{FF2B5EF4-FFF2-40B4-BE49-F238E27FC236}">
                <a16:creationId xmlns:a16="http://schemas.microsoft.com/office/drawing/2014/main" id="{DCBFDE57-4FDB-4BBC-AB24-B8981712E645}"/>
              </a:ext>
            </a:extLst>
          </p:cNvPr>
          <p:cNvSpPr>
            <a:spLocks noGrp="1"/>
          </p:cNvSpPr>
          <p:nvPr/>
        </p:nvSpPr>
        <p:spPr>
          <a:xfrm>
            <a:off x="8315325" y="3143250"/>
            <a:ext cx="1352550" cy="276225"/>
          </a:xfrm>
          <a:prstGeom prst="rect">
            <a:avLst/>
          </a:prstGeom>
          <a:noFill/>
          <a:ln w="0">
            <a:noFill/>
            <a:prstDash val="solid"/>
          </a:ln>
        </p:spPr>
        <p:txBody>
          <a:bodyPr wrap="square" lIns="28575" tIns="19050" rIns="28575" bIns="19050" anchor="ctr">
            <a:normAutofit/>
          </a:bodyPr>
          <a:lstStyle/>
          <a:p>
            <a:pPr algn="ctr">
              <a:lnSpc>
                <a:spcPct val="100000"/>
              </a:lnSpc>
              <a:buNone/>
              <a:defRPr sz="900" b="0" i="0">
                <a:solidFill>
                  <a:srgbClr val="5B5B5B"/>
                </a:solidFill>
                <a:latin typeface="Yu Gothic"/>
                <a:ea typeface="Yu Gothic"/>
                <a:cs typeface="Yu Gothic"/>
              </a:defRPr>
            </a:pPr>
            <a:r>
              <a:rPr sz="900" b="0" i="0">
                <a:solidFill>
                  <a:srgbClr val="5B5B5B"/>
                </a:solidFill>
                <a:latin typeface="Yu Gothic"/>
                <a:ea typeface="Yu Gothic"/>
                <a:cs typeface="Yu Gothic"/>
              </a:rPr>
              <a:t>C₃ = 46.17 J/K</a:t>
            </a:r>
          </a:p>
        </p:txBody>
      </p:sp>
      <p:sp>
        <p:nvSpPr>
          <p:cNvPr id="30" name="正方形/長方形 29">
            <a:extLst>
              <a:ext uri="{FF2B5EF4-FFF2-40B4-BE49-F238E27FC236}">
                <a16:creationId xmlns:a16="http://schemas.microsoft.com/office/drawing/2014/main" id="{05EF3E18-72B5-4CF4-85CD-06D00DE725FF}"/>
              </a:ext>
            </a:extLst>
          </p:cNvPr>
          <p:cNvSpPr>
            <a:spLocks noGrp="1"/>
          </p:cNvSpPr>
          <p:nvPr/>
        </p:nvSpPr>
        <p:spPr>
          <a:xfrm>
            <a:off x="9982200" y="3419475"/>
            <a:ext cx="952500" cy="476250"/>
          </a:xfrm>
          <a:prstGeom prst="rect">
            <a:avLst/>
          </a:prstGeom>
          <a:solidFill>
            <a:srgbClr val="FFFFFF"/>
          </a:solidFill>
          <a:ln w="19050">
            <a:solidFill>
              <a:srgbClr val="76BE18"/>
            </a:solidFill>
            <a:prstDash val="solid"/>
          </a:ln>
        </p:spPr>
      </p:sp>
      <p:sp>
        <p:nvSpPr>
          <p:cNvPr id="31" name="正方形/長方形 30">
            <a:extLst>
              <a:ext uri="{FF2B5EF4-FFF2-40B4-BE49-F238E27FC236}">
                <a16:creationId xmlns:a16="http://schemas.microsoft.com/office/drawing/2014/main" id="{4E35CA9C-D57B-4B21-9795-FB777134AC6B}"/>
              </a:ext>
            </a:extLst>
          </p:cNvPr>
          <p:cNvSpPr>
            <a:spLocks noGrp="1"/>
          </p:cNvSpPr>
          <p:nvPr/>
        </p:nvSpPr>
        <p:spPr>
          <a:xfrm>
            <a:off x="10029825" y="3476625"/>
            <a:ext cx="857250" cy="180975"/>
          </a:xfrm>
          <a:prstGeom prst="rect">
            <a:avLst/>
          </a:prstGeom>
          <a:noFill/>
          <a:ln w="0">
            <a:noFill/>
            <a:prstDash val="solid"/>
          </a:ln>
        </p:spPr>
        <p:txBody>
          <a:bodyPr wrap="square" lIns="28575" tIns="19050" rIns="28575" bIns="19050" anchor="ctr">
            <a:normAutofit fontScale="99947"/>
          </a:bodyPr>
          <a:lstStyle/>
          <a:p>
            <a:pPr algn="ctr">
              <a:lnSpc>
                <a:spcPct val="100000"/>
              </a:lnSpc>
              <a:buNone/>
              <a:defRPr sz="938" b="1" i="0">
                <a:solidFill>
                  <a:srgbClr val="4D8710"/>
                </a:solidFill>
                <a:latin typeface="Cambria Math"/>
                <a:ea typeface="Cambria Math"/>
                <a:cs typeface="Cambria Math"/>
              </a:defRPr>
            </a:pPr>
            <a:r>
              <a:rPr sz="938" b="1" i="0">
                <a:solidFill>
                  <a:srgbClr val="4D8710"/>
                </a:solidFill>
                <a:latin typeface="Cambria Math"/>
                <a:ea typeface="Cambria Math"/>
                <a:cs typeface="Cambria Math"/>
              </a:rPr>
              <a:t>hA = 0.1906</a:t>
            </a:r>
          </a:p>
        </p:txBody>
      </p:sp>
      <p:sp>
        <p:nvSpPr>
          <p:cNvPr id="32" name="正方形/長方形 31">
            <a:extLst>
              <a:ext uri="{FF2B5EF4-FFF2-40B4-BE49-F238E27FC236}">
                <a16:creationId xmlns:a16="http://schemas.microsoft.com/office/drawing/2014/main" id="{FDDDF640-4325-4E36-9AAD-E154E192B3BE}"/>
              </a:ext>
            </a:extLst>
          </p:cNvPr>
          <p:cNvSpPr>
            <a:spLocks noGrp="1"/>
          </p:cNvSpPr>
          <p:nvPr/>
        </p:nvSpPr>
        <p:spPr>
          <a:xfrm>
            <a:off x="10029825" y="3667125"/>
            <a:ext cx="857250" cy="152400"/>
          </a:xfrm>
          <a:prstGeom prst="rect">
            <a:avLst/>
          </a:prstGeom>
          <a:noFill/>
          <a:ln w="0">
            <a:noFill/>
            <a:prstDash val="solid"/>
          </a:ln>
        </p:spPr>
        <p:txBody>
          <a:bodyPr wrap="square" lIns="28575" tIns="19050" rIns="28575" bIns="19050" anchor="ctr">
            <a:normAutofit/>
          </a:bodyPr>
          <a:lstStyle/>
          <a:p>
            <a:pPr algn="ctr">
              <a:lnSpc>
                <a:spcPct val="100000"/>
              </a:lnSpc>
              <a:buNone/>
              <a:defRPr sz="713" b="0" i="0">
                <a:solidFill>
                  <a:srgbClr val="777777"/>
                </a:solidFill>
                <a:latin typeface="Yu Gothic"/>
                <a:ea typeface="Yu Gothic"/>
                <a:cs typeface="Yu Gothic"/>
              </a:defRPr>
            </a:pPr>
            <a:r>
              <a:rPr sz="713" b="0" i="0">
                <a:solidFill>
                  <a:srgbClr val="777777"/>
                </a:solidFill>
                <a:latin typeface="Yu Gothic"/>
                <a:ea typeface="Yu Gothic"/>
                <a:cs typeface="Yu Gothic"/>
              </a:rPr>
              <a:t>W/K</a:t>
            </a:r>
          </a:p>
        </p:txBody>
      </p:sp>
      <p:sp>
        <p:nvSpPr>
          <p:cNvPr id="33" name="正方形/長方形 32">
            <a:extLst>
              <a:ext uri="{FF2B5EF4-FFF2-40B4-BE49-F238E27FC236}">
                <a16:creationId xmlns:a16="http://schemas.microsoft.com/office/drawing/2014/main" id="{625E569B-339A-49F4-88FA-E6ACE47FD244}"/>
              </a:ext>
            </a:extLst>
          </p:cNvPr>
          <p:cNvSpPr>
            <a:spLocks noGrp="1"/>
          </p:cNvSpPr>
          <p:nvPr/>
        </p:nvSpPr>
        <p:spPr>
          <a:xfrm>
            <a:off x="11106150" y="3276600"/>
            <a:ext cx="533400" cy="762000"/>
          </a:xfrm>
          <a:prstGeom prst="rect">
            <a:avLst/>
          </a:prstGeom>
          <a:solidFill>
            <a:srgbClr val="007FA8"/>
          </a:solidFill>
          <a:ln w="0">
            <a:noFill/>
            <a:prstDash val="solid"/>
          </a:ln>
        </p:spPr>
      </p:sp>
      <p:sp>
        <p:nvSpPr>
          <p:cNvPr id="34" name="正方形/長方形 33">
            <a:extLst>
              <a:ext uri="{FF2B5EF4-FFF2-40B4-BE49-F238E27FC236}">
                <a16:creationId xmlns:a16="http://schemas.microsoft.com/office/drawing/2014/main" id="{BB1E06F8-E9D5-4BC5-B863-C3D16269CEA5}"/>
              </a:ext>
            </a:extLst>
          </p:cNvPr>
          <p:cNvSpPr>
            <a:spLocks noGrp="1"/>
          </p:cNvSpPr>
          <p:nvPr/>
        </p:nvSpPr>
        <p:spPr>
          <a:xfrm>
            <a:off x="11153775" y="3352800"/>
            <a:ext cx="438150" cy="295275"/>
          </a:xfrm>
          <a:prstGeom prst="rect">
            <a:avLst/>
          </a:prstGeom>
          <a:noFill/>
          <a:ln w="0">
            <a:noFill/>
            <a:prstDash val="solid"/>
          </a:ln>
        </p:spPr>
        <p:txBody>
          <a:bodyPr wrap="square" lIns="28575" tIns="19050" rIns="28575" bIns="19050" anchor="ctr">
            <a:normAutofit/>
          </a:bodyPr>
          <a:lstStyle/>
          <a:p>
            <a:pPr algn="ctr">
              <a:lnSpc>
                <a:spcPct val="100000"/>
              </a:lnSpc>
              <a:buNone/>
              <a:defRPr sz="975" b="1" i="0">
                <a:solidFill>
                  <a:srgbClr val="FFFFFF"/>
                </a:solidFill>
                <a:latin typeface="Cambria Math"/>
                <a:ea typeface="Cambria Math"/>
                <a:cs typeface="Cambria Math"/>
              </a:defRPr>
            </a:pPr>
            <a:r>
              <a:rPr sz="975" b="1" i="0">
                <a:solidFill>
                  <a:srgbClr val="FFFFFF"/>
                </a:solidFill>
                <a:latin typeface="Cambria Math"/>
                <a:ea typeface="Cambria Math"/>
                <a:cs typeface="Cambria Math"/>
              </a:rPr>
              <a:t>Tcool</a:t>
            </a:r>
          </a:p>
        </p:txBody>
      </p:sp>
      <p:sp>
        <p:nvSpPr>
          <p:cNvPr id="35" name="正方形/長方形 34">
            <a:extLst>
              <a:ext uri="{FF2B5EF4-FFF2-40B4-BE49-F238E27FC236}">
                <a16:creationId xmlns:a16="http://schemas.microsoft.com/office/drawing/2014/main" id="{DD6D4395-BCC4-4461-B4CE-00D60F092B90}"/>
              </a:ext>
            </a:extLst>
          </p:cNvPr>
          <p:cNvSpPr>
            <a:spLocks noGrp="1"/>
          </p:cNvSpPr>
          <p:nvPr/>
        </p:nvSpPr>
        <p:spPr>
          <a:xfrm>
            <a:off x="11153775" y="3667125"/>
            <a:ext cx="438150" cy="238125"/>
          </a:xfrm>
          <a:prstGeom prst="rect">
            <a:avLst/>
          </a:prstGeom>
          <a:noFill/>
          <a:ln w="0">
            <a:noFill/>
            <a:prstDash val="solid"/>
          </a:ln>
        </p:spPr>
        <p:txBody>
          <a:bodyPr wrap="square" lIns="28575" tIns="19050" rIns="28575" bIns="19050" anchor="ctr">
            <a:normAutofit/>
          </a:bodyPr>
          <a:lstStyle/>
          <a:p>
            <a:pPr algn="ctr">
              <a:lnSpc>
                <a:spcPct val="100000"/>
              </a:lnSpc>
              <a:buNone/>
              <a:defRPr sz="638" b="0" i="0">
                <a:solidFill>
                  <a:srgbClr val="FFFFFF"/>
                </a:solidFill>
                <a:latin typeface="Yu Gothic"/>
                <a:ea typeface="Yu Gothic"/>
                <a:cs typeface="Yu Gothic"/>
              </a:defRPr>
            </a:pPr>
            <a:r>
              <a:rPr sz="638" b="0" i="0">
                <a:solidFill>
                  <a:srgbClr val="FFFFFF"/>
                </a:solidFill>
                <a:latin typeface="Yu Gothic"/>
                <a:ea typeface="Yu Gothic"/>
                <a:cs typeface="Yu Gothic"/>
              </a:rPr>
              <a:t>reservoir</a:t>
            </a:r>
          </a:p>
        </p:txBody>
      </p:sp>
      <p:cxnSp>
        <p:nvCxnSpPr>
          <p:cNvPr id="84" name="直線矢印コネクタ 83"/>
          <p:cNvCxnSpPr>
            <a:stCxn id="10" idx="3"/>
            <a:endCxn id="12" idx="1"/>
          </p:cNvCxnSpPr>
          <p:nvPr/>
        </p:nvCxnSpPr>
        <p:spPr>
          <a:xfrm>
            <a:off x="1562100" y="2867025"/>
            <a:ext cx="390525" cy="0"/>
          </a:xfrm>
          <a:prstGeom prst="straightConnector1">
            <a:avLst/>
          </a:prstGeom>
          <a:ln w="28575">
            <a:solidFill>
              <a:srgbClr val="E5A900"/>
            </a:solidFill>
            <a:prstDash val="solid"/>
            <a:tailEnd type="triangle" w="sm" len="sm"/>
          </a:ln>
        </p:spPr>
      </p:cxnSp>
      <p:cxnSp>
        <p:nvCxnSpPr>
          <p:cNvPr id="85" name="直線矢印コネクタ 84"/>
          <p:cNvCxnSpPr>
            <a:stCxn id="12" idx="3"/>
            <a:endCxn id="16" idx="1"/>
          </p:cNvCxnSpPr>
          <p:nvPr/>
        </p:nvCxnSpPr>
        <p:spPr>
          <a:xfrm>
            <a:off x="3495675" y="2867025"/>
            <a:ext cx="257175" cy="0"/>
          </a:xfrm>
          <a:prstGeom prst="straightConnector1">
            <a:avLst/>
          </a:prstGeom>
          <a:ln w="28575">
            <a:solidFill>
              <a:srgbClr val="00A5D8"/>
            </a:solidFill>
            <a:prstDash val="solid"/>
          </a:ln>
        </p:spPr>
      </p:cxnSp>
      <p:cxnSp>
        <p:nvCxnSpPr>
          <p:cNvPr id="86" name="直線矢印コネクタ 85"/>
          <p:cNvCxnSpPr>
            <a:stCxn id="16" idx="3"/>
            <a:endCxn id="19" idx="1"/>
          </p:cNvCxnSpPr>
          <p:nvPr/>
        </p:nvCxnSpPr>
        <p:spPr>
          <a:xfrm>
            <a:off x="4819650" y="2867025"/>
            <a:ext cx="266700" cy="0"/>
          </a:xfrm>
          <a:prstGeom prst="straightConnector1">
            <a:avLst/>
          </a:prstGeom>
          <a:ln w="28575">
            <a:solidFill>
              <a:srgbClr val="00A5D8"/>
            </a:solidFill>
            <a:prstDash val="solid"/>
          </a:ln>
        </p:spPr>
      </p:cxnSp>
      <p:cxnSp>
        <p:nvCxnSpPr>
          <p:cNvPr id="87" name="直線矢印コネクタ 86"/>
          <p:cNvCxnSpPr>
            <a:stCxn id="19" idx="3"/>
            <a:endCxn id="23" idx="1"/>
          </p:cNvCxnSpPr>
          <p:nvPr/>
        </p:nvCxnSpPr>
        <p:spPr>
          <a:xfrm>
            <a:off x="6629400" y="2867025"/>
            <a:ext cx="257175" cy="0"/>
          </a:xfrm>
          <a:prstGeom prst="straightConnector1">
            <a:avLst/>
          </a:prstGeom>
          <a:ln w="28575">
            <a:solidFill>
              <a:srgbClr val="00A89D"/>
            </a:solidFill>
            <a:prstDash val="solid"/>
          </a:ln>
        </p:spPr>
      </p:cxnSp>
      <p:cxnSp>
        <p:nvCxnSpPr>
          <p:cNvPr id="88" name="直線矢印コネクタ 87"/>
          <p:cNvCxnSpPr>
            <a:stCxn id="23" idx="3"/>
            <a:endCxn id="26" idx="1"/>
          </p:cNvCxnSpPr>
          <p:nvPr/>
        </p:nvCxnSpPr>
        <p:spPr>
          <a:xfrm>
            <a:off x="7953375" y="2867025"/>
            <a:ext cx="266700" cy="0"/>
          </a:xfrm>
          <a:prstGeom prst="straightConnector1">
            <a:avLst/>
          </a:prstGeom>
          <a:ln w="28575">
            <a:solidFill>
              <a:srgbClr val="00A89D"/>
            </a:solidFill>
            <a:prstDash val="solid"/>
          </a:ln>
        </p:spPr>
      </p:cxnSp>
      <p:cxnSp>
        <p:nvCxnSpPr>
          <p:cNvPr id="89" name="直線矢印コネクタ 88"/>
          <p:cNvCxnSpPr>
            <a:stCxn id="19" idx="2"/>
            <a:endCxn id="30" idx="1"/>
          </p:cNvCxnSpPr>
          <p:nvPr/>
        </p:nvCxnSpPr>
        <p:spPr>
          <a:xfrm>
            <a:off x="5857875" y="3657600"/>
            <a:ext cx="4124325" cy="0"/>
          </a:xfrm>
          <a:prstGeom prst="straightConnector1">
            <a:avLst/>
          </a:prstGeom>
          <a:ln w="19050">
            <a:solidFill>
              <a:srgbClr val="76BE18"/>
            </a:solidFill>
            <a:prstDash val="dash"/>
          </a:ln>
        </p:spPr>
      </p:cxnSp>
      <p:cxnSp>
        <p:nvCxnSpPr>
          <p:cNvPr id="90" name="直線矢印コネクタ 89"/>
          <p:cNvCxnSpPr>
            <a:stCxn id="26" idx="2"/>
            <a:endCxn id="30" idx="0"/>
          </p:cNvCxnSpPr>
          <p:nvPr/>
        </p:nvCxnSpPr>
        <p:spPr>
          <a:xfrm flipV="1">
            <a:off x="8991600" y="3419475"/>
            <a:ext cx="1466850" cy="238125"/>
          </a:xfrm>
          <a:prstGeom prst="straightConnector1">
            <a:avLst/>
          </a:prstGeom>
          <a:ln w="19050">
            <a:solidFill>
              <a:srgbClr val="76BE18"/>
            </a:solidFill>
            <a:prstDash val="dash"/>
          </a:ln>
        </p:spPr>
      </p:cxnSp>
      <p:cxnSp>
        <p:nvCxnSpPr>
          <p:cNvPr id="91" name="直線矢印コネクタ 90"/>
          <p:cNvCxnSpPr>
            <a:stCxn id="30" idx="3"/>
            <a:endCxn id="33" idx="1"/>
          </p:cNvCxnSpPr>
          <p:nvPr/>
        </p:nvCxnSpPr>
        <p:spPr>
          <a:xfrm>
            <a:off x="10934700" y="3657600"/>
            <a:ext cx="171450" cy="0"/>
          </a:xfrm>
          <a:prstGeom prst="straightConnector1">
            <a:avLst/>
          </a:prstGeom>
          <a:ln w="28575">
            <a:solidFill>
              <a:srgbClr val="76BE18"/>
            </a:solidFill>
            <a:prstDash val="solid"/>
          </a:ln>
        </p:spPr>
      </p:cxnSp>
      <p:sp>
        <p:nvSpPr>
          <p:cNvPr id="44" name="正方形/長方形 43">
            <a:extLst>
              <a:ext uri="{FF2B5EF4-FFF2-40B4-BE49-F238E27FC236}">
                <a16:creationId xmlns:a16="http://schemas.microsoft.com/office/drawing/2014/main" id="{120585C7-807A-46B3-A1B0-0E331E278976}"/>
              </a:ext>
            </a:extLst>
          </p:cNvPr>
          <p:cNvSpPr>
            <a:spLocks noGrp="1"/>
          </p:cNvSpPr>
          <p:nvPr/>
        </p:nvSpPr>
        <p:spPr>
          <a:xfrm>
            <a:off x="7419975" y="3990975"/>
            <a:ext cx="3562350" cy="190500"/>
          </a:xfrm>
          <a:prstGeom prst="rect">
            <a:avLst/>
          </a:prstGeom>
          <a:noFill/>
          <a:ln w="0">
            <a:noFill/>
            <a:prstDash val="solid"/>
          </a:ln>
        </p:spPr>
        <p:txBody>
          <a:bodyPr wrap="square" lIns="28575" tIns="19050" rIns="28575" bIns="19050" anchor="ctr">
            <a:normAutofit/>
          </a:bodyPr>
          <a:lstStyle/>
          <a:p>
            <a:pPr algn="ctr">
              <a:lnSpc>
                <a:spcPct val="100000"/>
              </a:lnSpc>
              <a:buNone/>
              <a:defRPr sz="788" b="0" i="0">
                <a:solidFill>
                  <a:srgbClr val="777777"/>
                </a:solidFill>
                <a:latin typeface="Yu Gothic"/>
                <a:ea typeface="Yu Gothic"/>
                <a:cs typeface="Yu Gothic"/>
              </a:defRPr>
            </a:pPr>
            <a:r>
              <a:rPr sz="788" b="0" i="0">
                <a:solidFill>
                  <a:srgbClr val="777777"/>
                </a:solidFill>
                <a:latin typeface="Yu Gothic"/>
                <a:ea typeface="Yu Gothic"/>
                <a:cs typeface="Yu Gothic"/>
              </a:rPr>
              <a:t>共有境界weight: base 0.091 / fins 0.909</a:t>
            </a:r>
          </a:p>
        </p:txBody>
      </p:sp>
      <p:graphicFrame>
        <p:nvGraphicFramePr>
          <p:cNvPr id="93" name="表 92"/>
          <p:cNvGraphicFramePr/>
          <p:nvPr/>
        </p:nvGraphicFramePr>
        <p:xfrm>
          <a:off x="552450" y="4276725"/>
          <a:ext cx="11087100" cy="1390650"/>
        </p:xfrm>
        <a:graphic>
          <a:graphicData uri="http://schemas.openxmlformats.org/drawingml/2006/table">
            <a:tbl>
              <a:tblPr/>
              <a:tblGrid>
                <a:gridCol w="2095500">
                  <a:extLst>
                    <a:ext uri="{9D8B030D-6E8A-4147-A177-3AD203B41FA5}">
                      <a16:colId xmlns:a16="http://schemas.microsoft.com/office/drawing/2014/main" val="20000"/>
                    </a:ext>
                  </a:extLst>
                </a:gridCol>
                <a:gridCol w="1381125">
                  <a:extLst>
                    <a:ext uri="{9D8B030D-6E8A-4147-A177-3AD203B41FA5}">
                      <a16:colId xmlns:a16="http://schemas.microsoft.com/office/drawing/2014/main" val="20001"/>
                    </a:ext>
                  </a:extLst>
                </a:gridCol>
                <a:gridCol w="1714500">
                  <a:extLst>
                    <a:ext uri="{9D8B030D-6E8A-4147-A177-3AD203B41FA5}">
                      <a16:colId xmlns:a16="http://schemas.microsoft.com/office/drawing/2014/main" val="20002"/>
                    </a:ext>
                  </a:extLst>
                </a:gridCol>
                <a:gridCol w="1381125">
                  <a:extLst>
                    <a:ext uri="{9D8B030D-6E8A-4147-A177-3AD203B41FA5}">
                      <a16:colId xmlns:a16="http://schemas.microsoft.com/office/drawing/2014/main" val="20003"/>
                    </a:ext>
                  </a:extLst>
                </a:gridCol>
                <a:gridCol w="4514850">
                  <a:extLst>
                    <a:ext uri="{9D8B030D-6E8A-4147-A177-3AD203B41FA5}">
                      <a16:colId xmlns:a16="http://schemas.microsoft.com/office/drawing/2014/main" val="20004"/>
                    </a:ext>
                  </a:extLst>
                </a:gridCol>
              </a:tblGrid>
              <a:tr h="347663">
                <a:tc>
                  <a:txBody>
                    <a:bodyPr/>
                    <a:lstStyle/>
                    <a:p>
                      <a:r>
                        <a:rPr sz="938" b="1">
                          <a:solidFill>
                            <a:srgbClr val="FFFFFF"/>
                          </a:solidFill>
                          <a:latin typeface="Yu Gothic"/>
                          <a:ea typeface="Yu Gothic"/>
                          <a:cs typeface="Yu Gothic"/>
                        </a:rPr>
                        <a:t>learnable係数</a:t>
                      </a:r>
                    </a:p>
                  </a:txBody>
                  <a:tcPr>
                    <a:solidFill>
                      <a:srgbClr val="007FA8"/>
                    </a:solidFill>
                  </a:tcPr>
                </a:tc>
                <a:tc>
                  <a:txBody>
                    <a:bodyPr/>
                    <a:lstStyle/>
                    <a:p>
                      <a:r>
                        <a:rPr sz="938" b="1">
                          <a:solidFill>
                            <a:srgbClr val="FFFFFF"/>
                          </a:solidFill>
                          <a:latin typeface="Yu Gothic"/>
                          <a:ea typeface="Yu Gothic"/>
                          <a:cs typeface="Yu Gothic"/>
                        </a:rPr>
                        <a:t>prior</a:t>
                      </a:r>
                    </a:p>
                  </a:txBody>
                  <a:tcPr>
                    <a:solidFill>
                      <a:srgbClr val="007FA8"/>
                    </a:solidFill>
                  </a:tcPr>
                </a:tc>
                <a:tc>
                  <a:txBody>
                    <a:bodyPr/>
                    <a:lstStyle/>
                    <a:p>
                      <a:r>
                        <a:rPr sz="938" b="1">
                          <a:solidFill>
                            <a:srgbClr val="FFFFFF"/>
                          </a:solidFill>
                          <a:latin typeface="Yu Gothic"/>
                          <a:ea typeface="Yu Gothic"/>
                          <a:cs typeface="Yu Gothic"/>
                        </a:rPr>
                        <a:t>fitted</a:t>
                      </a:r>
                    </a:p>
                  </a:txBody>
                  <a:tcPr>
                    <a:solidFill>
                      <a:srgbClr val="007FA8"/>
                    </a:solidFill>
                  </a:tcPr>
                </a:tc>
                <a:tc>
                  <a:txBody>
                    <a:bodyPr/>
                    <a:lstStyle/>
                    <a:p>
                      <a:r>
                        <a:rPr sz="938" b="1">
                          <a:solidFill>
                            <a:srgbClr val="FFFFFF"/>
                          </a:solidFill>
                          <a:latin typeface="Yu Gothic"/>
                          <a:ea typeface="Yu Gothic"/>
                          <a:cs typeface="Yu Gothic"/>
                        </a:rPr>
                        <a:t>変化</a:t>
                      </a:r>
                    </a:p>
                  </a:txBody>
                  <a:tcPr>
                    <a:solidFill>
                      <a:srgbClr val="007FA8"/>
                    </a:solidFill>
                  </a:tcPr>
                </a:tc>
                <a:tc>
                  <a:txBody>
                    <a:bodyPr/>
                    <a:lstStyle/>
                    <a:p>
                      <a:r>
                        <a:rPr sz="938" b="1">
                          <a:solidFill>
                            <a:srgbClr val="FFFFFF"/>
                          </a:solidFill>
                          <a:latin typeface="Yu Gothic"/>
                          <a:ea typeface="Yu Gothic"/>
                          <a:cs typeface="Yu Gothic"/>
                        </a:rPr>
                        <a:t>物理解釈</a:t>
                      </a:r>
                    </a:p>
                  </a:txBody>
                  <a:tcPr>
                    <a:solidFill>
                      <a:srgbClr val="007FA8"/>
                    </a:solidFill>
                  </a:tcPr>
                </a:tc>
                <a:extLst>
                  <a:ext uri="{0D108BD9-81ED-4DB2-BD59-A6C34878D82A}">
                    <a16:rowId xmlns:a16="http://schemas.microsoft.com/office/drawing/2014/main" val="10000"/>
                  </a:ext>
                </a:extLst>
              </a:tr>
              <a:tr h="347663">
                <a:tc>
                  <a:txBody>
                    <a:bodyPr/>
                    <a:lstStyle/>
                    <a:p>
                      <a:r>
                        <a:rPr sz="863">
                          <a:solidFill>
                            <a:srgbClr val="5B5B5B"/>
                          </a:solidFill>
                          <a:latin typeface="Yu Gothic"/>
                          <a:ea typeface="Yu Gothic"/>
                          <a:cs typeface="Yu Gothic"/>
                        </a:rPr>
                        <a:t>G chip–base</a:t>
                      </a:r>
                    </a:p>
                  </a:txBody>
                  <a:tcPr>
                    <a:solidFill>
                      <a:srgbClr val="FFFFFF"/>
                    </a:solidFill>
                  </a:tcPr>
                </a:tc>
                <a:tc>
                  <a:txBody>
                    <a:bodyPr/>
                    <a:lstStyle/>
                    <a:p>
                      <a:r>
                        <a:rPr sz="863">
                          <a:solidFill>
                            <a:srgbClr val="5B5B5B"/>
                          </a:solidFill>
                          <a:latin typeface="Yu Gothic"/>
                          <a:ea typeface="Yu Gothic"/>
                          <a:cs typeface="Yu Gothic"/>
                        </a:rPr>
                        <a:t>40.000</a:t>
                      </a:r>
                    </a:p>
                  </a:txBody>
                  <a:tcPr>
                    <a:solidFill>
                      <a:srgbClr val="FFFFFF"/>
                    </a:solidFill>
                  </a:tcPr>
                </a:tc>
                <a:tc>
                  <a:txBody>
                    <a:bodyPr/>
                    <a:lstStyle/>
                    <a:p>
                      <a:r>
                        <a:rPr sz="863">
                          <a:solidFill>
                            <a:srgbClr val="5B5B5B"/>
                          </a:solidFill>
                          <a:latin typeface="Yu Gothic"/>
                          <a:ea typeface="Yu Gothic"/>
                          <a:cs typeface="Yu Gothic"/>
                        </a:rPr>
                        <a:t>38.220 W/K</a:t>
                      </a:r>
                    </a:p>
                  </a:txBody>
                  <a:tcPr>
                    <a:solidFill>
                      <a:srgbClr val="FFFFFF"/>
                    </a:solidFill>
                  </a:tcPr>
                </a:tc>
                <a:tc>
                  <a:txBody>
                    <a:bodyPr/>
                    <a:lstStyle/>
                    <a:p>
                      <a:r>
                        <a:rPr sz="863">
                          <a:solidFill>
                            <a:srgbClr val="5B5B5B"/>
                          </a:solidFill>
                          <a:latin typeface="Yu Gothic"/>
                          <a:ea typeface="Yu Gothic"/>
                          <a:cs typeface="Yu Gothic"/>
                        </a:rPr>
                        <a:t>−4.45%</a:t>
                      </a:r>
                    </a:p>
                  </a:txBody>
                  <a:tcPr>
                    <a:solidFill>
                      <a:srgbClr val="FFFFFF"/>
                    </a:solidFill>
                  </a:tcPr>
                </a:tc>
                <a:tc>
                  <a:txBody>
                    <a:bodyPr/>
                    <a:lstStyle/>
                    <a:p>
                      <a:r>
                        <a:rPr sz="863">
                          <a:solidFill>
                            <a:srgbClr val="5B5B5B"/>
                          </a:solidFill>
                          <a:latin typeface="Yu Gothic"/>
                          <a:ea typeface="Yu Gothic"/>
                          <a:cs typeface="Yu Gothic"/>
                        </a:rPr>
                        <a:t>interfaceを含む有効熱伝達</a:t>
                      </a:r>
                    </a:p>
                  </a:txBody>
                  <a:tcPr>
                    <a:solidFill>
                      <a:srgbClr val="FFFFFF"/>
                    </a:solidFill>
                  </a:tcPr>
                </a:tc>
                <a:extLst>
                  <a:ext uri="{0D108BD9-81ED-4DB2-BD59-A6C34878D82A}">
                    <a16:rowId xmlns:a16="http://schemas.microsoft.com/office/drawing/2014/main" val="10001"/>
                  </a:ext>
                </a:extLst>
              </a:tr>
              <a:tr h="347663">
                <a:tc>
                  <a:txBody>
                    <a:bodyPr/>
                    <a:lstStyle/>
                    <a:p>
                      <a:r>
                        <a:rPr sz="863">
                          <a:solidFill>
                            <a:srgbClr val="5B5B5B"/>
                          </a:solidFill>
                          <a:latin typeface="Yu Gothic"/>
                          <a:ea typeface="Yu Gothic"/>
                          <a:cs typeface="Yu Gothic"/>
                        </a:rPr>
                        <a:t>G base–fins</a:t>
                      </a:r>
                    </a:p>
                  </a:txBody>
                  <a:tcPr>
                    <a:solidFill>
                      <a:srgbClr val="F8F8F8"/>
                    </a:solidFill>
                  </a:tcPr>
                </a:tc>
                <a:tc>
                  <a:txBody>
                    <a:bodyPr/>
                    <a:lstStyle/>
                    <a:p>
                      <a:r>
                        <a:rPr sz="863">
                          <a:solidFill>
                            <a:srgbClr val="5B5B5B"/>
                          </a:solidFill>
                          <a:latin typeface="Yu Gothic"/>
                          <a:ea typeface="Yu Gothic"/>
                          <a:cs typeface="Yu Gothic"/>
                        </a:rPr>
                        <a:t>12.000</a:t>
                      </a:r>
                    </a:p>
                  </a:txBody>
                  <a:tcPr>
                    <a:solidFill>
                      <a:srgbClr val="F8F8F8"/>
                    </a:solidFill>
                  </a:tcPr>
                </a:tc>
                <a:tc>
                  <a:txBody>
                    <a:bodyPr/>
                    <a:lstStyle/>
                    <a:p>
                      <a:r>
                        <a:rPr sz="863">
                          <a:solidFill>
                            <a:srgbClr val="5B5B5B"/>
                          </a:solidFill>
                          <a:latin typeface="Yu Gothic"/>
                          <a:ea typeface="Yu Gothic"/>
                          <a:cs typeface="Yu Gothic"/>
                        </a:rPr>
                        <a:t>9.992 W/K</a:t>
                      </a:r>
                    </a:p>
                  </a:txBody>
                  <a:tcPr>
                    <a:solidFill>
                      <a:srgbClr val="F8F8F8"/>
                    </a:solidFill>
                  </a:tcPr>
                </a:tc>
                <a:tc>
                  <a:txBody>
                    <a:bodyPr/>
                    <a:lstStyle/>
                    <a:p>
                      <a:r>
                        <a:rPr sz="863">
                          <a:solidFill>
                            <a:srgbClr val="5B5B5B"/>
                          </a:solidFill>
                          <a:latin typeface="Yu Gothic"/>
                          <a:ea typeface="Yu Gothic"/>
                          <a:cs typeface="Yu Gothic"/>
                        </a:rPr>
                        <a:t>−16.74%</a:t>
                      </a:r>
                    </a:p>
                  </a:txBody>
                  <a:tcPr>
                    <a:solidFill>
                      <a:srgbClr val="F8F8F8"/>
                    </a:solidFill>
                  </a:tcPr>
                </a:tc>
                <a:tc>
                  <a:txBody>
                    <a:bodyPr/>
                    <a:lstStyle/>
                    <a:p>
                      <a:r>
                        <a:rPr sz="863">
                          <a:solidFill>
                            <a:srgbClr val="5B5B5B"/>
                          </a:solidFill>
                          <a:latin typeface="Yu Gothic"/>
                          <a:ea typeface="Yu Gothic"/>
                          <a:cs typeface="Yu Gothic"/>
                        </a:rPr>
                        <a:t>拡散・接触を含む中間経路</a:t>
                      </a:r>
                    </a:p>
                  </a:txBody>
                  <a:tcPr>
                    <a:solidFill>
                      <a:srgbClr val="F8F8F8"/>
                    </a:solidFill>
                  </a:tcPr>
                </a:tc>
                <a:extLst>
                  <a:ext uri="{0D108BD9-81ED-4DB2-BD59-A6C34878D82A}">
                    <a16:rowId xmlns:a16="http://schemas.microsoft.com/office/drawing/2014/main" val="10002"/>
                  </a:ext>
                </a:extLst>
              </a:tr>
              <a:tr h="347663">
                <a:tc>
                  <a:txBody>
                    <a:bodyPr/>
                    <a:lstStyle/>
                    <a:p>
                      <a:r>
                        <a:rPr sz="863">
                          <a:solidFill>
                            <a:srgbClr val="5B5B5B"/>
                          </a:solidFill>
                          <a:latin typeface="Yu Gothic"/>
                          <a:ea typeface="Yu Gothic"/>
                          <a:cs typeface="Yu Gothic"/>
                        </a:rPr>
                        <a:t>hA coolant</a:t>
                      </a:r>
                    </a:p>
                  </a:txBody>
                  <a:tcPr>
                    <a:solidFill>
                      <a:srgbClr val="FFFFFF"/>
                    </a:solidFill>
                  </a:tcPr>
                </a:tc>
                <a:tc>
                  <a:txBody>
                    <a:bodyPr/>
                    <a:lstStyle/>
                    <a:p>
                      <a:r>
                        <a:rPr sz="863">
                          <a:solidFill>
                            <a:srgbClr val="5B5B5B"/>
                          </a:solidFill>
                          <a:latin typeface="Yu Gothic"/>
                          <a:ea typeface="Yu Gothic"/>
                          <a:cs typeface="Yu Gothic"/>
                        </a:rPr>
                        <a:t>0.440</a:t>
                      </a:r>
                    </a:p>
                  </a:txBody>
                  <a:tcPr>
                    <a:solidFill>
                      <a:srgbClr val="FFFFFF"/>
                    </a:solidFill>
                  </a:tcPr>
                </a:tc>
                <a:tc>
                  <a:txBody>
                    <a:bodyPr/>
                    <a:lstStyle/>
                    <a:p>
                      <a:r>
                        <a:rPr sz="863">
                          <a:solidFill>
                            <a:srgbClr val="5B5B5B"/>
                          </a:solidFill>
                          <a:latin typeface="Yu Gothic"/>
                          <a:ea typeface="Yu Gothic"/>
                          <a:cs typeface="Yu Gothic"/>
                        </a:rPr>
                        <a:t>0.1906 W/K</a:t>
                      </a:r>
                    </a:p>
                  </a:txBody>
                  <a:tcPr>
                    <a:solidFill>
                      <a:srgbClr val="FFFFFF"/>
                    </a:solidFill>
                  </a:tcPr>
                </a:tc>
                <a:tc>
                  <a:txBody>
                    <a:bodyPr/>
                    <a:lstStyle/>
                    <a:p>
                      <a:r>
                        <a:rPr sz="863">
                          <a:solidFill>
                            <a:srgbClr val="5B5B5B"/>
                          </a:solidFill>
                          <a:latin typeface="Yu Gothic"/>
                          <a:ea typeface="Yu Gothic"/>
                          <a:cs typeface="Yu Gothic"/>
                        </a:rPr>
                        <a:t>−56.67%</a:t>
                      </a:r>
                    </a:p>
                  </a:txBody>
                  <a:tcPr>
                    <a:solidFill>
                      <a:srgbClr val="FFFFFF"/>
                    </a:solidFill>
                  </a:tcPr>
                </a:tc>
                <a:tc>
                  <a:txBody>
                    <a:bodyPr/>
                    <a:lstStyle/>
                    <a:p>
                      <a:r>
                        <a:rPr sz="863">
                          <a:solidFill>
                            <a:srgbClr val="5B5B5B"/>
                          </a:solidFill>
                          <a:latin typeface="Yu Gothic"/>
                          <a:ea typeface="Yu Gothic"/>
                          <a:cs typeface="Yu Gothic"/>
                        </a:rPr>
                        <a:t>長時間応答を支配する境界</a:t>
                      </a:r>
                    </a:p>
                  </a:txBody>
                  <a:tcPr>
                    <a:solidFill>
                      <a:srgbClr val="FFFFFF"/>
                    </a:solidFill>
                  </a:tcPr>
                </a:tc>
                <a:extLst>
                  <a:ext uri="{0D108BD9-81ED-4DB2-BD59-A6C34878D82A}">
                    <a16:rowId xmlns:a16="http://schemas.microsoft.com/office/drawing/2014/main" val="10003"/>
                  </a:ext>
                </a:extLst>
              </a:tr>
            </a:tbl>
          </a:graphicData>
        </a:graphic>
      </p:graphicFrame>
      <p:sp>
        <p:nvSpPr>
          <p:cNvPr id="46" name="正方形/長方形 45">
            <a:extLst>
              <a:ext uri="{FF2B5EF4-FFF2-40B4-BE49-F238E27FC236}">
                <a16:creationId xmlns:a16="http://schemas.microsoft.com/office/drawing/2014/main" id="{B330CAE4-11C5-45F5-88CF-96F76D2BB259}"/>
              </a:ext>
            </a:extLst>
          </p:cNvPr>
          <p:cNvSpPr>
            <a:spLocks noGrp="1"/>
          </p:cNvSpPr>
          <p:nvPr/>
        </p:nvSpPr>
        <p:spPr>
          <a:xfrm>
            <a:off x="552450" y="5838825"/>
            <a:ext cx="11087100" cy="409575"/>
          </a:xfrm>
          <a:prstGeom prst="rect">
            <a:avLst/>
          </a:prstGeom>
          <a:solidFill>
            <a:srgbClr val="FBE9E7"/>
          </a:solidFill>
          <a:ln w="9525">
            <a:solidFill>
              <a:srgbClr val="C4493D"/>
            </a:solidFill>
            <a:prstDash val="solid"/>
          </a:ln>
        </p:spPr>
      </p:sp>
      <p:sp>
        <p:nvSpPr>
          <p:cNvPr id="47" name="正方形/長方形 46">
            <a:extLst>
              <a:ext uri="{FF2B5EF4-FFF2-40B4-BE49-F238E27FC236}">
                <a16:creationId xmlns:a16="http://schemas.microsoft.com/office/drawing/2014/main" id="{13DE56A4-79A2-401C-83F8-58D481F61D08}"/>
              </a:ext>
            </a:extLst>
          </p:cNvPr>
          <p:cNvSpPr>
            <a:spLocks noGrp="1"/>
          </p:cNvSpPr>
          <p:nvPr/>
        </p:nvSpPr>
        <p:spPr>
          <a:xfrm>
            <a:off x="695325" y="5924550"/>
            <a:ext cx="552450" cy="209550"/>
          </a:xfrm>
          <a:prstGeom prst="rect">
            <a:avLst/>
          </a:prstGeom>
          <a:noFill/>
          <a:ln w="0">
            <a:noFill/>
            <a:prstDash val="solid"/>
          </a:ln>
        </p:spPr>
        <p:txBody>
          <a:bodyPr wrap="square" lIns="28575" tIns="19050" rIns="28575" bIns="19050" anchor="ctr">
            <a:normAutofit/>
          </a:bodyPr>
          <a:lstStyle/>
          <a:p>
            <a:pPr algn="l">
              <a:lnSpc>
                <a:spcPct val="100000"/>
              </a:lnSpc>
              <a:buNone/>
              <a:defRPr sz="900" b="1" i="0">
                <a:solidFill>
                  <a:srgbClr val="C4493D"/>
                </a:solidFill>
                <a:latin typeface="Yu Gothic"/>
                <a:ea typeface="Yu Gothic"/>
                <a:cs typeface="Yu Gothic"/>
              </a:defRPr>
            </a:pPr>
            <a:r>
              <a:rPr sz="900" b="1" i="0">
                <a:solidFill>
                  <a:srgbClr val="C4493D"/>
                </a:solidFill>
                <a:latin typeface="Yu Gothic"/>
                <a:ea typeface="Yu Gothic"/>
                <a:cs typeface="Yu Gothic"/>
              </a:rPr>
              <a:t>注意</a:t>
            </a:r>
          </a:p>
        </p:txBody>
      </p:sp>
      <p:sp>
        <p:nvSpPr>
          <p:cNvPr id="48" name="正方形/長方形 47">
            <a:extLst>
              <a:ext uri="{FF2B5EF4-FFF2-40B4-BE49-F238E27FC236}">
                <a16:creationId xmlns:a16="http://schemas.microsoft.com/office/drawing/2014/main" id="{F14017BD-F5B3-47F1-816E-F5160DC1CD5E}"/>
              </a:ext>
            </a:extLst>
          </p:cNvPr>
          <p:cNvSpPr>
            <a:spLocks noGrp="1"/>
          </p:cNvSpPr>
          <p:nvPr/>
        </p:nvSpPr>
        <p:spPr>
          <a:xfrm>
            <a:off x="1323975" y="5895975"/>
            <a:ext cx="10144125" cy="257175"/>
          </a:xfrm>
          <a:prstGeom prst="rect">
            <a:avLst/>
          </a:prstGeom>
          <a:noFill/>
          <a:ln w="0">
            <a:noFill/>
            <a:prstDash val="solid"/>
          </a:ln>
        </p:spPr>
        <p:txBody>
          <a:bodyPr wrap="square" lIns="28575" tIns="19050" rIns="28575" bIns="19050" anchor="ctr">
            <a:normAutofit/>
          </a:bodyPr>
          <a:lstStyle/>
          <a:p>
            <a:pPr algn="l">
              <a:lnSpc>
                <a:spcPct val="100000"/>
              </a:lnSpc>
              <a:buNone/>
              <a:defRPr sz="938" b="1" i="0">
                <a:solidFill>
                  <a:srgbClr val="5B5B5B"/>
                </a:solidFill>
                <a:latin typeface="Yu Gothic"/>
                <a:ea typeface="Yu Gothic"/>
                <a:cs typeface="Yu Gothic"/>
              </a:defRPr>
            </a:pPr>
            <a:r>
              <a:rPr sz="938" b="1" i="0">
                <a:solidFill>
                  <a:srgbClr val="5B5B5B"/>
                </a:solidFill>
                <a:latin typeface="Yu Gothic"/>
                <a:ea typeface="Yu Gothic"/>
                <a:cs typeface="Yu Gothic"/>
              </a:rPr>
              <a:t>T₁–T₃は領域平均。chip hotspot・wafer面内分布は同じ状態量ではない。</a:t>
            </a:r>
          </a:p>
        </p:txBody>
      </p:sp>
    </p:spTree>
    <p:extLst>
      <p:ext uri="{BB962C8B-B14F-4D97-AF65-F5344CB8AC3E}">
        <p14:creationId xmlns:p14="http://schemas.microsoft.com/office/powerpoint/2010/main" val="12121159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6" name="正方形/長方形 45">
            <a:extLst>
              <a:ext uri="{FF2B5EF4-FFF2-40B4-BE49-F238E27FC236}">
                <a16:creationId xmlns:a16="http://schemas.microsoft.com/office/drawing/2014/main" id="{4155149A-5AEA-4687-9368-368CB4099B41}"/>
              </a:ext>
            </a:extLst>
          </p:cNvPr>
          <p:cNvSpPr>
            <a:spLocks noGrp="1"/>
          </p:cNvSpPr>
          <p:nvPr/>
        </p:nvSpPr>
        <p:spPr>
          <a:xfrm>
            <a:off x="552450" y="190500"/>
            <a:ext cx="76200" cy="142875"/>
          </a:xfrm>
          <a:prstGeom prst="rect">
            <a:avLst/>
          </a:prstGeom>
          <a:solidFill>
            <a:srgbClr val="76BE18"/>
          </a:solidFill>
          <a:ln w="0">
            <a:noFill/>
            <a:prstDash val="solid"/>
          </a:ln>
        </p:spPr>
      </p:sp>
      <p:sp>
        <p:nvSpPr>
          <p:cNvPr id="2" name="正方形/長方形 1">
            <a:extLst>
              <a:ext uri="{FF2B5EF4-FFF2-40B4-BE49-F238E27FC236}">
                <a16:creationId xmlns:a16="http://schemas.microsoft.com/office/drawing/2014/main" id="{C693E513-399B-4E7B-BD38-C055E6BDE052}"/>
              </a:ext>
            </a:extLst>
          </p:cNvPr>
          <p:cNvSpPr>
            <a:spLocks noGrp="1"/>
          </p:cNvSpPr>
          <p:nvPr/>
        </p:nvSpPr>
        <p:spPr>
          <a:xfrm>
            <a:off x="704850" y="161925"/>
            <a:ext cx="3429000" cy="190500"/>
          </a:xfrm>
          <a:prstGeom prst="rect">
            <a:avLst/>
          </a:prstGeom>
          <a:noFill/>
          <a:ln w="0">
            <a:noFill/>
            <a:prstDash val="solid"/>
          </a:ln>
        </p:spPr>
        <p:txBody>
          <a:bodyPr wrap="none" lIns="28575" tIns="19050" rIns="28575" bIns="19050" anchor="ctr">
            <a:noAutofit/>
          </a:bodyPr>
          <a:lstStyle/>
          <a:p>
            <a:pPr algn="l">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GOVERNING EQUATIONS</a:t>
            </a:r>
          </a:p>
        </p:txBody>
      </p:sp>
      <p:sp>
        <p:nvSpPr>
          <p:cNvPr id="3" name="正方形/長方形 2">
            <a:extLst>
              <a:ext uri="{FF2B5EF4-FFF2-40B4-BE49-F238E27FC236}">
                <a16:creationId xmlns:a16="http://schemas.microsoft.com/office/drawing/2014/main" id="{BDDD6B9D-F318-4608-80A5-99C98C1C9224}"/>
              </a:ext>
            </a:extLst>
          </p:cNvPr>
          <p:cNvSpPr>
            <a:spLocks noGrp="1"/>
          </p:cNvSpPr>
          <p:nvPr/>
        </p:nvSpPr>
        <p:spPr>
          <a:xfrm>
            <a:off x="552450" y="400050"/>
            <a:ext cx="11001375" cy="400050"/>
          </a:xfrm>
          <a:prstGeom prst="rect">
            <a:avLst/>
          </a:prstGeom>
          <a:noFill/>
          <a:ln w="0">
            <a:noFill/>
            <a:prstDash val="solid"/>
          </a:ln>
        </p:spPr>
        <p:txBody>
          <a:bodyPr wrap="none" lIns="19050" tIns="0" rIns="19050" bIns="0" anchor="ctr">
            <a:normAutofit/>
          </a:bodyPr>
          <a:lstStyle/>
          <a:p>
            <a:pPr algn="l">
              <a:lnSpc>
                <a:spcPct val="100000"/>
              </a:lnSpc>
              <a:buNone/>
              <a:defRPr sz="2175" b="1" i="0">
                <a:solidFill>
                  <a:srgbClr val="00A5D8"/>
                </a:solidFill>
                <a:latin typeface="Yu Gothic"/>
                <a:ea typeface="Yu Gothic"/>
                <a:cs typeface="Yu Gothic"/>
              </a:defRPr>
            </a:pPr>
            <a:r>
              <a:rPr sz="2175" b="1" i="0">
                <a:solidFill>
                  <a:srgbClr val="00A5D8"/>
                </a:solidFill>
                <a:latin typeface="Yu Gothic"/>
                <a:ea typeface="Yu Gothic"/>
                <a:cs typeface="Yu Gothic"/>
              </a:rPr>
              <a:t>第一法則を離散化し、保存・散逸・正値性をモデル構造で保証する</a:t>
            </a:r>
          </a:p>
        </p:txBody>
      </p:sp>
      <p:sp>
        <p:nvSpPr>
          <p:cNvPr id="4" name="正方形/長方形 3">
            <a:extLst>
              <a:ext uri="{FF2B5EF4-FFF2-40B4-BE49-F238E27FC236}">
                <a16:creationId xmlns:a16="http://schemas.microsoft.com/office/drawing/2014/main" id="{27909B7A-D158-42AA-9A6A-35D1324DA5AE}"/>
              </a:ext>
            </a:extLst>
          </p:cNvPr>
          <p:cNvSpPr>
            <a:spLocks noGrp="1"/>
          </p:cNvSpPr>
          <p:nvPr/>
        </p:nvSpPr>
        <p:spPr>
          <a:xfrm>
            <a:off x="571500" y="838200"/>
            <a:ext cx="10906125" cy="228600"/>
          </a:xfrm>
          <a:prstGeom prst="rect">
            <a:avLst/>
          </a:prstGeom>
          <a:noFill/>
          <a:ln w="0">
            <a:noFill/>
            <a:prstDash val="solid"/>
          </a:ln>
        </p:spPr>
        <p:txBody>
          <a:bodyPr wrap="none" lIns="28575" tIns="19050" rIns="28575" bIns="19050" anchor="ctr">
            <a:noAutofit/>
          </a:bodyPr>
          <a:lstStyle/>
          <a:p>
            <a:pPr algn="l">
              <a:lnSpc>
                <a:spcPct val="100000"/>
              </a:lnSpc>
              <a:buNone/>
              <a:defRPr sz="975" b="0" i="0">
                <a:solidFill>
                  <a:srgbClr val="5B5B5B"/>
                </a:solidFill>
                <a:latin typeface="Yu Gothic"/>
                <a:ea typeface="Yu Gothic"/>
                <a:cs typeface="Yu Gothic"/>
              </a:defRPr>
            </a:pPr>
            <a:r>
              <a:rPr sz="975" b="0" i="0">
                <a:solidFill>
                  <a:srgbClr val="5B5B5B"/>
                </a:solidFill>
                <a:latin typeface="Yu Gothic"/>
                <a:ea typeface="Yu Gothic"/>
                <a:cs typeface="Yu Gothic"/>
              </a:rPr>
              <a:t>学習器に物理を後付けするのではなく、許容する状態遷移そのものを制約する</a:t>
            </a:r>
          </a:p>
        </p:txBody>
      </p:sp>
      <p:sp>
        <p:nvSpPr>
          <p:cNvPr id="5" name="直線コネクタ 4">
            <a:extLst>
              <a:ext uri="{FF2B5EF4-FFF2-40B4-BE49-F238E27FC236}">
                <a16:creationId xmlns:a16="http://schemas.microsoft.com/office/drawing/2014/main" id="{E318A669-BD91-4100-A880-A0439B33B73D}"/>
              </a:ext>
            </a:extLst>
          </p:cNvPr>
          <p:cNvSpPr>
            <a:spLocks noGrp="1"/>
          </p:cNvSpPr>
          <p:nvPr/>
        </p:nvSpPr>
        <p:spPr>
          <a:xfrm>
            <a:off x="552450" y="1152525"/>
            <a:ext cx="11087100" cy="0"/>
          </a:xfrm>
          <a:prstGeom prst="line">
            <a:avLst/>
          </a:prstGeom>
          <a:noFill/>
          <a:ln w="9525">
            <a:solidFill>
              <a:srgbClr val="D6D6D6"/>
            </a:solidFill>
            <a:prstDash val="solid"/>
          </a:ln>
        </p:spPr>
      </p:sp>
      <p:sp>
        <p:nvSpPr>
          <p:cNvPr id="6" name="直線コネクタ 5">
            <a:extLst>
              <a:ext uri="{FF2B5EF4-FFF2-40B4-BE49-F238E27FC236}">
                <a16:creationId xmlns:a16="http://schemas.microsoft.com/office/drawing/2014/main" id="{AC6D4771-94DB-42D3-A93E-C14416CD9780}"/>
              </a:ext>
            </a:extLst>
          </p:cNvPr>
          <p:cNvSpPr>
            <a:spLocks noGrp="1"/>
          </p:cNvSpPr>
          <p:nvPr/>
        </p:nvSpPr>
        <p:spPr>
          <a:xfrm>
            <a:off x="552450" y="6438900"/>
            <a:ext cx="11087100" cy="0"/>
          </a:xfrm>
          <a:prstGeom prst="line">
            <a:avLst/>
          </a:prstGeom>
          <a:noFill/>
          <a:ln w="9525">
            <a:solidFill>
              <a:srgbClr val="D6D6D6"/>
            </a:solidFill>
            <a:prstDash val="solid"/>
          </a:ln>
        </p:spPr>
      </p:sp>
      <p:sp>
        <p:nvSpPr>
          <p:cNvPr id="7" name="正方形/長方形 6">
            <a:extLst>
              <a:ext uri="{FF2B5EF4-FFF2-40B4-BE49-F238E27FC236}">
                <a16:creationId xmlns:a16="http://schemas.microsoft.com/office/drawing/2014/main" id="{59F6EE37-C33C-431E-AFE6-3A160F27B074}"/>
              </a:ext>
            </a:extLst>
          </p:cNvPr>
          <p:cNvSpPr>
            <a:spLocks noGrp="1"/>
          </p:cNvSpPr>
          <p:nvPr/>
        </p:nvSpPr>
        <p:spPr>
          <a:xfrm>
            <a:off x="571500" y="6505575"/>
            <a:ext cx="5334000" cy="171450"/>
          </a:xfrm>
          <a:prstGeom prst="rect">
            <a:avLst/>
          </a:prstGeom>
          <a:noFill/>
          <a:ln w="0">
            <a:noFill/>
            <a:prstDash val="solid"/>
          </a:ln>
        </p:spPr>
        <p:txBody>
          <a:bodyPr wrap="none" lIns="28575" tIns="19050" rIns="28575" bIns="19050" anchor="ctr">
            <a:noAutofit/>
          </a:bodyPr>
          <a:lstStyle/>
          <a:p>
            <a:pPr algn="l">
              <a:lnSpc>
                <a:spcPct val="100000"/>
              </a:lnSpc>
              <a:buNone/>
              <a:defRPr sz="713" b="0" i="0">
                <a:solidFill>
                  <a:srgbClr val="777777"/>
                </a:solidFill>
                <a:latin typeface="Yu Gothic"/>
                <a:ea typeface="Yu Gothic"/>
                <a:cs typeface="Yu Gothic"/>
              </a:defRPr>
            </a:pPr>
            <a:r>
              <a:rPr sz="713" b="0" i="0">
                <a:solidFill>
                  <a:srgbClr val="777777"/>
                </a:solidFill>
                <a:latin typeface="Yu Gothic"/>
                <a:ea typeface="Yu Gothic"/>
                <a:cs typeface="Yu Gothic"/>
              </a:rPr>
              <a:t>THERMAL RC / EQUIPMENT ENGINEERING REVIEW  ·  2026-09-17</a:t>
            </a:r>
          </a:p>
        </p:txBody>
      </p:sp>
      <p:sp>
        <p:nvSpPr>
          <p:cNvPr id="8" name="正方形/長方形 7">
            <a:extLst>
              <a:ext uri="{FF2B5EF4-FFF2-40B4-BE49-F238E27FC236}">
                <a16:creationId xmlns:a16="http://schemas.microsoft.com/office/drawing/2014/main" id="{3965258F-68F1-47EA-B2ED-C8F38CECEC57}"/>
              </a:ext>
            </a:extLst>
          </p:cNvPr>
          <p:cNvSpPr>
            <a:spLocks noGrp="1"/>
          </p:cNvSpPr>
          <p:nvPr/>
        </p:nvSpPr>
        <p:spPr>
          <a:xfrm>
            <a:off x="11125200" y="6496050"/>
            <a:ext cx="476250" cy="171450"/>
          </a:xfrm>
          <a:prstGeom prst="rect">
            <a:avLst/>
          </a:prstGeom>
          <a:noFill/>
          <a:ln w="0">
            <a:noFill/>
            <a:prstDash val="solid"/>
          </a:ln>
        </p:spPr>
        <p:txBody>
          <a:bodyPr wrap="square" lIns="28575" tIns="19050" rIns="28575" bIns="19050" anchor="ctr">
            <a:noAutofit/>
          </a:bodyPr>
          <a:lstStyle/>
          <a:p>
            <a:pPr algn="r">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10</a:t>
            </a:r>
          </a:p>
        </p:txBody>
      </p:sp>
      <p:sp>
        <p:nvSpPr>
          <p:cNvPr id="9" name="正方形/長方形 8">
            <a:extLst>
              <a:ext uri="{FF2B5EF4-FFF2-40B4-BE49-F238E27FC236}">
                <a16:creationId xmlns:a16="http://schemas.microsoft.com/office/drawing/2014/main" id="{F07CED76-85C0-440B-8A26-C57C9DC11F25}"/>
              </a:ext>
            </a:extLst>
          </p:cNvPr>
          <p:cNvSpPr>
            <a:spLocks noGrp="1"/>
          </p:cNvSpPr>
          <p:nvPr/>
        </p:nvSpPr>
        <p:spPr>
          <a:xfrm>
            <a:off x="552450" y="1438275"/>
            <a:ext cx="6953250" cy="1571625"/>
          </a:xfrm>
          <a:prstGeom prst="rect">
            <a:avLst/>
          </a:prstGeom>
          <a:solidFill>
            <a:srgbClr val="F8F8F8"/>
          </a:solidFill>
          <a:ln w="9525">
            <a:solidFill>
              <a:srgbClr val="D6D6D6"/>
            </a:solidFill>
            <a:prstDash val="solid"/>
          </a:ln>
        </p:spPr>
      </p:sp>
      <p:sp>
        <p:nvSpPr>
          <p:cNvPr id="10" name="四角形: 角を丸くする 9">
            <a:extLst>
              <a:ext uri="{FF2B5EF4-FFF2-40B4-BE49-F238E27FC236}">
                <a16:creationId xmlns:a16="http://schemas.microsoft.com/office/drawing/2014/main" id="{CB1B9D05-CDD8-42E9-9272-668576E680D1}"/>
              </a:ext>
            </a:extLst>
          </p:cNvPr>
          <p:cNvSpPr>
            <a:spLocks noGrp="1"/>
          </p:cNvSpPr>
          <p:nvPr/>
        </p:nvSpPr>
        <p:spPr>
          <a:xfrm>
            <a:off x="742950" y="1609725"/>
            <a:ext cx="1619250" cy="238125"/>
          </a:xfrm>
          <a:prstGeom prst="roundRect">
            <a:avLst>
              <a:gd name="adj" fmla="val 50000"/>
            </a:avLst>
          </a:prstGeom>
          <a:solidFill>
            <a:srgbClr val="E5F6FB"/>
          </a:solidFill>
          <a:ln w="9525">
            <a:solidFill>
              <a:srgbClr val="00A5D8"/>
            </a:solidFill>
            <a:prstDash val="solid"/>
          </a:ln>
        </p:spPr>
      </p:sp>
      <p:sp>
        <p:nvSpPr>
          <p:cNvPr id="11" name="正方形/長方形 10">
            <a:extLst>
              <a:ext uri="{FF2B5EF4-FFF2-40B4-BE49-F238E27FC236}">
                <a16:creationId xmlns:a16="http://schemas.microsoft.com/office/drawing/2014/main" id="{6EB5F95B-C6F1-4F91-B556-8D9954543601}"/>
              </a:ext>
            </a:extLst>
          </p:cNvPr>
          <p:cNvSpPr>
            <a:spLocks noGrp="1"/>
          </p:cNvSpPr>
          <p:nvPr/>
        </p:nvSpPr>
        <p:spPr>
          <a:xfrm>
            <a:off x="790575" y="1619250"/>
            <a:ext cx="1524000" cy="209550"/>
          </a:xfrm>
          <a:prstGeom prst="rect">
            <a:avLst/>
          </a:prstGeom>
          <a:noFill/>
          <a:ln w="0">
            <a:noFill/>
            <a:prstDash val="solid"/>
          </a:ln>
        </p:spPr>
        <p:txBody>
          <a:bodyPr wrap="none" lIns="28575" tIns="19050" rIns="28575" bIns="19050" anchor="ctr">
            <a:noAutofit/>
          </a:bodyPr>
          <a:lstStyle/>
          <a:p>
            <a:pPr algn="ctr">
              <a:lnSpc>
                <a:spcPct val="100000"/>
              </a:lnSpc>
              <a:buNone/>
              <a:defRPr sz="788" b="1" i="0">
                <a:solidFill>
                  <a:srgbClr val="00A5D8"/>
                </a:solidFill>
                <a:latin typeface="Yu Gothic"/>
                <a:ea typeface="Yu Gothic"/>
                <a:cs typeface="Yu Gothic"/>
              </a:defRPr>
            </a:pPr>
            <a:r>
              <a:rPr sz="788" b="1" i="0">
                <a:solidFill>
                  <a:srgbClr val="00A5D8"/>
                </a:solidFill>
                <a:latin typeface="Yu Gothic"/>
                <a:ea typeface="Yu Gothic"/>
                <a:cs typeface="Yu Gothic"/>
              </a:rPr>
              <a:t>NODE ENERGY BALANCE</a:t>
            </a:r>
          </a:p>
        </p:txBody>
      </p:sp>
      <p:sp>
        <p:nvSpPr>
          <p:cNvPr id="12" name="正方形/長方形 11">
            <a:extLst>
              <a:ext uri="{FF2B5EF4-FFF2-40B4-BE49-F238E27FC236}">
                <a16:creationId xmlns:a16="http://schemas.microsoft.com/office/drawing/2014/main" id="{44A57845-C03A-4E62-B563-9A5AF4946B63}"/>
              </a:ext>
            </a:extLst>
          </p:cNvPr>
          <p:cNvSpPr>
            <a:spLocks noGrp="1"/>
          </p:cNvSpPr>
          <p:nvPr/>
        </p:nvSpPr>
        <p:spPr>
          <a:xfrm>
            <a:off x="800100" y="2085975"/>
            <a:ext cx="6438900" cy="495300"/>
          </a:xfrm>
          <a:prstGeom prst="rect">
            <a:avLst/>
          </a:prstGeom>
          <a:noFill/>
          <a:ln w="0">
            <a:noFill/>
            <a:prstDash val="solid"/>
          </a:ln>
        </p:spPr>
        <p:txBody>
          <a:bodyPr wrap="square" lIns="28575" tIns="19050" rIns="28575" bIns="19050" anchor="ctr">
            <a:normAutofit/>
          </a:bodyPr>
          <a:lstStyle/>
          <a:p>
            <a:pPr algn="ctr">
              <a:lnSpc>
                <a:spcPct val="100000"/>
              </a:lnSpc>
              <a:buNone/>
              <a:defRPr sz="1800" b="1" i="0">
                <a:solidFill>
                  <a:srgbClr val="3F3F3F"/>
                </a:solidFill>
                <a:latin typeface="Cambria Math"/>
                <a:ea typeface="Cambria Math"/>
                <a:cs typeface="Cambria Math"/>
              </a:defRPr>
            </a:pPr>
            <a:r>
              <a:rPr sz="1800" b="1" i="0">
                <a:solidFill>
                  <a:srgbClr val="3F3F3F"/>
                </a:solidFill>
                <a:latin typeface="Cambria Math"/>
                <a:ea typeface="Cambria Math"/>
                <a:cs typeface="Cambria Math"/>
              </a:rPr>
              <a:t>Cᵢ dTᵢ/dt = Σⱼ Gᵢⱼ(Tⱼ − Tᵢ) + qᵢ + hᵢ(Tᵣ − Tᵢ) + (Wᵀd)ᵢ</a:t>
            </a:r>
          </a:p>
        </p:txBody>
      </p:sp>
      <p:sp>
        <p:nvSpPr>
          <p:cNvPr id="13" name="正方形/長方形 12">
            <a:extLst>
              <a:ext uri="{FF2B5EF4-FFF2-40B4-BE49-F238E27FC236}">
                <a16:creationId xmlns:a16="http://schemas.microsoft.com/office/drawing/2014/main" id="{EEBF4F22-EB95-4C7B-A108-043BEBA6B000}"/>
              </a:ext>
            </a:extLst>
          </p:cNvPr>
          <p:cNvSpPr>
            <a:spLocks noGrp="1"/>
          </p:cNvSpPr>
          <p:nvPr/>
        </p:nvSpPr>
        <p:spPr>
          <a:xfrm>
            <a:off x="809625" y="2647950"/>
            <a:ext cx="6419850" cy="219075"/>
          </a:xfrm>
          <a:prstGeom prst="rect">
            <a:avLst/>
          </a:prstGeom>
          <a:noFill/>
          <a:ln w="0">
            <a:noFill/>
            <a:prstDash val="solid"/>
          </a:ln>
        </p:spPr>
        <p:txBody>
          <a:bodyPr wrap="square" lIns="28575" tIns="19050" rIns="28575" bIns="19050" anchor="ctr">
            <a:normAutofit/>
          </a:bodyPr>
          <a:lstStyle/>
          <a:p>
            <a:pPr algn="ctr">
              <a:lnSpc>
                <a:spcPct val="100000"/>
              </a:lnSpc>
              <a:buNone/>
              <a:defRPr sz="938" b="0" i="0">
                <a:solidFill>
                  <a:srgbClr val="777777"/>
                </a:solidFill>
                <a:latin typeface="Yu Gothic"/>
                <a:ea typeface="Yu Gothic"/>
                <a:cs typeface="Yu Gothic"/>
              </a:defRPr>
            </a:pPr>
            <a:r>
              <a:rPr sz="938" b="0" i="0">
                <a:solidFill>
                  <a:srgbClr val="777777"/>
                </a:solidFill>
                <a:latin typeface="Yu Gothic"/>
                <a:ea typeface="Yu Gothic"/>
                <a:cs typeface="Yu Gothic"/>
              </a:rPr>
              <a:t>[J/K]·[K/s] = [W]  —  全項を熱流率で統一</a:t>
            </a:r>
          </a:p>
        </p:txBody>
      </p:sp>
      <p:sp>
        <p:nvSpPr>
          <p:cNvPr id="14" name="正方形/長方形 13">
            <a:extLst>
              <a:ext uri="{FF2B5EF4-FFF2-40B4-BE49-F238E27FC236}">
                <a16:creationId xmlns:a16="http://schemas.microsoft.com/office/drawing/2014/main" id="{656D4560-6375-4B9C-8933-83F856CAC489}"/>
              </a:ext>
            </a:extLst>
          </p:cNvPr>
          <p:cNvSpPr>
            <a:spLocks noGrp="1"/>
          </p:cNvSpPr>
          <p:nvPr/>
        </p:nvSpPr>
        <p:spPr>
          <a:xfrm>
            <a:off x="552450" y="3200400"/>
            <a:ext cx="6953250" cy="1952625"/>
          </a:xfrm>
          <a:prstGeom prst="rect">
            <a:avLst/>
          </a:prstGeom>
          <a:solidFill>
            <a:srgbClr val="201445"/>
          </a:solidFill>
          <a:ln w="0">
            <a:noFill/>
            <a:prstDash val="solid"/>
          </a:ln>
        </p:spPr>
      </p:sp>
      <p:sp>
        <p:nvSpPr>
          <p:cNvPr id="15" name="四角形: 角を丸くする 14">
            <a:extLst>
              <a:ext uri="{FF2B5EF4-FFF2-40B4-BE49-F238E27FC236}">
                <a16:creationId xmlns:a16="http://schemas.microsoft.com/office/drawing/2014/main" id="{ED89E83C-B0B4-4A0C-AED8-88626DE2A61E}"/>
              </a:ext>
            </a:extLst>
          </p:cNvPr>
          <p:cNvSpPr>
            <a:spLocks noGrp="1"/>
          </p:cNvSpPr>
          <p:nvPr/>
        </p:nvSpPr>
        <p:spPr>
          <a:xfrm>
            <a:off x="742950" y="3371850"/>
            <a:ext cx="1190625" cy="238125"/>
          </a:xfrm>
          <a:prstGeom prst="roundRect">
            <a:avLst>
              <a:gd name="adj" fmla="val 50000"/>
            </a:avLst>
          </a:prstGeom>
          <a:solidFill>
            <a:srgbClr val="2C2255"/>
          </a:solidFill>
          <a:ln w="9525">
            <a:solidFill>
              <a:srgbClr val="76BE18"/>
            </a:solidFill>
            <a:prstDash val="solid"/>
          </a:ln>
        </p:spPr>
      </p:sp>
      <p:sp>
        <p:nvSpPr>
          <p:cNvPr id="16" name="正方形/長方形 15">
            <a:extLst>
              <a:ext uri="{FF2B5EF4-FFF2-40B4-BE49-F238E27FC236}">
                <a16:creationId xmlns:a16="http://schemas.microsoft.com/office/drawing/2014/main" id="{1E1B5241-6DF0-46FB-B3F4-BF849FC27639}"/>
              </a:ext>
            </a:extLst>
          </p:cNvPr>
          <p:cNvSpPr>
            <a:spLocks noGrp="1"/>
          </p:cNvSpPr>
          <p:nvPr/>
        </p:nvSpPr>
        <p:spPr>
          <a:xfrm>
            <a:off x="790575" y="3381375"/>
            <a:ext cx="1095375" cy="209550"/>
          </a:xfrm>
          <a:prstGeom prst="rect">
            <a:avLst/>
          </a:prstGeom>
          <a:noFill/>
          <a:ln w="0">
            <a:noFill/>
            <a:prstDash val="solid"/>
          </a:ln>
        </p:spPr>
        <p:txBody>
          <a:bodyPr wrap="none" lIns="28575" tIns="19050" rIns="28575" bIns="19050" anchor="ctr">
            <a:noAutofit/>
          </a:bodyPr>
          <a:lstStyle/>
          <a:p>
            <a:pPr algn="ctr">
              <a:lnSpc>
                <a:spcPct val="100000"/>
              </a:lnSpc>
              <a:buNone/>
              <a:defRPr sz="788" b="1" i="0">
                <a:solidFill>
                  <a:srgbClr val="76BE18"/>
                </a:solidFill>
                <a:latin typeface="Yu Gothic"/>
                <a:ea typeface="Yu Gothic"/>
                <a:cs typeface="Yu Gothic"/>
              </a:defRPr>
            </a:pPr>
            <a:r>
              <a:rPr sz="788" b="1" i="0">
                <a:solidFill>
                  <a:srgbClr val="76BE18"/>
                </a:solidFill>
                <a:latin typeface="Yu Gothic"/>
                <a:ea typeface="Yu Gothic"/>
                <a:cs typeface="Yu Gothic"/>
              </a:rPr>
              <a:t>MATRIX FORM</a:t>
            </a:r>
          </a:p>
        </p:txBody>
      </p:sp>
      <p:sp>
        <p:nvSpPr>
          <p:cNvPr id="17" name="正方形/長方形 16">
            <a:extLst>
              <a:ext uri="{FF2B5EF4-FFF2-40B4-BE49-F238E27FC236}">
                <a16:creationId xmlns:a16="http://schemas.microsoft.com/office/drawing/2014/main" id="{4F54299E-C6B6-44C9-8F38-086932566187}"/>
              </a:ext>
            </a:extLst>
          </p:cNvPr>
          <p:cNvSpPr>
            <a:spLocks noGrp="1"/>
          </p:cNvSpPr>
          <p:nvPr/>
        </p:nvSpPr>
        <p:spPr>
          <a:xfrm>
            <a:off x="781050" y="3800475"/>
            <a:ext cx="6286500" cy="371475"/>
          </a:xfrm>
          <a:prstGeom prst="rect">
            <a:avLst/>
          </a:prstGeom>
          <a:noFill/>
          <a:ln w="0">
            <a:noFill/>
            <a:prstDash val="solid"/>
          </a:ln>
        </p:spPr>
        <p:txBody>
          <a:bodyPr wrap="square" lIns="28575" tIns="19050" rIns="28575" bIns="19050" anchor="ctr">
            <a:normAutofit/>
          </a:bodyPr>
          <a:lstStyle/>
          <a:p>
            <a:pPr algn="ctr">
              <a:lnSpc>
                <a:spcPct val="100000"/>
              </a:lnSpc>
              <a:buNone/>
              <a:defRPr sz="1875" b="1" i="0">
                <a:solidFill>
                  <a:srgbClr val="FFFFFF"/>
                </a:solidFill>
                <a:latin typeface="Cambria Math"/>
                <a:ea typeface="Cambria Math"/>
                <a:cs typeface="Cambria Math"/>
              </a:defRPr>
            </a:pPr>
            <a:r>
              <a:rPr sz="1875" b="1" i="0">
                <a:solidFill>
                  <a:srgbClr val="FFFFFF"/>
                </a:solidFill>
                <a:latin typeface="Cambria Math"/>
                <a:ea typeface="Cambria Math"/>
                <a:cs typeface="Cambria Math"/>
              </a:rPr>
              <a:t>L = Bₑᵀ diag(g) Bₑ</a:t>
            </a:r>
          </a:p>
        </p:txBody>
      </p:sp>
      <p:sp>
        <p:nvSpPr>
          <p:cNvPr id="18" name="正方形/長方形 17">
            <a:extLst>
              <a:ext uri="{FF2B5EF4-FFF2-40B4-BE49-F238E27FC236}">
                <a16:creationId xmlns:a16="http://schemas.microsoft.com/office/drawing/2014/main" id="{4D1707FB-7C78-4E0B-862D-A2A0D5B631BC}"/>
              </a:ext>
            </a:extLst>
          </p:cNvPr>
          <p:cNvSpPr>
            <a:spLocks noGrp="1"/>
          </p:cNvSpPr>
          <p:nvPr/>
        </p:nvSpPr>
        <p:spPr>
          <a:xfrm>
            <a:off x="781050" y="4229100"/>
            <a:ext cx="6286500" cy="419100"/>
          </a:xfrm>
          <a:prstGeom prst="rect">
            <a:avLst/>
          </a:prstGeom>
          <a:noFill/>
          <a:ln w="0">
            <a:noFill/>
            <a:prstDash val="solid"/>
          </a:ln>
        </p:spPr>
        <p:txBody>
          <a:bodyPr wrap="square" lIns="28575" tIns="19050" rIns="28575" bIns="19050" anchor="ctr">
            <a:normAutofit/>
          </a:bodyPr>
          <a:lstStyle/>
          <a:p>
            <a:pPr algn="ctr">
              <a:lnSpc>
                <a:spcPct val="100000"/>
              </a:lnSpc>
              <a:buNone/>
              <a:defRPr sz="1800" b="0" i="0">
                <a:solidFill>
                  <a:srgbClr val="FFFFFF"/>
                </a:solidFill>
                <a:latin typeface="Cambria Math"/>
                <a:ea typeface="Cambria Math"/>
                <a:cs typeface="Cambria Math"/>
              </a:defRPr>
            </a:pPr>
            <a:r>
              <a:rPr sz="1800" b="0" i="0">
                <a:solidFill>
                  <a:srgbClr val="FFFFFF"/>
                </a:solidFill>
                <a:latin typeface="Cambria Math"/>
                <a:ea typeface="Cambria Math"/>
                <a:cs typeface="Cambria Math"/>
              </a:rPr>
              <a:t>C Ṫ = −L T + q + h ⊙ (Tᵣ1 − T) + Wᵀd</a:t>
            </a:r>
          </a:p>
        </p:txBody>
      </p:sp>
      <p:sp>
        <p:nvSpPr>
          <p:cNvPr id="19" name="正方形/長方形 18">
            <a:extLst>
              <a:ext uri="{FF2B5EF4-FFF2-40B4-BE49-F238E27FC236}">
                <a16:creationId xmlns:a16="http://schemas.microsoft.com/office/drawing/2014/main" id="{E5000969-C302-43C8-AA37-7E7AD8AB7544}"/>
              </a:ext>
            </a:extLst>
          </p:cNvPr>
          <p:cNvSpPr>
            <a:spLocks noGrp="1"/>
          </p:cNvSpPr>
          <p:nvPr/>
        </p:nvSpPr>
        <p:spPr>
          <a:xfrm>
            <a:off x="781050" y="4695825"/>
            <a:ext cx="6286500" cy="323850"/>
          </a:xfrm>
          <a:prstGeom prst="rect">
            <a:avLst/>
          </a:prstGeom>
          <a:noFill/>
          <a:ln w="0">
            <a:noFill/>
            <a:prstDash val="solid"/>
          </a:ln>
        </p:spPr>
        <p:txBody>
          <a:bodyPr wrap="square" lIns="28575" tIns="19050" rIns="28575" bIns="19050" anchor="ctr">
            <a:normAutofit/>
          </a:bodyPr>
          <a:lstStyle/>
          <a:p>
            <a:pPr algn="ctr">
              <a:lnSpc>
                <a:spcPct val="100000"/>
              </a:lnSpc>
              <a:buNone/>
              <a:defRPr sz="1800" b="1" i="0">
                <a:solidFill>
                  <a:srgbClr val="76BE18"/>
                </a:solidFill>
                <a:latin typeface="Cambria Math"/>
                <a:ea typeface="Cambria Math"/>
                <a:cs typeface="Cambria Math"/>
              </a:defRPr>
            </a:pPr>
            <a:r>
              <a:rPr sz="1800" b="1" i="0">
                <a:solidFill>
                  <a:srgbClr val="76BE18"/>
                </a:solidFill>
                <a:latin typeface="Cambria Math"/>
                <a:ea typeface="Cambria Math"/>
                <a:cs typeface="Cambria Math"/>
              </a:rPr>
              <a:t>Ṫ = A(a)T + b(a)</a:t>
            </a:r>
          </a:p>
        </p:txBody>
      </p:sp>
      <p:sp>
        <p:nvSpPr>
          <p:cNvPr id="20" name="正方形/長方形 19">
            <a:extLst>
              <a:ext uri="{FF2B5EF4-FFF2-40B4-BE49-F238E27FC236}">
                <a16:creationId xmlns:a16="http://schemas.microsoft.com/office/drawing/2014/main" id="{1AC699C9-9AC5-4174-9062-F669121ADFDF}"/>
              </a:ext>
            </a:extLst>
          </p:cNvPr>
          <p:cNvSpPr>
            <a:spLocks noGrp="1"/>
          </p:cNvSpPr>
          <p:nvPr/>
        </p:nvSpPr>
        <p:spPr>
          <a:xfrm>
            <a:off x="7791450" y="1438275"/>
            <a:ext cx="3848100" cy="285750"/>
          </a:xfrm>
          <a:prstGeom prst="rect">
            <a:avLst/>
          </a:prstGeom>
          <a:noFill/>
          <a:ln w="0">
            <a:noFill/>
            <a:prstDash val="solid"/>
          </a:ln>
        </p:spPr>
        <p:txBody>
          <a:bodyPr wrap="square" lIns="28575" tIns="19050" rIns="28575" bIns="19050" anchor="ctr">
            <a:normAutofit/>
          </a:bodyPr>
          <a:lstStyle/>
          <a:p>
            <a:pPr algn="l">
              <a:lnSpc>
                <a:spcPct val="100000"/>
              </a:lnSpc>
              <a:buNone/>
              <a:defRPr sz="1350" b="1" i="0">
                <a:solidFill>
                  <a:srgbClr val="3F3F3F"/>
                </a:solidFill>
                <a:latin typeface="Yu Gothic"/>
                <a:ea typeface="Yu Gothic"/>
                <a:cs typeface="Yu Gothic"/>
              </a:defRPr>
            </a:pPr>
            <a:r>
              <a:rPr sz="1350" b="1" i="0">
                <a:solidFill>
                  <a:srgbClr val="3F3F3F"/>
                </a:solidFill>
                <a:latin typeface="Yu Gothic"/>
                <a:ea typeface="Yu Gothic"/>
                <a:cs typeface="Yu Gothic"/>
              </a:rPr>
              <a:t>構造的な検査項目</a:t>
            </a:r>
          </a:p>
        </p:txBody>
      </p:sp>
      <p:sp>
        <p:nvSpPr>
          <p:cNvPr id="21" name="正方形/長方形 20">
            <a:extLst>
              <a:ext uri="{FF2B5EF4-FFF2-40B4-BE49-F238E27FC236}">
                <a16:creationId xmlns:a16="http://schemas.microsoft.com/office/drawing/2014/main" id="{1DBF78F7-787F-4514-8892-83EBB51DE452}"/>
              </a:ext>
            </a:extLst>
          </p:cNvPr>
          <p:cNvSpPr>
            <a:spLocks noGrp="1"/>
          </p:cNvSpPr>
          <p:nvPr/>
        </p:nvSpPr>
        <p:spPr>
          <a:xfrm>
            <a:off x="7791450" y="1828800"/>
            <a:ext cx="3848100" cy="685800"/>
          </a:xfrm>
          <a:prstGeom prst="rect">
            <a:avLst/>
          </a:prstGeom>
          <a:solidFill>
            <a:srgbClr val="FFFFFF"/>
          </a:solidFill>
          <a:ln w="9525">
            <a:solidFill>
              <a:srgbClr val="D6D6D6"/>
            </a:solidFill>
            <a:prstDash val="solid"/>
          </a:ln>
        </p:spPr>
      </p:sp>
      <p:sp>
        <p:nvSpPr>
          <p:cNvPr id="22" name="正方形/長方形 21">
            <a:extLst>
              <a:ext uri="{FF2B5EF4-FFF2-40B4-BE49-F238E27FC236}">
                <a16:creationId xmlns:a16="http://schemas.microsoft.com/office/drawing/2014/main" id="{25AF5A92-DC0C-4EBA-8C9C-45A0FF3E65D3}"/>
              </a:ext>
            </a:extLst>
          </p:cNvPr>
          <p:cNvSpPr>
            <a:spLocks noGrp="1"/>
          </p:cNvSpPr>
          <p:nvPr/>
        </p:nvSpPr>
        <p:spPr>
          <a:xfrm>
            <a:off x="7791450" y="1828800"/>
            <a:ext cx="66675" cy="685800"/>
          </a:xfrm>
          <a:prstGeom prst="rect">
            <a:avLst/>
          </a:prstGeom>
          <a:solidFill>
            <a:srgbClr val="00A5D8"/>
          </a:solidFill>
          <a:ln w="0">
            <a:noFill/>
            <a:prstDash val="solid"/>
          </a:ln>
        </p:spPr>
      </p:sp>
      <p:sp>
        <p:nvSpPr>
          <p:cNvPr id="23" name="正方形/長方形 22">
            <a:extLst>
              <a:ext uri="{FF2B5EF4-FFF2-40B4-BE49-F238E27FC236}">
                <a16:creationId xmlns:a16="http://schemas.microsoft.com/office/drawing/2014/main" id="{2A837540-19C8-471A-9CF1-97E5E0D5D334}"/>
              </a:ext>
            </a:extLst>
          </p:cNvPr>
          <p:cNvSpPr>
            <a:spLocks noGrp="1"/>
          </p:cNvSpPr>
          <p:nvPr/>
        </p:nvSpPr>
        <p:spPr>
          <a:xfrm>
            <a:off x="7981950" y="1905000"/>
            <a:ext cx="904875" cy="228600"/>
          </a:xfrm>
          <a:prstGeom prst="rect">
            <a:avLst/>
          </a:prstGeom>
          <a:noFill/>
          <a:ln w="0">
            <a:noFill/>
            <a:prstDash val="solid"/>
          </a:ln>
        </p:spPr>
        <p:txBody>
          <a:bodyPr wrap="square" lIns="28575" tIns="19050" rIns="28575" bIns="19050" anchor="ctr">
            <a:normAutofit/>
          </a:bodyPr>
          <a:lstStyle/>
          <a:p>
            <a:pPr algn="l">
              <a:lnSpc>
                <a:spcPct val="100000"/>
              </a:lnSpc>
              <a:buNone/>
              <a:defRPr sz="1050" b="1" i="0">
                <a:solidFill>
                  <a:srgbClr val="00A5D8"/>
                </a:solidFill>
                <a:latin typeface="Yu Gothic"/>
                <a:ea typeface="Yu Gothic"/>
                <a:cs typeface="Yu Gothic"/>
              </a:defRPr>
            </a:pPr>
            <a:r>
              <a:rPr sz="1050" b="1" i="0">
                <a:solidFill>
                  <a:srgbClr val="00A5D8"/>
                </a:solidFill>
                <a:latin typeface="Yu Gothic"/>
                <a:ea typeface="Yu Gothic"/>
                <a:cs typeface="Yu Gothic"/>
              </a:rPr>
              <a:t>相反性</a:t>
            </a:r>
          </a:p>
        </p:txBody>
      </p:sp>
      <p:sp>
        <p:nvSpPr>
          <p:cNvPr id="24" name="正方形/長方形 23">
            <a:extLst>
              <a:ext uri="{FF2B5EF4-FFF2-40B4-BE49-F238E27FC236}">
                <a16:creationId xmlns:a16="http://schemas.microsoft.com/office/drawing/2014/main" id="{9E61D908-2CFE-4CC7-8425-7194FCCA8F19}"/>
              </a:ext>
            </a:extLst>
          </p:cNvPr>
          <p:cNvSpPr>
            <a:spLocks noGrp="1"/>
          </p:cNvSpPr>
          <p:nvPr/>
        </p:nvSpPr>
        <p:spPr>
          <a:xfrm>
            <a:off x="8915400" y="1895475"/>
            <a:ext cx="2533650" cy="238125"/>
          </a:xfrm>
          <a:prstGeom prst="rect">
            <a:avLst/>
          </a:prstGeom>
          <a:noFill/>
          <a:ln w="0">
            <a:noFill/>
            <a:prstDash val="solid"/>
          </a:ln>
        </p:spPr>
        <p:txBody>
          <a:bodyPr wrap="square" lIns="28575" tIns="19050" rIns="28575" bIns="19050" anchor="ctr">
            <a:normAutofit/>
          </a:bodyPr>
          <a:lstStyle/>
          <a:p>
            <a:pPr algn="l">
              <a:lnSpc>
                <a:spcPct val="100000"/>
              </a:lnSpc>
              <a:buNone/>
              <a:defRPr sz="1200" b="1" i="0">
                <a:solidFill>
                  <a:srgbClr val="3F3F3F"/>
                </a:solidFill>
                <a:latin typeface="Cambria Math"/>
                <a:ea typeface="Cambria Math"/>
                <a:cs typeface="Cambria Math"/>
              </a:defRPr>
            </a:pPr>
            <a:r>
              <a:rPr sz="1200" b="1" i="0">
                <a:solidFill>
                  <a:srgbClr val="3F3F3F"/>
                </a:solidFill>
                <a:latin typeface="Cambria Math"/>
                <a:ea typeface="Cambria Math"/>
                <a:cs typeface="Cambria Math"/>
              </a:rPr>
              <a:t>qᵢ←ⱼ = −qⱼ←ᵢ</a:t>
            </a:r>
          </a:p>
        </p:txBody>
      </p:sp>
      <p:sp>
        <p:nvSpPr>
          <p:cNvPr id="25" name="正方形/長方形 24">
            <a:extLst>
              <a:ext uri="{FF2B5EF4-FFF2-40B4-BE49-F238E27FC236}">
                <a16:creationId xmlns:a16="http://schemas.microsoft.com/office/drawing/2014/main" id="{957E8FED-E563-4906-A573-D1783D1162D8}"/>
              </a:ext>
            </a:extLst>
          </p:cNvPr>
          <p:cNvSpPr>
            <a:spLocks noGrp="1"/>
          </p:cNvSpPr>
          <p:nvPr/>
        </p:nvSpPr>
        <p:spPr>
          <a:xfrm>
            <a:off x="7981950" y="2200275"/>
            <a:ext cx="3467100" cy="219075"/>
          </a:xfrm>
          <a:prstGeom prst="rect">
            <a:avLst/>
          </a:prstGeom>
          <a:noFill/>
          <a:ln w="0">
            <a:noFill/>
            <a:prstDash val="solid"/>
          </a:ln>
        </p:spPr>
        <p:txBody>
          <a:bodyPr wrap="square" lIns="28575" tIns="19050" rIns="28575" bIns="19050" anchor="ctr">
            <a:normAutofit/>
          </a:bodyPr>
          <a:lstStyle/>
          <a:p>
            <a:pPr algn="l">
              <a:lnSpc>
                <a:spcPct val="100000"/>
              </a:lnSpc>
              <a:buNone/>
              <a:defRPr sz="863" b="0" i="0">
                <a:solidFill>
                  <a:srgbClr val="5B5B5B"/>
                </a:solidFill>
                <a:latin typeface="Yu Gothic"/>
                <a:ea typeface="Yu Gothic"/>
                <a:cs typeface="Yu Gothic"/>
              </a:defRPr>
            </a:pPr>
            <a:r>
              <a:rPr sz="863" b="0" i="0">
                <a:solidFill>
                  <a:srgbClr val="5B5B5B"/>
                </a:solidFill>
                <a:latin typeface="Yu Gothic"/>
                <a:ea typeface="Yu Gothic"/>
                <a:cs typeface="Yu Gothic"/>
              </a:rPr>
              <a:t>内部熱流の二重計上を防止</a:t>
            </a:r>
          </a:p>
        </p:txBody>
      </p:sp>
      <p:sp>
        <p:nvSpPr>
          <p:cNvPr id="26" name="正方形/長方形 25">
            <a:extLst>
              <a:ext uri="{FF2B5EF4-FFF2-40B4-BE49-F238E27FC236}">
                <a16:creationId xmlns:a16="http://schemas.microsoft.com/office/drawing/2014/main" id="{6BB2A7A0-8216-438A-9038-8984F47571C4}"/>
              </a:ext>
            </a:extLst>
          </p:cNvPr>
          <p:cNvSpPr>
            <a:spLocks noGrp="1"/>
          </p:cNvSpPr>
          <p:nvPr/>
        </p:nvSpPr>
        <p:spPr>
          <a:xfrm>
            <a:off x="7791450" y="2638425"/>
            <a:ext cx="3848100" cy="685800"/>
          </a:xfrm>
          <a:prstGeom prst="rect">
            <a:avLst/>
          </a:prstGeom>
          <a:solidFill>
            <a:srgbClr val="FFFFFF"/>
          </a:solidFill>
          <a:ln w="9525">
            <a:solidFill>
              <a:srgbClr val="D6D6D6"/>
            </a:solidFill>
            <a:prstDash val="solid"/>
          </a:ln>
        </p:spPr>
      </p:sp>
      <p:sp>
        <p:nvSpPr>
          <p:cNvPr id="27" name="正方形/長方形 26">
            <a:extLst>
              <a:ext uri="{FF2B5EF4-FFF2-40B4-BE49-F238E27FC236}">
                <a16:creationId xmlns:a16="http://schemas.microsoft.com/office/drawing/2014/main" id="{C50F15C5-2148-48B3-A3E1-FB1FF9C3EFF5}"/>
              </a:ext>
            </a:extLst>
          </p:cNvPr>
          <p:cNvSpPr>
            <a:spLocks noGrp="1"/>
          </p:cNvSpPr>
          <p:nvPr/>
        </p:nvSpPr>
        <p:spPr>
          <a:xfrm>
            <a:off x="7791450" y="2638425"/>
            <a:ext cx="66675" cy="685800"/>
          </a:xfrm>
          <a:prstGeom prst="rect">
            <a:avLst/>
          </a:prstGeom>
          <a:solidFill>
            <a:srgbClr val="76BE18"/>
          </a:solidFill>
          <a:ln w="0">
            <a:noFill/>
            <a:prstDash val="solid"/>
          </a:ln>
        </p:spPr>
      </p:sp>
      <p:sp>
        <p:nvSpPr>
          <p:cNvPr id="28" name="正方形/長方形 27">
            <a:extLst>
              <a:ext uri="{FF2B5EF4-FFF2-40B4-BE49-F238E27FC236}">
                <a16:creationId xmlns:a16="http://schemas.microsoft.com/office/drawing/2014/main" id="{1BC5868B-5131-4660-9C7B-E11E356F7A35}"/>
              </a:ext>
            </a:extLst>
          </p:cNvPr>
          <p:cNvSpPr>
            <a:spLocks noGrp="1"/>
          </p:cNvSpPr>
          <p:nvPr/>
        </p:nvSpPr>
        <p:spPr>
          <a:xfrm>
            <a:off x="7981950" y="2714625"/>
            <a:ext cx="904875" cy="228600"/>
          </a:xfrm>
          <a:prstGeom prst="rect">
            <a:avLst/>
          </a:prstGeom>
          <a:noFill/>
          <a:ln w="0">
            <a:noFill/>
            <a:prstDash val="solid"/>
          </a:ln>
        </p:spPr>
        <p:txBody>
          <a:bodyPr wrap="square" lIns="28575" tIns="19050" rIns="28575" bIns="19050" anchor="ctr">
            <a:normAutofit/>
          </a:bodyPr>
          <a:lstStyle/>
          <a:p>
            <a:pPr algn="l">
              <a:lnSpc>
                <a:spcPct val="100000"/>
              </a:lnSpc>
              <a:buNone/>
              <a:defRPr sz="1050" b="1" i="0">
                <a:solidFill>
                  <a:srgbClr val="76BE18"/>
                </a:solidFill>
                <a:latin typeface="Yu Gothic"/>
                <a:ea typeface="Yu Gothic"/>
                <a:cs typeface="Yu Gothic"/>
              </a:defRPr>
            </a:pPr>
            <a:r>
              <a:rPr sz="1050" b="1" i="0">
                <a:solidFill>
                  <a:srgbClr val="76BE18"/>
                </a:solidFill>
                <a:latin typeface="Yu Gothic"/>
                <a:ea typeface="Yu Gothic"/>
                <a:cs typeface="Yu Gothic"/>
              </a:rPr>
              <a:t>閉系保存</a:t>
            </a:r>
          </a:p>
        </p:txBody>
      </p:sp>
      <p:sp>
        <p:nvSpPr>
          <p:cNvPr id="29" name="正方形/長方形 28">
            <a:extLst>
              <a:ext uri="{FF2B5EF4-FFF2-40B4-BE49-F238E27FC236}">
                <a16:creationId xmlns:a16="http://schemas.microsoft.com/office/drawing/2014/main" id="{33016F3C-C636-47D0-BC27-21D950DACD0B}"/>
              </a:ext>
            </a:extLst>
          </p:cNvPr>
          <p:cNvSpPr>
            <a:spLocks noGrp="1"/>
          </p:cNvSpPr>
          <p:nvPr/>
        </p:nvSpPr>
        <p:spPr>
          <a:xfrm>
            <a:off x="8915400" y="2705100"/>
            <a:ext cx="2533650" cy="238125"/>
          </a:xfrm>
          <a:prstGeom prst="rect">
            <a:avLst/>
          </a:prstGeom>
          <a:noFill/>
          <a:ln w="0">
            <a:noFill/>
            <a:prstDash val="solid"/>
          </a:ln>
        </p:spPr>
        <p:txBody>
          <a:bodyPr wrap="square" lIns="28575" tIns="19050" rIns="28575" bIns="19050" anchor="ctr">
            <a:normAutofit/>
          </a:bodyPr>
          <a:lstStyle/>
          <a:p>
            <a:pPr algn="l">
              <a:lnSpc>
                <a:spcPct val="100000"/>
              </a:lnSpc>
              <a:buNone/>
              <a:defRPr sz="1200" b="1" i="0">
                <a:solidFill>
                  <a:srgbClr val="3F3F3F"/>
                </a:solidFill>
                <a:latin typeface="Cambria Math"/>
                <a:ea typeface="Cambria Math"/>
                <a:cs typeface="Cambria Math"/>
              </a:defRPr>
            </a:pPr>
            <a:r>
              <a:rPr sz="1200" b="1" i="0">
                <a:solidFill>
                  <a:srgbClr val="3F3F3F"/>
                </a:solidFill>
                <a:latin typeface="Cambria Math"/>
                <a:ea typeface="Cambria Math"/>
                <a:cs typeface="Cambria Math"/>
              </a:rPr>
              <a:t>d(1ᵀCT)/dt = 0</a:t>
            </a:r>
          </a:p>
        </p:txBody>
      </p:sp>
      <p:sp>
        <p:nvSpPr>
          <p:cNvPr id="30" name="正方形/長方形 29">
            <a:extLst>
              <a:ext uri="{FF2B5EF4-FFF2-40B4-BE49-F238E27FC236}">
                <a16:creationId xmlns:a16="http://schemas.microsoft.com/office/drawing/2014/main" id="{D4D7E912-BD7B-422A-891E-00C11006DFC2}"/>
              </a:ext>
            </a:extLst>
          </p:cNvPr>
          <p:cNvSpPr>
            <a:spLocks noGrp="1"/>
          </p:cNvSpPr>
          <p:nvPr/>
        </p:nvSpPr>
        <p:spPr>
          <a:xfrm>
            <a:off x="7981950" y="3009900"/>
            <a:ext cx="3467100" cy="219075"/>
          </a:xfrm>
          <a:prstGeom prst="rect">
            <a:avLst/>
          </a:prstGeom>
          <a:noFill/>
          <a:ln w="0">
            <a:noFill/>
            <a:prstDash val="solid"/>
          </a:ln>
        </p:spPr>
        <p:txBody>
          <a:bodyPr wrap="square" lIns="28575" tIns="19050" rIns="28575" bIns="19050" anchor="ctr">
            <a:normAutofit/>
          </a:bodyPr>
          <a:lstStyle/>
          <a:p>
            <a:pPr algn="l">
              <a:lnSpc>
                <a:spcPct val="100000"/>
              </a:lnSpc>
              <a:buNone/>
              <a:defRPr sz="863" b="0" i="0">
                <a:solidFill>
                  <a:srgbClr val="5B5B5B"/>
                </a:solidFill>
                <a:latin typeface="Yu Gothic"/>
                <a:ea typeface="Yu Gothic"/>
                <a:cs typeface="Yu Gothic"/>
              </a:defRPr>
            </a:pPr>
            <a:r>
              <a:rPr sz="863" b="0" i="0">
                <a:solidFill>
                  <a:srgbClr val="5B5B5B"/>
                </a:solidFill>
                <a:latin typeface="Yu Gothic"/>
                <a:ea typeface="Yu Gothic"/>
                <a:cs typeface="Yu Gothic"/>
              </a:rPr>
              <a:t>境界・熱源なしで総エネルギー一定</a:t>
            </a:r>
          </a:p>
        </p:txBody>
      </p:sp>
      <p:sp>
        <p:nvSpPr>
          <p:cNvPr id="31" name="正方形/長方形 30">
            <a:extLst>
              <a:ext uri="{FF2B5EF4-FFF2-40B4-BE49-F238E27FC236}">
                <a16:creationId xmlns:a16="http://schemas.microsoft.com/office/drawing/2014/main" id="{479EEDA9-6609-47F9-AFAD-D345A089BC16}"/>
              </a:ext>
            </a:extLst>
          </p:cNvPr>
          <p:cNvSpPr>
            <a:spLocks noGrp="1"/>
          </p:cNvSpPr>
          <p:nvPr/>
        </p:nvSpPr>
        <p:spPr>
          <a:xfrm>
            <a:off x="7791450" y="3448050"/>
            <a:ext cx="3848100" cy="685800"/>
          </a:xfrm>
          <a:prstGeom prst="rect">
            <a:avLst/>
          </a:prstGeom>
          <a:solidFill>
            <a:srgbClr val="FFFFFF"/>
          </a:solidFill>
          <a:ln w="9525">
            <a:solidFill>
              <a:srgbClr val="D6D6D6"/>
            </a:solidFill>
            <a:prstDash val="solid"/>
          </a:ln>
        </p:spPr>
      </p:sp>
      <p:sp>
        <p:nvSpPr>
          <p:cNvPr id="32" name="正方形/長方形 31">
            <a:extLst>
              <a:ext uri="{FF2B5EF4-FFF2-40B4-BE49-F238E27FC236}">
                <a16:creationId xmlns:a16="http://schemas.microsoft.com/office/drawing/2014/main" id="{BD0D82E1-25DB-4FD7-AB01-4E6B9E875111}"/>
              </a:ext>
            </a:extLst>
          </p:cNvPr>
          <p:cNvSpPr>
            <a:spLocks noGrp="1"/>
          </p:cNvSpPr>
          <p:nvPr/>
        </p:nvSpPr>
        <p:spPr>
          <a:xfrm>
            <a:off x="7791450" y="3448050"/>
            <a:ext cx="66675" cy="685800"/>
          </a:xfrm>
          <a:prstGeom prst="rect">
            <a:avLst/>
          </a:prstGeom>
          <a:solidFill>
            <a:srgbClr val="7B2DAF"/>
          </a:solidFill>
          <a:ln w="0">
            <a:noFill/>
            <a:prstDash val="solid"/>
          </a:ln>
        </p:spPr>
      </p:sp>
      <p:sp>
        <p:nvSpPr>
          <p:cNvPr id="33" name="正方形/長方形 32">
            <a:extLst>
              <a:ext uri="{FF2B5EF4-FFF2-40B4-BE49-F238E27FC236}">
                <a16:creationId xmlns:a16="http://schemas.microsoft.com/office/drawing/2014/main" id="{B00C65DD-F229-45BD-8C6A-729DB4B786C3}"/>
              </a:ext>
            </a:extLst>
          </p:cNvPr>
          <p:cNvSpPr>
            <a:spLocks noGrp="1"/>
          </p:cNvSpPr>
          <p:nvPr/>
        </p:nvSpPr>
        <p:spPr>
          <a:xfrm>
            <a:off x="7981950" y="3524250"/>
            <a:ext cx="904875" cy="228600"/>
          </a:xfrm>
          <a:prstGeom prst="rect">
            <a:avLst/>
          </a:prstGeom>
          <a:noFill/>
          <a:ln w="0">
            <a:noFill/>
            <a:prstDash val="solid"/>
          </a:ln>
        </p:spPr>
        <p:txBody>
          <a:bodyPr wrap="square" lIns="28575" tIns="19050" rIns="28575" bIns="19050" anchor="ctr">
            <a:normAutofit/>
          </a:bodyPr>
          <a:lstStyle/>
          <a:p>
            <a:pPr algn="l">
              <a:lnSpc>
                <a:spcPct val="100000"/>
              </a:lnSpc>
              <a:buNone/>
              <a:defRPr sz="1050" b="1" i="0">
                <a:solidFill>
                  <a:srgbClr val="7B2DAF"/>
                </a:solidFill>
                <a:latin typeface="Yu Gothic"/>
                <a:ea typeface="Yu Gothic"/>
                <a:cs typeface="Yu Gothic"/>
              </a:defRPr>
            </a:pPr>
            <a:r>
              <a:rPr sz="1050" b="1" i="0">
                <a:solidFill>
                  <a:srgbClr val="7B2DAF"/>
                </a:solidFill>
                <a:latin typeface="Yu Gothic"/>
                <a:ea typeface="Yu Gothic"/>
                <a:cs typeface="Yu Gothic"/>
              </a:rPr>
              <a:t>散逸性</a:t>
            </a:r>
          </a:p>
        </p:txBody>
      </p:sp>
      <p:sp>
        <p:nvSpPr>
          <p:cNvPr id="34" name="正方形/長方形 33">
            <a:extLst>
              <a:ext uri="{FF2B5EF4-FFF2-40B4-BE49-F238E27FC236}">
                <a16:creationId xmlns:a16="http://schemas.microsoft.com/office/drawing/2014/main" id="{46291351-87F2-4123-88BC-7CA2F372EC6C}"/>
              </a:ext>
            </a:extLst>
          </p:cNvPr>
          <p:cNvSpPr>
            <a:spLocks noGrp="1"/>
          </p:cNvSpPr>
          <p:nvPr/>
        </p:nvSpPr>
        <p:spPr>
          <a:xfrm>
            <a:off x="8915400" y="3514725"/>
            <a:ext cx="2533650" cy="238125"/>
          </a:xfrm>
          <a:prstGeom prst="rect">
            <a:avLst/>
          </a:prstGeom>
          <a:noFill/>
          <a:ln w="0">
            <a:noFill/>
            <a:prstDash val="solid"/>
          </a:ln>
        </p:spPr>
        <p:txBody>
          <a:bodyPr wrap="square" lIns="28575" tIns="19050" rIns="28575" bIns="19050" anchor="ctr">
            <a:normAutofit/>
          </a:bodyPr>
          <a:lstStyle/>
          <a:p>
            <a:pPr algn="l">
              <a:lnSpc>
                <a:spcPct val="100000"/>
              </a:lnSpc>
              <a:buNone/>
              <a:defRPr sz="1200" b="1" i="0">
                <a:solidFill>
                  <a:srgbClr val="3F3F3F"/>
                </a:solidFill>
                <a:latin typeface="Cambria Math"/>
                <a:ea typeface="Cambria Math"/>
                <a:cs typeface="Cambria Math"/>
              </a:defRPr>
            </a:pPr>
            <a:r>
              <a:rPr sz="1200" b="1" i="0">
                <a:solidFill>
                  <a:srgbClr val="3F3F3F"/>
                </a:solidFill>
                <a:latin typeface="Cambria Math"/>
                <a:ea typeface="Cambria Math"/>
                <a:cs typeface="Cambria Math"/>
              </a:rPr>
              <a:t>TᵀLT = Σ Gₑ(ΔTₑ)² ≥ 0</a:t>
            </a:r>
          </a:p>
        </p:txBody>
      </p:sp>
      <p:sp>
        <p:nvSpPr>
          <p:cNvPr id="35" name="正方形/長方形 34">
            <a:extLst>
              <a:ext uri="{FF2B5EF4-FFF2-40B4-BE49-F238E27FC236}">
                <a16:creationId xmlns:a16="http://schemas.microsoft.com/office/drawing/2014/main" id="{BB36506F-0EAC-4DCD-A1AC-EB5B3492E009}"/>
              </a:ext>
            </a:extLst>
          </p:cNvPr>
          <p:cNvSpPr>
            <a:spLocks noGrp="1"/>
          </p:cNvSpPr>
          <p:nvPr/>
        </p:nvSpPr>
        <p:spPr>
          <a:xfrm>
            <a:off x="7981950" y="3819525"/>
            <a:ext cx="3467100" cy="219075"/>
          </a:xfrm>
          <a:prstGeom prst="rect">
            <a:avLst/>
          </a:prstGeom>
          <a:noFill/>
          <a:ln w="0">
            <a:noFill/>
            <a:prstDash val="solid"/>
          </a:ln>
        </p:spPr>
        <p:txBody>
          <a:bodyPr wrap="square" lIns="28575" tIns="19050" rIns="28575" bIns="19050" anchor="ctr">
            <a:normAutofit/>
          </a:bodyPr>
          <a:lstStyle/>
          <a:p>
            <a:pPr algn="l">
              <a:lnSpc>
                <a:spcPct val="100000"/>
              </a:lnSpc>
              <a:buNone/>
              <a:defRPr sz="863" b="0" i="0">
                <a:solidFill>
                  <a:srgbClr val="5B5B5B"/>
                </a:solidFill>
                <a:latin typeface="Yu Gothic"/>
                <a:ea typeface="Yu Gothic"/>
                <a:cs typeface="Yu Gothic"/>
              </a:defRPr>
            </a:pPr>
            <a:r>
              <a:rPr sz="863" b="0" i="0">
                <a:solidFill>
                  <a:srgbClr val="5B5B5B"/>
                </a:solidFill>
                <a:latin typeface="Yu Gothic"/>
                <a:ea typeface="Yu Gothic"/>
                <a:cs typeface="Yu Gothic"/>
              </a:rPr>
              <a:t>温度差は自発的に増幅しない</a:t>
            </a:r>
          </a:p>
        </p:txBody>
      </p:sp>
      <p:sp>
        <p:nvSpPr>
          <p:cNvPr id="36" name="正方形/長方形 35">
            <a:extLst>
              <a:ext uri="{FF2B5EF4-FFF2-40B4-BE49-F238E27FC236}">
                <a16:creationId xmlns:a16="http://schemas.microsoft.com/office/drawing/2014/main" id="{BB56B7B0-51D3-4838-930A-FCE2069D53C2}"/>
              </a:ext>
            </a:extLst>
          </p:cNvPr>
          <p:cNvSpPr>
            <a:spLocks noGrp="1"/>
          </p:cNvSpPr>
          <p:nvPr/>
        </p:nvSpPr>
        <p:spPr>
          <a:xfrm>
            <a:off x="7791450" y="4257675"/>
            <a:ext cx="3848100" cy="685800"/>
          </a:xfrm>
          <a:prstGeom prst="rect">
            <a:avLst/>
          </a:prstGeom>
          <a:solidFill>
            <a:srgbClr val="FFFFFF"/>
          </a:solidFill>
          <a:ln w="9525">
            <a:solidFill>
              <a:srgbClr val="D6D6D6"/>
            </a:solidFill>
            <a:prstDash val="solid"/>
          </a:ln>
        </p:spPr>
      </p:sp>
      <p:sp>
        <p:nvSpPr>
          <p:cNvPr id="37" name="正方形/長方形 36">
            <a:extLst>
              <a:ext uri="{FF2B5EF4-FFF2-40B4-BE49-F238E27FC236}">
                <a16:creationId xmlns:a16="http://schemas.microsoft.com/office/drawing/2014/main" id="{648FFC89-0713-4422-903F-10ED40A5175F}"/>
              </a:ext>
            </a:extLst>
          </p:cNvPr>
          <p:cNvSpPr>
            <a:spLocks noGrp="1"/>
          </p:cNvSpPr>
          <p:nvPr/>
        </p:nvSpPr>
        <p:spPr>
          <a:xfrm>
            <a:off x="7791450" y="4257675"/>
            <a:ext cx="66675" cy="685800"/>
          </a:xfrm>
          <a:prstGeom prst="rect">
            <a:avLst/>
          </a:prstGeom>
          <a:solidFill>
            <a:srgbClr val="E5A900"/>
          </a:solidFill>
          <a:ln w="0">
            <a:noFill/>
            <a:prstDash val="solid"/>
          </a:ln>
        </p:spPr>
      </p:sp>
      <p:sp>
        <p:nvSpPr>
          <p:cNvPr id="38" name="正方形/長方形 37">
            <a:extLst>
              <a:ext uri="{FF2B5EF4-FFF2-40B4-BE49-F238E27FC236}">
                <a16:creationId xmlns:a16="http://schemas.microsoft.com/office/drawing/2014/main" id="{475E2322-814A-428A-881E-C57171FC9DFF}"/>
              </a:ext>
            </a:extLst>
          </p:cNvPr>
          <p:cNvSpPr>
            <a:spLocks noGrp="1"/>
          </p:cNvSpPr>
          <p:nvPr/>
        </p:nvSpPr>
        <p:spPr>
          <a:xfrm>
            <a:off x="7981950" y="4333875"/>
            <a:ext cx="904875" cy="228600"/>
          </a:xfrm>
          <a:prstGeom prst="rect">
            <a:avLst/>
          </a:prstGeom>
          <a:noFill/>
          <a:ln w="0">
            <a:noFill/>
            <a:prstDash val="solid"/>
          </a:ln>
        </p:spPr>
        <p:txBody>
          <a:bodyPr wrap="square" lIns="28575" tIns="19050" rIns="28575" bIns="19050" anchor="ctr">
            <a:normAutofit/>
          </a:bodyPr>
          <a:lstStyle/>
          <a:p>
            <a:pPr algn="l">
              <a:lnSpc>
                <a:spcPct val="100000"/>
              </a:lnSpc>
              <a:buNone/>
              <a:defRPr sz="1050" b="1" i="0">
                <a:solidFill>
                  <a:srgbClr val="E5A900"/>
                </a:solidFill>
                <a:latin typeface="Yu Gothic"/>
                <a:ea typeface="Yu Gothic"/>
                <a:cs typeface="Yu Gothic"/>
              </a:defRPr>
            </a:pPr>
            <a:r>
              <a:rPr sz="1050" b="1" i="0">
                <a:solidFill>
                  <a:srgbClr val="E5A900"/>
                </a:solidFill>
                <a:latin typeface="Yu Gothic"/>
                <a:ea typeface="Yu Gothic"/>
                <a:cs typeface="Yu Gothic"/>
              </a:rPr>
              <a:t>正値性</a:t>
            </a:r>
          </a:p>
        </p:txBody>
      </p:sp>
      <p:sp>
        <p:nvSpPr>
          <p:cNvPr id="39" name="正方形/長方形 38">
            <a:extLst>
              <a:ext uri="{FF2B5EF4-FFF2-40B4-BE49-F238E27FC236}">
                <a16:creationId xmlns:a16="http://schemas.microsoft.com/office/drawing/2014/main" id="{803BD20E-8F04-4AC1-B66B-0F3560E53CE8}"/>
              </a:ext>
            </a:extLst>
          </p:cNvPr>
          <p:cNvSpPr>
            <a:spLocks noGrp="1"/>
          </p:cNvSpPr>
          <p:nvPr/>
        </p:nvSpPr>
        <p:spPr>
          <a:xfrm>
            <a:off x="8915400" y="4324350"/>
            <a:ext cx="2533650" cy="238125"/>
          </a:xfrm>
          <a:prstGeom prst="rect">
            <a:avLst/>
          </a:prstGeom>
          <a:noFill/>
          <a:ln w="0">
            <a:noFill/>
            <a:prstDash val="solid"/>
          </a:ln>
        </p:spPr>
        <p:txBody>
          <a:bodyPr wrap="square" lIns="28575" tIns="19050" rIns="28575" bIns="19050" anchor="ctr">
            <a:normAutofit/>
          </a:bodyPr>
          <a:lstStyle/>
          <a:p>
            <a:pPr algn="l">
              <a:lnSpc>
                <a:spcPct val="100000"/>
              </a:lnSpc>
              <a:buNone/>
              <a:defRPr sz="1200" b="1" i="0">
                <a:solidFill>
                  <a:srgbClr val="3F3F3F"/>
                </a:solidFill>
                <a:latin typeface="Cambria Math"/>
                <a:ea typeface="Cambria Math"/>
                <a:cs typeface="Cambria Math"/>
              </a:defRPr>
            </a:pPr>
            <a:r>
              <a:rPr sz="1200" b="1" i="0">
                <a:solidFill>
                  <a:srgbClr val="3F3F3F"/>
                </a:solidFill>
                <a:latin typeface="Cambria Math"/>
                <a:ea typeface="Cambria Math"/>
                <a:cs typeface="Cambria Math"/>
              </a:rPr>
              <a:t>p = p₀ exp(ℓ) &gt; 0</a:t>
            </a:r>
          </a:p>
        </p:txBody>
      </p:sp>
      <p:sp>
        <p:nvSpPr>
          <p:cNvPr id="40" name="正方形/長方形 39">
            <a:extLst>
              <a:ext uri="{FF2B5EF4-FFF2-40B4-BE49-F238E27FC236}">
                <a16:creationId xmlns:a16="http://schemas.microsoft.com/office/drawing/2014/main" id="{879C8627-49A6-4567-91CD-2E307A92AEFD}"/>
              </a:ext>
            </a:extLst>
          </p:cNvPr>
          <p:cNvSpPr>
            <a:spLocks noGrp="1"/>
          </p:cNvSpPr>
          <p:nvPr/>
        </p:nvSpPr>
        <p:spPr>
          <a:xfrm>
            <a:off x="7981950" y="4629150"/>
            <a:ext cx="3467100" cy="219075"/>
          </a:xfrm>
          <a:prstGeom prst="rect">
            <a:avLst/>
          </a:prstGeom>
          <a:noFill/>
          <a:ln w="0">
            <a:noFill/>
            <a:prstDash val="solid"/>
          </a:ln>
        </p:spPr>
        <p:txBody>
          <a:bodyPr wrap="square" lIns="28575" tIns="19050" rIns="28575" bIns="19050" anchor="ctr">
            <a:normAutofit/>
          </a:bodyPr>
          <a:lstStyle/>
          <a:p>
            <a:pPr algn="l">
              <a:lnSpc>
                <a:spcPct val="100000"/>
              </a:lnSpc>
              <a:buNone/>
              <a:defRPr sz="863" b="0" i="0">
                <a:solidFill>
                  <a:srgbClr val="5B5B5B"/>
                </a:solidFill>
                <a:latin typeface="Yu Gothic"/>
                <a:ea typeface="Yu Gothic"/>
                <a:cs typeface="Yu Gothic"/>
              </a:defRPr>
            </a:pPr>
            <a:r>
              <a:rPr sz="863" b="0" i="0">
                <a:solidFill>
                  <a:srgbClr val="5B5B5B"/>
                </a:solidFill>
                <a:latin typeface="Yu Gothic"/>
                <a:ea typeface="Yu Gothic"/>
                <a:cs typeface="Yu Gothic"/>
              </a:rPr>
              <a:t>負の熱容量・負のconductanceを排除</a:t>
            </a:r>
          </a:p>
        </p:txBody>
      </p:sp>
      <p:sp>
        <p:nvSpPr>
          <p:cNvPr id="41" name="正方形/長方形 40">
            <a:extLst>
              <a:ext uri="{FF2B5EF4-FFF2-40B4-BE49-F238E27FC236}">
                <a16:creationId xmlns:a16="http://schemas.microsoft.com/office/drawing/2014/main" id="{7F609353-1A2B-46D9-A1A7-EE8CD3D5A994}"/>
              </a:ext>
            </a:extLst>
          </p:cNvPr>
          <p:cNvSpPr>
            <a:spLocks noGrp="1"/>
          </p:cNvSpPr>
          <p:nvPr/>
        </p:nvSpPr>
        <p:spPr>
          <a:xfrm>
            <a:off x="552450" y="5391150"/>
            <a:ext cx="11087100" cy="857250"/>
          </a:xfrm>
          <a:prstGeom prst="rect">
            <a:avLst/>
          </a:prstGeom>
          <a:solidFill>
            <a:srgbClr val="E5F6FB"/>
          </a:solidFill>
          <a:ln w="9525">
            <a:solidFill>
              <a:srgbClr val="00A5D8"/>
            </a:solidFill>
            <a:prstDash val="solid"/>
          </a:ln>
        </p:spPr>
      </p:sp>
      <p:sp>
        <p:nvSpPr>
          <p:cNvPr id="42" name="正方形/長方形 41">
            <a:extLst>
              <a:ext uri="{FF2B5EF4-FFF2-40B4-BE49-F238E27FC236}">
                <a16:creationId xmlns:a16="http://schemas.microsoft.com/office/drawing/2014/main" id="{4CA8B709-56CA-4B17-BC93-620217A31104}"/>
              </a:ext>
            </a:extLst>
          </p:cNvPr>
          <p:cNvSpPr>
            <a:spLocks noGrp="1"/>
          </p:cNvSpPr>
          <p:nvPr/>
        </p:nvSpPr>
        <p:spPr>
          <a:xfrm>
            <a:off x="742950" y="5524500"/>
            <a:ext cx="1809750" cy="228600"/>
          </a:xfrm>
          <a:prstGeom prst="rect">
            <a:avLst/>
          </a:prstGeom>
          <a:noFill/>
          <a:ln w="0">
            <a:noFill/>
            <a:prstDash val="solid"/>
          </a:ln>
        </p:spPr>
        <p:txBody>
          <a:bodyPr wrap="square" lIns="28575" tIns="19050" rIns="28575" bIns="19050" anchor="ctr">
            <a:normAutofit/>
          </a:bodyPr>
          <a:lstStyle/>
          <a:p>
            <a:pPr algn="l">
              <a:lnSpc>
                <a:spcPct val="100000"/>
              </a:lnSpc>
              <a:buNone/>
              <a:defRPr sz="1050" b="1" i="0">
                <a:solidFill>
                  <a:srgbClr val="007FA8"/>
                </a:solidFill>
                <a:latin typeface="Yu Gothic"/>
                <a:ea typeface="Yu Gothic"/>
                <a:cs typeface="Yu Gothic"/>
              </a:defRPr>
            </a:pPr>
            <a:r>
              <a:rPr sz="1050" b="1" i="0">
                <a:solidFill>
                  <a:srgbClr val="007FA8"/>
                </a:solidFill>
                <a:latin typeface="Yu Gothic"/>
                <a:ea typeface="Yu Gothic"/>
                <a:cs typeface="Yu Gothic"/>
              </a:rPr>
              <a:t>集中定数化の妥当性</a:t>
            </a:r>
          </a:p>
        </p:txBody>
      </p:sp>
      <p:sp>
        <p:nvSpPr>
          <p:cNvPr id="43" name="正方形/長方形 42">
            <a:extLst>
              <a:ext uri="{FF2B5EF4-FFF2-40B4-BE49-F238E27FC236}">
                <a16:creationId xmlns:a16="http://schemas.microsoft.com/office/drawing/2014/main" id="{AF40671A-B70C-4C38-98DF-E302276A7CFD}"/>
              </a:ext>
            </a:extLst>
          </p:cNvPr>
          <p:cNvSpPr>
            <a:spLocks noGrp="1"/>
          </p:cNvSpPr>
          <p:nvPr/>
        </p:nvSpPr>
        <p:spPr>
          <a:xfrm>
            <a:off x="2686050" y="5495925"/>
            <a:ext cx="2095500" cy="295275"/>
          </a:xfrm>
          <a:prstGeom prst="rect">
            <a:avLst/>
          </a:prstGeom>
          <a:noFill/>
          <a:ln w="0">
            <a:noFill/>
            <a:prstDash val="solid"/>
          </a:ln>
        </p:spPr>
        <p:txBody>
          <a:bodyPr wrap="square" lIns="28575" tIns="19050" rIns="28575" bIns="19050" anchor="ctr">
            <a:normAutofit/>
          </a:bodyPr>
          <a:lstStyle/>
          <a:p>
            <a:pPr algn="ctr">
              <a:lnSpc>
                <a:spcPct val="100000"/>
              </a:lnSpc>
              <a:buNone/>
              <a:defRPr sz="1650" b="1" i="0">
                <a:solidFill>
                  <a:srgbClr val="3F3F3F"/>
                </a:solidFill>
                <a:latin typeface="Cambria Math"/>
                <a:ea typeface="Cambria Math"/>
                <a:cs typeface="Cambria Math"/>
              </a:defRPr>
            </a:pPr>
            <a:r>
              <a:rPr sz="1650" b="1" i="0">
                <a:solidFill>
                  <a:srgbClr val="3F3F3F"/>
                </a:solidFill>
                <a:latin typeface="Cambria Math"/>
                <a:ea typeface="Cambria Math"/>
                <a:cs typeface="Cambria Math"/>
              </a:rPr>
              <a:t>Bi = hLᶜ/k ≪ 0.1</a:t>
            </a:r>
          </a:p>
        </p:txBody>
      </p:sp>
      <p:sp>
        <p:nvSpPr>
          <p:cNvPr id="44" name="正方形/長方形 43">
            <a:extLst>
              <a:ext uri="{FF2B5EF4-FFF2-40B4-BE49-F238E27FC236}">
                <a16:creationId xmlns:a16="http://schemas.microsoft.com/office/drawing/2014/main" id="{2D701D82-3863-42D9-8553-C25AC36AB3A8}"/>
              </a:ext>
            </a:extLst>
          </p:cNvPr>
          <p:cNvSpPr>
            <a:spLocks noGrp="1"/>
          </p:cNvSpPr>
          <p:nvPr/>
        </p:nvSpPr>
        <p:spPr>
          <a:xfrm>
            <a:off x="4905375" y="5505450"/>
            <a:ext cx="6477000" cy="304800"/>
          </a:xfrm>
          <a:prstGeom prst="rect">
            <a:avLst/>
          </a:prstGeom>
          <a:noFill/>
          <a:ln w="0">
            <a:noFill/>
            <a:prstDash val="solid"/>
          </a:ln>
        </p:spPr>
        <p:txBody>
          <a:bodyPr wrap="square" lIns="28575" tIns="19050" rIns="28575" bIns="19050" anchor="ctr">
            <a:normAutofit/>
          </a:bodyPr>
          <a:lstStyle/>
          <a:p>
            <a:pPr algn="l">
              <a:lnSpc>
                <a:spcPct val="100000"/>
              </a:lnSpc>
              <a:buNone/>
              <a:defRPr sz="938" b="0" i="0">
                <a:solidFill>
                  <a:srgbClr val="5B5B5B"/>
                </a:solidFill>
                <a:latin typeface="Yu Gothic"/>
                <a:ea typeface="Yu Gothic"/>
                <a:cs typeface="Yu Gothic"/>
              </a:defRPr>
            </a:pPr>
            <a:r>
              <a:rPr sz="938" b="0" i="0">
                <a:solidFill>
                  <a:srgbClr val="5B5B5B"/>
                </a:solidFill>
                <a:latin typeface="Yu Gothic"/>
                <a:ea typeface="Yu Gothic"/>
                <a:cs typeface="Yu Gothic"/>
              </a:rPr>
              <a:t>を目安に各node内の温度一様性を確認。成立しない領域はnode分割、局所CAE、hotspot marginで補う。</a:t>
            </a:r>
          </a:p>
        </p:txBody>
      </p:sp>
      <p:sp>
        <p:nvSpPr>
          <p:cNvPr id="45" name="正方形/長方形 44">
            <a:extLst>
              <a:ext uri="{FF2B5EF4-FFF2-40B4-BE49-F238E27FC236}">
                <a16:creationId xmlns:a16="http://schemas.microsoft.com/office/drawing/2014/main" id="{E44E0046-878D-49EE-B4C1-23A700183883}"/>
              </a:ext>
            </a:extLst>
          </p:cNvPr>
          <p:cNvSpPr>
            <a:spLocks noGrp="1"/>
          </p:cNvSpPr>
          <p:nvPr/>
        </p:nvSpPr>
        <p:spPr>
          <a:xfrm>
            <a:off x="742950" y="5867400"/>
            <a:ext cx="10639425" cy="238125"/>
          </a:xfrm>
          <a:prstGeom prst="rect">
            <a:avLst/>
          </a:prstGeom>
          <a:noFill/>
          <a:ln w="0">
            <a:noFill/>
            <a:prstDash val="solid"/>
          </a:ln>
        </p:spPr>
        <p:txBody>
          <a:bodyPr wrap="square" lIns="28575" tIns="19050" rIns="28575" bIns="19050" anchor="ctr">
            <a:normAutofit/>
          </a:bodyPr>
          <a:lstStyle/>
          <a:p>
            <a:pPr algn="l">
              <a:lnSpc>
                <a:spcPct val="100000"/>
              </a:lnSpc>
              <a:buNone/>
              <a:defRPr sz="863" b="0" i="0">
                <a:solidFill>
                  <a:srgbClr val="5B5B5B"/>
                </a:solidFill>
                <a:latin typeface="Yu Gothic"/>
                <a:ea typeface="Yu Gothic"/>
                <a:cs typeface="Yu Gothic"/>
              </a:defRPr>
            </a:pPr>
            <a:r>
              <a:rPr sz="863" b="0" i="0">
                <a:solidFill>
                  <a:srgbClr val="5B5B5B"/>
                </a:solidFill>
                <a:latin typeface="Yu Gothic"/>
                <a:ea typeface="Yu Gothic"/>
                <a:cs typeface="Yu Gothic"/>
              </a:rPr>
              <a:t>実運用では energy residual  r_E = CΔT/Δt − (−LT + b) も監視し、入力欠落・単位不整合を検出する。</a:t>
            </a:r>
          </a:p>
        </p:txBody>
      </p:sp>
    </p:spTree>
    <p:extLst>
      <p:ext uri="{BB962C8B-B14F-4D97-AF65-F5344CB8AC3E}">
        <p14:creationId xmlns:p14="http://schemas.microsoft.com/office/powerpoint/2010/main" val="14453691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 name="正方形/長方形 31">
            <a:extLst>
              <a:ext uri="{FF2B5EF4-FFF2-40B4-BE49-F238E27FC236}">
                <a16:creationId xmlns:a16="http://schemas.microsoft.com/office/drawing/2014/main" id="{433517C5-9CCA-413B-8FE8-97B1053DD172}"/>
              </a:ext>
            </a:extLst>
          </p:cNvPr>
          <p:cNvSpPr>
            <a:spLocks noGrp="1"/>
          </p:cNvSpPr>
          <p:nvPr/>
        </p:nvSpPr>
        <p:spPr>
          <a:xfrm>
            <a:off x="552450" y="190500"/>
            <a:ext cx="76200" cy="142875"/>
          </a:xfrm>
          <a:prstGeom prst="rect">
            <a:avLst/>
          </a:prstGeom>
          <a:solidFill>
            <a:srgbClr val="76BE18"/>
          </a:solidFill>
          <a:ln w="0">
            <a:noFill/>
            <a:prstDash val="solid"/>
          </a:ln>
        </p:spPr>
      </p:sp>
      <p:sp>
        <p:nvSpPr>
          <p:cNvPr id="2" name="正方形/長方形 1">
            <a:extLst>
              <a:ext uri="{FF2B5EF4-FFF2-40B4-BE49-F238E27FC236}">
                <a16:creationId xmlns:a16="http://schemas.microsoft.com/office/drawing/2014/main" id="{5A6D9F80-2173-4301-98DF-51BAD4DAC185}"/>
              </a:ext>
            </a:extLst>
          </p:cNvPr>
          <p:cNvSpPr>
            <a:spLocks noGrp="1"/>
          </p:cNvSpPr>
          <p:nvPr/>
        </p:nvSpPr>
        <p:spPr>
          <a:xfrm>
            <a:off x="704850" y="161925"/>
            <a:ext cx="3429000" cy="190500"/>
          </a:xfrm>
          <a:prstGeom prst="rect">
            <a:avLst/>
          </a:prstGeom>
          <a:noFill/>
          <a:ln w="0">
            <a:noFill/>
            <a:prstDash val="solid"/>
          </a:ln>
        </p:spPr>
        <p:txBody>
          <a:bodyPr wrap="none" lIns="28575" tIns="19050" rIns="28575" bIns="19050" anchor="ctr">
            <a:noAutofit/>
          </a:bodyPr>
          <a:lstStyle/>
          <a:p>
            <a:pPr algn="l">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THERMAL MODEL</a:t>
            </a:r>
          </a:p>
        </p:txBody>
      </p:sp>
      <p:sp>
        <p:nvSpPr>
          <p:cNvPr id="3" name="正方形/長方形 2">
            <a:extLst>
              <a:ext uri="{FF2B5EF4-FFF2-40B4-BE49-F238E27FC236}">
                <a16:creationId xmlns:a16="http://schemas.microsoft.com/office/drawing/2014/main" id="{CBE0446B-8187-4BAE-8ECD-FC55A166BDF5}"/>
              </a:ext>
            </a:extLst>
          </p:cNvPr>
          <p:cNvSpPr>
            <a:spLocks noGrp="1"/>
          </p:cNvSpPr>
          <p:nvPr/>
        </p:nvSpPr>
        <p:spPr>
          <a:xfrm>
            <a:off x="552450" y="400050"/>
            <a:ext cx="11001375" cy="400050"/>
          </a:xfrm>
          <a:prstGeom prst="rect">
            <a:avLst/>
          </a:prstGeom>
          <a:noFill/>
          <a:ln w="0">
            <a:noFill/>
            <a:prstDash val="solid"/>
          </a:ln>
        </p:spPr>
        <p:txBody>
          <a:bodyPr wrap="none" lIns="19050" tIns="0" rIns="19050" bIns="0" anchor="ctr">
            <a:normAutofit fontScale="96853"/>
          </a:bodyPr>
          <a:lstStyle/>
          <a:p>
            <a:pPr algn="l">
              <a:lnSpc>
                <a:spcPct val="100000"/>
              </a:lnSpc>
              <a:buNone/>
              <a:defRPr sz="2175" b="1" i="0">
                <a:solidFill>
                  <a:srgbClr val="00A5D8"/>
                </a:solidFill>
                <a:latin typeface="Yu Gothic"/>
                <a:ea typeface="Yu Gothic"/>
                <a:cs typeface="Yu Gothic"/>
              </a:defRPr>
            </a:pPr>
            <a:r>
              <a:rPr sz="2175" b="1" i="0">
                <a:solidFill>
                  <a:srgbClr val="00A5D8"/>
                </a:solidFill>
                <a:latin typeface="Yu Gothic"/>
                <a:ea typeface="Yu Gothic"/>
                <a:cs typeface="Yu Gothic"/>
              </a:rPr>
              <a:t>熱経路をscalar lawとして共通化し、edge・source・boundaryへ同じ非負応答を配置する</a:t>
            </a:r>
          </a:p>
        </p:txBody>
      </p:sp>
      <p:sp>
        <p:nvSpPr>
          <p:cNvPr id="4" name="正方形/長方形 3">
            <a:extLst>
              <a:ext uri="{FF2B5EF4-FFF2-40B4-BE49-F238E27FC236}">
                <a16:creationId xmlns:a16="http://schemas.microsoft.com/office/drawing/2014/main" id="{8F46AAC8-EA4B-415B-8CBE-E997C9EF5EEE}"/>
              </a:ext>
            </a:extLst>
          </p:cNvPr>
          <p:cNvSpPr>
            <a:spLocks noGrp="1"/>
          </p:cNvSpPr>
          <p:nvPr/>
        </p:nvSpPr>
        <p:spPr>
          <a:xfrm>
            <a:off x="571500" y="838200"/>
            <a:ext cx="10906125" cy="228600"/>
          </a:xfrm>
          <a:prstGeom prst="rect">
            <a:avLst/>
          </a:prstGeom>
          <a:noFill/>
          <a:ln w="0">
            <a:noFill/>
            <a:prstDash val="solid"/>
          </a:ln>
        </p:spPr>
        <p:txBody>
          <a:bodyPr wrap="none" lIns="28575" tIns="19050" rIns="28575" bIns="19050" anchor="ctr">
            <a:noAutofit/>
          </a:bodyPr>
          <a:lstStyle/>
          <a:p>
            <a:pPr algn="l">
              <a:lnSpc>
                <a:spcPct val="100000"/>
              </a:lnSpc>
              <a:buNone/>
              <a:defRPr sz="975" b="0" i="0">
                <a:solidFill>
                  <a:srgbClr val="5B5B5B"/>
                </a:solidFill>
                <a:latin typeface="Yu Gothic"/>
                <a:ea typeface="Yu Gothic"/>
                <a:cs typeface="Yu Gothic"/>
              </a:defRPr>
            </a:pPr>
            <a:r>
              <a:rPr sz="975" b="0" i="0">
                <a:solidFill>
                  <a:srgbClr val="5B5B5B"/>
                </a:solidFill>
                <a:latin typeface="Yu Gothic"/>
                <a:ea typeface="Yu Gothic"/>
                <a:cs typeface="Yu Gothic"/>
              </a:rPr>
              <a:t>装置部品名をcoreへ埋め込まず、入力依存性と物理単位をsystem.yamlで定義する</a:t>
            </a:r>
          </a:p>
        </p:txBody>
      </p:sp>
      <p:sp>
        <p:nvSpPr>
          <p:cNvPr id="5" name="直線コネクタ 4">
            <a:extLst>
              <a:ext uri="{FF2B5EF4-FFF2-40B4-BE49-F238E27FC236}">
                <a16:creationId xmlns:a16="http://schemas.microsoft.com/office/drawing/2014/main" id="{0F4B87C9-7B3B-4A8F-92BD-038B8761D48F}"/>
              </a:ext>
            </a:extLst>
          </p:cNvPr>
          <p:cNvSpPr>
            <a:spLocks noGrp="1"/>
          </p:cNvSpPr>
          <p:nvPr/>
        </p:nvSpPr>
        <p:spPr>
          <a:xfrm>
            <a:off x="552450" y="1152525"/>
            <a:ext cx="11087100" cy="0"/>
          </a:xfrm>
          <a:prstGeom prst="line">
            <a:avLst/>
          </a:prstGeom>
          <a:noFill/>
          <a:ln w="9525">
            <a:solidFill>
              <a:srgbClr val="D6D6D6"/>
            </a:solidFill>
            <a:prstDash val="solid"/>
          </a:ln>
        </p:spPr>
      </p:sp>
      <p:sp>
        <p:nvSpPr>
          <p:cNvPr id="6" name="直線コネクタ 5">
            <a:extLst>
              <a:ext uri="{FF2B5EF4-FFF2-40B4-BE49-F238E27FC236}">
                <a16:creationId xmlns:a16="http://schemas.microsoft.com/office/drawing/2014/main" id="{3370CAB6-58D6-4B38-959B-C4DD45DECD79}"/>
              </a:ext>
            </a:extLst>
          </p:cNvPr>
          <p:cNvSpPr>
            <a:spLocks noGrp="1"/>
          </p:cNvSpPr>
          <p:nvPr/>
        </p:nvSpPr>
        <p:spPr>
          <a:xfrm>
            <a:off x="552450" y="6438900"/>
            <a:ext cx="11087100" cy="0"/>
          </a:xfrm>
          <a:prstGeom prst="line">
            <a:avLst/>
          </a:prstGeom>
          <a:noFill/>
          <a:ln w="9525">
            <a:solidFill>
              <a:srgbClr val="D6D6D6"/>
            </a:solidFill>
            <a:prstDash val="solid"/>
          </a:ln>
        </p:spPr>
      </p:sp>
      <p:sp>
        <p:nvSpPr>
          <p:cNvPr id="7" name="正方形/長方形 6">
            <a:extLst>
              <a:ext uri="{FF2B5EF4-FFF2-40B4-BE49-F238E27FC236}">
                <a16:creationId xmlns:a16="http://schemas.microsoft.com/office/drawing/2014/main" id="{A5F0BD5C-15A2-403E-8ADC-75B5C867C5CB}"/>
              </a:ext>
            </a:extLst>
          </p:cNvPr>
          <p:cNvSpPr>
            <a:spLocks noGrp="1"/>
          </p:cNvSpPr>
          <p:nvPr/>
        </p:nvSpPr>
        <p:spPr>
          <a:xfrm>
            <a:off x="571500" y="6505575"/>
            <a:ext cx="5334000" cy="171450"/>
          </a:xfrm>
          <a:prstGeom prst="rect">
            <a:avLst/>
          </a:prstGeom>
          <a:noFill/>
          <a:ln w="0">
            <a:noFill/>
            <a:prstDash val="solid"/>
          </a:ln>
        </p:spPr>
        <p:txBody>
          <a:bodyPr wrap="none" lIns="28575" tIns="19050" rIns="28575" bIns="19050" anchor="ctr">
            <a:noAutofit/>
          </a:bodyPr>
          <a:lstStyle/>
          <a:p>
            <a:pPr algn="l">
              <a:lnSpc>
                <a:spcPct val="100000"/>
              </a:lnSpc>
              <a:buNone/>
              <a:defRPr sz="713" b="0" i="0">
                <a:solidFill>
                  <a:srgbClr val="777777"/>
                </a:solidFill>
                <a:latin typeface="Yu Gothic"/>
                <a:ea typeface="Yu Gothic"/>
                <a:cs typeface="Yu Gothic"/>
              </a:defRPr>
            </a:pPr>
            <a:r>
              <a:rPr sz="713" b="0" i="0">
                <a:solidFill>
                  <a:srgbClr val="777777"/>
                </a:solidFill>
                <a:latin typeface="Yu Gothic"/>
                <a:ea typeface="Yu Gothic"/>
                <a:cs typeface="Yu Gothic"/>
              </a:rPr>
              <a:t>THERMAL RC / EQUIPMENT ENGINEERING REVIEW  ·  2026-09-17</a:t>
            </a:r>
          </a:p>
        </p:txBody>
      </p:sp>
      <p:sp>
        <p:nvSpPr>
          <p:cNvPr id="8" name="正方形/長方形 7">
            <a:extLst>
              <a:ext uri="{FF2B5EF4-FFF2-40B4-BE49-F238E27FC236}">
                <a16:creationId xmlns:a16="http://schemas.microsoft.com/office/drawing/2014/main" id="{23AAE28C-8FA9-4990-88DB-F0F48029A766}"/>
              </a:ext>
            </a:extLst>
          </p:cNvPr>
          <p:cNvSpPr>
            <a:spLocks noGrp="1"/>
          </p:cNvSpPr>
          <p:nvPr/>
        </p:nvSpPr>
        <p:spPr>
          <a:xfrm>
            <a:off x="11125200" y="6496050"/>
            <a:ext cx="476250" cy="171450"/>
          </a:xfrm>
          <a:prstGeom prst="rect">
            <a:avLst/>
          </a:prstGeom>
          <a:noFill/>
          <a:ln w="0">
            <a:noFill/>
            <a:prstDash val="solid"/>
          </a:ln>
        </p:spPr>
        <p:txBody>
          <a:bodyPr wrap="square" lIns="28575" tIns="19050" rIns="28575" bIns="19050" anchor="ctr">
            <a:noAutofit/>
          </a:bodyPr>
          <a:lstStyle/>
          <a:p>
            <a:pPr algn="r">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11</a:t>
            </a:r>
          </a:p>
        </p:txBody>
      </p:sp>
      <p:graphicFrame>
        <p:nvGraphicFramePr>
          <p:cNvPr id="40" name="表 39"/>
          <p:cNvGraphicFramePr/>
          <p:nvPr/>
        </p:nvGraphicFramePr>
        <p:xfrm>
          <a:off x="552450" y="1457325"/>
          <a:ext cx="11087100" cy="2647950"/>
        </p:xfrm>
        <a:graphic>
          <a:graphicData uri="http://schemas.openxmlformats.org/drawingml/2006/table">
            <a:tbl>
              <a:tblPr/>
              <a:tblGrid>
                <a:gridCol w="1638300">
                  <a:extLst>
                    <a:ext uri="{9D8B030D-6E8A-4147-A177-3AD203B41FA5}">
                      <a16:colId xmlns:a16="http://schemas.microsoft.com/office/drawing/2014/main" val="20000"/>
                    </a:ext>
                  </a:extLst>
                </a:gridCol>
                <a:gridCol w="2781300">
                  <a:extLst>
                    <a:ext uri="{9D8B030D-6E8A-4147-A177-3AD203B41FA5}">
                      <a16:colId xmlns:a16="http://schemas.microsoft.com/office/drawing/2014/main" val="20001"/>
                    </a:ext>
                  </a:extLst>
                </a:gridCol>
                <a:gridCol w="2457450">
                  <a:extLst>
                    <a:ext uri="{9D8B030D-6E8A-4147-A177-3AD203B41FA5}">
                      <a16:colId xmlns:a16="http://schemas.microsoft.com/office/drawing/2014/main" val="20002"/>
                    </a:ext>
                  </a:extLst>
                </a:gridCol>
                <a:gridCol w="1981200">
                  <a:extLst>
                    <a:ext uri="{9D8B030D-6E8A-4147-A177-3AD203B41FA5}">
                      <a16:colId xmlns:a16="http://schemas.microsoft.com/office/drawing/2014/main" val="20003"/>
                    </a:ext>
                  </a:extLst>
                </a:gridCol>
                <a:gridCol w="2228850">
                  <a:extLst>
                    <a:ext uri="{9D8B030D-6E8A-4147-A177-3AD203B41FA5}">
                      <a16:colId xmlns:a16="http://schemas.microsoft.com/office/drawing/2014/main" val="20004"/>
                    </a:ext>
                  </a:extLst>
                </a:gridCol>
              </a:tblGrid>
              <a:tr h="529590">
                <a:tc>
                  <a:txBody>
                    <a:bodyPr/>
                    <a:lstStyle/>
                    <a:p>
                      <a:r>
                        <a:rPr sz="938" b="1">
                          <a:solidFill>
                            <a:srgbClr val="FFFFFF"/>
                          </a:solidFill>
                          <a:latin typeface="Yu Gothic"/>
                          <a:ea typeface="Yu Gothic"/>
                          <a:cs typeface="Yu Gothic"/>
                        </a:rPr>
                        <a:t>要素</a:t>
                      </a:r>
                    </a:p>
                  </a:txBody>
                  <a:tcPr>
                    <a:solidFill>
                      <a:srgbClr val="007FA8"/>
                    </a:solidFill>
                  </a:tcPr>
                </a:tc>
                <a:tc>
                  <a:txBody>
                    <a:bodyPr/>
                    <a:lstStyle/>
                    <a:p>
                      <a:r>
                        <a:rPr sz="938" b="1">
                          <a:solidFill>
                            <a:srgbClr val="FFFFFF"/>
                          </a:solidFill>
                          <a:latin typeface="Yu Gothic"/>
                          <a:ea typeface="Yu Gothic"/>
                          <a:cs typeface="Yu Gothic"/>
                        </a:rPr>
                        <a:t>構成式</a:t>
                      </a:r>
                    </a:p>
                  </a:txBody>
                  <a:tcPr>
                    <a:solidFill>
                      <a:srgbClr val="007FA8"/>
                    </a:solidFill>
                  </a:tcPr>
                </a:tc>
                <a:tc>
                  <a:txBody>
                    <a:bodyPr/>
                    <a:lstStyle/>
                    <a:p>
                      <a:r>
                        <a:rPr sz="938" b="1">
                          <a:solidFill>
                            <a:srgbClr val="FFFFFF"/>
                          </a:solidFill>
                          <a:latin typeface="Yu Gothic"/>
                          <a:ea typeface="Yu Gothic"/>
                          <a:cs typeface="Yu Gothic"/>
                        </a:rPr>
                        <a:t>主な用途</a:t>
                      </a:r>
                    </a:p>
                  </a:txBody>
                  <a:tcPr>
                    <a:solidFill>
                      <a:srgbClr val="007FA8"/>
                    </a:solidFill>
                  </a:tcPr>
                </a:tc>
                <a:tc>
                  <a:txBody>
                    <a:bodyPr/>
                    <a:lstStyle/>
                    <a:p>
                      <a:r>
                        <a:rPr sz="938" b="1">
                          <a:solidFill>
                            <a:srgbClr val="FFFFFF"/>
                          </a:solidFill>
                          <a:latin typeface="Yu Gothic"/>
                          <a:ea typeface="Yu Gothic"/>
                          <a:cs typeface="Yu Gothic"/>
                        </a:rPr>
                        <a:t>学習対象</a:t>
                      </a:r>
                    </a:p>
                  </a:txBody>
                  <a:tcPr>
                    <a:solidFill>
                      <a:srgbClr val="007FA8"/>
                    </a:solidFill>
                  </a:tcPr>
                </a:tc>
                <a:tc>
                  <a:txBody>
                    <a:bodyPr/>
                    <a:lstStyle/>
                    <a:p>
                      <a:r>
                        <a:rPr sz="938" b="1">
                          <a:solidFill>
                            <a:srgbClr val="FFFFFF"/>
                          </a:solidFill>
                          <a:latin typeface="Yu Gothic"/>
                          <a:ea typeface="Yu Gothic"/>
                          <a:cs typeface="Yu Gothic"/>
                        </a:rPr>
                        <a:t>数値解法上の条件</a:t>
                      </a:r>
                    </a:p>
                  </a:txBody>
                  <a:tcPr>
                    <a:solidFill>
                      <a:srgbClr val="007FA8"/>
                    </a:solidFill>
                  </a:tcPr>
                </a:tc>
                <a:extLst>
                  <a:ext uri="{0D108BD9-81ED-4DB2-BD59-A6C34878D82A}">
                    <a16:rowId xmlns:a16="http://schemas.microsoft.com/office/drawing/2014/main" val="10000"/>
                  </a:ext>
                </a:extLst>
              </a:tr>
              <a:tr h="529590">
                <a:tc>
                  <a:txBody>
                    <a:bodyPr/>
                    <a:lstStyle/>
                    <a:p>
                      <a:r>
                        <a:rPr sz="840" b="1">
                          <a:solidFill>
                            <a:srgbClr val="007FA8"/>
                          </a:solidFill>
                          <a:latin typeface="Yu Gothic"/>
                          <a:ea typeface="Yu Gothic"/>
                          <a:cs typeface="Yu Gothic"/>
                        </a:rPr>
                        <a:t>constant</a:t>
                      </a:r>
                    </a:p>
                  </a:txBody>
                  <a:tcPr>
                    <a:solidFill>
                      <a:srgbClr val="FFFFFF"/>
                    </a:solidFill>
                  </a:tcPr>
                </a:tc>
                <a:tc>
                  <a:txBody>
                    <a:bodyPr/>
                    <a:lstStyle/>
                    <a:p>
                      <a:r>
                        <a:rPr sz="840">
                          <a:solidFill>
                            <a:srgbClr val="5B5B5B"/>
                          </a:solidFill>
                          <a:latin typeface="Yu Gothic"/>
                          <a:ea typeface="Yu Gothic"/>
                          <a:cs typeface="Yu Gothic"/>
                        </a:rPr>
                        <a:t>λ(u)=β</a:t>
                      </a:r>
                    </a:p>
                  </a:txBody>
                  <a:tcPr>
                    <a:solidFill>
                      <a:srgbClr val="FFFFFF"/>
                    </a:solidFill>
                  </a:tcPr>
                </a:tc>
                <a:tc>
                  <a:txBody>
                    <a:bodyPr/>
                    <a:lstStyle/>
                    <a:p>
                      <a:r>
                        <a:rPr sz="840">
                          <a:solidFill>
                            <a:srgbClr val="5B5B5B"/>
                          </a:solidFill>
                          <a:latin typeface="Yu Gothic"/>
                          <a:ea typeface="Yu Gothic"/>
                          <a:cs typeface="Yu Gothic"/>
                        </a:rPr>
                        <a:t>固定G [W/K] / 固定q [W]</a:t>
                      </a:r>
                    </a:p>
                  </a:txBody>
                  <a:tcPr>
                    <a:solidFill>
                      <a:srgbClr val="FFFFFF"/>
                    </a:solidFill>
                  </a:tcPr>
                </a:tc>
                <a:tc>
                  <a:txBody>
                    <a:bodyPr/>
                    <a:lstStyle/>
                    <a:p>
                      <a:r>
                        <a:rPr sz="840">
                          <a:solidFill>
                            <a:srgbClr val="5B5B5B"/>
                          </a:solidFill>
                          <a:latin typeface="Yu Gothic"/>
                          <a:ea typeface="Yu Gothic"/>
                          <a:cs typeface="Yu Gothic"/>
                        </a:rPr>
                        <a:t>β（任意）</a:t>
                      </a:r>
                    </a:p>
                  </a:txBody>
                  <a:tcPr>
                    <a:solidFill>
                      <a:srgbClr val="FFFFFF"/>
                    </a:solidFill>
                  </a:tcPr>
                </a:tc>
                <a:tc>
                  <a:txBody>
                    <a:bodyPr/>
                    <a:lstStyle/>
                    <a:p>
                      <a:r>
                        <a:rPr sz="840">
                          <a:solidFill>
                            <a:srgbClr val="5B5B5B"/>
                          </a:solidFill>
                          <a:latin typeface="Yu Gothic"/>
                          <a:ea typeface="Yu Gothic"/>
                          <a:cs typeface="Yu Gothic"/>
                        </a:rPr>
                        <a:t>exact / implicit</a:t>
                      </a:r>
                    </a:p>
                  </a:txBody>
                  <a:tcPr>
                    <a:solidFill>
                      <a:srgbClr val="FFFFFF"/>
                    </a:solidFill>
                  </a:tcPr>
                </a:tc>
                <a:extLst>
                  <a:ext uri="{0D108BD9-81ED-4DB2-BD59-A6C34878D82A}">
                    <a16:rowId xmlns:a16="http://schemas.microsoft.com/office/drawing/2014/main" val="10001"/>
                  </a:ext>
                </a:extLst>
              </a:tr>
              <a:tr h="529590">
                <a:tc>
                  <a:txBody>
                    <a:bodyPr/>
                    <a:lstStyle/>
                    <a:p>
                      <a:r>
                        <a:rPr sz="840" b="1">
                          <a:solidFill>
                            <a:srgbClr val="4D8710"/>
                          </a:solidFill>
                          <a:latin typeface="Yu Gothic"/>
                          <a:ea typeface="Yu Gothic"/>
                          <a:cs typeface="Yu Gothic"/>
                        </a:rPr>
                        <a:t>positive_part</a:t>
                      </a:r>
                    </a:p>
                  </a:txBody>
                  <a:tcPr>
                    <a:solidFill>
                      <a:srgbClr val="F8F8F8"/>
                    </a:solidFill>
                  </a:tcPr>
                </a:tc>
                <a:tc>
                  <a:txBody>
                    <a:bodyPr/>
                    <a:lstStyle/>
                    <a:p>
                      <a:r>
                        <a:rPr sz="840">
                          <a:solidFill>
                            <a:srgbClr val="5B5B5B"/>
                          </a:solidFill>
                          <a:latin typeface="Yu Gothic"/>
                          <a:ea typeface="Yu Gothic"/>
                          <a:cs typeface="Yu Gothic"/>
                        </a:rPr>
                        <a:t>λ(u)=κ max(u−uₜₕ,0)</a:t>
                      </a:r>
                    </a:p>
                  </a:txBody>
                  <a:tcPr>
                    <a:solidFill>
                      <a:srgbClr val="F8F8F8"/>
                    </a:solidFill>
                  </a:tcPr>
                </a:tc>
                <a:tc>
                  <a:txBody>
                    <a:bodyPr/>
                    <a:lstStyle/>
                    <a:p>
                      <a:r>
                        <a:rPr sz="840">
                          <a:solidFill>
                            <a:srgbClr val="5B5B5B"/>
                          </a:solidFill>
                          <a:latin typeface="Yu Gothic"/>
                          <a:ea typeface="Yu Gothic"/>
                          <a:cs typeface="Yu Gothic"/>
                        </a:rPr>
                        <a:t>heater・plasmaのdead band</a:t>
                      </a:r>
                    </a:p>
                  </a:txBody>
                  <a:tcPr>
                    <a:solidFill>
                      <a:srgbClr val="F8F8F8"/>
                    </a:solidFill>
                  </a:tcPr>
                </a:tc>
                <a:tc>
                  <a:txBody>
                    <a:bodyPr/>
                    <a:lstStyle/>
                    <a:p>
                      <a:r>
                        <a:rPr sz="840">
                          <a:solidFill>
                            <a:srgbClr val="5B5B5B"/>
                          </a:solidFill>
                          <a:latin typeface="Yu Gothic"/>
                          <a:ea typeface="Yu Gothic"/>
                          <a:cs typeface="Yu Gothic"/>
                        </a:rPr>
                        <a:t>κ；uₜₕは固定</a:t>
                      </a:r>
                    </a:p>
                  </a:txBody>
                  <a:tcPr>
                    <a:solidFill>
                      <a:srgbClr val="F8F8F8"/>
                    </a:solidFill>
                  </a:tcPr>
                </a:tc>
                <a:tc>
                  <a:txBody>
                    <a:bodyPr/>
                    <a:lstStyle/>
                    <a:p>
                      <a:r>
                        <a:rPr sz="840">
                          <a:solidFill>
                            <a:srgbClr val="5B5B5B"/>
                          </a:solidFill>
                          <a:latin typeface="Yu Gothic"/>
                          <a:ea typeface="Yu Gothic"/>
                          <a:cs typeface="Yu Gothic"/>
                        </a:rPr>
                        <a:t>lag付きsourceでもthreshold crossing分割</a:t>
                      </a:r>
                    </a:p>
                  </a:txBody>
                  <a:tcPr>
                    <a:solidFill>
                      <a:srgbClr val="F8F8F8"/>
                    </a:solidFill>
                  </a:tcPr>
                </a:tc>
                <a:extLst>
                  <a:ext uri="{0D108BD9-81ED-4DB2-BD59-A6C34878D82A}">
                    <a16:rowId xmlns:a16="http://schemas.microsoft.com/office/drawing/2014/main" val="10002"/>
                  </a:ext>
                </a:extLst>
              </a:tr>
              <a:tr h="529590">
                <a:tc>
                  <a:txBody>
                    <a:bodyPr/>
                    <a:lstStyle/>
                    <a:p>
                      <a:r>
                        <a:rPr sz="840" b="1">
                          <a:solidFill>
                            <a:srgbClr val="7B2DAF"/>
                          </a:solidFill>
                          <a:latin typeface="Yu Gothic"/>
                          <a:ea typeface="Yu Gothic"/>
                          <a:cs typeface="Yu Gothic"/>
                        </a:rPr>
                        <a:t>power_law</a:t>
                      </a:r>
                    </a:p>
                  </a:txBody>
                  <a:tcPr>
                    <a:solidFill>
                      <a:srgbClr val="FFFFFF"/>
                    </a:solidFill>
                  </a:tcPr>
                </a:tc>
                <a:tc>
                  <a:txBody>
                    <a:bodyPr/>
                    <a:lstStyle/>
                    <a:p>
                      <a:r>
                        <a:rPr sz="840">
                          <a:solidFill>
                            <a:srgbClr val="5B5B5B"/>
                          </a:solidFill>
                          <a:latin typeface="Yu Gothic"/>
                          <a:ea typeface="Yu Gothic"/>
                          <a:cs typeface="Yu Gothic"/>
                        </a:rPr>
                        <a:t>λ(u)=β+κ(max(u,0)/uᵣ)ⁿ</a:t>
                      </a:r>
                    </a:p>
                  </a:txBody>
                  <a:tcPr>
                    <a:solidFill>
                      <a:srgbClr val="FFFFFF"/>
                    </a:solidFill>
                  </a:tcPr>
                </a:tc>
                <a:tc>
                  <a:txBody>
                    <a:bodyPr/>
                    <a:lstStyle/>
                    <a:p>
                      <a:r>
                        <a:rPr sz="840">
                          <a:solidFill>
                            <a:srgbClr val="5B5B5B"/>
                          </a:solidFill>
                          <a:latin typeface="Yu Gothic"/>
                          <a:ea typeface="Yu Gothic"/>
                          <a:cs typeface="Yu Gothic"/>
                        </a:rPr>
                        <a:t>流量・電力に対する非線形応答</a:t>
                      </a:r>
                    </a:p>
                  </a:txBody>
                  <a:tcPr>
                    <a:solidFill>
                      <a:srgbClr val="FFFFFF"/>
                    </a:solidFill>
                  </a:tcPr>
                </a:tc>
                <a:tc>
                  <a:txBody>
                    <a:bodyPr/>
                    <a:lstStyle/>
                    <a:p>
                      <a:r>
                        <a:rPr sz="840">
                          <a:solidFill>
                            <a:srgbClr val="5B5B5B"/>
                          </a:solidFill>
                          <a:latin typeface="Yu Gothic"/>
                          <a:ea typeface="Yu Gothic"/>
                          <a:cs typeface="Yu Gothic"/>
                        </a:rPr>
                        <a:t>β, κ, nを個別指定</a:t>
                      </a:r>
                    </a:p>
                  </a:txBody>
                  <a:tcPr>
                    <a:solidFill>
                      <a:srgbClr val="FFFFFF"/>
                    </a:solidFill>
                  </a:tcPr>
                </a:tc>
                <a:tc>
                  <a:txBody>
                    <a:bodyPr/>
                    <a:lstStyle/>
                    <a:p>
                      <a:r>
                        <a:rPr sz="840">
                          <a:solidFill>
                            <a:srgbClr val="5B5B5B"/>
                          </a:solidFill>
                          <a:latin typeface="Yu Gothic"/>
                          <a:ea typeface="Yu Gothic"/>
                          <a:cs typeface="Yu Gothic"/>
                        </a:rPr>
                        <a:t>lagged coefficientはimplicit</a:t>
                      </a:r>
                    </a:p>
                  </a:txBody>
                  <a:tcPr>
                    <a:solidFill>
                      <a:srgbClr val="FFFFFF"/>
                    </a:solidFill>
                  </a:tcPr>
                </a:tc>
                <a:extLst>
                  <a:ext uri="{0D108BD9-81ED-4DB2-BD59-A6C34878D82A}">
                    <a16:rowId xmlns:a16="http://schemas.microsoft.com/office/drawing/2014/main" val="10003"/>
                  </a:ext>
                </a:extLst>
              </a:tr>
              <a:tr h="529590">
                <a:tc>
                  <a:txBody>
                    <a:bodyPr/>
                    <a:lstStyle/>
                    <a:p>
                      <a:r>
                        <a:rPr sz="840" b="1">
                          <a:solidFill>
                            <a:srgbClr val="E5A900"/>
                          </a:solidFill>
                          <a:latin typeface="Yu Gothic"/>
                          <a:ea typeface="Yu Gothic"/>
                          <a:cs typeface="Yu Gothic"/>
                        </a:rPr>
                        <a:t>actuator lag</a:t>
                      </a:r>
                    </a:p>
                  </a:txBody>
                  <a:tcPr>
                    <a:solidFill>
                      <a:srgbClr val="F8F8F8"/>
                    </a:solidFill>
                  </a:tcPr>
                </a:tc>
                <a:tc>
                  <a:txBody>
                    <a:bodyPr/>
                    <a:lstStyle/>
                    <a:p>
                      <a:r>
                        <a:rPr sz="840">
                          <a:solidFill>
                            <a:srgbClr val="5B5B5B"/>
                          </a:solidFill>
                          <a:latin typeface="Yu Gothic"/>
                          <a:ea typeface="Yu Gothic"/>
                          <a:cs typeface="Yu Gothic"/>
                        </a:rPr>
                        <a:t>τ da/dt=u−a</a:t>
                      </a:r>
                    </a:p>
                  </a:txBody>
                  <a:tcPr>
                    <a:solidFill>
                      <a:srgbClr val="F8F8F8"/>
                    </a:solidFill>
                  </a:tcPr>
                </a:tc>
                <a:tc>
                  <a:txBody>
                    <a:bodyPr/>
                    <a:lstStyle/>
                    <a:p>
                      <a:r>
                        <a:rPr sz="840">
                          <a:solidFill>
                            <a:srgbClr val="5B5B5B"/>
                          </a:solidFill>
                          <a:latin typeface="Yu Gothic"/>
                          <a:ea typeface="Yu Gothic"/>
                          <a:cs typeface="Yu Gothic"/>
                        </a:rPr>
                        <a:t>commandと実効熱入力の遅れ</a:t>
                      </a:r>
                    </a:p>
                  </a:txBody>
                  <a:tcPr>
                    <a:solidFill>
                      <a:srgbClr val="F8F8F8"/>
                    </a:solidFill>
                  </a:tcPr>
                </a:tc>
                <a:tc>
                  <a:txBody>
                    <a:bodyPr/>
                    <a:lstStyle/>
                    <a:p>
                      <a:r>
                        <a:rPr sz="840">
                          <a:solidFill>
                            <a:srgbClr val="5B5B5B"/>
                          </a:solidFill>
                          <a:latin typeface="Yu Gothic"/>
                          <a:ea typeface="Yu Gothic"/>
                          <a:cs typeface="Yu Gothic"/>
                        </a:rPr>
                        <a:t>τ（正のprior倍率）</a:t>
                      </a:r>
                    </a:p>
                  </a:txBody>
                  <a:tcPr>
                    <a:solidFill>
                      <a:srgbClr val="F8F8F8"/>
                    </a:solidFill>
                  </a:tcPr>
                </a:tc>
                <a:tc>
                  <a:txBody>
                    <a:bodyPr/>
                    <a:lstStyle/>
                    <a:p>
                      <a:r>
                        <a:rPr sz="840">
                          <a:solidFill>
                            <a:srgbClr val="5B5B5B"/>
                          </a:solidFill>
                          <a:latin typeface="Yu Gothic"/>
                          <a:ea typeface="Yu Gothic"/>
                          <a:cs typeface="Yu Gothic"/>
                        </a:rPr>
                        <a:t>区間内は解析解</a:t>
                      </a:r>
                    </a:p>
                  </a:txBody>
                  <a:tcPr>
                    <a:solidFill>
                      <a:srgbClr val="F8F8F8"/>
                    </a:solidFill>
                  </a:tcPr>
                </a:tc>
                <a:extLst>
                  <a:ext uri="{0D108BD9-81ED-4DB2-BD59-A6C34878D82A}">
                    <a16:rowId xmlns:a16="http://schemas.microsoft.com/office/drawing/2014/main" val="10004"/>
                  </a:ext>
                </a:extLst>
              </a:tr>
            </a:tbl>
          </a:graphicData>
        </a:graphic>
      </p:graphicFrame>
      <p:sp>
        <p:nvSpPr>
          <p:cNvPr id="10" name="正方形/長方形 9">
            <a:extLst>
              <a:ext uri="{FF2B5EF4-FFF2-40B4-BE49-F238E27FC236}">
                <a16:creationId xmlns:a16="http://schemas.microsoft.com/office/drawing/2014/main" id="{A3B7C1CB-8D96-443E-BAC9-021A1E9A087B}"/>
              </a:ext>
            </a:extLst>
          </p:cNvPr>
          <p:cNvSpPr>
            <a:spLocks noGrp="1"/>
          </p:cNvSpPr>
          <p:nvPr/>
        </p:nvSpPr>
        <p:spPr>
          <a:xfrm>
            <a:off x="552450" y="4324350"/>
            <a:ext cx="1524000" cy="257175"/>
          </a:xfrm>
          <a:prstGeom prst="rect">
            <a:avLst/>
          </a:prstGeom>
          <a:noFill/>
          <a:ln w="0">
            <a:noFill/>
            <a:prstDash val="solid"/>
          </a:ln>
        </p:spPr>
        <p:txBody>
          <a:bodyPr wrap="square" lIns="28575" tIns="19050" rIns="28575" bIns="19050" anchor="ctr">
            <a:normAutofit/>
          </a:bodyPr>
          <a:lstStyle/>
          <a:p>
            <a:pPr algn="l">
              <a:lnSpc>
                <a:spcPct val="100000"/>
              </a:lnSpc>
              <a:buNone/>
              <a:defRPr sz="1275" b="1" i="0">
                <a:solidFill>
                  <a:srgbClr val="3F3F3F"/>
                </a:solidFill>
                <a:latin typeface="Yu Gothic"/>
                <a:ea typeface="Yu Gothic"/>
                <a:cs typeface="Yu Gothic"/>
              </a:defRPr>
            </a:pPr>
            <a:r>
              <a:rPr sz="1275" b="1" i="0">
                <a:solidFill>
                  <a:srgbClr val="3F3F3F"/>
                </a:solidFill>
                <a:latin typeface="Yu Gothic"/>
                <a:ea typeface="Yu Gothic"/>
                <a:cs typeface="Yu Gothic"/>
              </a:rPr>
              <a:t>model assembly</a:t>
            </a:r>
          </a:p>
        </p:txBody>
      </p:sp>
      <p:sp>
        <p:nvSpPr>
          <p:cNvPr id="11" name="正方形/長方形 10">
            <a:extLst>
              <a:ext uri="{FF2B5EF4-FFF2-40B4-BE49-F238E27FC236}">
                <a16:creationId xmlns:a16="http://schemas.microsoft.com/office/drawing/2014/main" id="{22689FE8-5931-473D-9D7A-3E2DB05B55D3}"/>
              </a:ext>
            </a:extLst>
          </p:cNvPr>
          <p:cNvSpPr>
            <a:spLocks noGrp="1"/>
          </p:cNvSpPr>
          <p:nvPr/>
        </p:nvSpPr>
        <p:spPr>
          <a:xfrm>
            <a:off x="552450" y="4733925"/>
            <a:ext cx="1866900" cy="942975"/>
          </a:xfrm>
          <a:prstGeom prst="rect">
            <a:avLst/>
          </a:prstGeom>
          <a:solidFill>
            <a:srgbClr val="F8F8F8"/>
          </a:solidFill>
          <a:ln w="9525">
            <a:solidFill>
              <a:srgbClr val="D6D6D6"/>
            </a:solidFill>
            <a:prstDash val="solid"/>
          </a:ln>
        </p:spPr>
      </p:sp>
      <p:sp>
        <p:nvSpPr>
          <p:cNvPr id="12" name="正方形/長方形 11">
            <a:extLst>
              <a:ext uri="{FF2B5EF4-FFF2-40B4-BE49-F238E27FC236}">
                <a16:creationId xmlns:a16="http://schemas.microsoft.com/office/drawing/2014/main" id="{DDF0F465-CF19-47A9-B6DE-F90456955912}"/>
              </a:ext>
            </a:extLst>
          </p:cNvPr>
          <p:cNvSpPr>
            <a:spLocks noGrp="1"/>
          </p:cNvSpPr>
          <p:nvPr/>
        </p:nvSpPr>
        <p:spPr>
          <a:xfrm>
            <a:off x="714375" y="4886325"/>
            <a:ext cx="1543050" cy="238125"/>
          </a:xfrm>
          <a:prstGeom prst="rect">
            <a:avLst/>
          </a:prstGeom>
          <a:noFill/>
          <a:ln w="0">
            <a:noFill/>
            <a:prstDash val="solid"/>
          </a:ln>
        </p:spPr>
        <p:txBody>
          <a:bodyPr wrap="square" lIns="28575" tIns="19050" rIns="28575" bIns="19050" anchor="ctr">
            <a:normAutofit/>
          </a:bodyPr>
          <a:lstStyle/>
          <a:p>
            <a:pPr algn="ctr">
              <a:lnSpc>
                <a:spcPct val="100000"/>
              </a:lnSpc>
              <a:buNone/>
              <a:defRPr sz="1200" b="1" i="0">
                <a:solidFill>
                  <a:srgbClr val="3F3F3F"/>
                </a:solidFill>
                <a:latin typeface="Cambria Math"/>
                <a:ea typeface="Cambria Math"/>
                <a:cs typeface="Cambria Math"/>
              </a:defRPr>
            </a:pPr>
            <a:r>
              <a:rPr sz="1200" b="1" i="0">
                <a:solidFill>
                  <a:srgbClr val="3F3F3F"/>
                </a:solidFill>
                <a:latin typeface="Cambria Math"/>
                <a:ea typeface="Cambria Math"/>
                <a:cs typeface="Cambria Math"/>
              </a:rPr>
              <a:t>command u(t)</a:t>
            </a:r>
          </a:p>
        </p:txBody>
      </p:sp>
      <p:sp>
        <p:nvSpPr>
          <p:cNvPr id="13" name="正方形/長方形 12">
            <a:extLst>
              <a:ext uri="{FF2B5EF4-FFF2-40B4-BE49-F238E27FC236}">
                <a16:creationId xmlns:a16="http://schemas.microsoft.com/office/drawing/2014/main" id="{2AB0E310-7443-47A1-94B9-FC3EC0B37765}"/>
              </a:ext>
            </a:extLst>
          </p:cNvPr>
          <p:cNvSpPr>
            <a:spLocks noGrp="1"/>
          </p:cNvSpPr>
          <p:nvPr/>
        </p:nvSpPr>
        <p:spPr>
          <a:xfrm>
            <a:off x="714375" y="5238750"/>
            <a:ext cx="1543050" cy="228600"/>
          </a:xfrm>
          <a:prstGeom prst="rect">
            <a:avLst/>
          </a:prstGeom>
          <a:noFill/>
          <a:ln w="0">
            <a:noFill/>
            <a:prstDash val="solid"/>
          </a:ln>
        </p:spPr>
        <p:txBody>
          <a:bodyPr wrap="square" lIns="28575" tIns="19050" rIns="28575" bIns="19050" anchor="ctr">
            <a:normAutofit/>
          </a:bodyPr>
          <a:lstStyle/>
          <a:p>
            <a:pPr algn="ctr">
              <a:lnSpc>
                <a:spcPct val="100000"/>
              </a:lnSpc>
              <a:buNone/>
              <a:defRPr sz="810" b="0" i="0">
                <a:solidFill>
                  <a:srgbClr val="777777"/>
                </a:solidFill>
                <a:latin typeface="Yu Gothic"/>
                <a:ea typeface="Yu Gothic"/>
                <a:cs typeface="Yu Gothic"/>
              </a:defRPr>
            </a:pPr>
            <a:r>
              <a:rPr sz="810" b="0" i="0">
                <a:solidFill>
                  <a:srgbClr val="777777"/>
                </a:solidFill>
                <a:latin typeface="Yu Gothic"/>
                <a:ea typeface="Yu Gothic"/>
                <a:cs typeface="Yu Gothic"/>
              </a:rPr>
              <a:t>left ZOH / variable Δt</a:t>
            </a:r>
          </a:p>
        </p:txBody>
      </p:sp>
      <p:sp>
        <p:nvSpPr>
          <p:cNvPr id="14" name="正方形/長方形 13">
            <a:extLst>
              <a:ext uri="{FF2B5EF4-FFF2-40B4-BE49-F238E27FC236}">
                <a16:creationId xmlns:a16="http://schemas.microsoft.com/office/drawing/2014/main" id="{EF91A167-154C-4A9B-9784-A792ED038785}"/>
              </a:ext>
            </a:extLst>
          </p:cNvPr>
          <p:cNvSpPr>
            <a:spLocks noGrp="1"/>
          </p:cNvSpPr>
          <p:nvPr/>
        </p:nvSpPr>
        <p:spPr>
          <a:xfrm>
            <a:off x="2857500" y="4733925"/>
            <a:ext cx="1866900" cy="942975"/>
          </a:xfrm>
          <a:prstGeom prst="rect">
            <a:avLst/>
          </a:prstGeom>
          <a:solidFill>
            <a:srgbClr val="FFF5D7"/>
          </a:solidFill>
          <a:ln w="9525">
            <a:solidFill>
              <a:srgbClr val="E5A900"/>
            </a:solidFill>
            <a:prstDash val="solid"/>
          </a:ln>
        </p:spPr>
      </p:sp>
      <p:sp>
        <p:nvSpPr>
          <p:cNvPr id="15" name="正方形/長方形 14">
            <a:extLst>
              <a:ext uri="{FF2B5EF4-FFF2-40B4-BE49-F238E27FC236}">
                <a16:creationId xmlns:a16="http://schemas.microsoft.com/office/drawing/2014/main" id="{DA5DF05E-C261-48B8-98C6-BBFD821E4CD7}"/>
              </a:ext>
            </a:extLst>
          </p:cNvPr>
          <p:cNvSpPr>
            <a:spLocks noGrp="1"/>
          </p:cNvSpPr>
          <p:nvPr/>
        </p:nvSpPr>
        <p:spPr>
          <a:xfrm>
            <a:off x="3019425" y="4886325"/>
            <a:ext cx="1543050" cy="238125"/>
          </a:xfrm>
          <a:prstGeom prst="rect">
            <a:avLst/>
          </a:prstGeom>
          <a:noFill/>
          <a:ln w="0">
            <a:noFill/>
            <a:prstDash val="solid"/>
          </a:ln>
        </p:spPr>
        <p:txBody>
          <a:bodyPr wrap="square" lIns="28575" tIns="19050" rIns="28575" bIns="19050" anchor="ctr">
            <a:normAutofit/>
          </a:bodyPr>
          <a:lstStyle/>
          <a:p>
            <a:pPr algn="ctr">
              <a:lnSpc>
                <a:spcPct val="100000"/>
              </a:lnSpc>
              <a:buNone/>
              <a:defRPr sz="1200" b="1" i="0">
                <a:solidFill>
                  <a:srgbClr val="806000"/>
                </a:solidFill>
                <a:latin typeface="Cambria Math"/>
                <a:ea typeface="Cambria Math"/>
                <a:cs typeface="Cambria Math"/>
              </a:defRPr>
            </a:pPr>
            <a:r>
              <a:rPr sz="1200" b="1" i="0">
                <a:solidFill>
                  <a:srgbClr val="806000"/>
                </a:solidFill>
                <a:latin typeface="Cambria Math"/>
                <a:ea typeface="Cambria Math"/>
                <a:cs typeface="Cambria Math"/>
              </a:rPr>
              <a:t>actuator a(t)</a:t>
            </a:r>
          </a:p>
        </p:txBody>
      </p:sp>
      <p:sp>
        <p:nvSpPr>
          <p:cNvPr id="16" name="正方形/長方形 15">
            <a:extLst>
              <a:ext uri="{FF2B5EF4-FFF2-40B4-BE49-F238E27FC236}">
                <a16:creationId xmlns:a16="http://schemas.microsoft.com/office/drawing/2014/main" id="{3200FB78-60C1-4DAB-B93A-957800576B12}"/>
              </a:ext>
            </a:extLst>
          </p:cNvPr>
          <p:cNvSpPr>
            <a:spLocks noGrp="1"/>
          </p:cNvSpPr>
          <p:nvPr/>
        </p:nvSpPr>
        <p:spPr>
          <a:xfrm>
            <a:off x="3019425" y="5238750"/>
            <a:ext cx="1543050" cy="228600"/>
          </a:xfrm>
          <a:prstGeom prst="rect">
            <a:avLst/>
          </a:prstGeom>
          <a:noFill/>
          <a:ln w="0">
            <a:noFill/>
            <a:prstDash val="solid"/>
          </a:ln>
        </p:spPr>
        <p:txBody>
          <a:bodyPr wrap="square" lIns="28575" tIns="19050" rIns="28575" bIns="19050" anchor="ctr">
            <a:normAutofit/>
          </a:bodyPr>
          <a:lstStyle/>
          <a:p>
            <a:pPr algn="ctr">
              <a:lnSpc>
                <a:spcPct val="100000"/>
              </a:lnSpc>
              <a:buNone/>
              <a:defRPr sz="810" b="0" i="0">
                <a:solidFill>
                  <a:srgbClr val="5B5B5B"/>
                </a:solidFill>
                <a:latin typeface="Yu Gothic"/>
                <a:ea typeface="Yu Gothic"/>
                <a:cs typeface="Yu Gothic"/>
              </a:defRPr>
            </a:pPr>
            <a:r>
              <a:rPr sz="810" b="0" i="0">
                <a:solidFill>
                  <a:srgbClr val="5B5B5B"/>
                </a:solidFill>
                <a:latin typeface="Yu Gothic"/>
                <a:ea typeface="Yu Gothic"/>
                <a:cs typeface="Yu Gothic"/>
              </a:rPr>
              <a:t>τ=0 direct / τ&gt;0 lag</a:t>
            </a:r>
          </a:p>
        </p:txBody>
      </p:sp>
      <p:sp>
        <p:nvSpPr>
          <p:cNvPr id="17" name="正方形/長方形 16">
            <a:extLst>
              <a:ext uri="{FF2B5EF4-FFF2-40B4-BE49-F238E27FC236}">
                <a16:creationId xmlns:a16="http://schemas.microsoft.com/office/drawing/2014/main" id="{C2106AC2-6082-483A-86BF-AE055761FBC0}"/>
              </a:ext>
            </a:extLst>
          </p:cNvPr>
          <p:cNvSpPr>
            <a:spLocks noGrp="1"/>
          </p:cNvSpPr>
          <p:nvPr/>
        </p:nvSpPr>
        <p:spPr>
          <a:xfrm>
            <a:off x="5162550" y="4733925"/>
            <a:ext cx="1866900" cy="942975"/>
          </a:xfrm>
          <a:prstGeom prst="rect">
            <a:avLst/>
          </a:prstGeom>
          <a:solidFill>
            <a:srgbClr val="E5F6FB"/>
          </a:solidFill>
          <a:ln w="9525">
            <a:solidFill>
              <a:srgbClr val="00A5D8"/>
            </a:solidFill>
            <a:prstDash val="solid"/>
          </a:ln>
        </p:spPr>
      </p:sp>
      <p:sp>
        <p:nvSpPr>
          <p:cNvPr id="18" name="正方形/長方形 17">
            <a:extLst>
              <a:ext uri="{FF2B5EF4-FFF2-40B4-BE49-F238E27FC236}">
                <a16:creationId xmlns:a16="http://schemas.microsoft.com/office/drawing/2014/main" id="{A69282A2-DE1E-4589-8628-47808234C576}"/>
              </a:ext>
            </a:extLst>
          </p:cNvPr>
          <p:cNvSpPr>
            <a:spLocks noGrp="1"/>
          </p:cNvSpPr>
          <p:nvPr/>
        </p:nvSpPr>
        <p:spPr>
          <a:xfrm>
            <a:off x="5324475" y="4886325"/>
            <a:ext cx="1543050" cy="238125"/>
          </a:xfrm>
          <a:prstGeom prst="rect">
            <a:avLst/>
          </a:prstGeom>
          <a:noFill/>
          <a:ln w="0">
            <a:noFill/>
            <a:prstDash val="solid"/>
          </a:ln>
        </p:spPr>
        <p:txBody>
          <a:bodyPr wrap="square" lIns="28575" tIns="19050" rIns="28575" bIns="19050" anchor="ctr">
            <a:normAutofit/>
          </a:bodyPr>
          <a:lstStyle/>
          <a:p>
            <a:pPr algn="ctr">
              <a:lnSpc>
                <a:spcPct val="100000"/>
              </a:lnSpc>
              <a:buNone/>
              <a:defRPr sz="1200" b="1" i="0">
                <a:solidFill>
                  <a:srgbClr val="007FA8"/>
                </a:solidFill>
                <a:latin typeface="Cambria Math"/>
                <a:ea typeface="Cambria Math"/>
                <a:cs typeface="Cambria Math"/>
              </a:defRPr>
            </a:pPr>
            <a:r>
              <a:rPr sz="1200" b="1" i="0">
                <a:solidFill>
                  <a:srgbClr val="007FA8"/>
                </a:solidFill>
                <a:latin typeface="Cambria Math"/>
                <a:ea typeface="Cambria Math"/>
                <a:cs typeface="Cambria Math"/>
              </a:rPr>
              <a:t>scalar laws λ(a)</a:t>
            </a:r>
          </a:p>
        </p:txBody>
      </p:sp>
      <p:sp>
        <p:nvSpPr>
          <p:cNvPr id="19" name="正方形/長方形 18">
            <a:extLst>
              <a:ext uri="{FF2B5EF4-FFF2-40B4-BE49-F238E27FC236}">
                <a16:creationId xmlns:a16="http://schemas.microsoft.com/office/drawing/2014/main" id="{FCD5550C-2A35-41DC-B22D-4863755D4F87}"/>
              </a:ext>
            </a:extLst>
          </p:cNvPr>
          <p:cNvSpPr>
            <a:spLocks noGrp="1"/>
          </p:cNvSpPr>
          <p:nvPr/>
        </p:nvSpPr>
        <p:spPr>
          <a:xfrm>
            <a:off x="5324475" y="5238750"/>
            <a:ext cx="1543050" cy="228600"/>
          </a:xfrm>
          <a:prstGeom prst="rect">
            <a:avLst/>
          </a:prstGeom>
          <a:noFill/>
          <a:ln w="0">
            <a:noFill/>
            <a:prstDash val="solid"/>
          </a:ln>
        </p:spPr>
        <p:txBody>
          <a:bodyPr wrap="square" lIns="28575" tIns="19050" rIns="28575" bIns="19050" anchor="ctr">
            <a:normAutofit/>
          </a:bodyPr>
          <a:lstStyle/>
          <a:p>
            <a:pPr algn="ctr">
              <a:lnSpc>
                <a:spcPct val="100000"/>
              </a:lnSpc>
              <a:buNone/>
              <a:defRPr sz="810" b="0" i="0">
                <a:solidFill>
                  <a:srgbClr val="5B5B5B"/>
                </a:solidFill>
                <a:latin typeface="Yu Gothic"/>
                <a:ea typeface="Yu Gothic"/>
                <a:cs typeface="Yu Gothic"/>
              </a:defRPr>
            </a:pPr>
            <a:r>
              <a:rPr sz="810" b="0" i="0">
                <a:solidFill>
                  <a:srgbClr val="5B5B5B"/>
                </a:solidFill>
                <a:latin typeface="Yu Gothic"/>
                <a:ea typeface="Yu Gothic"/>
                <a:cs typeface="Yu Gothic"/>
              </a:rPr>
              <a:t>edge / source / boundary</a:t>
            </a:r>
          </a:p>
        </p:txBody>
      </p:sp>
      <p:sp>
        <p:nvSpPr>
          <p:cNvPr id="20" name="正方形/長方形 19">
            <a:extLst>
              <a:ext uri="{FF2B5EF4-FFF2-40B4-BE49-F238E27FC236}">
                <a16:creationId xmlns:a16="http://schemas.microsoft.com/office/drawing/2014/main" id="{F3BFE7DE-FDAD-41B5-B164-715CDC2B6E60}"/>
              </a:ext>
            </a:extLst>
          </p:cNvPr>
          <p:cNvSpPr>
            <a:spLocks noGrp="1"/>
          </p:cNvSpPr>
          <p:nvPr/>
        </p:nvSpPr>
        <p:spPr>
          <a:xfrm>
            <a:off x="7467600" y="4733925"/>
            <a:ext cx="1866900" cy="942975"/>
          </a:xfrm>
          <a:prstGeom prst="rect">
            <a:avLst/>
          </a:prstGeom>
          <a:solidFill>
            <a:srgbClr val="EEF7DF"/>
          </a:solidFill>
          <a:ln w="9525">
            <a:solidFill>
              <a:srgbClr val="76BE18"/>
            </a:solidFill>
            <a:prstDash val="solid"/>
          </a:ln>
        </p:spPr>
      </p:sp>
      <p:sp>
        <p:nvSpPr>
          <p:cNvPr id="21" name="正方形/長方形 20">
            <a:extLst>
              <a:ext uri="{FF2B5EF4-FFF2-40B4-BE49-F238E27FC236}">
                <a16:creationId xmlns:a16="http://schemas.microsoft.com/office/drawing/2014/main" id="{4DBA6D3E-155D-442C-B183-00B5D576028F}"/>
              </a:ext>
            </a:extLst>
          </p:cNvPr>
          <p:cNvSpPr>
            <a:spLocks noGrp="1"/>
          </p:cNvSpPr>
          <p:nvPr/>
        </p:nvSpPr>
        <p:spPr>
          <a:xfrm>
            <a:off x="7629525" y="4886325"/>
            <a:ext cx="1543050" cy="238125"/>
          </a:xfrm>
          <a:prstGeom prst="rect">
            <a:avLst/>
          </a:prstGeom>
          <a:noFill/>
          <a:ln w="0">
            <a:noFill/>
            <a:prstDash val="solid"/>
          </a:ln>
        </p:spPr>
        <p:txBody>
          <a:bodyPr wrap="square" lIns="28575" tIns="19050" rIns="28575" bIns="19050" anchor="ctr">
            <a:normAutofit/>
          </a:bodyPr>
          <a:lstStyle/>
          <a:p>
            <a:pPr algn="ctr">
              <a:lnSpc>
                <a:spcPct val="100000"/>
              </a:lnSpc>
              <a:buNone/>
              <a:defRPr sz="1275" b="1" i="0">
                <a:solidFill>
                  <a:srgbClr val="4D8710"/>
                </a:solidFill>
                <a:latin typeface="Cambria Math"/>
                <a:ea typeface="Cambria Math"/>
                <a:cs typeface="Cambria Math"/>
              </a:defRPr>
            </a:pPr>
            <a:r>
              <a:rPr sz="1275" b="1" i="0">
                <a:solidFill>
                  <a:srgbClr val="4D8710"/>
                </a:solidFill>
                <a:latin typeface="Cambria Math"/>
                <a:ea typeface="Cambria Math"/>
                <a:cs typeface="Cambria Math"/>
              </a:rPr>
              <a:t>A(a), b(a)</a:t>
            </a:r>
          </a:p>
        </p:txBody>
      </p:sp>
      <p:sp>
        <p:nvSpPr>
          <p:cNvPr id="22" name="正方形/長方形 21">
            <a:extLst>
              <a:ext uri="{FF2B5EF4-FFF2-40B4-BE49-F238E27FC236}">
                <a16:creationId xmlns:a16="http://schemas.microsoft.com/office/drawing/2014/main" id="{A6DBD6D9-F96F-4663-A501-219DDE3F9E47}"/>
              </a:ext>
            </a:extLst>
          </p:cNvPr>
          <p:cNvSpPr>
            <a:spLocks noGrp="1"/>
          </p:cNvSpPr>
          <p:nvPr/>
        </p:nvSpPr>
        <p:spPr>
          <a:xfrm>
            <a:off x="7629525" y="5238750"/>
            <a:ext cx="1543050" cy="228600"/>
          </a:xfrm>
          <a:prstGeom prst="rect">
            <a:avLst/>
          </a:prstGeom>
          <a:noFill/>
          <a:ln w="0">
            <a:noFill/>
            <a:prstDash val="solid"/>
          </a:ln>
        </p:spPr>
        <p:txBody>
          <a:bodyPr wrap="square" lIns="28575" tIns="19050" rIns="28575" bIns="19050" anchor="ctr">
            <a:normAutofit/>
          </a:bodyPr>
          <a:lstStyle/>
          <a:p>
            <a:pPr algn="ctr">
              <a:lnSpc>
                <a:spcPct val="100000"/>
              </a:lnSpc>
              <a:buNone/>
              <a:defRPr sz="810" b="0" i="0">
                <a:solidFill>
                  <a:srgbClr val="5B5B5B"/>
                </a:solidFill>
                <a:latin typeface="Yu Gothic"/>
                <a:ea typeface="Yu Gothic"/>
                <a:cs typeface="Yu Gothic"/>
              </a:defRPr>
            </a:pPr>
            <a:r>
              <a:rPr sz="810" b="0" i="0">
                <a:solidFill>
                  <a:srgbClr val="5B5B5B"/>
                </a:solidFill>
                <a:latin typeface="Yu Gothic"/>
                <a:ea typeface="Yu Gothic"/>
                <a:cs typeface="Yu Gothic"/>
              </a:rPr>
              <a:t>C⁻¹L / heat forcing</a:t>
            </a:r>
          </a:p>
        </p:txBody>
      </p:sp>
      <p:sp>
        <p:nvSpPr>
          <p:cNvPr id="23" name="正方形/長方形 22">
            <a:extLst>
              <a:ext uri="{FF2B5EF4-FFF2-40B4-BE49-F238E27FC236}">
                <a16:creationId xmlns:a16="http://schemas.microsoft.com/office/drawing/2014/main" id="{B316C58B-0FA0-4F2A-9E56-58442E268896}"/>
              </a:ext>
            </a:extLst>
          </p:cNvPr>
          <p:cNvSpPr>
            <a:spLocks noGrp="1"/>
          </p:cNvSpPr>
          <p:nvPr/>
        </p:nvSpPr>
        <p:spPr>
          <a:xfrm>
            <a:off x="9772650" y="4733925"/>
            <a:ext cx="1866900" cy="942975"/>
          </a:xfrm>
          <a:prstGeom prst="rect">
            <a:avLst/>
          </a:prstGeom>
          <a:solidFill>
            <a:srgbClr val="201445"/>
          </a:solidFill>
          <a:ln w="0">
            <a:noFill/>
            <a:prstDash val="solid"/>
          </a:ln>
        </p:spPr>
      </p:sp>
      <p:sp>
        <p:nvSpPr>
          <p:cNvPr id="24" name="正方形/長方形 23">
            <a:extLst>
              <a:ext uri="{FF2B5EF4-FFF2-40B4-BE49-F238E27FC236}">
                <a16:creationId xmlns:a16="http://schemas.microsoft.com/office/drawing/2014/main" id="{A8A91714-5C71-4B55-9611-13F718AEC649}"/>
              </a:ext>
            </a:extLst>
          </p:cNvPr>
          <p:cNvSpPr>
            <a:spLocks noGrp="1"/>
          </p:cNvSpPr>
          <p:nvPr/>
        </p:nvSpPr>
        <p:spPr>
          <a:xfrm>
            <a:off x="9934575" y="4867275"/>
            <a:ext cx="1543050" cy="295275"/>
          </a:xfrm>
          <a:prstGeom prst="rect">
            <a:avLst/>
          </a:prstGeom>
          <a:noFill/>
          <a:ln w="0">
            <a:noFill/>
            <a:prstDash val="solid"/>
          </a:ln>
        </p:spPr>
        <p:txBody>
          <a:bodyPr wrap="square" lIns="28575" tIns="19050" rIns="28575" bIns="19050" anchor="ctr">
            <a:normAutofit fontScale="90000"/>
          </a:bodyPr>
          <a:lstStyle/>
          <a:p>
            <a:pPr algn="ctr">
              <a:lnSpc>
                <a:spcPct val="100000"/>
              </a:lnSpc>
              <a:buNone/>
              <a:defRPr sz="1875" b="1" i="0">
                <a:solidFill>
                  <a:srgbClr val="FFFFFF"/>
                </a:solidFill>
                <a:latin typeface="Cambria Math"/>
                <a:ea typeface="Cambria Math"/>
                <a:cs typeface="Cambria Math"/>
              </a:defRPr>
            </a:pPr>
            <a:r>
              <a:rPr sz="1875" b="1" i="0">
                <a:solidFill>
                  <a:srgbClr val="FFFFFF"/>
                </a:solidFill>
                <a:latin typeface="Cambria Math"/>
                <a:ea typeface="Cambria Math"/>
                <a:cs typeface="Cambria Math"/>
              </a:rPr>
              <a:t>Tₖ₊₁</a:t>
            </a:r>
          </a:p>
        </p:txBody>
      </p:sp>
      <p:sp>
        <p:nvSpPr>
          <p:cNvPr id="25" name="正方形/長方形 24">
            <a:extLst>
              <a:ext uri="{FF2B5EF4-FFF2-40B4-BE49-F238E27FC236}">
                <a16:creationId xmlns:a16="http://schemas.microsoft.com/office/drawing/2014/main" id="{43D46E8B-F90D-4E7A-819A-1E37467663B9}"/>
              </a:ext>
            </a:extLst>
          </p:cNvPr>
          <p:cNvSpPr>
            <a:spLocks noGrp="1"/>
          </p:cNvSpPr>
          <p:nvPr/>
        </p:nvSpPr>
        <p:spPr>
          <a:xfrm>
            <a:off x="9934575" y="5238750"/>
            <a:ext cx="1543050" cy="228600"/>
          </a:xfrm>
          <a:prstGeom prst="rect">
            <a:avLst/>
          </a:prstGeom>
          <a:noFill/>
          <a:ln w="0">
            <a:noFill/>
            <a:prstDash val="solid"/>
          </a:ln>
        </p:spPr>
        <p:txBody>
          <a:bodyPr wrap="square" lIns="28575" tIns="19050" rIns="28575" bIns="19050" anchor="ctr">
            <a:normAutofit/>
          </a:bodyPr>
          <a:lstStyle/>
          <a:p>
            <a:pPr algn="ctr">
              <a:lnSpc>
                <a:spcPct val="100000"/>
              </a:lnSpc>
              <a:buNone/>
              <a:defRPr sz="825" b="0" i="0">
                <a:solidFill>
                  <a:srgbClr val="D8D0E8"/>
                </a:solidFill>
                <a:latin typeface="Yu Gothic"/>
                <a:ea typeface="Yu Gothic"/>
                <a:cs typeface="Yu Gothic"/>
              </a:defRPr>
            </a:pPr>
            <a:r>
              <a:rPr sz="825" b="0" i="0">
                <a:solidFill>
                  <a:srgbClr val="D8D0E8"/>
                </a:solidFill>
                <a:latin typeface="Yu Gothic"/>
                <a:ea typeface="Yu Gothic"/>
                <a:cs typeface="Yu Gothic"/>
              </a:rPr>
              <a:t>exact / implicit</a:t>
            </a:r>
          </a:p>
        </p:txBody>
      </p:sp>
      <p:cxnSp>
        <p:nvCxnSpPr>
          <p:cNvPr id="57" name="直線矢印コネクタ 56"/>
          <p:cNvCxnSpPr>
            <a:stCxn id="11" idx="3"/>
            <a:endCxn id="14" idx="1"/>
          </p:cNvCxnSpPr>
          <p:nvPr/>
        </p:nvCxnSpPr>
        <p:spPr>
          <a:xfrm>
            <a:off x="2419350" y="5205413"/>
            <a:ext cx="438150" cy="0"/>
          </a:xfrm>
          <a:prstGeom prst="straightConnector1">
            <a:avLst/>
          </a:prstGeom>
          <a:ln w="19050">
            <a:solidFill>
              <a:srgbClr val="007FA8"/>
            </a:solidFill>
            <a:prstDash val="solid"/>
            <a:tailEnd type="triangle" w="sm" len="sm"/>
          </a:ln>
        </p:spPr>
      </p:cxnSp>
      <p:cxnSp>
        <p:nvCxnSpPr>
          <p:cNvPr id="58" name="直線矢印コネクタ 57"/>
          <p:cNvCxnSpPr>
            <a:stCxn id="14" idx="3"/>
            <a:endCxn id="17" idx="1"/>
          </p:cNvCxnSpPr>
          <p:nvPr/>
        </p:nvCxnSpPr>
        <p:spPr>
          <a:xfrm>
            <a:off x="4724400" y="5205413"/>
            <a:ext cx="438150" cy="0"/>
          </a:xfrm>
          <a:prstGeom prst="straightConnector1">
            <a:avLst/>
          </a:prstGeom>
          <a:ln w="19050">
            <a:solidFill>
              <a:srgbClr val="007FA8"/>
            </a:solidFill>
            <a:prstDash val="solid"/>
            <a:tailEnd type="triangle" w="sm" len="sm"/>
          </a:ln>
        </p:spPr>
      </p:cxnSp>
      <p:cxnSp>
        <p:nvCxnSpPr>
          <p:cNvPr id="59" name="直線矢印コネクタ 58"/>
          <p:cNvCxnSpPr>
            <a:stCxn id="17" idx="3"/>
            <a:endCxn id="20" idx="1"/>
          </p:cNvCxnSpPr>
          <p:nvPr/>
        </p:nvCxnSpPr>
        <p:spPr>
          <a:xfrm>
            <a:off x="7029450" y="5205413"/>
            <a:ext cx="438150" cy="0"/>
          </a:xfrm>
          <a:prstGeom prst="straightConnector1">
            <a:avLst/>
          </a:prstGeom>
          <a:ln w="19050">
            <a:solidFill>
              <a:srgbClr val="007FA8"/>
            </a:solidFill>
            <a:prstDash val="solid"/>
            <a:tailEnd type="triangle" w="sm" len="sm"/>
          </a:ln>
        </p:spPr>
      </p:cxnSp>
      <p:cxnSp>
        <p:nvCxnSpPr>
          <p:cNvPr id="60" name="直線矢印コネクタ 59"/>
          <p:cNvCxnSpPr>
            <a:stCxn id="20" idx="3"/>
            <a:endCxn id="23" idx="1"/>
          </p:cNvCxnSpPr>
          <p:nvPr/>
        </p:nvCxnSpPr>
        <p:spPr>
          <a:xfrm>
            <a:off x="9334500" y="5205413"/>
            <a:ext cx="438150" cy="0"/>
          </a:xfrm>
          <a:prstGeom prst="straightConnector1">
            <a:avLst/>
          </a:prstGeom>
          <a:ln w="19050">
            <a:solidFill>
              <a:srgbClr val="007FA8"/>
            </a:solidFill>
            <a:prstDash val="solid"/>
            <a:tailEnd type="triangle" w="sm" len="sm"/>
          </a:ln>
        </p:spPr>
      </p:cxnSp>
      <p:sp>
        <p:nvSpPr>
          <p:cNvPr id="30" name="正方形/長方形 29">
            <a:extLst>
              <a:ext uri="{FF2B5EF4-FFF2-40B4-BE49-F238E27FC236}">
                <a16:creationId xmlns:a16="http://schemas.microsoft.com/office/drawing/2014/main" id="{709A0905-3F5E-4C6B-8F64-4D5FA80B34E5}"/>
              </a:ext>
            </a:extLst>
          </p:cNvPr>
          <p:cNvSpPr>
            <a:spLocks noGrp="1"/>
          </p:cNvSpPr>
          <p:nvPr/>
        </p:nvSpPr>
        <p:spPr>
          <a:xfrm>
            <a:off x="552450" y="5867400"/>
            <a:ext cx="11087100" cy="381000"/>
          </a:xfrm>
          <a:prstGeom prst="rect">
            <a:avLst/>
          </a:prstGeom>
          <a:solidFill>
            <a:srgbClr val="FBE9E7"/>
          </a:solidFill>
          <a:ln w="9525">
            <a:solidFill>
              <a:srgbClr val="C4493D"/>
            </a:solidFill>
            <a:prstDash val="solid"/>
          </a:ln>
        </p:spPr>
      </p:sp>
      <p:sp>
        <p:nvSpPr>
          <p:cNvPr id="31" name="正方形/長方形 30">
            <a:extLst>
              <a:ext uri="{FF2B5EF4-FFF2-40B4-BE49-F238E27FC236}">
                <a16:creationId xmlns:a16="http://schemas.microsoft.com/office/drawing/2014/main" id="{ED5D80D6-EF75-4BE4-A66A-CB93358F1A26}"/>
              </a:ext>
            </a:extLst>
          </p:cNvPr>
          <p:cNvSpPr>
            <a:spLocks noGrp="1"/>
          </p:cNvSpPr>
          <p:nvPr/>
        </p:nvSpPr>
        <p:spPr>
          <a:xfrm>
            <a:off x="695325" y="5934075"/>
            <a:ext cx="10801350" cy="228600"/>
          </a:xfrm>
          <a:prstGeom prst="rect">
            <a:avLst/>
          </a:prstGeom>
          <a:noFill/>
          <a:ln w="0">
            <a:noFill/>
            <a:prstDash val="solid"/>
          </a:ln>
        </p:spPr>
        <p:txBody>
          <a:bodyPr wrap="square" lIns="28575" tIns="19050" rIns="28575" bIns="19050" anchor="ctr">
            <a:normAutofit/>
          </a:bodyPr>
          <a:lstStyle/>
          <a:p>
            <a:pPr algn="ctr">
              <a:lnSpc>
                <a:spcPct val="100000"/>
              </a:lnSpc>
              <a:buNone/>
              <a:defRPr sz="885" b="1" i="0">
                <a:solidFill>
                  <a:srgbClr val="C4493D"/>
                </a:solidFill>
                <a:latin typeface="Yu Gothic"/>
                <a:ea typeface="Yu Gothic"/>
                <a:cs typeface="Yu Gothic"/>
              </a:defRPr>
            </a:pPr>
            <a:r>
              <a:rPr sz="885" b="1" i="0">
                <a:solidFill>
                  <a:srgbClr val="C4493D"/>
                </a:solidFill>
                <a:latin typeface="Yu Gothic"/>
                <a:ea typeface="Yu Gothic"/>
                <a:cs typeface="Yu Gothic"/>
              </a:rPr>
              <a:t>現行境界：温度状態には線形。T⁴放射、相変化、温度依存物性は独立したfirst-class termとしては未実装。</a:t>
            </a:r>
          </a:p>
        </p:txBody>
      </p:sp>
    </p:spTree>
    <p:extLst>
      <p:ext uri="{BB962C8B-B14F-4D97-AF65-F5344CB8AC3E}">
        <p14:creationId xmlns:p14="http://schemas.microsoft.com/office/powerpoint/2010/main" val="9497887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5" name="正方形/長方形 54">
            <a:extLst>
              <a:ext uri="{FF2B5EF4-FFF2-40B4-BE49-F238E27FC236}">
                <a16:creationId xmlns:a16="http://schemas.microsoft.com/office/drawing/2014/main" id="{60EBE818-C687-4871-9EFE-317A647D9BDE}"/>
              </a:ext>
            </a:extLst>
          </p:cNvPr>
          <p:cNvSpPr>
            <a:spLocks noGrp="1"/>
          </p:cNvSpPr>
          <p:nvPr/>
        </p:nvSpPr>
        <p:spPr>
          <a:xfrm>
            <a:off x="552450" y="190500"/>
            <a:ext cx="76200" cy="142875"/>
          </a:xfrm>
          <a:prstGeom prst="rect">
            <a:avLst/>
          </a:prstGeom>
          <a:solidFill>
            <a:srgbClr val="76BE18"/>
          </a:solidFill>
          <a:ln w="0">
            <a:noFill/>
            <a:prstDash val="solid"/>
          </a:ln>
        </p:spPr>
      </p:sp>
      <p:sp>
        <p:nvSpPr>
          <p:cNvPr id="2" name="正方形/長方形 1">
            <a:extLst>
              <a:ext uri="{FF2B5EF4-FFF2-40B4-BE49-F238E27FC236}">
                <a16:creationId xmlns:a16="http://schemas.microsoft.com/office/drawing/2014/main" id="{19BE1E71-21D0-432F-9033-CECE00F3027B}"/>
              </a:ext>
            </a:extLst>
          </p:cNvPr>
          <p:cNvSpPr>
            <a:spLocks noGrp="1"/>
          </p:cNvSpPr>
          <p:nvPr/>
        </p:nvSpPr>
        <p:spPr>
          <a:xfrm>
            <a:off x="704850" y="161925"/>
            <a:ext cx="3429000" cy="190500"/>
          </a:xfrm>
          <a:prstGeom prst="rect">
            <a:avLst/>
          </a:prstGeom>
          <a:noFill/>
          <a:ln w="0">
            <a:noFill/>
            <a:prstDash val="solid"/>
          </a:ln>
        </p:spPr>
        <p:txBody>
          <a:bodyPr wrap="none" lIns="28575" tIns="19050" rIns="28575" bIns="19050" anchor="ctr">
            <a:noAutofit/>
          </a:bodyPr>
          <a:lstStyle/>
          <a:p>
            <a:pPr algn="l">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DYNAMIC INTERPRETATION</a:t>
            </a:r>
          </a:p>
        </p:txBody>
      </p:sp>
      <p:sp>
        <p:nvSpPr>
          <p:cNvPr id="3" name="正方形/長方形 2">
            <a:extLst>
              <a:ext uri="{FF2B5EF4-FFF2-40B4-BE49-F238E27FC236}">
                <a16:creationId xmlns:a16="http://schemas.microsoft.com/office/drawing/2014/main" id="{AB68886A-B9E1-47CC-A23C-E05779715724}"/>
              </a:ext>
            </a:extLst>
          </p:cNvPr>
          <p:cNvSpPr>
            <a:spLocks noGrp="1"/>
          </p:cNvSpPr>
          <p:nvPr/>
        </p:nvSpPr>
        <p:spPr>
          <a:xfrm>
            <a:off x="552450" y="400050"/>
            <a:ext cx="11001375" cy="400050"/>
          </a:xfrm>
          <a:prstGeom prst="rect">
            <a:avLst/>
          </a:prstGeom>
          <a:noFill/>
          <a:ln w="0">
            <a:noFill/>
            <a:prstDash val="solid"/>
          </a:ln>
        </p:spPr>
        <p:txBody>
          <a:bodyPr wrap="none" lIns="19050" tIns="0" rIns="19050" bIns="0" anchor="ctr">
            <a:normAutofit fontScale="99698"/>
          </a:bodyPr>
          <a:lstStyle/>
          <a:p>
            <a:pPr algn="l">
              <a:lnSpc>
                <a:spcPct val="100000"/>
              </a:lnSpc>
              <a:buNone/>
              <a:defRPr sz="2175" b="1" i="0">
                <a:solidFill>
                  <a:srgbClr val="00A5D8"/>
                </a:solidFill>
                <a:latin typeface="Yu Gothic"/>
                <a:ea typeface="Yu Gothic"/>
                <a:cs typeface="Yu Gothic"/>
              </a:defRPr>
            </a:pPr>
            <a:r>
              <a:rPr sz="2175" b="1" i="0">
                <a:solidFill>
                  <a:srgbClr val="00A5D8"/>
                </a:solidFill>
                <a:latin typeface="Yu Gothic"/>
                <a:ea typeface="Yu Gothic"/>
                <a:cs typeface="Yu Gothic"/>
              </a:rPr>
              <a:t>固有時定数は0.186 s、2.03 s、425 s — 同じデータで3モードを識別できるとは限らない</a:t>
            </a:r>
          </a:p>
        </p:txBody>
      </p:sp>
      <p:sp>
        <p:nvSpPr>
          <p:cNvPr id="4" name="正方形/長方形 3">
            <a:extLst>
              <a:ext uri="{FF2B5EF4-FFF2-40B4-BE49-F238E27FC236}">
                <a16:creationId xmlns:a16="http://schemas.microsoft.com/office/drawing/2014/main" id="{AA409A0D-0EEA-49E3-A6DF-3BE36602DD48}"/>
              </a:ext>
            </a:extLst>
          </p:cNvPr>
          <p:cNvSpPr>
            <a:spLocks noGrp="1"/>
          </p:cNvSpPr>
          <p:nvPr/>
        </p:nvSpPr>
        <p:spPr>
          <a:xfrm>
            <a:off x="571500" y="838200"/>
            <a:ext cx="10906125" cy="228600"/>
          </a:xfrm>
          <a:prstGeom prst="rect">
            <a:avLst/>
          </a:prstGeom>
          <a:noFill/>
          <a:ln w="0">
            <a:noFill/>
            <a:prstDash val="solid"/>
          </a:ln>
        </p:spPr>
        <p:txBody>
          <a:bodyPr wrap="none" lIns="28575" tIns="19050" rIns="28575" bIns="19050" anchor="ctr">
            <a:noAutofit/>
          </a:bodyPr>
          <a:lstStyle/>
          <a:p>
            <a:pPr algn="l">
              <a:lnSpc>
                <a:spcPct val="100000"/>
              </a:lnSpc>
              <a:buNone/>
              <a:defRPr sz="975" b="0" i="0">
                <a:solidFill>
                  <a:srgbClr val="5B5B5B"/>
                </a:solidFill>
                <a:latin typeface="Yu Gothic"/>
                <a:ea typeface="Yu Gothic"/>
                <a:cs typeface="Yu Gothic"/>
              </a:defRPr>
            </a:pPr>
            <a:r>
              <a:rPr sz="975" b="0" i="0">
                <a:solidFill>
                  <a:srgbClr val="5B5B5B"/>
                </a:solidFill>
                <a:latin typeface="Yu Gothic"/>
                <a:ea typeface="Yu Gothic"/>
                <a:cs typeface="Yu Gothic"/>
              </a:rPr>
              <a:t>exact積分は数値誤差を抑えるが、samplingで失われた情報は復元しない</a:t>
            </a:r>
          </a:p>
        </p:txBody>
      </p:sp>
      <p:sp>
        <p:nvSpPr>
          <p:cNvPr id="5" name="直線コネクタ 4">
            <a:extLst>
              <a:ext uri="{FF2B5EF4-FFF2-40B4-BE49-F238E27FC236}">
                <a16:creationId xmlns:a16="http://schemas.microsoft.com/office/drawing/2014/main" id="{1E54C3ED-9559-4AFF-A29A-6D45645962BC}"/>
              </a:ext>
            </a:extLst>
          </p:cNvPr>
          <p:cNvSpPr>
            <a:spLocks noGrp="1"/>
          </p:cNvSpPr>
          <p:nvPr/>
        </p:nvSpPr>
        <p:spPr>
          <a:xfrm>
            <a:off x="552450" y="1152525"/>
            <a:ext cx="11087100" cy="0"/>
          </a:xfrm>
          <a:prstGeom prst="line">
            <a:avLst/>
          </a:prstGeom>
          <a:noFill/>
          <a:ln w="9525">
            <a:solidFill>
              <a:srgbClr val="D6D6D6"/>
            </a:solidFill>
            <a:prstDash val="solid"/>
          </a:ln>
        </p:spPr>
      </p:sp>
      <p:sp>
        <p:nvSpPr>
          <p:cNvPr id="6" name="直線コネクタ 5">
            <a:extLst>
              <a:ext uri="{FF2B5EF4-FFF2-40B4-BE49-F238E27FC236}">
                <a16:creationId xmlns:a16="http://schemas.microsoft.com/office/drawing/2014/main" id="{90F1D346-001E-4A23-8FFC-E3ECAA6C57A0}"/>
              </a:ext>
            </a:extLst>
          </p:cNvPr>
          <p:cNvSpPr>
            <a:spLocks noGrp="1"/>
          </p:cNvSpPr>
          <p:nvPr/>
        </p:nvSpPr>
        <p:spPr>
          <a:xfrm>
            <a:off x="552450" y="6438900"/>
            <a:ext cx="11087100" cy="0"/>
          </a:xfrm>
          <a:prstGeom prst="line">
            <a:avLst/>
          </a:prstGeom>
          <a:noFill/>
          <a:ln w="9525">
            <a:solidFill>
              <a:srgbClr val="D6D6D6"/>
            </a:solidFill>
            <a:prstDash val="solid"/>
          </a:ln>
        </p:spPr>
      </p:sp>
      <p:sp>
        <p:nvSpPr>
          <p:cNvPr id="7" name="正方形/長方形 6">
            <a:extLst>
              <a:ext uri="{FF2B5EF4-FFF2-40B4-BE49-F238E27FC236}">
                <a16:creationId xmlns:a16="http://schemas.microsoft.com/office/drawing/2014/main" id="{2676CDA0-00FB-4C6D-BEE7-A932EC2B670C}"/>
              </a:ext>
            </a:extLst>
          </p:cNvPr>
          <p:cNvSpPr>
            <a:spLocks noGrp="1"/>
          </p:cNvSpPr>
          <p:nvPr/>
        </p:nvSpPr>
        <p:spPr>
          <a:xfrm>
            <a:off x="571500" y="6505575"/>
            <a:ext cx="5334000" cy="171450"/>
          </a:xfrm>
          <a:prstGeom prst="rect">
            <a:avLst/>
          </a:prstGeom>
          <a:noFill/>
          <a:ln w="0">
            <a:noFill/>
            <a:prstDash val="solid"/>
          </a:ln>
        </p:spPr>
        <p:txBody>
          <a:bodyPr wrap="none" lIns="28575" tIns="19050" rIns="28575" bIns="19050" anchor="ctr">
            <a:noAutofit/>
          </a:bodyPr>
          <a:lstStyle/>
          <a:p>
            <a:pPr algn="l">
              <a:lnSpc>
                <a:spcPct val="100000"/>
              </a:lnSpc>
              <a:buNone/>
              <a:defRPr sz="713" b="0" i="0">
                <a:solidFill>
                  <a:srgbClr val="777777"/>
                </a:solidFill>
                <a:latin typeface="Yu Gothic"/>
                <a:ea typeface="Yu Gothic"/>
                <a:cs typeface="Yu Gothic"/>
              </a:defRPr>
            </a:pPr>
            <a:r>
              <a:rPr sz="713" b="0" i="0">
                <a:solidFill>
                  <a:srgbClr val="777777"/>
                </a:solidFill>
                <a:latin typeface="Yu Gothic"/>
                <a:ea typeface="Yu Gothic"/>
                <a:cs typeface="Yu Gothic"/>
              </a:rPr>
              <a:t>THERMAL RC / EQUIPMENT ENGINEERING REVIEW  ·  2026-09-17</a:t>
            </a:r>
          </a:p>
        </p:txBody>
      </p:sp>
      <p:sp>
        <p:nvSpPr>
          <p:cNvPr id="8" name="正方形/長方形 7">
            <a:extLst>
              <a:ext uri="{FF2B5EF4-FFF2-40B4-BE49-F238E27FC236}">
                <a16:creationId xmlns:a16="http://schemas.microsoft.com/office/drawing/2014/main" id="{7EE55F52-FB02-4CE7-947F-89D54A4440DD}"/>
              </a:ext>
            </a:extLst>
          </p:cNvPr>
          <p:cNvSpPr>
            <a:spLocks noGrp="1"/>
          </p:cNvSpPr>
          <p:nvPr/>
        </p:nvSpPr>
        <p:spPr>
          <a:xfrm>
            <a:off x="11125200" y="6496050"/>
            <a:ext cx="476250" cy="171450"/>
          </a:xfrm>
          <a:prstGeom prst="rect">
            <a:avLst/>
          </a:prstGeom>
          <a:noFill/>
          <a:ln w="0">
            <a:noFill/>
            <a:prstDash val="solid"/>
          </a:ln>
        </p:spPr>
        <p:txBody>
          <a:bodyPr wrap="square" lIns="28575" tIns="19050" rIns="28575" bIns="19050" anchor="ctr">
            <a:noAutofit/>
          </a:bodyPr>
          <a:lstStyle/>
          <a:p>
            <a:pPr algn="r">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12</a:t>
            </a:r>
          </a:p>
        </p:txBody>
      </p:sp>
      <p:sp>
        <p:nvSpPr>
          <p:cNvPr id="9" name="正方形/長方形 8">
            <a:extLst>
              <a:ext uri="{FF2B5EF4-FFF2-40B4-BE49-F238E27FC236}">
                <a16:creationId xmlns:a16="http://schemas.microsoft.com/office/drawing/2014/main" id="{089B888B-FB1B-4F5A-BC3F-F459FFDF71B5}"/>
              </a:ext>
            </a:extLst>
          </p:cNvPr>
          <p:cNvSpPr>
            <a:spLocks noGrp="1"/>
          </p:cNvSpPr>
          <p:nvPr/>
        </p:nvSpPr>
        <p:spPr>
          <a:xfrm>
            <a:off x="552450" y="1438275"/>
            <a:ext cx="11087100" cy="2876550"/>
          </a:xfrm>
          <a:prstGeom prst="rect">
            <a:avLst/>
          </a:prstGeom>
          <a:solidFill>
            <a:srgbClr val="F8F8F8"/>
          </a:solidFill>
          <a:ln w="9525">
            <a:solidFill>
              <a:srgbClr val="D6D6D6"/>
            </a:solidFill>
            <a:prstDash val="solid"/>
          </a:ln>
        </p:spPr>
      </p:sp>
      <p:sp>
        <p:nvSpPr>
          <p:cNvPr id="10" name="正方形/長方形 9">
            <a:extLst>
              <a:ext uri="{FF2B5EF4-FFF2-40B4-BE49-F238E27FC236}">
                <a16:creationId xmlns:a16="http://schemas.microsoft.com/office/drawing/2014/main" id="{25C3C93B-949B-45BA-B49E-811DC67FDE43}"/>
              </a:ext>
            </a:extLst>
          </p:cNvPr>
          <p:cNvSpPr>
            <a:spLocks noGrp="1"/>
          </p:cNvSpPr>
          <p:nvPr/>
        </p:nvSpPr>
        <p:spPr>
          <a:xfrm>
            <a:off x="742950" y="1600200"/>
            <a:ext cx="1714500" cy="228600"/>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007FA8"/>
                </a:solidFill>
                <a:latin typeface="Yu Gothic"/>
                <a:ea typeface="Yu Gothic"/>
                <a:cs typeface="Yu Gothic"/>
              </a:defRPr>
            </a:pPr>
            <a:r>
              <a:rPr sz="975" b="1" i="0">
                <a:solidFill>
                  <a:srgbClr val="007FA8"/>
                </a:solidFill>
                <a:latin typeface="Yu Gothic"/>
                <a:ea typeface="Yu Gothic"/>
                <a:cs typeface="Yu Gothic"/>
              </a:rPr>
              <a:t>一般化固有値問題</a:t>
            </a:r>
          </a:p>
        </p:txBody>
      </p:sp>
      <p:sp>
        <p:nvSpPr>
          <p:cNvPr id="11" name="正方形/長方形 10">
            <a:extLst>
              <a:ext uri="{FF2B5EF4-FFF2-40B4-BE49-F238E27FC236}">
                <a16:creationId xmlns:a16="http://schemas.microsoft.com/office/drawing/2014/main" id="{AAE7F8DC-FFD5-4F0D-B40D-6BB28DD90E26}"/>
              </a:ext>
            </a:extLst>
          </p:cNvPr>
          <p:cNvSpPr>
            <a:spLocks noGrp="1"/>
          </p:cNvSpPr>
          <p:nvPr/>
        </p:nvSpPr>
        <p:spPr>
          <a:xfrm>
            <a:off x="2457450" y="1562100"/>
            <a:ext cx="3143250" cy="295275"/>
          </a:xfrm>
          <a:prstGeom prst="rect">
            <a:avLst/>
          </a:prstGeom>
          <a:noFill/>
          <a:ln w="0">
            <a:noFill/>
            <a:prstDash val="solid"/>
          </a:ln>
        </p:spPr>
        <p:txBody>
          <a:bodyPr wrap="square" lIns="28575" tIns="19050" rIns="28575" bIns="19050" anchor="ctr">
            <a:normAutofit/>
          </a:bodyPr>
          <a:lstStyle/>
          <a:p>
            <a:pPr algn="l">
              <a:lnSpc>
                <a:spcPct val="100000"/>
              </a:lnSpc>
              <a:buNone/>
              <a:defRPr sz="1650" b="1" i="0">
                <a:solidFill>
                  <a:srgbClr val="3F3F3F"/>
                </a:solidFill>
                <a:latin typeface="Cambria Math"/>
                <a:ea typeface="Cambria Math"/>
                <a:cs typeface="Cambria Math"/>
              </a:defRPr>
            </a:pPr>
            <a:r>
              <a:rPr sz="1650" b="1" i="0">
                <a:solidFill>
                  <a:srgbClr val="3F3F3F"/>
                </a:solidFill>
                <a:latin typeface="Cambria Math"/>
                <a:ea typeface="Cambria Math"/>
                <a:cs typeface="Cambria Math"/>
              </a:rPr>
              <a:t>Kφ = λCφ,    τ = 1/λ</a:t>
            </a:r>
          </a:p>
        </p:txBody>
      </p:sp>
      <p:sp>
        <p:nvSpPr>
          <p:cNvPr id="12" name="正方形/長方形 11">
            <a:extLst>
              <a:ext uri="{FF2B5EF4-FFF2-40B4-BE49-F238E27FC236}">
                <a16:creationId xmlns:a16="http://schemas.microsoft.com/office/drawing/2014/main" id="{C05B4F5C-F207-444B-A678-D523CD81E3F8}"/>
              </a:ext>
            </a:extLst>
          </p:cNvPr>
          <p:cNvSpPr>
            <a:spLocks noGrp="1"/>
          </p:cNvSpPr>
          <p:nvPr/>
        </p:nvSpPr>
        <p:spPr>
          <a:xfrm>
            <a:off x="8115300" y="1600200"/>
            <a:ext cx="3238500" cy="190500"/>
          </a:xfrm>
          <a:prstGeom prst="rect">
            <a:avLst/>
          </a:prstGeom>
          <a:noFill/>
          <a:ln w="0">
            <a:noFill/>
            <a:prstDash val="solid"/>
          </a:ln>
        </p:spPr>
        <p:txBody>
          <a:bodyPr wrap="square" lIns="28575" tIns="19050" rIns="28575" bIns="19050" anchor="ctr">
            <a:normAutofit/>
          </a:bodyPr>
          <a:lstStyle/>
          <a:p>
            <a:pPr algn="r">
              <a:lnSpc>
                <a:spcPct val="100000"/>
              </a:lnSpc>
              <a:buNone/>
              <a:defRPr sz="788" b="0" i="0">
                <a:solidFill>
                  <a:srgbClr val="777777"/>
                </a:solidFill>
                <a:latin typeface="Yu Gothic"/>
                <a:ea typeface="Yu Gothic"/>
                <a:cs typeface="Yu Gothic"/>
              </a:defRPr>
            </a:pPr>
            <a:r>
              <a:rPr sz="788" b="0" i="0">
                <a:solidFill>
                  <a:srgbClr val="777777"/>
                </a:solidFill>
                <a:latin typeface="Yu Gothic"/>
                <a:ea typeface="Yu Gothic"/>
                <a:cs typeface="Yu Gothic"/>
              </a:rPr>
              <a:t>fitted linear model / nominal boundary</a:t>
            </a:r>
          </a:p>
        </p:txBody>
      </p:sp>
      <p:sp>
        <p:nvSpPr>
          <p:cNvPr id="13" name="直線コネクタ 12">
            <a:extLst>
              <a:ext uri="{FF2B5EF4-FFF2-40B4-BE49-F238E27FC236}">
                <a16:creationId xmlns:a16="http://schemas.microsoft.com/office/drawing/2014/main" id="{86CC94B3-3765-4FC0-AA72-877C13A50703}"/>
              </a:ext>
            </a:extLst>
          </p:cNvPr>
          <p:cNvSpPr>
            <a:spLocks noGrp="1"/>
          </p:cNvSpPr>
          <p:nvPr/>
        </p:nvSpPr>
        <p:spPr>
          <a:xfrm>
            <a:off x="990600" y="2990850"/>
            <a:ext cx="10191750" cy="0"/>
          </a:xfrm>
          <a:prstGeom prst="line">
            <a:avLst/>
          </a:prstGeom>
          <a:noFill/>
          <a:ln w="19050">
            <a:solidFill>
              <a:srgbClr val="3F3F3F"/>
            </a:solidFill>
            <a:prstDash val="solid"/>
          </a:ln>
        </p:spPr>
      </p:sp>
      <p:sp>
        <p:nvSpPr>
          <p:cNvPr id="14" name="直線コネクタ 13">
            <a:extLst>
              <a:ext uri="{FF2B5EF4-FFF2-40B4-BE49-F238E27FC236}">
                <a16:creationId xmlns:a16="http://schemas.microsoft.com/office/drawing/2014/main" id="{EEF8DBA9-C7C5-4EA8-9E3F-5212868C9CFD}"/>
              </a:ext>
            </a:extLst>
          </p:cNvPr>
          <p:cNvSpPr>
            <a:spLocks noGrp="1"/>
          </p:cNvSpPr>
          <p:nvPr/>
        </p:nvSpPr>
        <p:spPr>
          <a:xfrm>
            <a:off x="990600" y="2914650"/>
            <a:ext cx="0" cy="152400"/>
          </a:xfrm>
          <a:prstGeom prst="line">
            <a:avLst/>
          </a:prstGeom>
          <a:noFill/>
          <a:ln w="9525">
            <a:solidFill>
              <a:srgbClr val="3F3F3F"/>
            </a:solidFill>
            <a:prstDash val="solid"/>
          </a:ln>
        </p:spPr>
      </p:sp>
      <p:sp>
        <p:nvSpPr>
          <p:cNvPr id="15" name="正方形/長方形 14">
            <a:extLst>
              <a:ext uri="{FF2B5EF4-FFF2-40B4-BE49-F238E27FC236}">
                <a16:creationId xmlns:a16="http://schemas.microsoft.com/office/drawing/2014/main" id="{0947F831-4898-4570-9013-F611C017D330}"/>
              </a:ext>
            </a:extLst>
          </p:cNvPr>
          <p:cNvSpPr>
            <a:spLocks noGrp="1"/>
          </p:cNvSpPr>
          <p:nvPr/>
        </p:nvSpPr>
        <p:spPr>
          <a:xfrm>
            <a:off x="685800" y="3124200"/>
            <a:ext cx="609600" cy="190500"/>
          </a:xfrm>
          <a:prstGeom prst="rect">
            <a:avLst/>
          </a:prstGeom>
          <a:noFill/>
          <a:ln w="0">
            <a:noFill/>
            <a:prstDash val="solid"/>
          </a:ln>
        </p:spPr>
        <p:txBody>
          <a:bodyPr wrap="square" lIns="28575" tIns="19050" rIns="28575" bIns="19050" anchor="ctr">
            <a:noAutofit/>
          </a:bodyPr>
          <a:lstStyle/>
          <a:p>
            <a:pPr algn="ctr">
              <a:lnSpc>
                <a:spcPct val="100000"/>
              </a:lnSpc>
              <a:buNone/>
              <a:defRPr sz="788" b="0" i="0">
                <a:solidFill>
                  <a:srgbClr val="777777"/>
                </a:solidFill>
                <a:latin typeface="Yu Gothic"/>
                <a:ea typeface="Yu Gothic"/>
                <a:cs typeface="Yu Gothic"/>
              </a:defRPr>
            </a:pPr>
            <a:r>
              <a:rPr sz="788" b="0" i="0">
                <a:solidFill>
                  <a:srgbClr val="777777"/>
                </a:solidFill>
                <a:latin typeface="Yu Gothic"/>
                <a:ea typeface="Yu Gothic"/>
                <a:cs typeface="Yu Gothic"/>
              </a:rPr>
              <a:t>0.1</a:t>
            </a:r>
          </a:p>
        </p:txBody>
      </p:sp>
      <p:sp>
        <p:nvSpPr>
          <p:cNvPr id="16" name="直線コネクタ 15">
            <a:extLst>
              <a:ext uri="{FF2B5EF4-FFF2-40B4-BE49-F238E27FC236}">
                <a16:creationId xmlns:a16="http://schemas.microsoft.com/office/drawing/2014/main" id="{F267C3EA-5F08-447A-BC20-6A1AE9BC7FDD}"/>
              </a:ext>
            </a:extLst>
          </p:cNvPr>
          <p:cNvSpPr>
            <a:spLocks noGrp="1"/>
          </p:cNvSpPr>
          <p:nvPr/>
        </p:nvSpPr>
        <p:spPr>
          <a:xfrm>
            <a:off x="3538538" y="2914650"/>
            <a:ext cx="0" cy="152400"/>
          </a:xfrm>
          <a:prstGeom prst="line">
            <a:avLst/>
          </a:prstGeom>
          <a:noFill/>
          <a:ln w="9525">
            <a:solidFill>
              <a:srgbClr val="3F3F3F"/>
            </a:solidFill>
            <a:prstDash val="solid"/>
          </a:ln>
        </p:spPr>
      </p:sp>
      <p:sp>
        <p:nvSpPr>
          <p:cNvPr id="17" name="正方形/長方形 16">
            <a:extLst>
              <a:ext uri="{FF2B5EF4-FFF2-40B4-BE49-F238E27FC236}">
                <a16:creationId xmlns:a16="http://schemas.microsoft.com/office/drawing/2014/main" id="{17121F4E-56E0-4036-B256-C32EF6DA2363}"/>
              </a:ext>
            </a:extLst>
          </p:cNvPr>
          <p:cNvSpPr>
            <a:spLocks noGrp="1"/>
          </p:cNvSpPr>
          <p:nvPr/>
        </p:nvSpPr>
        <p:spPr>
          <a:xfrm>
            <a:off x="3233738" y="3124200"/>
            <a:ext cx="609600" cy="190500"/>
          </a:xfrm>
          <a:prstGeom prst="rect">
            <a:avLst/>
          </a:prstGeom>
          <a:noFill/>
          <a:ln w="0">
            <a:noFill/>
            <a:prstDash val="solid"/>
          </a:ln>
        </p:spPr>
        <p:txBody>
          <a:bodyPr wrap="square" lIns="28575" tIns="19050" rIns="28575" bIns="19050" anchor="ctr">
            <a:noAutofit/>
          </a:bodyPr>
          <a:lstStyle/>
          <a:p>
            <a:pPr algn="ctr">
              <a:lnSpc>
                <a:spcPct val="100000"/>
              </a:lnSpc>
              <a:buNone/>
              <a:defRPr sz="788" b="0" i="0">
                <a:solidFill>
                  <a:srgbClr val="777777"/>
                </a:solidFill>
                <a:latin typeface="Yu Gothic"/>
                <a:ea typeface="Yu Gothic"/>
                <a:cs typeface="Yu Gothic"/>
              </a:defRPr>
            </a:pPr>
            <a:r>
              <a:rPr sz="788" b="0" i="0">
                <a:solidFill>
                  <a:srgbClr val="777777"/>
                </a:solidFill>
                <a:latin typeface="Yu Gothic"/>
                <a:ea typeface="Yu Gothic"/>
                <a:cs typeface="Yu Gothic"/>
              </a:rPr>
              <a:t>1</a:t>
            </a:r>
          </a:p>
        </p:txBody>
      </p:sp>
      <p:sp>
        <p:nvSpPr>
          <p:cNvPr id="18" name="直線コネクタ 17">
            <a:extLst>
              <a:ext uri="{FF2B5EF4-FFF2-40B4-BE49-F238E27FC236}">
                <a16:creationId xmlns:a16="http://schemas.microsoft.com/office/drawing/2014/main" id="{83500E1A-8602-46F7-AD1B-1EB56AF572FD}"/>
              </a:ext>
            </a:extLst>
          </p:cNvPr>
          <p:cNvSpPr>
            <a:spLocks noGrp="1"/>
          </p:cNvSpPr>
          <p:nvPr/>
        </p:nvSpPr>
        <p:spPr>
          <a:xfrm>
            <a:off x="6086475" y="2914650"/>
            <a:ext cx="0" cy="152400"/>
          </a:xfrm>
          <a:prstGeom prst="line">
            <a:avLst/>
          </a:prstGeom>
          <a:noFill/>
          <a:ln w="9525">
            <a:solidFill>
              <a:srgbClr val="3F3F3F"/>
            </a:solidFill>
            <a:prstDash val="solid"/>
          </a:ln>
        </p:spPr>
      </p:sp>
      <p:sp>
        <p:nvSpPr>
          <p:cNvPr id="19" name="正方形/長方形 18">
            <a:extLst>
              <a:ext uri="{FF2B5EF4-FFF2-40B4-BE49-F238E27FC236}">
                <a16:creationId xmlns:a16="http://schemas.microsoft.com/office/drawing/2014/main" id="{5C99D8D6-2330-4524-944F-35B839CE67F4}"/>
              </a:ext>
            </a:extLst>
          </p:cNvPr>
          <p:cNvSpPr>
            <a:spLocks noGrp="1"/>
          </p:cNvSpPr>
          <p:nvPr/>
        </p:nvSpPr>
        <p:spPr>
          <a:xfrm>
            <a:off x="5781675" y="3124200"/>
            <a:ext cx="609600" cy="190500"/>
          </a:xfrm>
          <a:prstGeom prst="rect">
            <a:avLst/>
          </a:prstGeom>
          <a:noFill/>
          <a:ln w="0">
            <a:noFill/>
            <a:prstDash val="solid"/>
          </a:ln>
        </p:spPr>
        <p:txBody>
          <a:bodyPr wrap="square" lIns="28575" tIns="19050" rIns="28575" bIns="19050" anchor="ctr">
            <a:noAutofit/>
          </a:bodyPr>
          <a:lstStyle/>
          <a:p>
            <a:pPr algn="ctr">
              <a:lnSpc>
                <a:spcPct val="100000"/>
              </a:lnSpc>
              <a:buNone/>
              <a:defRPr sz="788" b="0" i="0">
                <a:solidFill>
                  <a:srgbClr val="777777"/>
                </a:solidFill>
                <a:latin typeface="Yu Gothic"/>
                <a:ea typeface="Yu Gothic"/>
                <a:cs typeface="Yu Gothic"/>
              </a:defRPr>
            </a:pPr>
            <a:r>
              <a:rPr sz="788" b="0" i="0">
                <a:solidFill>
                  <a:srgbClr val="777777"/>
                </a:solidFill>
                <a:latin typeface="Yu Gothic"/>
                <a:ea typeface="Yu Gothic"/>
                <a:cs typeface="Yu Gothic"/>
              </a:rPr>
              <a:t>10</a:t>
            </a:r>
          </a:p>
        </p:txBody>
      </p:sp>
      <p:sp>
        <p:nvSpPr>
          <p:cNvPr id="20" name="直線コネクタ 19">
            <a:extLst>
              <a:ext uri="{FF2B5EF4-FFF2-40B4-BE49-F238E27FC236}">
                <a16:creationId xmlns:a16="http://schemas.microsoft.com/office/drawing/2014/main" id="{4B7082AB-6D24-4B29-B7CD-6B244B0270A5}"/>
              </a:ext>
            </a:extLst>
          </p:cNvPr>
          <p:cNvSpPr>
            <a:spLocks noGrp="1"/>
          </p:cNvSpPr>
          <p:nvPr/>
        </p:nvSpPr>
        <p:spPr>
          <a:xfrm>
            <a:off x="8634413" y="2914650"/>
            <a:ext cx="0" cy="152400"/>
          </a:xfrm>
          <a:prstGeom prst="line">
            <a:avLst/>
          </a:prstGeom>
          <a:noFill/>
          <a:ln w="9525">
            <a:solidFill>
              <a:srgbClr val="3F3F3F"/>
            </a:solidFill>
            <a:prstDash val="solid"/>
          </a:ln>
        </p:spPr>
      </p:sp>
      <p:sp>
        <p:nvSpPr>
          <p:cNvPr id="21" name="正方形/長方形 20">
            <a:extLst>
              <a:ext uri="{FF2B5EF4-FFF2-40B4-BE49-F238E27FC236}">
                <a16:creationId xmlns:a16="http://schemas.microsoft.com/office/drawing/2014/main" id="{92EE9ADF-A438-4DAE-B4AC-FD83F27AE841}"/>
              </a:ext>
            </a:extLst>
          </p:cNvPr>
          <p:cNvSpPr>
            <a:spLocks noGrp="1"/>
          </p:cNvSpPr>
          <p:nvPr/>
        </p:nvSpPr>
        <p:spPr>
          <a:xfrm>
            <a:off x="8329613" y="3124200"/>
            <a:ext cx="609600" cy="190500"/>
          </a:xfrm>
          <a:prstGeom prst="rect">
            <a:avLst/>
          </a:prstGeom>
          <a:noFill/>
          <a:ln w="0">
            <a:noFill/>
            <a:prstDash val="solid"/>
          </a:ln>
        </p:spPr>
        <p:txBody>
          <a:bodyPr wrap="square" lIns="28575" tIns="19050" rIns="28575" bIns="19050" anchor="ctr">
            <a:noAutofit/>
          </a:bodyPr>
          <a:lstStyle/>
          <a:p>
            <a:pPr algn="ctr">
              <a:lnSpc>
                <a:spcPct val="100000"/>
              </a:lnSpc>
              <a:buNone/>
              <a:defRPr sz="788" b="0" i="0">
                <a:solidFill>
                  <a:srgbClr val="777777"/>
                </a:solidFill>
                <a:latin typeface="Yu Gothic"/>
                <a:ea typeface="Yu Gothic"/>
                <a:cs typeface="Yu Gothic"/>
              </a:defRPr>
            </a:pPr>
            <a:r>
              <a:rPr sz="788" b="0" i="0">
                <a:solidFill>
                  <a:srgbClr val="777777"/>
                </a:solidFill>
                <a:latin typeface="Yu Gothic"/>
                <a:ea typeface="Yu Gothic"/>
                <a:cs typeface="Yu Gothic"/>
              </a:rPr>
              <a:t>100</a:t>
            </a:r>
          </a:p>
        </p:txBody>
      </p:sp>
      <p:sp>
        <p:nvSpPr>
          <p:cNvPr id="22" name="直線コネクタ 21">
            <a:extLst>
              <a:ext uri="{FF2B5EF4-FFF2-40B4-BE49-F238E27FC236}">
                <a16:creationId xmlns:a16="http://schemas.microsoft.com/office/drawing/2014/main" id="{57268F93-6D5B-4AD9-BD1B-E9AC579C4A8F}"/>
              </a:ext>
            </a:extLst>
          </p:cNvPr>
          <p:cNvSpPr>
            <a:spLocks noGrp="1"/>
          </p:cNvSpPr>
          <p:nvPr/>
        </p:nvSpPr>
        <p:spPr>
          <a:xfrm>
            <a:off x="11182350" y="2914650"/>
            <a:ext cx="0" cy="152400"/>
          </a:xfrm>
          <a:prstGeom prst="line">
            <a:avLst/>
          </a:prstGeom>
          <a:noFill/>
          <a:ln w="9525">
            <a:solidFill>
              <a:srgbClr val="3F3F3F"/>
            </a:solidFill>
            <a:prstDash val="solid"/>
          </a:ln>
        </p:spPr>
      </p:sp>
      <p:sp>
        <p:nvSpPr>
          <p:cNvPr id="23" name="正方形/長方形 22">
            <a:extLst>
              <a:ext uri="{FF2B5EF4-FFF2-40B4-BE49-F238E27FC236}">
                <a16:creationId xmlns:a16="http://schemas.microsoft.com/office/drawing/2014/main" id="{BCBB5E8B-BD4C-4813-8E7D-99ADBC902D5C}"/>
              </a:ext>
            </a:extLst>
          </p:cNvPr>
          <p:cNvSpPr>
            <a:spLocks noGrp="1"/>
          </p:cNvSpPr>
          <p:nvPr/>
        </p:nvSpPr>
        <p:spPr>
          <a:xfrm>
            <a:off x="10877550" y="3124200"/>
            <a:ext cx="609600" cy="190500"/>
          </a:xfrm>
          <a:prstGeom prst="rect">
            <a:avLst/>
          </a:prstGeom>
          <a:noFill/>
          <a:ln w="0">
            <a:noFill/>
            <a:prstDash val="solid"/>
          </a:ln>
        </p:spPr>
        <p:txBody>
          <a:bodyPr wrap="square" lIns="28575" tIns="19050" rIns="28575" bIns="19050" anchor="ctr">
            <a:noAutofit/>
          </a:bodyPr>
          <a:lstStyle/>
          <a:p>
            <a:pPr algn="ctr">
              <a:lnSpc>
                <a:spcPct val="100000"/>
              </a:lnSpc>
              <a:buNone/>
              <a:defRPr sz="788" b="0" i="0">
                <a:solidFill>
                  <a:srgbClr val="777777"/>
                </a:solidFill>
                <a:latin typeface="Yu Gothic"/>
                <a:ea typeface="Yu Gothic"/>
                <a:cs typeface="Yu Gothic"/>
              </a:defRPr>
            </a:pPr>
            <a:r>
              <a:rPr sz="788" b="0" i="0">
                <a:solidFill>
                  <a:srgbClr val="777777"/>
                </a:solidFill>
                <a:latin typeface="Yu Gothic"/>
                <a:ea typeface="Yu Gothic"/>
                <a:cs typeface="Yu Gothic"/>
              </a:rPr>
              <a:t>1000</a:t>
            </a:r>
          </a:p>
        </p:txBody>
      </p:sp>
      <p:sp>
        <p:nvSpPr>
          <p:cNvPr id="24" name="正方形/長方形 23">
            <a:extLst>
              <a:ext uri="{FF2B5EF4-FFF2-40B4-BE49-F238E27FC236}">
                <a16:creationId xmlns:a16="http://schemas.microsoft.com/office/drawing/2014/main" id="{D46DABDA-DE75-4EC7-99FD-7A6BBBC7B7BE}"/>
              </a:ext>
            </a:extLst>
          </p:cNvPr>
          <p:cNvSpPr>
            <a:spLocks noGrp="1"/>
          </p:cNvSpPr>
          <p:nvPr/>
        </p:nvSpPr>
        <p:spPr>
          <a:xfrm>
            <a:off x="9563100" y="3352800"/>
            <a:ext cx="1619250" cy="171450"/>
          </a:xfrm>
          <a:prstGeom prst="rect">
            <a:avLst/>
          </a:prstGeom>
          <a:noFill/>
          <a:ln w="0">
            <a:noFill/>
            <a:prstDash val="solid"/>
          </a:ln>
        </p:spPr>
        <p:txBody>
          <a:bodyPr wrap="square" lIns="28575" tIns="19050" rIns="28575" bIns="19050" anchor="ctr">
            <a:normAutofit/>
          </a:bodyPr>
          <a:lstStyle/>
          <a:p>
            <a:pPr algn="r">
              <a:lnSpc>
                <a:spcPct val="100000"/>
              </a:lnSpc>
              <a:buNone/>
              <a:defRPr sz="750" b="0" i="0">
                <a:solidFill>
                  <a:srgbClr val="777777"/>
                </a:solidFill>
                <a:latin typeface="Yu Gothic"/>
                <a:ea typeface="Yu Gothic"/>
                <a:cs typeface="Yu Gothic"/>
              </a:defRPr>
            </a:pPr>
            <a:r>
              <a:rPr sz="750" b="0" i="0">
                <a:solidFill>
                  <a:srgbClr val="777777"/>
                </a:solidFill>
                <a:latin typeface="Yu Gothic"/>
                <a:ea typeface="Yu Gothic"/>
                <a:cs typeface="Yu Gothic"/>
              </a:rPr>
              <a:t>time scale [s]  (log)</a:t>
            </a:r>
          </a:p>
        </p:txBody>
      </p:sp>
      <p:sp>
        <p:nvSpPr>
          <p:cNvPr id="25" name="直線コネクタ 24">
            <a:extLst>
              <a:ext uri="{FF2B5EF4-FFF2-40B4-BE49-F238E27FC236}">
                <a16:creationId xmlns:a16="http://schemas.microsoft.com/office/drawing/2014/main" id="{C3D466D7-ECCF-41B5-9D12-80F57BCFEB63}"/>
              </a:ext>
            </a:extLst>
          </p:cNvPr>
          <p:cNvSpPr>
            <a:spLocks noGrp="1"/>
          </p:cNvSpPr>
          <p:nvPr/>
        </p:nvSpPr>
        <p:spPr>
          <a:xfrm>
            <a:off x="1677302" y="2095500"/>
            <a:ext cx="0" cy="895350"/>
          </a:xfrm>
          <a:prstGeom prst="line">
            <a:avLst/>
          </a:prstGeom>
          <a:noFill/>
          <a:ln w="28575">
            <a:solidFill>
              <a:srgbClr val="7B2DAF"/>
            </a:solidFill>
            <a:prstDash val="solid"/>
          </a:ln>
        </p:spPr>
      </p:sp>
      <p:sp>
        <p:nvSpPr>
          <p:cNvPr id="26" name="楕円 25">
            <a:extLst>
              <a:ext uri="{FF2B5EF4-FFF2-40B4-BE49-F238E27FC236}">
                <a16:creationId xmlns:a16="http://schemas.microsoft.com/office/drawing/2014/main" id="{74C4B264-97AF-4FA7-A291-4B4E4D02B5FA}"/>
              </a:ext>
            </a:extLst>
          </p:cNvPr>
          <p:cNvSpPr>
            <a:spLocks noGrp="1"/>
          </p:cNvSpPr>
          <p:nvPr/>
        </p:nvSpPr>
        <p:spPr>
          <a:xfrm>
            <a:off x="1601102" y="2914650"/>
            <a:ext cx="152400" cy="152400"/>
          </a:xfrm>
          <a:prstGeom prst="ellipse">
            <a:avLst/>
          </a:prstGeom>
          <a:solidFill>
            <a:srgbClr val="7B2DAF"/>
          </a:solidFill>
          <a:ln w="0">
            <a:noFill/>
            <a:prstDash val="solid"/>
          </a:ln>
        </p:spPr>
      </p:sp>
      <p:sp>
        <p:nvSpPr>
          <p:cNvPr id="27" name="正方形/長方形 26">
            <a:extLst>
              <a:ext uri="{FF2B5EF4-FFF2-40B4-BE49-F238E27FC236}">
                <a16:creationId xmlns:a16="http://schemas.microsoft.com/office/drawing/2014/main" id="{5D8F1A8E-C878-426E-BA68-5C729D07AC9D}"/>
              </a:ext>
            </a:extLst>
          </p:cNvPr>
          <p:cNvSpPr>
            <a:spLocks noGrp="1"/>
          </p:cNvSpPr>
          <p:nvPr/>
        </p:nvSpPr>
        <p:spPr>
          <a:xfrm>
            <a:off x="1134377" y="1762125"/>
            <a:ext cx="1085850" cy="209550"/>
          </a:xfrm>
          <a:prstGeom prst="rect">
            <a:avLst/>
          </a:prstGeom>
          <a:noFill/>
          <a:ln w="0">
            <a:noFill/>
            <a:prstDash val="solid"/>
          </a:ln>
        </p:spPr>
        <p:txBody>
          <a:bodyPr wrap="square" lIns="28575" tIns="19050" rIns="28575" bIns="19050" anchor="ctr">
            <a:normAutofit/>
          </a:bodyPr>
          <a:lstStyle/>
          <a:p>
            <a:pPr algn="ctr">
              <a:lnSpc>
                <a:spcPct val="100000"/>
              </a:lnSpc>
              <a:buNone/>
              <a:defRPr sz="1125" b="1" i="0">
                <a:solidFill>
                  <a:srgbClr val="7B2DAF"/>
                </a:solidFill>
                <a:latin typeface="Yu Gothic"/>
                <a:ea typeface="Yu Gothic"/>
                <a:cs typeface="Yu Gothic"/>
              </a:defRPr>
            </a:pPr>
            <a:r>
              <a:rPr sz="1125" b="1" i="0">
                <a:solidFill>
                  <a:srgbClr val="7B2DAF"/>
                </a:solidFill>
                <a:latin typeface="Yu Gothic"/>
                <a:ea typeface="Yu Gothic"/>
                <a:cs typeface="Yu Gothic"/>
              </a:rPr>
              <a:t>0.186 s</a:t>
            </a:r>
          </a:p>
        </p:txBody>
      </p:sp>
      <p:sp>
        <p:nvSpPr>
          <p:cNvPr id="28" name="正方形/長方形 27">
            <a:extLst>
              <a:ext uri="{FF2B5EF4-FFF2-40B4-BE49-F238E27FC236}">
                <a16:creationId xmlns:a16="http://schemas.microsoft.com/office/drawing/2014/main" id="{A8994A21-F6D1-44D6-8AE5-515238A46408}"/>
              </a:ext>
            </a:extLst>
          </p:cNvPr>
          <p:cNvSpPr>
            <a:spLocks noGrp="1"/>
          </p:cNvSpPr>
          <p:nvPr/>
        </p:nvSpPr>
        <p:spPr>
          <a:xfrm>
            <a:off x="1010552" y="1981200"/>
            <a:ext cx="1333500" cy="400050"/>
          </a:xfrm>
          <a:prstGeom prst="rect">
            <a:avLst/>
          </a:prstGeom>
          <a:noFill/>
          <a:ln w="0">
            <a:noFill/>
            <a:prstDash val="solid"/>
          </a:ln>
        </p:spPr>
        <p:txBody>
          <a:bodyPr wrap="square" lIns="28575" tIns="19050" rIns="28575" bIns="19050" anchor="ctr">
            <a:normAutofit/>
          </a:bodyPr>
          <a:lstStyle/>
          <a:p>
            <a:pPr algn="ctr">
              <a:lnSpc>
                <a:spcPct val="102000"/>
              </a:lnSpc>
              <a:buNone/>
              <a:defRPr sz="788" b="0" i="0">
                <a:solidFill>
                  <a:srgbClr val="5B5B5B"/>
                </a:solidFill>
                <a:latin typeface="Yu Gothic"/>
                <a:ea typeface="Yu Gothic"/>
                <a:cs typeface="Yu Gothic"/>
              </a:defRPr>
            </a:pPr>
            <a:r>
              <a:rPr sz="788" b="0" i="0">
                <a:solidFill>
                  <a:srgbClr val="5B5B5B"/>
                </a:solidFill>
                <a:latin typeface="Yu Gothic"/>
                <a:ea typeface="Yu Gothic"/>
                <a:cs typeface="Yu Gothic"/>
              </a:rPr>
              <a:t>fast</a:t>
            </a:r>
          </a:p>
          <a:p>
            <a:pPr algn="ctr">
              <a:lnSpc>
                <a:spcPct val="102000"/>
              </a:lnSpc>
              <a:buNone/>
              <a:defRPr sz="788" b="0" i="0">
                <a:solidFill>
                  <a:srgbClr val="5B5B5B"/>
                </a:solidFill>
                <a:latin typeface="Yu Gothic"/>
                <a:ea typeface="Yu Gothic"/>
                <a:cs typeface="Yu Gothic"/>
              </a:defRPr>
            </a:pPr>
            <a:r>
              <a:rPr sz="788" b="0" i="0">
                <a:solidFill>
                  <a:srgbClr val="5B5B5B"/>
                </a:solidFill>
                <a:latin typeface="Yu Gothic"/>
                <a:ea typeface="Yu Gothic"/>
                <a:cs typeface="Yu Gothic"/>
              </a:rPr>
              <a:t>chip ↔ base</a:t>
            </a:r>
          </a:p>
        </p:txBody>
      </p:sp>
      <p:sp>
        <p:nvSpPr>
          <p:cNvPr id="29" name="直線コネクタ 28">
            <a:extLst>
              <a:ext uri="{FF2B5EF4-FFF2-40B4-BE49-F238E27FC236}">
                <a16:creationId xmlns:a16="http://schemas.microsoft.com/office/drawing/2014/main" id="{3301BA57-16A0-42D7-A3D7-F5EDD6FAD889}"/>
              </a:ext>
            </a:extLst>
          </p:cNvPr>
          <p:cNvSpPr>
            <a:spLocks noGrp="1"/>
          </p:cNvSpPr>
          <p:nvPr/>
        </p:nvSpPr>
        <p:spPr>
          <a:xfrm>
            <a:off x="4320927" y="2381250"/>
            <a:ext cx="0" cy="609600"/>
          </a:xfrm>
          <a:prstGeom prst="line">
            <a:avLst/>
          </a:prstGeom>
          <a:noFill/>
          <a:ln w="28575">
            <a:solidFill>
              <a:srgbClr val="00A5D8"/>
            </a:solidFill>
            <a:prstDash val="solid"/>
          </a:ln>
        </p:spPr>
      </p:sp>
      <p:sp>
        <p:nvSpPr>
          <p:cNvPr id="30" name="楕円 29">
            <a:extLst>
              <a:ext uri="{FF2B5EF4-FFF2-40B4-BE49-F238E27FC236}">
                <a16:creationId xmlns:a16="http://schemas.microsoft.com/office/drawing/2014/main" id="{919E16C5-D93B-43EC-8340-E2343FBD65B3}"/>
              </a:ext>
            </a:extLst>
          </p:cNvPr>
          <p:cNvSpPr>
            <a:spLocks noGrp="1"/>
          </p:cNvSpPr>
          <p:nvPr/>
        </p:nvSpPr>
        <p:spPr>
          <a:xfrm>
            <a:off x="4244727" y="2914650"/>
            <a:ext cx="152400" cy="152400"/>
          </a:xfrm>
          <a:prstGeom prst="ellipse">
            <a:avLst/>
          </a:prstGeom>
          <a:solidFill>
            <a:srgbClr val="00A5D8"/>
          </a:solidFill>
          <a:ln w="0">
            <a:noFill/>
            <a:prstDash val="solid"/>
          </a:ln>
        </p:spPr>
      </p:sp>
      <p:sp>
        <p:nvSpPr>
          <p:cNvPr id="31" name="正方形/長方形 30">
            <a:extLst>
              <a:ext uri="{FF2B5EF4-FFF2-40B4-BE49-F238E27FC236}">
                <a16:creationId xmlns:a16="http://schemas.microsoft.com/office/drawing/2014/main" id="{78E3A00F-92F3-4A3F-9304-0531BE95C4C4}"/>
              </a:ext>
            </a:extLst>
          </p:cNvPr>
          <p:cNvSpPr>
            <a:spLocks noGrp="1"/>
          </p:cNvSpPr>
          <p:nvPr/>
        </p:nvSpPr>
        <p:spPr>
          <a:xfrm>
            <a:off x="3778002" y="2047875"/>
            <a:ext cx="1085850" cy="209550"/>
          </a:xfrm>
          <a:prstGeom prst="rect">
            <a:avLst/>
          </a:prstGeom>
          <a:noFill/>
          <a:ln w="0">
            <a:noFill/>
            <a:prstDash val="solid"/>
          </a:ln>
        </p:spPr>
        <p:txBody>
          <a:bodyPr wrap="square" lIns="28575" tIns="19050" rIns="28575" bIns="19050" anchor="ctr">
            <a:normAutofit/>
          </a:bodyPr>
          <a:lstStyle/>
          <a:p>
            <a:pPr algn="ctr">
              <a:lnSpc>
                <a:spcPct val="100000"/>
              </a:lnSpc>
              <a:buNone/>
              <a:defRPr sz="1125" b="1" i="0">
                <a:solidFill>
                  <a:srgbClr val="00A5D8"/>
                </a:solidFill>
                <a:latin typeface="Yu Gothic"/>
                <a:ea typeface="Yu Gothic"/>
                <a:cs typeface="Yu Gothic"/>
              </a:defRPr>
            </a:pPr>
            <a:r>
              <a:rPr sz="1125" b="1" i="0">
                <a:solidFill>
                  <a:srgbClr val="00A5D8"/>
                </a:solidFill>
                <a:latin typeface="Yu Gothic"/>
                <a:ea typeface="Yu Gothic"/>
                <a:cs typeface="Yu Gothic"/>
              </a:rPr>
              <a:t>2.028 s</a:t>
            </a:r>
          </a:p>
        </p:txBody>
      </p:sp>
      <p:sp>
        <p:nvSpPr>
          <p:cNvPr id="32" name="正方形/長方形 31">
            <a:extLst>
              <a:ext uri="{FF2B5EF4-FFF2-40B4-BE49-F238E27FC236}">
                <a16:creationId xmlns:a16="http://schemas.microsoft.com/office/drawing/2014/main" id="{30CCFB23-B32E-4206-BE1D-E63064ECA971}"/>
              </a:ext>
            </a:extLst>
          </p:cNvPr>
          <p:cNvSpPr>
            <a:spLocks noGrp="1"/>
          </p:cNvSpPr>
          <p:nvPr/>
        </p:nvSpPr>
        <p:spPr>
          <a:xfrm>
            <a:off x="3654177" y="2266950"/>
            <a:ext cx="1333500" cy="400050"/>
          </a:xfrm>
          <a:prstGeom prst="rect">
            <a:avLst/>
          </a:prstGeom>
          <a:noFill/>
          <a:ln w="0">
            <a:noFill/>
            <a:prstDash val="solid"/>
          </a:ln>
        </p:spPr>
        <p:txBody>
          <a:bodyPr wrap="square" lIns="28575" tIns="19050" rIns="28575" bIns="19050" anchor="ctr">
            <a:normAutofit/>
          </a:bodyPr>
          <a:lstStyle/>
          <a:p>
            <a:pPr algn="ctr">
              <a:lnSpc>
                <a:spcPct val="102000"/>
              </a:lnSpc>
              <a:buNone/>
              <a:defRPr sz="788" b="0" i="0">
                <a:solidFill>
                  <a:srgbClr val="5B5B5B"/>
                </a:solidFill>
                <a:latin typeface="Yu Gothic"/>
                <a:ea typeface="Yu Gothic"/>
                <a:cs typeface="Yu Gothic"/>
              </a:defRPr>
            </a:pPr>
            <a:r>
              <a:rPr sz="788" b="0" i="0">
                <a:solidFill>
                  <a:srgbClr val="5B5B5B"/>
                </a:solidFill>
                <a:latin typeface="Yu Gothic"/>
                <a:ea typeface="Yu Gothic"/>
                <a:cs typeface="Yu Gothic"/>
              </a:rPr>
              <a:t>intermediate</a:t>
            </a:r>
          </a:p>
          <a:p>
            <a:pPr algn="ctr">
              <a:lnSpc>
                <a:spcPct val="102000"/>
              </a:lnSpc>
              <a:buNone/>
              <a:defRPr sz="788" b="0" i="0">
                <a:solidFill>
                  <a:srgbClr val="5B5B5B"/>
                </a:solidFill>
                <a:latin typeface="Yu Gothic"/>
                <a:ea typeface="Yu Gothic"/>
                <a:cs typeface="Yu Gothic"/>
              </a:defRPr>
            </a:pPr>
            <a:r>
              <a:rPr sz="788" b="0" i="0">
                <a:solidFill>
                  <a:srgbClr val="5B5B5B"/>
                </a:solidFill>
                <a:latin typeface="Yu Gothic"/>
                <a:ea typeface="Yu Gothic"/>
                <a:cs typeface="Yu Gothic"/>
              </a:rPr>
              <a:t>base ↔ fins</a:t>
            </a:r>
          </a:p>
        </p:txBody>
      </p:sp>
      <p:sp>
        <p:nvSpPr>
          <p:cNvPr id="33" name="直線コネクタ 32">
            <a:extLst>
              <a:ext uri="{FF2B5EF4-FFF2-40B4-BE49-F238E27FC236}">
                <a16:creationId xmlns:a16="http://schemas.microsoft.com/office/drawing/2014/main" id="{460F37DB-15AD-4E88-9CB9-3D42C5B28411}"/>
              </a:ext>
            </a:extLst>
          </p:cNvPr>
          <p:cNvSpPr>
            <a:spLocks noGrp="1"/>
          </p:cNvSpPr>
          <p:nvPr/>
        </p:nvSpPr>
        <p:spPr>
          <a:xfrm>
            <a:off x="10236430" y="2095500"/>
            <a:ext cx="0" cy="895350"/>
          </a:xfrm>
          <a:prstGeom prst="line">
            <a:avLst/>
          </a:prstGeom>
          <a:noFill/>
          <a:ln w="28575">
            <a:solidFill>
              <a:srgbClr val="76BE18"/>
            </a:solidFill>
            <a:prstDash val="solid"/>
          </a:ln>
        </p:spPr>
      </p:sp>
      <p:sp>
        <p:nvSpPr>
          <p:cNvPr id="34" name="楕円 33">
            <a:extLst>
              <a:ext uri="{FF2B5EF4-FFF2-40B4-BE49-F238E27FC236}">
                <a16:creationId xmlns:a16="http://schemas.microsoft.com/office/drawing/2014/main" id="{E46A72B0-D68A-4B84-B8F4-F92D90ACF284}"/>
              </a:ext>
            </a:extLst>
          </p:cNvPr>
          <p:cNvSpPr>
            <a:spLocks noGrp="1"/>
          </p:cNvSpPr>
          <p:nvPr/>
        </p:nvSpPr>
        <p:spPr>
          <a:xfrm>
            <a:off x="10160230" y="2914650"/>
            <a:ext cx="152400" cy="152400"/>
          </a:xfrm>
          <a:prstGeom prst="ellipse">
            <a:avLst/>
          </a:prstGeom>
          <a:solidFill>
            <a:srgbClr val="76BE18"/>
          </a:solidFill>
          <a:ln w="0">
            <a:noFill/>
            <a:prstDash val="solid"/>
          </a:ln>
        </p:spPr>
      </p:sp>
      <p:sp>
        <p:nvSpPr>
          <p:cNvPr id="35" name="正方形/長方形 34">
            <a:extLst>
              <a:ext uri="{FF2B5EF4-FFF2-40B4-BE49-F238E27FC236}">
                <a16:creationId xmlns:a16="http://schemas.microsoft.com/office/drawing/2014/main" id="{496DBF79-44A3-4B77-B459-54098EE14BB7}"/>
              </a:ext>
            </a:extLst>
          </p:cNvPr>
          <p:cNvSpPr>
            <a:spLocks noGrp="1"/>
          </p:cNvSpPr>
          <p:nvPr/>
        </p:nvSpPr>
        <p:spPr>
          <a:xfrm>
            <a:off x="9693505" y="1762125"/>
            <a:ext cx="1085850" cy="209550"/>
          </a:xfrm>
          <a:prstGeom prst="rect">
            <a:avLst/>
          </a:prstGeom>
          <a:noFill/>
          <a:ln w="0">
            <a:noFill/>
            <a:prstDash val="solid"/>
          </a:ln>
        </p:spPr>
        <p:txBody>
          <a:bodyPr wrap="square" lIns="28575" tIns="19050" rIns="28575" bIns="19050" anchor="ctr">
            <a:normAutofit/>
          </a:bodyPr>
          <a:lstStyle/>
          <a:p>
            <a:pPr algn="ctr">
              <a:lnSpc>
                <a:spcPct val="100000"/>
              </a:lnSpc>
              <a:buNone/>
              <a:defRPr sz="1125" b="1" i="0">
                <a:solidFill>
                  <a:srgbClr val="76BE18"/>
                </a:solidFill>
                <a:latin typeface="Yu Gothic"/>
                <a:ea typeface="Yu Gothic"/>
                <a:cs typeface="Yu Gothic"/>
              </a:defRPr>
            </a:pPr>
            <a:r>
              <a:rPr sz="1125" b="1" i="0">
                <a:solidFill>
                  <a:srgbClr val="76BE18"/>
                </a:solidFill>
                <a:latin typeface="Yu Gothic"/>
                <a:ea typeface="Yu Gothic"/>
                <a:cs typeface="Yu Gothic"/>
              </a:rPr>
              <a:t>425 s</a:t>
            </a:r>
          </a:p>
        </p:txBody>
      </p:sp>
      <p:sp>
        <p:nvSpPr>
          <p:cNvPr id="36" name="正方形/長方形 35">
            <a:extLst>
              <a:ext uri="{FF2B5EF4-FFF2-40B4-BE49-F238E27FC236}">
                <a16:creationId xmlns:a16="http://schemas.microsoft.com/office/drawing/2014/main" id="{FDEB2D84-06D6-466E-8352-C5D86F9AAD72}"/>
              </a:ext>
            </a:extLst>
          </p:cNvPr>
          <p:cNvSpPr>
            <a:spLocks noGrp="1"/>
          </p:cNvSpPr>
          <p:nvPr/>
        </p:nvSpPr>
        <p:spPr>
          <a:xfrm>
            <a:off x="9569680" y="1981200"/>
            <a:ext cx="1333500" cy="400050"/>
          </a:xfrm>
          <a:prstGeom prst="rect">
            <a:avLst/>
          </a:prstGeom>
          <a:noFill/>
          <a:ln w="0">
            <a:noFill/>
            <a:prstDash val="solid"/>
          </a:ln>
        </p:spPr>
        <p:txBody>
          <a:bodyPr wrap="square" lIns="28575" tIns="19050" rIns="28575" bIns="19050" anchor="ctr">
            <a:normAutofit/>
          </a:bodyPr>
          <a:lstStyle/>
          <a:p>
            <a:pPr algn="ctr">
              <a:lnSpc>
                <a:spcPct val="102000"/>
              </a:lnSpc>
              <a:buNone/>
              <a:defRPr sz="788" b="0" i="0">
                <a:solidFill>
                  <a:srgbClr val="5B5B5B"/>
                </a:solidFill>
                <a:latin typeface="Yu Gothic"/>
                <a:ea typeface="Yu Gothic"/>
                <a:cs typeface="Yu Gothic"/>
              </a:defRPr>
            </a:pPr>
            <a:r>
              <a:rPr sz="788" b="0" i="0">
                <a:solidFill>
                  <a:srgbClr val="5B5B5B"/>
                </a:solidFill>
                <a:latin typeface="Yu Gothic"/>
                <a:ea typeface="Yu Gothic"/>
                <a:cs typeface="Yu Gothic"/>
              </a:rPr>
              <a:t>global</a:t>
            </a:r>
          </a:p>
          <a:p>
            <a:pPr algn="ctr">
              <a:lnSpc>
                <a:spcPct val="102000"/>
              </a:lnSpc>
              <a:buNone/>
              <a:defRPr sz="788" b="0" i="0">
                <a:solidFill>
                  <a:srgbClr val="5B5B5B"/>
                </a:solidFill>
                <a:latin typeface="Yu Gothic"/>
                <a:ea typeface="Yu Gothic"/>
                <a:cs typeface="Yu Gothic"/>
              </a:defRPr>
            </a:pPr>
            <a:r>
              <a:rPr sz="788" b="0" i="0">
                <a:solidFill>
                  <a:srgbClr val="5B5B5B"/>
                </a:solidFill>
                <a:latin typeface="Yu Gothic"/>
                <a:ea typeface="Yu Gothic"/>
                <a:cs typeface="Yu Gothic"/>
              </a:rPr>
              <a:t>coolant boundary</a:t>
            </a:r>
          </a:p>
        </p:txBody>
      </p:sp>
      <p:sp>
        <p:nvSpPr>
          <p:cNvPr id="37" name="直線コネクタ 36">
            <a:extLst>
              <a:ext uri="{FF2B5EF4-FFF2-40B4-BE49-F238E27FC236}">
                <a16:creationId xmlns:a16="http://schemas.microsoft.com/office/drawing/2014/main" id="{486D1D1D-1E12-4968-8B2B-540A1F1EA908}"/>
              </a:ext>
            </a:extLst>
          </p:cNvPr>
          <p:cNvSpPr>
            <a:spLocks noGrp="1"/>
          </p:cNvSpPr>
          <p:nvPr/>
        </p:nvSpPr>
        <p:spPr>
          <a:xfrm>
            <a:off x="4305543" y="1952625"/>
            <a:ext cx="0" cy="1809750"/>
          </a:xfrm>
          <a:prstGeom prst="line">
            <a:avLst/>
          </a:prstGeom>
          <a:noFill/>
          <a:ln w="14288">
            <a:solidFill>
              <a:srgbClr val="C4493D"/>
            </a:solidFill>
            <a:prstDash val="dash"/>
          </a:ln>
        </p:spPr>
      </p:sp>
      <p:sp>
        <p:nvSpPr>
          <p:cNvPr id="38" name="正方形/長方形 37">
            <a:extLst>
              <a:ext uri="{FF2B5EF4-FFF2-40B4-BE49-F238E27FC236}">
                <a16:creationId xmlns:a16="http://schemas.microsoft.com/office/drawing/2014/main" id="{65514B2A-CE55-4D5E-B32E-BBBFCF4B327B}"/>
              </a:ext>
            </a:extLst>
          </p:cNvPr>
          <p:cNvSpPr>
            <a:spLocks noGrp="1"/>
          </p:cNvSpPr>
          <p:nvPr/>
        </p:nvSpPr>
        <p:spPr>
          <a:xfrm>
            <a:off x="3572118" y="1790700"/>
            <a:ext cx="1466850" cy="171450"/>
          </a:xfrm>
          <a:prstGeom prst="rect">
            <a:avLst/>
          </a:prstGeom>
          <a:noFill/>
          <a:ln w="0">
            <a:noFill/>
            <a:prstDash val="solid"/>
          </a:ln>
        </p:spPr>
        <p:txBody>
          <a:bodyPr wrap="square" lIns="28575" tIns="19050" rIns="28575" bIns="19050" anchor="ctr">
            <a:normAutofit/>
          </a:bodyPr>
          <a:lstStyle/>
          <a:p>
            <a:pPr algn="ctr">
              <a:lnSpc>
                <a:spcPct val="100000"/>
              </a:lnSpc>
              <a:buNone/>
              <a:defRPr sz="713" b="1" i="0">
                <a:solidFill>
                  <a:srgbClr val="C4493D"/>
                </a:solidFill>
                <a:latin typeface="Yu Gothic"/>
                <a:ea typeface="Yu Gothic"/>
                <a:cs typeface="Yu Gothic"/>
              </a:defRPr>
            </a:pPr>
            <a:r>
              <a:rPr sz="713" b="1" i="0">
                <a:solidFill>
                  <a:srgbClr val="C4493D"/>
                </a:solidFill>
                <a:latin typeface="Yu Gothic"/>
                <a:ea typeface="Yu Gothic"/>
                <a:cs typeface="Yu Gothic"/>
              </a:rPr>
              <a:t>linear data  Δt=2 s</a:t>
            </a:r>
          </a:p>
        </p:txBody>
      </p:sp>
      <p:sp>
        <p:nvSpPr>
          <p:cNvPr id="39" name="直線コネクタ 38">
            <a:extLst>
              <a:ext uri="{FF2B5EF4-FFF2-40B4-BE49-F238E27FC236}">
                <a16:creationId xmlns:a16="http://schemas.microsoft.com/office/drawing/2014/main" id="{18923517-ACF0-4412-B59D-92CBB898B608}"/>
              </a:ext>
            </a:extLst>
          </p:cNvPr>
          <p:cNvSpPr>
            <a:spLocks noGrp="1"/>
          </p:cNvSpPr>
          <p:nvPr/>
        </p:nvSpPr>
        <p:spPr>
          <a:xfrm>
            <a:off x="6086475" y="1952625"/>
            <a:ext cx="0" cy="1809750"/>
          </a:xfrm>
          <a:prstGeom prst="line">
            <a:avLst/>
          </a:prstGeom>
          <a:noFill/>
          <a:ln w="14288">
            <a:solidFill>
              <a:srgbClr val="E5A900"/>
            </a:solidFill>
            <a:prstDash val="dash"/>
          </a:ln>
        </p:spPr>
      </p:sp>
      <p:sp>
        <p:nvSpPr>
          <p:cNvPr id="40" name="正方形/長方形 39">
            <a:extLst>
              <a:ext uri="{FF2B5EF4-FFF2-40B4-BE49-F238E27FC236}">
                <a16:creationId xmlns:a16="http://schemas.microsoft.com/office/drawing/2014/main" id="{A464C1ED-5529-46F3-881F-5BA01A2F5627}"/>
              </a:ext>
            </a:extLst>
          </p:cNvPr>
          <p:cNvSpPr>
            <a:spLocks noGrp="1"/>
          </p:cNvSpPr>
          <p:nvPr/>
        </p:nvSpPr>
        <p:spPr>
          <a:xfrm>
            <a:off x="5353050" y="1628775"/>
            <a:ext cx="1466850" cy="171450"/>
          </a:xfrm>
          <a:prstGeom prst="rect">
            <a:avLst/>
          </a:prstGeom>
          <a:noFill/>
          <a:ln w="0">
            <a:noFill/>
            <a:prstDash val="solid"/>
          </a:ln>
        </p:spPr>
        <p:txBody>
          <a:bodyPr wrap="square" lIns="28575" tIns="19050" rIns="28575" bIns="19050" anchor="ctr">
            <a:normAutofit/>
          </a:bodyPr>
          <a:lstStyle/>
          <a:p>
            <a:pPr algn="ctr">
              <a:lnSpc>
                <a:spcPct val="100000"/>
              </a:lnSpc>
              <a:buNone/>
              <a:defRPr sz="713" b="1" i="0">
                <a:solidFill>
                  <a:srgbClr val="E5A900"/>
                </a:solidFill>
                <a:latin typeface="Yu Gothic"/>
                <a:ea typeface="Yu Gothic"/>
                <a:cs typeface="Yu Gothic"/>
              </a:defRPr>
            </a:pPr>
            <a:r>
              <a:rPr sz="713" b="1" i="0">
                <a:solidFill>
                  <a:srgbClr val="E5A900"/>
                </a:solidFill>
                <a:latin typeface="Yu Gothic"/>
                <a:ea typeface="Yu Gothic"/>
                <a:cs typeface="Yu Gothic"/>
              </a:rPr>
              <a:t>HF train  10 s</a:t>
            </a:r>
          </a:p>
        </p:txBody>
      </p:sp>
      <p:sp>
        <p:nvSpPr>
          <p:cNvPr id="41" name="直線コネクタ 40">
            <a:extLst>
              <a:ext uri="{FF2B5EF4-FFF2-40B4-BE49-F238E27FC236}">
                <a16:creationId xmlns:a16="http://schemas.microsoft.com/office/drawing/2014/main" id="{85069E92-34AC-456E-B943-810E4C3024B1}"/>
              </a:ext>
            </a:extLst>
          </p:cNvPr>
          <p:cNvSpPr>
            <a:spLocks noGrp="1"/>
          </p:cNvSpPr>
          <p:nvPr/>
        </p:nvSpPr>
        <p:spPr>
          <a:xfrm>
            <a:off x="6853481" y="1952625"/>
            <a:ext cx="0" cy="1809750"/>
          </a:xfrm>
          <a:prstGeom prst="line">
            <a:avLst/>
          </a:prstGeom>
          <a:noFill/>
          <a:ln w="14288">
            <a:solidFill>
              <a:srgbClr val="7B2DAF"/>
            </a:solidFill>
            <a:prstDash val="dash"/>
          </a:ln>
        </p:spPr>
      </p:sp>
      <p:sp>
        <p:nvSpPr>
          <p:cNvPr id="42" name="正方形/長方形 41">
            <a:extLst>
              <a:ext uri="{FF2B5EF4-FFF2-40B4-BE49-F238E27FC236}">
                <a16:creationId xmlns:a16="http://schemas.microsoft.com/office/drawing/2014/main" id="{B8291203-3AC1-4672-9DAF-7FC61E164AF8}"/>
              </a:ext>
            </a:extLst>
          </p:cNvPr>
          <p:cNvSpPr>
            <a:spLocks noGrp="1"/>
          </p:cNvSpPr>
          <p:nvPr/>
        </p:nvSpPr>
        <p:spPr>
          <a:xfrm>
            <a:off x="6120056" y="1466850"/>
            <a:ext cx="1466850" cy="171450"/>
          </a:xfrm>
          <a:prstGeom prst="rect">
            <a:avLst/>
          </a:prstGeom>
          <a:noFill/>
          <a:ln w="0">
            <a:noFill/>
            <a:prstDash val="solid"/>
          </a:ln>
        </p:spPr>
        <p:txBody>
          <a:bodyPr wrap="square" lIns="28575" tIns="19050" rIns="28575" bIns="19050" anchor="ctr">
            <a:normAutofit/>
          </a:bodyPr>
          <a:lstStyle/>
          <a:p>
            <a:pPr algn="ctr">
              <a:lnSpc>
                <a:spcPct val="100000"/>
              </a:lnSpc>
              <a:buNone/>
              <a:defRPr sz="713" b="1" i="0">
                <a:solidFill>
                  <a:srgbClr val="7B2DAF"/>
                </a:solidFill>
                <a:latin typeface="Yu Gothic"/>
                <a:ea typeface="Yu Gothic"/>
                <a:cs typeface="Yu Gothic"/>
              </a:defRPr>
            </a:pPr>
            <a:r>
              <a:rPr sz="713" b="1" i="0">
                <a:solidFill>
                  <a:srgbClr val="7B2DAF"/>
                </a:solidFill>
                <a:latin typeface="Yu Gothic"/>
                <a:ea typeface="Yu Gothic"/>
                <a:cs typeface="Yu Gothic"/>
              </a:rPr>
              <a:t>HF output  20 s</a:t>
            </a:r>
          </a:p>
        </p:txBody>
      </p:sp>
      <p:sp>
        <p:nvSpPr>
          <p:cNvPr id="43" name="正方形/長方形 42">
            <a:extLst>
              <a:ext uri="{FF2B5EF4-FFF2-40B4-BE49-F238E27FC236}">
                <a16:creationId xmlns:a16="http://schemas.microsoft.com/office/drawing/2014/main" id="{BFF81474-780C-41D9-B576-E50E3B34D477}"/>
              </a:ext>
            </a:extLst>
          </p:cNvPr>
          <p:cNvSpPr>
            <a:spLocks noGrp="1"/>
          </p:cNvSpPr>
          <p:nvPr/>
        </p:nvSpPr>
        <p:spPr>
          <a:xfrm>
            <a:off x="552450" y="4572000"/>
            <a:ext cx="3505200" cy="1476375"/>
          </a:xfrm>
          <a:prstGeom prst="rect">
            <a:avLst/>
          </a:prstGeom>
          <a:solidFill>
            <a:srgbClr val="FFFFFF"/>
          </a:solidFill>
          <a:ln w="9525">
            <a:solidFill>
              <a:srgbClr val="D6D6D6"/>
            </a:solidFill>
            <a:prstDash val="solid"/>
          </a:ln>
        </p:spPr>
      </p:sp>
      <p:sp>
        <p:nvSpPr>
          <p:cNvPr id="44" name="正方形/長方形 43">
            <a:extLst>
              <a:ext uri="{FF2B5EF4-FFF2-40B4-BE49-F238E27FC236}">
                <a16:creationId xmlns:a16="http://schemas.microsoft.com/office/drawing/2014/main" id="{1D58B4CE-E4EA-421E-8992-16CE44436B80}"/>
              </a:ext>
            </a:extLst>
          </p:cNvPr>
          <p:cNvSpPr>
            <a:spLocks noGrp="1"/>
          </p:cNvSpPr>
          <p:nvPr/>
        </p:nvSpPr>
        <p:spPr>
          <a:xfrm>
            <a:off x="552450" y="4572000"/>
            <a:ext cx="76200" cy="1476375"/>
          </a:xfrm>
          <a:prstGeom prst="rect">
            <a:avLst/>
          </a:prstGeom>
          <a:solidFill>
            <a:srgbClr val="7B2DAF"/>
          </a:solidFill>
          <a:ln w="0">
            <a:noFill/>
            <a:prstDash val="solid"/>
          </a:ln>
        </p:spPr>
      </p:sp>
      <p:sp>
        <p:nvSpPr>
          <p:cNvPr id="45" name="正方形/長方形 44">
            <a:extLst>
              <a:ext uri="{FF2B5EF4-FFF2-40B4-BE49-F238E27FC236}">
                <a16:creationId xmlns:a16="http://schemas.microsoft.com/office/drawing/2014/main" id="{E5F0E3C4-B32E-4406-8A83-A256C24B99E6}"/>
              </a:ext>
            </a:extLst>
          </p:cNvPr>
          <p:cNvSpPr>
            <a:spLocks noGrp="1"/>
          </p:cNvSpPr>
          <p:nvPr/>
        </p:nvSpPr>
        <p:spPr>
          <a:xfrm>
            <a:off x="762000" y="4724400"/>
            <a:ext cx="3105150" cy="266700"/>
          </a:xfrm>
          <a:prstGeom prst="rect">
            <a:avLst/>
          </a:prstGeom>
          <a:noFill/>
          <a:ln w="0">
            <a:noFill/>
            <a:prstDash val="solid"/>
          </a:ln>
        </p:spPr>
        <p:txBody>
          <a:bodyPr wrap="square" lIns="28575" tIns="19050" rIns="28575" bIns="19050" anchor="ctr">
            <a:normAutofit/>
          </a:bodyPr>
          <a:lstStyle/>
          <a:p>
            <a:pPr algn="l">
              <a:lnSpc>
                <a:spcPct val="100000"/>
              </a:lnSpc>
              <a:buNone/>
              <a:defRPr sz="1275" b="1" i="0">
                <a:solidFill>
                  <a:srgbClr val="7B2DAF"/>
                </a:solidFill>
                <a:latin typeface="Yu Gothic"/>
                <a:ea typeface="Yu Gothic"/>
                <a:cs typeface="Yu Gothic"/>
              </a:defRPr>
            </a:pPr>
            <a:r>
              <a:rPr sz="1275" b="1" i="0">
                <a:solidFill>
                  <a:srgbClr val="7B2DAF"/>
                </a:solidFill>
                <a:latin typeface="Yu Gothic"/>
                <a:ea typeface="Yu Gothic"/>
                <a:cs typeface="Yu Gothic"/>
              </a:rPr>
              <a:t>fast 0.186 s</a:t>
            </a:r>
          </a:p>
        </p:txBody>
      </p:sp>
      <p:sp>
        <p:nvSpPr>
          <p:cNvPr id="46" name="正方形/長方形 45">
            <a:extLst>
              <a:ext uri="{FF2B5EF4-FFF2-40B4-BE49-F238E27FC236}">
                <a16:creationId xmlns:a16="http://schemas.microsoft.com/office/drawing/2014/main" id="{2051C893-9A9A-44D9-88AC-D315ECE821B1}"/>
              </a:ext>
            </a:extLst>
          </p:cNvPr>
          <p:cNvSpPr>
            <a:spLocks noGrp="1"/>
          </p:cNvSpPr>
          <p:nvPr/>
        </p:nvSpPr>
        <p:spPr>
          <a:xfrm>
            <a:off x="762000" y="5095875"/>
            <a:ext cx="3105150" cy="714375"/>
          </a:xfrm>
          <a:prstGeom prst="rect">
            <a:avLst/>
          </a:prstGeom>
          <a:noFill/>
          <a:ln w="0">
            <a:noFill/>
            <a:prstDash val="solid"/>
          </a:ln>
        </p:spPr>
        <p:txBody>
          <a:bodyPr wrap="square" lIns="28575" tIns="19050" rIns="28575" bIns="19050" anchor="t">
            <a:normAutofit/>
          </a:bodyPr>
          <a:lstStyle/>
          <a:p>
            <a:pPr algn="l">
              <a:lnSpc>
                <a:spcPct val="116000"/>
              </a:lnSpc>
              <a:buNone/>
              <a:defRPr sz="938" b="0" i="0">
                <a:solidFill>
                  <a:srgbClr val="5B5B5B"/>
                </a:solidFill>
                <a:latin typeface="Yu Gothic"/>
                <a:ea typeface="Yu Gothic"/>
                <a:cs typeface="Yu Gothic"/>
              </a:defRPr>
            </a:pPr>
            <a:r>
              <a:rPr sz="938" b="0" i="0">
                <a:solidFill>
                  <a:srgbClr val="5B5B5B"/>
                </a:solidFill>
                <a:latin typeface="Yu Gothic"/>
                <a:ea typeface="Yu Gothic"/>
                <a:cs typeface="Yu Gothic"/>
              </a:rPr>
              <a:t>2 s samplingでは独立同定困難。sensor応答・反aliasing・短周期実験が必要。</a:t>
            </a:r>
          </a:p>
        </p:txBody>
      </p:sp>
      <p:sp>
        <p:nvSpPr>
          <p:cNvPr id="47" name="正方形/長方形 46">
            <a:extLst>
              <a:ext uri="{FF2B5EF4-FFF2-40B4-BE49-F238E27FC236}">
                <a16:creationId xmlns:a16="http://schemas.microsoft.com/office/drawing/2014/main" id="{36452B35-AAFE-49A5-A9D6-94A993C6994D}"/>
              </a:ext>
            </a:extLst>
          </p:cNvPr>
          <p:cNvSpPr>
            <a:spLocks noGrp="1"/>
          </p:cNvSpPr>
          <p:nvPr/>
        </p:nvSpPr>
        <p:spPr>
          <a:xfrm>
            <a:off x="4248150" y="4572000"/>
            <a:ext cx="3505200" cy="1476375"/>
          </a:xfrm>
          <a:prstGeom prst="rect">
            <a:avLst/>
          </a:prstGeom>
          <a:solidFill>
            <a:srgbClr val="FFFFFF"/>
          </a:solidFill>
          <a:ln w="9525">
            <a:solidFill>
              <a:srgbClr val="D6D6D6"/>
            </a:solidFill>
            <a:prstDash val="solid"/>
          </a:ln>
        </p:spPr>
      </p:sp>
      <p:sp>
        <p:nvSpPr>
          <p:cNvPr id="48" name="正方形/長方形 47">
            <a:extLst>
              <a:ext uri="{FF2B5EF4-FFF2-40B4-BE49-F238E27FC236}">
                <a16:creationId xmlns:a16="http://schemas.microsoft.com/office/drawing/2014/main" id="{B14022D2-DB49-4FFF-962C-BCBF49FFD4F8}"/>
              </a:ext>
            </a:extLst>
          </p:cNvPr>
          <p:cNvSpPr>
            <a:spLocks noGrp="1"/>
          </p:cNvSpPr>
          <p:nvPr/>
        </p:nvSpPr>
        <p:spPr>
          <a:xfrm>
            <a:off x="4248150" y="4572000"/>
            <a:ext cx="76200" cy="1476375"/>
          </a:xfrm>
          <a:prstGeom prst="rect">
            <a:avLst/>
          </a:prstGeom>
          <a:solidFill>
            <a:srgbClr val="00A5D8"/>
          </a:solidFill>
          <a:ln w="0">
            <a:noFill/>
            <a:prstDash val="solid"/>
          </a:ln>
        </p:spPr>
      </p:sp>
      <p:sp>
        <p:nvSpPr>
          <p:cNvPr id="49" name="正方形/長方形 48">
            <a:extLst>
              <a:ext uri="{FF2B5EF4-FFF2-40B4-BE49-F238E27FC236}">
                <a16:creationId xmlns:a16="http://schemas.microsoft.com/office/drawing/2014/main" id="{9753FFE0-01E7-4A58-A84D-C928D1653E65}"/>
              </a:ext>
            </a:extLst>
          </p:cNvPr>
          <p:cNvSpPr>
            <a:spLocks noGrp="1"/>
          </p:cNvSpPr>
          <p:nvPr/>
        </p:nvSpPr>
        <p:spPr>
          <a:xfrm>
            <a:off x="4457700" y="4724400"/>
            <a:ext cx="3105150" cy="266700"/>
          </a:xfrm>
          <a:prstGeom prst="rect">
            <a:avLst/>
          </a:prstGeom>
          <a:noFill/>
          <a:ln w="0">
            <a:noFill/>
            <a:prstDash val="solid"/>
          </a:ln>
        </p:spPr>
        <p:txBody>
          <a:bodyPr wrap="square" lIns="28575" tIns="19050" rIns="28575" bIns="19050" anchor="ctr">
            <a:normAutofit/>
          </a:bodyPr>
          <a:lstStyle/>
          <a:p>
            <a:pPr algn="l">
              <a:lnSpc>
                <a:spcPct val="100000"/>
              </a:lnSpc>
              <a:buNone/>
              <a:defRPr sz="1275" b="1" i="0">
                <a:solidFill>
                  <a:srgbClr val="00A5D8"/>
                </a:solidFill>
                <a:latin typeface="Yu Gothic"/>
                <a:ea typeface="Yu Gothic"/>
                <a:cs typeface="Yu Gothic"/>
              </a:defRPr>
            </a:pPr>
            <a:r>
              <a:rPr sz="1275" b="1" i="0">
                <a:solidFill>
                  <a:srgbClr val="00A5D8"/>
                </a:solidFill>
                <a:latin typeface="Yu Gothic"/>
                <a:ea typeface="Yu Gothic"/>
                <a:cs typeface="Yu Gothic"/>
              </a:rPr>
              <a:t>intermediate 2.03 s</a:t>
            </a:r>
          </a:p>
        </p:txBody>
      </p:sp>
      <p:sp>
        <p:nvSpPr>
          <p:cNvPr id="50" name="正方形/長方形 49">
            <a:extLst>
              <a:ext uri="{FF2B5EF4-FFF2-40B4-BE49-F238E27FC236}">
                <a16:creationId xmlns:a16="http://schemas.microsoft.com/office/drawing/2014/main" id="{6752D697-CC7C-401E-AC91-6DBEE714BB5F}"/>
              </a:ext>
            </a:extLst>
          </p:cNvPr>
          <p:cNvSpPr>
            <a:spLocks noGrp="1"/>
          </p:cNvSpPr>
          <p:nvPr/>
        </p:nvSpPr>
        <p:spPr>
          <a:xfrm>
            <a:off x="4457700" y="5095875"/>
            <a:ext cx="3105150" cy="714375"/>
          </a:xfrm>
          <a:prstGeom prst="rect">
            <a:avLst/>
          </a:prstGeom>
          <a:noFill/>
          <a:ln w="0">
            <a:noFill/>
            <a:prstDash val="solid"/>
          </a:ln>
        </p:spPr>
        <p:txBody>
          <a:bodyPr wrap="square" lIns="28575" tIns="19050" rIns="28575" bIns="19050" anchor="t">
            <a:normAutofit/>
          </a:bodyPr>
          <a:lstStyle/>
          <a:p>
            <a:pPr algn="l">
              <a:lnSpc>
                <a:spcPct val="116000"/>
              </a:lnSpc>
              <a:buNone/>
              <a:defRPr sz="938" b="0" i="0">
                <a:solidFill>
                  <a:srgbClr val="5B5B5B"/>
                </a:solidFill>
                <a:latin typeface="Yu Gothic"/>
                <a:ea typeface="Yu Gothic"/>
                <a:cs typeface="Yu Gothic"/>
              </a:defRPr>
            </a:pPr>
            <a:r>
              <a:rPr sz="938" b="0" i="0">
                <a:solidFill>
                  <a:srgbClr val="5B5B5B"/>
                </a:solidFill>
                <a:latin typeface="Yu Gothic"/>
                <a:ea typeface="Yu Gothic"/>
                <a:cs typeface="Yu Gothic"/>
              </a:rPr>
              <a:t>2 s samplingで限界的。step端の時刻精度とZOH契約が推定値を左右する。</a:t>
            </a:r>
          </a:p>
        </p:txBody>
      </p:sp>
      <p:sp>
        <p:nvSpPr>
          <p:cNvPr id="51" name="正方形/長方形 50">
            <a:extLst>
              <a:ext uri="{FF2B5EF4-FFF2-40B4-BE49-F238E27FC236}">
                <a16:creationId xmlns:a16="http://schemas.microsoft.com/office/drawing/2014/main" id="{DBF3206A-757B-46E8-8C81-DA4C6CD978D3}"/>
              </a:ext>
            </a:extLst>
          </p:cNvPr>
          <p:cNvSpPr>
            <a:spLocks noGrp="1"/>
          </p:cNvSpPr>
          <p:nvPr/>
        </p:nvSpPr>
        <p:spPr>
          <a:xfrm>
            <a:off x="7943850" y="4572000"/>
            <a:ext cx="3505200" cy="1476375"/>
          </a:xfrm>
          <a:prstGeom prst="rect">
            <a:avLst/>
          </a:prstGeom>
          <a:solidFill>
            <a:srgbClr val="FFFFFF"/>
          </a:solidFill>
          <a:ln w="9525">
            <a:solidFill>
              <a:srgbClr val="D6D6D6"/>
            </a:solidFill>
            <a:prstDash val="solid"/>
          </a:ln>
        </p:spPr>
      </p:sp>
      <p:sp>
        <p:nvSpPr>
          <p:cNvPr id="52" name="正方形/長方形 51">
            <a:extLst>
              <a:ext uri="{FF2B5EF4-FFF2-40B4-BE49-F238E27FC236}">
                <a16:creationId xmlns:a16="http://schemas.microsoft.com/office/drawing/2014/main" id="{17672089-60C2-4FFD-869C-F2F3AF13CD84}"/>
              </a:ext>
            </a:extLst>
          </p:cNvPr>
          <p:cNvSpPr>
            <a:spLocks noGrp="1"/>
          </p:cNvSpPr>
          <p:nvPr/>
        </p:nvSpPr>
        <p:spPr>
          <a:xfrm>
            <a:off x="7943850" y="4572000"/>
            <a:ext cx="76200" cy="1476375"/>
          </a:xfrm>
          <a:prstGeom prst="rect">
            <a:avLst/>
          </a:prstGeom>
          <a:solidFill>
            <a:srgbClr val="76BE18"/>
          </a:solidFill>
          <a:ln w="0">
            <a:noFill/>
            <a:prstDash val="solid"/>
          </a:ln>
        </p:spPr>
      </p:sp>
      <p:sp>
        <p:nvSpPr>
          <p:cNvPr id="53" name="正方形/長方形 52">
            <a:extLst>
              <a:ext uri="{FF2B5EF4-FFF2-40B4-BE49-F238E27FC236}">
                <a16:creationId xmlns:a16="http://schemas.microsoft.com/office/drawing/2014/main" id="{C367CEFE-791F-47D0-B346-0F6227A9C2CB}"/>
              </a:ext>
            </a:extLst>
          </p:cNvPr>
          <p:cNvSpPr>
            <a:spLocks noGrp="1"/>
          </p:cNvSpPr>
          <p:nvPr/>
        </p:nvSpPr>
        <p:spPr>
          <a:xfrm>
            <a:off x="8153400" y="4724400"/>
            <a:ext cx="3105150" cy="266700"/>
          </a:xfrm>
          <a:prstGeom prst="rect">
            <a:avLst/>
          </a:prstGeom>
          <a:noFill/>
          <a:ln w="0">
            <a:noFill/>
            <a:prstDash val="solid"/>
          </a:ln>
        </p:spPr>
        <p:txBody>
          <a:bodyPr wrap="square" lIns="28575" tIns="19050" rIns="28575" bIns="19050" anchor="ctr">
            <a:normAutofit/>
          </a:bodyPr>
          <a:lstStyle/>
          <a:p>
            <a:pPr algn="l">
              <a:lnSpc>
                <a:spcPct val="100000"/>
              </a:lnSpc>
              <a:buNone/>
              <a:defRPr sz="1275" b="1" i="0">
                <a:solidFill>
                  <a:srgbClr val="76BE18"/>
                </a:solidFill>
                <a:latin typeface="Yu Gothic"/>
                <a:ea typeface="Yu Gothic"/>
                <a:cs typeface="Yu Gothic"/>
              </a:defRPr>
            </a:pPr>
            <a:r>
              <a:rPr sz="1275" b="1" i="0">
                <a:solidFill>
                  <a:srgbClr val="76BE18"/>
                </a:solidFill>
                <a:latin typeface="Yu Gothic"/>
                <a:ea typeface="Yu Gothic"/>
                <a:cs typeface="Yu Gothic"/>
              </a:rPr>
              <a:t>global 425 s</a:t>
            </a:r>
          </a:p>
        </p:txBody>
      </p:sp>
      <p:sp>
        <p:nvSpPr>
          <p:cNvPr id="54" name="正方形/長方形 53">
            <a:extLst>
              <a:ext uri="{FF2B5EF4-FFF2-40B4-BE49-F238E27FC236}">
                <a16:creationId xmlns:a16="http://schemas.microsoft.com/office/drawing/2014/main" id="{4DEB33CB-94F2-4BB4-AE8D-2B352872D089}"/>
              </a:ext>
            </a:extLst>
          </p:cNvPr>
          <p:cNvSpPr>
            <a:spLocks noGrp="1"/>
          </p:cNvSpPr>
          <p:nvPr/>
        </p:nvSpPr>
        <p:spPr>
          <a:xfrm>
            <a:off x="8153400" y="5095875"/>
            <a:ext cx="3105150" cy="714375"/>
          </a:xfrm>
          <a:prstGeom prst="rect">
            <a:avLst/>
          </a:prstGeom>
          <a:noFill/>
          <a:ln w="0">
            <a:noFill/>
            <a:prstDash val="solid"/>
          </a:ln>
        </p:spPr>
        <p:txBody>
          <a:bodyPr wrap="square" lIns="28575" tIns="19050" rIns="28575" bIns="19050" anchor="t">
            <a:normAutofit/>
          </a:bodyPr>
          <a:lstStyle/>
          <a:p>
            <a:pPr algn="l">
              <a:lnSpc>
                <a:spcPct val="116000"/>
              </a:lnSpc>
              <a:buNone/>
              <a:defRPr sz="938" b="0" i="0">
                <a:solidFill>
                  <a:srgbClr val="5B5B5B"/>
                </a:solidFill>
                <a:latin typeface="Yu Gothic"/>
                <a:ea typeface="Yu Gothic"/>
                <a:cs typeface="Yu Gothic"/>
              </a:defRPr>
            </a:pPr>
            <a:r>
              <a:rPr sz="938" b="0" i="0">
                <a:solidFill>
                  <a:srgbClr val="5B5B5B"/>
                </a:solidFill>
                <a:latin typeface="Yu Gothic"/>
                <a:ea typeface="Yu Gothic"/>
                <a:cs typeface="Yu Gothic"/>
              </a:rPr>
              <a:t>長時間holdとcoolant変調が必要。短いpulseだけではhAと初期温度が混同する。</a:t>
            </a:r>
          </a:p>
        </p:txBody>
      </p:sp>
    </p:spTree>
    <p:extLst>
      <p:ext uri="{BB962C8B-B14F-4D97-AF65-F5344CB8AC3E}">
        <p14:creationId xmlns:p14="http://schemas.microsoft.com/office/powerpoint/2010/main" val="8726709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正方形/長方形 17">
            <a:extLst>
              <a:ext uri="{FF2B5EF4-FFF2-40B4-BE49-F238E27FC236}">
                <a16:creationId xmlns:a16="http://schemas.microsoft.com/office/drawing/2014/main" id="{F6DDD55A-F5CC-41E9-AFB5-DD62D6B42D4C}"/>
              </a:ext>
            </a:extLst>
          </p:cNvPr>
          <p:cNvSpPr>
            <a:spLocks noGrp="1"/>
          </p:cNvSpPr>
          <p:nvPr/>
        </p:nvSpPr>
        <p:spPr>
          <a:xfrm>
            <a:off x="552450" y="190500"/>
            <a:ext cx="76200" cy="142875"/>
          </a:xfrm>
          <a:prstGeom prst="rect">
            <a:avLst/>
          </a:prstGeom>
          <a:solidFill>
            <a:srgbClr val="76BE18"/>
          </a:solidFill>
          <a:ln w="0">
            <a:noFill/>
            <a:prstDash val="solid"/>
          </a:ln>
        </p:spPr>
      </p:sp>
      <p:sp>
        <p:nvSpPr>
          <p:cNvPr id="2" name="正方形/長方形 1">
            <a:extLst>
              <a:ext uri="{FF2B5EF4-FFF2-40B4-BE49-F238E27FC236}">
                <a16:creationId xmlns:a16="http://schemas.microsoft.com/office/drawing/2014/main" id="{482AB98E-8C64-4CF0-9ABA-A3EAB6511DAF}"/>
              </a:ext>
            </a:extLst>
          </p:cNvPr>
          <p:cNvSpPr>
            <a:spLocks noGrp="1"/>
          </p:cNvSpPr>
          <p:nvPr/>
        </p:nvSpPr>
        <p:spPr>
          <a:xfrm>
            <a:off x="704850" y="161925"/>
            <a:ext cx="3429000" cy="190500"/>
          </a:xfrm>
          <a:prstGeom prst="rect">
            <a:avLst/>
          </a:prstGeom>
          <a:noFill/>
          <a:ln w="0">
            <a:noFill/>
            <a:prstDash val="solid"/>
          </a:ln>
        </p:spPr>
        <p:txBody>
          <a:bodyPr wrap="none" lIns="28575" tIns="19050" rIns="28575" bIns="19050" anchor="ctr">
            <a:noAutofit/>
          </a:bodyPr>
          <a:lstStyle/>
          <a:p>
            <a:pPr algn="l">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NUMERICAL METHODS</a:t>
            </a:r>
          </a:p>
        </p:txBody>
      </p:sp>
      <p:sp>
        <p:nvSpPr>
          <p:cNvPr id="3" name="正方形/長方形 2">
            <a:extLst>
              <a:ext uri="{FF2B5EF4-FFF2-40B4-BE49-F238E27FC236}">
                <a16:creationId xmlns:a16="http://schemas.microsoft.com/office/drawing/2014/main" id="{FE565E8F-BD14-42E2-B880-A54110D9252A}"/>
              </a:ext>
            </a:extLst>
          </p:cNvPr>
          <p:cNvSpPr>
            <a:spLocks noGrp="1"/>
          </p:cNvSpPr>
          <p:nvPr/>
        </p:nvSpPr>
        <p:spPr>
          <a:xfrm>
            <a:off x="552450" y="400050"/>
            <a:ext cx="11001375" cy="400050"/>
          </a:xfrm>
          <a:prstGeom prst="rect">
            <a:avLst/>
          </a:prstGeom>
          <a:noFill/>
          <a:ln w="0">
            <a:noFill/>
            <a:prstDash val="solid"/>
          </a:ln>
        </p:spPr>
        <p:txBody>
          <a:bodyPr wrap="none" lIns="19050" tIns="0" rIns="19050" bIns="0" anchor="ctr">
            <a:normAutofit/>
          </a:bodyPr>
          <a:lstStyle/>
          <a:p>
            <a:pPr algn="l">
              <a:lnSpc>
                <a:spcPct val="100000"/>
              </a:lnSpc>
              <a:buNone/>
              <a:defRPr sz="2175" b="1" i="0">
                <a:solidFill>
                  <a:srgbClr val="00A5D8"/>
                </a:solidFill>
                <a:latin typeface="Yu Gothic"/>
                <a:ea typeface="Yu Gothic"/>
                <a:cs typeface="Yu Gothic"/>
              </a:defRPr>
            </a:pPr>
            <a:r>
              <a:rPr sz="2175" b="1" i="0">
                <a:solidFill>
                  <a:srgbClr val="00A5D8"/>
                </a:solidFill>
                <a:latin typeface="Yu Gothic"/>
                <a:ea typeface="Yu Gothic"/>
                <a:cs typeface="Yu Gothic"/>
              </a:rPr>
              <a:t>係数が区間一定ならexact affine、変化するならimplicitで安定に積分する</a:t>
            </a:r>
          </a:p>
        </p:txBody>
      </p:sp>
      <p:sp>
        <p:nvSpPr>
          <p:cNvPr id="4" name="正方形/長方形 3">
            <a:extLst>
              <a:ext uri="{FF2B5EF4-FFF2-40B4-BE49-F238E27FC236}">
                <a16:creationId xmlns:a16="http://schemas.microsoft.com/office/drawing/2014/main" id="{C7B8DE2B-5982-42F8-B7F3-F56301F1EB14}"/>
              </a:ext>
            </a:extLst>
          </p:cNvPr>
          <p:cNvSpPr>
            <a:spLocks noGrp="1"/>
          </p:cNvSpPr>
          <p:nvPr/>
        </p:nvSpPr>
        <p:spPr>
          <a:xfrm>
            <a:off x="571500" y="838200"/>
            <a:ext cx="10906125" cy="228600"/>
          </a:xfrm>
          <a:prstGeom prst="rect">
            <a:avLst/>
          </a:prstGeom>
          <a:noFill/>
          <a:ln w="0">
            <a:noFill/>
            <a:prstDash val="solid"/>
          </a:ln>
        </p:spPr>
        <p:txBody>
          <a:bodyPr wrap="none" lIns="28575" tIns="19050" rIns="28575" bIns="19050" anchor="ctr">
            <a:noAutofit/>
          </a:bodyPr>
          <a:lstStyle/>
          <a:p>
            <a:pPr algn="l">
              <a:lnSpc>
                <a:spcPct val="100000"/>
              </a:lnSpc>
              <a:buNone/>
              <a:defRPr sz="975" b="0" i="0">
                <a:solidFill>
                  <a:srgbClr val="5B5B5B"/>
                </a:solidFill>
                <a:latin typeface="Yu Gothic"/>
                <a:ea typeface="Yu Gothic"/>
                <a:cs typeface="Yu Gothic"/>
              </a:defRPr>
            </a:pPr>
            <a:r>
              <a:rPr sz="975" b="0" i="0">
                <a:solidFill>
                  <a:srgbClr val="5B5B5B"/>
                </a:solidFill>
                <a:latin typeface="Yu Gothic"/>
                <a:ea typeface="Yu Gothic"/>
                <a:cs typeface="Yu Gothic"/>
              </a:rPr>
              <a:t>少数nodeのため、密行列指数・密線形solveを直接用いる</a:t>
            </a:r>
          </a:p>
        </p:txBody>
      </p:sp>
      <p:sp>
        <p:nvSpPr>
          <p:cNvPr id="5" name="直線コネクタ 4">
            <a:extLst>
              <a:ext uri="{FF2B5EF4-FFF2-40B4-BE49-F238E27FC236}">
                <a16:creationId xmlns:a16="http://schemas.microsoft.com/office/drawing/2014/main" id="{14B291B0-E9A7-425E-A7CE-61C048592803}"/>
              </a:ext>
            </a:extLst>
          </p:cNvPr>
          <p:cNvSpPr>
            <a:spLocks noGrp="1"/>
          </p:cNvSpPr>
          <p:nvPr/>
        </p:nvSpPr>
        <p:spPr>
          <a:xfrm>
            <a:off x="552450" y="1152525"/>
            <a:ext cx="11087100" cy="0"/>
          </a:xfrm>
          <a:prstGeom prst="line">
            <a:avLst/>
          </a:prstGeom>
          <a:noFill/>
          <a:ln w="9525">
            <a:solidFill>
              <a:srgbClr val="D6D6D6"/>
            </a:solidFill>
            <a:prstDash val="solid"/>
          </a:ln>
        </p:spPr>
      </p:sp>
      <p:sp>
        <p:nvSpPr>
          <p:cNvPr id="6" name="直線コネクタ 5">
            <a:extLst>
              <a:ext uri="{FF2B5EF4-FFF2-40B4-BE49-F238E27FC236}">
                <a16:creationId xmlns:a16="http://schemas.microsoft.com/office/drawing/2014/main" id="{AD3312DB-71A6-4C08-B4D9-0917472FF93A}"/>
              </a:ext>
            </a:extLst>
          </p:cNvPr>
          <p:cNvSpPr>
            <a:spLocks noGrp="1"/>
          </p:cNvSpPr>
          <p:nvPr/>
        </p:nvSpPr>
        <p:spPr>
          <a:xfrm>
            <a:off x="552450" y="6438900"/>
            <a:ext cx="11087100" cy="0"/>
          </a:xfrm>
          <a:prstGeom prst="line">
            <a:avLst/>
          </a:prstGeom>
          <a:noFill/>
          <a:ln w="9525">
            <a:solidFill>
              <a:srgbClr val="D6D6D6"/>
            </a:solidFill>
            <a:prstDash val="solid"/>
          </a:ln>
        </p:spPr>
      </p:sp>
      <p:sp>
        <p:nvSpPr>
          <p:cNvPr id="7" name="正方形/長方形 6">
            <a:extLst>
              <a:ext uri="{FF2B5EF4-FFF2-40B4-BE49-F238E27FC236}">
                <a16:creationId xmlns:a16="http://schemas.microsoft.com/office/drawing/2014/main" id="{B29B2563-831C-497D-B664-A8E7641121BB}"/>
              </a:ext>
            </a:extLst>
          </p:cNvPr>
          <p:cNvSpPr>
            <a:spLocks noGrp="1"/>
          </p:cNvSpPr>
          <p:nvPr/>
        </p:nvSpPr>
        <p:spPr>
          <a:xfrm>
            <a:off x="571500" y="6505575"/>
            <a:ext cx="5334000" cy="171450"/>
          </a:xfrm>
          <a:prstGeom prst="rect">
            <a:avLst/>
          </a:prstGeom>
          <a:noFill/>
          <a:ln w="0">
            <a:noFill/>
            <a:prstDash val="solid"/>
          </a:ln>
        </p:spPr>
        <p:txBody>
          <a:bodyPr wrap="none" lIns="28575" tIns="19050" rIns="28575" bIns="19050" anchor="ctr">
            <a:noAutofit/>
          </a:bodyPr>
          <a:lstStyle/>
          <a:p>
            <a:pPr algn="l">
              <a:lnSpc>
                <a:spcPct val="100000"/>
              </a:lnSpc>
              <a:buNone/>
              <a:defRPr sz="713" b="0" i="0">
                <a:solidFill>
                  <a:srgbClr val="777777"/>
                </a:solidFill>
                <a:latin typeface="Yu Gothic"/>
                <a:ea typeface="Yu Gothic"/>
                <a:cs typeface="Yu Gothic"/>
              </a:defRPr>
            </a:pPr>
            <a:r>
              <a:rPr sz="713" b="0" i="0">
                <a:solidFill>
                  <a:srgbClr val="777777"/>
                </a:solidFill>
                <a:latin typeface="Yu Gothic"/>
                <a:ea typeface="Yu Gothic"/>
                <a:cs typeface="Yu Gothic"/>
              </a:rPr>
              <a:t>THERMAL RC / EQUIPMENT ENGINEERING REVIEW  ·  2026-09-17</a:t>
            </a:r>
          </a:p>
        </p:txBody>
      </p:sp>
      <p:sp>
        <p:nvSpPr>
          <p:cNvPr id="8" name="正方形/長方形 7">
            <a:extLst>
              <a:ext uri="{FF2B5EF4-FFF2-40B4-BE49-F238E27FC236}">
                <a16:creationId xmlns:a16="http://schemas.microsoft.com/office/drawing/2014/main" id="{6334A083-C360-467F-AF19-9E5D3E1868FC}"/>
              </a:ext>
            </a:extLst>
          </p:cNvPr>
          <p:cNvSpPr>
            <a:spLocks noGrp="1"/>
          </p:cNvSpPr>
          <p:nvPr/>
        </p:nvSpPr>
        <p:spPr>
          <a:xfrm>
            <a:off x="11125200" y="6496050"/>
            <a:ext cx="476250" cy="171450"/>
          </a:xfrm>
          <a:prstGeom prst="rect">
            <a:avLst/>
          </a:prstGeom>
          <a:noFill/>
          <a:ln w="0">
            <a:noFill/>
            <a:prstDash val="solid"/>
          </a:ln>
        </p:spPr>
        <p:txBody>
          <a:bodyPr wrap="square" lIns="28575" tIns="19050" rIns="28575" bIns="19050" anchor="ctr">
            <a:noAutofit/>
          </a:bodyPr>
          <a:lstStyle/>
          <a:p>
            <a:pPr algn="r">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13</a:t>
            </a:r>
          </a:p>
        </p:txBody>
      </p:sp>
      <p:sp>
        <p:nvSpPr>
          <p:cNvPr id="9" name="正方形/長方形 8">
            <a:extLst>
              <a:ext uri="{FF2B5EF4-FFF2-40B4-BE49-F238E27FC236}">
                <a16:creationId xmlns:a16="http://schemas.microsoft.com/office/drawing/2014/main" id="{B8C8BD3E-C166-4511-9C1F-880755747BCE}"/>
              </a:ext>
            </a:extLst>
          </p:cNvPr>
          <p:cNvSpPr>
            <a:spLocks noGrp="1"/>
          </p:cNvSpPr>
          <p:nvPr/>
        </p:nvSpPr>
        <p:spPr>
          <a:xfrm>
            <a:off x="552450" y="1438275"/>
            <a:ext cx="11087100" cy="1200150"/>
          </a:xfrm>
          <a:prstGeom prst="rect">
            <a:avLst/>
          </a:prstGeom>
          <a:solidFill>
            <a:srgbClr val="201445"/>
          </a:solidFill>
          <a:ln w="0">
            <a:noFill/>
            <a:prstDash val="solid"/>
          </a:ln>
        </p:spPr>
      </p:sp>
      <p:sp>
        <p:nvSpPr>
          <p:cNvPr id="10" name="正方形/長方形 9">
            <a:extLst>
              <a:ext uri="{FF2B5EF4-FFF2-40B4-BE49-F238E27FC236}">
                <a16:creationId xmlns:a16="http://schemas.microsoft.com/office/drawing/2014/main" id="{DF814126-E93E-4A0A-9446-58EB7468DA21}"/>
              </a:ext>
            </a:extLst>
          </p:cNvPr>
          <p:cNvSpPr>
            <a:spLocks noGrp="1"/>
          </p:cNvSpPr>
          <p:nvPr/>
        </p:nvSpPr>
        <p:spPr>
          <a:xfrm>
            <a:off x="790575" y="1609725"/>
            <a:ext cx="1571625" cy="228600"/>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76BE18"/>
                </a:solidFill>
                <a:latin typeface="Yu Gothic"/>
                <a:ea typeface="Yu Gothic"/>
                <a:cs typeface="Yu Gothic"/>
              </a:defRPr>
            </a:pPr>
            <a:r>
              <a:rPr sz="975" b="1" i="0">
                <a:solidFill>
                  <a:srgbClr val="76BE18"/>
                </a:solidFill>
                <a:latin typeface="Yu Gothic"/>
                <a:ea typeface="Yu Gothic"/>
                <a:cs typeface="Yu Gothic"/>
              </a:rPr>
              <a:t>exact affine</a:t>
            </a:r>
          </a:p>
        </p:txBody>
      </p:sp>
      <p:sp>
        <p:nvSpPr>
          <p:cNvPr id="11" name="正方形/長方形 10">
            <a:extLst>
              <a:ext uri="{FF2B5EF4-FFF2-40B4-BE49-F238E27FC236}">
                <a16:creationId xmlns:a16="http://schemas.microsoft.com/office/drawing/2014/main" id="{7873A96C-F979-4DAA-9356-BBD3774FDAEE}"/>
              </a:ext>
            </a:extLst>
          </p:cNvPr>
          <p:cNvSpPr>
            <a:spLocks noGrp="1"/>
          </p:cNvSpPr>
          <p:nvPr/>
        </p:nvSpPr>
        <p:spPr>
          <a:xfrm>
            <a:off x="2343150" y="1552575"/>
            <a:ext cx="8810625" cy="400050"/>
          </a:xfrm>
          <a:prstGeom prst="rect">
            <a:avLst/>
          </a:prstGeom>
          <a:noFill/>
          <a:ln w="0">
            <a:noFill/>
            <a:prstDash val="solid"/>
          </a:ln>
        </p:spPr>
        <p:txBody>
          <a:bodyPr wrap="square" lIns="28575" tIns="19050" rIns="28575" bIns="19050" anchor="ctr">
            <a:normAutofit/>
          </a:bodyPr>
          <a:lstStyle/>
          <a:p>
            <a:pPr algn="ctr">
              <a:lnSpc>
                <a:spcPct val="100000"/>
              </a:lnSpc>
              <a:buNone/>
              <a:defRPr sz="1875" b="1" i="0">
                <a:solidFill>
                  <a:srgbClr val="FFFFFF"/>
                </a:solidFill>
                <a:latin typeface="Cambria Math"/>
                <a:ea typeface="Cambria Math"/>
                <a:cs typeface="Cambria Math"/>
              </a:defRPr>
            </a:pPr>
            <a:r>
              <a:rPr sz="1875" b="1" i="0">
                <a:solidFill>
                  <a:srgbClr val="FFFFFF"/>
                </a:solidFill>
                <a:latin typeface="Cambria Math"/>
                <a:ea typeface="Cambria Math"/>
                <a:cs typeface="Cambria Math"/>
              </a:rPr>
              <a:t>[xₖ₊₁;1] = exp([F  c; 0  0] Δtₖ)[xₖ;1]</a:t>
            </a:r>
          </a:p>
        </p:txBody>
      </p:sp>
      <p:sp>
        <p:nvSpPr>
          <p:cNvPr id="12" name="正方形/長方形 11">
            <a:extLst>
              <a:ext uri="{FF2B5EF4-FFF2-40B4-BE49-F238E27FC236}">
                <a16:creationId xmlns:a16="http://schemas.microsoft.com/office/drawing/2014/main" id="{58A72156-FE8B-4600-A0A8-0AE4390F9148}"/>
              </a:ext>
            </a:extLst>
          </p:cNvPr>
          <p:cNvSpPr>
            <a:spLocks noGrp="1"/>
          </p:cNvSpPr>
          <p:nvPr/>
        </p:nvSpPr>
        <p:spPr>
          <a:xfrm>
            <a:off x="2381250" y="2076450"/>
            <a:ext cx="8763000" cy="228600"/>
          </a:xfrm>
          <a:prstGeom prst="rect">
            <a:avLst/>
          </a:prstGeom>
          <a:noFill/>
          <a:ln w="0">
            <a:noFill/>
            <a:prstDash val="solid"/>
          </a:ln>
        </p:spPr>
        <p:txBody>
          <a:bodyPr wrap="square" lIns="28575" tIns="19050" rIns="28575" bIns="19050" anchor="ctr">
            <a:normAutofit/>
          </a:bodyPr>
          <a:lstStyle/>
          <a:p>
            <a:pPr algn="ctr">
              <a:lnSpc>
                <a:spcPct val="100000"/>
              </a:lnSpc>
              <a:buNone/>
              <a:defRPr sz="938" b="0" i="0">
                <a:solidFill>
                  <a:srgbClr val="DDD6EA"/>
                </a:solidFill>
                <a:latin typeface="Yu Gothic"/>
                <a:ea typeface="Yu Gothic"/>
                <a:cs typeface="Yu Gothic"/>
              </a:defRPr>
            </a:pPr>
            <a:r>
              <a:rPr sz="938" b="0" i="0">
                <a:solidFill>
                  <a:srgbClr val="DDD6EA"/>
                </a:solidFill>
                <a:latin typeface="Yu Gothic"/>
                <a:ea typeface="Yu Gothic"/>
                <a:cs typeface="Yu Gothic"/>
              </a:rPr>
              <a:t>augmented matrixによりF⁻¹を作らず、閉系のゼロ固有値も扱う</a:t>
            </a:r>
          </a:p>
        </p:txBody>
      </p:sp>
      <p:graphicFrame>
        <p:nvGraphicFramePr>
          <p:cNvPr id="30" name="表 29"/>
          <p:cNvGraphicFramePr/>
          <p:nvPr/>
        </p:nvGraphicFramePr>
        <p:xfrm>
          <a:off x="552450" y="2895600"/>
          <a:ext cx="11087100" cy="2381250"/>
        </p:xfrm>
        <a:graphic>
          <a:graphicData uri="http://schemas.openxmlformats.org/drawingml/2006/table">
            <a:tbl>
              <a:tblPr/>
              <a:tblGrid>
                <a:gridCol w="1828800">
                  <a:extLst>
                    <a:ext uri="{9D8B030D-6E8A-4147-A177-3AD203B41FA5}">
                      <a16:colId xmlns:a16="http://schemas.microsoft.com/office/drawing/2014/main" val="20000"/>
                    </a:ext>
                  </a:extLst>
                </a:gridCol>
                <a:gridCol w="3171825">
                  <a:extLst>
                    <a:ext uri="{9D8B030D-6E8A-4147-A177-3AD203B41FA5}">
                      <a16:colId xmlns:a16="http://schemas.microsoft.com/office/drawing/2014/main" val="20001"/>
                    </a:ext>
                  </a:extLst>
                </a:gridCol>
                <a:gridCol w="2476500">
                  <a:extLst>
                    <a:ext uri="{9D8B030D-6E8A-4147-A177-3AD203B41FA5}">
                      <a16:colId xmlns:a16="http://schemas.microsoft.com/office/drawing/2014/main" val="20002"/>
                    </a:ext>
                  </a:extLst>
                </a:gridCol>
                <a:gridCol w="3609975">
                  <a:extLst>
                    <a:ext uri="{9D8B030D-6E8A-4147-A177-3AD203B41FA5}">
                      <a16:colId xmlns:a16="http://schemas.microsoft.com/office/drawing/2014/main" val="20003"/>
                    </a:ext>
                  </a:extLst>
                </a:gridCol>
              </a:tblGrid>
              <a:tr h="476250">
                <a:tc>
                  <a:txBody>
                    <a:bodyPr/>
                    <a:lstStyle/>
                    <a:p>
                      <a:r>
                        <a:rPr sz="938" b="1">
                          <a:solidFill>
                            <a:srgbClr val="FFFFFF"/>
                          </a:solidFill>
                          <a:latin typeface="Yu Gothic"/>
                          <a:ea typeface="Yu Gothic"/>
                          <a:cs typeface="Yu Gothic"/>
                        </a:rPr>
                        <a:t>手法</a:t>
                      </a:r>
                    </a:p>
                  </a:txBody>
                  <a:tcPr>
                    <a:solidFill>
                      <a:srgbClr val="007FA8"/>
                    </a:solidFill>
                  </a:tcPr>
                </a:tc>
                <a:tc>
                  <a:txBody>
                    <a:bodyPr/>
                    <a:lstStyle/>
                    <a:p>
                      <a:r>
                        <a:rPr sz="938" b="1">
                          <a:solidFill>
                            <a:srgbClr val="FFFFFF"/>
                          </a:solidFill>
                          <a:latin typeface="Yu Gothic"/>
                          <a:ea typeface="Yu Gothic"/>
                          <a:cs typeface="Yu Gothic"/>
                        </a:rPr>
                        <a:t>適用条件</a:t>
                      </a:r>
                    </a:p>
                  </a:txBody>
                  <a:tcPr>
                    <a:solidFill>
                      <a:srgbClr val="007FA8"/>
                    </a:solidFill>
                  </a:tcPr>
                </a:tc>
                <a:tc>
                  <a:txBody>
                    <a:bodyPr/>
                    <a:lstStyle/>
                    <a:p>
                      <a:r>
                        <a:rPr sz="938" b="1">
                          <a:solidFill>
                            <a:srgbClr val="FFFFFF"/>
                          </a:solidFill>
                          <a:latin typeface="Yu Gothic"/>
                          <a:ea typeface="Yu Gothic"/>
                          <a:cs typeface="Yu Gothic"/>
                        </a:rPr>
                        <a:t>離散化・安定性</a:t>
                      </a:r>
                    </a:p>
                  </a:txBody>
                  <a:tcPr>
                    <a:solidFill>
                      <a:srgbClr val="007FA8"/>
                    </a:solidFill>
                  </a:tcPr>
                </a:tc>
                <a:tc>
                  <a:txBody>
                    <a:bodyPr/>
                    <a:lstStyle/>
                    <a:p>
                      <a:r>
                        <a:rPr sz="938" b="1">
                          <a:solidFill>
                            <a:srgbClr val="FFFFFF"/>
                          </a:solidFill>
                          <a:latin typeface="Yu Gothic"/>
                          <a:ea typeface="Yu Gothic"/>
                          <a:cs typeface="Yu Gothic"/>
                        </a:rPr>
                        <a:t>実装上の確認</a:t>
                      </a:r>
                    </a:p>
                  </a:txBody>
                  <a:tcPr>
                    <a:solidFill>
                      <a:srgbClr val="007FA8"/>
                    </a:solidFill>
                  </a:tcPr>
                </a:tc>
                <a:extLst>
                  <a:ext uri="{0D108BD9-81ED-4DB2-BD59-A6C34878D82A}">
                    <a16:rowId xmlns:a16="http://schemas.microsoft.com/office/drawing/2014/main" val="10000"/>
                  </a:ext>
                </a:extLst>
              </a:tr>
              <a:tr h="476250">
                <a:tc>
                  <a:txBody>
                    <a:bodyPr/>
                    <a:lstStyle/>
                    <a:p>
                      <a:r>
                        <a:rPr sz="938" b="1">
                          <a:solidFill>
                            <a:srgbClr val="007FA8"/>
                          </a:solidFill>
                          <a:latin typeface="Yu Gothic"/>
                          <a:ea typeface="Yu Gothic"/>
                          <a:cs typeface="Yu Gothic"/>
                        </a:rPr>
                        <a:t>exact affine</a:t>
                      </a:r>
                    </a:p>
                  </a:txBody>
                  <a:tcPr>
                    <a:solidFill>
                      <a:srgbClr val="FFFFFF"/>
                    </a:solidFill>
                  </a:tcPr>
                </a:tc>
                <a:tc>
                  <a:txBody>
                    <a:bodyPr/>
                    <a:lstStyle/>
                    <a:p>
                      <a:r>
                        <a:rPr sz="938">
                          <a:solidFill>
                            <a:srgbClr val="5B5B5B"/>
                          </a:solidFill>
                          <a:latin typeface="Yu Gothic"/>
                          <a:ea typeface="Yu Gothic"/>
                          <a:cs typeface="Yu Gothic"/>
                        </a:rPr>
                        <a:t>係数・active setが区間一定</a:t>
                      </a:r>
                    </a:p>
                  </a:txBody>
                  <a:tcPr>
                    <a:solidFill>
                      <a:srgbClr val="FFFFFF"/>
                    </a:solidFill>
                  </a:tcPr>
                </a:tc>
                <a:tc>
                  <a:txBody>
                    <a:bodyPr/>
                    <a:lstStyle/>
                    <a:p>
                      <a:r>
                        <a:rPr sz="938">
                          <a:solidFill>
                            <a:srgbClr val="5B5B5B"/>
                          </a:solidFill>
                          <a:latin typeface="Yu Gothic"/>
                          <a:ea typeface="Yu Gothic"/>
                          <a:cs typeface="Yu Gothic"/>
                        </a:rPr>
                        <a:t>時間離散化誤差なし</a:t>
                      </a:r>
                    </a:p>
                  </a:txBody>
                  <a:tcPr>
                    <a:solidFill>
                      <a:srgbClr val="FFFFFF"/>
                    </a:solidFill>
                  </a:tcPr>
                </a:tc>
                <a:tc>
                  <a:txBody>
                    <a:bodyPr/>
                    <a:lstStyle/>
                    <a:p>
                      <a:r>
                        <a:rPr sz="938">
                          <a:solidFill>
                            <a:srgbClr val="5B5B5B"/>
                          </a:solidFill>
                          <a:latin typeface="Yu Gothic"/>
                          <a:ea typeface="Yu Gothic"/>
                          <a:cs typeface="Yu Gothic"/>
                        </a:rPr>
                        <a:t>ZOH・イベント時刻・matrix exp</a:t>
                      </a:r>
                    </a:p>
                  </a:txBody>
                  <a:tcPr>
                    <a:solidFill>
                      <a:srgbClr val="FFFFFF"/>
                    </a:solidFill>
                  </a:tcPr>
                </a:tc>
                <a:extLst>
                  <a:ext uri="{0D108BD9-81ED-4DB2-BD59-A6C34878D82A}">
                    <a16:rowId xmlns:a16="http://schemas.microsoft.com/office/drawing/2014/main" val="10001"/>
                  </a:ext>
                </a:extLst>
              </a:tr>
              <a:tr h="476250">
                <a:tc>
                  <a:txBody>
                    <a:bodyPr/>
                    <a:lstStyle/>
                    <a:p>
                      <a:r>
                        <a:rPr sz="938" b="1">
                          <a:solidFill>
                            <a:srgbClr val="7B2DAF"/>
                          </a:solidFill>
                          <a:latin typeface="Yu Gothic"/>
                          <a:ea typeface="Yu Gothic"/>
                          <a:cs typeface="Yu Gothic"/>
                        </a:rPr>
                        <a:t>implicit Euler</a:t>
                      </a:r>
                    </a:p>
                  </a:txBody>
                  <a:tcPr>
                    <a:solidFill>
                      <a:srgbClr val="F8F8F8"/>
                    </a:solidFill>
                  </a:tcPr>
                </a:tc>
                <a:tc>
                  <a:txBody>
                    <a:bodyPr/>
                    <a:lstStyle/>
                    <a:p>
                      <a:r>
                        <a:rPr sz="938">
                          <a:solidFill>
                            <a:srgbClr val="5B5B5B"/>
                          </a:solidFill>
                          <a:latin typeface="Yu Gothic"/>
                          <a:ea typeface="Yu Gothic"/>
                          <a:cs typeface="Yu Gothic"/>
                        </a:rPr>
                        <a:t>区間内で係数が変化</a:t>
                      </a:r>
                    </a:p>
                  </a:txBody>
                  <a:tcPr>
                    <a:solidFill>
                      <a:srgbClr val="F8F8F8"/>
                    </a:solidFill>
                  </a:tcPr>
                </a:tc>
                <a:tc>
                  <a:txBody>
                    <a:bodyPr/>
                    <a:lstStyle/>
                    <a:p>
                      <a:r>
                        <a:rPr sz="938">
                          <a:solidFill>
                            <a:srgbClr val="5B5B5B"/>
                          </a:solidFill>
                          <a:latin typeface="Yu Gothic"/>
                          <a:ea typeface="Yu Gothic"/>
                          <a:cs typeface="Yu Gothic"/>
                        </a:rPr>
                        <a:t>A-stable / 1次精度</a:t>
                      </a:r>
                    </a:p>
                  </a:txBody>
                  <a:tcPr>
                    <a:solidFill>
                      <a:srgbClr val="F8F8F8"/>
                    </a:solidFill>
                  </a:tcPr>
                </a:tc>
                <a:tc>
                  <a:txBody>
                    <a:bodyPr/>
                    <a:lstStyle/>
                    <a:p>
                      <a:r>
                        <a:rPr sz="938">
                          <a:solidFill>
                            <a:srgbClr val="5B5B5B"/>
                          </a:solidFill>
                          <a:latin typeface="Yu Gothic"/>
                          <a:ea typeface="Yu Gothic"/>
                          <a:cs typeface="Yu Gothic"/>
                        </a:rPr>
                        <a:t>midpoint操作量・step分割</a:t>
                      </a:r>
                    </a:p>
                  </a:txBody>
                  <a:tcPr>
                    <a:solidFill>
                      <a:srgbClr val="F8F8F8"/>
                    </a:solidFill>
                  </a:tcPr>
                </a:tc>
                <a:extLst>
                  <a:ext uri="{0D108BD9-81ED-4DB2-BD59-A6C34878D82A}">
                    <a16:rowId xmlns:a16="http://schemas.microsoft.com/office/drawing/2014/main" val="10002"/>
                  </a:ext>
                </a:extLst>
              </a:tr>
              <a:tr h="476250">
                <a:tc>
                  <a:txBody>
                    <a:bodyPr/>
                    <a:lstStyle/>
                    <a:p>
                      <a:r>
                        <a:rPr sz="938" b="1">
                          <a:solidFill>
                            <a:srgbClr val="4D8710"/>
                          </a:solidFill>
                          <a:latin typeface="Yu Gothic"/>
                          <a:ea typeface="Yu Gothic"/>
                          <a:cs typeface="Yu Gothic"/>
                        </a:rPr>
                        <a:t>Van Loan Qd</a:t>
                      </a:r>
                    </a:p>
                  </a:txBody>
                  <a:tcPr>
                    <a:solidFill>
                      <a:srgbClr val="FFFFFF"/>
                    </a:solidFill>
                  </a:tcPr>
                </a:tc>
                <a:tc>
                  <a:txBody>
                    <a:bodyPr/>
                    <a:lstStyle/>
                    <a:p>
                      <a:r>
                        <a:rPr sz="938">
                          <a:solidFill>
                            <a:srgbClr val="5B5B5B"/>
                          </a:solidFill>
                          <a:latin typeface="Yu Gothic"/>
                          <a:ea typeface="Yu Gothic"/>
                          <a:cs typeface="Yu Gothic"/>
                        </a:rPr>
                        <a:t>連続process noiseの離散化</a:t>
                      </a:r>
                    </a:p>
                  </a:txBody>
                  <a:tcPr>
                    <a:solidFill>
                      <a:srgbClr val="FFFFFF"/>
                    </a:solidFill>
                  </a:tcPr>
                </a:tc>
                <a:tc>
                  <a:txBody>
                    <a:bodyPr/>
                    <a:lstStyle/>
                    <a:p>
                      <a:r>
                        <a:rPr sz="938">
                          <a:solidFill>
                            <a:srgbClr val="5B5B5B"/>
                          </a:solidFill>
                          <a:latin typeface="Yu Gothic"/>
                          <a:ea typeface="Yu Gothic"/>
                          <a:cs typeface="Yu Gothic"/>
                        </a:rPr>
                        <a:t>cross-covarianceを保持</a:t>
                      </a:r>
                    </a:p>
                  </a:txBody>
                  <a:tcPr>
                    <a:solidFill>
                      <a:srgbClr val="FFFFFF"/>
                    </a:solidFill>
                  </a:tcPr>
                </a:tc>
                <a:tc>
                  <a:txBody>
                    <a:bodyPr/>
                    <a:lstStyle/>
                    <a:p>
                      <a:r>
                        <a:rPr sz="938">
                          <a:solidFill>
                            <a:srgbClr val="5B5B5B"/>
                          </a:solidFill>
                          <a:latin typeface="Yu Gothic"/>
                          <a:ea typeface="Yu Gothic"/>
                          <a:cs typeface="Yu Gothic"/>
                        </a:rPr>
                        <a:t>小Δt近似との整合</a:t>
                      </a:r>
                    </a:p>
                  </a:txBody>
                  <a:tcPr>
                    <a:solidFill>
                      <a:srgbClr val="FFFFFF"/>
                    </a:solidFill>
                  </a:tcPr>
                </a:tc>
                <a:extLst>
                  <a:ext uri="{0D108BD9-81ED-4DB2-BD59-A6C34878D82A}">
                    <a16:rowId xmlns:a16="http://schemas.microsoft.com/office/drawing/2014/main" val="10003"/>
                  </a:ext>
                </a:extLst>
              </a:tr>
              <a:tr h="476250">
                <a:tc>
                  <a:txBody>
                    <a:bodyPr/>
                    <a:lstStyle/>
                    <a:p>
                      <a:r>
                        <a:rPr sz="938" b="1">
                          <a:solidFill>
                            <a:srgbClr val="4D8710"/>
                          </a:solidFill>
                          <a:latin typeface="Yu Gothic"/>
                          <a:ea typeface="Yu Gothic"/>
                          <a:cs typeface="Yu Gothic"/>
                        </a:rPr>
                        <a:t>Joseph update</a:t>
                      </a:r>
                    </a:p>
                  </a:txBody>
                  <a:tcPr>
                    <a:solidFill>
                      <a:srgbClr val="F8F8F8"/>
                    </a:solidFill>
                  </a:tcPr>
                </a:tc>
                <a:tc>
                  <a:txBody>
                    <a:bodyPr/>
                    <a:lstStyle/>
                    <a:p>
                      <a:r>
                        <a:rPr sz="938">
                          <a:solidFill>
                            <a:srgbClr val="5B5B5B"/>
                          </a:solidFill>
                          <a:latin typeface="Yu Gothic"/>
                          <a:ea typeface="Yu Gothic"/>
                          <a:cs typeface="Yu Gothic"/>
                        </a:rPr>
                        <a:t>Kalman covariance更新</a:t>
                      </a:r>
                    </a:p>
                  </a:txBody>
                  <a:tcPr>
                    <a:solidFill>
                      <a:srgbClr val="F8F8F8"/>
                    </a:solidFill>
                  </a:tcPr>
                </a:tc>
                <a:tc>
                  <a:txBody>
                    <a:bodyPr/>
                    <a:lstStyle/>
                    <a:p>
                      <a:r>
                        <a:rPr sz="938">
                          <a:solidFill>
                            <a:srgbClr val="5B5B5B"/>
                          </a:solidFill>
                          <a:latin typeface="Yu Gothic"/>
                          <a:ea typeface="Yu Gothic"/>
                          <a:cs typeface="Yu Gothic"/>
                        </a:rPr>
                        <a:t>半正定値性を保ちやすい</a:t>
                      </a:r>
                    </a:p>
                  </a:txBody>
                  <a:tcPr>
                    <a:solidFill>
                      <a:srgbClr val="F8F8F8"/>
                    </a:solidFill>
                  </a:tcPr>
                </a:tc>
                <a:tc>
                  <a:txBody>
                    <a:bodyPr/>
                    <a:lstStyle/>
                    <a:p>
                      <a:r>
                        <a:rPr sz="938">
                          <a:solidFill>
                            <a:srgbClr val="5B5B5B"/>
                          </a:solidFill>
                          <a:latin typeface="Yu Gothic"/>
                          <a:ea typeface="Yu Gothic"/>
                          <a:cs typeface="Yu Gothic"/>
                        </a:rPr>
                        <a:t>対称化・jitter・欠測縮約</a:t>
                      </a:r>
                    </a:p>
                  </a:txBody>
                  <a:tcPr>
                    <a:solidFill>
                      <a:srgbClr val="F8F8F8"/>
                    </a:solidFill>
                  </a:tcPr>
                </a:tc>
                <a:extLst>
                  <a:ext uri="{0D108BD9-81ED-4DB2-BD59-A6C34878D82A}">
                    <a16:rowId xmlns:a16="http://schemas.microsoft.com/office/drawing/2014/main" val="10004"/>
                  </a:ext>
                </a:extLst>
              </a:tr>
            </a:tbl>
          </a:graphicData>
        </a:graphic>
      </p:graphicFrame>
      <p:sp>
        <p:nvSpPr>
          <p:cNvPr id="14" name="正方形/長方形 13">
            <a:extLst>
              <a:ext uri="{FF2B5EF4-FFF2-40B4-BE49-F238E27FC236}">
                <a16:creationId xmlns:a16="http://schemas.microsoft.com/office/drawing/2014/main" id="{F1E49B9C-C377-4F54-9123-43F50EF3478D}"/>
              </a:ext>
            </a:extLst>
          </p:cNvPr>
          <p:cNvSpPr>
            <a:spLocks noGrp="1"/>
          </p:cNvSpPr>
          <p:nvPr/>
        </p:nvSpPr>
        <p:spPr>
          <a:xfrm>
            <a:off x="552450" y="5514975"/>
            <a:ext cx="11087100" cy="685800"/>
          </a:xfrm>
          <a:prstGeom prst="rect">
            <a:avLst/>
          </a:prstGeom>
          <a:solidFill>
            <a:srgbClr val="FFF5D7"/>
          </a:solidFill>
          <a:ln w="9525">
            <a:solidFill>
              <a:srgbClr val="E5A900"/>
            </a:solidFill>
            <a:prstDash val="solid"/>
          </a:ln>
        </p:spPr>
      </p:sp>
      <p:sp>
        <p:nvSpPr>
          <p:cNvPr id="15" name="正方形/長方形 14">
            <a:extLst>
              <a:ext uri="{FF2B5EF4-FFF2-40B4-BE49-F238E27FC236}">
                <a16:creationId xmlns:a16="http://schemas.microsoft.com/office/drawing/2014/main" id="{88F07D80-5A38-4849-B8A0-FC4D3B953ED0}"/>
              </a:ext>
            </a:extLst>
          </p:cNvPr>
          <p:cNvSpPr>
            <a:spLocks noGrp="1"/>
          </p:cNvSpPr>
          <p:nvPr/>
        </p:nvSpPr>
        <p:spPr>
          <a:xfrm>
            <a:off x="733425" y="5638800"/>
            <a:ext cx="1028700" cy="228600"/>
          </a:xfrm>
          <a:prstGeom prst="rect">
            <a:avLst/>
          </a:prstGeom>
          <a:noFill/>
          <a:ln w="0">
            <a:noFill/>
            <a:prstDash val="solid"/>
          </a:ln>
        </p:spPr>
        <p:txBody>
          <a:bodyPr wrap="square" lIns="28575" tIns="19050" rIns="28575" bIns="19050" anchor="ctr">
            <a:normAutofit/>
          </a:bodyPr>
          <a:lstStyle/>
          <a:p>
            <a:pPr algn="l">
              <a:lnSpc>
                <a:spcPct val="100000"/>
              </a:lnSpc>
              <a:buNone/>
              <a:defRPr sz="1050" b="1" i="0">
                <a:solidFill>
                  <a:srgbClr val="806000"/>
                </a:solidFill>
                <a:latin typeface="Yu Gothic"/>
                <a:ea typeface="Yu Gothic"/>
                <a:cs typeface="Yu Gothic"/>
              </a:defRPr>
            </a:pPr>
            <a:r>
              <a:rPr sz="1050" b="1" i="0">
                <a:solidFill>
                  <a:srgbClr val="806000"/>
                </a:solidFill>
                <a:latin typeface="Yu Gothic"/>
                <a:ea typeface="Yu Gothic"/>
                <a:cs typeface="Yu Gothic"/>
              </a:rPr>
              <a:t>数値検証</a:t>
            </a:r>
          </a:p>
        </p:txBody>
      </p:sp>
      <p:sp>
        <p:nvSpPr>
          <p:cNvPr id="16" name="正方形/長方形 15">
            <a:extLst>
              <a:ext uri="{FF2B5EF4-FFF2-40B4-BE49-F238E27FC236}">
                <a16:creationId xmlns:a16="http://schemas.microsoft.com/office/drawing/2014/main" id="{6BD929A5-48FA-4B6C-9911-BB2E5BE3CE2A}"/>
              </a:ext>
            </a:extLst>
          </p:cNvPr>
          <p:cNvSpPr>
            <a:spLocks noGrp="1"/>
          </p:cNvSpPr>
          <p:nvPr/>
        </p:nvSpPr>
        <p:spPr>
          <a:xfrm>
            <a:off x="1790700" y="5610225"/>
            <a:ext cx="9639300" cy="295275"/>
          </a:xfrm>
          <a:prstGeom prst="rect">
            <a:avLst/>
          </a:prstGeom>
          <a:noFill/>
          <a:ln w="0">
            <a:noFill/>
            <a:prstDash val="solid"/>
          </a:ln>
        </p:spPr>
        <p:txBody>
          <a:bodyPr wrap="square" lIns="28575" tIns="19050" rIns="28575" bIns="19050" anchor="ctr">
            <a:normAutofit/>
          </a:bodyPr>
          <a:lstStyle/>
          <a:p>
            <a:pPr algn="l">
              <a:lnSpc>
                <a:spcPct val="100000"/>
              </a:lnSpc>
              <a:buNone/>
              <a:defRPr sz="938" b="0" i="0">
                <a:solidFill>
                  <a:srgbClr val="5B5B5B"/>
                </a:solidFill>
                <a:latin typeface="Yu Gothic"/>
                <a:ea typeface="Yu Gothic"/>
                <a:cs typeface="Yu Gothic"/>
              </a:defRPr>
            </a:pPr>
            <a:r>
              <a:rPr sz="938" b="0" i="0">
                <a:solidFill>
                  <a:srgbClr val="5B5B5B"/>
                </a:solidFill>
                <a:latin typeface="Yu Gothic"/>
                <a:ea typeface="Yu Gothic"/>
                <a:cs typeface="Yu Gothic"/>
              </a:rPr>
              <a:t>Δtを1/2にした解との差、energy residual、共分散の固有値、同一時刻の重複・逆順を回帰試験に含める。</a:t>
            </a:r>
          </a:p>
        </p:txBody>
      </p:sp>
      <p:sp>
        <p:nvSpPr>
          <p:cNvPr id="17" name="正方形/長方形 16">
            <a:extLst>
              <a:ext uri="{FF2B5EF4-FFF2-40B4-BE49-F238E27FC236}">
                <a16:creationId xmlns:a16="http://schemas.microsoft.com/office/drawing/2014/main" id="{75223504-E2B7-47E6-AC33-8F928E256024}"/>
              </a:ext>
            </a:extLst>
          </p:cNvPr>
          <p:cNvSpPr>
            <a:spLocks noGrp="1"/>
          </p:cNvSpPr>
          <p:nvPr/>
        </p:nvSpPr>
        <p:spPr>
          <a:xfrm>
            <a:off x="1790700" y="5915025"/>
            <a:ext cx="9639300" cy="190500"/>
          </a:xfrm>
          <a:prstGeom prst="rect">
            <a:avLst/>
          </a:prstGeom>
          <a:noFill/>
          <a:ln w="0">
            <a:noFill/>
            <a:prstDash val="solid"/>
          </a:ln>
        </p:spPr>
        <p:txBody>
          <a:bodyPr wrap="square" lIns="28575" tIns="19050" rIns="28575" bIns="19050" anchor="ctr">
            <a:normAutofit/>
          </a:bodyPr>
          <a:lstStyle/>
          <a:p>
            <a:pPr algn="l">
              <a:lnSpc>
                <a:spcPct val="100000"/>
              </a:lnSpc>
              <a:buNone/>
              <a:defRPr sz="825" b="1" i="0">
                <a:solidFill>
                  <a:srgbClr val="C4493D"/>
                </a:solidFill>
                <a:latin typeface="Yu Gothic"/>
                <a:ea typeface="Yu Gothic"/>
                <a:cs typeface="Yu Gothic"/>
              </a:defRPr>
            </a:pPr>
            <a:r>
              <a:rPr sz="825" b="1" i="0">
                <a:solidFill>
                  <a:srgbClr val="C4493D"/>
                </a:solidFill>
                <a:latin typeface="Yu Gothic"/>
                <a:ea typeface="Yu Gothic"/>
                <a:cs typeface="Yu Gothic"/>
              </a:rPr>
              <a:t>注意：solverが安定でも、sensor samplingがfast modeを解像するとは限らない。</a:t>
            </a:r>
          </a:p>
        </p:txBody>
      </p:sp>
    </p:spTree>
    <p:extLst>
      <p:ext uri="{BB962C8B-B14F-4D97-AF65-F5344CB8AC3E}">
        <p14:creationId xmlns:p14="http://schemas.microsoft.com/office/powerpoint/2010/main" val="18120068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9" name="正方形/長方形 48">
            <a:extLst>
              <a:ext uri="{FF2B5EF4-FFF2-40B4-BE49-F238E27FC236}">
                <a16:creationId xmlns:a16="http://schemas.microsoft.com/office/drawing/2014/main" id="{BF23DF1B-8EB8-4A62-8A49-359D331958C4}"/>
              </a:ext>
            </a:extLst>
          </p:cNvPr>
          <p:cNvSpPr>
            <a:spLocks noGrp="1"/>
          </p:cNvSpPr>
          <p:nvPr/>
        </p:nvSpPr>
        <p:spPr>
          <a:xfrm>
            <a:off x="552450" y="190500"/>
            <a:ext cx="76200" cy="142875"/>
          </a:xfrm>
          <a:prstGeom prst="rect">
            <a:avLst/>
          </a:prstGeom>
          <a:solidFill>
            <a:srgbClr val="76BE18"/>
          </a:solidFill>
          <a:ln w="0">
            <a:noFill/>
            <a:prstDash val="solid"/>
          </a:ln>
        </p:spPr>
      </p:sp>
      <p:sp>
        <p:nvSpPr>
          <p:cNvPr id="2" name="正方形/長方形 1">
            <a:extLst>
              <a:ext uri="{FF2B5EF4-FFF2-40B4-BE49-F238E27FC236}">
                <a16:creationId xmlns:a16="http://schemas.microsoft.com/office/drawing/2014/main" id="{C67B296D-9426-4F6F-A54C-C0580A37BC2D}"/>
              </a:ext>
            </a:extLst>
          </p:cNvPr>
          <p:cNvSpPr>
            <a:spLocks noGrp="1"/>
          </p:cNvSpPr>
          <p:nvPr/>
        </p:nvSpPr>
        <p:spPr>
          <a:xfrm>
            <a:off x="704850" y="161925"/>
            <a:ext cx="3429000" cy="190500"/>
          </a:xfrm>
          <a:prstGeom prst="rect">
            <a:avLst/>
          </a:prstGeom>
          <a:noFill/>
          <a:ln w="0">
            <a:noFill/>
            <a:prstDash val="solid"/>
          </a:ln>
        </p:spPr>
        <p:txBody>
          <a:bodyPr wrap="none" lIns="28575" tIns="19050" rIns="28575" bIns="19050" anchor="ctr">
            <a:noAutofit/>
          </a:bodyPr>
          <a:lstStyle/>
          <a:p>
            <a:pPr algn="l">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OPTIMIZATION</a:t>
            </a:r>
          </a:p>
        </p:txBody>
      </p:sp>
      <p:sp>
        <p:nvSpPr>
          <p:cNvPr id="3" name="正方形/長方形 2">
            <a:extLst>
              <a:ext uri="{FF2B5EF4-FFF2-40B4-BE49-F238E27FC236}">
                <a16:creationId xmlns:a16="http://schemas.microsoft.com/office/drawing/2014/main" id="{2A7AEF79-A89D-4FC1-A0DF-D4441B149711}"/>
              </a:ext>
            </a:extLst>
          </p:cNvPr>
          <p:cNvSpPr>
            <a:spLocks noGrp="1"/>
          </p:cNvSpPr>
          <p:nvPr/>
        </p:nvSpPr>
        <p:spPr>
          <a:xfrm>
            <a:off x="552450" y="400050"/>
            <a:ext cx="11001375" cy="400050"/>
          </a:xfrm>
          <a:prstGeom prst="rect">
            <a:avLst/>
          </a:prstGeom>
          <a:noFill/>
          <a:ln w="0">
            <a:noFill/>
            <a:prstDash val="solid"/>
          </a:ln>
        </p:spPr>
        <p:txBody>
          <a:bodyPr wrap="none" lIns="19050" tIns="0" rIns="19050" bIns="0" anchor="ctr">
            <a:normAutofit/>
          </a:bodyPr>
          <a:lstStyle/>
          <a:p>
            <a:pPr algn="l">
              <a:lnSpc>
                <a:spcPct val="100000"/>
              </a:lnSpc>
              <a:buNone/>
              <a:defRPr sz="2175" b="1" i="0">
                <a:solidFill>
                  <a:srgbClr val="00A5D8"/>
                </a:solidFill>
                <a:latin typeface="Yu Gothic"/>
                <a:ea typeface="Yu Gothic"/>
                <a:cs typeface="Yu Gothic"/>
              </a:defRPr>
            </a:pPr>
            <a:r>
              <a:rPr sz="2175" b="1" i="0">
                <a:solidFill>
                  <a:srgbClr val="00A5D8"/>
                </a:solidFill>
                <a:latin typeface="Yu Gothic"/>
                <a:ea typeface="Yu Gothic"/>
                <a:cs typeface="Yu Gothic"/>
              </a:rPr>
              <a:t>学習は物理係数のlog倍率を更新し、因果validation RMSEが最小のepochを採用する</a:t>
            </a:r>
          </a:p>
        </p:txBody>
      </p:sp>
      <p:sp>
        <p:nvSpPr>
          <p:cNvPr id="4" name="正方形/長方形 3">
            <a:extLst>
              <a:ext uri="{FF2B5EF4-FFF2-40B4-BE49-F238E27FC236}">
                <a16:creationId xmlns:a16="http://schemas.microsoft.com/office/drawing/2014/main" id="{D8CCEBC5-74BB-4303-939D-01BBB4D50BA5}"/>
              </a:ext>
            </a:extLst>
          </p:cNvPr>
          <p:cNvSpPr>
            <a:spLocks noGrp="1"/>
          </p:cNvSpPr>
          <p:nvPr/>
        </p:nvSpPr>
        <p:spPr>
          <a:xfrm>
            <a:off x="571500" y="838200"/>
            <a:ext cx="10906125" cy="228600"/>
          </a:xfrm>
          <a:prstGeom prst="rect">
            <a:avLst/>
          </a:prstGeom>
          <a:noFill/>
          <a:ln w="0">
            <a:noFill/>
            <a:prstDash val="solid"/>
          </a:ln>
        </p:spPr>
        <p:txBody>
          <a:bodyPr wrap="none" lIns="28575" tIns="19050" rIns="28575" bIns="19050" anchor="ctr">
            <a:noAutofit/>
          </a:bodyPr>
          <a:lstStyle/>
          <a:p>
            <a:pPr algn="l">
              <a:lnSpc>
                <a:spcPct val="100000"/>
              </a:lnSpc>
              <a:buNone/>
              <a:defRPr sz="975" b="0" i="0">
                <a:solidFill>
                  <a:srgbClr val="5B5B5B"/>
                </a:solidFill>
                <a:latin typeface="Yu Gothic"/>
                <a:ea typeface="Yu Gothic"/>
                <a:cs typeface="Yu Gothic"/>
              </a:defRPr>
            </a:pPr>
            <a:r>
              <a:rPr sz="975" b="0" i="0">
                <a:solidFill>
                  <a:srgbClr val="5B5B5B"/>
                </a:solidFill>
                <a:latin typeface="Yu Gothic"/>
                <a:ea typeface="Yu Gothic"/>
                <a:cs typeface="Yu Gothic"/>
              </a:rPr>
              <a:t>case数で均等化した軌道損失により、長いlogや観測点の多いcaseの過大影響を抑える</a:t>
            </a:r>
          </a:p>
        </p:txBody>
      </p:sp>
      <p:sp>
        <p:nvSpPr>
          <p:cNvPr id="5" name="直線コネクタ 4">
            <a:extLst>
              <a:ext uri="{FF2B5EF4-FFF2-40B4-BE49-F238E27FC236}">
                <a16:creationId xmlns:a16="http://schemas.microsoft.com/office/drawing/2014/main" id="{2EC22AEE-8B97-4A70-ACC2-7FC2BF03EE7E}"/>
              </a:ext>
            </a:extLst>
          </p:cNvPr>
          <p:cNvSpPr>
            <a:spLocks noGrp="1"/>
          </p:cNvSpPr>
          <p:nvPr/>
        </p:nvSpPr>
        <p:spPr>
          <a:xfrm>
            <a:off x="552450" y="1152525"/>
            <a:ext cx="11087100" cy="0"/>
          </a:xfrm>
          <a:prstGeom prst="line">
            <a:avLst/>
          </a:prstGeom>
          <a:noFill/>
          <a:ln w="9525">
            <a:solidFill>
              <a:srgbClr val="D6D6D6"/>
            </a:solidFill>
            <a:prstDash val="solid"/>
          </a:ln>
        </p:spPr>
      </p:sp>
      <p:sp>
        <p:nvSpPr>
          <p:cNvPr id="6" name="直線コネクタ 5">
            <a:extLst>
              <a:ext uri="{FF2B5EF4-FFF2-40B4-BE49-F238E27FC236}">
                <a16:creationId xmlns:a16="http://schemas.microsoft.com/office/drawing/2014/main" id="{6F437E0D-D149-45D7-B6DC-95F6AFAAB886}"/>
              </a:ext>
            </a:extLst>
          </p:cNvPr>
          <p:cNvSpPr>
            <a:spLocks noGrp="1"/>
          </p:cNvSpPr>
          <p:nvPr/>
        </p:nvSpPr>
        <p:spPr>
          <a:xfrm>
            <a:off x="552450" y="6438900"/>
            <a:ext cx="11087100" cy="0"/>
          </a:xfrm>
          <a:prstGeom prst="line">
            <a:avLst/>
          </a:prstGeom>
          <a:noFill/>
          <a:ln w="9525">
            <a:solidFill>
              <a:srgbClr val="D6D6D6"/>
            </a:solidFill>
            <a:prstDash val="solid"/>
          </a:ln>
        </p:spPr>
      </p:sp>
      <p:sp>
        <p:nvSpPr>
          <p:cNvPr id="7" name="正方形/長方形 6">
            <a:extLst>
              <a:ext uri="{FF2B5EF4-FFF2-40B4-BE49-F238E27FC236}">
                <a16:creationId xmlns:a16="http://schemas.microsoft.com/office/drawing/2014/main" id="{C67CA016-A4C1-4BCD-A85A-5D13D1B2BF2A}"/>
              </a:ext>
            </a:extLst>
          </p:cNvPr>
          <p:cNvSpPr>
            <a:spLocks noGrp="1"/>
          </p:cNvSpPr>
          <p:nvPr/>
        </p:nvSpPr>
        <p:spPr>
          <a:xfrm>
            <a:off x="571500" y="6505575"/>
            <a:ext cx="5334000" cy="171450"/>
          </a:xfrm>
          <a:prstGeom prst="rect">
            <a:avLst/>
          </a:prstGeom>
          <a:noFill/>
          <a:ln w="0">
            <a:noFill/>
            <a:prstDash val="solid"/>
          </a:ln>
        </p:spPr>
        <p:txBody>
          <a:bodyPr wrap="none" lIns="28575" tIns="19050" rIns="28575" bIns="19050" anchor="ctr">
            <a:noAutofit/>
          </a:bodyPr>
          <a:lstStyle/>
          <a:p>
            <a:pPr algn="l">
              <a:lnSpc>
                <a:spcPct val="100000"/>
              </a:lnSpc>
              <a:buNone/>
              <a:defRPr sz="713" b="0" i="0">
                <a:solidFill>
                  <a:srgbClr val="777777"/>
                </a:solidFill>
                <a:latin typeface="Yu Gothic"/>
                <a:ea typeface="Yu Gothic"/>
                <a:cs typeface="Yu Gothic"/>
              </a:defRPr>
            </a:pPr>
            <a:r>
              <a:rPr sz="713" b="0" i="0">
                <a:solidFill>
                  <a:srgbClr val="777777"/>
                </a:solidFill>
                <a:latin typeface="Yu Gothic"/>
                <a:ea typeface="Yu Gothic"/>
                <a:cs typeface="Yu Gothic"/>
              </a:rPr>
              <a:t>THERMAL RC / EQUIPMENT ENGINEERING REVIEW  ·  2026-09-17</a:t>
            </a:r>
          </a:p>
        </p:txBody>
      </p:sp>
      <p:sp>
        <p:nvSpPr>
          <p:cNvPr id="8" name="正方形/長方形 7">
            <a:extLst>
              <a:ext uri="{FF2B5EF4-FFF2-40B4-BE49-F238E27FC236}">
                <a16:creationId xmlns:a16="http://schemas.microsoft.com/office/drawing/2014/main" id="{9EEAA945-C8B3-41D6-858A-0CCE041D769B}"/>
              </a:ext>
            </a:extLst>
          </p:cNvPr>
          <p:cNvSpPr>
            <a:spLocks noGrp="1"/>
          </p:cNvSpPr>
          <p:nvPr/>
        </p:nvSpPr>
        <p:spPr>
          <a:xfrm>
            <a:off x="11125200" y="6496050"/>
            <a:ext cx="476250" cy="171450"/>
          </a:xfrm>
          <a:prstGeom prst="rect">
            <a:avLst/>
          </a:prstGeom>
          <a:noFill/>
          <a:ln w="0">
            <a:noFill/>
            <a:prstDash val="solid"/>
          </a:ln>
        </p:spPr>
        <p:txBody>
          <a:bodyPr wrap="square" lIns="28575" tIns="19050" rIns="28575" bIns="19050" anchor="ctr">
            <a:noAutofit/>
          </a:bodyPr>
          <a:lstStyle/>
          <a:p>
            <a:pPr algn="r">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14</a:t>
            </a:r>
          </a:p>
        </p:txBody>
      </p:sp>
      <p:sp>
        <p:nvSpPr>
          <p:cNvPr id="9" name="正方形/長方形 8">
            <a:extLst>
              <a:ext uri="{FF2B5EF4-FFF2-40B4-BE49-F238E27FC236}">
                <a16:creationId xmlns:a16="http://schemas.microsoft.com/office/drawing/2014/main" id="{BBC3701C-C19F-4575-A350-C4989F730E41}"/>
              </a:ext>
            </a:extLst>
          </p:cNvPr>
          <p:cNvSpPr>
            <a:spLocks noGrp="1"/>
          </p:cNvSpPr>
          <p:nvPr/>
        </p:nvSpPr>
        <p:spPr>
          <a:xfrm>
            <a:off x="552450" y="1438275"/>
            <a:ext cx="11087100" cy="1076325"/>
          </a:xfrm>
          <a:prstGeom prst="rect">
            <a:avLst/>
          </a:prstGeom>
          <a:solidFill>
            <a:srgbClr val="201445"/>
          </a:solidFill>
          <a:ln w="0">
            <a:noFill/>
            <a:prstDash val="solid"/>
          </a:ln>
        </p:spPr>
      </p:sp>
      <p:sp>
        <p:nvSpPr>
          <p:cNvPr id="10" name="正方形/長方形 9">
            <a:extLst>
              <a:ext uri="{FF2B5EF4-FFF2-40B4-BE49-F238E27FC236}">
                <a16:creationId xmlns:a16="http://schemas.microsoft.com/office/drawing/2014/main" id="{BDA97C1F-F95E-4C23-885E-06EB49D91CF9}"/>
              </a:ext>
            </a:extLst>
          </p:cNvPr>
          <p:cNvSpPr>
            <a:spLocks noGrp="1"/>
          </p:cNvSpPr>
          <p:nvPr/>
        </p:nvSpPr>
        <p:spPr>
          <a:xfrm>
            <a:off x="781050" y="1609725"/>
            <a:ext cx="10629900" cy="409575"/>
          </a:xfrm>
          <a:prstGeom prst="rect">
            <a:avLst/>
          </a:prstGeom>
          <a:noFill/>
          <a:ln w="0">
            <a:noFill/>
            <a:prstDash val="solid"/>
          </a:ln>
        </p:spPr>
        <p:txBody>
          <a:bodyPr wrap="square" lIns="28575" tIns="19050" rIns="28575" bIns="19050" anchor="ctr">
            <a:normAutofit/>
          </a:bodyPr>
          <a:lstStyle/>
          <a:p>
            <a:pPr algn="ctr">
              <a:lnSpc>
                <a:spcPct val="100000"/>
              </a:lnSpc>
              <a:buNone/>
              <a:defRPr sz="1725" b="1" i="0">
                <a:solidFill>
                  <a:srgbClr val="FFFFFF"/>
                </a:solidFill>
                <a:latin typeface="Cambria Math"/>
                <a:ea typeface="Cambria Math"/>
                <a:cs typeface="Cambria Math"/>
              </a:defRPr>
            </a:pPr>
            <a:r>
              <a:rPr sz="1725" b="1" i="0">
                <a:solidFill>
                  <a:srgbClr val="FFFFFF"/>
                </a:solidFill>
                <a:latin typeface="Cambria Math"/>
                <a:ea typeface="Cambria Math"/>
                <a:cs typeface="Cambria Math"/>
              </a:rPr>
              <a:t>J(θ) = 1/|C| Σc ρδ(yc − ŷc(θ, x̂0,c)) + λp · mean[log(p/p0)²]</a:t>
            </a:r>
          </a:p>
        </p:txBody>
      </p:sp>
      <p:sp>
        <p:nvSpPr>
          <p:cNvPr id="11" name="正方形/長方形 10">
            <a:extLst>
              <a:ext uri="{FF2B5EF4-FFF2-40B4-BE49-F238E27FC236}">
                <a16:creationId xmlns:a16="http://schemas.microsoft.com/office/drawing/2014/main" id="{7DDCACF2-8B65-4A2C-B6DE-B443686451E6}"/>
              </a:ext>
            </a:extLst>
          </p:cNvPr>
          <p:cNvSpPr>
            <a:spLocks noGrp="1"/>
          </p:cNvSpPr>
          <p:nvPr/>
        </p:nvSpPr>
        <p:spPr>
          <a:xfrm>
            <a:off x="781050" y="2095500"/>
            <a:ext cx="10629900" cy="238125"/>
          </a:xfrm>
          <a:prstGeom prst="rect">
            <a:avLst/>
          </a:prstGeom>
          <a:noFill/>
          <a:ln w="0">
            <a:noFill/>
            <a:prstDash val="solid"/>
          </a:ln>
        </p:spPr>
        <p:txBody>
          <a:bodyPr wrap="square" lIns="28575" tIns="19050" rIns="28575" bIns="19050" anchor="ctr">
            <a:normAutofit/>
          </a:bodyPr>
          <a:lstStyle/>
          <a:p>
            <a:pPr algn="ctr">
              <a:lnSpc>
                <a:spcPct val="100000"/>
              </a:lnSpc>
              <a:buNone/>
              <a:defRPr sz="900" b="0" i="0">
                <a:solidFill>
                  <a:srgbClr val="D8D0E8"/>
                </a:solidFill>
                <a:latin typeface="Yu Gothic"/>
                <a:ea typeface="Yu Gothic"/>
                <a:cs typeface="Yu Gothic"/>
              </a:defRPr>
            </a:pPr>
            <a:r>
              <a:rPr sz="900" b="0" i="0">
                <a:solidFill>
                  <a:srgbClr val="D8D0E8"/>
                </a:solidFill>
                <a:latin typeface="Yu Gothic"/>
                <a:ea typeface="Yu Gothic"/>
                <a:cs typeface="Yu Gothic"/>
              </a:rPr>
              <a:t>x̂0,c は観測写像のnull spaceだけをprofileし、Gaussian priorで弱観測modeを拘束</a:t>
            </a:r>
          </a:p>
        </p:txBody>
      </p:sp>
      <p:sp>
        <p:nvSpPr>
          <p:cNvPr id="12" name="正方形/長方形 11">
            <a:extLst>
              <a:ext uri="{FF2B5EF4-FFF2-40B4-BE49-F238E27FC236}">
                <a16:creationId xmlns:a16="http://schemas.microsoft.com/office/drawing/2014/main" id="{B0B553C1-A6C9-47BE-81BB-7523081A104A}"/>
              </a:ext>
            </a:extLst>
          </p:cNvPr>
          <p:cNvSpPr>
            <a:spLocks noGrp="1"/>
          </p:cNvSpPr>
          <p:nvPr/>
        </p:nvSpPr>
        <p:spPr>
          <a:xfrm>
            <a:off x="552450" y="2752725"/>
            <a:ext cx="1657350" cy="1343025"/>
          </a:xfrm>
          <a:prstGeom prst="rect">
            <a:avLst/>
          </a:prstGeom>
          <a:solidFill>
            <a:srgbClr val="FFFFFF"/>
          </a:solidFill>
          <a:ln w="9525">
            <a:solidFill>
              <a:srgbClr val="D6D6D6"/>
            </a:solidFill>
            <a:prstDash val="solid"/>
          </a:ln>
        </p:spPr>
      </p:sp>
      <p:sp>
        <p:nvSpPr>
          <p:cNvPr id="13" name="正方形/長方形 12">
            <a:extLst>
              <a:ext uri="{FF2B5EF4-FFF2-40B4-BE49-F238E27FC236}">
                <a16:creationId xmlns:a16="http://schemas.microsoft.com/office/drawing/2014/main" id="{4EF1E099-926A-4F0F-91E5-B8359390A174}"/>
              </a:ext>
            </a:extLst>
          </p:cNvPr>
          <p:cNvSpPr>
            <a:spLocks noGrp="1"/>
          </p:cNvSpPr>
          <p:nvPr/>
        </p:nvSpPr>
        <p:spPr>
          <a:xfrm>
            <a:off x="552450" y="2752725"/>
            <a:ext cx="1657350" cy="66675"/>
          </a:xfrm>
          <a:prstGeom prst="rect">
            <a:avLst/>
          </a:prstGeom>
          <a:solidFill>
            <a:srgbClr val="00A5D8"/>
          </a:solidFill>
          <a:ln w="0">
            <a:noFill/>
            <a:prstDash val="solid"/>
          </a:ln>
        </p:spPr>
      </p:sp>
      <p:sp>
        <p:nvSpPr>
          <p:cNvPr id="14" name="正方形/長方形 13">
            <a:extLst>
              <a:ext uri="{FF2B5EF4-FFF2-40B4-BE49-F238E27FC236}">
                <a16:creationId xmlns:a16="http://schemas.microsoft.com/office/drawing/2014/main" id="{4FAE7BA7-8EE0-49B9-8DF6-2AEDF4A95C69}"/>
              </a:ext>
            </a:extLst>
          </p:cNvPr>
          <p:cNvSpPr>
            <a:spLocks noGrp="1"/>
          </p:cNvSpPr>
          <p:nvPr/>
        </p:nvSpPr>
        <p:spPr>
          <a:xfrm>
            <a:off x="666750" y="2924175"/>
            <a:ext cx="1428750" cy="257175"/>
          </a:xfrm>
          <a:prstGeom prst="rect">
            <a:avLst/>
          </a:prstGeom>
          <a:noFill/>
          <a:ln w="0">
            <a:noFill/>
            <a:prstDash val="solid"/>
          </a:ln>
        </p:spPr>
        <p:txBody>
          <a:bodyPr wrap="square" lIns="28575" tIns="19050" rIns="28575" bIns="19050" anchor="ctr">
            <a:normAutofit/>
          </a:bodyPr>
          <a:lstStyle/>
          <a:p>
            <a:pPr algn="ctr">
              <a:lnSpc>
                <a:spcPct val="100000"/>
              </a:lnSpc>
              <a:buNone/>
              <a:defRPr sz="1125" b="1" i="0">
                <a:solidFill>
                  <a:srgbClr val="00A5D8"/>
                </a:solidFill>
                <a:latin typeface="Yu Gothic"/>
                <a:ea typeface="Yu Gothic"/>
                <a:cs typeface="Yu Gothic"/>
              </a:defRPr>
            </a:pPr>
            <a:r>
              <a:rPr sz="1125" b="1" i="0">
                <a:solidFill>
                  <a:srgbClr val="00A5D8"/>
                </a:solidFill>
                <a:latin typeface="Yu Gothic"/>
                <a:ea typeface="Yu Gothic"/>
                <a:cs typeface="Yu Gothic"/>
              </a:rPr>
              <a:t>1  split</a:t>
            </a:r>
          </a:p>
        </p:txBody>
      </p:sp>
      <p:sp>
        <p:nvSpPr>
          <p:cNvPr id="15" name="直線コネクタ 14">
            <a:extLst>
              <a:ext uri="{FF2B5EF4-FFF2-40B4-BE49-F238E27FC236}">
                <a16:creationId xmlns:a16="http://schemas.microsoft.com/office/drawing/2014/main" id="{C42209F2-ADEF-458A-9FF3-08F63919B505}"/>
              </a:ext>
            </a:extLst>
          </p:cNvPr>
          <p:cNvSpPr>
            <a:spLocks noGrp="1"/>
          </p:cNvSpPr>
          <p:nvPr/>
        </p:nvSpPr>
        <p:spPr>
          <a:xfrm>
            <a:off x="685800" y="3267075"/>
            <a:ext cx="1390650" cy="0"/>
          </a:xfrm>
          <a:prstGeom prst="line">
            <a:avLst/>
          </a:prstGeom>
          <a:noFill/>
          <a:ln w="9525">
            <a:solidFill>
              <a:srgbClr val="D6D6D6"/>
            </a:solidFill>
            <a:prstDash val="solid"/>
          </a:ln>
        </p:spPr>
      </p:sp>
      <p:sp>
        <p:nvSpPr>
          <p:cNvPr id="16" name="正方形/長方形 15">
            <a:extLst>
              <a:ext uri="{FF2B5EF4-FFF2-40B4-BE49-F238E27FC236}">
                <a16:creationId xmlns:a16="http://schemas.microsoft.com/office/drawing/2014/main" id="{33B73E16-2E2C-40EE-BA5A-824C201CB9DB}"/>
              </a:ext>
            </a:extLst>
          </p:cNvPr>
          <p:cNvSpPr>
            <a:spLocks noGrp="1"/>
          </p:cNvSpPr>
          <p:nvPr/>
        </p:nvSpPr>
        <p:spPr>
          <a:xfrm>
            <a:off x="647700" y="3352800"/>
            <a:ext cx="1466850" cy="600075"/>
          </a:xfrm>
          <a:prstGeom prst="rect">
            <a:avLst/>
          </a:prstGeom>
          <a:noFill/>
          <a:ln w="0">
            <a:noFill/>
            <a:prstDash val="solid"/>
          </a:ln>
        </p:spPr>
        <p:txBody>
          <a:bodyPr wrap="square" lIns="28575" tIns="19050" rIns="28575" bIns="19050" anchor="ctr">
            <a:normAutofit/>
          </a:bodyPr>
          <a:lstStyle/>
          <a:p>
            <a:pPr algn="ctr">
              <a:lnSpc>
                <a:spcPct val="110000"/>
              </a:lnSpc>
              <a:buNone/>
              <a:defRPr sz="840" b="0" i="0">
                <a:solidFill>
                  <a:srgbClr val="5B5B5B"/>
                </a:solidFill>
                <a:latin typeface="Yu Gothic"/>
                <a:ea typeface="Yu Gothic"/>
                <a:cs typeface="Yu Gothic"/>
              </a:defRPr>
            </a:pPr>
            <a:r>
              <a:rPr sz="840" b="0" i="0">
                <a:solidFill>
                  <a:srgbClr val="5B5B5B"/>
                </a:solidFill>
                <a:latin typeface="Yu Gothic"/>
                <a:ea typeface="Yu Gothic"/>
                <a:cs typeface="Yu Gothic"/>
              </a:rPr>
              <a:t>同一control履歴をgroup化</a:t>
            </a:r>
          </a:p>
          <a:p>
            <a:pPr algn="ctr">
              <a:lnSpc>
                <a:spcPct val="110000"/>
              </a:lnSpc>
              <a:buNone/>
              <a:defRPr sz="840" b="0" i="0">
                <a:solidFill>
                  <a:srgbClr val="5B5B5B"/>
                </a:solidFill>
                <a:latin typeface="Yu Gothic"/>
                <a:ea typeface="Yu Gothic"/>
                <a:cs typeface="Yu Gothic"/>
              </a:defRPr>
            </a:pPr>
            <a:r>
              <a:rPr sz="840" b="0" i="0">
                <a:solidFill>
                  <a:srgbClr val="5B5B5B"/>
                </a:solidFill>
                <a:latin typeface="Yu Gothic"/>
                <a:ea typeface="Yu Gothic"/>
                <a:cs typeface="Yu Gothic"/>
              </a:rPr>
              <a:t>trajectory単位で分割</a:t>
            </a:r>
          </a:p>
        </p:txBody>
      </p:sp>
      <p:sp>
        <p:nvSpPr>
          <p:cNvPr id="17" name="正方形/長方形 16">
            <a:extLst>
              <a:ext uri="{FF2B5EF4-FFF2-40B4-BE49-F238E27FC236}">
                <a16:creationId xmlns:a16="http://schemas.microsoft.com/office/drawing/2014/main" id="{99B7DE2A-B282-4D42-944B-279655A06287}"/>
              </a:ext>
            </a:extLst>
          </p:cNvPr>
          <p:cNvSpPr>
            <a:spLocks noGrp="1"/>
          </p:cNvSpPr>
          <p:nvPr/>
        </p:nvSpPr>
        <p:spPr>
          <a:xfrm>
            <a:off x="2419350" y="2752725"/>
            <a:ext cx="1657350" cy="1343025"/>
          </a:xfrm>
          <a:prstGeom prst="rect">
            <a:avLst/>
          </a:prstGeom>
          <a:solidFill>
            <a:srgbClr val="FFFFFF"/>
          </a:solidFill>
          <a:ln w="9525">
            <a:solidFill>
              <a:srgbClr val="D6D6D6"/>
            </a:solidFill>
            <a:prstDash val="solid"/>
          </a:ln>
        </p:spPr>
      </p:sp>
      <p:sp>
        <p:nvSpPr>
          <p:cNvPr id="18" name="正方形/長方形 17">
            <a:extLst>
              <a:ext uri="{FF2B5EF4-FFF2-40B4-BE49-F238E27FC236}">
                <a16:creationId xmlns:a16="http://schemas.microsoft.com/office/drawing/2014/main" id="{B3A3D6D1-BC65-4511-8D46-726DA66FAE48}"/>
              </a:ext>
            </a:extLst>
          </p:cNvPr>
          <p:cNvSpPr>
            <a:spLocks noGrp="1"/>
          </p:cNvSpPr>
          <p:nvPr/>
        </p:nvSpPr>
        <p:spPr>
          <a:xfrm>
            <a:off x="2419350" y="2752725"/>
            <a:ext cx="1657350" cy="66675"/>
          </a:xfrm>
          <a:prstGeom prst="rect">
            <a:avLst/>
          </a:prstGeom>
          <a:solidFill>
            <a:srgbClr val="76BE18"/>
          </a:solidFill>
          <a:ln w="0">
            <a:noFill/>
            <a:prstDash val="solid"/>
          </a:ln>
        </p:spPr>
      </p:sp>
      <p:sp>
        <p:nvSpPr>
          <p:cNvPr id="19" name="正方形/長方形 18">
            <a:extLst>
              <a:ext uri="{FF2B5EF4-FFF2-40B4-BE49-F238E27FC236}">
                <a16:creationId xmlns:a16="http://schemas.microsoft.com/office/drawing/2014/main" id="{04335C68-F106-4608-8285-8B0810E62593}"/>
              </a:ext>
            </a:extLst>
          </p:cNvPr>
          <p:cNvSpPr>
            <a:spLocks noGrp="1"/>
          </p:cNvSpPr>
          <p:nvPr/>
        </p:nvSpPr>
        <p:spPr>
          <a:xfrm>
            <a:off x="2533650" y="2924175"/>
            <a:ext cx="1428750" cy="257175"/>
          </a:xfrm>
          <a:prstGeom prst="rect">
            <a:avLst/>
          </a:prstGeom>
          <a:noFill/>
          <a:ln w="0">
            <a:noFill/>
            <a:prstDash val="solid"/>
          </a:ln>
        </p:spPr>
        <p:txBody>
          <a:bodyPr wrap="square" lIns="28575" tIns="19050" rIns="28575" bIns="19050" anchor="ctr">
            <a:normAutofit/>
          </a:bodyPr>
          <a:lstStyle/>
          <a:p>
            <a:pPr algn="ctr">
              <a:lnSpc>
                <a:spcPct val="100000"/>
              </a:lnSpc>
              <a:buNone/>
              <a:defRPr sz="1125" b="1" i="0">
                <a:solidFill>
                  <a:srgbClr val="76BE18"/>
                </a:solidFill>
                <a:latin typeface="Yu Gothic"/>
                <a:ea typeface="Yu Gothic"/>
                <a:cs typeface="Yu Gothic"/>
              </a:defRPr>
            </a:pPr>
            <a:r>
              <a:rPr sz="1125" b="1" i="0">
                <a:solidFill>
                  <a:srgbClr val="76BE18"/>
                </a:solidFill>
                <a:latin typeface="Yu Gothic"/>
                <a:ea typeface="Yu Gothic"/>
                <a:cs typeface="Yu Gothic"/>
              </a:rPr>
              <a:t>2  rollout</a:t>
            </a:r>
          </a:p>
        </p:txBody>
      </p:sp>
      <p:sp>
        <p:nvSpPr>
          <p:cNvPr id="20" name="直線コネクタ 19">
            <a:extLst>
              <a:ext uri="{FF2B5EF4-FFF2-40B4-BE49-F238E27FC236}">
                <a16:creationId xmlns:a16="http://schemas.microsoft.com/office/drawing/2014/main" id="{057BB9A1-B072-4B5B-B888-F3C3BBD4FF62}"/>
              </a:ext>
            </a:extLst>
          </p:cNvPr>
          <p:cNvSpPr>
            <a:spLocks noGrp="1"/>
          </p:cNvSpPr>
          <p:nvPr/>
        </p:nvSpPr>
        <p:spPr>
          <a:xfrm>
            <a:off x="2552700" y="3267075"/>
            <a:ext cx="1390650" cy="0"/>
          </a:xfrm>
          <a:prstGeom prst="line">
            <a:avLst/>
          </a:prstGeom>
          <a:noFill/>
          <a:ln w="9525">
            <a:solidFill>
              <a:srgbClr val="D6D6D6"/>
            </a:solidFill>
            <a:prstDash val="solid"/>
          </a:ln>
        </p:spPr>
      </p:sp>
      <p:sp>
        <p:nvSpPr>
          <p:cNvPr id="21" name="正方形/長方形 20">
            <a:extLst>
              <a:ext uri="{FF2B5EF4-FFF2-40B4-BE49-F238E27FC236}">
                <a16:creationId xmlns:a16="http://schemas.microsoft.com/office/drawing/2014/main" id="{85CBB9E5-A467-44CD-BEA0-775E67F74EC3}"/>
              </a:ext>
            </a:extLst>
          </p:cNvPr>
          <p:cNvSpPr>
            <a:spLocks noGrp="1"/>
          </p:cNvSpPr>
          <p:nvPr/>
        </p:nvSpPr>
        <p:spPr>
          <a:xfrm>
            <a:off x="2514600" y="3352800"/>
            <a:ext cx="1466850" cy="600075"/>
          </a:xfrm>
          <a:prstGeom prst="rect">
            <a:avLst/>
          </a:prstGeom>
          <a:noFill/>
          <a:ln w="0">
            <a:noFill/>
            <a:prstDash val="solid"/>
          </a:ln>
        </p:spPr>
        <p:txBody>
          <a:bodyPr wrap="square" lIns="28575" tIns="19050" rIns="28575" bIns="19050" anchor="ctr">
            <a:normAutofit/>
          </a:bodyPr>
          <a:lstStyle/>
          <a:p>
            <a:pPr algn="ctr">
              <a:lnSpc>
                <a:spcPct val="110000"/>
              </a:lnSpc>
              <a:buNone/>
              <a:defRPr sz="840" b="0" i="0">
                <a:solidFill>
                  <a:srgbClr val="5B5B5B"/>
                </a:solidFill>
                <a:latin typeface="Yu Gothic"/>
                <a:ea typeface="Yu Gothic"/>
                <a:cs typeface="Yu Gothic"/>
              </a:defRPr>
            </a:pPr>
            <a:r>
              <a:rPr sz="840" b="0" i="0">
                <a:solidFill>
                  <a:srgbClr val="5B5B5B"/>
                </a:solidFill>
                <a:latin typeface="Yu Gothic"/>
                <a:ea typeface="Yu Gothic"/>
                <a:cs typeface="Yu Gothic"/>
              </a:rPr>
              <a:t>full trajectory</a:t>
            </a:r>
          </a:p>
          <a:p>
            <a:pPr algn="ctr">
              <a:lnSpc>
                <a:spcPct val="110000"/>
              </a:lnSpc>
              <a:buNone/>
              <a:defRPr sz="840" b="0" i="0">
                <a:solidFill>
                  <a:srgbClr val="5B5B5B"/>
                </a:solidFill>
                <a:latin typeface="Yu Gothic"/>
                <a:ea typeface="Yu Gothic"/>
                <a:cs typeface="Yu Gothic"/>
              </a:defRPr>
            </a:pPr>
            <a:r>
              <a:rPr sz="840" b="0" i="0">
                <a:solidFill>
                  <a:srgbClr val="5B5B5B"/>
                </a:solidFill>
                <a:latin typeface="Yu Gothic"/>
                <a:ea typeface="Yu Gothic"/>
                <a:cs typeface="Yu Gothic"/>
              </a:rPr>
              <a:t>またはcase別window</a:t>
            </a:r>
          </a:p>
        </p:txBody>
      </p:sp>
      <p:sp>
        <p:nvSpPr>
          <p:cNvPr id="22" name="正方形/長方形 21">
            <a:extLst>
              <a:ext uri="{FF2B5EF4-FFF2-40B4-BE49-F238E27FC236}">
                <a16:creationId xmlns:a16="http://schemas.microsoft.com/office/drawing/2014/main" id="{29513871-BA1B-4A7F-B501-B9B77D6586EE}"/>
              </a:ext>
            </a:extLst>
          </p:cNvPr>
          <p:cNvSpPr>
            <a:spLocks noGrp="1"/>
          </p:cNvSpPr>
          <p:nvPr/>
        </p:nvSpPr>
        <p:spPr>
          <a:xfrm>
            <a:off x="4286250" y="2752725"/>
            <a:ext cx="1657350" cy="1343025"/>
          </a:xfrm>
          <a:prstGeom prst="rect">
            <a:avLst/>
          </a:prstGeom>
          <a:solidFill>
            <a:srgbClr val="FFFFFF"/>
          </a:solidFill>
          <a:ln w="9525">
            <a:solidFill>
              <a:srgbClr val="D6D6D6"/>
            </a:solidFill>
            <a:prstDash val="solid"/>
          </a:ln>
        </p:spPr>
      </p:sp>
      <p:sp>
        <p:nvSpPr>
          <p:cNvPr id="23" name="正方形/長方形 22">
            <a:extLst>
              <a:ext uri="{FF2B5EF4-FFF2-40B4-BE49-F238E27FC236}">
                <a16:creationId xmlns:a16="http://schemas.microsoft.com/office/drawing/2014/main" id="{480CE564-F3EB-4698-962C-7EB76F0C42B2}"/>
              </a:ext>
            </a:extLst>
          </p:cNvPr>
          <p:cNvSpPr>
            <a:spLocks noGrp="1"/>
          </p:cNvSpPr>
          <p:nvPr/>
        </p:nvSpPr>
        <p:spPr>
          <a:xfrm>
            <a:off x="4286250" y="2752725"/>
            <a:ext cx="1657350" cy="66675"/>
          </a:xfrm>
          <a:prstGeom prst="rect">
            <a:avLst/>
          </a:prstGeom>
          <a:solidFill>
            <a:srgbClr val="7B2DAF"/>
          </a:solidFill>
          <a:ln w="0">
            <a:noFill/>
            <a:prstDash val="solid"/>
          </a:ln>
        </p:spPr>
      </p:sp>
      <p:sp>
        <p:nvSpPr>
          <p:cNvPr id="24" name="正方形/長方形 23">
            <a:extLst>
              <a:ext uri="{FF2B5EF4-FFF2-40B4-BE49-F238E27FC236}">
                <a16:creationId xmlns:a16="http://schemas.microsoft.com/office/drawing/2014/main" id="{EB66C29E-176F-4C1C-9172-8180C3CCAFB6}"/>
              </a:ext>
            </a:extLst>
          </p:cNvPr>
          <p:cNvSpPr>
            <a:spLocks noGrp="1"/>
          </p:cNvSpPr>
          <p:nvPr/>
        </p:nvSpPr>
        <p:spPr>
          <a:xfrm>
            <a:off x="4400550" y="2924175"/>
            <a:ext cx="1428750" cy="257175"/>
          </a:xfrm>
          <a:prstGeom prst="rect">
            <a:avLst/>
          </a:prstGeom>
          <a:noFill/>
          <a:ln w="0">
            <a:noFill/>
            <a:prstDash val="solid"/>
          </a:ln>
        </p:spPr>
        <p:txBody>
          <a:bodyPr wrap="square" lIns="28575" tIns="19050" rIns="28575" bIns="19050" anchor="ctr">
            <a:normAutofit/>
          </a:bodyPr>
          <a:lstStyle/>
          <a:p>
            <a:pPr algn="ctr">
              <a:lnSpc>
                <a:spcPct val="100000"/>
              </a:lnSpc>
              <a:buNone/>
              <a:defRPr sz="1125" b="1" i="0">
                <a:solidFill>
                  <a:srgbClr val="7B2DAF"/>
                </a:solidFill>
                <a:latin typeface="Yu Gothic"/>
                <a:ea typeface="Yu Gothic"/>
                <a:cs typeface="Yu Gothic"/>
              </a:defRPr>
            </a:pPr>
            <a:r>
              <a:rPr sz="1125" b="1" i="0">
                <a:solidFill>
                  <a:srgbClr val="7B2DAF"/>
                </a:solidFill>
                <a:latin typeface="Yu Gothic"/>
                <a:ea typeface="Yu Gothic"/>
                <a:cs typeface="Yu Gothic"/>
              </a:rPr>
              <a:t>3  loss</a:t>
            </a:r>
          </a:p>
        </p:txBody>
      </p:sp>
      <p:sp>
        <p:nvSpPr>
          <p:cNvPr id="25" name="直線コネクタ 24">
            <a:extLst>
              <a:ext uri="{FF2B5EF4-FFF2-40B4-BE49-F238E27FC236}">
                <a16:creationId xmlns:a16="http://schemas.microsoft.com/office/drawing/2014/main" id="{E7F78B92-0DAF-4618-8171-107FBF364542}"/>
              </a:ext>
            </a:extLst>
          </p:cNvPr>
          <p:cNvSpPr>
            <a:spLocks noGrp="1"/>
          </p:cNvSpPr>
          <p:nvPr/>
        </p:nvSpPr>
        <p:spPr>
          <a:xfrm>
            <a:off x="4419600" y="3267075"/>
            <a:ext cx="1390650" cy="0"/>
          </a:xfrm>
          <a:prstGeom prst="line">
            <a:avLst/>
          </a:prstGeom>
          <a:noFill/>
          <a:ln w="9525">
            <a:solidFill>
              <a:srgbClr val="D6D6D6"/>
            </a:solidFill>
            <a:prstDash val="solid"/>
          </a:ln>
        </p:spPr>
      </p:sp>
      <p:sp>
        <p:nvSpPr>
          <p:cNvPr id="26" name="正方形/長方形 25">
            <a:extLst>
              <a:ext uri="{FF2B5EF4-FFF2-40B4-BE49-F238E27FC236}">
                <a16:creationId xmlns:a16="http://schemas.microsoft.com/office/drawing/2014/main" id="{E0303DB5-D19D-45F4-9487-7476A8EF747D}"/>
              </a:ext>
            </a:extLst>
          </p:cNvPr>
          <p:cNvSpPr>
            <a:spLocks noGrp="1"/>
          </p:cNvSpPr>
          <p:nvPr/>
        </p:nvSpPr>
        <p:spPr>
          <a:xfrm>
            <a:off x="4381500" y="3352800"/>
            <a:ext cx="1466850" cy="600075"/>
          </a:xfrm>
          <a:prstGeom prst="rect">
            <a:avLst/>
          </a:prstGeom>
          <a:noFill/>
          <a:ln w="0">
            <a:noFill/>
            <a:prstDash val="solid"/>
          </a:ln>
        </p:spPr>
        <p:txBody>
          <a:bodyPr wrap="square" lIns="28575" tIns="19050" rIns="28575" bIns="19050" anchor="ctr">
            <a:normAutofit/>
          </a:bodyPr>
          <a:lstStyle/>
          <a:p>
            <a:pPr algn="ctr">
              <a:lnSpc>
                <a:spcPct val="110000"/>
              </a:lnSpc>
              <a:buNone/>
              <a:defRPr sz="840" b="0" i="0">
                <a:solidFill>
                  <a:srgbClr val="5B5B5B"/>
                </a:solidFill>
                <a:latin typeface="Yu Gothic"/>
                <a:ea typeface="Yu Gothic"/>
                <a:cs typeface="Yu Gothic"/>
              </a:defRPr>
            </a:pPr>
            <a:r>
              <a:rPr sz="840" b="0" i="0">
                <a:solidFill>
                  <a:srgbClr val="5B5B5B"/>
                </a:solidFill>
                <a:latin typeface="Yu Gothic"/>
                <a:ea typeface="Yu Gothic"/>
                <a:cs typeface="Yu Gothic"/>
              </a:rPr>
              <a:t>mask-aware Huber</a:t>
            </a:r>
          </a:p>
          <a:p>
            <a:pPr algn="ctr">
              <a:lnSpc>
                <a:spcPct val="110000"/>
              </a:lnSpc>
              <a:buNone/>
              <a:defRPr sz="840" b="0" i="0">
                <a:solidFill>
                  <a:srgbClr val="5B5B5B"/>
                </a:solidFill>
                <a:latin typeface="Yu Gothic"/>
                <a:ea typeface="Yu Gothic"/>
                <a:cs typeface="Yu Gothic"/>
              </a:defRPr>
            </a:pPr>
            <a:r>
              <a:rPr sz="840" b="0" i="0">
                <a:solidFill>
                  <a:srgbClr val="5B5B5B"/>
                </a:solidFill>
                <a:latin typeface="Yu Gothic"/>
                <a:ea typeface="Yu Gothic"/>
                <a:cs typeface="Yu Gothic"/>
              </a:rPr>
              <a:t>case平均 + prior</a:t>
            </a:r>
          </a:p>
        </p:txBody>
      </p:sp>
      <p:sp>
        <p:nvSpPr>
          <p:cNvPr id="27" name="正方形/長方形 26">
            <a:extLst>
              <a:ext uri="{FF2B5EF4-FFF2-40B4-BE49-F238E27FC236}">
                <a16:creationId xmlns:a16="http://schemas.microsoft.com/office/drawing/2014/main" id="{972FD6F2-2B93-4725-A620-C56C4BB51EEE}"/>
              </a:ext>
            </a:extLst>
          </p:cNvPr>
          <p:cNvSpPr>
            <a:spLocks noGrp="1"/>
          </p:cNvSpPr>
          <p:nvPr/>
        </p:nvSpPr>
        <p:spPr>
          <a:xfrm>
            <a:off x="6153150" y="2752725"/>
            <a:ext cx="1657350" cy="1343025"/>
          </a:xfrm>
          <a:prstGeom prst="rect">
            <a:avLst/>
          </a:prstGeom>
          <a:solidFill>
            <a:srgbClr val="FFFFFF"/>
          </a:solidFill>
          <a:ln w="9525">
            <a:solidFill>
              <a:srgbClr val="D6D6D6"/>
            </a:solidFill>
            <a:prstDash val="solid"/>
          </a:ln>
        </p:spPr>
      </p:sp>
      <p:sp>
        <p:nvSpPr>
          <p:cNvPr id="28" name="正方形/長方形 27">
            <a:extLst>
              <a:ext uri="{FF2B5EF4-FFF2-40B4-BE49-F238E27FC236}">
                <a16:creationId xmlns:a16="http://schemas.microsoft.com/office/drawing/2014/main" id="{86E283B8-D52A-4529-88C8-D79F5531E665}"/>
              </a:ext>
            </a:extLst>
          </p:cNvPr>
          <p:cNvSpPr>
            <a:spLocks noGrp="1"/>
          </p:cNvSpPr>
          <p:nvPr/>
        </p:nvSpPr>
        <p:spPr>
          <a:xfrm>
            <a:off x="6153150" y="2752725"/>
            <a:ext cx="1657350" cy="66675"/>
          </a:xfrm>
          <a:prstGeom prst="rect">
            <a:avLst/>
          </a:prstGeom>
          <a:solidFill>
            <a:srgbClr val="E5A900"/>
          </a:solidFill>
          <a:ln w="0">
            <a:noFill/>
            <a:prstDash val="solid"/>
          </a:ln>
        </p:spPr>
      </p:sp>
      <p:sp>
        <p:nvSpPr>
          <p:cNvPr id="29" name="正方形/長方形 28">
            <a:extLst>
              <a:ext uri="{FF2B5EF4-FFF2-40B4-BE49-F238E27FC236}">
                <a16:creationId xmlns:a16="http://schemas.microsoft.com/office/drawing/2014/main" id="{E5FCCFC9-B54B-4A7E-B37F-794D3386FAD5}"/>
              </a:ext>
            </a:extLst>
          </p:cNvPr>
          <p:cNvSpPr>
            <a:spLocks noGrp="1"/>
          </p:cNvSpPr>
          <p:nvPr/>
        </p:nvSpPr>
        <p:spPr>
          <a:xfrm>
            <a:off x="6267450" y="2924175"/>
            <a:ext cx="1428750" cy="257175"/>
          </a:xfrm>
          <a:prstGeom prst="rect">
            <a:avLst/>
          </a:prstGeom>
          <a:noFill/>
          <a:ln w="0">
            <a:noFill/>
            <a:prstDash val="solid"/>
          </a:ln>
        </p:spPr>
        <p:txBody>
          <a:bodyPr wrap="square" lIns="28575" tIns="19050" rIns="28575" bIns="19050" anchor="ctr">
            <a:normAutofit/>
          </a:bodyPr>
          <a:lstStyle/>
          <a:p>
            <a:pPr algn="ctr">
              <a:lnSpc>
                <a:spcPct val="100000"/>
              </a:lnSpc>
              <a:buNone/>
              <a:defRPr sz="1125" b="1" i="0">
                <a:solidFill>
                  <a:srgbClr val="E5A900"/>
                </a:solidFill>
                <a:latin typeface="Yu Gothic"/>
                <a:ea typeface="Yu Gothic"/>
                <a:cs typeface="Yu Gothic"/>
              </a:defRPr>
            </a:pPr>
            <a:r>
              <a:rPr sz="1125" b="1" i="0">
                <a:solidFill>
                  <a:srgbClr val="E5A900"/>
                </a:solidFill>
                <a:latin typeface="Yu Gothic"/>
                <a:ea typeface="Yu Gothic"/>
                <a:cs typeface="Yu Gothic"/>
              </a:rPr>
              <a:t>4  update</a:t>
            </a:r>
          </a:p>
        </p:txBody>
      </p:sp>
      <p:sp>
        <p:nvSpPr>
          <p:cNvPr id="30" name="直線コネクタ 29">
            <a:extLst>
              <a:ext uri="{FF2B5EF4-FFF2-40B4-BE49-F238E27FC236}">
                <a16:creationId xmlns:a16="http://schemas.microsoft.com/office/drawing/2014/main" id="{67C110AD-DB7B-4F73-BE52-352CA5E96C9D}"/>
              </a:ext>
            </a:extLst>
          </p:cNvPr>
          <p:cNvSpPr>
            <a:spLocks noGrp="1"/>
          </p:cNvSpPr>
          <p:nvPr/>
        </p:nvSpPr>
        <p:spPr>
          <a:xfrm>
            <a:off x="6286500" y="3267075"/>
            <a:ext cx="1390650" cy="0"/>
          </a:xfrm>
          <a:prstGeom prst="line">
            <a:avLst/>
          </a:prstGeom>
          <a:noFill/>
          <a:ln w="9525">
            <a:solidFill>
              <a:srgbClr val="D6D6D6"/>
            </a:solidFill>
            <a:prstDash val="solid"/>
          </a:ln>
        </p:spPr>
      </p:sp>
      <p:sp>
        <p:nvSpPr>
          <p:cNvPr id="31" name="正方形/長方形 30">
            <a:extLst>
              <a:ext uri="{FF2B5EF4-FFF2-40B4-BE49-F238E27FC236}">
                <a16:creationId xmlns:a16="http://schemas.microsoft.com/office/drawing/2014/main" id="{F9A63EE4-ECE3-48B4-B351-BDF6F8132AD7}"/>
              </a:ext>
            </a:extLst>
          </p:cNvPr>
          <p:cNvSpPr>
            <a:spLocks noGrp="1"/>
          </p:cNvSpPr>
          <p:nvPr/>
        </p:nvSpPr>
        <p:spPr>
          <a:xfrm>
            <a:off x="6248400" y="3352800"/>
            <a:ext cx="1466850" cy="600075"/>
          </a:xfrm>
          <a:prstGeom prst="rect">
            <a:avLst/>
          </a:prstGeom>
          <a:noFill/>
          <a:ln w="0">
            <a:noFill/>
            <a:prstDash val="solid"/>
          </a:ln>
        </p:spPr>
        <p:txBody>
          <a:bodyPr wrap="square" lIns="28575" tIns="19050" rIns="28575" bIns="19050" anchor="ctr">
            <a:normAutofit/>
          </a:bodyPr>
          <a:lstStyle/>
          <a:p>
            <a:pPr algn="ctr">
              <a:lnSpc>
                <a:spcPct val="110000"/>
              </a:lnSpc>
              <a:buNone/>
              <a:defRPr sz="840" b="0" i="0">
                <a:solidFill>
                  <a:srgbClr val="5B5B5B"/>
                </a:solidFill>
                <a:latin typeface="Yu Gothic"/>
                <a:ea typeface="Yu Gothic"/>
                <a:cs typeface="Yu Gothic"/>
              </a:defRPr>
            </a:pPr>
            <a:r>
              <a:rPr sz="840" b="0" i="0">
                <a:solidFill>
                  <a:srgbClr val="5B5B5B"/>
                </a:solidFill>
                <a:latin typeface="Yu Gothic"/>
                <a:ea typeface="Yu Gothic"/>
                <a:cs typeface="Yu Gothic"/>
              </a:rPr>
              <a:t>Adam</a:t>
            </a:r>
          </a:p>
          <a:p>
            <a:pPr algn="ctr">
              <a:lnSpc>
                <a:spcPct val="110000"/>
              </a:lnSpc>
              <a:buNone/>
              <a:defRPr sz="840" b="0" i="0">
                <a:solidFill>
                  <a:srgbClr val="5B5B5B"/>
                </a:solidFill>
                <a:latin typeface="Yu Gothic"/>
                <a:ea typeface="Yu Gothic"/>
                <a:cs typeface="Yu Gothic"/>
              </a:defRPr>
            </a:pPr>
            <a:r>
              <a:rPr sz="840" b="0" i="0">
                <a:solidFill>
                  <a:srgbClr val="5B5B5B"/>
                </a:solidFill>
                <a:latin typeface="Yu Gothic"/>
                <a:ea typeface="Yu Gothic"/>
                <a:cs typeface="Yu Gothic"/>
              </a:rPr>
              <a:t>gradient clip</a:t>
            </a:r>
          </a:p>
          <a:p>
            <a:pPr algn="ctr">
              <a:lnSpc>
                <a:spcPct val="110000"/>
              </a:lnSpc>
              <a:buNone/>
              <a:defRPr sz="840" b="0" i="0">
                <a:solidFill>
                  <a:srgbClr val="5B5B5B"/>
                </a:solidFill>
                <a:latin typeface="Yu Gothic"/>
                <a:ea typeface="Yu Gothic"/>
                <a:cs typeface="Yu Gothic"/>
              </a:defRPr>
            </a:pPr>
            <a:r>
              <a:rPr sz="840" b="0" i="0">
                <a:solidFill>
                  <a:srgbClr val="5B5B5B"/>
                </a:solidFill>
                <a:latin typeface="Yu Gothic"/>
                <a:ea typeface="Yu Gothic"/>
                <a:cs typeface="Yu Gothic"/>
              </a:rPr>
              <a:t>log倍率clamp</a:t>
            </a:r>
          </a:p>
        </p:txBody>
      </p:sp>
      <p:sp>
        <p:nvSpPr>
          <p:cNvPr id="32" name="正方形/長方形 31">
            <a:extLst>
              <a:ext uri="{FF2B5EF4-FFF2-40B4-BE49-F238E27FC236}">
                <a16:creationId xmlns:a16="http://schemas.microsoft.com/office/drawing/2014/main" id="{71624450-63EB-4DAB-9974-E28192DEF4FA}"/>
              </a:ext>
            </a:extLst>
          </p:cNvPr>
          <p:cNvSpPr>
            <a:spLocks noGrp="1"/>
          </p:cNvSpPr>
          <p:nvPr/>
        </p:nvSpPr>
        <p:spPr>
          <a:xfrm>
            <a:off x="8020050" y="2752725"/>
            <a:ext cx="1657350" cy="1343025"/>
          </a:xfrm>
          <a:prstGeom prst="rect">
            <a:avLst/>
          </a:prstGeom>
          <a:solidFill>
            <a:srgbClr val="FFFFFF"/>
          </a:solidFill>
          <a:ln w="9525">
            <a:solidFill>
              <a:srgbClr val="D6D6D6"/>
            </a:solidFill>
            <a:prstDash val="solid"/>
          </a:ln>
        </p:spPr>
      </p:sp>
      <p:sp>
        <p:nvSpPr>
          <p:cNvPr id="33" name="正方形/長方形 32">
            <a:extLst>
              <a:ext uri="{FF2B5EF4-FFF2-40B4-BE49-F238E27FC236}">
                <a16:creationId xmlns:a16="http://schemas.microsoft.com/office/drawing/2014/main" id="{FB396606-6125-4E42-ABBC-995E2CFB5E84}"/>
              </a:ext>
            </a:extLst>
          </p:cNvPr>
          <p:cNvSpPr>
            <a:spLocks noGrp="1"/>
          </p:cNvSpPr>
          <p:nvPr/>
        </p:nvSpPr>
        <p:spPr>
          <a:xfrm>
            <a:off x="8020050" y="2752725"/>
            <a:ext cx="1657350" cy="66675"/>
          </a:xfrm>
          <a:prstGeom prst="rect">
            <a:avLst/>
          </a:prstGeom>
          <a:solidFill>
            <a:srgbClr val="00A89D"/>
          </a:solidFill>
          <a:ln w="0">
            <a:noFill/>
            <a:prstDash val="solid"/>
          </a:ln>
        </p:spPr>
      </p:sp>
      <p:sp>
        <p:nvSpPr>
          <p:cNvPr id="34" name="正方形/長方形 33">
            <a:extLst>
              <a:ext uri="{FF2B5EF4-FFF2-40B4-BE49-F238E27FC236}">
                <a16:creationId xmlns:a16="http://schemas.microsoft.com/office/drawing/2014/main" id="{83624B1F-F484-4D78-ABE6-8F6128238D2E}"/>
              </a:ext>
            </a:extLst>
          </p:cNvPr>
          <p:cNvSpPr>
            <a:spLocks noGrp="1"/>
          </p:cNvSpPr>
          <p:nvPr/>
        </p:nvSpPr>
        <p:spPr>
          <a:xfrm>
            <a:off x="8134350" y="2924175"/>
            <a:ext cx="1428750" cy="257175"/>
          </a:xfrm>
          <a:prstGeom prst="rect">
            <a:avLst/>
          </a:prstGeom>
          <a:noFill/>
          <a:ln w="0">
            <a:noFill/>
            <a:prstDash val="solid"/>
          </a:ln>
        </p:spPr>
        <p:txBody>
          <a:bodyPr wrap="square" lIns="28575" tIns="19050" rIns="28575" bIns="19050" anchor="ctr">
            <a:normAutofit/>
          </a:bodyPr>
          <a:lstStyle/>
          <a:p>
            <a:pPr algn="ctr">
              <a:lnSpc>
                <a:spcPct val="100000"/>
              </a:lnSpc>
              <a:buNone/>
              <a:defRPr sz="1125" b="1" i="0">
                <a:solidFill>
                  <a:srgbClr val="00A89D"/>
                </a:solidFill>
                <a:latin typeface="Yu Gothic"/>
                <a:ea typeface="Yu Gothic"/>
                <a:cs typeface="Yu Gothic"/>
              </a:defRPr>
            </a:pPr>
            <a:r>
              <a:rPr sz="1125" b="1" i="0">
                <a:solidFill>
                  <a:srgbClr val="00A89D"/>
                </a:solidFill>
                <a:latin typeface="Yu Gothic"/>
                <a:ea typeface="Yu Gothic"/>
                <a:cs typeface="Yu Gothic"/>
              </a:rPr>
              <a:t>5  select</a:t>
            </a:r>
          </a:p>
        </p:txBody>
      </p:sp>
      <p:sp>
        <p:nvSpPr>
          <p:cNvPr id="35" name="直線コネクタ 34">
            <a:extLst>
              <a:ext uri="{FF2B5EF4-FFF2-40B4-BE49-F238E27FC236}">
                <a16:creationId xmlns:a16="http://schemas.microsoft.com/office/drawing/2014/main" id="{A11AA1BD-DECD-43BB-8B10-5BFC259B3279}"/>
              </a:ext>
            </a:extLst>
          </p:cNvPr>
          <p:cNvSpPr>
            <a:spLocks noGrp="1"/>
          </p:cNvSpPr>
          <p:nvPr/>
        </p:nvSpPr>
        <p:spPr>
          <a:xfrm>
            <a:off x="8153400" y="3267075"/>
            <a:ext cx="1390650" cy="0"/>
          </a:xfrm>
          <a:prstGeom prst="line">
            <a:avLst/>
          </a:prstGeom>
          <a:noFill/>
          <a:ln w="9525">
            <a:solidFill>
              <a:srgbClr val="D6D6D6"/>
            </a:solidFill>
            <a:prstDash val="solid"/>
          </a:ln>
        </p:spPr>
      </p:sp>
      <p:sp>
        <p:nvSpPr>
          <p:cNvPr id="36" name="正方形/長方形 35">
            <a:extLst>
              <a:ext uri="{FF2B5EF4-FFF2-40B4-BE49-F238E27FC236}">
                <a16:creationId xmlns:a16="http://schemas.microsoft.com/office/drawing/2014/main" id="{E3F60C70-E621-4A71-B960-42DCC2FE1F0C}"/>
              </a:ext>
            </a:extLst>
          </p:cNvPr>
          <p:cNvSpPr>
            <a:spLocks noGrp="1"/>
          </p:cNvSpPr>
          <p:nvPr/>
        </p:nvSpPr>
        <p:spPr>
          <a:xfrm>
            <a:off x="8115300" y="3352800"/>
            <a:ext cx="1466850" cy="600075"/>
          </a:xfrm>
          <a:prstGeom prst="rect">
            <a:avLst/>
          </a:prstGeom>
          <a:noFill/>
          <a:ln w="0">
            <a:noFill/>
            <a:prstDash val="solid"/>
          </a:ln>
        </p:spPr>
        <p:txBody>
          <a:bodyPr wrap="square" lIns="28575" tIns="19050" rIns="28575" bIns="19050" anchor="ctr">
            <a:normAutofit/>
          </a:bodyPr>
          <a:lstStyle/>
          <a:p>
            <a:pPr algn="ctr">
              <a:lnSpc>
                <a:spcPct val="110000"/>
              </a:lnSpc>
              <a:buNone/>
              <a:defRPr sz="840" b="0" i="0">
                <a:solidFill>
                  <a:srgbClr val="5B5B5B"/>
                </a:solidFill>
                <a:latin typeface="Yu Gothic"/>
                <a:ea typeface="Yu Gothic"/>
                <a:cs typeface="Yu Gothic"/>
              </a:defRPr>
            </a:pPr>
            <a:r>
              <a:rPr sz="840" b="0" i="0">
                <a:solidFill>
                  <a:srgbClr val="5B5B5B"/>
                </a:solidFill>
                <a:latin typeface="Yu Gothic"/>
                <a:ea typeface="Yu Gothic"/>
                <a:cs typeface="Yu Gothic"/>
              </a:rPr>
              <a:t>causal full-rollout</a:t>
            </a:r>
          </a:p>
          <a:p>
            <a:pPr algn="ctr">
              <a:lnSpc>
                <a:spcPct val="110000"/>
              </a:lnSpc>
              <a:buNone/>
              <a:defRPr sz="840" b="0" i="0">
                <a:solidFill>
                  <a:srgbClr val="5B5B5B"/>
                </a:solidFill>
                <a:latin typeface="Yu Gothic"/>
                <a:ea typeface="Yu Gothic"/>
                <a:cs typeface="Yu Gothic"/>
              </a:defRPr>
            </a:pPr>
            <a:r>
              <a:rPr sz="840" b="0" i="0">
                <a:solidFill>
                  <a:srgbClr val="5B5B5B"/>
                </a:solidFill>
                <a:latin typeface="Yu Gothic"/>
                <a:ea typeface="Yu Gothic"/>
                <a:cs typeface="Yu Gothic"/>
              </a:rPr>
              <a:t>validation RMSE</a:t>
            </a:r>
          </a:p>
        </p:txBody>
      </p:sp>
      <p:sp>
        <p:nvSpPr>
          <p:cNvPr id="37" name="正方形/長方形 36">
            <a:extLst>
              <a:ext uri="{FF2B5EF4-FFF2-40B4-BE49-F238E27FC236}">
                <a16:creationId xmlns:a16="http://schemas.microsoft.com/office/drawing/2014/main" id="{BFCB2CE2-68C4-4A46-B403-0E0D0370EFF6}"/>
              </a:ext>
            </a:extLst>
          </p:cNvPr>
          <p:cNvSpPr>
            <a:spLocks noGrp="1"/>
          </p:cNvSpPr>
          <p:nvPr/>
        </p:nvSpPr>
        <p:spPr>
          <a:xfrm>
            <a:off x="9886950" y="2752725"/>
            <a:ext cx="1752600" cy="1343025"/>
          </a:xfrm>
          <a:prstGeom prst="rect">
            <a:avLst/>
          </a:prstGeom>
          <a:solidFill>
            <a:srgbClr val="FFFFFF"/>
          </a:solidFill>
          <a:ln w="9525">
            <a:solidFill>
              <a:srgbClr val="D6D6D6"/>
            </a:solidFill>
            <a:prstDash val="solid"/>
          </a:ln>
        </p:spPr>
      </p:sp>
      <p:sp>
        <p:nvSpPr>
          <p:cNvPr id="38" name="正方形/長方形 37">
            <a:extLst>
              <a:ext uri="{FF2B5EF4-FFF2-40B4-BE49-F238E27FC236}">
                <a16:creationId xmlns:a16="http://schemas.microsoft.com/office/drawing/2014/main" id="{7BB2398C-BC2A-4DF0-84E0-5046F5834995}"/>
              </a:ext>
            </a:extLst>
          </p:cNvPr>
          <p:cNvSpPr>
            <a:spLocks noGrp="1"/>
          </p:cNvSpPr>
          <p:nvPr/>
        </p:nvSpPr>
        <p:spPr>
          <a:xfrm>
            <a:off x="9886950" y="2752725"/>
            <a:ext cx="1752600" cy="66675"/>
          </a:xfrm>
          <a:prstGeom prst="rect">
            <a:avLst/>
          </a:prstGeom>
          <a:solidFill>
            <a:srgbClr val="007FA8"/>
          </a:solidFill>
          <a:ln w="0">
            <a:noFill/>
            <a:prstDash val="solid"/>
          </a:ln>
        </p:spPr>
      </p:sp>
      <p:sp>
        <p:nvSpPr>
          <p:cNvPr id="39" name="正方形/長方形 38">
            <a:extLst>
              <a:ext uri="{FF2B5EF4-FFF2-40B4-BE49-F238E27FC236}">
                <a16:creationId xmlns:a16="http://schemas.microsoft.com/office/drawing/2014/main" id="{897FA1E1-4CBA-450D-8811-AA7644AC2EAF}"/>
              </a:ext>
            </a:extLst>
          </p:cNvPr>
          <p:cNvSpPr>
            <a:spLocks noGrp="1"/>
          </p:cNvSpPr>
          <p:nvPr/>
        </p:nvSpPr>
        <p:spPr>
          <a:xfrm>
            <a:off x="10001250" y="2924175"/>
            <a:ext cx="1524000" cy="257175"/>
          </a:xfrm>
          <a:prstGeom prst="rect">
            <a:avLst/>
          </a:prstGeom>
          <a:noFill/>
          <a:ln w="0">
            <a:noFill/>
            <a:prstDash val="solid"/>
          </a:ln>
        </p:spPr>
        <p:txBody>
          <a:bodyPr wrap="square" lIns="28575" tIns="19050" rIns="28575" bIns="19050" anchor="ctr">
            <a:normAutofit/>
          </a:bodyPr>
          <a:lstStyle/>
          <a:p>
            <a:pPr algn="ctr">
              <a:lnSpc>
                <a:spcPct val="100000"/>
              </a:lnSpc>
              <a:buNone/>
              <a:defRPr sz="1125" b="1" i="0">
                <a:solidFill>
                  <a:srgbClr val="007FA8"/>
                </a:solidFill>
                <a:latin typeface="Yu Gothic"/>
                <a:ea typeface="Yu Gothic"/>
                <a:cs typeface="Yu Gothic"/>
              </a:defRPr>
            </a:pPr>
            <a:r>
              <a:rPr sz="1125" b="1" i="0">
                <a:solidFill>
                  <a:srgbClr val="007FA8"/>
                </a:solidFill>
                <a:latin typeface="Yu Gothic"/>
                <a:ea typeface="Yu Gothic"/>
                <a:cs typeface="Yu Gothic"/>
              </a:rPr>
              <a:t>6  publish</a:t>
            </a:r>
          </a:p>
        </p:txBody>
      </p:sp>
      <p:sp>
        <p:nvSpPr>
          <p:cNvPr id="40" name="直線コネクタ 39">
            <a:extLst>
              <a:ext uri="{FF2B5EF4-FFF2-40B4-BE49-F238E27FC236}">
                <a16:creationId xmlns:a16="http://schemas.microsoft.com/office/drawing/2014/main" id="{3786B69B-CB09-47C2-A230-07F29B3BB31D}"/>
              </a:ext>
            </a:extLst>
          </p:cNvPr>
          <p:cNvSpPr>
            <a:spLocks noGrp="1"/>
          </p:cNvSpPr>
          <p:nvPr/>
        </p:nvSpPr>
        <p:spPr>
          <a:xfrm>
            <a:off x="10020300" y="3267075"/>
            <a:ext cx="1485900" cy="0"/>
          </a:xfrm>
          <a:prstGeom prst="line">
            <a:avLst/>
          </a:prstGeom>
          <a:noFill/>
          <a:ln w="9525">
            <a:solidFill>
              <a:srgbClr val="D6D6D6"/>
            </a:solidFill>
            <a:prstDash val="solid"/>
          </a:ln>
        </p:spPr>
      </p:sp>
      <p:sp>
        <p:nvSpPr>
          <p:cNvPr id="41" name="正方形/長方形 40">
            <a:extLst>
              <a:ext uri="{FF2B5EF4-FFF2-40B4-BE49-F238E27FC236}">
                <a16:creationId xmlns:a16="http://schemas.microsoft.com/office/drawing/2014/main" id="{3122F6A5-8ED9-40EA-8A5B-1297553E7B7E}"/>
              </a:ext>
            </a:extLst>
          </p:cNvPr>
          <p:cNvSpPr>
            <a:spLocks noGrp="1"/>
          </p:cNvSpPr>
          <p:nvPr/>
        </p:nvSpPr>
        <p:spPr>
          <a:xfrm>
            <a:off x="9982200" y="3352800"/>
            <a:ext cx="1562100" cy="600075"/>
          </a:xfrm>
          <a:prstGeom prst="rect">
            <a:avLst/>
          </a:prstGeom>
          <a:noFill/>
          <a:ln w="0">
            <a:noFill/>
            <a:prstDash val="solid"/>
          </a:ln>
        </p:spPr>
        <p:txBody>
          <a:bodyPr wrap="square" lIns="28575" tIns="19050" rIns="28575" bIns="19050" anchor="ctr">
            <a:normAutofit/>
          </a:bodyPr>
          <a:lstStyle/>
          <a:p>
            <a:pPr algn="ctr">
              <a:lnSpc>
                <a:spcPct val="110000"/>
              </a:lnSpc>
              <a:buNone/>
              <a:defRPr sz="840" b="0" i="0">
                <a:solidFill>
                  <a:srgbClr val="5B5B5B"/>
                </a:solidFill>
                <a:latin typeface="Yu Gothic"/>
                <a:ea typeface="Yu Gothic"/>
                <a:cs typeface="Yu Gothic"/>
              </a:defRPr>
            </a:pPr>
            <a:r>
              <a:rPr sz="840" b="0" i="0">
                <a:solidFill>
                  <a:srgbClr val="5B5B5B"/>
                </a:solidFill>
                <a:latin typeface="Yu Gothic"/>
                <a:ea typeface="Yu Gothic"/>
                <a:cs typeface="Yu Gothic"/>
              </a:rPr>
              <a:t>best stateのみ</a:t>
            </a:r>
          </a:p>
          <a:p>
            <a:pPr algn="ctr">
              <a:lnSpc>
                <a:spcPct val="110000"/>
              </a:lnSpc>
              <a:buNone/>
              <a:defRPr sz="840" b="0" i="0">
                <a:solidFill>
                  <a:srgbClr val="5B5B5B"/>
                </a:solidFill>
                <a:latin typeface="Yu Gothic"/>
                <a:ea typeface="Yu Gothic"/>
                <a:cs typeface="Yu Gothic"/>
              </a:defRPr>
            </a:pPr>
            <a:r>
              <a:rPr sz="840" b="0" i="0">
                <a:solidFill>
                  <a:srgbClr val="5B5B5B"/>
                </a:solidFill>
                <a:latin typeface="Yu Gothic"/>
                <a:ea typeface="Yu Gothic"/>
                <a:cs typeface="Yu Gothic"/>
              </a:rPr>
              <a:t>artifactへ保存</a:t>
            </a:r>
          </a:p>
        </p:txBody>
      </p:sp>
      <p:cxnSp>
        <p:nvCxnSpPr>
          <p:cNvPr id="90" name="直線矢印コネクタ 89"/>
          <p:cNvCxnSpPr>
            <a:stCxn id="12" idx="3"/>
            <a:endCxn id="17" idx="1"/>
          </p:cNvCxnSpPr>
          <p:nvPr/>
        </p:nvCxnSpPr>
        <p:spPr>
          <a:xfrm>
            <a:off x="2209800" y="3424238"/>
            <a:ext cx="209550" cy="0"/>
          </a:xfrm>
          <a:prstGeom prst="straightConnector1">
            <a:avLst/>
          </a:prstGeom>
          <a:ln w="14288">
            <a:solidFill>
              <a:srgbClr val="007FA8"/>
            </a:solidFill>
            <a:prstDash val="solid"/>
            <a:tailEnd type="triangle" w="sm" len="sm"/>
          </a:ln>
        </p:spPr>
      </p:cxnSp>
      <p:cxnSp>
        <p:nvCxnSpPr>
          <p:cNvPr id="91" name="直線矢印コネクタ 90"/>
          <p:cNvCxnSpPr>
            <a:stCxn id="17" idx="3"/>
            <a:endCxn id="22" idx="1"/>
          </p:cNvCxnSpPr>
          <p:nvPr/>
        </p:nvCxnSpPr>
        <p:spPr>
          <a:xfrm>
            <a:off x="4076700" y="3424238"/>
            <a:ext cx="209550" cy="0"/>
          </a:xfrm>
          <a:prstGeom prst="straightConnector1">
            <a:avLst/>
          </a:prstGeom>
          <a:ln w="14288">
            <a:solidFill>
              <a:srgbClr val="007FA8"/>
            </a:solidFill>
            <a:prstDash val="solid"/>
            <a:tailEnd type="triangle" w="sm" len="sm"/>
          </a:ln>
        </p:spPr>
      </p:cxnSp>
      <p:cxnSp>
        <p:nvCxnSpPr>
          <p:cNvPr id="92" name="直線矢印コネクタ 91"/>
          <p:cNvCxnSpPr>
            <a:stCxn id="22" idx="3"/>
            <a:endCxn id="27" idx="1"/>
          </p:cNvCxnSpPr>
          <p:nvPr/>
        </p:nvCxnSpPr>
        <p:spPr>
          <a:xfrm>
            <a:off x="5943600" y="3424238"/>
            <a:ext cx="209550" cy="0"/>
          </a:xfrm>
          <a:prstGeom prst="straightConnector1">
            <a:avLst/>
          </a:prstGeom>
          <a:ln w="14288">
            <a:solidFill>
              <a:srgbClr val="007FA8"/>
            </a:solidFill>
            <a:prstDash val="solid"/>
            <a:tailEnd type="triangle" w="sm" len="sm"/>
          </a:ln>
        </p:spPr>
      </p:cxnSp>
      <p:cxnSp>
        <p:nvCxnSpPr>
          <p:cNvPr id="93" name="直線矢印コネクタ 92"/>
          <p:cNvCxnSpPr>
            <a:stCxn id="27" idx="3"/>
            <a:endCxn id="32" idx="1"/>
          </p:cNvCxnSpPr>
          <p:nvPr/>
        </p:nvCxnSpPr>
        <p:spPr>
          <a:xfrm>
            <a:off x="7810500" y="3424238"/>
            <a:ext cx="209550" cy="0"/>
          </a:xfrm>
          <a:prstGeom prst="straightConnector1">
            <a:avLst/>
          </a:prstGeom>
          <a:ln w="14288">
            <a:solidFill>
              <a:srgbClr val="007FA8"/>
            </a:solidFill>
            <a:prstDash val="solid"/>
            <a:tailEnd type="triangle" w="sm" len="sm"/>
          </a:ln>
        </p:spPr>
      </p:cxnSp>
      <p:cxnSp>
        <p:nvCxnSpPr>
          <p:cNvPr id="94" name="直線矢印コネクタ 93"/>
          <p:cNvCxnSpPr>
            <a:stCxn id="32" idx="3"/>
            <a:endCxn id="37" idx="1"/>
          </p:cNvCxnSpPr>
          <p:nvPr/>
        </p:nvCxnSpPr>
        <p:spPr>
          <a:xfrm>
            <a:off x="9677400" y="3424238"/>
            <a:ext cx="209550" cy="0"/>
          </a:xfrm>
          <a:prstGeom prst="straightConnector1">
            <a:avLst/>
          </a:prstGeom>
          <a:ln w="14288">
            <a:solidFill>
              <a:srgbClr val="007FA8"/>
            </a:solidFill>
            <a:prstDash val="solid"/>
            <a:tailEnd type="triangle" w="sm" len="sm"/>
          </a:ln>
        </p:spPr>
      </p:cxnSp>
      <p:graphicFrame>
        <p:nvGraphicFramePr>
          <p:cNvPr id="95" name="表 94"/>
          <p:cNvGraphicFramePr/>
          <p:nvPr/>
        </p:nvGraphicFramePr>
        <p:xfrm>
          <a:off x="552450" y="4343400"/>
          <a:ext cx="11087100" cy="1685925"/>
        </p:xfrm>
        <a:graphic>
          <a:graphicData uri="http://schemas.openxmlformats.org/drawingml/2006/table">
            <a:tbl>
              <a:tblPr/>
              <a:tblGrid>
                <a:gridCol w="2038350">
                  <a:extLst>
                    <a:ext uri="{9D8B030D-6E8A-4147-A177-3AD203B41FA5}">
                      <a16:colId xmlns:a16="http://schemas.microsoft.com/office/drawing/2014/main" val="20000"/>
                    </a:ext>
                  </a:extLst>
                </a:gridCol>
                <a:gridCol w="2571750">
                  <a:extLst>
                    <a:ext uri="{9D8B030D-6E8A-4147-A177-3AD203B41FA5}">
                      <a16:colId xmlns:a16="http://schemas.microsoft.com/office/drawing/2014/main" val="20001"/>
                    </a:ext>
                  </a:extLst>
                </a:gridCol>
                <a:gridCol w="4333875">
                  <a:extLst>
                    <a:ext uri="{9D8B030D-6E8A-4147-A177-3AD203B41FA5}">
                      <a16:colId xmlns:a16="http://schemas.microsoft.com/office/drawing/2014/main" val="20002"/>
                    </a:ext>
                  </a:extLst>
                </a:gridCol>
                <a:gridCol w="2143125">
                  <a:extLst>
                    <a:ext uri="{9D8B030D-6E8A-4147-A177-3AD203B41FA5}">
                      <a16:colId xmlns:a16="http://schemas.microsoft.com/office/drawing/2014/main" val="20003"/>
                    </a:ext>
                  </a:extLst>
                </a:gridCol>
              </a:tblGrid>
              <a:tr h="337185">
                <a:tc>
                  <a:txBody>
                    <a:bodyPr/>
                    <a:lstStyle/>
                    <a:p>
                      <a:r>
                        <a:rPr sz="938" b="1">
                          <a:solidFill>
                            <a:srgbClr val="FFFFFF"/>
                          </a:solidFill>
                          <a:latin typeface="Yu Gothic"/>
                          <a:ea typeface="Yu Gothic"/>
                          <a:cs typeface="Yu Gothic"/>
                        </a:rPr>
                        <a:t>最適化項目</a:t>
                      </a:r>
                    </a:p>
                  </a:txBody>
                  <a:tcPr>
                    <a:solidFill>
                      <a:srgbClr val="007FA8"/>
                    </a:solidFill>
                  </a:tcPr>
                </a:tc>
                <a:tc>
                  <a:txBody>
                    <a:bodyPr/>
                    <a:lstStyle/>
                    <a:p>
                      <a:r>
                        <a:rPr sz="938" b="1">
                          <a:solidFill>
                            <a:srgbClr val="FFFFFF"/>
                          </a:solidFill>
                          <a:latin typeface="Yu Gothic"/>
                          <a:ea typeface="Yu Gothic"/>
                          <a:cs typeface="Yu Gothic"/>
                        </a:rPr>
                        <a:t>実装</a:t>
                      </a:r>
                    </a:p>
                  </a:txBody>
                  <a:tcPr>
                    <a:solidFill>
                      <a:srgbClr val="007FA8"/>
                    </a:solidFill>
                  </a:tcPr>
                </a:tc>
                <a:tc>
                  <a:txBody>
                    <a:bodyPr/>
                    <a:lstStyle/>
                    <a:p>
                      <a:r>
                        <a:rPr sz="938" b="1">
                          <a:solidFill>
                            <a:srgbClr val="FFFFFF"/>
                          </a:solidFill>
                          <a:latin typeface="Yu Gothic"/>
                          <a:ea typeface="Yu Gothic"/>
                          <a:cs typeface="Yu Gothic"/>
                        </a:rPr>
                        <a:t>工学的な意味</a:t>
                      </a:r>
                    </a:p>
                  </a:txBody>
                  <a:tcPr>
                    <a:solidFill>
                      <a:srgbClr val="007FA8"/>
                    </a:solidFill>
                  </a:tcPr>
                </a:tc>
                <a:tc>
                  <a:txBody>
                    <a:bodyPr/>
                    <a:lstStyle/>
                    <a:p>
                      <a:r>
                        <a:rPr sz="938" b="1">
                          <a:solidFill>
                            <a:srgbClr val="FFFFFF"/>
                          </a:solidFill>
                          <a:latin typeface="Yu Gothic"/>
                          <a:ea typeface="Yu Gothic"/>
                          <a:cs typeface="Yu Gothic"/>
                        </a:rPr>
                        <a:t>既定例</a:t>
                      </a:r>
                    </a:p>
                  </a:txBody>
                  <a:tcPr>
                    <a:solidFill>
                      <a:srgbClr val="007FA8"/>
                    </a:solidFill>
                  </a:tcPr>
                </a:tc>
                <a:extLst>
                  <a:ext uri="{0D108BD9-81ED-4DB2-BD59-A6C34878D82A}">
                    <a16:rowId xmlns:a16="http://schemas.microsoft.com/office/drawing/2014/main" val="10000"/>
                  </a:ext>
                </a:extLst>
              </a:tr>
              <a:tr h="337185">
                <a:tc>
                  <a:txBody>
                    <a:bodyPr/>
                    <a:lstStyle/>
                    <a:p>
                      <a:r>
                        <a:rPr sz="840" b="1">
                          <a:solidFill>
                            <a:srgbClr val="007FA8"/>
                          </a:solidFill>
                          <a:latin typeface="Yu Gothic"/>
                          <a:ea typeface="Yu Gothic"/>
                          <a:cs typeface="Yu Gothic"/>
                        </a:rPr>
                        <a:t>parameterization</a:t>
                      </a:r>
                    </a:p>
                  </a:txBody>
                  <a:tcPr>
                    <a:solidFill>
                      <a:srgbClr val="FFFFFF"/>
                    </a:solidFill>
                  </a:tcPr>
                </a:tc>
                <a:tc>
                  <a:txBody>
                    <a:bodyPr/>
                    <a:lstStyle/>
                    <a:p>
                      <a:r>
                        <a:rPr sz="840">
                          <a:solidFill>
                            <a:srgbClr val="5B5B5B"/>
                          </a:solidFill>
                          <a:latin typeface="Yu Gothic"/>
                          <a:ea typeface="Yu Gothic"/>
                          <a:cs typeface="Yu Gothic"/>
                        </a:rPr>
                        <a:t>p=p0·exp(ℓ)</a:t>
                      </a:r>
                    </a:p>
                  </a:txBody>
                  <a:tcPr>
                    <a:solidFill>
                      <a:srgbClr val="FFFFFF"/>
                    </a:solidFill>
                  </a:tcPr>
                </a:tc>
                <a:tc>
                  <a:txBody>
                    <a:bodyPr/>
                    <a:lstStyle/>
                    <a:p>
                      <a:r>
                        <a:rPr sz="840">
                          <a:solidFill>
                            <a:srgbClr val="5B5B5B"/>
                          </a:solidFill>
                          <a:latin typeface="Yu Gothic"/>
                          <a:ea typeface="Yu Gothic"/>
                          <a:cs typeface="Yu Gothic"/>
                        </a:rPr>
                        <a:t>係数を正値に保ち、priorからの倍率で解釈</a:t>
                      </a:r>
                    </a:p>
                  </a:txBody>
                  <a:tcPr>
                    <a:solidFill>
                      <a:srgbClr val="FFFFFF"/>
                    </a:solidFill>
                  </a:tcPr>
                </a:tc>
                <a:tc>
                  <a:txBody>
                    <a:bodyPr/>
                    <a:lstStyle/>
                    <a:p>
                      <a:r>
                        <a:rPr sz="840">
                          <a:solidFill>
                            <a:srgbClr val="5B5B5B"/>
                          </a:solidFill>
                          <a:latin typeface="Yu Gothic"/>
                          <a:ea typeface="Yu Gothic"/>
                          <a:cs typeface="Yu Gothic"/>
                        </a:rPr>
                        <a:t>learnable項のみ</a:t>
                      </a:r>
                    </a:p>
                  </a:txBody>
                  <a:tcPr>
                    <a:solidFill>
                      <a:srgbClr val="FFFFFF"/>
                    </a:solidFill>
                  </a:tcPr>
                </a:tc>
                <a:extLst>
                  <a:ext uri="{0D108BD9-81ED-4DB2-BD59-A6C34878D82A}">
                    <a16:rowId xmlns:a16="http://schemas.microsoft.com/office/drawing/2014/main" val="10001"/>
                  </a:ext>
                </a:extLst>
              </a:tr>
              <a:tr h="337185">
                <a:tc>
                  <a:txBody>
                    <a:bodyPr/>
                    <a:lstStyle/>
                    <a:p>
                      <a:r>
                        <a:rPr sz="840" b="1">
                          <a:solidFill>
                            <a:srgbClr val="007FA8"/>
                          </a:solidFill>
                          <a:latin typeface="Yu Gothic"/>
                          <a:ea typeface="Yu Gothic"/>
                          <a:cs typeface="Yu Gothic"/>
                        </a:rPr>
                        <a:t>robust loss</a:t>
                      </a:r>
                    </a:p>
                  </a:txBody>
                  <a:tcPr>
                    <a:solidFill>
                      <a:srgbClr val="F8F8F8"/>
                    </a:solidFill>
                  </a:tcPr>
                </a:tc>
                <a:tc>
                  <a:txBody>
                    <a:bodyPr/>
                    <a:lstStyle/>
                    <a:p>
                      <a:r>
                        <a:rPr sz="840">
                          <a:solidFill>
                            <a:srgbClr val="5B5B5B"/>
                          </a:solidFill>
                          <a:latin typeface="Yu Gothic"/>
                          <a:ea typeface="Yu Gothic"/>
                          <a:cs typeface="Yu Gothic"/>
                        </a:rPr>
                        <a:t>Huber / Kelvin単位</a:t>
                      </a:r>
                    </a:p>
                  </a:txBody>
                  <a:tcPr>
                    <a:solidFill>
                      <a:srgbClr val="F8F8F8"/>
                    </a:solidFill>
                  </a:tcPr>
                </a:tc>
                <a:tc>
                  <a:txBody>
                    <a:bodyPr/>
                    <a:lstStyle/>
                    <a:p>
                      <a:r>
                        <a:rPr sz="840">
                          <a:solidFill>
                            <a:srgbClr val="5B5B5B"/>
                          </a:solidFill>
                          <a:latin typeface="Yu Gothic"/>
                          <a:ea typeface="Yu Gothic"/>
                          <a:cs typeface="Yu Gothic"/>
                        </a:rPr>
                        <a:t>gross residualの影響を二乗損失より抑制</a:t>
                      </a:r>
                    </a:p>
                  </a:txBody>
                  <a:tcPr>
                    <a:solidFill>
                      <a:srgbClr val="F8F8F8"/>
                    </a:solidFill>
                  </a:tcPr>
                </a:tc>
                <a:tc>
                  <a:txBody>
                    <a:bodyPr/>
                    <a:lstStyle/>
                    <a:p>
                      <a:r>
                        <a:rPr sz="840">
                          <a:solidFill>
                            <a:srgbClr val="5B5B5B"/>
                          </a:solidFill>
                          <a:latin typeface="Yu Gothic"/>
                          <a:ea typeface="Yu Gothic"/>
                          <a:cs typeface="Yu Gothic"/>
                        </a:rPr>
                        <a:t>δ=1.0 K</a:t>
                      </a:r>
                    </a:p>
                  </a:txBody>
                  <a:tcPr>
                    <a:solidFill>
                      <a:srgbClr val="F8F8F8"/>
                    </a:solidFill>
                  </a:tcPr>
                </a:tc>
                <a:extLst>
                  <a:ext uri="{0D108BD9-81ED-4DB2-BD59-A6C34878D82A}">
                    <a16:rowId xmlns:a16="http://schemas.microsoft.com/office/drawing/2014/main" val="10002"/>
                  </a:ext>
                </a:extLst>
              </a:tr>
              <a:tr h="337185">
                <a:tc>
                  <a:txBody>
                    <a:bodyPr/>
                    <a:lstStyle/>
                    <a:p>
                      <a:r>
                        <a:rPr sz="840" b="1">
                          <a:solidFill>
                            <a:srgbClr val="007FA8"/>
                          </a:solidFill>
                          <a:latin typeface="Yu Gothic"/>
                          <a:ea typeface="Yu Gothic"/>
                          <a:cs typeface="Yu Gothic"/>
                        </a:rPr>
                        <a:t>optimizer</a:t>
                      </a:r>
                    </a:p>
                  </a:txBody>
                  <a:tcPr>
                    <a:solidFill>
                      <a:srgbClr val="FFFFFF"/>
                    </a:solidFill>
                  </a:tcPr>
                </a:tc>
                <a:tc>
                  <a:txBody>
                    <a:bodyPr/>
                    <a:lstStyle/>
                    <a:p>
                      <a:r>
                        <a:rPr sz="840">
                          <a:solidFill>
                            <a:srgbClr val="5B5B5B"/>
                          </a:solidFill>
                          <a:latin typeface="Yu Gothic"/>
                          <a:ea typeface="Yu Gothic"/>
                          <a:cs typeface="Yu Gothic"/>
                        </a:rPr>
                        <a:t>Adam + norm clipping</a:t>
                      </a:r>
                    </a:p>
                  </a:txBody>
                  <a:tcPr>
                    <a:solidFill>
                      <a:srgbClr val="FFFFFF"/>
                    </a:solidFill>
                  </a:tcPr>
                </a:tc>
                <a:tc>
                  <a:txBody>
                    <a:bodyPr/>
                    <a:lstStyle/>
                    <a:p>
                      <a:r>
                        <a:rPr sz="840">
                          <a:solidFill>
                            <a:srgbClr val="5B5B5B"/>
                          </a:solidFill>
                          <a:latin typeface="Yu Gothic"/>
                          <a:ea typeface="Yu Gothic"/>
                          <a:cs typeface="Yu Gothic"/>
                        </a:rPr>
                        <a:t>異なる係数scaleを扱い、発散を検出</a:t>
                      </a:r>
                    </a:p>
                  </a:txBody>
                  <a:tcPr>
                    <a:solidFill>
                      <a:srgbClr val="FFFFFF"/>
                    </a:solidFill>
                  </a:tcPr>
                </a:tc>
                <a:tc>
                  <a:txBody>
                    <a:bodyPr/>
                    <a:lstStyle/>
                    <a:p>
                      <a:r>
                        <a:rPr sz="840">
                          <a:solidFill>
                            <a:srgbClr val="5B5B5B"/>
                          </a:solidFill>
                          <a:latin typeface="Yu Gothic"/>
                          <a:ea typeface="Yu Gothic"/>
                          <a:cs typeface="Yu Gothic"/>
                        </a:rPr>
                        <a:t>lr=0.03 / clip=10</a:t>
                      </a:r>
                    </a:p>
                  </a:txBody>
                  <a:tcPr>
                    <a:solidFill>
                      <a:srgbClr val="FFFFFF"/>
                    </a:solidFill>
                  </a:tcPr>
                </a:tc>
                <a:extLst>
                  <a:ext uri="{0D108BD9-81ED-4DB2-BD59-A6C34878D82A}">
                    <a16:rowId xmlns:a16="http://schemas.microsoft.com/office/drawing/2014/main" val="10003"/>
                  </a:ext>
                </a:extLst>
              </a:tr>
              <a:tr h="337185">
                <a:tc>
                  <a:txBody>
                    <a:bodyPr/>
                    <a:lstStyle/>
                    <a:p>
                      <a:r>
                        <a:rPr sz="840" b="1">
                          <a:solidFill>
                            <a:srgbClr val="007FA8"/>
                          </a:solidFill>
                          <a:latin typeface="Yu Gothic"/>
                          <a:ea typeface="Yu Gothic"/>
                          <a:cs typeface="Yu Gothic"/>
                        </a:rPr>
                        <a:t>early selection</a:t>
                      </a:r>
                    </a:p>
                  </a:txBody>
                  <a:tcPr>
                    <a:solidFill>
                      <a:srgbClr val="F8F8F8"/>
                    </a:solidFill>
                  </a:tcPr>
                </a:tc>
                <a:tc>
                  <a:txBody>
                    <a:bodyPr/>
                    <a:lstStyle/>
                    <a:p>
                      <a:r>
                        <a:rPr sz="840">
                          <a:solidFill>
                            <a:srgbClr val="5B5B5B"/>
                          </a:solidFill>
                          <a:latin typeface="Yu Gothic"/>
                          <a:ea typeface="Yu Gothic"/>
                          <a:cs typeface="Yu Gothic"/>
                        </a:rPr>
                        <a:t>patience付きcausal validation</a:t>
                      </a:r>
                    </a:p>
                  </a:txBody>
                  <a:tcPr>
                    <a:solidFill>
                      <a:srgbClr val="F8F8F8"/>
                    </a:solidFill>
                  </a:tcPr>
                </a:tc>
                <a:tc>
                  <a:txBody>
                    <a:bodyPr/>
                    <a:lstStyle/>
                    <a:p>
                      <a:r>
                        <a:rPr sz="840">
                          <a:solidFill>
                            <a:srgbClr val="5B5B5B"/>
                          </a:solidFill>
                          <a:latin typeface="Yu Gothic"/>
                          <a:ea typeface="Yu Gothic"/>
                          <a:cs typeface="Yu Gothic"/>
                        </a:rPr>
                        <a:t>conditional fitではなく配備時rolloutを選択</a:t>
                      </a:r>
                    </a:p>
                  </a:txBody>
                  <a:tcPr>
                    <a:solidFill>
                      <a:srgbClr val="F8F8F8"/>
                    </a:solidFill>
                  </a:tcPr>
                </a:tc>
                <a:tc>
                  <a:txBody>
                    <a:bodyPr/>
                    <a:lstStyle/>
                    <a:p>
                      <a:r>
                        <a:rPr sz="840">
                          <a:solidFill>
                            <a:srgbClr val="5B5B5B"/>
                          </a:solidFill>
                          <a:latin typeface="Yu Gothic"/>
                          <a:ea typeface="Yu Gothic"/>
                          <a:cs typeface="Yu Gothic"/>
                        </a:rPr>
                        <a:t>5 epochごと / patience=8</a:t>
                      </a:r>
                    </a:p>
                  </a:txBody>
                  <a:tcPr>
                    <a:solidFill>
                      <a:srgbClr val="F8F8F8"/>
                    </a:solidFill>
                  </a:tcPr>
                </a:tc>
                <a:extLst>
                  <a:ext uri="{0D108BD9-81ED-4DB2-BD59-A6C34878D82A}">
                    <a16:rowId xmlns:a16="http://schemas.microsoft.com/office/drawing/2014/main" val="10004"/>
                  </a:ext>
                </a:extLst>
              </a:tr>
            </a:tbl>
          </a:graphicData>
        </a:graphic>
      </p:graphicFrame>
      <p:sp>
        <p:nvSpPr>
          <p:cNvPr id="48" name="正方形/長方形 47">
            <a:extLst>
              <a:ext uri="{FF2B5EF4-FFF2-40B4-BE49-F238E27FC236}">
                <a16:creationId xmlns:a16="http://schemas.microsoft.com/office/drawing/2014/main" id="{69FF541B-3EB7-4771-A72A-B31257E74999}"/>
              </a:ext>
            </a:extLst>
          </p:cNvPr>
          <p:cNvSpPr>
            <a:spLocks noGrp="1"/>
          </p:cNvSpPr>
          <p:nvPr/>
        </p:nvSpPr>
        <p:spPr>
          <a:xfrm>
            <a:off x="552450" y="6105525"/>
            <a:ext cx="11087100" cy="200025"/>
          </a:xfrm>
          <a:prstGeom prst="rect">
            <a:avLst/>
          </a:prstGeom>
          <a:noFill/>
          <a:ln w="0">
            <a:noFill/>
            <a:prstDash val="solid"/>
          </a:ln>
        </p:spPr>
        <p:txBody>
          <a:bodyPr wrap="square" lIns="28575" tIns="19050" rIns="28575" bIns="19050" anchor="ctr">
            <a:normAutofit/>
          </a:bodyPr>
          <a:lstStyle/>
          <a:p>
            <a:pPr algn="ctr">
              <a:lnSpc>
                <a:spcPct val="100000"/>
              </a:lnSpc>
              <a:buNone/>
              <a:defRPr sz="848" b="1" i="0">
                <a:solidFill>
                  <a:srgbClr val="C4493D"/>
                </a:solidFill>
                <a:latin typeface="Yu Gothic"/>
                <a:ea typeface="Yu Gothic"/>
                <a:cs typeface="Yu Gothic"/>
              </a:defRPr>
            </a:pPr>
            <a:r>
              <a:rPr sz="848" b="1" i="0">
                <a:solidFill>
                  <a:srgbClr val="C4493D"/>
                </a:solidFill>
                <a:latin typeface="Yu Gothic"/>
                <a:ea typeface="Yu Gothic"/>
                <a:cs typeface="Yu Gothic"/>
              </a:rPr>
              <a:t>注意：optimizer収束はparameter一意性を保証しない。感度rank・複数seed・独立holdoutを別gateとする。</a:t>
            </a:r>
          </a:p>
        </p:txBody>
      </p:sp>
    </p:spTree>
    <p:extLst>
      <p:ext uri="{BB962C8B-B14F-4D97-AF65-F5344CB8AC3E}">
        <p14:creationId xmlns:p14="http://schemas.microsoft.com/office/powerpoint/2010/main" val="6588144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 name="正方形/長方形 31">
            <a:extLst>
              <a:ext uri="{FF2B5EF4-FFF2-40B4-BE49-F238E27FC236}">
                <a16:creationId xmlns:a16="http://schemas.microsoft.com/office/drawing/2014/main" id="{B1FBB8C7-9E04-433D-9DBA-2AE103684EAE}"/>
              </a:ext>
            </a:extLst>
          </p:cNvPr>
          <p:cNvSpPr>
            <a:spLocks noGrp="1"/>
          </p:cNvSpPr>
          <p:nvPr/>
        </p:nvSpPr>
        <p:spPr>
          <a:xfrm>
            <a:off x="552450" y="190500"/>
            <a:ext cx="76200" cy="142875"/>
          </a:xfrm>
          <a:prstGeom prst="rect">
            <a:avLst/>
          </a:prstGeom>
          <a:solidFill>
            <a:srgbClr val="76BE18"/>
          </a:solidFill>
          <a:ln w="0">
            <a:noFill/>
            <a:prstDash val="solid"/>
          </a:ln>
        </p:spPr>
      </p:sp>
      <p:sp>
        <p:nvSpPr>
          <p:cNvPr id="2" name="正方形/長方形 1">
            <a:extLst>
              <a:ext uri="{FF2B5EF4-FFF2-40B4-BE49-F238E27FC236}">
                <a16:creationId xmlns:a16="http://schemas.microsoft.com/office/drawing/2014/main" id="{9321533F-B8AB-4115-9B11-0A85AA82CBDE}"/>
              </a:ext>
            </a:extLst>
          </p:cNvPr>
          <p:cNvSpPr>
            <a:spLocks noGrp="1"/>
          </p:cNvSpPr>
          <p:nvPr/>
        </p:nvSpPr>
        <p:spPr>
          <a:xfrm>
            <a:off x="704850" y="161925"/>
            <a:ext cx="3429000" cy="190500"/>
          </a:xfrm>
          <a:prstGeom prst="rect">
            <a:avLst/>
          </a:prstGeom>
          <a:noFill/>
          <a:ln w="0">
            <a:noFill/>
            <a:prstDash val="solid"/>
          </a:ln>
        </p:spPr>
        <p:txBody>
          <a:bodyPr wrap="none" lIns="28575" tIns="19050" rIns="28575" bIns="19050" anchor="ctr">
            <a:noAutofit/>
          </a:bodyPr>
          <a:lstStyle/>
          <a:p>
            <a:pPr algn="l">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IDENTIFICATION</a:t>
            </a:r>
          </a:p>
        </p:txBody>
      </p:sp>
      <p:sp>
        <p:nvSpPr>
          <p:cNvPr id="3" name="正方形/長方形 2">
            <a:extLst>
              <a:ext uri="{FF2B5EF4-FFF2-40B4-BE49-F238E27FC236}">
                <a16:creationId xmlns:a16="http://schemas.microsoft.com/office/drawing/2014/main" id="{D23ED09E-8DEB-4AB7-97EE-09982686889E}"/>
              </a:ext>
            </a:extLst>
          </p:cNvPr>
          <p:cNvSpPr>
            <a:spLocks noGrp="1"/>
          </p:cNvSpPr>
          <p:nvPr/>
        </p:nvSpPr>
        <p:spPr>
          <a:xfrm>
            <a:off x="552450" y="400050"/>
            <a:ext cx="11001375" cy="400050"/>
          </a:xfrm>
          <a:prstGeom prst="rect">
            <a:avLst/>
          </a:prstGeom>
          <a:noFill/>
          <a:ln w="0">
            <a:noFill/>
            <a:prstDash val="solid"/>
          </a:ln>
        </p:spPr>
        <p:txBody>
          <a:bodyPr wrap="none" lIns="19050" tIns="0" rIns="19050" bIns="0" anchor="ctr">
            <a:normAutofit/>
          </a:bodyPr>
          <a:lstStyle/>
          <a:p>
            <a:pPr algn="l">
              <a:lnSpc>
                <a:spcPct val="100000"/>
              </a:lnSpc>
              <a:buNone/>
              <a:defRPr sz="2175" b="1" i="0">
                <a:solidFill>
                  <a:srgbClr val="00A5D8"/>
                </a:solidFill>
                <a:latin typeface="Yu Gothic"/>
                <a:ea typeface="Yu Gothic"/>
                <a:cs typeface="Yu Gothic"/>
              </a:defRPr>
            </a:pPr>
            <a:r>
              <a:rPr sz="2175" b="1" i="0">
                <a:solidFill>
                  <a:srgbClr val="00A5D8"/>
                </a:solidFill>
                <a:latin typeface="Yu Gothic"/>
                <a:ea typeface="Yu Gothic"/>
                <a:cs typeface="Yu Gothic"/>
              </a:rPr>
              <a:t>物理制約付き最適化と励振設計を一体化し、識別できる係数だけを学習する</a:t>
            </a:r>
          </a:p>
        </p:txBody>
      </p:sp>
      <p:sp>
        <p:nvSpPr>
          <p:cNvPr id="4" name="正方形/長方形 3">
            <a:extLst>
              <a:ext uri="{FF2B5EF4-FFF2-40B4-BE49-F238E27FC236}">
                <a16:creationId xmlns:a16="http://schemas.microsoft.com/office/drawing/2014/main" id="{EAC0BF0B-08B5-4E2A-848C-7D8967DD761F}"/>
              </a:ext>
            </a:extLst>
          </p:cNvPr>
          <p:cNvSpPr>
            <a:spLocks noGrp="1"/>
          </p:cNvSpPr>
          <p:nvPr/>
        </p:nvSpPr>
        <p:spPr>
          <a:xfrm>
            <a:off x="571500" y="838200"/>
            <a:ext cx="10906125" cy="228600"/>
          </a:xfrm>
          <a:prstGeom prst="rect">
            <a:avLst/>
          </a:prstGeom>
          <a:noFill/>
          <a:ln w="0">
            <a:noFill/>
            <a:prstDash val="solid"/>
          </a:ln>
        </p:spPr>
        <p:txBody>
          <a:bodyPr wrap="none" lIns="28575" tIns="19050" rIns="28575" bIns="19050" anchor="ctr">
            <a:noAutofit/>
          </a:bodyPr>
          <a:lstStyle/>
          <a:p>
            <a:pPr algn="l">
              <a:lnSpc>
                <a:spcPct val="100000"/>
              </a:lnSpc>
              <a:buNone/>
              <a:defRPr sz="975" b="0" i="0">
                <a:solidFill>
                  <a:srgbClr val="5B5B5B"/>
                </a:solidFill>
                <a:latin typeface="Yu Gothic"/>
                <a:ea typeface="Yu Gothic"/>
                <a:cs typeface="Yu Gothic"/>
              </a:defRPr>
            </a:pPr>
            <a:r>
              <a:rPr sz="975" b="0" i="0">
                <a:solidFill>
                  <a:srgbClr val="5B5B5B"/>
                </a:solidFill>
                <a:latin typeface="Yu Gothic"/>
                <a:ea typeface="Yu Gothic"/>
                <a:cs typeface="Yu Gothic"/>
              </a:rPr>
              <a:t>低RMSEでも、共線性や初期値依存が残れば装置外挿には使わない</a:t>
            </a:r>
          </a:p>
        </p:txBody>
      </p:sp>
      <p:sp>
        <p:nvSpPr>
          <p:cNvPr id="5" name="直線コネクタ 4">
            <a:extLst>
              <a:ext uri="{FF2B5EF4-FFF2-40B4-BE49-F238E27FC236}">
                <a16:creationId xmlns:a16="http://schemas.microsoft.com/office/drawing/2014/main" id="{AE475737-7CD9-4C41-9633-28A223DC06EF}"/>
              </a:ext>
            </a:extLst>
          </p:cNvPr>
          <p:cNvSpPr>
            <a:spLocks noGrp="1"/>
          </p:cNvSpPr>
          <p:nvPr/>
        </p:nvSpPr>
        <p:spPr>
          <a:xfrm>
            <a:off x="552450" y="1152525"/>
            <a:ext cx="11087100" cy="0"/>
          </a:xfrm>
          <a:prstGeom prst="line">
            <a:avLst/>
          </a:prstGeom>
          <a:noFill/>
          <a:ln w="9525">
            <a:solidFill>
              <a:srgbClr val="D6D6D6"/>
            </a:solidFill>
            <a:prstDash val="solid"/>
          </a:ln>
        </p:spPr>
      </p:sp>
      <p:sp>
        <p:nvSpPr>
          <p:cNvPr id="6" name="直線コネクタ 5">
            <a:extLst>
              <a:ext uri="{FF2B5EF4-FFF2-40B4-BE49-F238E27FC236}">
                <a16:creationId xmlns:a16="http://schemas.microsoft.com/office/drawing/2014/main" id="{72C0EB9C-34EF-4352-988C-DABA05CD1687}"/>
              </a:ext>
            </a:extLst>
          </p:cNvPr>
          <p:cNvSpPr>
            <a:spLocks noGrp="1"/>
          </p:cNvSpPr>
          <p:nvPr/>
        </p:nvSpPr>
        <p:spPr>
          <a:xfrm>
            <a:off x="552450" y="6438900"/>
            <a:ext cx="11087100" cy="0"/>
          </a:xfrm>
          <a:prstGeom prst="line">
            <a:avLst/>
          </a:prstGeom>
          <a:noFill/>
          <a:ln w="9525">
            <a:solidFill>
              <a:srgbClr val="D6D6D6"/>
            </a:solidFill>
            <a:prstDash val="solid"/>
          </a:ln>
        </p:spPr>
      </p:sp>
      <p:sp>
        <p:nvSpPr>
          <p:cNvPr id="7" name="正方形/長方形 6">
            <a:extLst>
              <a:ext uri="{FF2B5EF4-FFF2-40B4-BE49-F238E27FC236}">
                <a16:creationId xmlns:a16="http://schemas.microsoft.com/office/drawing/2014/main" id="{1207B3A3-9618-4963-A310-F6B9675B840C}"/>
              </a:ext>
            </a:extLst>
          </p:cNvPr>
          <p:cNvSpPr>
            <a:spLocks noGrp="1"/>
          </p:cNvSpPr>
          <p:nvPr/>
        </p:nvSpPr>
        <p:spPr>
          <a:xfrm>
            <a:off x="571500" y="6505575"/>
            <a:ext cx="5334000" cy="171450"/>
          </a:xfrm>
          <a:prstGeom prst="rect">
            <a:avLst/>
          </a:prstGeom>
          <a:noFill/>
          <a:ln w="0">
            <a:noFill/>
            <a:prstDash val="solid"/>
          </a:ln>
        </p:spPr>
        <p:txBody>
          <a:bodyPr wrap="none" lIns="28575" tIns="19050" rIns="28575" bIns="19050" anchor="ctr">
            <a:noAutofit/>
          </a:bodyPr>
          <a:lstStyle/>
          <a:p>
            <a:pPr algn="l">
              <a:lnSpc>
                <a:spcPct val="100000"/>
              </a:lnSpc>
              <a:buNone/>
              <a:defRPr sz="713" b="0" i="0">
                <a:solidFill>
                  <a:srgbClr val="777777"/>
                </a:solidFill>
                <a:latin typeface="Yu Gothic"/>
                <a:ea typeface="Yu Gothic"/>
                <a:cs typeface="Yu Gothic"/>
              </a:defRPr>
            </a:pPr>
            <a:r>
              <a:rPr sz="713" b="0" i="0">
                <a:solidFill>
                  <a:srgbClr val="777777"/>
                </a:solidFill>
                <a:latin typeface="Yu Gothic"/>
                <a:ea typeface="Yu Gothic"/>
                <a:cs typeface="Yu Gothic"/>
              </a:rPr>
              <a:t>THERMAL RC / EQUIPMENT ENGINEERING REVIEW  ·  2026-09-17</a:t>
            </a:r>
          </a:p>
        </p:txBody>
      </p:sp>
      <p:sp>
        <p:nvSpPr>
          <p:cNvPr id="8" name="正方形/長方形 7">
            <a:extLst>
              <a:ext uri="{FF2B5EF4-FFF2-40B4-BE49-F238E27FC236}">
                <a16:creationId xmlns:a16="http://schemas.microsoft.com/office/drawing/2014/main" id="{CE19F9C5-F7D1-4AFF-97A4-5C2B40500467}"/>
              </a:ext>
            </a:extLst>
          </p:cNvPr>
          <p:cNvSpPr>
            <a:spLocks noGrp="1"/>
          </p:cNvSpPr>
          <p:nvPr/>
        </p:nvSpPr>
        <p:spPr>
          <a:xfrm>
            <a:off x="11125200" y="6496050"/>
            <a:ext cx="476250" cy="171450"/>
          </a:xfrm>
          <a:prstGeom prst="rect">
            <a:avLst/>
          </a:prstGeom>
          <a:noFill/>
          <a:ln w="0">
            <a:noFill/>
            <a:prstDash val="solid"/>
          </a:ln>
        </p:spPr>
        <p:txBody>
          <a:bodyPr wrap="square" lIns="28575" tIns="19050" rIns="28575" bIns="19050" anchor="ctr">
            <a:noAutofit/>
          </a:bodyPr>
          <a:lstStyle/>
          <a:p>
            <a:pPr algn="r">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15</a:t>
            </a:r>
          </a:p>
        </p:txBody>
      </p:sp>
      <p:sp>
        <p:nvSpPr>
          <p:cNvPr id="9" name="正方形/長方形 8">
            <a:extLst>
              <a:ext uri="{FF2B5EF4-FFF2-40B4-BE49-F238E27FC236}">
                <a16:creationId xmlns:a16="http://schemas.microsoft.com/office/drawing/2014/main" id="{B841A148-2D00-4ECA-A900-1BCB4A407B22}"/>
              </a:ext>
            </a:extLst>
          </p:cNvPr>
          <p:cNvSpPr>
            <a:spLocks noGrp="1"/>
          </p:cNvSpPr>
          <p:nvPr/>
        </p:nvSpPr>
        <p:spPr>
          <a:xfrm>
            <a:off x="552450" y="1438275"/>
            <a:ext cx="4191000" cy="2057400"/>
          </a:xfrm>
          <a:prstGeom prst="rect">
            <a:avLst/>
          </a:prstGeom>
          <a:solidFill>
            <a:srgbClr val="F8F8F8"/>
          </a:solidFill>
          <a:ln w="9525">
            <a:solidFill>
              <a:srgbClr val="D6D6D6"/>
            </a:solidFill>
            <a:prstDash val="solid"/>
          </a:ln>
        </p:spPr>
      </p:sp>
      <p:sp>
        <p:nvSpPr>
          <p:cNvPr id="10" name="四角形: 角を丸くする 9">
            <a:extLst>
              <a:ext uri="{FF2B5EF4-FFF2-40B4-BE49-F238E27FC236}">
                <a16:creationId xmlns:a16="http://schemas.microsoft.com/office/drawing/2014/main" id="{97161E99-59A6-41F6-B438-338373F6F9D0}"/>
              </a:ext>
            </a:extLst>
          </p:cNvPr>
          <p:cNvSpPr>
            <a:spLocks noGrp="1"/>
          </p:cNvSpPr>
          <p:nvPr/>
        </p:nvSpPr>
        <p:spPr>
          <a:xfrm>
            <a:off x="752475" y="1609725"/>
            <a:ext cx="1476375" cy="238125"/>
          </a:xfrm>
          <a:prstGeom prst="roundRect">
            <a:avLst>
              <a:gd name="adj" fmla="val 50000"/>
            </a:avLst>
          </a:prstGeom>
          <a:solidFill>
            <a:srgbClr val="EFE5F6"/>
          </a:solidFill>
          <a:ln w="9525">
            <a:solidFill>
              <a:srgbClr val="7B2DAF"/>
            </a:solidFill>
            <a:prstDash val="solid"/>
          </a:ln>
        </p:spPr>
      </p:sp>
      <p:sp>
        <p:nvSpPr>
          <p:cNvPr id="11" name="正方形/長方形 10">
            <a:extLst>
              <a:ext uri="{FF2B5EF4-FFF2-40B4-BE49-F238E27FC236}">
                <a16:creationId xmlns:a16="http://schemas.microsoft.com/office/drawing/2014/main" id="{7D64A469-9BB1-4333-816B-F1E3C01F0AE7}"/>
              </a:ext>
            </a:extLst>
          </p:cNvPr>
          <p:cNvSpPr>
            <a:spLocks noGrp="1"/>
          </p:cNvSpPr>
          <p:nvPr/>
        </p:nvSpPr>
        <p:spPr>
          <a:xfrm>
            <a:off x="800100" y="1619250"/>
            <a:ext cx="1381125" cy="209550"/>
          </a:xfrm>
          <a:prstGeom prst="rect">
            <a:avLst/>
          </a:prstGeom>
          <a:noFill/>
          <a:ln w="0">
            <a:noFill/>
            <a:prstDash val="solid"/>
          </a:ln>
        </p:spPr>
        <p:txBody>
          <a:bodyPr wrap="none" lIns="28575" tIns="19050" rIns="28575" bIns="19050" anchor="ctr">
            <a:noAutofit/>
          </a:bodyPr>
          <a:lstStyle/>
          <a:p>
            <a:pPr algn="ctr">
              <a:lnSpc>
                <a:spcPct val="100000"/>
              </a:lnSpc>
              <a:buNone/>
              <a:defRPr sz="788" b="1" i="0">
                <a:solidFill>
                  <a:srgbClr val="7B2DAF"/>
                </a:solidFill>
                <a:latin typeface="Yu Gothic"/>
                <a:ea typeface="Yu Gothic"/>
                <a:cs typeface="Yu Gothic"/>
              </a:defRPr>
            </a:pPr>
            <a:r>
              <a:rPr sz="788" b="1" i="0">
                <a:solidFill>
                  <a:srgbClr val="7B2DAF"/>
                </a:solidFill>
                <a:latin typeface="Yu Gothic"/>
                <a:ea typeface="Yu Gothic"/>
                <a:cs typeface="Yu Gothic"/>
              </a:rPr>
              <a:t>ROBUST OBJECTIVE</a:t>
            </a:r>
          </a:p>
        </p:txBody>
      </p:sp>
      <p:sp>
        <p:nvSpPr>
          <p:cNvPr id="12" name="正方形/長方形 11">
            <a:extLst>
              <a:ext uri="{FF2B5EF4-FFF2-40B4-BE49-F238E27FC236}">
                <a16:creationId xmlns:a16="http://schemas.microsoft.com/office/drawing/2014/main" id="{13997472-BAD1-4AA6-9BC7-3C22E68F060E}"/>
              </a:ext>
            </a:extLst>
          </p:cNvPr>
          <p:cNvSpPr>
            <a:spLocks noGrp="1"/>
          </p:cNvSpPr>
          <p:nvPr/>
        </p:nvSpPr>
        <p:spPr>
          <a:xfrm>
            <a:off x="781050" y="2047875"/>
            <a:ext cx="3733800" cy="400050"/>
          </a:xfrm>
          <a:prstGeom prst="rect">
            <a:avLst/>
          </a:prstGeom>
          <a:noFill/>
          <a:ln w="0">
            <a:noFill/>
            <a:prstDash val="solid"/>
          </a:ln>
        </p:spPr>
        <p:txBody>
          <a:bodyPr wrap="square" lIns="28575" tIns="19050" rIns="28575" bIns="19050" anchor="ctr">
            <a:normAutofit/>
          </a:bodyPr>
          <a:lstStyle/>
          <a:p>
            <a:pPr algn="ctr">
              <a:lnSpc>
                <a:spcPct val="100000"/>
              </a:lnSpc>
              <a:buNone/>
              <a:defRPr sz="1650" b="1" i="0">
                <a:solidFill>
                  <a:srgbClr val="3F3F3F"/>
                </a:solidFill>
                <a:latin typeface="Cambria Math"/>
                <a:ea typeface="Cambria Math"/>
                <a:cs typeface="Cambria Math"/>
              </a:defRPr>
            </a:pPr>
            <a:r>
              <a:rPr sz="1650" b="1" i="0">
                <a:solidFill>
                  <a:srgbClr val="3F3F3F"/>
                </a:solidFill>
                <a:latin typeface="Cambria Math"/>
                <a:ea typeface="Cambria Math"/>
                <a:cs typeface="Cambria Math"/>
              </a:rPr>
              <a:t>minθ  ΣₛΣₖ mₛₖ ρδ(yₛₖ − ŷₛₖ(θ))</a:t>
            </a:r>
          </a:p>
        </p:txBody>
      </p:sp>
      <p:sp>
        <p:nvSpPr>
          <p:cNvPr id="13" name="正方形/長方形 12">
            <a:extLst>
              <a:ext uri="{FF2B5EF4-FFF2-40B4-BE49-F238E27FC236}">
                <a16:creationId xmlns:a16="http://schemas.microsoft.com/office/drawing/2014/main" id="{2D74459A-AC1D-4C21-A6DB-C66FD9B22D19}"/>
              </a:ext>
            </a:extLst>
          </p:cNvPr>
          <p:cNvSpPr>
            <a:spLocks noGrp="1"/>
          </p:cNvSpPr>
          <p:nvPr/>
        </p:nvSpPr>
        <p:spPr>
          <a:xfrm>
            <a:off x="781050" y="2466975"/>
            <a:ext cx="3733800" cy="352425"/>
          </a:xfrm>
          <a:prstGeom prst="rect">
            <a:avLst/>
          </a:prstGeom>
          <a:noFill/>
          <a:ln w="0">
            <a:noFill/>
            <a:prstDash val="solid"/>
          </a:ln>
        </p:spPr>
        <p:txBody>
          <a:bodyPr wrap="square" lIns="28575" tIns="19050" rIns="28575" bIns="19050" anchor="ctr">
            <a:normAutofit/>
          </a:bodyPr>
          <a:lstStyle/>
          <a:p>
            <a:pPr algn="ctr">
              <a:lnSpc>
                <a:spcPct val="100000"/>
              </a:lnSpc>
              <a:buNone/>
              <a:defRPr sz="1500" b="0" i="0">
                <a:solidFill>
                  <a:srgbClr val="3F3F3F"/>
                </a:solidFill>
                <a:latin typeface="Cambria Math"/>
                <a:ea typeface="Cambria Math"/>
                <a:cs typeface="Cambria Math"/>
              </a:defRPr>
            </a:pPr>
            <a:r>
              <a:rPr sz="1500" b="0" i="0">
                <a:solidFill>
                  <a:srgbClr val="3F3F3F"/>
                </a:solidFill>
                <a:latin typeface="Cambria Math"/>
                <a:ea typeface="Cambria Math"/>
                <a:cs typeface="Cambria Math"/>
              </a:rPr>
              <a:t>+ λp‖log(p/p₀)‖² + λx‖x₀−x̄₀‖²</a:t>
            </a:r>
          </a:p>
        </p:txBody>
      </p:sp>
      <p:sp>
        <p:nvSpPr>
          <p:cNvPr id="14" name="正方形/長方形 13">
            <a:extLst>
              <a:ext uri="{FF2B5EF4-FFF2-40B4-BE49-F238E27FC236}">
                <a16:creationId xmlns:a16="http://schemas.microsoft.com/office/drawing/2014/main" id="{860A00CE-4767-441A-8649-BD77273C8093}"/>
              </a:ext>
            </a:extLst>
          </p:cNvPr>
          <p:cNvSpPr>
            <a:spLocks noGrp="1"/>
          </p:cNvSpPr>
          <p:nvPr/>
        </p:nvSpPr>
        <p:spPr>
          <a:xfrm>
            <a:off x="781050" y="3028950"/>
            <a:ext cx="3733800" cy="238125"/>
          </a:xfrm>
          <a:prstGeom prst="rect">
            <a:avLst/>
          </a:prstGeom>
          <a:noFill/>
          <a:ln w="0">
            <a:noFill/>
            <a:prstDash val="solid"/>
          </a:ln>
        </p:spPr>
        <p:txBody>
          <a:bodyPr wrap="square" lIns="28575" tIns="19050" rIns="28575" bIns="19050" anchor="ctr">
            <a:normAutofit/>
          </a:bodyPr>
          <a:lstStyle/>
          <a:p>
            <a:pPr algn="ctr">
              <a:lnSpc>
                <a:spcPct val="100000"/>
              </a:lnSpc>
              <a:buNone/>
              <a:defRPr sz="863" b="1" i="0">
                <a:solidFill>
                  <a:srgbClr val="7B2DAF"/>
                </a:solidFill>
                <a:latin typeface="Yu Gothic"/>
                <a:ea typeface="Yu Gothic"/>
                <a:cs typeface="Yu Gothic"/>
              </a:defRPr>
            </a:pPr>
            <a:r>
              <a:rPr sz="863" b="1" i="0">
                <a:solidFill>
                  <a:srgbClr val="7B2DAF"/>
                </a:solidFill>
                <a:latin typeface="Yu Gothic"/>
                <a:ea typeface="Yu Gothic"/>
                <a:cs typeface="Yu Gothic"/>
              </a:rPr>
              <a:t>p = p₀ exp(ℓ) &gt; 0  /  Huber loss  /  mask-aware</a:t>
            </a:r>
          </a:p>
        </p:txBody>
      </p:sp>
      <p:sp>
        <p:nvSpPr>
          <p:cNvPr id="15" name="正方形/長方形 14">
            <a:extLst>
              <a:ext uri="{FF2B5EF4-FFF2-40B4-BE49-F238E27FC236}">
                <a16:creationId xmlns:a16="http://schemas.microsoft.com/office/drawing/2014/main" id="{101BB34A-1471-4516-8C8D-EBE39FDE9BA6}"/>
              </a:ext>
            </a:extLst>
          </p:cNvPr>
          <p:cNvSpPr>
            <a:spLocks noGrp="1"/>
          </p:cNvSpPr>
          <p:nvPr/>
        </p:nvSpPr>
        <p:spPr>
          <a:xfrm>
            <a:off x="4953000" y="1438275"/>
            <a:ext cx="6686550" cy="2057400"/>
          </a:xfrm>
          <a:prstGeom prst="rect">
            <a:avLst/>
          </a:prstGeom>
          <a:solidFill>
            <a:srgbClr val="FFFFFF"/>
          </a:solidFill>
          <a:ln w="9525">
            <a:solidFill>
              <a:srgbClr val="D6D6D6"/>
            </a:solidFill>
            <a:prstDash val="solid"/>
          </a:ln>
        </p:spPr>
      </p:sp>
      <p:sp>
        <p:nvSpPr>
          <p:cNvPr id="16" name="正方形/長方形 15">
            <a:extLst>
              <a:ext uri="{FF2B5EF4-FFF2-40B4-BE49-F238E27FC236}">
                <a16:creationId xmlns:a16="http://schemas.microsoft.com/office/drawing/2014/main" id="{4F342310-AFDA-4DB7-B33B-06BDA8E6BF6F}"/>
              </a:ext>
            </a:extLst>
          </p:cNvPr>
          <p:cNvSpPr>
            <a:spLocks noGrp="1"/>
          </p:cNvSpPr>
          <p:nvPr/>
        </p:nvSpPr>
        <p:spPr>
          <a:xfrm>
            <a:off x="5143500" y="1609725"/>
            <a:ext cx="2047875" cy="257175"/>
          </a:xfrm>
          <a:prstGeom prst="rect">
            <a:avLst/>
          </a:prstGeom>
          <a:noFill/>
          <a:ln w="0">
            <a:noFill/>
            <a:prstDash val="solid"/>
          </a:ln>
        </p:spPr>
        <p:txBody>
          <a:bodyPr wrap="square" lIns="28575" tIns="19050" rIns="28575" bIns="19050" anchor="ctr">
            <a:normAutofit/>
          </a:bodyPr>
          <a:lstStyle/>
          <a:p>
            <a:pPr algn="l">
              <a:lnSpc>
                <a:spcPct val="100000"/>
              </a:lnSpc>
              <a:buNone/>
              <a:defRPr sz="1275" b="1" i="0">
                <a:solidFill>
                  <a:srgbClr val="3F3F3F"/>
                </a:solidFill>
                <a:latin typeface="Yu Gothic"/>
                <a:ea typeface="Yu Gothic"/>
                <a:cs typeface="Yu Gothic"/>
              </a:defRPr>
            </a:pPr>
            <a:r>
              <a:rPr sz="1275" b="1" i="0">
                <a:solidFill>
                  <a:srgbClr val="3F3F3F"/>
                </a:solidFill>
                <a:latin typeface="Yu Gothic"/>
                <a:ea typeface="Yu Gothic"/>
                <a:cs typeface="Yu Gothic"/>
              </a:rPr>
              <a:t>同定成立の判定</a:t>
            </a:r>
          </a:p>
        </p:txBody>
      </p:sp>
      <p:sp>
        <p:nvSpPr>
          <p:cNvPr id="17" name="正方形/長方形 16">
            <a:extLst>
              <a:ext uri="{FF2B5EF4-FFF2-40B4-BE49-F238E27FC236}">
                <a16:creationId xmlns:a16="http://schemas.microsoft.com/office/drawing/2014/main" id="{69EFADC0-6AD7-4681-86BB-82DECEB2A3C1}"/>
              </a:ext>
            </a:extLst>
          </p:cNvPr>
          <p:cNvSpPr>
            <a:spLocks noGrp="1"/>
          </p:cNvSpPr>
          <p:nvPr/>
        </p:nvSpPr>
        <p:spPr>
          <a:xfrm>
            <a:off x="5143500" y="1971675"/>
            <a:ext cx="1009650" cy="238125"/>
          </a:xfrm>
          <a:prstGeom prst="rect">
            <a:avLst/>
          </a:prstGeom>
          <a:noFill/>
          <a:ln w="0">
            <a:noFill/>
            <a:prstDash val="solid"/>
          </a:ln>
        </p:spPr>
        <p:txBody>
          <a:bodyPr wrap="square" lIns="28575" tIns="19050" rIns="28575" bIns="19050" anchor="ctr">
            <a:normAutofit/>
          </a:bodyPr>
          <a:lstStyle/>
          <a:p>
            <a:pPr algn="l">
              <a:lnSpc>
                <a:spcPct val="100000"/>
              </a:lnSpc>
              <a:buNone/>
              <a:defRPr sz="938" b="1" i="0">
                <a:solidFill>
                  <a:srgbClr val="007FA8"/>
                </a:solidFill>
                <a:latin typeface="Yu Gothic"/>
                <a:ea typeface="Yu Gothic"/>
                <a:cs typeface="Yu Gothic"/>
              </a:defRPr>
            </a:pPr>
            <a:r>
              <a:rPr sz="938" b="1" i="0">
                <a:solidFill>
                  <a:srgbClr val="007FA8"/>
                </a:solidFill>
                <a:latin typeface="Yu Gothic"/>
                <a:ea typeface="Yu Gothic"/>
                <a:cs typeface="Yu Gothic"/>
              </a:rPr>
              <a:t>感度rank</a:t>
            </a:r>
          </a:p>
        </p:txBody>
      </p:sp>
      <p:sp>
        <p:nvSpPr>
          <p:cNvPr id="18" name="正方形/長方形 17">
            <a:extLst>
              <a:ext uri="{FF2B5EF4-FFF2-40B4-BE49-F238E27FC236}">
                <a16:creationId xmlns:a16="http://schemas.microsoft.com/office/drawing/2014/main" id="{ADC2A59A-49BC-4C83-84E7-9171CD533544}"/>
              </a:ext>
            </a:extLst>
          </p:cNvPr>
          <p:cNvSpPr>
            <a:spLocks noGrp="1"/>
          </p:cNvSpPr>
          <p:nvPr/>
        </p:nvSpPr>
        <p:spPr>
          <a:xfrm>
            <a:off x="6191250" y="1971675"/>
            <a:ext cx="2190750" cy="238125"/>
          </a:xfrm>
          <a:prstGeom prst="rect">
            <a:avLst/>
          </a:prstGeom>
          <a:noFill/>
          <a:ln w="0">
            <a:noFill/>
            <a:prstDash val="solid"/>
          </a:ln>
        </p:spPr>
        <p:txBody>
          <a:bodyPr wrap="square" lIns="28575" tIns="19050" rIns="28575" bIns="19050" anchor="ctr">
            <a:normAutofit/>
          </a:bodyPr>
          <a:lstStyle/>
          <a:p>
            <a:pPr algn="l">
              <a:lnSpc>
                <a:spcPct val="100000"/>
              </a:lnSpc>
              <a:buNone/>
              <a:defRPr sz="863" b="0" i="0">
                <a:solidFill>
                  <a:srgbClr val="5B5B5B"/>
                </a:solidFill>
                <a:latin typeface="Yu Gothic"/>
                <a:ea typeface="Yu Gothic"/>
                <a:cs typeface="Yu Gothic"/>
              </a:defRPr>
            </a:pPr>
            <a:r>
              <a:rPr sz="863" b="0" i="0">
                <a:solidFill>
                  <a:srgbClr val="5B5B5B"/>
                </a:solidFill>
                <a:latin typeface="Yu Gothic"/>
                <a:ea typeface="Yu Gothic"/>
                <a:cs typeface="Yu Gothic"/>
              </a:rPr>
              <a:t>J = ∂ŷ/∂log p の特異値</a:t>
            </a:r>
          </a:p>
        </p:txBody>
      </p:sp>
      <p:sp>
        <p:nvSpPr>
          <p:cNvPr id="19" name="正方形/長方形 18">
            <a:extLst>
              <a:ext uri="{FF2B5EF4-FFF2-40B4-BE49-F238E27FC236}">
                <a16:creationId xmlns:a16="http://schemas.microsoft.com/office/drawing/2014/main" id="{1B12774E-CB61-4290-AFF1-BFC6B055AB33}"/>
              </a:ext>
            </a:extLst>
          </p:cNvPr>
          <p:cNvSpPr>
            <a:spLocks noGrp="1"/>
          </p:cNvSpPr>
          <p:nvPr/>
        </p:nvSpPr>
        <p:spPr>
          <a:xfrm>
            <a:off x="8477250" y="1971675"/>
            <a:ext cx="2952750" cy="238125"/>
          </a:xfrm>
          <a:prstGeom prst="rect">
            <a:avLst/>
          </a:prstGeom>
          <a:noFill/>
          <a:ln w="0">
            <a:noFill/>
            <a:prstDash val="solid"/>
          </a:ln>
        </p:spPr>
        <p:txBody>
          <a:bodyPr wrap="square" lIns="28575" tIns="19050" rIns="28575" bIns="19050" anchor="ctr">
            <a:normAutofit/>
          </a:bodyPr>
          <a:lstStyle/>
          <a:p>
            <a:pPr algn="l">
              <a:lnSpc>
                <a:spcPct val="100000"/>
              </a:lnSpc>
              <a:buNone/>
              <a:defRPr sz="863" b="0" i="0">
                <a:solidFill>
                  <a:srgbClr val="5B5B5B"/>
                </a:solidFill>
                <a:latin typeface="Yu Gothic"/>
                <a:ea typeface="Yu Gothic"/>
                <a:cs typeface="Yu Gothic"/>
              </a:defRPr>
            </a:pPr>
            <a:r>
              <a:rPr sz="863" b="0" i="0">
                <a:solidFill>
                  <a:srgbClr val="5B5B5B"/>
                </a:solidFill>
                <a:latin typeface="Yu Gothic"/>
                <a:ea typeface="Yu Gothic"/>
                <a:cs typeface="Yu Gothic"/>
              </a:rPr>
              <a:t>小特異値 → parameter統合/固定</a:t>
            </a:r>
          </a:p>
        </p:txBody>
      </p:sp>
      <p:sp>
        <p:nvSpPr>
          <p:cNvPr id="20" name="正方形/長方形 19">
            <a:extLst>
              <a:ext uri="{FF2B5EF4-FFF2-40B4-BE49-F238E27FC236}">
                <a16:creationId xmlns:a16="http://schemas.microsoft.com/office/drawing/2014/main" id="{81E0B98F-8A2F-4DC4-8325-36D4C0D3B0AC}"/>
              </a:ext>
            </a:extLst>
          </p:cNvPr>
          <p:cNvSpPr>
            <a:spLocks noGrp="1"/>
          </p:cNvSpPr>
          <p:nvPr/>
        </p:nvSpPr>
        <p:spPr>
          <a:xfrm>
            <a:off x="5143500" y="2324100"/>
            <a:ext cx="1009650" cy="238125"/>
          </a:xfrm>
          <a:prstGeom prst="rect">
            <a:avLst/>
          </a:prstGeom>
          <a:noFill/>
          <a:ln w="0">
            <a:noFill/>
            <a:prstDash val="solid"/>
          </a:ln>
        </p:spPr>
        <p:txBody>
          <a:bodyPr wrap="square" lIns="28575" tIns="19050" rIns="28575" bIns="19050" anchor="ctr">
            <a:normAutofit/>
          </a:bodyPr>
          <a:lstStyle/>
          <a:p>
            <a:pPr algn="l">
              <a:lnSpc>
                <a:spcPct val="100000"/>
              </a:lnSpc>
              <a:buNone/>
              <a:defRPr sz="938" b="1" i="0">
                <a:solidFill>
                  <a:srgbClr val="007FA8"/>
                </a:solidFill>
                <a:latin typeface="Yu Gothic"/>
                <a:ea typeface="Yu Gothic"/>
                <a:cs typeface="Yu Gothic"/>
              </a:defRPr>
            </a:pPr>
            <a:r>
              <a:rPr sz="938" b="1" i="0">
                <a:solidFill>
                  <a:srgbClr val="007FA8"/>
                </a:solidFill>
                <a:latin typeface="Yu Gothic"/>
                <a:ea typeface="Yu Gothic"/>
                <a:cs typeface="Yu Gothic"/>
              </a:rPr>
              <a:t>profile</a:t>
            </a:r>
          </a:p>
        </p:txBody>
      </p:sp>
      <p:sp>
        <p:nvSpPr>
          <p:cNvPr id="21" name="正方形/長方形 20">
            <a:extLst>
              <a:ext uri="{FF2B5EF4-FFF2-40B4-BE49-F238E27FC236}">
                <a16:creationId xmlns:a16="http://schemas.microsoft.com/office/drawing/2014/main" id="{577C69AB-302F-4B71-90C5-203FC9017C5E}"/>
              </a:ext>
            </a:extLst>
          </p:cNvPr>
          <p:cNvSpPr>
            <a:spLocks noGrp="1"/>
          </p:cNvSpPr>
          <p:nvPr/>
        </p:nvSpPr>
        <p:spPr>
          <a:xfrm>
            <a:off x="6191250" y="2324100"/>
            <a:ext cx="2190750" cy="238125"/>
          </a:xfrm>
          <a:prstGeom prst="rect">
            <a:avLst/>
          </a:prstGeom>
          <a:noFill/>
          <a:ln w="0">
            <a:noFill/>
            <a:prstDash val="solid"/>
          </a:ln>
        </p:spPr>
        <p:txBody>
          <a:bodyPr wrap="square" lIns="28575" tIns="19050" rIns="28575" bIns="19050" anchor="ctr">
            <a:normAutofit/>
          </a:bodyPr>
          <a:lstStyle/>
          <a:p>
            <a:pPr algn="l">
              <a:lnSpc>
                <a:spcPct val="100000"/>
              </a:lnSpc>
              <a:buNone/>
              <a:defRPr sz="863" b="0" i="0">
                <a:solidFill>
                  <a:srgbClr val="5B5B5B"/>
                </a:solidFill>
                <a:latin typeface="Yu Gothic"/>
                <a:ea typeface="Yu Gothic"/>
                <a:cs typeface="Yu Gothic"/>
              </a:defRPr>
            </a:pPr>
            <a:r>
              <a:rPr sz="863" b="0" i="0">
                <a:solidFill>
                  <a:srgbClr val="5B5B5B"/>
                </a:solidFill>
                <a:latin typeface="Yu Gothic"/>
                <a:ea typeface="Yu Gothic"/>
                <a:cs typeface="Yu Gothic"/>
              </a:rPr>
              <a:t>1係数を走査して再最適化</a:t>
            </a:r>
          </a:p>
        </p:txBody>
      </p:sp>
      <p:sp>
        <p:nvSpPr>
          <p:cNvPr id="22" name="正方形/長方形 21">
            <a:extLst>
              <a:ext uri="{FF2B5EF4-FFF2-40B4-BE49-F238E27FC236}">
                <a16:creationId xmlns:a16="http://schemas.microsoft.com/office/drawing/2014/main" id="{EDD97053-3084-49EB-83AA-081E916274C4}"/>
              </a:ext>
            </a:extLst>
          </p:cNvPr>
          <p:cNvSpPr>
            <a:spLocks noGrp="1"/>
          </p:cNvSpPr>
          <p:nvPr/>
        </p:nvSpPr>
        <p:spPr>
          <a:xfrm>
            <a:off x="8477250" y="2324100"/>
            <a:ext cx="2952750" cy="238125"/>
          </a:xfrm>
          <a:prstGeom prst="rect">
            <a:avLst/>
          </a:prstGeom>
          <a:noFill/>
          <a:ln w="0">
            <a:noFill/>
            <a:prstDash val="solid"/>
          </a:ln>
        </p:spPr>
        <p:txBody>
          <a:bodyPr wrap="square" lIns="28575" tIns="19050" rIns="28575" bIns="19050" anchor="ctr">
            <a:normAutofit/>
          </a:bodyPr>
          <a:lstStyle/>
          <a:p>
            <a:pPr algn="l">
              <a:lnSpc>
                <a:spcPct val="100000"/>
              </a:lnSpc>
              <a:buNone/>
              <a:defRPr sz="863" b="0" i="0">
                <a:solidFill>
                  <a:srgbClr val="5B5B5B"/>
                </a:solidFill>
                <a:latin typeface="Yu Gothic"/>
                <a:ea typeface="Yu Gothic"/>
                <a:cs typeface="Yu Gothic"/>
              </a:defRPr>
            </a:pPr>
            <a:r>
              <a:rPr sz="863" b="0" i="0">
                <a:solidFill>
                  <a:srgbClr val="5B5B5B"/>
                </a:solidFill>
                <a:latin typeface="Yu Gothic"/>
                <a:ea typeface="Yu Gothic"/>
                <a:cs typeface="Yu Gothic"/>
              </a:rPr>
              <a:t>平坦 → 信頼区間を主張しない</a:t>
            </a:r>
          </a:p>
        </p:txBody>
      </p:sp>
      <p:sp>
        <p:nvSpPr>
          <p:cNvPr id="23" name="正方形/長方形 22">
            <a:extLst>
              <a:ext uri="{FF2B5EF4-FFF2-40B4-BE49-F238E27FC236}">
                <a16:creationId xmlns:a16="http://schemas.microsoft.com/office/drawing/2014/main" id="{BA34CA06-2E3D-4A85-B54C-815A956C5244}"/>
              </a:ext>
            </a:extLst>
          </p:cNvPr>
          <p:cNvSpPr>
            <a:spLocks noGrp="1"/>
          </p:cNvSpPr>
          <p:nvPr/>
        </p:nvSpPr>
        <p:spPr>
          <a:xfrm>
            <a:off x="5143500" y="2676525"/>
            <a:ext cx="1009650" cy="238125"/>
          </a:xfrm>
          <a:prstGeom prst="rect">
            <a:avLst/>
          </a:prstGeom>
          <a:noFill/>
          <a:ln w="0">
            <a:noFill/>
            <a:prstDash val="solid"/>
          </a:ln>
        </p:spPr>
        <p:txBody>
          <a:bodyPr wrap="square" lIns="28575" tIns="19050" rIns="28575" bIns="19050" anchor="ctr">
            <a:normAutofit/>
          </a:bodyPr>
          <a:lstStyle/>
          <a:p>
            <a:pPr algn="l">
              <a:lnSpc>
                <a:spcPct val="100000"/>
              </a:lnSpc>
              <a:buNone/>
              <a:defRPr sz="938" b="1" i="0">
                <a:solidFill>
                  <a:srgbClr val="007FA8"/>
                </a:solidFill>
                <a:latin typeface="Yu Gothic"/>
                <a:ea typeface="Yu Gothic"/>
                <a:cs typeface="Yu Gothic"/>
              </a:defRPr>
            </a:pPr>
            <a:r>
              <a:rPr sz="938" b="1" i="0">
                <a:solidFill>
                  <a:srgbClr val="007FA8"/>
                </a:solidFill>
                <a:latin typeface="Yu Gothic"/>
                <a:ea typeface="Yu Gothic"/>
                <a:cs typeface="Yu Gothic"/>
              </a:rPr>
              <a:t>seed安定性</a:t>
            </a:r>
          </a:p>
        </p:txBody>
      </p:sp>
      <p:sp>
        <p:nvSpPr>
          <p:cNvPr id="24" name="正方形/長方形 23">
            <a:extLst>
              <a:ext uri="{FF2B5EF4-FFF2-40B4-BE49-F238E27FC236}">
                <a16:creationId xmlns:a16="http://schemas.microsoft.com/office/drawing/2014/main" id="{B596E398-A28A-4A3E-88E7-9F04BAB221E2}"/>
              </a:ext>
            </a:extLst>
          </p:cNvPr>
          <p:cNvSpPr>
            <a:spLocks noGrp="1"/>
          </p:cNvSpPr>
          <p:nvPr/>
        </p:nvSpPr>
        <p:spPr>
          <a:xfrm>
            <a:off x="6191250" y="2676525"/>
            <a:ext cx="2190750" cy="238125"/>
          </a:xfrm>
          <a:prstGeom prst="rect">
            <a:avLst/>
          </a:prstGeom>
          <a:noFill/>
          <a:ln w="0">
            <a:noFill/>
            <a:prstDash val="solid"/>
          </a:ln>
        </p:spPr>
        <p:txBody>
          <a:bodyPr wrap="square" lIns="28575" tIns="19050" rIns="28575" bIns="19050" anchor="ctr">
            <a:normAutofit/>
          </a:bodyPr>
          <a:lstStyle/>
          <a:p>
            <a:pPr algn="l">
              <a:lnSpc>
                <a:spcPct val="100000"/>
              </a:lnSpc>
              <a:buNone/>
              <a:defRPr sz="863" b="0" i="0">
                <a:solidFill>
                  <a:srgbClr val="5B5B5B"/>
                </a:solidFill>
                <a:latin typeface="Yu Gothic"/>
                <a:ea typeface="Yu Gothic"/>
                <a:cs typeface="Yu Gothic"/>
              </a:defRPr>
            </a:pPr>
            <a:r>
              <a:rPr sz="863" b="0" i="0">
                <a:solidFill>
                  <a:srgbClr val="5B5B5B"/>
                </a:solidFill>
                <a:latin typeface="Yu Gothic"/>
                <a:ea typeface="Yu Gothic"/>
                <a:cs typeface="Yu Gothic"/>
              </a:rPr>
              <a:t>複数初期値・再学習</a:t>
            </a:r>
          </a:p>
        </p:txBody>
      </p:sp>
      <p:sp>
        <p:nvSpPr>
          <p:cNvPr id="25" name="正方形/長方形 24">
            <a:extLst>
              <a:ext uri="{FF2B5EF4-FFF2-40B4-BE49-F238E27FC236}">
                <a16:creationId xmlns:a16="http://schemas.microsoft.com/office/drawing/2014/main" id="{50DC8317-B647-4CCB-A207-A1502358FF92}"/>
              </a:ext>
            </a:extLst>
          </p:cNvPr>
          <p:cNvSpPr>
            <a:spLocks noGrp="1"/>
          </p:cNvSpPr>
          <p:nvPr/>
        </p:nvSpPr>
        <p:spPr>
          <a:xfrm>
            <a:off x="8477250" y="2676525"/>
            <a:ext cx="2952750" cy="238125"/>
          </a:xfrm>
          <a:prstGeom prst="rect">
            <a:avLst/>
          </a:prstGeom>
          <a:noFill/>
          <a:ln w="0">
            <a:noFill/>
            <a:prstDash val="solid"/>
          </a:ln>
        </p:spPr>
        <p:txBody>
          <a:bodyPr wrap="square" lIns="28575" tIns="19050" rIns="28575" bIns="19050" anchor="ctr">
            <a:normAutofit/>
          </a:bodyPr>
          <a:lstStyle/>
          <a:p>
            <a:pPr algn="l">
              <a:lnSpc>
                <a:spcPct val="100000"/>
              </a:lnSpc>
              <a:buNone/>
              <a:defRPr sz="863" b="0" i="0">
                <a:solidFill>
                  <a:srgbClr val="5B5B5B"/>
                </a:solidFill>
                <a:latin typeface="Yu Gothic"/>
                <a:ea typeface="Yu Gothic"/>
                <a:cs typeface="Yu Gothic"/>
              </a:defRPr>
            </a:pPr>
            <a:r>
              <a:rPr sz="863" b="0" i="0">
                <a:solidFill>
                  <a:srgbClr val="5B5B5B"/>
                </a:solidFill>
                <a:latin typeface="Yu Gothic"/>
                <a:ea typeface="Yu Gothic"/>
                <a:cs typeface="Yu Gothic"/>
              </a:rPr>
              <a:t>同一RMSEで係数が分岐 → 非一意</a:t>
            </a:r>
          </a:p>
        </p:txBody>
      </p:sp>
      <p:sp>
        <p:nvSpPr>
          <p:cNvPr id="26" name="正方形/長方形 25">
            <a:extLst>
              <a:ext uri="{FF2B5EF4-FFF2-40B4-BE49-F238E27FC236}">
                <a16:creationId xmlns:a16="http://schemas.microsoft.com/office/drawing/2014/main" id="{84BD96E1-3C49-40CF-87D1-546460E6FC84}"/>
              </a:ext>
            </a:extLst>
          </p:cNvPr>
          <p:cNvSpPr>
            <a:spLocks noGrp="1"/>
          </p:cNvSpPr>
          <p:nvPr/>
        </p:nvSpPr>
        <p:spPr>
          <a:xfrm>
            <a:off x="5143500" y="3028950"/>
            <a:ext cx="1009650" cy="238125"/>
          </a:xfrm>
          <a:prstGeom prst="rect">
            <a:avLst/>
          </a:prstGeom>
          <a:noFill/>
          <a:ln w="0">
            <a:noFill/>
            <a:prstDash val="solid"/>
          </a:ln>
        </p:spPr>
        <p:txBody>
          <a:bodyPr wrap="square" lIns="28575" tIns="19050" rIns="28575" bIns="19050" anchor="ctr">
            <a:normAutofit/>
          </a:bodyPr>
          <a:lstStyle/>
          <a:p>
            <a:pPr algn="l">
              <a:lnSpc>
                <a:spcPct val="100000"/>
              </a:lnSpc>
              <a:buNone/>
              <a:defRPr sz="938" b="1" i="0">
                <a:solidFill>
                  <a:srgbClr val="007FA8"/>
                </a:solidFill>
                <a:latin typeface="Yu Gothic"/>
                <a:ea typeface="Yu Gothic"/>
                <a:cs typeface="Yu Gothic"/>
              </a:defRPr>
            </a:pPr>
            <a:r>
              <a:rPr sz="938" b="1" i="0">
                <a:solidFill>
                  <a:srgbClr val="007FA8"/>
                </a:solidFill>
                <a:latin typeface="Yu Gothic"/>
                <a:ea typeface="Yu Gothic"/>
                <a:cs typeface="Yu Gothic"/>
              </a:rPr>
              <a:t>時間holdout</a:t>
            </a:r>
          </a:p>
        </p:txBody>
      </p:sp>
      <p:sp>
        <p:nvSpPr>
          <p:cNvPr id="27" name="正方形/長方形 26">
            <a:extLst>
              <a:ext uri="{FF2B5EF4-FFF2-40B4-BE49-F238E27FC236}">
                <a16:creationId xmlns:a16="http://schemas.microsoft.com/office/drawing/2014/main" id="{753E913D-E2B6-4547-B14D-481DBA0F4652}"/>
              </a:ext>
            </a:extLst>
          </p:cNvPr>
          <p:cNvSpPr>
            <a:spLocks noGrp="1"/>
          </p:cNvSpPr>
          <p:nvPr/>
        </p:nvSpPr>
        <p:spPr>
          <a:xfrm>
            <a:off x="6191250" y="3028950"/>
            <a:ext cx="2190750" cy="238125"/>
          </a:xfrm>
          <a:prstGeom prst="rect">
            <a:avLst/>
          </a:prstGeom>
          <a:noFill/>
          <a:ln w="0">
            <a:noFill/>
            <a:prstDash val="solid"/>
          </a:ln>
        </p:spPr>
        <p:txBody>
          <a:bodyPr wrap="square" lIns="28575" tIns="19050" rIns="28575" bIns="19050" anchor="ctr">
            <a:normAutofit/>
          </a:bodyPr>
          <a:lstStyle/>
          <a:p>
            <a:pPr algn="l">
              <a:lnSpc>
                <a:spcPct val="100000"/>
              </a:lnSpc>
              <a:buNone/>
              <a:defRPr sz="863" b="0" i="0">
                <a:solidFill>
                  <a:srgbClr val="5B5B5B"/>
                </a:solidFill>
                <a:latin typeface="Yu Gothic"/>
                <a:ea typeface="Yu Gothic"/>
                <a:cs typeface="Yu Gothic"/>
              </a:defRPr>
            </a:pPr>
            <a:r>
              <a:rPr sz="863" b="0" i="0">
                <a:solidFill>
                  <a:srgbClr val="5B5B5B"/>
                </a:solidFill>
                <a:latin typeface="Yu Gothic"/>
                <a:ea typeface="Yu Gothic"/>
                <a:cs typeface="Yu Gothic"/>
              </a:rPr>
              <a:t>将来suffix・別recipe</a:t>
            </a:r>
          </a:p>
        </p:txBody>
      </p:sp>
      <p:sp>
        <p:nvSpPr>
          <p:cNvPr id="28" name="正方形/長方形 27">
            <a:extLst>
              <a:ext uri="{FF2B5EF4-FFF2-40B4-BE49-F238E27FC236}">
                <a16:creationId xmlns:a16="http://schemas.microsoft.com/office/drawing/2014/main" id="{F23CA054-44F5-4267-AD13-28DCA8E0EBEE}"/>
              </a:ext>
            </a:extLst>
          </p:cNvPr>
          <p:cNvSpPr>
            <a:spLocks noGrp="1"/>
          </p:cNvSpPr>
          <p:nvPr/>
        </p:nvSpPr>
        <p:spPr>
          <a:xfrm>
            <a:off x="8477250" y="3028950"/>
            <a:ext cx="2952750" cy="238125"/>
          </a:xfrm>
          <a:prstGeom prst="rect">
            <a:avLst/>
          </a:prstGeom>
          <a:noFill/>
          <a:ln w="0">
            <a:noFill/>
            <a:prstDash val="solid"/>
          </a:ln>
        </p:spPr>
        <p:txBody>
          <a:bodyPr wrap="square" lIns="28575" tIns="19050" rIns="28575" bIns="19050" anchor="ctr">
            <a:normAutofit/>
          </a:bodyPr>
          <a:lstStyle/>
          <a:p>
            <a:pPr algn="l">
              <a:lnSpc>
                <a:spcPct val="100000"/>
              </a:lnSpc>
              <a:buNone/>
              <a:defRPr sz="863" b="0" i="0">
                <a:solidFill>
                  <a:srgbClr val="5B5B5B"/>
                </a:solidFill>
                <a:latin typeface="Yu Gothic"/>
                <a:ea typeface="Yu Gothic"/>
                <a:cs typeface="Yu Gothic"/>
              </a:defRPr>
            </a:pPr>
            <a:r>
              <a:rPr sz="863" b="0" i="0">
                <a:solidFill>
                  <a:srgbClr val="5B5B5B"/>
                </a:solidFill>
                <a:latin typeface="Yu Gothic"/>
                <a:ea typeface="Yu Gothic"/>
                <a:cs typeface="Yu Gothic"/>
              </a:rPr>
              <a:t>同一trajectory内補間と分離</a:t>
            </a:r>
          </a:p>
        </p:txBody>
      </p:sp>
      <p:graphicFrame>
        <p:nvGraphicFramePr>
          <p:cNvPr id="60" name="表 59"/>
          <p:cNvGraphicFramePr/>
          <p:nvPr/>
        </p:nvGraphicFramePr>
        <p:xfrm>
          <a:off x="552450" y="3762375"/>
          <a:ext cx="11087100" cy="1971675"/>
        </p:xfrm>
        <a:graphic>
          <a:graphicData uri="http://schemas.openxmlformats.org/drawingml/2006/table">
            <a:tbl>
              <a:tblPr/>
              <a:tblGrid>
                <a:gridCol w="200025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gridCol w="2667000">
                  <a:extLst>
                    <a:ext uri="{9D8B030D-6E8A-4147-A177-3AD203B41FA5}">
                      <a16:colId xmlns:a16="http://schemas.microsoft.com/office/drawing/2014/main" val="20002"/>
                    </a:ext>
                  </a:extLst>
                </a:gridCol>
                <a:gridCol w="3371850">
                  <a:extLst>
                    <a:ext uri="{9D8B030D-6E8A-4147-A177-3AD203B41FA5}">
                      <a16:colId xmlns:a16="http://schemas.microsoft.com/office/drawing/2014/main" val="20003"/>
                    </a:ext>
                  </a:extLst>
                </a:gridCol>
              </a:tblGrid>
              <a:tr h="394335">
                <a:tc>
                  <a:txBody>
                    <a:bodyPr/>
                    <a:lstStyle/>
                    <a:p>
                      <a:r>
                        <a:rPr sz="938" b="1">
                          <a:solidFill>
                            <a:srgbClr val="FFFFFF"/>
                          </a:solidFill>
                          <a:latin typeface="Yu Gothic"/>
                          <a:ea typeface="Yu Gothic"/>
                          <a:cs typeface="Yu Gothic"/>
                        </a:rPr>
                        <a:t>対象係数</a:t>
                      </a:r>
                    </a:p>
                  </a:txBody>
                  <a:tcPr>
                    <a:solidFill>
                      <a:srgbClr val="00A5D8"/>
                    </a:solidFill>
                  </a:tcPr>
                </a:tc>
                <a:tc>
                  <a:txBody>
                    <a:bodyPr/>
                    <a:lstStyle/>
                    <a:p>
                      <a:r>
                        <a:rPr sz="938" b="1">
                          <a:solidFill>
                            <a:srgbClr val="FFFFFF"/>
                          </a:solidFill>
                          <a:latin typeface="Yu Gothic"/>
                          <a:ea typeface="Yu Gothic"/>
                          <a:cs typeface="Yu Gothic"/>
                        </a:rPr>
                        <a:t>必要な励振</a:t>
                      </a:r>
                    </a:p>
                  </a:txBody>
                  <a:tcPr>
                    <a:solidFill>
                      <a:srgbClr val="00A5D8"/>
                    </a:solidFill>
                  </a:tcPr>
                </a:tc>
                <a:tc>
                  <a:txBody>
                    <a:bodyPr/>
                    <a:lstStyle/>
                    <a:p>
                      <a:r>
                        <a:rPr sz="938" b="1">
                          <a:solidFill>
                            <a:srgbClr val="FFFFFF"/>
                          </a:solidFill>
                          <a:latin typeface="Yu Gothic"/>
                          <a:ea typeface="Yu Gothic"/>
                          <a:cs typeface="Yu Gothic"/>
                        </a:rPr>
                        <a:t>観測signature</a:t>
                      </a:r>
                    </a:p>
                  </a:txBody>
                  <a:tcPr>
                    <a:solidFill>
                      <a:srgbClr val="00A5D8"/>
                    </a:solidFill>
                  </a:tcPr>
                </a:tc>
                <a:tc>
                  <a:txBody>
                    <a:bodyPr/>
                    <a:lstStyle/>
                    <a:p>
                      <a:r>
                        <a:rPr sz="938" b="1">
                          <a:solidFill>
                            <a:srgbClr val="FFFFFF"/>
                          </a:solidFill>
                          <a:latin typeface="Yu Gothic"/>
                          <a:ea typeface="Yu Gothic"/>
                          <a:cs typeface="Yu Gothic"/>
                        </a:rPr>
                        <a:t>主なconfounder</a:t>
                      </a:r>
                    </a:p>
                  </a:txBody>
                  <a:tcPr>
                    <a:solidFill>
                      <a:srgbClr val="00A5D8"/>
                    </a:solidFill>
                  </a:tcPr>
                </a:tc>
                <a:extLst>
                  <a:ext uri="{0D108BD9-81ED-4DB2-BD59-A6C34878D82A}">
                    <a16:rowId xmlns:a16="http://schemas.microsoft.com/office/drawing/2014/main" val="10000"/>
                  </a:ext>
                </a:extLst>
              </a:tr>
              <a:tr h="394335">
                <a:tc>
                  <a:txBody>
                    <a:bodyPr/>
                    <a:lstStyle/>
                    <a:p>
                      <a:r>
                        <a:rPr sz="900" b="1">
                          <a:solidFill>
                            <a:srgbClr val="007FA8"/>
                          </a:solidFill>
                          <a:latin typeface="Yu Gothic"/>
                          <a:ea typeface="Yu Gothic"/>
                          <a:cs typeface="Yu Gothic"/>
                        </a:rPr>
                        <a:t>G chip–base</a:t>
                      </a:r>
                    </a:p>
                  </a:txBody>
                  <a:tcPr>
                    <a:solidFill>
                      <a:srgbClr val="FFFFFF"/>
                    </a:solidFill>
                  </a:tcPr>
                </a:tc>
                <a:tc>
                  <a:txBody>
                    <a:bodyPr/>
                    <a:lstStyle/>
                    <a:p>
                      <a:r>
                        <a:rPr sz="900">
                          <a:solidFill>
                            <a:srgbClr val="5B5B5B"/>
                          </a:solidFill>
                          <a:latin typeface="Yu Gothic"/>
                          <a:ea typeface="Yu Gothic"/>
                          <a:cs typeface="Yu Gothic"/>
                        </a:rPr>
                        <a:t>短いpower step / edge</a:t>
                      </a:r>
                    </a:p>
                  </a:txBody>
                  <a:tcPr>
                    <a:solidFill>
                      <a:srgbClr val="FFFFFF"/>
                    </a:solidFill>
                  </a:tcPr>
                </a:tc>
                <a:tc>
                  <a:txBody>
                    <a:bodyPr/>
                    <a:lstStyle/>
                    <a:p>
                      <a:r>
                        <a:rPr sz="900">
                          <a:solidFill>
                            <a:srgbClr val="5B5B5B"/>
                          </a:solidFill>
                          <a:latin typeface="Yu Gothic"/>
                          <a:ea typeface="Yu Gothic"/>
                          <a:cs typeface="Yu Gothic"/>
                        </a:rPr>
                        <a:t>chip–base位相差</a:t>
                      </a:r>
                    </a:p>
                  </a:txBody>
                  <a:tcPr>
                    <a:solidFill>
                      <a:srgbClr val="FFFFFF"/>
                    </a:solidFill>
                  </a:tcPr>
                </a:tc>
                <a:tc>
                  <a:txBody>
                    <a:bodyPr/>
                    <a:lstStyle/>
                    <a:p>
                      <a:r>
                        <a:rPr sz="900">
                          <a:solidFill>
                            <a:srgbClr val="5B5B5B"/>
                          </a:solidFill>
                          <a:latin typeface="Yu Gothic"/>
                          <a:ea typeface="Yu Gothic"/>
                          <a:cs typeface="Yu Gothic"/>
                        </a:rPr>
                        <a:t>sensor応答、時刻ずれ</a:t>
                      </a:r>
                    </a:p>
                  </a:txBody>
                  <a:tcPr>
                    <a:solidFill>
                      <a:srgbClr val="FFFFFF"/>
                    </a:solidFill>
                  </a:tcPr>
                </a:tc>
                <a:extLst>
                  <a:ext uri="{0D108BD9-81ED-4DB2-BD59-A6C34878D82A}">
                    <a16:rowId xmlns:a16="http://schemas.microsoft.com/office/drawing/2014/main" val="10001"/>
                  </a:ext>
                </a:extLst>
              </a:tr>
              <a:tr h="394335">
                <a:tc>
                  <a:txBody>
                    <a:bodyPr/>
                    <a:lstStyle/>
                    <a:p>
                      <a:r>
                        <a:rPr sz="900" b="1">
                          <a:solidFill>
                            <a:srgbClr val="007FA8"/>
                          </a:solidFill>
                          <a:latin typeface="Yu Gothic"/>
                          <a:ea typeface="Yu Gothic"/>
                          <a:cs typeface="Yu Gothic"/>
                        </a:rPr>
                        <a:t>G base–fins</a:t>
                      </a:r>
                    </a:p>
                  </a:txBody>
                  <a:tcPr>
                    <a:solidFill>
                      <a:srgbClr val="F8F8F8"/>
                    </a:solidFill>
                  </a:tcPr>
                </a:tc>
                <a:tc>
                  <a:txBody>
                    <a:bodyPr/>
                    <a:lstStyle/>
                    <a:p>
                      <a:r>
                        <a:rPr sz="900">
                          <a:solidFill>
                            <a:srgbClr val="5B5B5B"/>
                          </a:solidFill>
                          <a:latin typeface="Yu Gothic"/>
                          <a:ea typeface="Yu Gothic"/>
                          <a:cs typeface="Yu Gothic"/>
                        </a:rPr>
                        <a:t>中時間pulse / cooldown</a:t>
                      </a:r>
                    </a:p>
                  </a:txBody>
                  <a:tcPr>
                    <a:solidFill>
                      <a:srgbClr val="F8F8F8"/>
                    </a:solidFill>
                  </a:tcPr>
                </a:tc>
                <a:tc>
                  <a:txBody>
                    <a:bodyPr/>
                    <a:lstStyle/>
                    <a:p>
                      <a:r>
                        <a:rPr sz="900">
                          <a:solidFill>
                            <a:srgbClr val="5B5B5B"/>
                          </a:solidFill>
                          <a:latin typeface="Yu Gothic"/>
                          <a:ea typeface="Yu Gothic"/>
                          <a:cs typeface="Yu Gothic"/>
                        </a:rPr>
                        <a:t>base–fins減衰</a:t>
                      </a:r>
                    </a:p>
                  </a:txBody>
                  <a:tcPr>
                    <a:solidFill>
                      <a:srgbClr val="F8F8F8"/>
                    </a:solidFill>
                  </a:tcPr>
                </a:tc>
                <a:tc>
                  <a:txBody>
                    <a:bodyPr/>
                    <a:lstStyle/>
                    <a:p>
                      <a:r>
                        <a:rPr sz="900">
                          <a:solidFill>
                            <a:srgbClr val="5B5B5B"/>
                          </a:solidFill>
                          <a:latin typeface="Yu Gothic"/>
                          <a:ea typeface="Yu Gothic"/>
                          <a:cs typeface="Yu Gothic"/>
                        </a:rPr>
                        <a:t>G₁との相関</a:t>
                      </a:r>
                    </a:p>
                  </a:txBody>
                  <a:tcPr>
                    <a:solidFill>
                      <a:srgbClr val="F8F8F8"/>
                    </a:solidFill>
                  </a:tcPr>
                </a:tc>
                <a:extLst>
                  <a:ext uri="{0D108BD9-81ED-4DB2-BD59-A6C34878D82A}">
                    <a16:rowId xmlns:a16="http://schemas.microsoft.com/office/drawing/2014/main" val="10002"/>
                  </a:ext>
                </a:extLst>
              </a:tr>
              <a:tr h="394335">
                <a:tc>
                  <a:txBody>
                    <a:bodyPr/>
                    <a:lstStyle/>
                    <a:p>
                      <a:r>
                        <a:rPr sz="900" b="1">
                          <a:solidFill>
                            <a:srgbClr val="007FA8"/>
                          </a:solidFill>
                          <a:latin typeface="Yu Gothic"/>
                          <a:ea typeface="Yu Gothic"/>
                          <a:cs typeface="Yu Gothic"/>
                        </a:rPr>
                        <a:t>hA coolant</a:t>
                      </a:r>
                    </a:p>
                  </a:txBody>
                  <a:tcPr>
                    <a:solidFill>
                      <a:srgbClr val="FFFFFF"/>
                    </a:solidFill>
                  </a:tcPr>
                </a:tc>
                <a:tc>
                  <a:txBody>
                    <a:bodyPr/>
                    <a:lstStyle/>
                    <a:p>
                      <a:r>
                        <a:rPr sz="900">
                          <a:solidFill>
                            <a:srgbClr val="5B5B5B"/>
                          </a:solidFill>
                          <a:latin typeface="Yu Gothic"/>
                          <a:ea typeface="Yu Gothic"/>
                          <a:cs typeface="Yu Gothic"/>
                        </a:rPr>
                        <a:t>長時間hold / coolant sweep</a:t>
                      </a:r>
                    </a:p>
                  </a:txBody>
                  <a:tcPr>
                    <a:solidFill>
                      <a:srgbClr val="FFFFFF"/>
                    </a:solidFill>
                  </a:tcPr>
                </a:tc>
                <a:tc>
                  <a:txBody>
                    <a:bodyPr/>
                    <a:lstStyle/>
                    <a:p>
                      <a:r>
                        <a:rPr sz="900">
                          <a:solidFill>
                            <a:srgbClr val="5B5B5B"/>
                          </a:solidFill>
                          <a:latin typeface="Yu Gothic"/>
                          <a:ea typeface="Yu Gothic"/>
                          <a:cs typeface="Yu Gothic"/>
                        </a:rPr>
                        <a:t>定常gain・global τ</a:t>
                      </a:r>
                    </a:p>
                  </a:txBody>
                  <a:tcPr>
                    <a:solidFill>
                      <a:srgbClr val="FFFFFF"/>
                    </a:solidFill>
                  </a:tcPr>
                </a:tc>
                <a:tc>
                  <a:txBody>
                    <a:bodyPr/>
                    <a:lstStyle/>
                    <a:p>
                      <a:r>
                        <a:rPr sz="900">
                          <a:solidFill>
                            <a:srgbClr val="5B5B5B"/>
                          </a:solidFill>
                          <a:latin typeface="Yu Gothic"/>
                          <a:ea typeface="Yu Gothic"/>
                          <a:cs typeface="Yu Gothic"/>
                        </a:rPr>
                        <a:t>初期温度、ambient drift</a:t>
                      </a:r>
                    </a:p>
                  </a:txBody>
                  <a:tcPr>
                    <a:solidFill>
                      <a:srgbClr val="FFFFFF"/>
                    </a:solidFill>
                  </a:tcPr>
                </a:tc>
                <a:extLst>
                  <a:ext uri="{0D108BD9-81ED-4DB2-BD59-A6C34878D82A}">
                    <a16:rowId xmlns:a16="http://schemas.microsoft.com/office/drawing/2014/main" val="10003"/>
                  </a:ext>
                </a:extLst>
              </a:tr>
              <a:tr h="394335">
                <a:tc>
                  <a:txBody>
                    <a:bodyPr/>
                    <a:lstStyle/>
                    <a:p>
                      <a:r>
                        <a:rPr sz="900" b="1">
                          <a:solidFill>
                            <a:srgbClr val="777777"/>
                          </a:solidFill>
                          <a:latin typeface="Yu Gothic"/>
                          <a:ea typeface="Yu Gothic"/>
                          <a:cs typeface="Yu Gothic"/>
                        </a:rPr>
                        <a:t>C（将来拡張）</a:t>
                      </a:r>
                    </a:p>
                  </a:txBody>
                  <a:tcPr>
                    <a:solidFill>
                      <a:srgbClr val="F8F8F8"/>
                    </a:solidFill>
                  </a:tcPr>
                </a:tc>
                <a:tc>
                  <a:txBody>
                    <a:bodyPr/>
                    <a:lstStyle/>
                    <a:p>
                      <a:r>
                        <a:rPr sz="900">
                          <a:solidFill>
                            <a:srgbClr val="5B5B5B"/>
                          </a:solidFill>
                          <a:latin typeface="Yu Gothic"/>
                          <a:ea typeface="Yu Gothic"/>
                          <a:cs typeface="Yu Gothic"/>
                        </a:rPr>
                        <a:t>複数pulse幅</a:t>
                      </a:r>
                    </a:p>
                  </a:txBody>
                  <a:tcPr>
                    <a:solidFill>
                      <a:srgbClr val="F8F8F8"/>
                    </a:solidFill>
                  </a:tcPr>
                </a:tc>
                <a:tc>
                  <a:txBody>
                    <a:bodyPr/>
                    <a:lstStyle/>
                    <a:p>
                      <a:r>
                        <a:rPr sz="900">
                          <a:solidFill>
                            <a:srgbClr val="5B5B5B"/>
                          </a:solidFill>
                          <a:latin typeface="Yu Gothic"/>
                          <a:ea typeface="Yu Gothic"/>
                          <a:cs typeface="Yu Gothic"/>
                        </a:rPr>
                        <a:t>立上り速度</a:t>
                      </a:r>
                    </a:p>
                  </a:txBody>
                  <a:tcPr>
                    <a:solidFill>
                      <a:srgbClr val="F8F8F8"/>
                    </a:solidFill>
                  </a:tcPr>
                </a:tc>
                <a:tc>
                  <a:txBody>
                    <a:bodyPr/>
                    <a:lstStyle/>
                    <a:p>
                      <a:r>
                        <a:rPr sz="900">
                          <a:solidFill>
                            <a:srgbClr val="5B5B5B"/>
                          </a:solidFill>
                          <a:latin typeface="Yu Gothic"/>
                          <a:ea typeface="Yu Gothic"/>
                          <a:cs typeface="Yu Gothic"/>
                        </a:rPr>
                        <a:t>Gとのscale同定性</a:t>
                      </a:r>
                    </a:p>
                  </a:txBody>
                  <a:tcPr>
                    <a:solidFill>
                      <a:srgbClr val="F8F8F8"/>
                    </a:solidFill>
                  </a:tcPr>
                </a:tc>
                <a:extLst>
                  <a:ext uri="{0D108BD9-81ED-4DB2-BD59-A6C34878D82A}">
                    <a16:rowId xmlns:a16="http://schemas.microsoft.com/office/drawing/2014/main" val="10004"/>
                  </a:ext>
                </a:extLst>
              </a:tr>
            </a:tbl>
          </a:graphicData>
        </a:graphic>
      </p:graphicFrame>
      <p:sp>
        <p:nvSpPr>
          <p:cNvPr id="30" name="正方形/長方形 29">
            <a:extLst>
              <a:ext uri="{FF2B5EF4-FFF2-40B4-BE49-F238E27FC236}">
                <a16:creationId xmlns:a16="http://schemas.microsoft.com/office/drawing/2014/main" id="{8CE71E76-0234-474E-ADC1-82ABC307BFE6}"/>
              </a:ext>
            </a:extLst>
          </p:cNvPr>
          <p:cNvSpPr>
            <a:spLocks noGrp="1"/>
          </p:cNvSpPr>
          <p:nvPr/>
        </p:nvSpPr>
        <p:spPr>
          <a:xfrm>
            <a:off x="552450" y="5895975"/>
            <a:ext cx="11087100" cy="352425"/>
          </a:xfrm>
          <a:prstGeom prst="rect">
            <a:avLst/>
          </a:prstGeom>
          <a:solidFill>
            <a:srgbClr val="EEF7DF"/>
          </a:solidFill>
          <a:ln w="9525">
            <a:solidFill>
              <a:srgbClr val="76BE18"/>
            </a:solidFill>
            <a:prstDash val="solid"/>
          </a:ln>
        </p:spPr>
      </p:sp>
      <p:sp>
        <p:nvSpPr>
          <p:cNvPr id="31" name="正方形/長方形 30">
            <a:extLst>
              <a:ext uri="{FF2B5EF4-FFF2-40B4-BE49-F238E27FC236}">
                <a16:creationId xmlns:a16="http://schemas.microsoft.com/office/drawing/2014/main" id="{0F978A9B-46BD-4EB1-BA81-B9B179A8EA22}"/>
              </a:ext>
            </a:extLst>
          </p:cNvPr>
          <p:cNvSpPr>
            <a:spLocks noGrp="1"/>
          </p:cNvSpPr>
          <p:nvPr/>
        </p:nvSpPr>
        <p:spPr>
          <a:xfrm>
            <a:off x="695325" y="5953125"/>
            <a:ext cx="10801350" cy="219075"/>
          </a:xfrm>
          <a:prstGeom prst="rect">
            <a:avLst/>
          </a:prstGeom>
          <a:noFill/>
          <a:ln w="0">
            <a:noFill/>
            <a:prstDash val="solid"/>
          </a:ln>
        </p:spPr>
        <p:txBody>
          <a:bodyPr wrap="square" lIns="28575" tIns="19050" rIns="28575" bIns="19050" anchor="ctr">
            <a:normAutofit/>
          </a:bodyPr>
          <a:lstStyle/>
          <a:p>
            <a:pPr algn="ctr">
              <a:lnSpc>
                <a:spcPct val="100000"/>
              </a:lnSpc>
              <a:buNone/>
              <a:defRPr sz="938" b="1" i="0">
                <a:solidFill>
                  <a:srgbClr val="4D8710"/>
                </a:solidFill>
                <a:latin typeface="Yu Gothic"/>
                <a:ea typeface="Yu Gothic"/>
                <a:cs typeface="Yu Gothic"/>
              </a:defRPr>
            </a:pPr>
            <a:r>
              <a:rPr sz="938" b="1" i="0">
                <a:solidFill>
                  <a:srgbClr val="4D8710"/>
                </a:solidFill>
                <a:latin typeface="Yu Gothic"/>
                <a:ea typeface="Yu Gothic"/>
                <a:cs typeface="Yu Gothic"/>
              </a:rPr>
              <a:t>装置DOEの原則：短・中・長の時間尺度を分離して励振し、coolantとheaterを同時に動かし過ぎない。</a:t>
            </a:r>
          </a:p>
        </p:txBody>
      </p:sp>
    </p:spTree>
    <p:extLst>
      <p:ext uri="{BB962C8B-B14F-4D97-AF65-F5344CB8AC3E}">
        <p14:creationId xmlns:p14="http://schemas.microsoft.com/office/powerpoint/2010/main" val="10409154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正方形/長方形 15">
            <a:extLst>
              <a:ext uri="{FF2B5EF4-FFF2-40B4-BE49-F238E27FC236}">
                <a16:creationId xmlns:a16="http://schemas.microsoft.com/office/drawing/2014/main" id="{BADBC3C0-00D2-4AFB-B411-5F3B90F0E47D}"/>
              </a:ext>
            </a:extLst>
          </p:cNvPr>
          <p:cNvSpPr>
            <a:spLocks noGrp="1"/>
          </p:cNvSpPr>
          <p:nvPr/>
        </p:nvSpPr>
        <p:spPr>
          <a:xfrm>
            <a:off x="552450" y="190500"/>
            <a:ext cx="76200" cy="142875"/>
          </a:xfrm>
          <a:prstGeom prst="rect">
            <a:avLst/>
          </a:prstGeom>
          <a:solidFill>
            <a:srgbClr val="76BE18"/>
          </a:solidFill>
          <a:ln w="0">
            <a:noFill/>
            <a:prstDash val="solid"/>
          </a:ln>
        </p:spPr>
      </p:sp>
      <p:sp>
        <p:nvSpPr>
          <p:cNvPr id="2" name="正方形/長方形 1">
            <a:extLst>
              <a:ext uri="{FF2B5EF4-FFF2-40B4-BE49-F238E27FC236}">
                <a16:creationId xmlns:a16="http://schemas.microsoft.com/office/drawing/2014/main" id="{8DAE6E65-663F-41D3-BA8D-916F79ADB4EF}"/>
              </a:ext>
            </a:extLst>
          </p:cNvPr>
          <p:cNvSpPr>
            <a:spLocks noGrp="1"/>
          </p:cNvSpPr>
          <p:nvPr/>
        </p:nvSpPr>
        <p:spPr>
          <a:xfrm>
            <a:off x="704850" y="161925"/>
            <a:ext cx="3429000" cy="190500"/>
          </a:xfrm>
          <a:prstGeom prst="rect">
            <a:avLst/>
          </a:prstGeom>
          <a:noFill/>
          <a:ln w="0">
            <a:noFill/>
            <a:prstDash val="solid"/>
          </a:ln>
        </p:spPr>
        <p:txBody>
          <a:bodyPr wrap="none" lIns="28575" tIns="19050" rIns="28575" bIns="19050" anchor="ctr">
            <a:noAutofit/>
          </a:bodyPr>
          <a:lstStyle/>
          <a:p>
            <a:pPr algn="l">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LEARNING &amp; ESTIMATION</a:t>
            </a:r>
          </a:p>
        </p:txBody>
      </p:sp>
      <p:sp>
        <p:nvSpPr>
          <p:cNvPr id="3" name="正方形/長方形 2">
            <a:extLst>
              <a:ext uri="{FF2B5EF4-FFF2-40B4-BE49-F238E27FC236}">
                <a16:creationId xmlns:a16="http://schemas.microsoft.com/office/drawing/2014/main" id="{CECAF2C0-A4C1-44E2-B0B0-56910876E928}"/>
              </a:ext>
            </a:extLst>
          </p:cNvPr>
          <p:cNvSpPr>
            <a:spLocks noGrp="1"/>
          </p:cNvSpPr>
          <p:nvPr/>
        </p:nvSpPr>
        <p:spPr>
          <a:xfrm>
            <a:off x="552450" y="400050"/>
            <a:ext cx="11001375" cy="400050"/>
          </a:xfrm>
          <a:prstGeom prst="rect">
            <a:avLst/>
          </a:prstGeom>
          <a:noFill/>
          <a:ln w="0">
            <a:noFill/>
            <a:prstDash val="solid"/>
          </a:ln>
        </p:spPr>
        <p:txBody>
          <a:bodyPr wrap="none" lIns="19050" tIns="0" rIns="19050" bIns="0" anchor="ctr">
            <a:normAutofit fontScale="97388"/>
          </a:bodyPr>
          <a:lstStyle/>
          <a:p>
            <a:pPr algn="l">
              <a:lnSpc>
                <a:spcPct val="100000"/>
              </a:lnSpc>
              <a:buNone/>
              <a:defRPr sz="2175" b="1" i="0">
                <a:solidFill>
                  <a:srgbClr val="00A5D8"/>
                </a:solidFill>
                <a:latin typeface="Yu Gothic"/>
                <a:ea typeface="Yu Gothic"/>
                <a:cs typeface="Yu Gothic"/>
              </a:defRPr>
            </a:pPr>
            <a:r>
              <a:rPr sz="2175" b="1" i="0">
                <a:solidFill>
                  <a:srgbClr val="00A5D8"/>
                </a:solidFill>
                <a:latin typeface="Yu Gothic"/>
                <a:ea typeface="Yu Gothic"/>
                <a:cs typeface="Yu Gothic"/>
              </a:rPr>
              <a:t>本コードはblack-box予測器ではなく、微分可能な物理modelと因果推定器を組み合わせる</a:t>
            </a:r>
          </a:p>
        </p:txBody>
      </p:sp>
      <p:sp>
        <p:nvSpPr>
          <p:cNvPr id="4" name="正方形/長方形 3">
            <a:extLst>
              <a:ext uri="{FF2B5EF4-FFF2-40B4-BE49-F238E27FC236}">
                <a16:creationId xmlns:a16="http://schemas.microsoft.com/office/drawing/2014/main" id="{A557134A-DA47-4D7B-B194-A5C78CC88215}"/>
              </a:ext>
            </a:extLst>
          </p:cNvPr>
          <p:cNvSpPr>
            <a:spLocks noGrp="1"/>
          </p:cNvSpPr>
          <p:nvPr/>
        </p:nvSpPr>
        <p:spPr>
          <a:xfrm>
            <a:off x="571500" y="838200"/>
            <a:ext cx="10906125" cy="228600"/>
          </a:xfrm>
          <a:prstGeom prst="rect">
            <a:avLst/>
          </a:prstGeom>
          <a:noFill/>
          <a:ln w="0">
            <a:noFill/>
            <a:prstDash val="solid"/>
          </a:ln>
        </p:spPr>
        <p:txBody>
          <a:bodyPr wrap="none" lIns="28575" tIns="19050" rIns="28575" bIns="19050" anchor="ctr">
            <a:noAutofit/>
          </a:bodyPr>
          <a:lstStyle/>
          <a:p>
            <a:pPr algn="l">
              <a:lnSpc>
                <a:spcPct val="100000"/>
              </a:lnSpc>
              <a:buNone/>
              <a:defRPr sz="975" b="0" i="0">
                <a:solidFill>
                  <a:srgbClr val="5B5B5B"/>
                </a:solidFill>
                <a:latin typeface="Yu Gothic"/>
                <a:ea typeface="Yu Gothic"/>
                <a:cs typeface="Yu Gothic"/>
              </a:defRPr>
            </a:pPr>
            <a:r>
              <a:rPr sz="975" b="0" i="0">
                <a:solidFill>
                  <a:srgbClr val="5B5B5B"/>
                </a:solidFill>
                <a:latin typeface="Yu Gothic"/>
                <a:ea typeface="Yu Gothic"/>
                <a:cs typeface="Yu Gothic"/>
              </a:rPr>
              <a:t>学習対象、状態推定、診断ruleを分けることで、誤差の由来と再学習条件を追跡できる</a:t>
            </a:r>
          </a:p>
        </p:txBody>
      </p:sp>
      <p:sp>
        <p:nvSpPr>
          <p:cNvPr id="5" name="直線コネクタ 4">
            <a:extLst>
              <a:ext uri="{FF2B5EF4-FFF2-40B4-BE49-F238E27FC236}">
                <a16:creationId xmlns:a16="http://schemas.microsoft.com/office/drawing/2014/main" id="{9CFE225F-E451-4DC7-B384-85431866D4FC}"/>
              </a:ext>
            </a:extLst>
          </p:cNvPr>
          <p:cNvSpPr>
            <a:spLocks noGrp="1"/>
          </p:cNvSpPr>
          <p:nvPr/>
        </p:nvSpPr>
        <p:spPr>
          <a:xfrm>
            <a:off x="552450" y="1152525"/>
            <a:ext cx="11087100" cy="0"/>
          </a:xfrm>
          <a:prstGeom prst="line">
            <a:avLst/>
          </a:prstGeom>
          <a:noFill/>
          <a:ln w="9525">
            <a:solidFill>
              <a:srgbClr val="D6D6D6"/>
            </a:solidFill>
            <a:prstDash val="solid"/>
          </a:ln>
        </p:spPr>
      </p:sp>
      <p:sp>
        <p:nvSpPr>
          <p:cNvPr id="6" name="直線コネクタ 5">
            <a:extLst>
              <a:ext uri="{FF2B5EF4-FFF2-40B4-BE49-F238E27FC236}">
                <a16:creationId xmlns:a16="http://schemas.microsoft.com/office/drawing/2014/main" id="{1CE3F477-7F40-4483-BDD6-D6E01A5B4015}"/>
              </a:ext>
            </a:extLst>
          </p:cNvPr>
          <p:cNvSpPr>
            <a:spLocks noGrp="1"/>
          </p:cNvSpPr>
          <p:nvPr/>
        </p:nvSpPr>
        <p:spPr>
          <a:xfrm>
            <a:off x="552450" y="6438900"/>
            <a:ext cx="11087100" cy="0"/>
          </a:xfrm>
          <a:prstGeom prst="line">
            <a:avLst/>
          </a:prstGeom>
          <a:noFill/>
          <a:ln w="9525">
            <a:solidFill>
              <a:srgbClr val="D6D6D6"/>
            </a:solidFill>
            <a:prstDash val="solid"/>
          </a:ln>
        </p:spPr>
      </p:sp>
      <p:sp>
        <p:nvSpPr>
          <p:cNvPr id="7" name="正方形/長方形 6">
            <a:extLst>
              <a:ext uri="{FF2B5EF4-FFF2-40B4-BE49-F238E27FC236}">
                <a16:creationId xmlns:a16="http://schemas.microsoft.com/office/drawing/2014/main" id="{E185D76B-E339-406A-A163-46EF21ED4D1C}"/>
              </a:ext>
            </a:extLst>
          </p:cNvPr>
          <p:cNvSpPr>
            <a:spLocks noGrp="1"/>
          </p:cNvSpPr>
          <p:nvPr/>
        </p:nvSpPr>
        <p:spPr>
          <a:xfrm>
            <a:off x="571500" y="6505575"/>
            <a:ext cx="5334000" cy="171450"/>
          </a:xfrm>
          <a:prstGeom prst="rect">
            <a:avLst/>
          </a:prstGeom>
          <a:noFill/>
          <a:ln w="0">
            <a:noFill/>
            <a:prstDash val="solid"/>
          </a:ln>
        </p:spPr>
        <p:txBody>
          <a:bodyPr wrap="none" lIns="28575" tIns="19050" rIns="28575" bIns="19050" anchor="ctr">
            <a:noAutofit/>
          </a:bodyPr>
          <a:lstStyle/>
          <a:p>
            <a:pPr algn="l">
              <a:lnSpc>
                <a:spcPct val="100000"/>
              </a:lnSpc>
              <a:buNone/>
              <a:defRPr sz="713" b="0" i="0">
                <a:solidFill>
                  <a:srgbClr val="777777"/>
                </a:solidFill>
                <a:latin typeface="Yu Gothic"/>
                <a:ea typeface="Yu Gothic"/>
                <a:cs typeface="Yu Gothic"/>
              </a:defRPr>
            </a:pPr>
            <a:r>
              <a:rPr sz="713" b="0" i="0">
                <a:solidFill>
                  <a:srgbClr val="777777"/>
                </a:solidFill>
                <a:latin typeface="Yu Gothic"/>
                <a:ea typeface="Yu Gothic"/>
                <a:cs typeface="Yu Gothic"/>
              </a:rPr>
              <a:t>THERMAL RC / EQUIPMENT ENGINEERING REVIEW  ·  2026-09-17</a:t>
            </a:r>
          </a:p>
        </p:txBody>
      </p:sp>
      <p:sp>
        <p:nvSpPr>
          <p:cNvPr id="8" name="正方形/長方形 7">
            <a:extLst>
              <a:ext uri="{FF2B5EF4-FFF2-40B4-BE49-F238E27FC236}">
                <a16:creationId xmlns:a16="http://schemas.microsoft.com/office/drawing/2014/main" id="{3200079F-BA75-498D-840C-2188F5234A42}"/>
              </a:ext>
            </a:extLst>
          </p:cNvPr>
          <p:cNvSpPr>
            <a:spLocks noGrp="1"/>
          </p:cNvSpPr>
          <p:nvPr/>
        </p:nvSpPr>
        <p:spPr>
          <a:xfrm>
            <a:off x="11125200" y="6496050"/>
            <a:ext cx="476250" cy="171450"/>
          </a:xfrm>
          <a:prstGeom prst="rect">
            <a:avLst/>
          </a:prstGeom>
          <a:noFill/>
          <a:ln w="0">
            <a:noFill/>
            <a:prstDash val="solid"/>
          </a:ln>
        </p:spPr>
        <p:txBody>
          <a:bodyPr wrap="square" lIns="28575" tIns="19050" rIns="28575" bIns="19050" anchor="ctr">
            <a:noAutofit/>
          </a:bodyPr>
          <a:lstStyle/>
          <a:p>
            <a:pPr algn="r">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16</a:t>
            </a:r>
          </a:p>
        </p:txBody>
      </p:sp>
      <p:graphicFrame>
        <p:nvGraphicFramePr>
          <p:cNvPr id="24" name="表 23"/>
          <p:cNvGraphicFramePr/>
          <p:nvPr/>
        </p:nvGraphicFramePr>
        <p:xfrm>
          <a:off x="552450" y="1457325"/>
          <a:ext cx="11087100" cy="3305175"/>
        </p:xfrm>
        <a:graphic>
          <a:graphicData uri="http://schemas.openxmlformats.org/drawingml/2006/table">
            <a:tbl>
              <a:tblPr/>
              <a:tblGrid>
                <a:gridCol w="1962150">
                  <a:extLst>
                    <a:ext uri="{9D8B030D-6E8A-4147-A177-3AD203B41FA5}">
                      <a16:colId xmlns:a16="http://schemas.microsoft.com/office/drawing/2014/main" val="20000"/>
                    </a:ext>
                  </a:extLst>
                </a:gridCol>
                <a:gridCol w="2238375">
                  <a:extLst>
                    <a:ext uri="{9D8B030D-6E8A-4147-A177-3AD203B41FA5}">
                      <a16:colId xmlns:a16="http://schemas.microsoft.com/office/drawing/2014/main" val="20001"/>
                    </a:ext>
                  </a:extLst>
                </a:gridCol>
                <a:gridCol w="2324100">
                  <a:extLst>
                    <a:ext uri="{9D8B030D-6E8A-4147-A177-3AD203B41FA5}">
                      <a16:colId xmlns:a16="http://schemas.microsoft.com/office/drawing/2014/main" val="20002"/>
                    </a:ext>
                  </a:extLst>
                </a:gridCol>
                <a:gridCol w="2647950">
                  <a:extLst>
                    <a:ext uri="{9D8B030D-6E8A-4147-A177-3AD203B41FA5}">
                      <a16:colId xmlns:a16="http://schemas.microsoft.com/office/drawing/2014/main" val="20003"/>
                    </a:ext>
                  </a:extLst>
                </a:gridCol>
                <a:gridCol w="1914525">
                  <a:extLst>
                    <a:ext uri="{9D8B030D-6E8A-4147-A177-3AD203B41FA5}">
                      <a16:colId xmlns:a16="http://schemas.microsoft.com/office/drawing/2014/main" val="20004"/>
                    </a:ext>
                  </a:extLst>
                </a:gridCol>
              </a:tblGrid>
              <a:tr h="550863">
                <a:tc>
                  <a:txBody>
                    <a:bodyPr/>
                    <a:lstStyle/>
                    <a:p>
                      <a:r>
                        <a:rPr sz="938" b="1">
                          <a:solidFill>
                            <a:srgbClr val="FFFFFF"/>
                          </a:solidFill>
                          <a:latin typeface="Yu Gothic"/>
                          <a:ea typeface="Yu Gothic"/>
                          <a:cs typeface="Yu Gothic"/>
                        </a:rPr>
                        <a:t>構成要素</a:t>
                      </a:r>
                    </a:p>
                  </a:txBody>
                  <a:tcPr>
                    <a:solidFill>
                      <a:srgbClr val="00A5D8"/>
                    </a:solidFill>
                  </a:tcPr>
                </a:tc>
                <a:tc>
                  <a:txBody>
                    <a:bodyPr/>
                    <a:lstStyle/>
                    <a:p>
                      <a:r>
                        <a:rPr sz="938" b="1">
                          <a:solidFill>
                            <a:srgbClr val="FFFFFF"/>
                          </a:solidFill>
                          <a:latin typeface="Yu Gothic"/>
                          <a:ea typeface="Yu Gothic"/>
                          <a:cs typeface="Yu Gothic"/>
                        </a:rPr>
                        <a:t>model class</a:t>
                      </a:r>
                    </a:p>
                  </a:txBody>
                  <a:tcPr>
                    <a:solidFill>
                      <a:srgbClr val="00A5D8"/>
                    </a:solidFill>
                  </a:tcPr>
                </a:tc>
                <a:tc>
                  <a:txBody>
                    <a:bodyPr/>
                    <a:lstStyle/>
                    <a:p>
                      <a:r>
                        <a:rPr sz="938" b="1">
                          <a:solidFill>
                            <a:srgbClr val="FFFFFF"/>
                          </a:solidFill>
                          <a:latin typeface="Yu Gothic"/>
                          <a:ea typeface="Yu Gothic"/>
                          <a:cs typeface="Yu Gothic"/>
                        </a:rPr>
                        <a:t>更新される量</a:t>
                      </a:r>
                    </a:p>
                  </a:txBody>
                  <a:tcPr>
                    <a:solidFill>
                      <a:srgbClr val="00A5D8"/>
                    </a:solidFill>
                  </a:tcPr>
                </a:tc>
                <a:tc>
                  <a:txBody>
                    <a:bodyPr/>
                    <a:lstStyle/>
                    <a:p>
                      <a:r>
                        <a:rPr sz="938" b="1">
                          <a:solidFill>
                            <a:srgbClr val="FFFFFF"/>
                          </a:solidFill>
                          <a:latin typeface="Yu Gothic"/>
                          <a:ea typeface="Yu Gothic"/>
                          <a:cs typeface="Yu Gothic"/>
                        </a:rPr>
                        <a:t>学習 / 推定方法</a:t>
                      </a:r>
                    </a:p>
                  </a:txBody>
                  <a:tcPr>
                    <a:solidFill>
                      <a:srgbClr val="00A5D8"/>
                    </a:solidFill>
                  </a:tcPr>
                </a:tc>
                <a:tc>
                  <a:txBody>
                    <a:bodyPr/>
                    <a:lstStyle/>
                    <a:p>
                      <a:r>
                        <a:rPr sz="938" b="1">
                          <a:solidFill>
                            <a:srgbClr val="FFFFFF"/>
                          </a:solidFill>
                          <a:latin typeface="Yu Gothic"/>
                          <a:ea typeface="Yu Gothic"/>
                          <a:cs typeface="Yu Gothic"/>
                        </a:rPr>
                        <a:t>配備時の役割</a:t>
                      </a:r>
                    </a:p>
                  </a:txBody>
                  <a:tcPr>
                    <a:solidFill>
                      <a:srgbClr val="00A5D8"/>
                    </a:solidFill>
                  </a:tcPr>
                </a:tc>
                <a:extLst>
                  <a:ext uri="{0D108BD9-81ED-4DB2-BD59-A6C34878D82A}">
                    <a16:rowId xmlns:a16="http://schemas.microsoft.com/office/drawing/2014/main" val="10000"/>
                  </a:ext>
                </a:extLst>
              </a:tr>
              <a:tr h="550863">
                <a:tc>
                  <a:txBody>
                    <a:bodyPr/>
                    <a:lstStyle/>
                    <a:p>
                      <a:r>
                        <a:rPr sz="818" b="1">
                          <a:solidFill>
                            <a:srgbClr val="007FA8"/>
                          </a:solidFill>
                          <a:latin typeface="Yu Gothic"/>
                          <a:ea typeface="Yu Gothic"/>
                          <a:cs typeface="Yu Gothic"/>
                        </a:rPr>
                        <a:t>ThermalRCModel</a:t>
                      </a:r>
                    </a:p>
                  </a:txBody>
                  <a:tcPr>
                    <a:solidFill>
                      <a:srgbClr val="FFFFFF"/>
                    </a:solidFill>
                  </a:tcPr>
                </a:tc>
                <a:tc>
                  <a:txBody>
                    <a:bodyPr/>
                    <a:lstStyle/>
                    <a:p>
                      <a:r>
                        <a:rPr sz="818">
                          <a:solidFill>
                            <a:srgbClr val="5B5B5B"/>
                          </a:solidFill>
                          <a:latin typeface="Yu Gothic"/>
                          <a:ea typeface="Yu Gothic"/>
                          <a:cs typeface="Yu Gothic"/>
                        </a:rPr>
                        <a:t>物理制約付きstate-space</a:t>
                      </a:r>
                    </a:p>
                  </a:txBody>
                  <a:tcPr>
                    <a:solidFill>
                      <a:srgbClr val="FFFFFF"/>
                    </a:solidFill>
                  </a:tcPr>
                </a:tc>
                <a:tc>
                  <a:txBody>
                    <a:bodyPr/>
                    <a:lstStyle/>
                    <a:p>
                      <a:r>
                        <a:rPr sz="818">
                          <a:solidFill>
                            <a:srgbClr val="5B5B5B"/>
                          </a:solidFill>
                          <a:latin typeface="Yu Gothic"/>
                          <a:ea typeface="Yu Gothic"/>
                          <a:cs typeface="Yu Gothic"/>
                        </a:rPr>
                        <a:t>G・q・τのlog倍率</a:t>
                      </a:r>
                    </a:p>
                  </a:txBody>
                  <a:tcPr>
                    <a:solidFill>
                      <a:srgbClr val="FFFFFF"/>
                    </a:solidFill>
                  </a:tcPr>
                </a:tc>
                <a:tc>
                  <a:txBody>
                    <a:bodyPr/>
                    <a:lstStyle/>
                    <a:p>
                      <a:r>
                        <a:rPr sz="818">
                          <a:solidFill>
                            <a:srgbClr val="5B5B5B"/>
                          </a:solidFill>
                          <a:latin typeface="Yu Gothic"/>
                          <a:ea typeface="Yu Gothic"/>
                          <a:cs typeface="Yu Gothic"/>
                        </a:rPr>
                        <a:t>軌道rollout + Huber + Adam</a:t>
                      </a:r>
                    </a:p>
                  </a:txBody>
                  <a:tcPr>
                    <a:solidFill>
                      <a:srgbClr val="FFFFFF"/>
                    </a:solidFill>
                  </a:tcPr>
                </a:tc>
                <a:tc>
                  <a:txBody>
                    <a:bodyPr/>
                    <a:lstStyle/>
                    <a:p>
                      <a:r>
                        <a:rPr sz="818">
                          <a:solidFill>
                            <a:srgbClr val="5B5B5B"/>
                          </a:solidFill>
                          <a:latin typeface="Yu Gothic"/>
                          <a:ea typeface="Yu Gothic"/>
                          <a:cs typeface="Yu Gothic"/>
                        </a:rPr>
                        <a:t>共通の温度状態遷移</a:t>
                      </a:r>
                    </a:p>
                  </a:txBody>
                  <a:tcPr>
                    <a:solidFill>
                      <a:srgbClr val="FFFFFF"/>
                    </a:solidFill>
                  </a:tcPr>
                </a:tc>
                <a:extLst>
                  <a:ext uri="{0D108BD9-81ED-4DB2-BD59-A6C34878D82A}">
                    <a16:rowId xmlns:a16="http://schemas.microsoft.com/office/drawing/2014/main" val="10001"/>
                  </a:ext>
                </a:extLst>
              </a:tr>
              <a:tr h="550863">
                <a:tc>
                  <a:txBody>
                    <a:bodyPr/>
                    <a:lstStyle/>
                    <a:p>
                      <a:r>
                        <a:rPr sz="818" b="1">
                          <a:solidFill>
                            <a:srgbClr val="E5A900"/>
                          </a:solidFill>
                          <a:latin typeface="Yu Gothic"/>
                          <a:ea typeface="Yu Gothic"/>
                          <a:cs typeface="Yu Gothic"/>
                        </a:rPr>
                        <a:t>Initial-state profiler</a:t>
                      </a:r>
                    </a:p>
                  </a:txBody>
                  <a:tcPr>
                    <a:solidFill>
                      <a:srgbClr val="F8F8F8"/>
                    </a:solidFill>
                  </a:tcPr>
                </a:tc>
                <a:tc>
                  <a:txBody>
                    <a:bodyPr/>
                    <a:lstStyle/>
                    <a:p>
                      <a:r>
                        <a:rPr sz="818">
                          <a:solidFill>
                            <a:srgbClr val="5B5B5B"/>
                          </a:solidFill>
                          <a:latin typeface="Yu Gothic"/>
                          <a:ea typeface="Yu Gothic"/>
                          <a:cs typeface="Yu Gothic"/>
                        </a:rPr>
                        <a:t>affine nuisance-state推定</a:t>
                      </a:r>
                    </a:p>
                  </a:txBody>
                  <a:tcPr>
                    <a:solidFill>
                      <a:srgbClr val="F8F8F8"/>
                    </a:solidFill>
                  </a:tcPr>
                </a:tc>
                <a:tc>
                  <a:txBody>
                    <a:bodyPr/>
                    <a:lstStyle/>
                    <a:p>
                      <a:r>
                        <a:rPr sz="818">
                          <a:solidFill>
                            <a:srgbClr val="5B5B5B"/>
                          </a:solidFill>
                          <a:latin typeface="Yu Gothic"/>
                          <a:ea typeface="Yu Gothic"/>
                          <a:cs typeface="Yu Gothic"/>
                        </a:rPr>
                        <a:t>case固有hidden T0</a:t>
                      </a:r>
                    </a:p>
                  </a:txBody>
                  <a:tcPr>
                    <a:solidFill>
                      <a:srgbClr val="F8F8F8"/>
                    </a:solidFill>
                  </a:tcPr>
                </a:tc>
                <a:tc>
                  <a:txBody>
                    <a:bodyPr/>
                    <a:lstStyle/>
                    <a:p>
                      <a:r>
                        <a:rPr sz="818">
                          <a:solidFill>
                            <a:srgbClr val="5B5B5B"/>
                          </a:solidFill>
                          <a:latin typeface="Yu Gothic"/>
                          <a:ea typeface="Yu Gothic"/>
                          <a:cs typeface="Yu Gothic"/>
                        </a:rPr>
                        <a:t>null-space ridge solve</a:t>
                      </a:r>
                    </a:p>
                  </a:txBody>
                  <a:tcPr>
                    <a:solidFill>
                      <a:srgbClr val="F8F8F8"/>
                    </a:solidFill>
                  </a:tcPr>
                </a:tc>
                <a:tc>
                  <a:txBody>
                    <a:bodyPr/>
                    <a:lstStyle/>
                    <a:p>
                      <a:r>
                        <a:rPr sz="818">
                          <a:solidFill>
                            <a:srgbClr val="5B5B5B"/>
                          </a:solidFill>
                          <a:latin typeface="Yu Gothic"/>
                          <a:ea typeface="Yu Gothic"/>
                          <a:cs typeface="Yu Gothic"/>
                        </a:rPr>
                        <a:t>学習時のみ；artifactへ残さない</a:t>
                      </a:r>
                    </a:p>
                  </a:txBody>
                  <a:tcPr>
                    <a:solidFill>
                      <a:srgbClr val="F8F8F8"/>
                    </a:solidFill>
                  </a:tcPr>
                </a:tc>
                <a:extLst>
                  <a:ext uri="{0D108BD9-81ED-4DB2-BD59-A6C34878D82A}">
                    <a16:rowId xmlns:a16="http://schemas.microsoft.com/office/drawing/2014/main" val="10002"/>
                  </a:ext>
                </a:extLst>
              </a:tr>
              <a:tr h="550863">
                <a:tc>
                  <a:txBody>
                    <a:bodyPr/>
                    <a:lstStyle/>
                    <a:p>
                      <a:r>
                        <a:rPr sz="818" b="1">
                          <a:solidFill>
                            <a:srgbClr val="4D8710"/>
                          </a:solidFill>
                          <a:latin typeface="Yu Gothic"/>
                          <a:ea typeface="Yu Gothic"/>
                          <a:cs typeface="Yu Gothic"/>
                        </a:rPr>
                        <a:t>Forecast initializer</a:t>
                      </a:r>
                    </a:p>
                  </a:txBody>
                  <a:tcPr>
                    <a:solidFill>
                      <a:srgbClr val="FFFFFF"/>
                    </a:solidFill>
                  </a:tcPr>
                </a:tc>
                <a:tc>
                  <a:txBody>
                    <a:bodyPr/>
                    <a:lstStyle/>
                    <a:p>
                      <a:r>
                        <a:rPr sz="818">
                          <a:solidFill>
                            <a:srgbClr val="5B5B5B"/>
                          </a:solidFill>
                          <a:latin typeface="Yu Gothic"/>
                          <a:ea typeface="Yu Gothic"/>
                          <a:cs typeface="Yu Gothic"/>
                        </a:rPr>
                        <a:t>Kalman observer</a:t>
                      </a:r>
                    </a:p>
                  </a:txBody>
                  <a:tcPr>
                    <a:solidFill>
                      <a:srgbClr val="FFFFFF"/>
                    </a:solidFill>
                  </a:tcPr>
                </a:tc>
                <a:tc>
                  <a:txBody>
                    <a:bodyPr/>
                    <a:lstStyle/>
                    <a:p>
                      <a:r>
                        <a:rPr sz="818">
                          <a:solidFill>
                            <a:srgbClr val="5B5B5B"/>
                          </a:solidFill>
                          <a:latin typeface="Yu Gothic"/>
                          <a:ea typeface="Yu Gothic"/>
                          <a:cs typeface="Yu Gothic"/>
                        </a:rPr>
                        <a:t>history末端のT・a・P</a:t>
                      </a:r>
                    </a:p>
                  </a:txBody>
                  <a:tcPr>
                    <a:solidFill>
                      <a:srgbClr val="FFFFFF"/>
                    </a:solidFill>
                  </a:tcPr>
                </a:tc>
                <a:tc>
                  <a:txBody>
                    <a:bodyPr/>
                    <a:lstStyle/>
                    <a:p>
                      <a:r>
                        <a:rPr sz="818">
                          <a:solidFill>
                            <a:srgbClr val="5B5B5B"/>
                          </a:solidFill>
                          <a:latin typeface="Yu Gothic"/>
                          <a:ea typeface="Yu Gothic"/>
                          <a:cs typeface="Yu Gothic"/>
                        </a:rPr>
                        <a:t>causal predict/update</a:t>
                      </a:r>
                    </a:p>
                  </a:txBody>
                  <a:tcPr>
                    <a:solidFill>
                      <a:srgbClr val="FFFFFF"/>
                    </a:solidFill>
                  </a:tcPr>
                </a:tc>
                <a:tc>
                  <a:txBody>
                    <a:bodyPr/>
                    <a:lstStyle/>
                    <a:p>
                      <a:r>
                        <a:rPr sz="818">
                          <a:solidFill>
                            <a:srgbClr val="5B5B5B"/>
                          </a:solidFill>
                          <a:latin typeface="Yu Gothic"/>
                          <a:ea typeface="Yu Gothic"/>
                          <a:cs typeface="Yu Gothic"/>
                        </a:rPr>
                        <a:t>handoff後はopen-loop</a:t>
                      </a:r>
                    </a:p>
                  </a:txBody>
                  <a:tcPr>
                    <a:solidFill>
                      <a:srgbClr val="FFFFFF"/>
                    </a:solidFill>
                  </a:tcPr>
                </a:tc>
                <a:extLst>
                  <a:ext uri="{0D108BD9-81ED-4DB2-BD59-A6C34878D82A}">
                    <a16:rowId xmlns:a16="http://schemas.microsoft.com/office/drawing/2014/main" val="10003"/>
                  </a:ext>
                </a:extLst>
              </a:tr>
              <a:tr h="550863">
                <a:tc>
                  <a:txBody>
                    <a:bodyPr/>
                    <a:lstStyle/>
                    <a:p>
                      <a:r>
                        <a:rPr sz="818" b="1">
                          <a:solidFill>
                            <a:srgbClr val="7B2DAF"/>
                          </a:solidFill>
                          <a:latin typeface="Yu Gothic"/>
                          <a:ea typeface="Yu Gothic"/>
                          <a:cs typeface="Yu Gothic"/>
                        </a:rPr>
                        <a:t>Monitor observer</a:t>
                      </a:r>
                    </a:p>
                  </a:txBody>
                  <a:tcPr>
                    <a:solidFill>
                      <a:srgbClr val="F8F8F8"/>
                    </a:solidFill>
                  </a:tcPr>
                </a:tc>
                <a:tc>
                  <a:txBody>
                    <a:bodyPr/>
                    <a:lstStyle/>
                    <a:p>
                      <a:r>
                        <a:rPr sz="818">
                          <a:solidFill>
                            <a:srgbClr val="5B5B5B"/>
                          </a:solidFill>
                          <a:latin typeface="Yu Gothic"/>
                          <a:ea typeface="Yu Gothic"/>
                          <a:cs typeface="Yu Gothic"/>
                        </a:rPr>
                        <a:t>augmented Kalman filter</a:t>
                      </a:r>
                    </a:p>
                  </a:txBody>
                  <a:tcPr>
                    <a:solidFill>
                      <a:srgbClr val="F8F8F8"/>
                    </a:solidFill>
                  </a:tcPr>
                </a:tc>
                <a:tc>
                  <a:txBody>
                    <a:bodyPr/>
                    <a:lstStyle/>
                    <a:p>
                      <a:r>
                        <a:rPr sz="818">
                          <a:solidFill>
                            <a:srgbClr val="5B5B5B"/>
                          </a:solidFill>
                          <a:latin typeface="Yu Gothic"/>
                          <a:ea typeface="Yu Gothic"/>
                          <a:cs typeface="Yu Gothic"/>
                        </a:rPr>
                        <a:t>T・unknown heat・relative bias</a:t>
                      </a:r>
                    </a:p>
                  </a:txBody>
                  <a:tcPr>
                    <a:solidFill>
                      <a:srgbClr val="F8F8F8"/>
                    </a:solidFill>
                  </a:tcPr>
                </a:tc>
                <a:tc>
                  <a:txBody>
                    <a:bodyPr/>
                    <a:lstStyle/>
                    <a:p>
                      <a:r>
                        <a:rPr sz="818">
                          <a:solidFill>
                            <a:srgbClr val="5B5B5B"/>
                          </a:solidFill>
                          <a:latin typeface="Yu Gothic"/>
                          <a:ea typeface="Yu Gothic"/>
                          <a:cs typeface="Yu Gothic"/>
                        </a:rPr>
                        <a:t>Van Loan / implicit Qd + Joseph update</a:t>
                      </a:r>
                    </a:p>
                  </a:txBody>
                  <a:tcPr>
                    <a:solidFill>
                      <a:srgbClr val="F8F8F8"/>
                    </a:solidFill>
                  </a:tcPr>
                </a:tc>
                <a:tc>
                  <a:txBody>
                    <a:bodyPr/>
                    <a:lstStyle/>
                    <a:p>
                      <a:r>
                        <a:rPr sz="818">
                          <a:solidFill>
                            <a:srgbClr val="5B5B5B"/>
                          </a:solidFill>
                          <a:latin typeface="Yu Gothic"/>
                          <a:ea typeface="Yu Gothic"/>
                          <a:cs typeface="Yu Gothic"/>
                        </a:rPr>
                        <a:t>online状態監視とdiagnostics</a:t>
                      </a:r>
                    </a:p>
                  </a:txBody>
                  <a:tcPr>
                    <a:solidFill>
                      <a:srgbClr val="F8F8F8"/>
                    </a:solidFill>
                  </a:tcPr>
                </a:tc>
                <a:extLst>
                  <a:ext uri="{0D108BD9-81ED-4DB2-BD59-A6C34878D82A}">
                    <a16:rowId xmlns:a16="http://schemas.microsoft.com/office/drawing/2014/main" val="10004"/>
                  </a:ext>
                </a:extLst>
              </a:tr>
              <a:tr h="550863">
                <a:tc>
                  <a:txBody>
                    <a:bodyPr/>
                    <a:lstStyle/>
                    <a:p>
                      <a:r>
                        <a:rPr sz="818" b="1">
                          <a:solidFill>
                            <a:srgbClr val="00A89D"/>
                          </a:solidFill>
                          <a:latin typeface="Yu Gothic"/>
                          <a:ea typeface="Yu Gothic"/>
                          <a:cs typeface="Yu Gothic"/>
                        </a:rPr>
                        <a:t>Coverage diagnostic</a:t>
                      </a:r>
                    </a:p>
                  </a:txBody>
                  <a:tcPr>
                    <a:solidFill>
                      <a:srgbClr val="FFFFFF"/>
                    </a:solidFill>
                  </a:tcPr>
                </a:tc>
                <a:tc>
                  <a:txBody>
                    <a:bodyPr/>
                    <a:lstStyle/>
                    <a:p>
                      <a:r>
                        <a:rPr sz="818">
                          <a:solidFill>
                            <a:srgbClr val="5B5B5B"/>
                          </a:solidFill>
                          <a:latin typeface="Yu Gothic"/>
                          <a:ea typeface="Yu Gothic"/>
                          <a:cs typeface="Yu Gothic"/>
                        </a:rPr>
                        <a:t>deterministic envelope check</a:t>
                      </a:r>
                    </a:p>
                  </a:txBody>
                  <a:tcPr>
                    <a:solidFill>
                      <a:srgbClr val="FFFFFF"/>
                    </a:solidFill>
                  </a:tcPr>
                </a:tc>
                <a:tc>
                  <a:txBody>
                    <a:bodyPr/>
                    <a:lstStyle/>
                    <a:p>
                      <a:r>
                        <a:rPr sz="818">
                          <a:solidFill>
                            <a:srgbClr val="5B5B5B"/>
                          </a:solidFill>
                          <a:latin typeface="Yu Gothic"/>
                          <a:ea typeface="Yu Gothic"/>
                          <a:cs typeface="Yu Gothic"/>
                        </a:rPr>
                        <a:t>学習rangeとの比較</a:t>
                      </a:r>
                    </a:p>
                  </a:txBody>
                  <a:tcPr>
                    <a:solidFill>
                      <a:srgbClr val="FFFFFF"/>
                    </a:solidFill>
                  </a:tcPr>
                </a:tc>
                <a:tc>
                  <a:txBody>
                    <a:bodyPr/>
                    <a:lstStyle/>
                    <a:p>
                      <a:r>
                        <a:rPr sz="818">
                          <a:solidFill>
                            <a:srgbClr val="5B5B5B"/>
                          </a:solidFill>
                          <a:latin typeface="Yu Gothic"/>
                          <a:ea typeface="Yu Gothic"/>
                          <a:cs typeface="Yu Gothic"/>
                        </a:rPr>
                        <a:t>input/output/temporal range rule</a:t>
                      </a:r>
                    </a:p>
                  </a:txBody>
                  <a:tcPr>
                    <a:solidFill>
                      <a:srgbClr val="FFFFFF"/>
                    </a:solidFill>
                  </a:tcPr>
                </a:tc>
                <a:tc>
                  <a:txBody>
                    <a:bodyPr/>
                    <a:lstStyle/>
                    <a:p>
                      <a:r>
                        <a:rPr sz="818">
                          <a:solidFill>
                            <a:srgbClr val="5B5B5B"/>
                          </a:solidFill>
                          <a:latin typeface="Yu Gothic"/>
                          <a:ea typeface="Yu Gothic"/>
                          <a:cs typeface="Yu Gothic"/>
                        </a:rPr>
                        <a:t>OOD warning；確率modelではない</a:t>
                      </a:r>
                    </a:p>
                  </a:txBody>
                  <a:tcPr>
                    <a:solidFill>
                      <a:srgbClr val="FFFFFF"/>
                    </a:solidFill>
                  </a:tcPr>
                </a:tc>
                <a:extLst>
                  <a:ext uri="{0D108BD9-81ED-4DB2-BD59-A6C34878D82A}">
                    <a16:rowId xmlns:a16="http://schemas.microsoft.com/office/drawing/2014/main" val="10005"/>
                  </a:ext>
                </a:extLst>
              </a:tr>
            </a:tbl>
          </a:graphicData>
        </a:graphic>
      </p:graphicFrame>
      <p:sp>
        <p:nvSpPr>
          <p:cNvPr id="10" name="正方形/長方形 9">
            <a:extLst>
              <a:ext uri="{FF2B5EF4-FFF2-40B4-BE49-F238E27FC236}">
                <a16:creationId xmlns:a16="http://schemas.microsoft.com/office/drawing/2014/main" id="{ADFBC2BA-8D5B-477D-917A-ADA7544650E1}"/>
              </a:ext>
            </a:extLst>
          </p:cNvPr>
          <p:cNvSpPr>
            <a:spLocks noGrp="1"/>
          </p:cNvSpPr>
          <p:nvPr/>
        </p:nvSpPr>
        <p:spPr>
          <a:xfrm>
            <a:off x="552450" y="5000625"/>
            <a:ext cx="6905625" cy="990600"/>
          </a:xfrm>
          <a:prstGeom prst="rect">
            <a:avLst/>
          </a:prstGeom>
          <a:solidFill>
            <a:srgbClr val="EEF7DF"/>
          </a:solidFill>
          <a:ln w="9525">
            <a:solidFill>
              <a:srgbClr val="76BE18"/>
            </a:solidFill>
            <a:prstDash val="solid"/>
          </a:ln>
        </p:spPr>
      </p:sp>
      <p:sp>
        <p:nvSpPr>
          <p:cNvPr id="11" name="正方形/長方形 10">
            <a:extLst>
              <a:ext uri="{FF2B5EF4-FFF2-40B4-BE49-F238E27FC236}">
                <a16:creationId xmlns:a16="http://schemas.microsoft.com/office/drawing/2014/main" id="{2C022475-4017-42C5-BE92-337592389CBE}"/>
              </a:ext>
            </a:extLst>
          </p:cNvPr>
          <p:cNvSpPr>
            <a:spLocks noGrp="1"/>
          </p:cNvSpPr>
          <p:nvPr/>
        </p:nvSpPr>
        <p:spPr>
          <a:xfrm>
            <a:off x="742950" y="5153025"/>
            <a:ext cx="6524625" cy="257175"/>
          </a:xfrm>
          <a:prstGeom prst="rect">
            <a:avLst/>
          </a:prstGeom>
          <a:noFill/>
          <a:ln w="0">
            <a:noFill/>
            <a:prstDash val="solid"/>
          </a:ln>
        </p:spPr>
        <p:txBody>
          <a:bodyPr wrap="square" lIns="28575" tIns="19050" rIns="28575" bIns="19050" anchor="ctr">
            <a:normAutofit/>
          </a:bodyPr>
          <a:lstStyle/>
          <a:p>
            <a:pPr algn="l">
              <a:lnSpc>
                <a:spcPct val="100000"/>
              </a:lnSpc>
              <a:buNone/>
              <a:defRPr sz="1275" b="1" i="0">
                <a:solidFill>
                  <a:srgbClr val="4D8710"/>
                </a:solidFill>
                <a:latin typeface="Yu Gothic"/>
                <a:ea typeface="Yu Gothic"/>
                <a:cs typeface="Yu Gothic"/>
              </a:defRPr>
            </a:pPr>
            <a:r>
              <a:rPr sz="1275" b="1" i="0">
                <a:solidFill>
                  <a:srgbClr val="4D8710"/>
                </a:solidFill>
                <a:latin typeface="Yu Gothic"/>
                <a:ea typeface="Yu Gothic"/>
                <a:cs typeface="Yu Gothic"/>
              </a:rPr>
              <a:t>現行実装で学習するのは物理係数のみ</a:t>
            </a:r>
          </a:p>
        </p:txBody>
      </p:sp>
      <p:sp>
        <p:nvSpPr>
          <p:cNvPr id="12" name="正方形/長方形 11">
            <a:extLst>
              <a:ext uri="{FF2B5EF4-FFF2-40B4-BE49-F238E27FC236}">
                <a16:creationId xmlns:a16="http://schemas.microsoft.com/office/drawing/2014/main" id="{4ED36FD7-8093-44DF-8E52-808A998ABEC8}"/>
              </a:ext>
            </a:extLst>
          </p:cNvPr>
          <p:cNvSpPr>
            <a:spLocks noGrp="1"/>
          </p:cNvSpPr>
          <p:nvPr/>
        </p:nvSpPr>
        <p:spPr>
          <a:xfrm>
            <a:off x="742950" y="5505450"/>
            <a:ext cx="6524625" cy="352425"/>
          </a:xfrm>
          <a:prstGeom prst="rect">
            <a:avLst/>
          </a:prstGeom>
          <a:noFill/>
          <a:ln w="0">
            <a:noFill/>
            <a:prstDash val="solid"/>
          </a:ln>
        </p:spPr>
        <p:txBody>
          <a:bodyPr wrap="square" lIns="28575" tIns="19050" rIns="28575" bIns="19050" anchor="ctr">
            <a:normAutofit/>
          </a:bodyPr>
          <a:lstStyle/>
          <a:p>
            <a:pPr algn="l">
              <a:lnSpc>
                <a:spcPct val="108000"/>
              </a:lnSpc>
              <a:buNone/>
              <a:defRPr sz="878" b="0" i="0">
                <a:solidFill>
                  <a:srgbClr val="5B5B5B"/>
                </a:solidFill>
                <a:latin typeface="Yu Gothic"/>
                <a:ea typeface="Yu Gothic"/>
                <a:cs typeface="Yu Gothic"/>
              </a:defRPr>
            </a:pPr>
            <a:r>
              <a:rPr sz="878" b="0" i="0">
                <a:solidFill>
                  <a:srgbClr val="5B5B5B"/>
                </a:solidFill>
                <a:latin typeface="Yu Gothic"/>
                <a:ea typeface="Yu Gothic"/>
                <a:cs typeface="Yu Gothic"/>
              </a:rPr>
              <a:t>sensor名や故障classを教師ラベルで分類するNN/RNN/Transformerは使用しない。異常はinnovation、NIS、未知熱、relative biasとして出力する。</a:t>
            </a:r>
          </a:p>
        </p:txBody>
      </p:sp>
      <p:sp>
        <p:nvSpPr>
          <p:cNvPr id="13" name="正方形/長方形 12">
            <a:extLst>
              <a:ext uri="{FF2B5EF4-FFF2-40B4-BE49-F238E27FC236}">
                <a16:creationId xmlns:a16="http://schemas.microsoft.com/office/drawing/2014/main" id="{B03B27D4-7BA3-4D68-900E-924CDD5E2FCE}"/>
              </a:ext>
            </a:extLst>
          </p:cNvPr>
          <p:cNvSpPr>
            <a:spLocks noGrp="1"/>
          </p:cNvSpPr>
          <p:nvPr/>
        </p:nvSpPr>
        <p:spPr>
          <a:xfrm>
            <a:off x="7686675" y="5000625"/>
            <a:ext cx="3952875" cy="990600"/>
          </a:xfrm>
          <a:prstGeom prst="rect">
            <a:avLst/>
          </a:prstGeom>
          <a:solidFill>
            <a:srgbClr val="EFE5F6"/>
          </a:solidFill>
          <a:ln w="9525">
            <a:solidFill>
              <a:srgbClr val="7B2DAF"/>
            </a:solidFill>
            <a:prstDash val="solid"/>
          </a:ln>
        </p:spPr>
      </p:sp>
      <p:sp>
        <p:nvSpPr>
          <p:cNvPr id="14" name="正方形/長方形 13">
            <a:extLst>
              <a:ext uri="{FF2B5EF4-FFF2-40B4-BE49-F238E27FC236}">
                <a16:creationId xmlns:a16="http://schemas.microsoft.com/office/drawing/2014/main" id="{3C1CF960-9C1C-4E52-96AD-A03FB1B61552}"/>
              </a:ext>
            </a:extLst>
          </p:cNvPr>
          <p:cNvSpPr>
            <a:spLocks noGrp="1"/>
          </p:cNvSpPr>
          <p:nvPr/>
        </p:nvSpPr>
        <p:spPr>
          <a:xfrm>
            <a:off x="7877175" y="5153025"/>
            <a:ext cx="3571875" cy="257175"/>
          </a:xfrm>
          <a:prstGeom prst="rect">
            <a:avLst/>
          </a:prstGeom>
          <a:noFill/>
          <a:ln w="0">
            <a:noFill/>
            <a:prstDash val="solid"/>
          </a:ln>
        </p:spPr>
        <p:txBody>
          <a:bodyPr wrap="square" lIns="28575" tIns="19050" rIns="28575" bIns="19050" anchor="ctr">
            <a:normAutofit/>
          </a:bodyPr>
          <a:lstStyle/>
          <a:p>
            <a:pPr algn="l">
              <a:lnSpc>
                <a:spcPct val="100000"/>
              </a:lnSpc>
              <a:buNone/>
              <a:defRPr sz="1275" b="1" i="0">
                <a:solidFill>
                  <a:srgbClr val="7B2DAF"/>
                </a:solidFill>
                <a:latin typeface="Yu Gothic"/>
                <a:ea typeface="Yu Gothic"/>
                <a:cs typeface="Yu Gothic"/>
              </a:defRPr>
            </a:pPr>
            <a:r>
              <a:rPr sz="1275" b="1" i="0">
                <a:solidFill>
                  <a:srgbClr val="7B2DAF"/>
                </a:solidFill>
                <a:latin typeface="Yu Gothic"/>
                <a:ea typeface="Yu Gothic"/>
                <a:cs typeface="Yu Gothic"/>
              </a:rPr>
              <a:t>拡張候補の採用条件</a:t>
            </a:r>
          </a:p>
        </p:txBody>
      </p:sp>
      <p:sp>
        <p:nvSpPr>
          <p:cNvPr id="15" name="正方形/長方形 14">
            <a:extLst>
              <a:ext uri="{FF2B5EF4-FFF2-40B4-BE49-F238E27FC236}">
                <a16:creationId xmlns:a16="http://schemas.microsoft.com/office/drawing/2014/main" id="{34C9B178-9106-492B-AA72-6C15BD14F12D}"/>
              </a:ext>
            </a:extLst>
          </p:cNvPr>
          <p:cNvSpPr>
            <a:spLocks noGrp="1"/>
          </p:cNvSpPr>
          <p:nvPr/>
        </p:nvSpPr>
        <p:spPr>
          <a:xfrm>
            <a:off x="7877175" y="5505450"/>
            <a:ext cx="3571875" cy="352425"/>
          </a:xfrm>
          <a:prstGeom prst="rect">
            <a:avLst/>
          </a:prstGeom>
          <a:noFill/>
          <a:ln w="0">
            <a:noFill/>
            <a:prstDash val="solid"/>
          </a:ln>
        </p:spPr>
        <p:txBody>
          <a:bodyPr wrap="square" lIns="28575" tIns="19050" rIns="28575" bIns="19050" anchor="ctr">
            <a:normAutofit/>
          </a:bodyPr>
          <a:lstStyle/>
          <a:p>
            <a:pPr algn="l">
              <a:lnSpc>
                <a:spcPct val="108000"/>
              </a:lnSpc>
              <a:buNone/>
              <a:defRPr sz="855" b="0" i="0">
                <a:solidFill>
                  <a:srgbClr val="5B5B5B"/>
                </a:solidFill>
                <a:latin typeface="Yu Gothic"/>
                <a:ea typeface="Yu Gothic"/>
                <a:cs typeface="Yu Gothic"/>
              </a:defRPr>
            </a:pPr>
            <a:r>
              <a:rPr sz="855" b="0" i="0">
                <a:solidFill>
                  <a:srgbClr val="5B5B5B"/>
                </a:solidFill>
                <a:latin typeface="Yu Gothic"/>
                <a:ea typeface="Yu Gothic"/>
                <a:cs typeface="Yu Gothic"/>
              </a:rPr>
              <a:t>複数problemで同じ残差構造が再現し、保存則・単位・識別性・成果物再現性を維持できる場合のみ。</a:t>
            </a:r>
          </a:p>
        </p:txBody>
      </p:sp>
    </p:spTree>
    <p:extLst>
      <p:ext uri="{BB962C8B-B14F-4D97-AF65-F5344CB8AC3E}">
        <p14:creationId xmlns:p14="http://schemas.microsoft.com/office/powerpoint/2010/main" val="14472388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 name="正方形/長方形 30">
            <a:extLst>
              <a:ext uri="{FF2B5EF4-FFF2-40B4-BE49-F238E27FC236}">
                <a16:creationId xmlns:a16="http://schemas.microsoft.com/office/drawing/2014/main" id="{CE8A062D-A542-4BE6-A0EF-CEE664D9EAC7}"/>
              </a:ext>
            </a:extLst>
          </p:cNvPr>
          <p:cNvSpPr>
            <a:spLocks noGrp="1"/>
          </p:cNvSpPr>
          <p:nvPr/>
        </p:nvSpPr>
        <p:spPr>
          <a:xfrm>
            <a:off x="552450" y="190500"/>
            <a:ext cx="76200" cy="142875"/>
          </a:xfrm>
          <a:prstGeom prst="rect">
            <a:avLst/>
          </a:prstGeom>
          <a:solidFill>
            <a:srgbClr val="76BE18"/>
          </a:solidFill>
          <a:ln w="0">
            <a:noFill/>
            <a:prstDash val="solid"/>
          </a:ln>
        </p:spPr>
      </p:sp>
      <p:sp>
        <p:nvSpPr>
          <p:cNvPr id="2" name="正方形/長方形 1">
            <a:extLst>
              <a:ext uri="{FF2B5EF4-FFF2-40B4-BE49-F238E27FC236}">
                <a16:creationId xmlns:a16="http://schemas.microsoft.com/office/drawing/2014/main" id="{AEB5AAB2-16F9-4AAA-8AD6-BCFCC8B88A39}"/>
              </a:ext>
            </a:extLst>
          </p:cNvPr>
          <p:cNvSpPr>
            <a:spLocks noGrp="1"/>
          </p:cNvSpPr>
          <p:nvPr/>
        </p:nvSpPr>
        <p:spPr>
          <a:xfrm>
            <a:off x="704850" y="161925"/>
            <a:ext cx="3429000" cy="190500"/>
          </a:xfrm>
          <a:prstGeom prst="rect">
            <a:avLst/>
          </a:prstGeom>
          <a:noFill/>
          <a:ln w="0">
            <a:noFill/>
            <a:prstDash val="solid"/>
          </a:ln>
        </p:spPr>
        <p:txBody>
          <a:bodyPr wrap="none" lIns="28575" tIns="19050" rIns="28575" bIns="19050" anchor="ctr">
            <a:noAutofit/>
          </a:bodyPr>
          <a:lstStyle/>
          <a:p>
            <a:pPr algn="l">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DATA &amp; ARTIFACT CONTRACT</a:t>
            </a:r>
          </a:p>
        </p:txBody>
      </p:sp>
      <p:sp>
        <p:nvSpPr>
          <p:cNvPr id="3" name="正方形/長方形 2">
            <a:extLst>
              <a:ext uri="{FF2B5EF4-FFF2-40B4-BE49-F238E27FC236}">
                <a16:creationId xmlns:a16="http://schemas.microsoft.com/office/drawing/2014/main" id="{B23F129F-B492-45CD-ACCF-0A87F4B31D3A}"/>
              </a:ext>
            </a:extLst>
          </p:cNvPr>
          <p:cNvSpPr>
            <a:spLocks noGrp="1"/>
          </p:cNvSpPr>
          <p:nvPr/>
        </p:nvSpPr>
        <p:spPr>
          <a:xfrm>
            <a:off x="552450" y="400050"/>
            <a:ext cx="11001375" cy="400050"/>
          </a:xfrm>
          <a:prstGeom prst="rect">
            <a:avLst/>
          </a:prstGeom>
          <a:noFill/>
          <a:ln w="0">
            <a:noFill/>
            <a:prstDash val="solid"/>
          </a:ln>
        </p:spPr>
        <p:txBody>
          <a:bodyPr wrap="none" lIns="19050" tIns="0" rIns="19050" bIns="0" anchor="ctr">
            <a:normAutofit/>
          </a:bodyPr>
          <a:lstStyle/>
          <a:p>
            <a:pPr algn="l">
              <a:lnSpc>
                <a:spcPct val="100000"/>
              </a:lnSpc>
              <a:buNone/>
              <a:defRPr sz="2175" b="1" i="0">
                <a:solidFill>
                  <a:srgbClr val="00A5D8"/>
                </a:solidFill>
                <a:latin typeface="Yu Gothic"/>
                <a:ea typeface="Yu Gothic"/>
                <a:cs typeface="Yu Gothic"/>
              </a:defRPr>
            </a:pPr>
            <a:r>
              <a:rPr sz="2175" b="1" i="0">
                <a:solidFill>
                  <a:srgbClr val="00A5D8"/>
                </a:solidFill>
                <a:latin typeface="Yu Gothic"/>
                <a:ea typeface="Yu Gothic"/>
                <a:cs typeface="Yu Gothic"/>
              </a:rPr>
              <a:t>同じTrajectory schemaをtrain・forecast・monitorで共有し、入力解釈の分岐を防ぐ</a:t>
            </a:r>
          </a:p>
        </p:txBody>
      </p:sp>
      <p:sp>
        <p:nvSpPr>
          <p:cNvPr id="4" name="正方形/長方形 3">
            <a:extLst>
              <a:ext uri="{FF2B5EF4-FFF2-40B4-BE49-F238E27FC236}">
                <a16:creationId xmlns:a16="http://schemas.microsoft.com/office/drawing/2014/main" id="{3727E04C-7DA1-4450-86F9-784AFB68650D}"/>
              </a:ext>
            </a:extLst>
          </p:cNvPr>
          <p:cNvSpPr>
            <a:spLocks noGrp="1"/>
          </p:cNvSpPr>
          <p:nvPr/>
        </p:nvSpPr>
        <p:spPr>
          <a:xfrm>
            <a:off x="571500" y="838200"/>
            <a:ext cx="10906125" cy="228600"/>
          </a:xfrm>
          <a:prstGeom prst="rect">
            <a:avLst/>
          </a:prstGeom>
          <a:noFill/>
          <a:ln w="0">
            <a:noFill/>
            <a:prstDash val="solid"/>
          </a:ln>
        </p:spPr>
        <p:txBody>
          <a:bodyPr wrap="none" lIns="28575" tIns="19050" rIns="28575" bIns="19050" anchor="ctr">
            <a:noAutofit/>
          </a:bodyPr>
          <a:lstStyle/>
          <a:p>
            <a:pPr algn="l">
              <a:lnSpc>
                <a:spcPct val="100000"/>
              </a:lnSpc>
              <a:buNone/>
              <a:defRPr sz="975" b="0" i="0">
                <a:solidFill>
                  <a:srgbClr val="5B5B5B"/>
                </a:solidFill>
                <a:latin typeface="Yu Gothic"/>
                <a:ea typeface="Yu Gothic"/>
                <a:cs typeface="Yu Gothic"/>
              </a:defRPr>
            </a:pPr>
            <a:r>
              <a:rPr sz="975" b="0" i="0">
                <a:solidFill>
                  <a:srgbClr val="5B5B5B"/>
                </a:solidFill>
                <a:latin typeface="Yu Gothic"/>
                <a:ea typeface="Yu Gothic"/>
                <a:cs typeface="Yu Gothic"/>
              </a:rPr>
              <a:t>出力はstagingへ全件を書いてから置換し、hashと設定snapshotで再現性を担保する</a:t>
            </a:r>
          </a:p>
        </p:txBody>
      </p:sp>
      <p:sp>
        <p:nvSpPr>
          <p:cNvPr id="5" name="直線コネクタ 4">
            <a:extLst>
              <a:ext uri="{FF2B5EF4-FFF2-40B4-BE49-F238E27FC236}">
                <a16:creationId xmlns:a16="http://schemas.microsoft.com/office/drawing/2014/main" id="{0B971E8E-7438-4B1C-98FC-FA767AB30C68}"/>
              </a:ext>
            </a:extLst>
          </p:cNvPr>
          <p:cNvSpPr>
            <a:spLocks noGrp="1"/>
          </p:cNvSpPr>
          <p:nvPr/>
        </p:nvSpPr>
        <p:spPr>
          <a:xfrm>
            <a:off x="552450" y="1152525"/>
            <a:ext cx="11087100" cy="0"/>
          </a:xfrm>
          <a:prstGeom prst="line">
            <a:avLst/>
          </a:prstGeom>
          <a:noFill/>
          <a:ln w="9525">
            <a:solidFill>
              <a:srgbClr val="D6D6D6"/>
            </a:solidFill>
            <a:prstDash val="solid"/>
          </a:ln>
        </p:spPr>
      </p:sp>
      <p:sp>
        <p:nvSpPr>
          <p:cNvPr id="6" name="直線コネクタ 5">
            <a:extLst>
              <a:ext uri="{FF2B5EF4-FFF2-40B4-BE49-F238E27FC236}">
                <a16:creationId xmlns:a16="http://schemas.microsoft.com/office/drawing/2014/main" id="{26DE821A-9157-4387-81A3-81CD0FCA5BD8}"/>
              </a:ext>
            </a:extLst>
          </p:cNvPr>
          <p:cNvSpPr>
            <a:spLocks noGrp="1"/>
          </p:cNvSpPr>
          <p:nvPr/>
        </p:nvSpPr>
        <p:spPr>
          <a:xfrm>
            <a:off x="552450" y="6438900"/>
            <a:ext cx="11087100" cy="0"/>
          </a:xfrm>
          <a:prstGeom prst="line">
            <a:avLst/>
          </a:prstGeom>
          <a:noFill/>
          <a:ln w="9525">
            <a:solidFill>
              <a:srgbClr val="D6D6D6"/>
            </a:solidFill>
            <a:prstDash val="solid"/>
          </a:ln>
        </p:spPr>
      </p:sp>
      <p:sp>
        <p:nvSpPr>
          <p:cNvPr id="7" name="正方形/長方形 6">
            <a:extLst>
              <a:ext uri="{FF2B5EF4-FFF2-40B4-BE49-F238E27FC236}">
                <a16:creationId xmlns:a16="http://schemas.microsoft.com/office/drawing/2014/main" id="{7F8AF7E7-FA12-4CFF-BAD0-98E6C1995395}"/>
              </a:ext>
            </a:extLst>
          </p:cNvPr>
          <p:cNvSpPr>
            <a:spLocks noGrp="1"/>
          </p:cNvSpPr>
          <p:nvPr/>
        </p:nvSpPr>
        <p:spPr>
          <a:xfrm>
            <a:off x="571500" y="6505575"/>
            <a:ext cx="5334000" cy="171450"/>
          </a:xfrm>
          <a:prstGeom prst="rect">
            <a:avLst/>
          </a:prstGeom>
          <a:noFill/>
          <a:ln w="0">
            <a:noFill/>
            <a:prstDash val="solid"/>
          </a:ln>
        </p:spPr>
        <p:txBody>
          <a:bodyPr wrap="none" lIns="28575" tIns="19050" rIns="28575" bIns="19050" anchor="ctr">
            <a:noAutofit/>
          </a:bodyPr>
          <a:lstStyle/>
          <a:p>
            <a:pPr algn="l">
              <a:lnSpc>
                <a:spcPct val="100000"/>
              </a:lnSpc>
              <a:buNone/>
              <a:defRPr sz="713" b="0" i="0">
                <a:solidFill>
                  <a:srgbClr val="777777"/>
                </a:solidFill>
                <a:latin typeface="Yu Gothic"/>
                <a:ea typeface="Yu Gothic"/>
                <a:cs typeface="Yu Gothic"/>
              </a:defRPr>
            </a:pPr>
            <a:r>
              <a:rPr sz="713" b="0" i="0">
                <a:solidFill>
                  <a:srgbClr val="777777"/>
                </a:solidFill>
                <a:latin typeface="Yu Gothic"/>
                <a:ea typeface="Yu Gothic"/>
                <a:cs typeface="Yu Gothic"/>
              </a:rPr>
              <a:t>THERMAL RC / EQUIPMENT ENGINEERING REVIEW  ·  2026-09-17</a:t>
            </a:r>
          </a:p>
        </p:txBody>
      </p:sp>
      <p:sp>
        <p:nvSpPr>
          <p:cNvPr id="8" name="正方形/長方形 7">
            <a:extLst>
              <a:ext uri="{FF2B5EF4-FFF2-40B4-BE49-F238E27FC236}">
                <a16:creationId xmlns:a16="http://schemas.microsoft.com/office/drawing/2014/main" id="{E85D4756-8A41-4AAD-B9EF-A5459B05CD07}"/>
              </a:ext>
            </a:extLst>
          </p:cNvPr>
          <p:cNvSpPr>
            <a:spLocks noGrp="1"/>
          </p:cNvSpPr>
          <p:nvPr/>
        </p:nvSpPr>
        <p:spPr>
          <a:xfrm>
            <a:off x="11125200" y="6496050"/>
            <a:ext cx="476250" cy="171450"/>
          </a:xfrm>
          <a:prstGeom prst="rect">
            <a:avLst/>
          </a:prstGeom>
          <a:noFill/>
          <a:ln w="0">
            <a:noFill/>
            <a:prstDash val="solid"/>
          </a:ln>
        </p:spPr>
        <p:txBody>
          <a:bodyPr wrap="square" lIns="28575" tIns="19050" rIns="28575" bIns="19050" anchor="ctr">
            <a:noAutofit/>
          </a:bodyPr>
          <a:lstStyle/>
          <a:p>
            <a:pPr algn="r">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17</a:t>
            </a:r>
          </a:p>
        </p:txBody>
      </p:sp>
      <p:sp>
        <p:nvSpPr>
          <p:cNvPr id="9" name="正方形/長方形 8">
            <a:extLst>
              <a:ext uri="{FF2B5EF4-FFF2-40B4-BE49-F238E27FC236}">
                <a16:creationId xmlns:a16="http://schemas.microsoft.com/office/drawing/2014/main" id="{9F477C98-FA6D-435D-A145-914851182D7B}"/>
              </a:ext>
            </a:extLst>
          </p:cNvPr>
          <p:cNvSpPr>
            <a:spLocks noGrp="1"/>
          </p:cNvSpPr>
          <p:nvPr/>
        </p:nvSpPr>
        <p:spPr>
          <a:xfrm>
            <a:off x="552450" y="1504950"/>
            <a:ext cx="2057400" cy="1057275"/>
          </a:xfrm>
          <a:prstGeom prst="rect">
            <a:avLst/>
          </a:prstGeom>
          <a:solidFill>
            <a:srgbClr val="F8F8F8"/>
          </a:solidFill>
          <a:ln w="9525">
            <a:solidFill>
              <a:srgbClr val="D6D6D6"/>
            </a:solidFill>
            <a:prstDash val="solid"/>
          </a:ln>
        </p:spPr>
      </p:sp>
      <p:sp>
        <p:nvSpPr>
          <p:cNvPr id="10" name="正方形/長方形 9">
            <a:extLst>
              <a:ext uri="{FF2B5EF4-FFF2-40B4-BE49-F238E27FC236}">
                <a16:creationId xmlns:a16="http://schemas.microsoft.com/office/drawing/2014/main" id="{1033DBB1-9D40-47FE-9985-5053BAD6CB24}"/>
              </a:ext>
            </a:extLst>
          </p:cNvPr>
          <p:cNvSpPr>
            <a:spLocks noGrp="1"/>
          </p:cNvSpPr>
          <p:nvPr/>
        </p:nvSpPr>
        <p:spPr>
          <a:xfrm>
            <a:off x="723900" y="1676400"/>
            <a:ext cx="1714500" cy="257175"/>
          </a:xfrm>
          <a:prstGeom prst="rect">
            <a:avLst/>
          </a:prstGeom>
          <a:noFill/>
          <a:ln w="0">
            <a:noFill/>
            <a:prstDash val="solid"/>
          </a:ln>
        </p:spPr>
        <p:txBody>
          <a:bodyPr wrap="square" lIns="28575" tIns="19050" rIns="28575" bIns="19050" anchor="ctr">
            <a:normAutofit/>
          </a:bodyPr>
          <a:lstStyle/>
          <a:p>
            <a:pPr algn="ctr">
              <a:lnSpc>
                <a:spcPct val="100000"/>
              </a:lnSpc>
              <a:buNone/>
              <a:defRPr sz="1275" b="1" i="0">
                <a:solidFill>
                  <a:srgbClr val="3F3F3F"/>
                </a:solidFill>
                <a:latin typeface="Yu Gothic"/>
                <a:ea typeface="Yu Gothic"/>
                <a:cs typeface="Yu Gothic"/>
              </a:defRPr>
            </a:pPr>
            <a:r>
              <a:rPr sz="1275" b="1" i="0">
                <a:solidFill>
                  <a:srgbClr val="3F3F3F"/>
                </a:solidFill>
                <a:latin typeface="Yu Gothic"/>
                <a:ea typeface="Yu Gothic"/>
                <a:cs typeface="Yu Gothic"/>
              </a:rPr>
              <a:t>CSV / DataFrame</a:t>
            </a:r>
          </a:p>
        </p:txBody>
      </p:sp>
      <p:sp>
        <p:nvSpPr>
          <p:cNvPr id="11" name="正方形/長方形 10">
            <a:extLst>
              <a:ext uri="{FF2B5EF4-FFF2-40B4-BE49-F238E27FC236}">
                <a16:creationId xmlns:a16="http://schemas.microsoft.com/office/drawing/2014/main" id="{A909FB01-EA4A-4988-B40F-69E6CF6503C7}"/>
              </a:ext>
            </a:extLst>
          </p:cNvPr>
          <p:cNvSpPr>
            <a:spLocks noGrp="1"/>
          </p:cNvSpPr>
          <p:nvPr/>
        </p:nvSpPr>
        <p:spPr>
          <a:xfrm>
            <a:off x="723900" y="2028825"/>
            <a:ext cx="1714500" cy="371475"/>
          </a:xfrm>
          <a:prstGeom prst="rect">
            <a:avLst/>
          </a:prstGeom>
          <a:noFill/>
          <a:ln w="0">
            <a:noFill/>
            <a:prstDash val="solid"/>
          </a:ln>
        </p:spPr>
        <p:txBody>
          <a:bodyPr wrap="square" lIns="28575" tIns="19050" rIns="28575" bIns="19050" anchor="ctr">
            <a:normAutofit/>
          </a:bodyPr>
          <a:lstStyle/>
          <a:p>
            <a:pPr algn="ctr">
              <a:lnSpc>
                <a:spcPct val="106000"/>
              </a:lnSpc>
              <a:buNone/>
              <a:defRPr sz="863" b="0" i="0">
                <a:solidFill>
                  <a:srgbClr val="5B5B5B"/>
                </a:solidFill>
                <a:latin typeface="Yu Gothic"/>
                <a:ea typeface="Yu Gothic"/>
                <a:cs typeface="Yu Gothic"/>
              </a:defRPr>
            </a:pPr>
            <a:r>
              <a:rPr sz="863" b="0" i="0">
                <a:solidFill>
                  <a:srgbClr val="5B5B5B"/>
                </a:solidFill>
                <a:latin typeface="Yu Gothic"/>
                <a:ea typeface="Yu Gothic"/>
                <a:cs typeface="Yu Gothic"/>
              </a:rPr>
              <a:t>time / sensor / control</a:t>
            </a:r>
          </a:p>
          <a:p>
            <a:pPr algn="ctr">
              <a:lnSpc>
                <a:spcPct val="106000"/>
              </a:lnSpc>
              <a:buNone/>
              <a:defRPr sz="863" b="0" i="0">
                <a:solidFill>
                  <a:srgbClr val="5B5B5B"/>
                </a:solidFill>
                <a:latin typeface="Yu Gothic"/>
                <a:ea typeface="Yu Gothic"/>
                <a:cs typeface="Yu Gothic"/>
              </a:defRPr>
            </a:pPr>
            <a:r>
              <a:rPr sz="863" b="0" i="0">
                <a:solidFill>
                  <a:srgbClr val="5B5B5B"/>
                </a:solidFill>
                <a:latin typeface="Yu Gothic"/>
                <a:ea typeface="Yu Gothic"/>
                <a:cs typeface="Yu Gothic"/>
              </a:rPr>
              <a:t>self-contained case</a:t>
            </a:r>
          </a:p>
        </p:txBody>
      </p:sp>
      <p:sp>
        <p:nvSpPr>
          <p:cNvPr id="12" name="正方形/長方形 11">
            <a:extLst>
              <a:ext uri="{FF2B5EF4-FFF2-40B4-BE49-F238E27FC236}">
                <a16:creationId xmlns:a16="http://schemas.microsoft.com/office/drawing/2014/main" id="{1E318CD5-7275-4949-B4BD-6903209FC55F}"/>
              </a:ext>
            </a:extLst>
          </p:cNvPr>
          <p:cNvSpPr>
            <a:spLocks noGrp="1"/>
          </p:cNvSpPr>
          <p:nvPr/>
        </p:nvSpPr>
        <p:spPr>
          <a:xfrm>
            <a:off x="3009900" y="1504950"/>
            <a:ext cx="2057400" cy="1057275"/>
          </a:xfrm>
          <a:prstGeom prst="rect">
            <a:avLst/>
          </a:prstGeom>
          <a:solidFill>
            <a:srgbClr val="E5F6FB"/>
          </a:solidFill>
          <a:ln w="9525">
            <a:solidFill>
              <a:srgbClr val="00A5D8"/>
            </a:solidFill>
            <a:prstDash val="solid"/>
          </a:ln>
        </p:spPr>
      </p:sp>
      <p:sp>
        <p:nvSpPr>
          <p:cNvPr id="13" name="正方形/長方形 12">
            <a:extLst>
              <a:ext uri="{FF2B5EF4-FFF2-40B4-BE49-F238E27FC236}">
                <a16:creationId xmlns:a16="http://schemas.microsoft.com/office/drawing/2014/main" id="{C366D62A-2D22-409C-AC00-5A7B75F9D3BB}"/>
              </a:ext>
            </a:extLst>
          </p:cNvPr>
          <p:cNvSpPr>
            <a:spLocks noGrp="1"/>
          </p:cNvSpPr>
          <p:nvPr/>
        </p:nvSpPr>
        <p:spPr>
          <a:xfrm>
            <a:off x="3181350" y="1676400"/>
            <a:ext cx="1714500" cy="257175"/>
          </a:xfrm>
          <a:prstGeom prst="rect">
            <a:avLst/>
          </a:prstGeom>
          <a:noFill/>
          <a:ln w="0">
            <a:noFill/>
            <a:prstDash val="solid"/>
          </a:ln>
        </p:spPr>
        <p:txBody>
          <a:bodyPr wrap="square" lIns="28575" tIns="19050" rIns="28575" bIns="19050" anchor="ctr">
            <a:normAutofit/>
          </a:bodyPr>
          <a:lstStyle/>
          <a:p>
            <a:pPr algn="ctr">
              <a:lnSpc>
                <a:spcPct val="100000"/>
              </a:lnSpc>
              <a:buNone/>
              <a:defRPr sz="1275" b="1" i="0">
                <a:solidFill>
                  <a:srgbClr val="007FA8"/>
                </a:solidFill>
                <a:latin typeface="Yu Gothic"/>
                <a:ea typeface="Yu Gothic"/>
                <a:cs typeface="Yu Gothic"/>
              </a:defRPr>
            </a:pPr>
            <a:r>
              <a:rPr sz="1275" b="1" i="0">
                <a:solidFill>
                  <a:srgbClr val="007FA8"/>
                </a:solidFill>
                <a:latin typeface="Yu Gothic"/>
                <a:ea typeface="Yu Gothic"/>
                <a:cs typeface="Yu Gothic"/>
              </a:rPr>
              <a:t>Trajectory</a:t>
            </a:r>
          </a:p>
        </p:txBody>
      </p:sp>
      <p:sp>
        <p:nvSpPr>
          <p:cNvPr id="14" name="正方形/長方形 13">
            <a:extLst>
              <a:ext uri="{FF2B5EF4-FFF2-40B4-BE49-F238E27FC236}">
                <a16:creationId xmlns:a16="http://schemas.microsoft.com/office/drawing/2014/main" id="{FE9A153E-F576-46D0-818B-8A41CF843EB4}"/>
              </a:ext>
            </a:extLst>
          </p:cNvPr>
          <p:cNvSpPr>
            <a:spLocks noGrp="1"/>
          </p:cNvSpPr>
          <p:nvPr/>
        </p:nvSpPr>
        <p:spPr>
          <a:xfrm>
            <a:off x="3181350" y="2028825"/>
            <a:ext cx="1714500" cy="371475"/>
          </a:xfrm>
          <a:prstGeom prst="rect">
            <a:avLst/>
          </a:prstGeom>
          <a:noFill/>
          <a:ln w="0">
            <a:noFill/>
            <a:prstDash val="solid"/>
          </a:ln>
        </p:spPr>
        <p:txBody>
          <a:bodyPr wrap="square" lIns="28575" tIns="19050" rIns="28575" bIns="19050" anchor="ctr">
            <a:normAutofit/>
          </a:bodyPr>
          <a:lstStyle/>
          <a:p>
            <a:pPr algn="ctr">
              <a:lnSpc>
                <a:spcPct val="106000"/>
              </a:lnSpc>
              <a:buNone/>
              <a:defRPr sz="863" b="0" i="0">
                <a:solidFill>
                  <a:srgbClr val="5B5B5B"/>
                </a:solidFill>
                <a:latin typeface="Yu Gothic"/>
                <a:ea typeface="Yu Gothic"/>
                <a:cs typeface="Yu Gothic"/>
              </a:defRPr>
            </a:pPr>
            <a:r>
              <a:rPr sz="863" b="0" i="0">
                <a:solidFill>
                  <a:srgbClr val="5B5B5B"/>
                </a:solidFill>
                <a:latin typeface="Yu Gothic"/>
                <a:ea typeface="Yu Gothic"/>
                <a:cs typeface="Yu Gothic"/>
              </a:rPr>
              <a:t>validated arrays</a:t>
            </a:r>
          </a:p>
          <a:p>
            <a:pPr algn="ctr">
              <a:lnSpc>
                <a:spcPct val="106000"/>
              </a:lnSpc>
              <a:buNone/>
              <a:defRPr sz="863" b="0" i="0">
                <a:solidFill>
                  <a:srgbClr val="5B5B5B"/>
                </a:solidFill>
                <a:latin typeface="Yu Gothic"/>
                <a:ea typeface="Yu Gothic"/>
                <a:cs typeface="Yu Gothic"/>
              </a:defRPr>
            </a:pPr>
            <a:r>
              <a:rPr sz="863" b="0" i="0">
                <a:solidFill>
                  <a:srgbClr val="5B5B5B"/>
                </a:solidFill>
                <a:latin typeface="Yu Gothic"/>
                <a:ea typeface="Yu Gothic"/>
                <a:cs typeface="Yu Gothic"/>
              </a:rPr>
              <a:t>variable Δt / missing mask</a:t>
            </a:r>
          </a:p>
        </p:txBody>
      </p:sp>
      <p:sp>
        <p:nvSpPr>
          <p:cNvPr id="15" name="正方形/長方形 14">
            <a:extLst>
              <a:ext uri="{FF2B5EF4-FFF2-40B4-BE49-F238E27FC236}">
                <a16:creationId xmlns:a16="http://schemas.microsoft.com/office/drawing/2014/main" id="{456AB40F-AD69-445B-9D52-15BF5CCC6228}"/>
              </a:ext>
            </a:extLst>
          </p:cNvPr>
          <p:cNvSpPr>
            <a:spLocks noGrp="1"/>
          </p:cNvSpPr>
          <p:nvPr/>
        </p:nvSpPr>
        <p:spPr>
          <a:xfrm>
            <a:off x="5467350" y="1504950"/>
            <a:ext cx="2057400" cy="1057275"/>
          </a:xfrm>
          <a:prstGeom prst="rect">
            <a:avLst/>
          </a:prstGeom>
          <a:solidFill>
            <a:srgbClr val="EEF7DF"/>
          </a:solidFill>
          <a:ln w="9525">
            <a:solidFill>
              <a:srgbClr val="76BE18"/>
            </a:solidFill>
            <a:prstDash val="solid"/>
          </a:ln>
        </p:spPr>
      </p:sp>
      <p:sp>
        <p:nvSpPr>
          <p:cNvPr id="16" name="正方形/長方形 15">
            <a:extLst>
              <a:ext uri="{FF2B5EF4-FFF2-40B4-BE49-F238E27FC236}">
                <a16:creationId xmlns:a16="http://schemas.microsoft.com/office/drawing/2014/main" id="{5DFEAADD-FD95-4816-91C8-93ED5F64D4D9}"/>
              </a:ext>
            </a:extLst>
          </p:cNvPr>
          <p:cNvSpPr>
            <a:spLocks noGrp="1"/>
          </p:cNvSpPr>
          <p:nvPr/>
        </p:nvSpPr>
        <p:spPr>
          <a:xfrm>
            <a:off x="5638800" y="1676400"/>
            <a:ext cx="1714500" cy="257175"/>
          </a:xfrm>
          <a:prstGeom prst="rect">
            <a:avLst/>
          </a:prstGeom>
          <a:noFill/>
          <a:ln w="0">
            <a:noFill/>
            <a:prstDash val="solid"/>
          </a:ln>
        </p:spPr>
        <p:txBody>
          <a:bodyPr wrap="square" lIns="28575" tIns="19050" rIns="28575" bIns="19050" anchor="ctr">
            <a:normAutofit/>
          </a:bodyPr>
          <a:lstStyle/>
          <a:p>
            <a:pPr algn="ctr">
              <a:lnSpc>
                <a:spcPct val="100000"/>
              </a:lnSpc>
              <a:buNone/>
              <a:defRPr sz="1275" b="1" i="0">
                <a:solidFill>
                  <a:srgbClr val="4D8710"/>
                </a:solidFill>
                <a:latin typeface="Yu Gothic"/>
                <a:ea typeface="Yu Gothic"/>
                <a:cs typeface="Yu Gothic"/>
              </a:defRPr>
            </a:pPr>
            <a:r>
              <a:rPr sz="1275" b="1" i="0">
                <a:solidFill>
                  <a:srgbClr val="4D8710"/>
                </a:solidFill>
                <a:latin typeface="Yu Gothic"/>
                <a:ea typeface="Yu Gothic"/>
                <a:cs typeface="Yu Gothic"/>
              </a:rPr>
              <a:t>Thermal model</a:t>
            </a:r>
          </a:p>
        </p:txBody>
      </p:sp>
      <p:sp>
        <p:nvSpPr>
          <p:cNvPr id="17" name="正方形/長方形 16">
            <a:extLst>
              <a:ext uri="{FF2B5EF4-FFF2-40B4-BE49-F238E27FC236}">
                <a16:creationId xmlns:a16="http://schemas.microsoft.com/office/drawing/2014/main" id="{E90ED42B-C419-4E77-802E-BF586A3C15FD}"/>
              </a:ext>
            </a:extLst>
          </p:cNvPr>
          <p:cNvSpPr>
            <a:spLocks noGrp="1"/>
          </p:cNvSpPr>
          <p:nvPr/>
        </p:nvSpPr>
        <p:spPr>
          <a:xfrm>
            <a:off x="5638800" y="2028825"/>
            <a:ext cx="1714500" cy="371475"/>
          </a:xfrm>
          <a:prstGeom prst="rect">
            <a:avLst/>
          </a:prstGeom>
          <a:noFill/>
          <a:ln w="0">
            <a:noFill/>
            <a:prstDash val="solid"/>
          </a:ln>
        </p:spPr>
        <p:txBody>
          <a:bodyPr wrap="square" lIns="28575" tIns="19050" rIns="28575" bIns="19050" anchor="ctr">
            <a:normAutofit/>
          </a:bodyPr>
          <a:lstStyle/>
          <a:p>
            <a:pPr algn="ctr">
              <a:lnSpc>
                <a:spcPct val="106000"/>
              </a:lnSpc>
              <a:buNone/>
              <a:defRPr sz="863" b="0" i="0">
                <a:solidFill>
                  <a:srgbClr val="5B5B5B"/>
                </a:solidFill>
                <a:latin typeface="Yu Gothic"/>
                <a:ea typeface="Yu Gothic"/>
                <a:cs typeface="Yu Gothic"/>
              </a:defRPr>
            </a:pPr>
            <a:r>
              <a:rPr sz="863" b="0" i="0">
                <a:solidFill>
                  <a:srgbClr val="5B5B5B"/>
                </a:solidFill>
                <a:latin typeface="Yu Gothic"/>
                <a:ea typeface="Yu Gothic"/>
                <a:cs typeface="Yu Gothic"/>
              </a:rPr>
              <a:t>same rollout engine</a:t>
            </a:r>
          </a:p>
          <a:p>
            <a:pPr algn="ctr">
              <a:lnSpc>
                <a:spcPct val="106000"/>
              </a:lnSpc>
              <a:buNone/>
              <a:defRPr sz="863" b="0" i="0">
                <a:solidFill>
                  <a:srgbClr val="5B5B5B"/>
                </a:solidFill>
                <a:latin typeface="Yu Gothic"/>
                <a:ea typeface="Yu Gothic"/>
                <a:cs typeface="Yu Gothic"/>
              </a:defRPr>
            </a:pPr>
            <a:r>
              <a:rPr sz="863" b="0" i="0">
                <a:solidFill>
                  <a:srgbClr val="5B5B5B"/>
                </a:solidFill>
                <a:latin typeface="Yu Gothic"/>
                <a:ea typeface="Yu Gothic"/>
                <a:cs typeface="Yu Gothic"/>
              </a:rPr>
              <a:t>train / forecast / monitor</a:t>
            </a:r>
          </a:p>
        </p:txBody>
      </p:sp>
      <p:sp>
        <p:nvSpPr>
          <p:cNvPr id="18" name="正方形/長方形 17">
            <a:extLst>
              <a:ext uri="{FF2B5EF4-FFF2-40B4-BE49-F238E27FC236}">
                <a16:creationId xmlns:a16="http://schemas.microsoft.com/office/drawing/2014/main" id="{C85F252A-18E3-4C97-8AD2-0A6C900CA778}"/>
              </a:ext>
            </a:extLst>
          </p:cNvPr>
          <p:cNvSpPr>
            <a:spLocks noGrp="1"/>
          </p:cNvSpPr>
          <p:nvPr/>
        </p:nvSpPr>
        <p:spPr>
          <a:xfrm>
            <a:off x="7924800" y="1504950"/>
            <a:ext cx="2057400" cy="1057275"/>
          </a:xfrm>
          <a:prstGeom prst="rect">
            <a:avLst/>
          </a:prstGeom>
          <a:solidFill>
            <a:srgbClr val="EFE5F6"/>
          </a:solidFill>
          <a:ln w="9525">
            <a:solidFill>
              <a:srgbClr val="7B2DAF"/>
            </a:solidFill>
            <a:prstDash val="solid"/>
          </a:ln>
        </p:spPr>
      </p:sp>
      <p:sp>
        <p:nvSpPr>
          <p:cNvPr id="19" name="正方形/長方形 18">
            <a:extLst>
              <a:ext uri="{FF2B5EF4-FFF2-40B4-BE49-F238E27FC236}">
                <a16:creationId xmlns:a16="http://schemas.microsoft.com/office/drawing/2014/main" id="{F72AA07B-1403-4E7D-9FC5-2E7FF8FDC64C}"/>
              </a:ext>
            </a:extLst>
          </p:cNvPr>
          <p:cNvSpPr>
            <a:spLocks noGrp="1"/>
          </p:cNvSpPr>
          <p:nvPr/>
        </p:nvSpPr>
        <p:spPr>
          <a:xfrm>
            <a:off x="8096250" y="1676400"/>
            <a:ext cx="1714500" cy="257175"/>
          </a:xfrm>
          <a:prstGeom prst="rect">
            <a:avLst/>
          </a:prstGeom>
          <a:noFill/>
          <a:ln w="0">
            <a:noFill/>
            <a:prstDash val="solid"/>
          </a:ln>
        </p:spPr>
        <p:txBody>
          <a:bodyPr wrap="square" lIns="28575" tIns="19050" rIns="28575" bIns="19050" anchor="ctr">
            <a:normAutofit/>
          </a:bodyPr>
          <a:lstStyle/>
          <a:p>
            <a:pPr algn="ctr">
              <a:lnSpc>
                <a:spcPct val="100000"/>
              </a:lnSpc>
              <a:buNone/>
              <a:defRPr sz="1275" b="1" i="0">
                <a:solidFill>
                  <a:srgbClr val="7B2DAF"/>
                </a:solidFill>
                <a:latin typeface="Yu Gothic"/>
                <a:ea typeface="Yu Gothic"/>
                <a:cs typeface="Yu Gothic"/>
              </a:defRPr>
            </a:pPr>
            <a:r>
              <a:rPr sz="1275" b="1" i="0">
                <a:solidFill>
                  <a:srgbClr val="7B2DAF"/>
                </a:solidFill>
                <a:latin typeface="Yu Gothic"/>
                <a:ea typeface="Yu Gothic"/>
                <a:cs typeface="Yu Gothic"/>
              </a:rPr>
              <a:t>Artifact</a:t>
            </a:r>
          </a:p>
        </p:txBody>
      </p:sp>
      <p:sp>
        <p:nvSpPr>
          <p:cNvPr id="20" name="正方形/長方形 19">
            <a:extLst>
              <a:ext uri="{FF2B5EF4-FFF2-40B4-BE49-F238E27FC236}">
                <a16:creationId xmlns:a16="http://schemas.microsoft.com/office/drawing/2014/main" id="{A2D4E64B-4155-4438-A304-3C61A3123DC3}"/>
              </a:ext>
            </a:extLst>
          </p:cNvPr>
          <p:cNvSpPr>
            <a:spLocks noGrp="1"/>
          </p:cNvSpPr>
          <p:nvPr/>
        </p:nvSpPr>
        <p:spPr>
          <a:xfrm>
            <a:off x="8096250" y="2028825"/>
            <a:ext cx="1714500" cy="371475"/>
          </a:xfrm>
          <a:prstGeom prst="rect">
            <a:avLst/>
          </a:prstGeom>
          <a:noFill/>
          <a:ln w="0">
            <a:noFill/>
            <a:prstDash val="solid"/>
          </a:ln>
        </p:spPr>
        <p:txBody>
          <a:bodyPr wrap="square" lIns="28575" tIns="19050" rIns="28575" bIns="19050" anchor="ctr">
            <a:normAutofit/>
          </a:bodyPr>
          <a:lstStyle/>
          <a:p>
            <a:pPr algn="ctr">
              <a:lnSpc>
                <a:spcPct val="106000"/>
              </a:lnSpc>
              <a:buNone/>
              <a:defRPr sz="863" b="0" i="0">
                <a:solidFill>
                  <a:srgbClr val="5B5B5B"/>
                </a:solidFill>
                <a:latin typeface="Yu Gothic"/>
                <a:ea typeface="Yu Gothic"/>
                <a:cs typeface="Yu Gothic"/>
              </a:defRPr>
            </a:pPr>
            <a:r>
              <a:rPr sz="863" b="0" i="0">
                <a:solidFill>
                  <a:srgbClr val="5B5B5B"/>
                </a:solidFill>
                <a:latin typeface="Yu Gothic"/>
                <a:ea typeface="Yu Gothic"/>
                <a:cs typeface="Yu Gothic"/>
              </a:rPr>
              <a:t>state + system + metadata</a:t>
            </a:r>
          </a:p>
          <a:p>
            <a:pPr algn="ctr">
              <a:lnSpc>
                <a:spcPct val="106000"/>
              </a:lnSpc>
              <a:buNone/>
              <a:defRPr sz="863" b="0" i="0">
                <a:solidFill>
                  <a:srgbClr val="5B5B5B"/>
                </a:solidFill>
                <a:latin typeface="Yu Gothic"/>
                <a:ea typeface="Yu Gothic"/>
                <a:cs typeface="Yu Gothic"/>
              </a:defRPr>
            </a:pPr>
            <a:r>
              <a:rPr sz="863" b="0" i="0">
                <a:solidFill>
                  <a:srgbClr val="5B5B5B"/>
                </a:solidFill>
                <a:latin typeface="Yu Gothic"/>
                <a:ea typeface="Yu Gothic"/>
                <a:cs typeface="Yu Gothic"/>
              </a:rPr>
              <a:t>portable directory</a:t>
            </a:r>
          </a:p>
        </p:txBody>
      </p:sp>
      <p:sp>
        <p:nvSpPr>
          <p:cNvPr id="21" name="正方形/長方形 20">
            <a:extLst>
              <a:ext uri="{FF2B5EF4-FFF2-40B4-BE49-F238E27FC236}">
                <a16:creationId xmlns:a16="http://schemas.microsoft.com/office/drawing/2014/main" id="{F6DB3878-8085-424C-A700-F7222C31A138}"/>
              </a:ext>
            </a:extLst>
          </p:cNvPr>
          <p:cNvSpPr>
            <a:spLocks noGrp="1"/>
          </p:cNvSpPr>
          <p:nvPr/>
        </p:nvSpPr>
        <p:spPr>
          <a:xfrm>
            <a:off x="10382250" y="1504950"/>
            <a:ext cx="1257300" cy="1057275"/>
          </a:xfrm>
          <a:prstGeom prst="rect">
            <a:avLst/>
          </a:prstGeom>
          <a:solidFill>
            <a:srgbClr val="201445"/>
          </a:solidFill>
          <a:ln w="0">
            <a:noFill/>
            <a:prstDash val="solid"/>
          </a:ln>
        </p:spPr>
      </p:sp>
      <p:sp>
        <p:nvSpPr>
          <p:cNvPr id="22" name="正方形/長方形 21">
            <a:extLst>
              <a:ext uri="{FF2B5EF4-FFF2-40B4-BE49-F238E27FC236}">
                <a16:creationId xmlns:a16="http://schemas.microsoft.com/office/drawing/2014/main" id="{ED773D88-23E0-4E2A-8154-A09CEA61DFD8}"/>
              </a:ext>
            </a:extLst>
          </p:cNvPr>
          <p:cNvSpPr>
            <a:spLocks noGrp="1"/>
          </p:cNvSpPr>
          <p:nvPr/>
        </p:nvSpPr>
        <p:spPr>
          <a:xfrm>
            <a:off x="10477500" y="1685925"/>
            <a:ext cx="1066800" cy="257175"/>
          </a:xfrm>
          <a:prstGeom prst="rect">
            <a:avLst/>
          </a:prstGeom>
          <a:noFill/>
          <a:ln w="0">
            <a:noFill/>
            <a:prstDash val="solid"/>
          </a:ln>
        </p:spPr>
        <p:txBody>
          <a:bodyPr wrap="square" lIns="28575" tIns="19050" rIns="28575" bIns="19050" anchor="ctr">
            <a:normAutofit/>
          </a:bodyPr>
          <a:lstStyle/>
          <a:p>
            <a:pPr algn="ctr">
              <a:lnSpc>
                <a:spcPct val="100000"/>
              </a:lnSpc>
              <a:buNone/>
              <a:defRPr sz="1275" b="1" i="0">
                <a:solidFill>
                  <a:srgbClr val="FFFFFF"/>
                </a:solidFill>
                <a:latin typeface="Yu Gothic"/>
                <a:ea typeface="Yu Gothic"/>
                <a:cs typeface="Yu Gothic"/>
              </a:defRPr>
            </a:pPr>
            <a:r>
              <a:rPr sz="1275" b="1" i="0">
                <a:solidFill>
                  <a:srgbClr val="FFFFFF"/>
                </a:solidFill>
                <a:latin typeface="Yu Gothic"/>
                <a:ea typeface="Yu Gothic"/>
                <a:cs typeface="Yu Gothic"/>
              </a:rPr>
              <a:t>Results</a:t>
            </a:r>
          </a:p>
        </p:txBody>
      </p:sp>
      <p:sp>
        <p:nvSpPr>
          <p:cNvPr id="23" name="正方形/長方形 22">
            <a:extLst>
              <a:ext uri="{FF2B5EF4-FFF2-40B4-BE49-F238E27FC236}">
                <a16:creationId xmlns:a16="http://schemas.microsoft.com/office/drawing/2014/main" id="{55D5084B-5974-437E-998F-1F309BA4A88F}"/>
              </a:ext>
            </a:extLst>
          </p:cNvPr>
          <p:cNvSpPr>
            <a:spLocks noGrp="1"/>
          </p:cNvSpPr>
          <p:nvPr/>
        </p:nvSpPr>
        <p:spPr>
          <a:xfrm>
            <a:off x="10477500" y="2038350"/>
            <a:ext cx="1066800" cy="361950"/>
          </a:xfrm>
          <a:prstGeom prst="rect">
            <a:avLst/>
          </a:prstGeom>
          <a:noFill/>
          <a:ln w="0">
            <a:noFill/>
            <a:prstDash val="solid"/>
          </a:ln>
        </p:spPr>
        <p:txBody>
          <a:bodyPr wrap="square" lIns="28575" tIns="19050" rIns="28575" bIns="19050" anchor="ctr">
            <a:normAutofit/>
          </a:bodyPr>
          <a:lstStyle/>
          <a:p>
            <a:pPr algn="ctr">
              <a:lnSpc>
                <a:spcPct val="100000"/>
              </a:lnSpc>
              <a:buNone/>
              <a:defRPr sz="863" b="0" i="0">
                <a:solidFill>
                  <a:srgbClr val="D8D0E8"/>
                </a:solidFill>
                <a:latin typeface="Yu Gothic"/>
                <a:ea typeface="Yu Gothic"/>
                <a:cs typeface="Yu Gothic"/>
              </a:defRPr>
            </a:pPr>
            <a:r>
              <a:rPr sz="863" b="0" i="0">
                <a:solidFill>
                  <a:srgbClr val="D8D0E8"/>
                </a:solidFill>
                <a:latin typeface="Yu Gothic"/>
                <a:ea typeface="Yu Gothic"/>
                <a:cs typeface="Yu Gothic"/>
              </a:rPr>
              <a:t>CSV / JSON</a:t>
            </a:r>
          </a:p>
          <a:p>
            <a:pPr algn="ctr">
              <a:lnSpc>
                <a:spcPct val="100000"/>
              </a:lnSpc>
              <a:buNone/>
              <a:defRPr sz="863" b="0" i="0">
                <a:solidFill>
                  <a:srgbClr val="D8D0E8"/>
                </a:solidFill>
                <a:latin typeface="Yu Gothic"/>
                <a:ea typeface="Yu Gothic"/>
                <a:cs typeface="Yu Gothic"/>
              </a:defRPr>
            </a:pPr>
            <a:r>
              <a:rPr sz="863" b="0" i="0">
                <a:solidFill>
                  <a:srgbClr val="D8D0E8"/>
                </a:solidFill>
                <a:latin typeface="Yu Gothic"/>
                <a:ea typeface="Yu Gothic"/>
                <a:cs typeface="Yu Gothic"/>
              </a:rPr>
              <a:t>manifest</a:t>
            </a:r>
          </a:p>
        </p:txBody>
      </p:sp>
      <p:cxnSp>
        <p:nvCxnSpPr>
          <p:cNvPr id="54" name="直線矢印コネクタ 53"/>
          <p:cNvCxnSpPr>
            <a:stCxn id="9" idx="3"/>
            <a:endCxn id="12" idx="1"/>
          </p:cNvCxnSpPr>
          <p:nvPr/>
        </p:nvCxnSpPr>
        <p:spPr>
          <a:xfrm>
            <a:off x="2609850" y="2033588"/>
            <a:ext cx="400050" cy="0"/>
          </a:xfrm>
          <a:prstGeom prst="straightConnector1">
            <a:avLst/>
          </a:prstGeom>
          <a:ln w="19050">
            <a:solidFill>
              <a:srgbClr val="007FA8"/>
            </a:solidFill>
            <a:prstDash val="solid"/>
            <a:tailEnd type="triangle" w="sm" len="sm"/>
          </a:ln>
        </p:spPr>
      </p:cxnSp>
      <p:cxnSp>
        <p:nvCxnSpPr>
          <p:cNvPr id="55" name="直線矢印コネクタ 54"/>
          <p:cNvCxnSpPr>
            <a:stCxn id="12" idx="3"/>
            <a:endCxn id="15" idx="1"/>
          </p:cNvCxnSpPr>
          <p:nvPr/>
        </p:nvCxnSpPr>
        <p:spPr>
          <a:xfrm>
            <a:off x="5067300" y="2033588"/>
            <a:ext cx="400050" cy="0"/>
          </a:xfrm>
          <a:prstGeom prst="straightConnector1">
            <a:avLst/>
          </a:prstGeom>
          <a:ln w="19050">
            <a:solidFill>
              <a:srgbClr val="007FA8"/>
            </a:solidFill>
            <a:prstDash val="solid"/>
            <a:tailEnd type="triangle" w="sm" len="sm"/>
          </a:ln>
        </p:spPr>
      </p:cxnSp>
      <p:cxnSp>
        <p:nvCxnSpPr>
          <p:cNvPr id="56" name="直線矢印コネクタ 55"/>
          <p:cNvCxnSpPr>
            <a:stCxn id="15" idx="3"/>
            <a:endCxn id="18" idx="1"/>
          </p:cNvCxnSpPr>
          <p:nvPr/>
        </p:nvCxnSpPr>
        <p:spPr>
          <a:xfrm>
            <a:off x="7524750" y="2033588"/>
            <a:ext cx="400050" cy="0"/>
          </a:xfrm>
          <a:prstGeom prst="straightConnector1">
            <a:avLst/>
          </a:prstGeom>
          <a:ln w="19050">
            <a:solidFill>
              <a:srgbClr val="007FA8"/>
            </a:solidFill>
            <a:prstDash val="solid"/>
            <a:tailEnd type="triangle" w="sm" len="sm"/>
          </a:ln>
        </p:spPr>
      </p:cxnSp>
      <p:cxnSp>
        <p:nvCxnSpPr>
          <p:cNvPr id="57" name="直線矢印コネクタ 56"/>
          <p:cNvCxnSpPr>
            <a:stCxn id="18" idx="3"/>
            <a:endCxn id="21" idx="1"/>
          </p:cNvCxnSpPr>
          <p:nvPr/>
        </p:nvCxnSpPr>
        <p:spPr>
          <a:xfrm>
            <a:off x="9982200" y="2033588"/>
            <a:ext cx="400050" cy="0"/>
          </a:xfrm>
          <a:prstGeom prst="straightConnector1">
            <a:avLst/>
          </a:prstGeom>
          <a:ln w="19050">
            <a:solidFill>
              <a:srgbClr val="007FA8"/>
            </a:solidFill>
            <a:prstDash val="solid"/>
            <a:tailEnd type="triangle" w="sm" len="sm"/>
          </a:ln>
        </p:spPr>
      </p:cxnSp>
      <p:graphicFrame>
        <p:nvGraphicFramePr>
          <p:cNvPr id="58" name="表 57"/>
          <p:cNvGraphicFramePr/>
          <p:nvPr/>
        </p:nvGraphicFramePr>
        <p:xfrm>
          <a:off x="552450" y="2867025"/>
          <a:ext cx="11087100" cy="2800350"/>
        </p:xfrm>
        <a:graphic>
          <a:graphicData uri="http://schemas.openxmlformats.org/drawingml/2006/table">
            <a:tbl>
              <a:tblPr/>
              <a:tblGrid>
                <a:gridCol w="1952625">
                  <a:extLst>
                    <a:ext uri="{9D8B030D-6E8A-4147-A177-3AD203B41FA5}">
                      <a16:colId xmlns:a16="http://schemas.microsoft.com/office/drawing/2014/main" val="20000"/>
                    </a:ext>
                  </a:extLst>
                </a:gridCol>
                <a:gridCol w="2781300">
                  <a:extLst>
                    <a:ext uri="{9D8B030D-6E8A-4147-A177-3AD203B41FA5}">
                      <a16:colId xmlns:a16="http://schemas.microsoft.com/office/drawing/2014/main" val="20001"/>
                    </a:ext>
                  </a:extLst>
                </a:gridCol>
                <a:gridCol w="3362325">
                  <a:extLst>
                    <a:ext uri="{9D8B030D-6E8A-4147-A177-3AD203B41FA5}">
                      <a16:colId xmlns:a16="http://schemas.microsoft.com/office/drawing/2014/main" val="20002"/>
                    </a:ext>
                  </a:extLst>
                </a:gridCol>
                <a:gridCol w="2990850">
                  <a:extLst>
                    <a:ext uri="{9D8B030D-6E8A-4147-A177-3AD203B41FA5}">
                      <a16:colId xmlns:a16="http://schemas.microsoft.com/office/drawing/2014/main" val="20003"/>
                    </a:ext>
                  </a:extLst>
                </a:gridCol>
              </a:tblGrid>
              <a:tr h="466725">
                <a:tc>
                  <a:txBody>
                    <a:bodyPr/>
                    <a:lstStyle/>
                    <a:p>
                      <a:r>
                        <a:rPr sz="938" b="1">
                          <a:solidFill>
                            <a:srgbClr val="FFFFFF"/>
                          </a:solidFill>
                          <a:latin typeface="Yu Gothic"/>
                          <a:ea typeface="Yu Gothic"/>
                          <a:cs typeface="Yu Gothic"/>
                        </a:rPr>
                        <a:t>contract</a:t>
                      </a:r>
                    </a:p>
                  </a:txBody>
                  <a:tcPr>
                    <a:solidFill>
                      <a:srgbClr val="007FA8"/>
                    </a:solidFill>
                  </a:tcPr>
                </a:tc>
                <a:tc>
                  <a:txBody>
                    <a:bodyPr/>
                    <a:lstStyle/>
                    <a:p>
                      <a:r>
                        <a:rPr sz="938" b="1">
                          <a:solidFill>
                            <a:srgbClr val="FFFFFF"/>
                          </a:solidFill>
                          <a:latin typeface="Yu Gothic"/>
                          <a:ea typeface="Yu Gothic"/>
                          <a:cs typeface="Yu Gothic"/>
                        </a:rPr>
                        <a:t>shape / files</a:t>
                      </a:r>
                    </a:p>
                  </a:txBody>
                  <a:tcPr>
                    <a:solidFill>
                      <a:srgbClr val="007FA8"/>
                    </a:solidFill>
                  </a:tcPr>
                </a:tc>
                <a:tc>
                  <a:txBody>
                    <a:bodyPr/>
                    <a:lstStyle/>
                    <a:p>
                      <a:r>
                        <a:rPr sz="938" b="1">
                          <a:solidFill>
                            <a:srgbClr val="FFFFFF"/>
                          </a:solidFill>
                          <a:latin typeface="Yu Gothic"/>
                          <a:ea typeface="Yu Gothic"/>
                          <a:cs typeface="Yu Gothic"/>
                        </a:rPr>
                        <a:t>必須規約</a:t>
                      </a:r>
                    </a:p>
                  </a:txBody>
                  <a:tcPr>
                    <a:solidFill>
                      <a:srgbClr val="007FA8"/>
                    </a:solidFill>
                  </a:tcPr>
                </a:tc>
                <a:tc>
                  <a:txBody>
                    <a:bodyPr/>
                    <a:lstStyle/>
                    <a:p>
                      <a:r>
                        <a:rPr sz="938" b="1">
                          <a:solidFill>
                            <a:srgbClr val="FFFFFF"/>
                          </a:solidFill>
                          <a:latin typeface="Yu Gothic"/>
                          <a:ea typeface="Yu Gothic"/>
                          <a:cs typeface="Yu Gothic"/>
                        </a:rPr>
                        <a:t>検証・来歴</a:t>
                      </a:r>
                    </a:p>
                  </a:txBody>
                  <a:tcPr>
                    <a:solidFill>
                      <a:srgbClr val="007FA8"/>
                    </a:solidFill>
                  </a:tcPr>
                </a:tc>
                <a:extLst>
                  <a:ext uri="{0D108BD9-81ED-4DB2-BD59-A6C34878D82A}">
                    <a16:rowId xmlns:a16="http://schemas.microsoft.com/office/drawing/2014/main" val="10000"/>
                  </a:ext>
                </a:extLst>
              </a:tr>
              <a:tr h="466725">
                <a:tc>
                  <a:txBody>
                    <a:bodyPr/>
                    <a:lstStyle/>
                    <a:p>
                      <a:r>
                        <a:rPr sz="840" b="1">
                          <a:solidFill>
                            <a:srgbClr val="007FA8"/>
                          </a:solidFill>
                          <a:latin typeface="Yu Gothic"/>
                          <a:ea typeface="Yu Gothic"/>
                          <a:cs typeface="Yu Gothic"/>
                        </a:rPr>
                        <a:t>trajectory</a:t>
                      </a:r>
                    </a:p>
                  </a:txBody>
                  <a:tcPr>
                    <a:solidFill>
                      <a:srgbClr val="FFFFFF"/>
                    </a:solidFill>
                  </a:tcPr>
                </a:tc>
                <a:tc>
                  <a:txBody>
                    <a:bodyPr/>
                    <a:lstStyle/>
                    <a:p>
                      <a:r>
                        <a:rPr sz="840">
                          <a:solidFill>
                            <a:srgbClr val="5B5B5B"/>
                          </a:solidFill>
                          <a:latin typeface="Yu Gothic"/>
                          <a:ea typeface="Yu Gothic"/>
                          <a:cs typeface="Yu Gothic"/>
                        </a:rPr>
                        <a:t>time[N], temperature[N,S]</a:t>
                      </a:r>
                    </a:p>
                  </a:txBody>
                  <a:tcPr>
                    <a:solidFill>
                      <a:srgbClr val="FFFFFF"/>
                    </a:solidFill>
                  </a:tcPr>
                </a:tc>
                <a:tc>
                  <a:txBody>
                    <a:bodyPr/>
                    <a:lstStyle/>
                    <a:p>
                      <a:r>
                        <a:rPr sz="840">
                          <a:solidFill>
                            <a:srgbClr val="5B5B5B"/>
                          </a:solidFill>
                          <a:latin typeface="Yu Gothic"/>
                          <a:ea typeface="Yu Gothic"/>
                          <a:cs typeface="Yu Gothic"/>
                        </a:rPr>
                        <a:t>timeはstrict増加、温度単位を統一</a:t>
                      </a:r>
                    </a:p>
                  </a:txBody>
                  <a:tcPr>
                    <a:solidFill>
                      <a:srgbClr val="FFFFFF"/>
                    </a:solidFill>
                  </a:tcPr>
                </a:tc>
                <a:tc>
                  <a:txBody>
                    <a:bodyPr/>
                    <a:lstStyle/>
                    <a:p>
                      <a:r>
                        <a:rPr sz="840">
                          <a:solidFill>
                            <a:srgbClr val="5B5B5B"/>
                          </a:solidFill>
                          <a:latin typeface="Yu Gothic"/>
                          <a:ea typeface="Yu Gothic"/>
                          <a:cs typeface="Yu Gothic"/>
                        </a:rPr>
                        <a:t>range / missing / layout validation</a:t>
                      </a:r>
                    </a:p>
                  </a:txBody>
                  <a:tcPr>
                    <a:solidFill>
                      <a:srgbClr val="FFFFFF"/>
                    </a:solidFill>
                  </a:tcPr>
                </a:tc>
                <a:extLst>
                  <a:ext uri="{0D108BD9-81ED-4DB2-BD59-A6C34878D82A}">
                    <a16:rowId xmlns:a16="http://schemas.microsoft.com/office/drawing/2014/main" val="10001"/>
                  </a:ext>
                </a:extLst>
              </a:tr>
              <a:tr h="466725">
                <a:tc>
                  <a:txBody>
                    <a:bodyPr/>
                    <a:lstStyle/>
                    <a:p>
                      <a:r>
                        <a:rPr sz="840" b="1">
                          <a:solidFill>
                            <a:srgbClr val="007FA8"/>
                          </a:solidFill>
                          <a:latin typeface="Yu Gothic"/>
                          <a:ea typeface="Yu Gothic"/>
                          <a:cs typeface="Yu Gothic"/>
                        </a:rPr>
                        <a:t>command</a:t>
                      </a:r>
                    </a:p>
                  </a:txBody>
                  <a:tcPr>
                    <a:solidFill>
                      <a:srgbClr val="F8F8F8"/>
                    </a:solidFill>
                  </a:tcPr>
                </a:tc>
                <a:tc>
                  <a:txBody>
                    <a:bodyPr/>
                    <a:lstStyle/>
                    <a:p>
                      <a:r>
                        <a:rPr sz="840">
                          <a:solidFill>
                            <a:srgbClr val="5B5B5B"/>
                          </a:solidFill>
                          <a:latin typeface="Yu Gothic"/>
                          <a:ea typeface="Yu Gothic"/>
                          <a:cs typeface="Yu Gothic"/>
                        </a:rPr>
                        <a:t>commands[N−1,U]</a:t>
                      </a:r>
                    </a:p>
                  </a:txBody>
                  <a:tcPr>
                    <a:solidFill>
                      <a:srgbClr val="F8F8F8"/>
                    </a:solidFill>
                  </a:tcPr>
                </a:tc>
                <a:tc>
                  <a:txBody>
                    <a:bodyPr/>
                    <a:lstStyle/>
                    <a:p>
                      <a:r>
                        <a:rPr sz="840">
                          <a:solidFill>
                            <a:srgbClr val="5B5B5B"/>
                          </a:solidFill>
                          <a:latin typeface="Yu Gothic"/>
                          <a:ea typeface="Yu Gothic"/>
                          <a:cs typeface="Yu Gothic"/>
                        </a:rPr>
                        <a:t>u[k]は[time[k],time[k+1])へ適用</a:t>
                      </a:r>
                    </a:p>
                  </a:txBody>
                  <a:tcPr>
                    <a:solidFill>
                      <a:srgbClr val="F8F8F8"/>
                    </a:solidFill>
                  </a:tcPr>
                </a:tc>
                <a:tc>
                  <a:txBody>
                    <a:bodyPr/>
                    <a:lstStyle/>
                    <a:p>
                      <a:r>
                        <a:rPr sz="840">
                          <a:solidFill>
                            <a:srgbClr val="5B5B5B"/>
                          </a:solidFill>
                          <a:latin typeface="Yu Gothic"/>
                          <a:ea typeface="Yu Gothic"/>
                          <a:cs typeface="Yu Gothic"/>
                        </a:rPr>
                        <a:t>left ZOH；right指定も可能</a:t>
                      </a:r>
                    </a:p>
                  </a:txBody>
                  <a:tcPr>
                    <a:solidFill>
                      <a:srgbClr val="F8F8F8"/>
                    </a:solidFill>
                  </a:tcPr>
                </a:tc>
                <a:extLst>
                  <a:ext uri="{0D108BD9-81ED-4DB2-BD59-A6C34878D82A}">
                    <a16:rowId xmlns:a16="http://schemas.microsoft.com/office/drawing/2014/main" val="10002"/>
                  </a:ext>
                </a:extLst>
              </a:tr>
              <a:tr h="466725">
                <a:tc>
                  <a:txBody>
                    <a:bodyPr/>
                    <a:lstStyle/>
                    <a:p>
                      <a:r>
                        <a:rPr sz="840" b="1">
                          <a:solidFill>
                            <a:srgbClr val="007FA8"/>
                          </a:solidFill>
                          <a:latin typeface="Yu Gothic"/>
                          <a:ea typeface="Yu Gothic"/>
                          <a:cs typeface="Yu Gothic"/>
                        </a:rPr>
                        <a:t>forecast boundary</a:t>
                      </a:r>
                    </a:p>
                  </a:txBody>
                  <a:tcPr>
                    <a:solidFill>
                      <a:srgbClr val="FFFFFF"/>
                    </a:solidFill>
                  </a:tcPr>
                </a:tc>
                <a:tc>
                  <a:txBody>
                    <a:bodyPr/>
                    <a:lstStyle/>
                    <a:p>
                      <a:r>
                        <a:rPr sz="840">
                          <a:solidFill>
                            <a:srgbClr val="5B5B5B"/>
                          </a:solidFill>
                          <a:latin typeface="Yu Gothic"/>
                          <a:ea typeface="Yu Gothic"/>
                          <a:cs typeface="Yu Gothic"/>
                        </a:rPr>
                        <a:t>観測prefix → 全sensor blank future</a:t>
                      </a:r>
                    </a:p>
                  </a:txBody>
                  <a:tcPr>
                    <a:solidFill>
                      <a:srgbClr val="FFFFFF"/>
                    </a:solidFill>
                  </a:tcPr>
                </a:tc>
                <a:tc>
                  <a:txBody>
                    <a:bodyPr/>
                    <a:lstStyle/>
                    <a:p>
                      <a:r>
                        <a:rPr sz="840">
                          <a:solidFill>
                            <a:srgbClr val="5B5B5B"/>
                          </a:solidFill>
                          <a:latin typeface="Yu Gothic"/>
                          <a:ea typeface="Yu Gothic"/>
                          <a:cs typeface="Yu Gothic"/>
                        </a:rPr>
                        <a:t>future開始後の観測再登場を拒否</a:t>
                      </a:r>
                    </a:p>
                  </a:txBody>
                  <a:tcPr>
                    <a:solidFill>
                      <a:srgbClr val="FFFFFF"/>
                    </a:solidFill>
                  </a:tcPr>
                </a:tc>
                <a:tc>
                  <a:txBody>
                    <a:bodyPr/>
                    <a:lstStyle/>
                    <a:p>
                      <a:r>
                        <a:rPr sz="840">
                          <a:solidFill>
                            <a:srgbClr val="5B5B5B"/>
                          </a:solidFill>
                          <a:latin typeface="Yu Gothic"/>
                          <a:ea typeface="Yu Gothic"/>
                          <a:cs typeface="Yu Gothic"/>
                        </a:rPr>
                        <a:t>forecast_origin_indexを保存</a:t>
                      </a:r>
                    </a:p>
                  </a:txBody>
                  <a:tcPr>
                    <a:solidFill>
                      <a:srgbClr val="FFFFFF"/>
                    </a:solidFill>
                  </a:tcPr>
                </a:tc>
                <a:extLst>
                  <a:ext uri="{0D108BD9-81ED-4DB2-BD59-A6C34878D82A}">
                    <a16:rowId xmlns:a16="http://schemas.microsoft.com/office/drawing/2014/main" val="10003"/>
                  </a:ext>
                </a:extLst>
              </a:tr>
              <a:tr h="466725">
                <a:tc>
                  <a:txBody>
                    <a:bodyPr/>
                    <a:lstStyle/>
                    <a:p>
                      <a:r>
                        <a:rPr sz="840" b="1">
                          <a:solidFill>
                            <a:srgbClr val="007FA8"/>
                          </a:solidFill>
                          <a:latin typeface="Yu Gothic"/>
                          <a:ea typeface="Yu Gothic"/>
                          <a:cs typeface="Yu Gothic"/>
                        </a:rPr>
                        <a:t>artifact</a:t>
                      </a:r>
                    </a:p>
                  </a:txBody>
                  <a:tcPr>
                    <a:solidFill>
                      <a:srgbClr val="F8F8F8"/>
                    </a:solidFill>
                  </a:tcPr>
                </a:tc>
                <a:tc>
                  <a:txBody>
                    <a:bodyPr/>
                    <a:lstStyle/>
                    <a:p>
                      <a:r>
                        <a:rPr sz="840">
                          <a:solidFill>
                            <a:srgbClr val="5B5B5B"/>
                          </a:solidFill>
                          <a:latin typeface="Yu Gothic"/>
                          <a:ea typeface="Yu Gothic"/>
                          <a:cs typeface="Yu Gothic"/>
                        </a:rPr>
                        <a:t>model.pt / system.yaml / metadata.json</a:t>
                      </a:r>
                    </a:p>
                  </a:txBody>
                  <a:tcPr>
                    <a:solidFill>
                      <a:srgbClr val="F8F8F8"/>
                    </a:solidFill>
                  </a:tcPr>
                </a:tc>
                <a:tc>
                  <a:txBody>
                    <a:bodyPr/>
                    <a:lstStyle/>
                    <a:p>
                      <a:r>
                        <a:rPr sz="840">
                          <a:solidFill>
                            <a:srgbClr val="5B5B5B"/>
                          </a:solidFill>
                          <a:latin typeface="Yu Gothic"/>
                          <a:ea typeface="Yu Gothic"/>
                          <a:cs typeface="Yu Gothic"/>
                        </a:rPr>
                        <a:t>schema 4、weights_only load</a:t>
                      </a:r>
                    </a:p>
                  </a:txBody>
                  <a:tcPr>
                    <a:solidFill>
                      <a:srgbClr val="F8F8F8"/>
                    </a:solidFill>
                  </a:tcPr>
                </a:tc>
                <a:tc>
                  <a:txBody>
                    <a:bodyPr/>
                    <a:lstStyle/>
                    <a:p>
                      <a:r>
                        <a:rPr sz="840">
                          <a:solidFill>
                            <a:srgbClr val="5B5B5B"/>
                          </a:solidFill>
                          <a:latin typeface="Yu Gothic"/>
                          <a:ea typeface="Yu Gothic"/>
                          <a:cs typeface="Yu Gothic"/>
                        </a:rPr>
                        <a:t>derived buffer・fitted値・SHA-256照合</a:t>
                      </a:r>
                    </a:p>
                  </a:txBody>
                  <a:tcPr>
                    <a:solidFill>
                      <a:srgbClr val="F8F8F8"/>
                    </a:solidFill>
                  </a:tcPr>
                </a:tc>
                <a:extLst>
                  <a:ext uri="{0D108BD9-81ED-4DB2-BD59-A6C34878D82A}">
                    <a16:rowId xmlns:a16="http://schemas.microsoft.com/office/drawing/2014/main" val="10004"/>
                  </a:ext>
                </a:extLst>
              </a:tr>
              <a:tr h="466725">
                <a:tc>
                  <a:txBody>
                    <a:bodyPr/>
                    <a:lstStyle/>
                    <a:p>
                      <a:r>
                        <a:rPr sz="840" b="1">
                          <a:solidFill>
                            <a:srgbClr val="007FA8"/>
                          </a:solidFill>
                          <a:latin typeface="Yu Gothic"/>
                          <a:ea typeface="Yu Gothic"/>
                          <a:cs typeface="Yu Gothic"/>
                        </a:rPr>
                        <a:t>runtime output</a:t>
                      </a:r>
                    </a:p>
                  </a:txBody>
                  <a:tcPr>
                    <a:solidFill>
                      <a:srgbClr val="FFFFFF"/>
                    </a:solidFill>
                  </a:tcPr>
                </a:tc>
                <a:tc>
                  <a:txBody>
                    <a:bodyPr/>
                    <a:lstStyle/>
                    <a:p>
                      <a:r>
                        <a:rPr sz="840">
                          <a:solidFill>
                            <a:srgbClr val="5B5B5B"/>
                          </a:solidFill>
                          <a:latin typeface="Yu Gothic"/>
                          <a:ea typeface="Yu Gothic"/>
                          <a:cs typeface="Yu Gothic"/>
                        </a:rPr>
                        <a:t>case CSV + run_manifest.json</a:t>
                      </a:r>
                    </a:p>
                  </a:txBody>
                  <a:tcPr>
                    <a:solidFill>
                      <a:srgbClr val="FFFFFF"/>
                    </a:solidFill>
                  </a:tcPr>
                </a:tc>
                <a:tc>
                  <a:txBody>
                    <a:bodyPr/>
                    <a:lstStyle/>
                    <a:p>
                      <a:r>
                        <a:rPr sz="840">
                          <a:solidFill>
                            <a:srgbClr val="5B5B5B"/>
                          </a:solidFill>
                          <a:latin typeface="Yu Gothic"/>
                          <a:ea typeface="Yu Gothic"/>
                          <a:cs typeface="Yu Gothic"/>
                        </a:rPr>
                        <a:t>resolved observer設定を保存</a:t>
                      </a:r>
                    </a:p>
                  </a:txBody>
                  <a:tcPr>
                    <a:solidFill>
                      <a:srgbClr val="FFFFFF"/>
                    </a:solidFill>
                  </a:tcPr>
                </a:tc>
                <a:tc>
                  <a:txBody>
                    <a:bodyPr/>
                    <a:lstStyle/>
                    <a:p>
                      <a:r>
                        <a:rPr sz="840">
                          <a:solidFill>
                            <a:srgbClr val="5B5B5B"/>
                          </a:solidFill>
                          <a:latin typeface="Yu Gothic"/>
                          <a:ea typeface="Yu Gothic"/>
                          <a:cs typeface="Yu Gothic"/>
                        </a:rPr>
                        <a:t>input/config/artifact hash</a:t>
                      </a:r>
                    </a:p>
                  </a:txBody>
                  <a:tcPr>
                    <a:solidFill>
                      <a:srgbClr val="FFFFFF"/>
                    </a:solidFill>
                  </a:tcPr>
                </a:tc>
                <a:extLst>
                  <a:ext uri="{0D108BD9-81ED-4DB2-BD59-A6C34878D82A}">
                    <a16:rowId xmlns:a16="http://schemas.microsoft.com/office/drawing/2014/main" val="10005"/>
                  </a:ext>
                </a:extLst>
              </a:tr>
            </a:tbl>
          </a:graphicData>
        </a:graphic>
      </p:graphicFrame>
      <p:sp>
        <p:nvSpPr>
          <p:cNvPr id="29" name="正方形/長方形 28">
            <a:extLst>
              <a:ext uri="{FF2B5EF4-FFF2-40B4-BE49-F238E27FC236}">
                <a16:creationId xmlns:a16="http://schemas.microsoft.com/office/drawing/2014/main" id="{1E1D953A-985C-4F2B-8167-768EAA1ED0D3}"/>
              </a:ext>
            </a:extLst>
          </p:cNvPr>
          <p:cNvSpPr>
            <a:spLocks noGrp="1"/>
          </p:cNvSpPr>
          <p:nvPr/>
        </p:nvSpPr>
        <p:spPr>
          <a:xfrm>
            <a:off x="552450" y="5848350"/>
            <a:ext cx="11087100" cy="400050"/>
          </a:xfrm>
          <a:prstGeom prst="rect">
            <a:avLst/>
          </a:prstGeom>
          <a:solidFill>
            <a:srgbClr val="FFF5D7"/>
          </a:solidFill>
          <a:ln w="9525">
            <a:solidFill>
              <a:srgbClr val="E5A900"/>
            </a:solidFill>
            <a:prstDash val="solid"/>
          </a:ln>
        </p:spPr>
      </p:sp>
      <p:sp>
        <p:nvSpPr>
          <p:cNvPr id="30" name="正方形/長方形 29">
            <a:extLst>
              <a:ext uri="{FF2B5EF4-FFF2-40B4-BE49-F238E27FC236}">
                <a16:creationId xmlns:a16="http://schemas.microsoft.com/office/drawing/2014/main" id="{FD4DA2B1-6ACC-401C-A0DF-6B568FCDB143}"/>
              </a:ext>
            </a:extLst>
          </p:cNvPr>
          <p:cNvSpPr>
            <a:spLocks noGrp="1"/>
          </p:cNvSpPr>
          <p:nvPr/>
        </p:nvSpPr>
        <p:spPr>
          <a:xfrm>
            <a:off x="695325" y="5915025"/>
            <a:ext cx="10801350" cy="228600"/>
          </a:xfrm>
          <a:prstGeom prst="rect">
            <a:avLst/>
          </a:prstGeom>
          <a:noFill/>
          <a:ln w="0">
            <a:noFill/>
            <a:prstDash val="solid"/>
          </a:ln>
        </p:spPr>
        <p:txBody>
          <a:bodyPr wrap="square" lIns="28575" tIns="19050" rIns="28575" bIns="19050" anchor="ctr">
            <a:normAutofit/>
          </a:bodyPr>
          <a:lstStyle/>
          <a:p>
            <a:pPr algn="ctr">
              <a:lnSpc>
                <a:spcPct val="100000"/>
              </a:lnSpc>
              <a:buNone/>
              <a:defRPr sz="900" b="1" i="0">
                <a:solidFill>
                  <a:srgbClr val="806000"/>
                </a:solidFill>
                <a:latin typeface="Yu Gothic"/>
                <a:ea typeface="Yu Gothic"/>
                <a:cs typeface="Yu Gothic"/>
              </a:defRPr>
            </a:pPr>
            <a:r>
              <a:rPr sz="900" b="1" i="0">
                <a:solidFill>
                  <a:srgbClr val="806000"/>
                </a:solidFill>
                <a:latin typeface="Yu Gothic"/>
                <a:ea typeface="Yu Gothic"/>
                <a:cs typeface="Yu Gothic"/>
              </a:rPr>
              <a:t>atomic publish：隣接staging directoryへ全成果物を生成し、成功時のみ既存runと置換する。</a:t>
            </a:r>
          </a:p>
        </p:txBody>
      </p:sp>
    </p:spTree>
    <p:extLst>
      <p:ext uri="{BB962C8B-B14F-4D97-AF65-F5344CB8AC3E}">
        <p14:creationId xmlns:p14="http://schemas.microsoft.com/office/powerpoint/2010/main" val="10435268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5" name="正方形/長方形 54">
            <a:extLst>
              <a:ext uri="{FF2B5EF4-FFF2-40B4-BE49-F238E27FC236}">
                <a16:creationId xmlns:a16="http://schemas.microsoft.com/office/drawing/2014/main" id="{D44F9444-DD3B-4810-8C0A-29FFBFCE6873}"/>
              </a:ext>
            </a:extLst>
          </p:cNvPr>
          <p:cNvSpPr>
            <a:spLocks noGrp="1"/>
          </p:cNvSpPr>
          <p:nvPr/>
        </p:nvSpPr>
        <p:spPr>
          <a:xfrm>
            <a:off x="552450" y="190500"/>
            <a:ext cx="76200" cy="142875"/>
          </a:xfrm>
          <a:prstGeom prst="rect">
            <a:avLst/>
          </a:prstGeom>
          <a:solidFill>
            <a:srgbClr val="76BE18"/>
          </a:solidFill>
          <a:ln w="0">
            <a:noFill/>
            <a:prstDash val="solid"/>
          </a:ln>
        </p:spPr>
      </p:sp>
      <p:sp>
        <p:nvSpPr>
          <p:cNvPr id="2" name="正方形/長方形 1">
            <a:extLst>
              <a:ext uri="{FF2B5EF4-FFF2-40B4-BE49-F238E27FC236}">
                <a16:creationId xmlns:a16="http://schemas.microsoft.com/office/drawing/2014/main" id="{3E4469B9-D8A4-4D36-BCF4-151FA0FE7FD2}"/>
              </a:ext>
            </a:extLst>
          </p:cNvPr>
          <p:cNvSpPr>
            <a:spLocks noGrp="1"/>
          </p:cNvSpPr>
          <p:nvPr/>
        </p:nvSpPr>
        <p:spPr>
          <a:xfrm>
            <a:off x="704850" y="161925"/>
            <a:ext cx="3429000" cy="190500"/>
          </a:xfrm>
          <a:prstGeom prst="rect">
            <a:avLst/>
          </a:prstGeom>
          <a:noFill/>
          <a:ln w="0">
            <a:noFill/>
            <a:prstDash val="solid"/>
          </a:ln>
        </p:spPr>
        <p:txBody>
          <a:bodyPr wrap="none" lIns="28575" tIns="19050" rIns="28575" bIns="19050" anchor="ctr">
            <a:noAutofit/>
          </a:bodyPr>
          <a:lstStyle/>
          <a:p>
            <a:pPr algn="l">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WORKFLOW / TRAIN</a:t>
            </a:r>
          </a:p>
        </p:txBody>
      </p:sp>
      <p:sp>
        <p:nvSpPr>
          <p:cNvPr id="3" name="正方形/長方形 2">
            <a:extLst>
              <a:ext uri="{FF2B5EF4-FFF2-40B4-BE49-F238E27FC236}">
                <a16:creationId xmlns:a16="http://schemas.microsoft.com/office/drawing/2014/main" id="{75C1EE76-DFB5-4379-97B6-9B60F3351CED}"/>
              </a:ext>
            </a:extLst>
          </p:cNvPr>
          <p:cNvSpPr>
            <a:spLocks noGrp="1"/>
          </p:cNvSpPr>
          <p:nvPr/>
        </p:nvSpPr>
        <p:spPr>
          <a:xfrm>
            <a:off x="552450" y="400050"/>
            <a:ext cx="11001375" cy="400050"/>
          </a:xfrm>
          <a:prstGeom prst="rect">
            <a:avLst/>
          </a:prstGeom>
          <a:noFill/>
          <a:ln w="0">
            <a:noFill/>
            <a:prstDash val="solid"/>
          </a:ln>
        </p:spPr>
        <p:txBody>
          <a:bodyPr wrap="none" lIns="19050" tIns="0" rIns="19050" bIns="0" anchor="ctr">
            <a:normAutofit/>
          </a:bodyPr>
          <a:lstStyle/>
          <a:p>
            <a:pPr algn="l">
              <a:lnSpc>
                <a:spcPct val="100000"/>
              </a:lnSpc>
              <a:buNone/>
              <a:defRPr sz="2175" b="1" i="0">
                <a:solidFill>
                  <a:srgbClr val="00A5D8"/>
                </a:solidFill>
                <a:latin typeface="Yu Gothic"/>
                <a:ea typeface="Yu Gothic"/>
                <a:cs typeface="Yu Gothic"/>
              </a:defRPr>
            </a:pPr>
            <a:r>
              <a:rPr sz="2175" b="1" i="0">
                <a:solidFill>
                  <a:srgbClr val="00A5D8"/>
                </a:solidFill>
                <a:latin typeface="Yu Gothic"/>
                <a:ea typeface="Yu Gothic"/>
                <a:cs typeface="Yu Gothic"/>
              </a:rPr>
              <a:t>setupからartifact公開までを一つの再現可能なrunとして固定する</a:t>
            </a:r>
          </a:p>
        </p:txBody>
      </p:sp>
      <p:sp>
        <p:nvSpPr>
          <p:cNvPr id="4" name="正方形/長方形 3">
            <a:extLst>
              <a:ext uri="{FF2B5EF4-FFF2-40B4-BE49-F238E27FC236}">
                <a16:creationId xmlns:a16="http://schemas.microsoft.com/office/drawing/2014/main" id="{EF72998F-145D-4706-BBDE-E509DEA25F5B}"/>
              </a:ext>
            </a:extLst>
          </p:cNvPr>
          <p:cNvSpPr>
            <a:spLocks noGrp="1"/>
          </p:cNvSpPr>
          <p:nvPr/>
        </p:nvSpPr>
        <p:spPr>
          <a:xfrm>
            <a:off x="571500" y="838200"/>
            <a:ext cx="10906125" cy="228600"/>
          </a:xfrm>
          <a:prstGeom prst="rect">
            <a:avLst/>
          </a:prstGeom>
          <a:noFill/>
          <a:ln w="0">
            <a:noFill/>
            <a:prstDash val="solid"/>
          </a:ln>
        </p:spPr>
        <p:txBody>
          <a:bodyPr wrap="none" lIns="28575" tIns="19050" rIns="28575" bIns="19050" anchor="ctr">
            <a:noAutofit/>
          </a:bodyPr>
          <a:lstStyle/>
          <a:p>
            <a:pPr algn="l">
              <a:lnSpc>
                <a:spcPct val="100000"/>
              </a:lnSpc>
              <a:buNone/>
              <a:defRPr sz="975" b="0" i="0">
                <a:solidFill>
                  <a:srgbClr val="5B5B5B"/>
                </a:solidFill>
                <a:latin typeface="Yu Gothic"/>
                <a:ea typeface="Yu Gothic"/>
                <a:cs typeface="Yu Gothic"/>
              </a:defRPr>
            </a:pPr>
            <a:r>
              <a:rPr sz="975" b="0" i="0">
                <a:solidFill>
                  <a:srgbClr val="5B5B5B"/>
                </a:solidFill>
                <a:latin typeface="Yu Gothic"/>
                <a:ea typeface="Yu Gothic"/>
                <a:cs typeface="Yu Gothic"/>
              </a:rPr>
              <a:t>設定・split・学習履歴・holdout予測を同じrun directoryへ保存する</a:t>
            </a:r>
          </a:p>
        </p:txBody>
      </p:sp>
      <p:sp>
        <p:nvSpPr>
          <p:cNvPr id="5" name="直線コネクタ 4">
            <a:extLst>
              <a:ext uri="{FF2B5EF4-FFF2-40B4-BE49-F238E27FC236}">
                <a16:creationId xmlns:a16="http://schemas.microsoft.com/office/drawing/2014/main" id="{3293AECE-32BC-4CEF-99B5-9B27D58CF207}"/>
              </a:ext>
            </a:extLst>
          </p:cNvPr>
          <p:cNvSpPr>
            <a:spLocks noGrp="1"/>
          </p:cNvSpPr>
          <p:nvPr/>
        </p:nvSpPr>
        <p:spPr>
          <a:xfrm>
            <a:off x="552450" y="1152525"/>
            <a:ext cx="11087100" cy="0"/>
          </a:xfrm>
          <a:prstGeom prst="line">
            <a:avLst/>
          </a:prstGeom>
          <a:noFill/>
          <a:ln w="9525">
            <a:solidFill>
              <a:srgbClr val="D6D6D6"/>
            </a:solidFill>
            <a:prstDash val="solid"/>
          </a:ln>
        </p:spPr>
      </p:sp>
      <p:sp>
        <p:nvSpPr>
          <p:cNvPr id="6" name="直線コネクタ 5">
            <a:extLst>
              <a:ext uri="{FF2B5EF4-FFF2-40B4-BE49-F238E27FC236}">
                <a16:creationId xmlns:a16="http://schemas.microsoft.com/office/drawing/2014/main" id="{4EFBC171-57B6-4C6E-90B0-4A22178B588B}"/>
              </a:ext>
            </a:extLst>
          </p:cNvPr>
          <p:cNvSpPr>
            <a:spLocks noGrp="1"/>
          </p:cNvSpPr>
          <p:nvPr/>
        </p:nvSpPr>
        <p:spPr>
          <a:xfrm>
            <a:off x="552450" y="6438900"/>
            <a:ext cx="11087100" cy="0"/>
          </a:xfrm>
          <a:prstGeom prst="line">
            <a:avLst/>
          </a:prstGeom>
          <a:noFill/>
          <a:ln w="9525">
            <a:solidFill>
              <a:srgbClr val="D6D6D6"/>
            </a:solidFill>
            <a:prstDash val="solid"/>
          </a:ln>
        </p:spPr>
      </p:sp>
      <p:sp>
        <p:nvSpPr>
          <p:cNvPr id="7" name="正方形/長方形 6">
            <a:extLst>
              <a:ext uri="{FF2B5EF4-FFF2-40B4-BE49-F238E27FC236}">
                <a16:creationId xmlns:a16="http://schemas.microsoft.com/office/drawing/2014/main" id="{16C34EE4-4467-4198-A6B5-B0781C8DD59E}"/>
              </a:ext>
            </a:extLst>
          </p:cNvPr>
          <p:cNvSpPr>
            <a:spLocks noGrp="1"/>
          </p:cNvSpPr>
          <p:nvPr/>
        </p:nvSpPr>
        <p:spPr>
          <a:xfrm>
            <a:off x="571500" y="6505575"/>
            <a:ext cx="5334000" cy="171450"/>
          </a:xfrm>
          <a:prstGeom prst="rect">
            <a:avLst/>
          </a:prstGeom>
          <a:noFill/>
          <a:ln w="0">
            <a:noFill/>
            <a:prstDash val="solid"/>
          </a:ln>
        </p:spPr>
        <p:txBody>
          <a:bodyPr wrap="none" lIns="28575" tIns="19050" rIns="28575" bIns="19050" anchor="ctr">
            <a:noAutofit/>
          </a:bodyPr>
          <a:lstStyle/>
          <a:p>
            <a:pPr algn="l">
              <a:lnSpc>
                <a:spcPct val="100000"/>
              </a:lnSpc>
              <a:buNone/>
              <a:defRPr sz="713" b="0" i="0">
                <a:solidFill>
                  <a:srgbClr val="777777"/>
                </a:solidFill>
                <a:latin typeface="Yu Gothic"/>
                <a:ea typeface="Yu Gothic"/>
                <a:cs typeface="Yu Gothic"/>
              </a:defRPr>
            </a:pPr>
            <a:r>
              <a:rPr sz="713" b="0" i="0">
                <a:solidFill>
                  <a:srgbClr val="777777"/>
                </a:solidFill>
                <a:latin typeface="Yu Gothic"/>
                <a:ea typeface="Yu Gothic"/>
                <a:cs typeface="Yu Gothic"/>
              </a:rPr>
              <a:t>THERMAL RC / EQUIPMENT ENGINEERING REVIEW  ·  2026-09-17</a:t>
            </a:r>
          </a:p>
        </p:txBody>
      </p:sp>
      <p:sp>
        <p:nvSpPr>
          <p:cNvPr id="8" name="正方形/長方形 7">
            <a:extLst>
              <a:ext uri="{FF2B5EF4-FFF2-40B4-BE49-F238E27FC236}">
                <a16:creationId xmlns:a16="http://schemas.microsoft.com/office/drawing/2014/main" id="{21F97DBF-3A02-46C9-9636-41409D24D8D9}"/>
              </a:ext>
            </a:extLst>
          </p:cNvPr>
          <p:cNvSpPr>
            <a:spLocks noGrp="1"/>
          </p:cNvSpPr>
          <p:nvPr/>
        </p:nvSpPr>
        <p:spPr>
          <a:xfrm>
            <a:off x="11125200" y="6496050"/>
            <a:ext cx="476250" cy="171450"/>
          </a:xfrm>
          <a:prstGeom prst="rect">
            <a:avLst/>
          </a:prstGeom>
          <a:noFill/>
          <a:ln w="0">
            <a:noFill/>
            <a:prstDash val="solid"/>
          </a:ln>
        </p:spPr>
        <p:txBody>
          <a:bodyPr wrap="square" lIns="28575" tIns="19050" rIns="28575" bIns="19050" anchor="ctr">
            <a:noAutofit/>
          </a:bodyPr>
          <a:lstStyle/>
          <a:p>
            <a:pPr algn="r">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18</a:t>
            </a:r>
          </a:p>
        </p:txBody>
      </p:sp>
      <p:sp>
        <p:nvSpPr>
          <p:cNvPr id="9" name="正方形/長方形 8">
            <a:extLst>
              <a:ext uri="{FF2B5EF4-FFF2-40B4-BE49-F238E27FC236}">
                <a16:creationId xmlns:a16="http://schemas.microsoft.com/office/drawing/2014/main" id="{B69F13AE-7AD2-49AE-B583-FB127B2D75BD}"/>
              </a:ext>
            </a:extLst>
          </p:cNvPr>
          <p:cNvSpPr>
            <a:spLocks noGrp="1"/>
          </p:cNvSpPr>
          <p:nvPr/>
        </p:nvSpPr>
        <p:spPr>
          <a:xfrm>
            <a:off x="552450" y="1381125"/>
            <a:ext cx="11087100" cy="409575"/>
          </a:xfrm>
          <a:prstGeom prst="rect">
            <a:avLst/>
          </a:prstGeom>
          <a:solidFill>
            <a:srgbClr val="F8F8F8"/>
          </a:solidFill>
          <a:ln w="9525">
            <a:solidFill>
              <a:srgbClr val="D6D6D6"/>
            </a:solidFill>
            <a:prstDash val="solid"/>
          </a:ln>
        </p:spPr>
      </p:sp>
      <p:sp>
        <p:nvSpPr>
          <p:cNvPr id="10" name="正方形/長方形 9">
            <a:extLst>
              <a:ext uri="{FF2B5EF4-FFF2-40B4-BE49-F238E27FC236}">
                <a16:creationId xmlns:a16="http://schemas.microsoft.com/office/drawing/2014/main" id="{A1FE2C0E-16F7-4256-9184-8C1C9D7B885B}"/>
              </a:ext>
            </a:extLst>
          </p:cNvPr>
          <p:cNvSpPr>
            <a:spLocks noGrp="1"/>
          </p:cNvSpPr>
          <p:nvPr/>
        </p:nvSpPr>
        <p:spPr>
          <a:xfrm>
            <a:off x="723900" y="1466850"/>
            <a:ext cx="495300" cy="219075"/>
          </a:xfrm>
          <a:prstGeom prst="rect">
            <a:avLst/>
          </a:prstGeom>
          <a:noFill/>
          <a:ln w="0">
            <a:noFill/>
            <a:prstDash val="solid"/>
          </a:ln>
        </p:spPr>
        <p:txBody>
          <a:bodyPr wrap="square" lIns="28575" tIns="19050" rIns="28575" bIns="19050" anchor="ctr">
            <a:normAutofit/>
          </a:bodyPr>
          <a:lstStyle/>
          <a:p>
            <a:pPr algn="l">
              <a:lnSpc>
                <a:spcPct val="100000"/>
              </a:lnSpc>
              <a:buNone/>
              <a:defRPr sz="863" b="1" i="0">
                <a:solidFill>
                  <a:srgbClr val="007FA8"/>
                </a:solidFill>
                <a:latin typeface="Yu Gothic"/>
                <a:ea typeface="Yu Gothic"/>
                <a:cs typeface="Yu Gothic"/>
              </a:defRPr>
            </a:pPr>
            <a:r>
              <a:rPr sz="863" b="1" i="0">
                <a:solidFill>
                  <a:srgbClr val="007FA8"/>
                </a:solidFill>
                <a:latin typeface="Yu Gothic"/>
                <a:ea typeface="Yu Gothic"/>
                <a:cs typeface="Yu Gothic"/>
              </a:rPr>
              <a:t>CLI</a:t>
            </a:r>
          </a:p>
        </p:txBody>
      </p:sp>
      <p:sp>
        <p:nvSpPr>
          <p:cNvPr id="11" name="正方形/長方形 10">
            <a:extLst>
              <a:ext uri="{FF2B5EF4-FFF2-40B4-BE49-F238E27FC236}">
                <a16:creationId xmlns:a16="http://schemas.microsoft.com/office/drawing/2014/main" id="{0F87BF7C-0339-49EB-A8FE-48C6ED7E635F}"/>
              </a:ext>
            </a:extLst>
          </p:cNvPr>
          <p:cNvSpPr>
            <a:spLocks noGrp="1"/>
          </p:cNvSpPr>
          <p:nvPr/>
        </p:nvSpPr>
        <p:spPr>
          <a:xfrm>
            <a:off x="1285875" y="1428750"/>
            <a:ext cx="10182225" cy="295275"/>
          </a:xfrm>
          <a:prstGeom prst="rect">
            <a:avLst/>
          </a:prstGeom>
          <a:noFill/>
          <a:ln w="0">
            <a:noFill/>
            <a:prstDash val="solid"/>
          </a:ln>
        </p:spPr>
        <p:txBody>
          <a:bodyPr wrap="square" lIns="28575" tIns="19050" rIns="28575" bIns="19050" anchor="ctr">
            <a:normAutofit/>
          </a:bodyPr>
          <a:lstStyle/>
          <a:p>
            <a:pPr algn="l">
              <a:lnSpc>
                <a:spcPct val="100000"/>
              </a:lnSpc>
              <a:buNone/>
              <a:defRPr sz="1125" b="1" i="0">
                <a:solidFill>
                  <a:srgbClr val="3F3F3F"/>
                </a:solidFill>
                <a:latin typeface="Cambria Math"/>
                <a:ea typeface="Cambria Math"/>
                <a:cs typeface="Cambria Math"/>
              </a:defRPr>
            </a:pPr>
            <a:r>
              <a:rPr sz="1125" b="1" i="0">
                <a:solidFill>
                  <a:srgbClr val="3F3F3F"/>
                </a:solidFill>
                <a:latin typeface="Cambria Math"/>
                <a:ea typeface="Cambria Math"/>
                <a:cs typeface="Cambria Math"/>
              </a:rPr>
              <a:t>python -m celltemp.cli train --config &lt;project&gt;/config.yaml</a:t>
            </a:r>
          </a:p>
        </p:txBody>
      </p:sp>
      <p:sp>
        <p:nvSpPr>
          <p:cNvPr id="12" name="正方形/長方形 11">
            <a:extLst>
              <a:ext uri="{FF2B5EF4-FFF2-40B4-BE49-F238E27FC236}">
                <a16:creationId xmlns:a16="http://schemas.microsoft.com/office/drawing/2014/main" id="{F4225E92-A93E-40FB-BF15-4C15ACED5C51}"/>
              </a:ext>
            </a:extLst>
          </p:cNvPr>
          <p:cNvSpPr>
            <a:spLocks noGrp="1"/>
          </p:cNvSpPr>
          <p:nvPr/>
        </p:nvSpPr>
        <p:spPr>
          <a:xfrm>
            <a:off x="552450" y="2066925"/>
            <a:ext cx="1371600" cy="1381125"/>
          </a:xfrm>
          <a:prstGeom prst="rect">
            <a:avLst/>
          </a:prstGeom>
          <a:solidFill>
            <a:srgbClr val="FFFFFF"/>
          </a:solidFill>
          <a:ln w="9525">
            <a:solidFill>
              <a:srgbClr val="D6D6D6"/>
            </a:solidFill>
            <a:prstDash val="solid"/>
          </a:ln>
        </p:spPr>
      </p:sp>
      <p:sp>
        <p:nvSpPr>
          <p:cNvPr id="13" name="正方形/長方形 12">
            <a:extLst>
              <a:ext uri="{FF2B5EF4-FFF2-40B4-BE49-F238E27FC236}">
                <a16:creationId xmlns:a16="http://schemas.microsoft.com/office/drawing/2014/main" id="{4B9E88B7-135E-4946-B8A5-9FFA509C60D1}"/>
              </a:ext>
            </a:extLst>
          </p:cNvPr>
          <p:cNvSpPr>
            <a:spLocks noGrp="1"/>
          </p:cNvSpPr>
          <p:nvPr/>
        </p:nvSpPr>
        <p:spPr>
          <a:xfrm>
            <a:off x="552450" y="2066925"/>
            <a:ext cx="1371600" cy="66675"/>
          </a:xfrm>
          <a:prstGeom prst="rect">
            <a:avLst/>
          </a:prstGeom>
          <a:solidFill>
            <a:srgbClr val="00A5D8"/>
          </a:solidFill>
          <a:ln w="0">
            <a:noFill/>
            <a:prstDash val="solid"/>
          </a:ln>
        </p:spPr>
      </p:sp>
      <p:sp>
        <p:nvSpPr>
          <p:cNvPr id="14" name="正方形/長方形 13">
            <a:extLst>
              <a:ext uri="{FF2B5EF4-FFF2-40B4-BE49-F238E27FC236}">
                <a16:creationId xmlns:a16="http://schemas.microsoft.com/office/drawing/2014/main" id="{BD12F6AA-B2CA-4714-86B9-7A2FC825B118}"/>
              </a:ext>
            </a:extLst>
          </p:cNvPr>
          <p:cNvSpPr>
            <a:spLocks noGrp="1"/>
          </p:cNvSpPr>
          <p:nvPr/>
        </p:nvSpPr>
        <p:spPr>
          <a:xfrm>
            <a:off x="638175" y="2276475"/>
            <a:ext cx="1200150" cy="238125"/>
          </a:xfrm>
          <a:prstGeom prst="rect">
            <a:avLst/>
          </a:prstGeom>
          <a:noFill/>
          <a:ln w="0">
            <a:noFill/>
            <a:prstDash val="solid"/>
          </a:ln>
        </p:spPr>
        <p:txBody>
          <a:bodyPr wrap="square" lIns="28575" tIns="19050" rIns="28575" bIns="19050" anchor="ctr">
            <a:normAutofit/>
          </a:bodyPr>
          <a:lstStyle/>
          <a:p>
            <a:pPr algn="ctr">
              <a:lnSpc>
                <a:spcPct val="100000"/>
              </a:lnSpc>
              <a:buNone/>
              <a:defRPr sz="1013" b="1" i="0">
                <a:solidFill>
                  <a:srgbClr val="00A5D8"/>
                </a:solidFill>
                <a:latin typeface="Yu Gothic"/>
                <a:ea typeface="Yu Gothic"/>
                <a:cs typeface="Yu Gothic"/>
              </a:defRPr>
            </a:pPr>
            <a:r>
              <a:rPr sz="1013" b="1" i="0">
                <a:solidFill>
                  <a:srgbClr val="00A5D8"/>
                </a:solidFill>
                <a:latin typeface="Yu Gothic"/>
                <a:ea typeface="Yu Gothic"/>
                <a:cs typeface="Yu Gothic"/>
              </a:rPr>
              <a:t>1  resolve</a:t>
            </a:r>
          </a:p>
        </p:txBody>
      </p:sp>
      <p:sp>
        <p:nvSpPr>
          <p:cNvPr id="15" name="直線コネクタ 14">
            <a:extLst>
              <a:ext uri="{FF2B5EF4-FFF2-40B4-BE49-F238E27FC236}">
                <a16:creationId xmlns:a16="http://schemas.microsoft.com/office/drawing/2014/main" id="{F228CFC1-CE35-49F9-97C2-17CA7C506D71}"/>
              </a:ext>
            </a:extLst>
          </p:cNvPr>
          <p:cNvSpPr>
            <a:spLocks noGrp="1"/>
          </p:cNvSpPr>
          <p:nvPr/>
        </p:nvSpPr>
        <p:spPr>
          <a:xfrm>
            <a:off x="666750" y="2609850"/>
            <a:ext cx="1143000" cy="0"/>
          </a:xfrm>
          <a:prstGeom prst="line">
            <a:avLst/>
          </a:prstGeom>
          <a:noFill/>
          <a:ln w="9525">
            <a:solidFill>
              <a:srgbClr val="D6D6D6"/>
            </a:solidFill>
            <a:prstDash val="solid"/>
          </a:ln>
        </p:spPr>
      </p:sp>
      <p:sp>
        <p:nvSpPr>
          <p:cNvPr id="16" name="正方形/長方形 15">
            <a:extLst>
              <a:ext uri="{FF2B5EF4-FFF2-40B4-BE49-F238E27FC236}">
                <a16:creationId xmlns:a16="http://schemas.microsoft.com/office/drawing/2014/main" id="{059600F3-9701-4969-B3D7-3C905D248DEA}"/>
              </a:ext>
            </a:extLst>
          </p:cNvPr>
          <p:cNvSpPr>
            <a:spLocks noGrp="1"/>
          </p:cNvSpPr>
          <p:nvPr/>
        </p:nvSpPr>
        <p:spPr>
          <a:xfrm>
            <a:off x="638175" y="2724150"/>
            <a:ext cx="1200150" cy="542925"/>
          </a:xfrm>
          <a:prstGeom prst="rect">
            <a:avLst/>
          </a:prstGeom>
          <a:noFill/>
          <a:ln w="0">
            <a:noFill/>
            <a:prstDash val="solid"/>
          </a:ln>
        </p:spPr>
        <p:txBody>
          <a:bodyPr wrap="square" lIns="28575" tIns="19050" rIns="28575" bIns="19050" anchor="ctr">
            <a:normAutofit/>
          </a:bodyPr>
          <a:lstStyle/>
          <a:p>
            <a:pPr algn="ctr">
              <a:lnSpc>
                <a:spcPct val="110000"/>
              </a:lnSpc>
              <a:buNone/>
              <a:defRPr sz="810" b="0" i="0">
                <a:solidFill>
                  <a:srgbClr val="5B5B5B"/>
                </a:solidFill>
                <a:latin typeface="Yu Gothic"/>
                <a:ea typeface="Yu Gothic"/>
                <a:cs typeface="Yu Gothic"/>
              </a:defRPr>
            </a:pPr>
            <a:r>
              <a:rPr sz="810" b="0" i="0">
                <a:solidFill>
                  <a:srgbClr val="5B5B5B"/>
                </a:solidFill>
                <a:latin typeface="Yu Gothic"/>
                <a:ea typeface="Yu Gothic"/>
                <a:cs typeface="Yu Gothic"/>
              </a:rPr>
              <a:t>config基準で</a:t>
            </a:r>
          </a:p>
          <a:p>
            <a:pPr algn="ctr">
              <a:lnSpc>
                <a:spcPct val="110000"/>
              </a:lnSpc>
              <a:buNone/>
              <a:defRPr sz="810" b="0" i="0">
                <a:solidFill>
                  <a:srgbClr val="5B5B5B"/>
                </a:solidFill>
                <a:latin typeface="Yu Gothic"/>
                <a:ea typeface="Yu Gothic"/>
                <a:cs typeface="Yu Gothic"/>
              </a:defRPr>
            </a:pPr>
            <a:r>
              <a:rPr sz="810" b="0" i="0">
                <a:solidFill>
                  <a:srgbClr val="5B5B5B"/>
                </a:solidFill>
                <a:latin typeface="Yu Gothic"/>
                <a:ea typeface="Yu Gothic"/>
                <a:cs typeface="Yu Gothic"/>
              </a:rPr>
              <a:t>path / override解決</a:t>
            </a:r>
          </a:p>
        </p:txBody>
      </p:sp>
      <p:sp>
        <p:nvSpPr>
          <p:cNvPr id="17" name="正方形/長方形 16">
            <a:extLst>
              <a:ext uri="{FF2B5EF4-FFF2-40B4-BE49-F238E27FC236}">
                <a16:creationId xmlns:a16="http://schemas.microsoft.com/office/drawing/2014/main" id="{F73A42A6-FAE0-4860-B384-6F770317066C}"/>
              </a:ext>
            </a:extLst>
          </p:cNvPr>
          <p:cNvSpPr>
            <a:spLocks noGrp="1"/>
          </p:cNvSpPr>
          <p:nvPr/>
        </p:nvSpPr>
        <p:spPr>
          <a:xfrm>
            <a:off x="2152650" y="2066925"/>
            <a:ext cx="1371600" cy="1381125"/>
          </a:xfrm>
          <a:prstGeom prst="rect">
            <a:avLst/>
          </a:prstGeom>
          <a:solidFill>
            <a:srgbClr val="FFFFFF"/>
          </a:solidFill>
          <a:ln w="9525">
            <a:solidFill>
              <a:srgbClr val="D6D6D6"/>
            </a:solidFill>
            <a:prstDash val="solid"/>
          </a:ln>
        </p:spPr>
      </p:sp>
      <p:sp>
        <p:nvSpPr>
          <p:cNvPr id="18" name="正方形/長方形 17">
            <a:extLst>
              <a:ext uri="{FF2B5EF4-FFF2-40B4-BE49-F238E27FC236}">
                <a16:creationId xmlns:a16="http://schemas.microsoft.com/office/drawing/2014/main" id="{99DA1B2A-AF70-4DB1-808F-CB9E9552B2E5}"/>
              </a:ext>
            </a:extLst>
          </p:cNvPr>
          <p:cNvSpPr>
            <a:spLocks noGrp="1"/>
          </p:cNvSpPr>
          <p:nvPr/>
        </p:nvSpPr>
        <p:spPr>
          <a:xfrm>
            <a:off x="2152650" y="2066925"/>
            <a:ext cx="1371600" cy="66675"/>
          </a:xfrm>
          <a:prstGeom prst="rect">
            <a:avLst/>
          </a:prstGeom>
          <a:solidFill>
            <a:srgbClr val="76BE18"/>
          </a:solidFill>
          <a:ln w="0">
            <a:noFill/>
            <a:prstDash val="solid"/>
          </a:ln>
        </p:spPr>
      </p:sp>
      <p:sp>
        <p:nvSpPr>
          <p:cNvPr id="19" name="正方形/長方形 18">
            <a:extLst>
              <a:ext uri="{FF2B5EF4-FFF2-40B4-BE49-F238E27FC236}">
                <a16:creationId xmlns:a16="http://schemas.microsoft.com/office/drawing/2014/main" id="{AF02FC46-92B5-476E-BC9C-A64EABF52C96}"/>
              </a:ext>
            </a:extLst>
          </p:cNvPr>
          <p:cNvSpPr>
            <a:spLocks noGrp="1"/>
          </p:cNvSpPr>
          <p:nvPr/>
        </p:nvSpPr>
        <p:spPr>
          <a:xfrm>
            <a:off x="2238375" y="2276475"/>
            <a:ext cx="1200150" cy="238125"/>
          </a:xfrm>
          <a:prstGeom prst="rect">
            <a:avLst/>
          </a:prstGeom>
          <a:noFill/>
          <a:ln w="0">
            <a:noFill/>
            <a:prstDash val="solid"/>
          </a:ln>
        </p:spPr>
        <p:txBody>
          <a:bodyPr wrap="square" lIns="28575" tIns="19050" rIns="28575" bIns="19050" anchor="ctr">
            <a:normAutofit/>
          </a:bodyPr>
          <a:lstStyle/>
          <a:p>
            <a:pPr algn="ctr">
              <a:lnSpc>
                <a:spcPct val="100000"/>
              </a:lnSpc>
              <a:buNone/>
              <a:defRPr sz="1013" b="1" i="0">
                <a:solidFill>
                  <a:srgbClr val="76BE18"/>
                </a:solidFill>
                <a:latin typeface="Yu Gothic"/>
                <a:ea typeface="Yu Gothic"/>
                <a:cs typeface="Yu Gothic"/>
              </a:defRPr>
            </a:pPr>
            <a:r>
              <a:rPr sz="1013" b="1" i="0">
                <a:solidFill>
                  <a:srgbClr val="76BE18"/>
                </a:solidFill>
                <a:latin typeface="Yu Gothic"/>
                <a:ea typeface="Yu Gothic"/>
                <a:cs typeface="Yu Gothic"/>
              </a:rPr>
              <a:t>2  validate</a:t>
            </a:r>
          </a:p>
        </p:txBody>
      </p:sp>
      <p:sp>
        <p:nvSpPr>
          <p:cNvPr id="20" name="直線コネクタ 19">
            <a:extLst>
              <a:ext uri="{FF2B5EF4-FFF2-40B4-BE49-F238E27FC236}">
                <a16:creationId xmlns:a16="http://schemas.microsoft.com/office/drawing/2014/main" id="{5A196953-7336-41BC-9845-519E72501C6E}"/>
              </a:ext>
            </a:extLst>
          </p:cNvPr>
          <p:cNvSpPr>
            <a:spLocks noGrp="1"/>
          </p:cNvSpPr>
          <p:nvPr/>
        </p:nvSpPr>
        <p:spPr>
          <a:xfrm>
            <a:off x="2266950" y="2609850"/>
            <a:ext cx="1143000" cy="0"/>
          </a:xfrm>
          <a:prstGeom prst="line">
            <a:avLst/>
          </a:prstGeom>
          <a:noFill/>
          <a:ln w="9525">
            <a:solidFill>
              <a:srgbClr val="D6D6D6"/>
            </a:solidFill>
            <a:prstDash val="solid"/>
          </a:ln>
        </p:spPr>
      </p:sp>
      <p:sp>
        <p:nvSpPr>
          <p:cNvPr id="21" name="正方形/長方形 20">
            <a:extLst>
              <a:ext uri="{FF2B5EF4-FFF2-40B4-BE49-F238E27FC236}">
                <a16:creationId xmlns:a16="http://schemas.microsoft.com/office/drawing/2014/main" id="{5B776A75-67C4-4E81-B8DC-4128B4B086B7}"/>
              </a:ext>
            </a:extLst>
          </p:cNvPr>
          <p:cNvSpPr>
            <a:spLocks noGrp="1"/>
          </p:cNvSpPr>
          <p:nvPr/>
        </p:nvSpPr>
        <p:spPr>
          <a:xfrm>
            <a:off x="2238375" y="2724150"/>
            <a:ext cx="1200150" cy="542925"/>
          </a:xfrm>
          <a:prstGeom prst="rect">
            <a:avLst/>
          </a:prstGeom>
          <a:noFill/>
          <a:ln w="0">
            <a:noFill/>
            <a:prstDash val="solid"/>
          </a:ln>
        </p:spPr>
        <p:txBody>
          <a:bodyPr wrap="square" lIns="28575" tIns="19050" rIns="28575" bIns="19050" anchor="ctr">
            <a:normAutofit/>
          </a:bodyPr>
          <a:lstStyle/>
          <a:p>
            <a:pPr algn="ctr">
              <a:lnSpc>
                <a:spcPct val="110000"/>
              </a:lnSpc>
              <a:buNone/>
              <a:defRPr sz="810" b="0" i="0">
                <a:solidFill>
                  <a:srgbClr val="5B5B5B"/>
                </a:solidFill>
                <a:latin typeface="Yu Gothic"/>
                <a:ea typeface="Yu Gothic"/>
                <a:cs typeface="Yu Gothic"/>
              </a:defRPr>
            </a:pPr>
            <a:r>
              <a:rPr sz="810" b="0" i="0">
                <a:solidFill>
                  <a:srgbClr val="5B5B5B"/>
                </a:solidFill>
                <a:latin typeface="Yu Gothic"/>
                <a:ea typeface="Yu Gothic"/>
                <a:cs typeface="Yu Gothic"/>
              </a:rPr>
              <a:t>system.yaml</a:t>
            </a:r>
          </a:p>
          <a:p>
            <a:pPr algn="ctr">
              <a:lnSpc>
                <a:spcPct val="110000"/>
              </a:lnSpc>
              <a:buNone/>
              <a:defRPr sz="810" b="0" i="0">
                <a:solidFill>
                  <a:srgbClr val="5B5B5B"/>
                </a:solidFill>
                <a:latin typeface="Yu Gothic"/>
                <a:ea typeface="Yu Gothic"/>
                <a:cs typeface="Yu Gothic"/>
              </a:defRPr>
            </a:pPr>
            <a:r>
              <a:rPr sz="810" b="0" i="0">
                <a:solidFill>
                  <a:srgbClr val="5B5B5B"/>
                </a:solidFill>
                <a:latin typeface="Yu Gothic"/>
                <a:ea typeface="Yu Gothic"/>
                <a:cs typeface="Yu Gothic"/>
              </a:rPr>
              <a:t>単位・参照整合</a:t>
            </a:r>
          </a:p>
        </p:txBody>
      </p:sp>
      <p:sp>
        <p:nvSpPr>
          <p:cNvPr id="22" name="正方形/長方形 21">
            <a:extLst>
              <a:ext uri="{FF2B5EF4-FFF2-40B4-BE49-F238E27FC236}">
                <a16:creationId xmlns:a16="http://schemas.microsoft.com/office/drawing/2014/main" id="{D989AA0F-337B-4B12-A7B4-513BC97EB138}"/>
              </a:ext>
            </a:extLst>
          </p:cNvPr>
          <p:cNvSpPr>
            <a:spLocks noGrp="1"/>
          </p:cNvSpPr>
          <p:nvPr/>
        </p:nvSpPr>
        <p:spPr>
          <a:xfrm>
            <a:off x="3752850" y="2066925"/>
            <a:ext cx="1371600" cy="1381125"/>
          </a:xfrm>
          <a:prstGeom prst="rect">
            <a:avLst/>
          </a:prstGeom>
          <a:solidFill>
            <a:srgbClr val="FFFFFF"/>
          </a:solidFill>
          <a:ln w="9525">
            <a:solidFill>
              <a:srgbClr val="D6D6D6"/>
            </a:solidFill>
            <a:prstDash val="solid"/>
          </a:ln>
        </p:spPr>
      </p:sp>
      <p:sp>
        <p:nvSpPr>
          <p:cNvPr id="23" name="正方形/長方形 22">
            <a:extLst>
              <a:ext uri="{FF2B5EF4-FFF2-40B4-BE49-F238E27FC236}">
                <a16:creationId xmlns:a16="http://schemas.microsoft.com/office/drawing/2014/main" id="{184198DC-E388-48D4-989E-B8590E1FF094}"/>
              </a:ext>
            </a:extLst>
          </p:cNvPr>
          <p:cNvSpPr>
            <a:spLocks noGrp="1"/>
          </p:cNvSpPr>
          <p:nvPr/>
        </p:nvSpPr>
        <p:spPr>
          <a:xfrm>
            <a:off x="3752850" y="2066925"/>
            <a:ext cx="1371600" cy="66675"/>
          </a:xfrm>
          <a:prstGeom prst="rect">
            <a:avLst/>
          </a:prstGeom>
          <a:solidFill>
            <a:srgbClr val="7B2DAF"/>
          </a:solidFill>
          <a:ln w="0">
            <a:noFill/>
            <a:prstDash val="solid"/>
          </a:ln>
        </p:spPr>
      </p:sp>
      <p:sp>
        <p:nvSpPr>
          <p:cNvPr id="24" name="正方形/長方形 23">
            <a:extLst>
              <a:ext uri="{FF2B5EF4-FFF2-40B4-BE49-F238E27FC236}">
                <a16:creationId xmlns:a16="http://schemas.microsoft.com/office/drawing/2014/main" id="{8E3E0DC5-2381-4881-815B-411791F7295F}"/>
              </a:ext>
            </a:extLst>
          </p:cNvPr>
          <p:cNvSpPr>
            <a:spLocks noGrp="1"/>
          </p:cNvSpPr>
          <p:nvPr/>
        </p:nvSpPr>
        <p:spPr>
          <a:xfrm>
            <a:off x="3838575" y="2276475"/>
            <a:ext cx="1200150" cy="238125"/>
          </a:xfrm>
          <a:prstGeom prst="rect">
            <a:avLst/>
          </a:prstGeom>
          <a:noFill/>
          <a:ln w="0">
            <a:noFill/>
            <a:prstDash val="solid"/>
          </a:ln>
        </p:spPr>
        <p:txBody>
          <a:bodyPr wrap="square" lIns="28575" tIns="19050" rIns="28575" bIns="19050" anchor="ctr">
            <a:normAutofit/>
          </a:bodyPr>
          <a:lstStyle/>
          <a:p>
            <a:pPr algn="ctr">
              <a:lnSpc>
                <a:spcPct val="100000"/>
              </a:lnSpc>
              <a:buNone/>
              <a:defRPr sz="1013" b="1" i="0">
                <a:solidFill>
                  <a:srgbClr val="7B2DAF"/>
                </a:solidFill>
                <a:latin typeface="Yu Gothic"/>
                <a:ea typeface="Yu Gothic"/>
                <a:cs typeface="Yu Gothic"/>
              </a:defRPr>
            </a:pPr>
            <a:r>
              <a:rPr sz="1013" b="1" i="0">
                <a:solidFill>
                  <a:srgbClr val="7B2DAF"/>
                </a:solidFill>
                <a:latin typeface="Yu Gothic"/>
                <a:ea typeface="Yu Gothic"/>
                <a:cs typeface="Yu Gothic"/>
              </a:rPr>
              <a:t>3  discover</a:t>
            </a:r>
          </a:p>
        </p:txBody>
      </p:sp>
      <p:sp>
        <p:nvSpPr>
          <p:cNvPr id="25" name="直線コネクタ 24">
            <a:extLst>
              <a:ext uri="{FF2B5EF4-FFF2-40B4-BE49-F238E27FC236}">
                <a16:creationId xmlns:a16="http://schemas.microsoft.com/office/drawing/2014/main" id="{036CFEE3-3701-4FFC-91E8-89BF606CDA55}"/>
              </a:ext>
            </a:extLst>
          </p:cNvPr>
          <p:cNvSpPr>
            <a:spLocks noGrp="1"/>
          </p:cNvSpPr>
          <p:nvPr/>
        </p:nvSpPr>
        <p:spPr>
          <a:xfrm>
            <a:off x="3867150" y="2609850"/>
            <a:ext cx="1143000" cy="0"/>
          </a:xfrm>
          <a:prstGeom prst="line">
            <a:avLst/>
          </a:prstGeom>
          <a:noFill/>
          <a:ln w="9525">
            <a:solidFill>
              <a:srgbClr val="D6D6D6"/>
            </a:solidFill>
            <a:prstDash val="solid"/>
          </a:ln>
        </p:spPr>
      </p:sp>
      <p:sp>
        <p:nvSpPr>
          <p:cNvPr id="26" name="正方形/長方形 25">
            <a:extLst>
              <a:ext uri="{FF2B5EF4-FFF2-40B4-BE49-F238E27FC236}">
                <a16:creationId xmlns:a16="http://schemas.microsoft.com/office/drawing/2014/main" id="{476783F9-0DA1-492A-B237-B45EB4EDD2FD}"/>
              </a:ext>
            </a:extLst>
          </p:cNvPr>
          <p:cNvSpPr>
            <a:spLocks noGrp="1"/>
          </p:cNvSpPr>
          <p:nvPr/>
        </p:nvSpPr>
        <p:spPr>
          <a:xfrm>
            <a:off x="3838575" y="2724150"/>
            <a:ext cx="1200150" cy="542925"/>
          </a:xfrm>
          <a:prstGeom prst="rect">
            <a:avLst/>
          </a:prstGeom>
          <a:noFill/>
          <a:ln w="0">
            <a:noFill/>
            <a:prstDash val="solid"/>
          </a:ln>
        </p:spPr>
        <p:txBody>
          <a:bodyPr wrap="square" lIns="28575" tIns="19050" rIns="28575" bIns="19050" anchor="ctr">
            <a:normAutofit/>
          </a:bodyPr>
          <a:lstStyle/>
          <a:p>
            <a:pPr algn="ctr">
              <a:lnSpc>
                <a:spcPct val="110000"/>
              </a:lnSpc>
              <a:buNone/>
              <a:defRPr sz="810" b="0" i="0">
                <a:solidFill>
                  <a:srgbClr val="5B5B5B"/>
                </a:solidFill>
                <a:latin typeface="Yu Gothic"/>
                <a:ea typeface="Yu Gothic"/>
                <a:cs typeface="Yu Gothic"/>
              </a:defRPr>
            </a:pPr>
            <a:r>
              <a:rPr sz="810" b="0" i="0">
                <a:solidFill>
                  <a:srgbClr val="5B5B5B"/>
                </a:solidFill>
                <a:latin typeface="Yu Gothic"/>
                <a:ea typeface="Yu Gothic"/>
                <a:cs typeface="Yu Gothic"/>
              </a:rPr>
              <a:t>CSV自動検出</a:t>
            </a:r>
          </a:p>
          <a:p>
            <a:pPr algn="ctr">
              <a:lnSpc>
                <a:spcPct val="110000"/>
              </a:lnSpc>
              <a:buNone/>
              <a:defRPr sz="810" b="0" i="0">
                <a:solidFill>
                  <a:srgbClr val="5B5B5B"/>
                </a:solidFill>
                <a:latin typeface="Yu Gothic"/>
                <a:ea typeface="Yu Gothic"/>
                <a:cs typeface="Yu Gothic"/>
              </a:defRPr>
            </a:pPr>
            <a:r>
              <a:rPr sz="810" b="0" i="0">
                <a:solidFill>
                  <a:srgbClr val="5B5B5B"/>
                </a:solidFill>
                <a:latin typeface="Yu Gothic"/>
                <a:ea typeface="Yu Gothic"/>
                <a:cs typeface="Yu Gothic"/>
              </a:rPr>
              <a:t>Trajectory化</a:t>
            </a:r>
          </a:p>
        </p:txBody>
      </p:sp>
      <p:sp>
        <p:nvSpPr>
          <p:cNvPr id="27" name="正方形/長方形 26">
            <a:extLst>
              <a:ext uri="{FF2B5EF4-FFF2-40B4-BE49-F238E27FC236}">
                <a16:creationId xmlns:a16="http://schemas.microsoft.com/office/drawing/2014/main" id="{AA37B0DF-5F32-49A1-913A-150B871B231D}"/>
              </a:ext>
            </a:extLst>
          </p:cNvPr>
          <p:cNvSpPr>
            <a:spLocks noGrp="1"/>
          </p:cNvSpPr>
          <p:nvPr/>
        </p:nvSpPr>
        <p:spPr>
          <a:xfrm>
            <a:off x="5353050" y="2066925"/>
            <a:ext cx="1371600" cy="1381125"/>
          </a:xfrm>
          <a:prstGeom prst="rect">
            <a:avLst/>
          </a:prstGeom>
          <a:solidFill>
            <a:srgbClr val="FFFFFF"/>
          </a:solidFill>
          <a:ln w="9525">
            <a:solidFill>
              <a:srgbClr val="D6D6D6"/>
            </a:solidFill>
            <a:prstDash val="solid"/>
          </a:ln>
        </p:spPr>
      </p:sp>
      <p:sp>
        <p:nvSpPr>
          <p:cNvPr id="28" name="正方形/長方形 27">
            <a:extLst>
              <a:ext uri="{FF2B5EF4-FFF2-40B4-BE49-F238E27FC236}">
                <a16:creationId xmlns:a16="http://schemas.microsoft.com/office/drawing/2014/main" id="{FBC02298-3F97-47B7-8551-401F68D29C1D}"/>
              </a:ext>
            </a:extLst>
          </p:cNvPr>
          <p:cNvSpPr>
            <a:spLocks noGrp="1"/>
          </p:cNvSpPr>
          <p:nvPr/>
        </p:nvSpPr>
        <p:spPr>
          <a:xfrm>
            <a:off x="5353050" y="2066925"/>
            <a:ext cx="1371600" cy="66675"/>
          </a:xfrm>
          <a:prstGeom prst="rect">
            <a:avLst/>
          </a:prstGeom>
          <a:solidFill>
            <a:srgbClr val="E5A900"/>
          </a:solidFill>
          <a:ln w="0">
            <a:noFill/>
            <a:prstDash val="solid"/>
          </a:ln>
        </p:spPr>
      </p:sp>
      <p:sp>
        <p:nvSpPr>
          <p:cNvPr id="29" name="正方形/長方形 28">
            <a:extLst>
              <a:ext uri="{FF2B5EF4-FFF2-40B4-BE49-F238E27FC236}">
                <a16:creationId xmlns:a16="http://schemas.microsoft.com/office/drawing/2014/main" id="{863F4031-6D24-445A-B78C-E84122F9F1CB}"/>
              </a:ext>
            </a:extLst>
          </p:cNvPr>
          <p:cNvSpPr>
            <a:spLocks noGrp="1"/>
          </p:cNvSpPr>
          <p:nvPr/>
        </p:nvSpPr>
        <p:spPr>
          <a:xfrm>
            <a:off x="5438775" y="2276475"/>
            <a:ext cx="1200150" cy="238125"/>
          </a:xfrm>
          <a:prstGeom prst="rect">
            <a:avLst/>
          </a:prstGeom>
          <a:noFill/>
          <a:ln w="0">
            <a:noFill/>
            <a:prstDash val="solid"/>
          </a:ln>
        </p:spPr>
        <p:txBody>
          <a:bodyPr wrap="square" lIns="28575" tIns="19050" rIns="28575" bIns="19050" anchor="ctr">
            <a:normAutofit/>
          </a:bodyPr>
          <a:lstStyle/>
          <a:p>
            <a:pPr algn="ctr">
              <a:lnSpc>
                <a:spcPct val="100000"/>
              </a:lnSpc>
              <a:buNone/>
              <a:defRPr sz="1013" b="1" i="0">
                <a:solidFill>
                  <a:srgbClr val="E5A900"/>
                </a:solidFill>
                <a:latin typeface="Yu Gothic"/>
                <a:ea typeface="Yu Gothic"/>
                <a:cs typeface="Yu Gothic"/>
              </a:defRPr>
            </a:pPr>
            <a:r>
              <a:rPr sz="1013" b="1" i="0">
                <a:solidFill>
                  <a:srgbClr val="E5A900"/>
                </a:solidFill>
                <a:latin typeface="Yu Gothic"/>
                <a:ea typeface="Yu Gothic"/>
                <a:cs typeface="Yu Gothic"/>
              </a:rPr>
              <a:t>4  split</a:t>
            </a:r>
          </a:p>
        </p:txBody>
      </p:sp>
      <p:sp>
        <p:nvSpPr>
          <p:cNvPr id="30" name="直線コネクタ 29">
            <a:extLst>
              <a:ext uri="{FF2B5EF4-FFF2-40B4-BE49-F238E27FC236}">
                <a16:creationId xmlns:a16="http://schemas.microsoft.com/office/drawing/2014/main" id="{A52299C0-7971-420A-BBE7-1AF9AB782F4C}"/>
              </a:ext>
            </a:extLst>
          </p:cNvPr>
          <p:cNvSpPr>
            <a:spLocks noGrp="1"/>
          </p:cNvSpPr>
          <p:nvPr/>
        </p:nvSpPr>
        <p:spPr>
          <a:xfrm>
            <a:off x="5467350" y="2609850"/>
            <a:ext cx="1143000" cy="0"/>
          </a:xfrm>
          <a:prstGeom prst="line">
            <a:avLst/>
          </a:prstGeom>
          <a:noFill/>
          <a:ln w="9525">
            <a:solidFill>
              <a:srgbClr val="D6D6D6"/>
            </a:solidFill>
            <a:prstDash val="solid"/>
          </a:ln>
        </p:spPr>
      </p:sp>
      <p:sp>
        <p:nvSpPr>
          <p:cNvPr id="31" name="正方形/長方形 30">
            <a:extLst>
              <a:ext uri="{FF2B5EF4-FFF2-40B4-BE49-F238E27FC236}">
                <a16:creationId xmlns:a16="http://schemas.microsoft.com/office/drawing/2014/main" id="{17596C18-2E64-4B20-9870-E144B7F72F1F}"/>
              </a:ext>
            </a:extLst>
          </p:cNvPr>
          <p:cNvSpPr>
            <a:spLocks noGrp="1"/>
          </p:cNvSpPr>
          <p:nvPr/>
        </p:nvSpPr>
        <p:spPr>
          <a:xfrm>
            <a:off x="5438775" y="2724150"/>
            <a:ext cx="1200150" cy="542925"/>
          </a:xfrm>
          <a:prstGeom prst="rect">
            <a:avLst/>
          </a:prstGeom>
          <a:noFill/>
          <a:ln w="0">
            <a:noFill/>
            <a:prstDash val="solid"/>
          </a:ln>
        </p:spPr>
        <p:txBody>
          <a:bodyPr wrap="square" lIns="28575" tIns="19050" rIns="28575" bIns="19050" anchor="ctr">
            <a:normAutofit/>
          </a:bodyPr>
          <a:lstStyle/>
          <a:p>
            <a:pPr algn="ctr">
              <a:lnSpc>
                <a:spcPct val="110000"/>
              </a:lnSpc>
              <a:buNone/>
              <a:defRPr sz="810" b="0" i="0">
                <a:solidFill>
                  <a:srgbClr val="5B5B5B"/>
                </a:solidFill>
                <a:latin typeface="Yu Gothic"/>
                <a:ea typeface="Yu Gothic"/>
                <a:cs typeface="Yu Gothic"/>
              </a:defRPr>
            </a:pPr>
            <a:r>
              <a:rPr sz="810" b="0" i="0">
                <a:solidFill>
                  <a:srgbClr val="5B5B5B"/>
                </a:solidFill>
                <a:latin typeface="Yu Gothic"/>
                <a:ea typeface="Yu Gothic"/>
                <a:cs typeface="Yu Gothic"/>
              </a:rPr>
              <a:t>同一recipeを</a:t>
            </a:r>
          </a:p>
          <a:p>
            <a:pPr algn="ctr">
              <a:lnSpc>
                <a:spcPct val="110000"/>
              </a:lnSpc>
              <a:buNone/>
              <a:defRPr sz="810" b="0" i="0">
                <a:solidFill>
                  <a:srgbClr val="5B5B5B"/>
                </a:solidFill>
                <a:latin typeface="Yu Gothic"/>
                <a:ea typeface="Yu Gothic"/>
                <a:cs typeface="Yu Gothic"/>
              </a:defRPr>
            </a:pPr>
            <a:r>
              <a:rPr sz="810" b="0" i="0">
                <a:solidFill>
                  <a:srgbClr val="5B5B5B"/>
                </a:solidFill>
                <a:latin typeface="Yu Gothic"/>
                <a:ea typeface="Yu Gothic"/>
                <a:cs typeface="Yu Gothic"/>
              </a:rPr>
              <a:t>同一groupへ</a:t>
            </a:r>
          </a:p>
        </p:txBody>
      </p:sp>
      <p:sp>
        <p:nvSpPr>
          <p:cNvPr id="32" name="正方形/長方形 31">
            <a:extLst>
              <a:ext uri="{FF2B5EF4-FFF2-40B4-BE49-F238E27FC236}">
                <a16:creationId xmlns:a16="http://schemas.microsoft.com/office/drawing/2014/main" id="{9A3EE4F8-7CD8-4C8B-870E-AEE0FFABBAB1}"/>
              </a:ext>
            </a:extLst>
          </p:cNvPr>
          <p:cNvSpPr>
            <a:spLocks noGrp="1"/>
          </p:cNvSpPr>
          <p:nvPr/>
        </p:nvSpPr>
        <p:spPr>
          <a:xfrm>
            <a:off x="6953250" y="2066925"/>
            <a:ext cx="1371600" cy="1381125"/>
          </a:xfrm>
          <a:prstGeom prst="rect">
            <a:avLst/>
          </a:prstGeom>
          <a:solidFill>
            <a:srgbClr val="FFFFFF"/>
          </a:solidFill>
          <a:ln w="9525">
            <a:solidFill>
              <a:srgbClr val="D6D6D6"/>
            </a:solidFill>
            <a:prstDash val="solid"/>
          </a:ln>
        </p:spPr>
      </p:sp>
      <p:sp>
        <p:nvSpPr>
          <p:cNvPr id="33" name="正方形/長方形 32">
            <a:extLst>
              <a:ext uri="{FF2B5EF4-FFF2-40B4-BE49-F238E27FC236}">
                <a16:creationId xmlns:a16="http://schemas.microsoft.com/office/drawing/2014/main" id="{4D16FE46-D887-4821-952D-B2AB939AFCF3}"/>
              </a:ext>
            </a:extLst>
          </p:cNvPr>
          <p:cNvSpPr>
            <a:spLocks noGrp="1"/>
          </p:cNvSpPr>
          <p:nvPr/>
        </p:nvSpPr>
        <p:spPr>
          <a:xfrm>
            <a:off x="6953250" y="2066925"/>
            <a:ext cx="1371600" cy="66675"/>
          </a:xfrm>
          <a:prstGeom prst="rect">
            <a:avLst/>
          </a:prstGeom>
          <a:solidFill>
            <a:srgbClr val="00A89D"/>
          </a:solidFill>
          <a:ln w="0">
            <a:noFill/>
            <a:prstDash val="solid"/>
          </a:ln>
        </p:spPr>
      </p:sp>
      <p:sp>
        <p:nvSpPr>
          <p:cNvPr id="34" name="正方形/長方形 33">
            <a:extLst>
              <a:ext uri="{FF2B5EF4-FFF2-40B4-BE49-F238E27FC236}">
                <a16:creationId xmlns:a16="http://schemas.microsoft.com/office/drawing/2014/main" id="{88A6D687-52D4-48D5-B7A0-7900AF34542B}"/>
              </a:ext>
            </a:extLst>
          </p:cNvPr>
          <p:cNvSpPr>
            <a:spLocks noGrp="1"/>
          </p:cNvSpPr>
          <p:nvPr/>
        </p:nvSpPr>
        <p:spPr>
          <a:xfrm>
            <a:off x="7038975" y="2276475"/>
            <a:ext cx="1200150" cy="238125"/>
          </a:xfrm>
          <a:prstGeom prst="rect">
            <a:avLst/>
          </a:prstGeom>
          <a:noFill/>
          <a:ln w="0">
            <a:noFill/>
            <a:prstDash val="solid"/>
          </a:ln>
        </p:spPr>
        <p:txBody>
          <a:bodyPr wrap="square" lIns="28575" tIns="19050" rIns="28575" bIns="19050" anchor="ctr">
            <a:normAutofit/>
          </a:bodyPr>
          <a:lstStyle/>
          <a:p>
            <a:pPr algn="ctr">
              <a:lnSpc>
                <a:spcPct val="100000"/>
              </a:lnSpc>
              <a:buNone/>
              <a:defRPr sz="1013" b="1" i="0">
                <a:solidFill>
                  <a:srgbClr val="00A89D"/>
                </a:solidFill>
                <a:latin typeface="Yu Gothic"/>
                <a:ea typeface="Yu Gothic"/>
                <a:cs typeface="Yu Gothic"/>
              </a:defRPr>
            </a:pPr>
            <a:r>
              <a:rPr sz="1013" b="1" i="0">
                <a:solidFill>
                  <a:srgbClr val="00A89D"/>
                </a:solidFill>
                <a:latin typeface="Yu Gothic"/>
                <a:ea typeface="Yu Gothic"/>
                <a:cs typeface="Yu Gothic"/>
              </a:rPr>
              <a:t>5  optimize</a:t>
            </a:r>
          </a:p>
        </p:txBody>
      </p:sp>
      <p:sp>
        <p:nvSpPr>
          <p:cNvPr id="35" name="直線コネクタ 34">
            <a:extLst>
              <a:ext uri="{FF2B5EF4-FFF2-40B4-BE49-F238E27FC236}">
                <a16:creationId xmlns:a16="http://schemas.microsoft.com/office/drawing/2014/main" id="{FFE0394C-5851-439D-8BC0-B062EC202EBB}"/>
              </a:ext>
            </a:extLst>
          </p:cNvPr>
          <p:cNvSpPr>
            <a:spLocks noGrp="1"/>
          </p:cNvSpPr>
          <p:nvPr/>
        </p:nvSpPr>
        <p:spPr>
          <a:xfrm>
            <a:off x="7067550" y="2609850"/>
            <a:ext cx="1143000" cy="0"/>
          </a:xfrm>
          <a:prstGeom prst="line">
            <a:avLst/>
          </a:prstGeom>
          <a:noFill/>
          <a:ln w="9525">
            <a:solidFill>
              <a:srgbClr val="D6D6D6"/>
            </a:solidFill>
            <a:prstDash val="solid"/>
          </a:ln>
        </p:spPr>
      </p:sp>
      <p:sp>
        <p:nvSpPr>
          <p:cNvPr id="36" name="正方形/長方形 35">
            <a:extLst>
              <a:ext uri="{FF2B5EF4-FFF2-40B4-BE49-F238E27FC236}">
                <a16:creationId xmlns:a16="http://schemas.microsoft.com/office/drawing/2014/main" id="{B04117AC-94B9-4087-ABD1-302BAB2FAD28}"/>
              </a:ext>
            </a:extLst>
          </p:cNvPr>
          <p:cNvSpPr>
            <a:spLocks noGrp="1"/>
          </p:cNvSpPr>
          <p:nvPr/>
        </p:nvSpPr>
        <p:spPr>
          <a:xfrm>
            <a:off x="7038975" y="2724150"/>
            <a:ext cx="1200150" cy="542925"/>
          </a:xfrm>
          <a:prstGeom prst="rect">
            <a:avLst/>
          </a:prstGeom>
          <a:noFill/>
          <a:ln w="0">
            <a:noFill/>
            <a:prstDash val="solid"/>
          </a:ln>
        </p:spPr>
        <p:txBody>
          <a:bodyPr wrap="square" lIns="28575" tIns="19050" rIns="28575" bIns="19050" anchor="ctr">
            <a:normAutofit/>
          </a:bodyPr>
          <a:lstStyle/>
          <a:p>
            <a:pPr algn="ctr">
              <a:lnSpc>
                <a:spcPct val="110000"/>
              </a:lnSpc>
              <a:buNone/>
              <a:defRPr sz="810" b="0" i="0">
                <a:solidFill>
                  <a:srgbClr val="5B5B5B"/>
                </a:solidFill>
                <a:latin typeface="Yu Gothic"/>
                <a:ea typeface="Yu Gothic"/>
                <a:cs typeface="Yu Gothic"/>
              </a:defRPr>
            </a:pPr>
            <a:r>
              <a:rPr sz="810" b="0" i="0">
                <a:solidFill>
                  <a:srgbClr val="5B5B5B"/>
                </a:solidFill>
                <a:latin typeface="Yu Gothic"/>
                <a:ea typeface="Yu Gothic"/>
                <a:cs typeface="Yu Gothic"/>
              </a:rPr>
              <a:t>case-balanced</a:t>
            </a:r>
          </a:p>
          <a:p>
            <a:pPr algn="ctr">
              <a:lnSpc>
                <a:spcPct val="110000"/>
              </a:lnSpc>
              <a:buNone/>
              <a:defRPr sz="810" b="0" i="0">
                <a:solidFill>
                  <a:srgbClr val="5B5B5B"/>
                </a:solidFill>
                <a:latin typeface="Yu Gothic"/>
                <a:ea typeface="Yu Gothic"/>
                <a:cs typeface="Yu Gothic"/>
              </a:defRPr>
            </a:pPr>
            <a:r>
              <a:rPr sz="810" b="0" i="0">
                <a:solidFill>
                  <a:srgbClr val="5B5B5B"/>
                </a:solidFill>
                <a:latin typeface="Yu Gothic"/>
                <a:ea typeface="Yu Gothic"/>
                <a:cs typeface="Yu Gothic"/>
              </a:rPr>
              <a:t>rollout learning</a:t>
            </a:r>
          </a:p>
        </p:txBody>
      </p:sp>
      <p:sp>
        <p:nvSpPr>
          <p:cNvPr id="37" name="正方形/長方形 36">
            <a:extLst>
              <a:ext uri="{FF2B5EF4-FFF2-40B4-BE49-F238E27FC236}">
                <a16:creationId xmlns:a16="http://schemas.microsoft.com/office/drawing/2014/main" id="{17B032B6-8C65-435E-B7DC-BD0AC3ED5D65}"/>
              </a:ext>
            </a:extLst>
          </p:cNvPr>
          <p:cNvSpPr>
            <a:spLocks noGrp="1"/>
          </p:cNvSpPr>
          <p:nvPr/>
        </p:nvSpPr>
        <p:spPr>
          <a:xfrm>
            <a:off x="8553450" y="2066925"/>
            <a:ext cx="1371600" cy="1381125"/>
          </a:xfrm>
          <a:prstGeom prst="rect">
            <a:avLst/>
          </a:prstGeom>
          <a:solidFill>
            <a:srgbClr val="FFFFFF"/>
          </a:solidFill>
          <a:ln w="9525">
            <a:solidFill>
              <a:srgbClr val="D6D6D6"/>
            </a:solidFill>
            <a:prstDash val="solid"/>
          </a:ln>
        </p:spPr>
      </p:sp>
      <p:sp>
        <p:nvSpPr>
          <p:cNvPr id="38" name="正方形/長方形 37">
            <a:extLst>
              <a:ext uri="{FF2B5EF4-FFF2-40B4-BE49-F238E27FC236}">
                <a16:creationId xmlns:a16="http://schemas.microsoft.com/office/drawing/2014/main" id="{1F823DA5-C0AB-4733-B8F1-A65772BE8174}"/>
              </a:ext>
            </a:extLst>
          </p:cNvPr>
          <p:cNvSpPr>
            <a:spLocks noGrp="1"/>
          </p:cNvSpPr>
          <p:nvPr/>
        </p:nvSpPr>
        <p:spPr>
          <a:xfrm>
            <a:off x="8553450" y="2066925"/>
            <a:ext cx="1371600" cy="66675"/>
          </a:xfrm>
          <a:prstGeom prst="rect">
            <a:avLst/>
          </a:prstGeom>
          <a:solidFill>
            <a:srgbClr val="007FA8"/>
          </a:solidFill>
          <a:ln w="0">
            <a:noFill/>
            <a:prstDash val="solid"/>
          </a:ln>
        </p:spPr>
      </p:sp>
      <p:sp>
        <p:nvSpPr>
          <p:cNvPr id="39" name="正方形/長方形 38">
            <a:extLst>
              <a:ext uri="{FF2B5EF4-FFF2-40B4-BE49-F238E27FC236}">
                <a16:creationId xmlns:a16="http://schemas.microsoft.com/office/drawing/2014/main" id="{D4753497-A94E-41B1-8331-813FDF955CE1}"/>
              </a:ext>
            </a:extLst>
          </p:cNvPr>
          <p:cNvSpPr>
            <a:spLocks noGrp="1"/>
          </p:cNvSpPr>
          <p:nvPr/>
        </p:nvSpPr>
        <p:spPr>
          <a:xfrm>
            <a:off x="8639175" y="2276475"/>
            <a:ext cx="1200150" cy="238125"/>
          </a:xfrm>
          <a:prstGeom prst="rect">
            <a:avLst/>
          </a:prstGeom>
          <a:noFill/>
          <a:ln w="0">
            <a:noFill/>
            <a:prstDash val="solid"/>
          </a:ln>
        </p:spPr>
        <p:txBody>
          <a:bodyPr wrap="square" lIns="28575" tIns="19050" rIns="28575" bIns="19050" anchor="ctr">
            <a:normAutofit/>
          </a:bodyPr>
          <a:lstStyle/>
          <a:p>
            <a:pPr algn="ctr">
              <a:lnSpc>
                <a:spcPct val="100000"/>
              </a:lnSpc>
              <a:buNone/>
              <a:defRPr sz="1013" b="1" i="0">
                <a:solidFill>
                  <a:srgbClr val="007FA8"/>
                </a:solidFill>
                <a:latin typeface="Yu Gothic"/>
                <a:ea typeface="Yu Gothic"/>
                <a:cs typeface="Yu Gothic"/>
              </a:defRPr>
            </a:pPr>
            <a:r>
              <a:rPr sz="1013" b="1" i="0">
                <a:solidFill>
                  <a:srgbClr val="007FA8"/>
                </a:solidFill>
                <a:latin typeface="Yu Gothic"/>
                <a:ea typeface="Yu Gothic"/>
                <a:cs typeface="Yu Gothic"/>
              </a:rPr>
              <a:t>6  evaluate</a:t>
            </a:r>
          </a:p>
        </p:txBody>
      </p:sp>
      <p:sp>
        <p:nvSpPr>
          <p:cNvPr id="40" name="直線コネクタ 39">
            <a:extLst>
              <a:ext uri="{FF2B5EF4-FFF2-40B4-BE49-F238E27FC236}">
                <a16:creationId xmlns:a16="http://schemas.microsoft.com/office/drawing/2014/main" id="{81080CA1-D540-4B9B-AF80-51D5457EEBCE}"/>
              </a:ext>
            </a:extLst>
          </p:cNvPr>
          <p:cNvSpPr>
            <a:spLocks noGrp="1"/>
          </p:cNvSpPr>
          <p:nvPr/>
        </p:nvSpPr>
        <p:spPr>
          <a:xfrm>
            <a:off x="8667750" y="2609850"/>
            <a:ext cx="1143000" cy="0"/>
          </a:xfrm>
          <a:prstGeom prst="line">
            <a:avLst/>
          </a:prstGeom>
          <a:noFill/>
          <a:ln w="9525">
            <a:solidFill>
              <a:srgbClr val="D6D6D6"/>
            </a:solidFill>
            <a:prstDash val="solid"/>
          </a:ln>
        </p:spPr>
      </p:sp>
      <p:sp>
        <p:nvSpPr>
          <p:cNvPr id="41" name="正方形/長方形 40">
            <a:extLst>
              <a:ext uri="{FF2B5EF4-FFF2-40B4-BE49-F238E27FC236}">
                <a16:creationId xmlns:a16="http://schemas.microsoft.com/office/drawing/2014/main" id="{03019419-77B8-41EC-80B0-00DABBC6B1D1}"/>
              </a:ext>
            </a:extLst>
          </p:cNvPr>
          <p:cNvSpPr>
            <a:spLocks noGrp="1"/>
          </p:cNvSpPr>
          <p:nvPr/>
        </p:nvSpPr>
        <p:spPr>
          <a:xfrm>
            <a:off x="8639175" y="2724150"/>
            <a:ext cx="1200150" cy="542925"/>
          </a:xfrm>
          <a:prstGeom prst="rect">
            <a:avLst/>
          </a:prstGeom>
          <a:noFill/>
          <a:ln w="0">
            <a:noFill/>
            <a:prstDash val="solid"/>
          </a:ln>
        </p:spPr>
        <p:txBody>
          <a:bodyPr wrap="square" lIns="28575" tIns="19050" rIns="28575" bIns="19050" anchor="ctr">
            <a:normAutofit/>
          </a:bodyPr>
          <a:lstStyle/>
          <a:p>
            <a:pPr algn="ctr">
              <a:lnSpc>
                <a:spcPct val="110000"/>
              </a:lnSpc>
              <a:buNone/>
              <a:defRPr sz="810" b="0" i="0">
                <a:solidFill>
                  <a:srgbClr val="5B5B5B"/>
                </a:solidFill>
                <a:latin typeface="Yu Gothic"/>
                <a:ea typeface="Yu Gothic"/>
                <a:cs typeface="Yu Gothic"/>
              </a:defRPr>
            </a:pPr>
            <a:r>
              <a:rPr sz="810" b="0" i="0">
                <a:solidFill>
                  <a:srgbClr val="5B5B5B"/>
                </a:solidFill>
                <a:latin typeface="Yu Gothic"/>
                <a:ea typeface="Yu Gothic"/>
                <a:cs typeface="Yu Gothic"/>
              </a:rPr>
              <a:t>conditional +</a:t>
            </a:r>
          </a:p>
          <a:p>
            <a:pPr algn="ctr">
              <a:lnSpc>
                <a:spcPct val="110000"/>
              </a:lnSpc>
              <a:buNone/>
              <a:defRPr sz="810" b="0" i="0">
                <a:solidFill>
                  <a:srgbClr val="5B5B5B"/>
                </a:solidFill>
                <a:latin typeface="Yu Gothic"/>
                <a:ea typeface="Yu Gothic"/>
                <a:cs typeface="Yu Gothic"/>
              </a:defRPr>
            </a:pPr>
            <a:r>
              <a:rPr sz="810" b="0" i="0">
                <a:solidFill>
                  <a:srgbClr val="5B5B5B"/>
                </a:solidFill>
                <a:latin typeface="Yu Gothic"/>
                <a:ea typeface="Yu Gothic"/>
                <a:cs typeface="Yu Gothic"/>
              </a:rPr>
              <a:t>causal holdout</a:t>
            </a:r>
          </a:p>
        </p:txBody>
      </p:sp>
      <p:sp>
        <p:nvSpPr>
          <p:cNvPr id="42" name="正方形/長方形 41">
            <a:extLst>
              <a:ext uri="{FF2B5EF4-FFF2-40B4-BE49-F238E27FC236}">
                <a16:creationId xmlns:a16="http://schemas.microsoft.com/office/drawing/2014/main" id="{B3C8F7FF-34BF-4216-B666-88499F6EB1A8}"/>
              </a:ext>
            </a:extLst>
          </p:cNvPr>
          <p:cNvSpPr>
            <a:spLocks noGrp="1"/>
          </p:cNvSpPr>
          <p:nvPr/>
        </p:nvSpPr>
        <p:spPr>
          <a:xfrm>
            <a:off x="10153650" y="2066925"/>
            <a:ext cx="1485900" cy="1381125"/>
          </a:xfrm>
          <a:prstGeom prst="rect">
            <a:avLst/>
          </a:prstGeom>
          <a:solidFill>
            <a:srgbClr val="FFFFFF"/>
          </a:solidFill>
          <a:ln w="9525">
            <a:solidFill>
              <a:srgbClr val="D6D6D6"/>
            </a:solidFill>
            <a:prstDash val="solid"/>
          </a:ln>
        </p:spPr>
      </p:sp>
      <p:sp>
        <p:nvSpPr>
          <p:cNvPr id="43" name="正方形/長方形 42">
            <a:extLst>
              <a:ext uri="{FF2B5EF4-FFF2-40B4-BE49-F238E27FC236}">
                <a16:creationId xmlns:a16="http://schemas.microsoft.com/office/drawing/2014/main" id="{77870DAA-E221-47AD-BB27-371C85E0193D}"/>
              </a:ext>
            </a:extLst>
          </p:cNvPr>
          <p:cNvSpPr>
            <a:spLocks noGrp="1"/>
          </p:cNvSpPr>
          <p:nvPr/>
        </p:nvSpPr>
        <p:spPr>
          <a:xfrm>
            <a:off x="10153650" y="2066925"/>
            <a:ext cx="1485900" cy="66675"/>
          </a:xfrm>
          <a:prstGeom prst="rect">
            <a:avLst/>
          </a:prstGeom>
          <a:solidFill>
            <a:srgbClr val="201445"/>
          </a:solidFill>
          <a:ln w="0">
            <a:noFill/>
            <a:prstDash val="solid"/>
          </a:ln>
        </p:spPr>
      </p:sp>
      <p:sp>
        <p:nvSpPr>
          <p:cNvPr id="44" name="正方形/長方形 43">
            <a:extLst>
              <a:ext uri="{FF2B5EF4-FFF2-40B4-BE49-F238E27FC236}">
                <a16:creationId xmlns:a16="http://schemas.microsoft.com/office/drawing/2014/main" id="{9563AA9E-9D09-454B-A70E-2DF3C3636176}"/>
              </a:ext>
            </a:extLst>
          </p:cNvPr>
          <p:cNvSpPr>
            <a:spLocks noGrp="1"/>
          </p:cNvSpPr>
          <p:nvPr/>
        </p:nvSpPr>
        <p:spPr>
          <a:xfrm>
            <a:off x="10239375" y="2276475"/>
            <a:ext cx="1314450" cy="238125"/>
          </a:xfrm>
          <a:prstGeom prst="rect">
            <a:avLst/>
          </a:prstGeom>
          <a:noFill/>
          <a:ln w="0">
            <a:noFill/>
            <a:prstDash val="solid"/>
          </a:ln>
        </p:spPr>
        <p:txBody>
          <a:bodyPr wrap="square" lIns="28575" tIns="19050" rIns="28575" bIns="19050" anchor="ctr">
            <a:normAutofit/>
          </a:bodyPr>
          <a:lstStyle/>
          <a:p>
            <a:pPr algn="ctr">
              <a:lnSpc>
                <a:spcPct val="100000"/>
              </a:lnSpc>
              <a:buNone/>
              <a:defRPr sz="1013" b="1" i="0">
                <a:solidFill>
                  <a:srgbClr val="201445"/>
                </a:solidFill>
                <a:latin typeface="Yu Gothic"/>
                <a:ea typeface="Yu Gothic"/>
                <a:cs typeface="Yu Gothic"/>
              </a:defRPr>
            </a:pPr>
            <a:r>
              <a:rPr sz="1013" b="1" i="0">
                <a:solidFill>
                  <a:srgbClr val="201445"/>
                </a:solidFill>
                <a:latin typeface="Yu Gothic"/>
                <a:ea typeface="Yu Gothic"/>
                <a:cs typeface="Yu Gothic"/>
              </a:rPr>
              <a:t>7  publish</a:t>
            </a:r>
          </a:p>
        </p:txBody>
      </p:sp>
      <p:sp>
        <p:nvSpPr>
          <p:cNvPr id="45" name="直線コネクタ 44">
            <a:extLst>
              <a:ext uri="{FF2B5EF4-FFF2-40B4-BE49-F238E27FC236}">
                <a16:creationId xmlns:a16="http://schemas.microsoft.com/office/drawing/2014/main" id="{4C411961-C885-4AD1-8FEC-CA1B94D4DF55}"/>
              </a:ext>
            </a:extLst>
          </p:cNvPr>
          <p:cNvSpPr>
            <a:spLocks noGrp="1"/>
          </p:cNvSpPr>
          <p:nvPr/>
        </p:nvSpPr>
        <p:spPr>
          <a:xfrm>
            <a:off x="10267950" y="2609850"/>
            <a:ext cx="1257300" cy="0"/>
          </a:xfrm>
          <a:prstGeom prst="line">
            <a:avLst/>
          </a:prstGeom>
          <a:noFill/>
          <a:ln w="9525">
            <a:solidFill>
              <a:srgbClr val="D6D6D6"/>
            </a:solidFill>
            <a:prstDash val="solid"/>
          </a:ln>
        </p:spPr>
      </p:sp>
      <p:sp>
        <p:nvSpPr>
          <p:cNvPr id="46" name="正方形/長方形 45">
            <a:extLst>
              <a:ext uri="{FF2B5EF4-FFF2-40B4-BE49-F238E27FC236}">
                <a16:creationId xmlns:a16="http://schemas.microsoft.com/office/drawing/2014/main" id="{C2C32B15-A6A8-4996-8D03-36551B1232C9}"/>
              </a:ext>
            </a:extLst>
          </p:cNvPr>
          <p:cNvSpPr>
            <a:spLocks noGrp="1"/>
          </p:cNvSpPr>
          <p:nvPr/>
        </p:nvSpPr>
        <p:spPr>
          <a:xfrm>
            <a:off x="10239375" y="2724150"/>
            <a:ext cx="1314450" cy="542925"/>
          </a:xfrm>
          <a:prstGeom prst="rect">
            <a:avLst/>
          </a:prstGeom>
          <a:noFill/>
          <a:ln w="0">
            <a:noFill/>
            <a:prstDash val="solid"/>
          </a:ln>
        </p:spPr>
        <p:txBody>
          <a:bodyPr wrap="square" lIns="28575" tIns="19050" rIns="28575" bIns="19050" anchor="ctr">
            <a:normAutofit/>
          </a:bodyPr>
          <a:lstStyle/>
          <a:p>
            <a:pPr algn="ctr">
              <a:lnSpc>
                <a:spcPct val="110000"/>
              </a:lnSpc>
              <a:buNone/>
              <a:defRPr sz="810" b="0" i="0">
                <a:solidFill>
                  <a:srgbClr val="5B5B5B"/>
                </a:solidFill>
                <a:latin typeface="Yu Gothic"/>
                <a:ea typeface="Yu Gothic"/>
                <a:cs typeface="Yu Gothic"/>
              </a:defRPr>
            </a:pPr>
            <a:r>
              <a:rPr sz="810" b="0" i="0">
                <a:solidFill>
                  <a:srgbClr val="5B5B5B"/>
                </a:solidFill>
                <a:latin typeface="Yu Gothic"/>
                <a:ea typeface="Yu Gothic"/>
                <a:cs typeface="Yu Gothic"/>
              </a:rPr>
              <a:t>atomic run +</a:t>
            </a:r>
          </a:p>
          <a:p>
            <a:pPr algn="ctr">
              <a:lnSpc>
                <a:spcPct val="110000"/>
              </a:lnSpc>
              <a:buNone/>
              <a:defRPr sz="810" b="0" i="0">
                <a:solidFill>
                  <a:srgbClr val="5B5B5B"/>
                </a:solidFill>
                <a:latin typeface="Yu Gothic"/>
                <a:ea typeface="Yu Gothic"/>
                <a:cs typeface="Yu Gothic"/>
              </a:defRPr>
            </a:pPr>
            <a:r>
              <a:rPr sz="810" b="0" i="0">
                <a:solidFill>
                  <a:srgbClr val="5B5B5B"/>
                </a:solidFill>
                <a:latin typeface="Yu Gothic"/>
                <a:ea typeface="Yu Gothic"/>
                <a:cs typeface="Yu Gothic"/>
              </a:rPr>
              <a:t>portable artifact</a:t>
            </a:r>
          </a:p>
        </p:txBody>
      </p:sp>
      <p:cxnSp>
        <p:nvCxnSpPr>
          <p:cNvPr id="101" name="直線矢印コネクタ 100"/>
          <p:cNvCxnSpPr>
            <a:stCxn id="12" idx="3"/>
            <a:endCxn id="17" idx="1"/>
          </p:cNvCxnSpPr>
          <p:nvPr/>
        </p:nvCxnSpPr>
        <p:spPr>
          <a:xfrm>
            <a:off x="1924050" y="2757488"/>
            <a:ext cx="228600" cy="0"/>
          </a:xfrm>
          <a:prstGeom prst="straightConnector1">
            <a:avLst/>
          </a:prstGeom>
          <a:ln w="14288">
            <a:solidFill>
              <a:srgbClr val="007FA8"/>
            </a:solidFill>
            <a:prstDash val="solid"/>
            <a:tailEnd type="triangle" w="sm" len="sm"/>
          </a:ln>
        </p:spPr>
      </p:cxnSp>
      <p:cxnSp>
        <p:nvCxnSpPr>
          <p:cNvPr id="102" name="直線矢印コネクタ 101"/>
          <p:cNvCxnSpPr>
            <a:stCxn id="17" idx="3"/>
            <a:endCxn id="22" idx="1"/>
          </p:cNvCxnSpPr>
          <p:nvPr/>
        </p:nvCxnSpPr>
        <p:spPr>
          <a:xfrm>
            <a:off x="3524250" y="2757488"/>
            <a:ext cx="228600" cy="0"/>
          </a:xfrm>
          <a:prstGeom prst="straightConnector1">
            <a:avLst/>
          </a:prstGeom>
          <a:ln w="14288">
            <a:solidFill>
              <a:srgbClr val="007FA8"/>
            </a:solidFill>
            <a:prstDash val="solid"/>
            <a:tailEnd type="triangle" w="sm" len="sm"/>
          </a:ln>
        </p:spPr>
      </p:cxnSp>
      <p:cxnSp>
        <p:nvCxnSpPr>
          <p:cNvPr id="103" name="直線矢印コネクタ 102"/>
          <p:cNvCxnSpPr>
            <a:stCxn id="22" idx="3"/>
            <a:endCxn id="27" idx="1"/>
          </p:cNvCxnSpPr>
          <p:nvPr/>
        </p:nvCxnSpPr>
        <p:spPr>
          <a:xfrm>
            <a:off x="5124450" y="2757488"/>
            <a:ext cx="228600" cy="0"/>
          </a:xfrm>
          <a:prstGeom prst="straightConnector1">
            <a:avLst/>
          </a:prstGeom>
          <a:ln w="14288">
            <a:solidFill>
              <a:srgbClr val="007FA8"/>
            </a:solidFill>
            <a:prstDash val="solid"/>
            <a:tailEnd type="triangle" w="sm" len="sm"/>
          </a:ln>
        </p:spPr>
      </p:cxnSp>
      <p:cxnSp>
        <p:nvCxnSpPr>
          <p:cNvPr id="104" name="直線矢印コネクタ 103"/>
          <p:cNvCxnSpPr>
            <a:stCxn id="27" idx="3"/>
            <a:endCxn id="32" idx="1"/>
          </p:cNvCxnSpPr>
          <p:nvPr/>
        </p:nvCxnSpPr>
        <p:spPr>
          <a:xfrm>
            <a:off x="6724650" y="2757488"/>
            <a:ext cx="228600" cy="0"/>
          </a:xfrm>
          <a:prstGeom prst="straightConnector1">
            <a:avLst/>
          </a:prstGeom>
          <a:ln w="14288">
            <a:solidFill>
              <a:srgbClr val="007FA8"/>
            </a:solidFill>
            <a:prstDash val="solid"/>
            <a:tailEnd type="triangle" w="sm" len="sm"/>
          </a:ln>
        </p:spPr>
      </p:cxnSp>
      <p:cxnSp>
        <p:nvCxnSpPr>
          <p:cNvPr id="105" name="直線矢印コネクタ 104"/>
          <p:cNvCxnSpPr>
            <a:stCxn id="32" idx="3"/>
            <a:endCxn id="37" idx="1"/>
          </p:cNvCxnSpPr>
          <p:nvPr/>
        </p:nvCxnSpPr>
        <p:spPr>
          <a:xfrm>
            <a:off x="8324850" y="2757488"/>
            <a:ext cx="228600" cy="0"/>
          </a:xfrm>
          <a:prstGeom prst="straightConnector1">
            <a:avLst/>
          </a:prstGeom>
          <a:ln w="14288">
            <a:solidFill>
              <a:srgbClr val="007FA8"/>
            </a:solidFill>
            <a:prstDash val="solid"/>
            <a:tailEnd type="triangle" w="sm" len="sm"/>
          </a:ln>
        </p:spPr>
      </p:cxnSp>
      <p:cxnSp>
        <p:nvCxnSpPr>
          <p:cNvPr id="106" name="直線矢印コネクタ 105"/>
          <p:cNvCxnSpPr>
            <a:stCxn id="37" idx="3"/>
            <a:endCxn id="42" idx="1"/>
          </p:cNvCxnSpPr>
          <p:nvPr/>
        </p:nvCxnSpPr>
        <p:spPr>
          <a:xfrm>
            <a:off x="9925050" y="2757488"/>
            <a:ext cx="228600" cy="0"/>
          </a:xfrm>
          <a:prstGeom prst="straightConnector1">
            <a:avLst/>
          </a:prstGeom>
          <a:ln w="14288">
            <a:solidFill>
              <a:srgbClr val="007FA8"/>
            </a:solidFill>
            <a:prstDash val="solid"/>
            <a:tailEnd type="triangle" w="sm" len="sm"/>
          </a:ln>
        </p:spPr>
      </p:cxnSp>
      <p:graphicFrame>
        <p:nvGraphicFramePr>
          <p:cNvPr id="107" name="表 106"/>
          <p:cNvGraphicFramePr/>
          <p:nvPr/>
        </p:nvGraphicFramePr>
        <p:xfrm>
          <a:off x="552450" y="3752850"/>
          <a:ext cx="11087100" cy="2000250"/>
        </p:xfrm>
        <a:graphic>
          <a:graphicData uri="http://schemas.openxmlformats.org/drawingml/2006/table">
            <a:tbl>
              <a:tblPr/>
              <a:tblGrid>
                <a:gridCol w="2333625">
                  <a:extLst>
                    <a:ext uri="{9D8B030D-6E8A-4147-A177-3AD203B41FA5}">
                      <a16:colId xmlns:a16="http://schemas.microsoft.com/office/drawing/2014/main" val="20000"/>
                    </a:ext>
                  </a:extLst>
                </a:gridCol>
                <a:gridCol w="5095875">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400050">
                <a:tc>
                  <a:txBody>
                    <a:bodyPr/>
                    <a:lstStyle/>
                    <a:p>
                      <a:r>
                        <a:rPr sz="938" b="1">
                          <a:solidFill>
                            <a:srgbClr val="FFFFFF"/>
                          </a:solidFill>
                          <a:latin typeface="Yu Gothic"/>
                          <a:ea typeface="Yu Gothic"/>
                          <a:cs typeface="Yu Gothic"/>
                        </a:rPr>
                        <a:t>保存先</a:t>
                      </a:r>
                    </a:p>
                  </a:txBody>
                  <a:tcPr>
                    <a:solidFill>
                      <a:srgbClr val="00A5D8"/>
                    </a:solidFill>
                  </a:tcPr>
                </a:tc>
                <a:tc>
                  <a:txBody>
                    <a:bodyPr/>
                    <a:lstStyle/>
                    <a:p>
                      <a:r>
                        <a:rPr sz="938" b="1">
                          <a:solidFill>
                            <a:srgbClr val="FFFFFF"/>
                          </a:solidFill>
                          <a:latin typeface="Yu Gothic"/>
                          <a:ea typeface="Yu Gothic"/>
                          <a:cs typeface="Yu Gothic"/>
                        </a:rPr>
                        <a:t>主な内容</a:t>
                      </a:r>
                    </a:p>
                  </a:txBody>
                  <a:tcPr>
                    <a:solidFill>
                      <a:srgbClr val="00A5D8"/>
                    </a:solidFill>
                  </a:tcPr>
                </a:tc>
                <a:tc>
                  <a:txBody>
                    <a:bodyPr/>
                    <a:lstStyle/>
                    <a:p>
                      <a:r>
                        <a:rPr sz="938" b="1">
                          <a:solidFill>
                            <a:srgbClr val="FFFFFF"/>
                          </a:solidFill>
                          <a:latin typeface="Yu Gothic"/>
                          <a:ea typeface="Yu Gothic"/>
                          <a:cs typeface="Yu Gothic"/>
                        </a:rPr>
                        <a:t>用途</a:t>
                      </a:r>
                    </a:p>
                  </a:txBody>
                  <a:tcPr>
                    <a:solidFill>
                      <a:srgbClr val="00A5D8"/>
                    </a:solidFill>
                  </a:tcPr>
                </a:tc>
                <a:extLst>
                  <a:ext uri="{0D108BD9-81ED-4DB2-BD59-A6C34878D82A}">
                    <a16:rowId xmlns:a16="http://schemas.microsoft.com/office/drawing/2014/main" val="10000"/>
                  </a:ext>
                </a:extLst>
              </a:tr>
              <a:tr h="400050">
                <a:tc>
                  <a:txBody>
                    <a:bodyPr/>
                    <a:lstStyle/>
                    <a:p>
                      <a:r>
                        <a:rPr sz="878" b="1">
                          <a:solidFill>
                            <a:srgbClr val="007FA8"/>
                          </a:solidFill>
                          <a:latin typeface="Yu Gothic"/>
                          <a:ea typeface="Yu Gothic"/>
                          <a:cs typeface="Yu Gothic"/>
                        </a:rPr>
                        <a:t>run root</a:t>
                      </a:r>
                    </a:p>
                  </a:txBody>
                  <a:tcPr>
                    <a:solidFill>
                      <a:srgbClr val="FFFFFF"/>
                    </a:solidFill>
                  </a:tcPr>
                </a:tc>
                <a:tc>
                  <a:txBody>
                    <a:bodyPr/>
                    <a:lstStyle/>
                    <a:p>
                      <a:r>
                        <a:rPr sz="878">
                          <a:solidFill>
                            <a:srgbClr val="5B5B5B"/>
                          </a:solidFill>
                          <a:latin typeface="Yu Gothic"/>
                          <a:ea typeface="Yu Gothic"/>
                          <a:cs typeface="Yu Gothic"/>
                        </a:rPr>
                        <a:t>metrics_by_case/sensor, metrics_summary, training_history</a:t>
                      </a:r>
                    </a:p>
                  </a:txBody>
                  <a:tcPr>
                    <a:solidFill>
                      <a:srgbClr val="FFFFFF"/>
                    </a:solidFill>
                  </a:tcPr>
                </a:tc>
                <a:tc>
                  <a:txBody>
                    <a:bodyPr/>
                    <a:lstStyle/>
                    <a:p>
                      <a:r>
                        <a:rPr sz="878">
                          <a:solidFill>
                            <a:srgbClr val="5B5B5B"/>
                          </a:solidFill>
                          <a:latin typeface="Yu Gothic"/>
                          <a:ea typeface="Yu Gothic"/>
                          <a:cs typeface="Yu Gothic"/>
                        </a:rPr>
                        <a:t>性能・収束・worst case監査</a:t>
                      </a:r>
                    </a:p>
                  </a:txBody>
                  <a:tcPr>
                    <a:solidFill>
                      <a:srgbClr val="FFFFFF"/>
                    </a:solidFill>
                  </a:tcPr>
                </a:tc>
                <a:extLst>
                  <a:ext uri="{0D108BD9-81ED-4DB2-BD59-A6C34878D82A}">
                    <a16:rowId xmlns:a16="http://schemas.microsoft.com/office/drawing/2014/main" val="10001"/>
                  </a:ext>
                </a:extLst>
              </a:tr>
              <a:tr h="400050">
                <a:tc>
                  <a:txBody>
                    <a:bodyPr/>
                    <a:lstStyle/>
                    <a:p>
                      <a:r>
                        <a:rPr sz="878" b="1">
                          <a:solidFill>
                            <a:srgbClr val="007FA8"/>
                          </a:solidFill>
                          <a:latin typeface="Yu Gothic"/>
                          <a:ea typeface="Yu Gothic"/>
                          <a:cs typeface="Yu Gothic"/>
                        </a:rPr>
                        <a:t>split / data summary</a:t>
                      </a:r>
                    </a:p>
                  </a:txBody>
                  <a:tcPr>
                    <a:solidFill>
                      <a:srgbClr val="F8F8F8"/>
                    </a:solidFill>
                  </a:tcPr>
                </a:tc>
                <a:tc>
                  <a:txBody>
                    <a:bodyPr/>
                    <a:lstStyle/>
                    <a:p>
                      <a:r>
                        <a:rPr sz="878">
                          <a:solidFill>
                            <a:srgbClr val="5B5B5B"/>
                          </a:solidFill>
                          <a:latin typeface="Yu Gothic"/>
                          <a:ea typeface="Yu Gothic"/>
                          <a:cs typeface="Yu Gothic"/>
                        </a:rPr>
                        <a:t>split.csv, data_summary.csv, config.snapshot.yaml</a:t>
                      </a:r>
                    </a:p>
                  </a:txBody>
                  <a:tcPr>
                    <a:solidFill>
                      <a:srgbClr val="F8F8F8"/>
                    </a:solidFill>
                  </a:tcPr>
                </a:tc>
                <a:tc>
                  <a:txBody>
                    <a:bodyPr/>
                    <a:lstStyle/>
                    <a:p>
                      <a:r>
                        <a:rPr sz="878">
                          <a:solidFill>
                            <a:srgbClr val="5B5B5B"/>
                          </a:solidFill>
                          <a:latin typeface="Yu Gothic"/>
                          <a:ea typeface="Yu Gothic"/>
                          <a:cs typeface="Yu Gothic"/>
                        </a:rPr>
                        <a:t>データ境界と設定再現</a:t>
                      </a:r>
                    </a:p>
                  </a:txBody>
                  <a:tcPr>
                    <a:solidFill>
                      <a:srgbClr val="F8F8F8"/>
                    </a:solidFill>
                  </a:tcPr>
                </a:tc>
                <a:extLst>
                  <a:ext uri="{0D108BD9-81ED-4DB2-BD59-A6C34878D82A}">
                    <a16:rowId xmlns:a16="http://schemas.microsoft.com/office/drawing/2014/main" val="10002"/>
                  </a:ext>
                </a:extLst>
              </a:tr>
              <a:tr h="400050">
                <a:tc>
                  <a:txBody>
                    <a:bodyPr/>
                    <a:lstStyle/>
                    <a:p>
                      <a:r>
                        <a:rPr sz="878" b="1">
                          <a:solidFill>
                            <a:srgbClr val="007FA8"/>
                          </a:solidFill>
                          <a:latin typeface="Yu Gothic"/>
                          <a:ea typeface="Yu Gothic"/>
                          <a:cs typeface="Yu Gothic"/>
                        </a:rPr>
                        <a:t>test_predictions/</a:t>
                      </a:r>
                    </a:p>
                  </a:txBody>
                  <a:tcPr>
                    <a:solidFill>
                      <a:srgbClr val="FFFFFF"/>
                    </a:solidFill>
                  </a:tcPr>
                </a:tc>
                <a:tc>
                  <a:txBody>
                    <a:bodyPr/>
                    <a:lstStyle/>
                    <a:p>
                      <a:r>
                        <a:rPr sz="878">
                          <a:solidFill>
                            <a:srgbClr val="5B5B5B"/>
                          </a:solidFill>
                          <a:latin typeface="Yu Gothic"/>
                          <a:ea typeface="Yu Gothic"/>
                          <a:cs typeface="Yu Gothic"/>
                        </a:rPr>
                        <a:t>held-out observed / predicted / residual</a:t>
                      </a:r>
                    </a:p>
                  </a:txBody>
                  <a:tcPr>
                    <a:solidFill>
                      <a:srgbClr val="FFFFFF"/>
                    </a:solidFill>
                  </a:tcPr>
                </a:tc>
                <a:tc>
                  <a:txBody>
                    <a:bodyPr/>
                    <a:lstStyle/>
                    <a:p>
                      <a:r>
                        <a:rPr sz="878">
                          <a:solidFill>
                            <a:srgbClr val="5B5B5B"/>
                          </a:solidFill>
                          <a:latin typeface="Yu Gothic"/>
                          <a:ea typeface="Yu Gothic"/>
                          <a:cs typeface="Yu Gothic"/>
                        </a:rPr>
                        <a:t>再描画・残差診断</a:t>
                      </a:r>
                    </a:p>
                  </a:txBody>
                  <a:tcPr>
                    <a:solidFill>
                      <a:srgbClr val="FFFFFF"/>
                    </a:solidFill>
                  </a:tcPr>
                </a:tc>
                <a:extLst>
                  <a:ext uri="{0D108BD9-81ED-4DB2-BD59-A6C34878D82A}">
                    <a16:rowId xmlns:a16="http://schemas.microsoft.com/office/drawing/2014/main" val="10003"/>
                  </a:ext>
                </a:extLst>
              </a:tr>
              <a:tr h="400050">
                <a:tc>
                  <a:txBody>
                    <a:bodyPr/>
                    <a:lstStyle/>
                    <a:p>
                      <a:r>
                        <a:rPr sz="878" b="1">
                          <a:solidFill>
                            <a:srgbClr val="007FA8"/>
                          </a:solidFill>
                          <a:latin typeface="Yu Gothic"/>
                          <a:ea typeface="Yu Gothic"/>
                          <a:cs typeface="Yu Gothic"/>
                        </a:rPr>
                        <a:t>artifact/</a:t>
                      </a:r>
                    </a:p>
                  </a:txBody>
                  <a:tcPr>
                    <a:solidFill>
                      <a:srgbClr val="F8F8F8"/>
                    </a:solidFill>
                  </a:tcPr>
                </a:tc>
                <a:tc>
                  <a:txBody>
                    <a:bodyPr/>
                    <a:lstStyle/>
                    <a:p>
                      <a:r>
                        <a:rPr sz="878">
                          <a:solidFill>
                            <a:srgbClr val="5B5B5B"/>
                          </a:solidFill>
                          <a:latin typeface="Yu Gothic"/>
                          <a:ea typeface="Yu Gothic"/>
                          <a:cs typeface="Yu Gothic"/>
                        </a:rPr>
                        <a:t>model.pt, system.yaml, metadata.json</a:t>
                      </a:r>
                    </a:p>
                  </a:txBody>
                  <a:tcPr>
                    <a:solidFill>
                      <a:srgbClr val="F8F8F8"/>
                    </a:solidFill>
                  </a:tcPr>
                </a:tc>
                <a:tc>
                  <a:txBody>
                    <a:bodyPr/>
                    <a:lstStyle/>
                    <a:p>
                      <a:r>
                        <a:rPr sz="878">
                          <a:solidFill>
                            <a:srgbClr val="5B5B5B"/>
                          </a:solidFill>
                          <a:latin typeface="Yu Gothic"/>
                          <a:ea typeface="Yu Gothic"/>
                          <a:cs typeface="Yu Gothic"/>
                        </a:rPr>
                        <a:t>forecast / monitorへ配備</a:t>
                      </a:r>
                    </a:p>
                  </a:txBody>
                  <a:tcPr>
                    <a:solidFill>
                      <a:srgbClr val="F8F8F8"/>
                    </a:solidFill>
                  </a:tcPr>
                </a:tc>
                <a:extLst>
                  <a:ext uri="{0D108BD9-81ED-4DB2-BD59-A6C34878D82A}">
                    <a16:rowId xmlns:a16="http://schemas.microsoft.com/office/drawing/2014/main" val="10004"/>
                  </a:ext>
                </a:extLst>
              </a:tr>
            </a:tbl>
          </a:graphicData>
        </a:graphic>
      </p:graphicFrame>
      <p:sp>
        <p:nvSpPr>
          <p:cNvPr id="54" name="正方形/長方形 53">
            <a:extLst>
              <a:ext uri="{FF2B5EF4-FFF2-40B4-BE49-F238E27FC236}">
                <a16:creationId xmlns:a16="http://schemas.microsoft.com/office/drawing/2014/main" id="{64309DFD-063F-49D4-BA09-F61367677176}"/>
              </a:ext>
            </a:extLst>
          </p:cNvPr>
          <p:cNvSpPr>
            <a:spLocks noGrp="1"/>
          </p:cNvSpPr>
          <p:nvPr/>
        </p:nvSpPr>
        <p:spPr>
          <a:xfrm>
            <a:off x="552450" y="5934075"/>
            <a:ext cx="11087100" cy="257175"/>
          </a:xfrm>
          <a:prstGeom prst="rect">
            <a:avLst/>
          </a:prstGeom>
          <a:noFill/>
          <a:ln w="0">
            <a:noFill/>
            <a:prstDash val="solid"/>
          </a:ln>
        </p:spPr>
        <p:txBody>
          <a:bodyPr wrap="square" lIns="28575" tIns="19050" rIns="28575" bIns="19050" anchor="ctr">
            <a:normAutofit/>
          </a:bodyPr>
          <a:lstStyle/>
          <a:p>
            <a:pPr algn="ctr">
              <a:lnSpc>
                <a:spcPct val="100000"/>
              </a:lnSpc>
              <a:buNone/>
              <a:defRPr sz="915" b="1" i="0">
                <a:solidFill>
                  <a:srgbClr val="4D8710"/>
                </a:solidFill>
                <a:latin typeface="Yu Gothic"/>
                <a:ea typeface="Yu Gothic"/>
                <a:cs typeface="Yu Gothic"/>
              </a:defRPr>
            </a:pPr>
            <a:r>
              <a:rPr sz="915" b="1" i="0">
                <a:solidFill>
                  <a:srgbClr val="4D8710"/>
                </a:solidFill>
                <a:latin typeface="Yu Gothic"/>
                <a:ea typeface="Yu Gothic"/>
                <a:cs typeface="Yu Gothic"/>
              </a:rPr>
              <a:t>公開済みartifactだけをruntimeへ渡し、学習用profile stateやoptimizer stateは配備しない。</a:t>
            </a:r>
          </a:p>
        </p:txBody>
      </p:sp>
    </p:spTree>
    <p:extLst>
      <p:ext uri="{BB962C8B-B14F-4D97-AF65-F5344CB8AC3E}">
        <p14:creationId xmlns:p14="http://schemas.microsoft.com/office/powerpoint/2010/main" val="13712444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3" name="正方形/長方形 52">
            <a:extLst>
              <a:ext uri="{FF2B5EF4-FFF2-40B4-BE49-F238E27FC236}">
                <a16:creationId xmlns:a16="http://schemas.microsoft.com/office/drawing/2014/main" id="{2F3E70DD-2E62-436E-BA20-0AE46C089B6A}"/>
              </a:ext>
            </a:extLst>
          </p:cNvPr>
          <p:cNvSpPr>
            <a:spLocks noGrp="1"/>
          </p:cNvSpPr>
          <p:nvPr/>
        </p:nvSpPr>
        <p:spPr>
          <a:xfrm>
            <a:off x="552450" y="190500"/>
            <a:ext cx="76200" cy="142875"/>
          </a:xfrm>
          <a:prstGeom prst="rect">
            <a:avLst/>
          </a:prstGeom>
          <a:solidFill>
            <a:srgbClr val="76BE18"/>
          </a:solidFill>
          <a:ln w="0">
            <a:noFill/>
            <a:prstDash val="solid"/>
          </a:ln>
        </p:spPr>
      </p:sp>
      <p:sp>
        <p:nvSpPr>
          <p:cNvPr id="2" name="正方形/長方形 1">
            <a:extLst>
              <a:ext uri="{FF2B5EF4-FFF2-40B4-BE49-F238E27FC236}">
                <a16:creationId xmlns:a16="http://schemas.microsoft.com/office/drawing/2014/main" id="{31263322-2F99-4FF2-B3B4-A5BF241D3B46}"/>
              </a:ext>
            </a:extLst>
          </p:cNvPr>
          <p:cNvSpPr>
            <a:spLocks noGrp="1"/>
          </p:cNvSpPr>
          <p:nvPr/>
        </p:nvSpPr>
        <p:spPr>
          <a:xfrm>
            <a:off x="704850" y="161925"/>
            <a:ext cx="3429000" cy="190500"/>
          </a:xfrm>
          <a:prstGeom prst="rect">
            <a:avLst/>
          </a:prstGeom>
          <a:noFill/>
          <a:ln w="0">
            <a:noFill/>
            <a:prstDash val="solid"/>
          </a:ln>
        </p:spPr>
        <p:txBody>
          <a:bodyPr wrap="none" lIns="28575" tIns="19050" rIns="28575" bIns="19050" anchor="ctr">
            <a:noAutofit/>
          </a:bodyPr>
          <a:lstStyle/>
          <a:p>
            <a:pPr algn="l">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CAUSAL FORECAST</a:t>
            </a:r>
          </a:p>
        </p:txBody>
      </p:sp>
      <p:sp>
        <p:nvSpPr>
          <p:cNvPr id="3" name="正方形/長方形 2">
            <a:extLst>
              <a:ext uri="{FF2B5EF4-FFF2-40B4-BE49-F238E27FC236}">
                <a16:creationId xmlns:a16="http://schemas.microsoft.com/office/drawing/2014/main" id="{FCCA06A3-A8BD-4174-A414-32713F501424}"/>
              </a:ext>
            </a:extLst>
          </p:cNvPr>
          <p:cNvSpPr>
            <a:spLocks noGrp="1"/>
          </p:cNvSpPr>
          <p:nvPr/>
        </p:nvSpPr>
        <p:spPr>
          <a:xfrm>
            <a:off x="552450" y="400050"/>
            <a:ext cx="11001375" cy="400050"/>
          </a:xfrm>
          <a:prstGeom prst="rect">
            <a:avLst/>
          </a:prstGeom>
          <a:noFill/>
          <a:ln w="0">
            <a:noFill/>
            <a:prstDash val="solid"/>
          </a:ln>
        </p:spPr>
        <p:txBody>
          <a:bodyPr wrap="none" lIns="19050" tIns="0" rIns="19050" bIns="0" anchor="ctr">
            <a:normAutofit/>
          </a:bodyPr>
          <a:lstStyle/>
          <a:p>
            <a:pPr algn="l">
              <a:lnSpc>
                <a:spcPct val="100000"/>
              </a:lnSpc>
              <a:buNone/>
              <a:defRPr sz="2175" b="1" i="0">
                <a:solidFill>
                  <a:srgbClr val="00A5D8"/>
                </a:solidFill>
                <a:latin typeface="Yu Gothic"/>
                <a:ea typeface="Yu Gothic"/>
                <a:cs typeface="Yu Gothic"/>
              </a:defRPr>
            </a:pPr>
            <a:r>
              <a:rPr sz="2175" b="1" i="0">
                <a:solidFill>
                  <a:srgbClr val="00A5D8"/>
                </a:solidFill>
                <a:latin typeface="Yu Gothic"/>
                <a:ea typeface="Yu Gothic"/>
                <a:cs typeface="Yu Gothic"/>
              </a:rPr>
              <a:t>予測開始時刻Hまでだけを同化し、その後は入力suffixで開ループ予測する</a:t>
            </a:r>
          </a:p>
        </p:txBody>
      </p:sp>
      <p:sp>
        <p:nvSpPr>
          <p:cNvPr id="4" name="正方形/長方形 3">
            <a:extLst>
              <a:ext uri="{FF2B5EF4-FFF2-40B4-BE49-F238E27FC236}">
                <a16:creationId xmlns:a16="http://schemas.microsoft.com/office/drawing/2014/main" id="{747E5AEA-F344-42CC-898D-FBF6AB70C020}"/>
              </a:ext>
            </a:extLst>
          </p:cNvPr>
          <p:cNvSpPr>
            <a:spLocks noGrp="1"/>
          </p:cNvSpPr>
          <p:nvPr/>
        </p:nvSpPr>
        <p:spPr>
          <a:xfrm>
            <a:off x="571500" y="838200"/>
            <a:ext cx="10906125" cy="228600"/>
          </a:xfrm>
          <a:prstGeom prst="rect">
            <a:avLst/>
          </a:prstGeom>
          <a:noFill/>
          <a:ln w="0">
            <a:noFill/>
            <a:prstDash val="solid"/>
          </a:ln>
        </p:spPr>
        <p:txBody>
          <a:bodyPr wrap="none" lIns="28575" tIns="19050" rIns="28575" bIns="19050" anchor="ctr">
            <a:noAutofit/>
          </a:bodyPr>
          <a:lstStyle/>
          <a:p>
            <a:pPr algn="l">
              <a:lnSpc>
                <a:spcPct val="100000"/>
              </a:lnSpc>
              <a:buNone/>
              <a:defRPr sz="975" b="0" i="0">
                <a:solidFill>
                  <a:srgbClr val="5B5B5B"/>
                </a:solidFill>
                <a:latin typeface="Yu Gothic"/>
                <a:ea typeface="Yu Gothic"/>
                <a:cs typeface="Yu Gothic"/>
              </a:defRPr>
            </a:pPr>
            <a:r>
              <a:rPr sz="975" b="0" i="0">
                <a:solidFill>
                  <a:srgbClr val="5B5B5B"/>
                </a:solidFill>
                <a:latin typeface="Yu Gothic"/>
                <a:ea typeface="Yu Gothic"/>
                <a:cs typeface="Yu Gothic"/>
              </a:rPr>
              <a:t>未来観測を初期状態推定へ混入させないことを、workflowのデータ契約として固定する</a:t>
            </a:r>
          </a:p>
        </p:txBody>
      </p:sp>
      <p:sp>
        <p:nvSpPr>
          <p:cNvPr id="5" name="直線コネクタ 4">
            <a:extLst>
              <a:ext uri="{FF2B5EF4-FFF2-40B4-BE49-F238E27FC236}">
                <a16:creationId xmlns:a16="http://schemas.microsoft.com/office/drawing/2014/main" id="{95F4A9BE-A126-4C5B-8C4E-703B1EDC374D}"/>
              </a:ext>
            </a:extLst>
          </p:cNvPr>
          <p:cNvSpPr>
            <a:spLocks noGrp="1"/>
          </p:cNvSpPr>
          <p:nvPr/>
        </p:nvSpPr>
        <p:spPr>
          <a:xfrm>
            <a:off x="552450" y="1152525"/>
            <a:ext cx="11087100" cy="0"/>
          </a:xfrm>
          <a:prstGeom prst="line">
            <a:avLst/>
          </a:prstGeom>
          <a:noFill/>
          <a:ln w="9525">
            <a:solidFill>
              <a:srgbClr val="D6D6D6"/>
            </a:solidFill>
            <a:prstDash val="solid"/>
          </a:ln>
        </p:spPr>
      </p:sp>
      <p:sp>
        <p:nvSpPr>
          <p:cNvPr id="6" name="直線コネクタ 5">
            <a:extLst>
              <a:ext uri="{FF2B5EF4-FFF2-40B4-BE49-F238E27FC236}">
                <a16:creationId xmlns:a16="http://schemas.microsoft.com/office/drawing/2014/main" id="{25D9D9B1-06F2-417D-A99D-6CCBFE9F6C91}"/>
              </a:ext>
            </a:extLst>
          </p:cNvPr>
          <p:cNvSpPr>
            <a:spLocks noGrp="1"/>
          </p:cNvSpPr>
          <p:nvPr/>
        </p:nvSpPr>
        <p:spPr>
          <a:xfrm>
            <a:off x="552450" y="6438900"/>
            <a:ext cx="11087100" cy="0"/>
          </a:xfrm>
          <a:prstGeom prst="line">
            <a:avLst/>
          </a:prstGeom>
          <a:noFill/>
          <a:ln w="9525">
            <a:solidFill>
              <a:srgbClr val="D6D6D6"/>
            </a:solidFill>
            <a:prstDash val="solid"/>
          </a:ln>
        </p:spPr>
      </p:sp>
      <p:sp>
        <p:nvSpPr>
          <p:cNvPr id="7" name="正方形/長方形 6">
            <a:extLst>
              <a:ext uri="{FF2B5EF4-FFF2-40B4-BE49-F238E27FC236}">
                <a16:creationId xmlns:a16="http://schemas.microsoft.com/office/drawing/2014/main" id="{C2C3D508-18A4-42C8-9765-F38697AF244B}"/>
              </a:ext>
            </a:extLst>
          </p:cNvPr>
          <p:cNvSpPr>
            <a:spLocks noGrp="1"/>
          </p:cNvSpPr>
          <p:nvPr/>
        </p:nvSpPr>
        <p:spPr>
          <a:xfrm>
            <a:off x="571500" y="6505575"/>
            <a:ext cx="5334000" cy="171450"/>
          </a:xfrm>
          <a:prstGeom prst="rect">
            <a:avLst/>
          </a:prstGeom>
          <a:noFill/>
          <a:ln w="0">
            <a:noFill/>
            <a:prstDash val="solid"/>
          </a:ln>
        </p:spPr>
        <p:txBody>
          <a:bodyPr wrap="none" lIns="28575" tIns="19050" rIns="28575" bIns="19050" anchor="ctr">
            <a:noAutofit/>
          </a:bodyPr>
          <a:lstStyle/>
          <a:p>
            <a:pPr algn="l">
              <a:lnSpc>
                <a:spcPct val="100000"/>
              </a:lnSpc>
              <a:buNone/>
              <a:defRPr sz="713" b="0" i="0">
                <a:solidFill>
                  <a:srgbClr val="777777"/>
                </a:solidFill>
                <a:latin typeface="Yu Gothic"/>
                <a:ea typeface="Yu Gothic"/>
                <a:cs typeface="Yu Gothic"/>
              </a:defRPr>
            </a:pPr>
            <a:r>
              <a:rPr sz="713" b="0" i="0">
                <a:solidFill>
                  <a:srgbClr val="777777"/>
                </a:solidFill>
                <a:latin typeface="Yu Gothic"/>
                <a:ea typeface="Yu Gothic"/>
                <a:cs typeface="Yu Gothic"/>
              </a:rPr>
              <a:t>THERMAL RC / EQUIPMENT ENGINEERING REVIEW  ·  2026-09-17</a:t>
            </a:r>
          </a:p>
        </p:txBody>
      </p:sp>
      <p:sp>
        <p:nvSpPr>
          <p:cNvPr id="8" name="正方形/長方形 7">
            <a:extLst>
              <a:ext uri="{FF2B5EF4-FFF2-40B4-BE49-F238E27FC236}">
                <a16:creationId xmlns:a16="http://schemas.microsoft.com/office/drawing/2014/main" id="{D27C5231-E619-4BE5-A5D9-6A6D0AD1238B}"/>
              </a:ext>
            </a:extLst>
          </p:cNvPr>
          <p:cNvSpPr>
            <a:spLocks noGrp="1"/>
          </p:cNvSpPr>
          <p:nvPr/>
        </p:nvSpPr>
        <p:spPr>
          <a:xfrm>
            <a:off x="11125200" y="6496050"/>
            <a:ext cx="476250" cy="171450"/>
          </a:xfrm>
          <a:prstGeom prst="rect">
            <a:avLst/>
          </a:prstGeom>
          <a:noFill/>
          <a:ln w="0">
            <a:noFill/>
            <a:prstDash val="solid"/>
          </a:ln>
        </p:spPr>
        <p:txBody>
          <a:bodyPr wrap="square" lIns="28575" tIns="19050" rIns="28575" bIns="19050" anchor="ctr">
            <a:noAutofit/>
          </a:bodyPr>
          <a:lstStyle/>
          <a:p>
            <a:pPr algn="r">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19</a:t>
            </a:r>
          </a:p>
        </p:txBody>
      </p:sp>
      <p:sp>
        <p:nvSpPr>
          <p:cNvPr id="9" name="正方形/長方形 8">
            <a:extLst>
              <a:ext uri="{FF2B5EF4-FFF2-40B4-BE49-F238E27FC236}">
                <a16:creationId xmlns:a16="http://schemas.microsoft.com/office/drawing/2014/main" id="{BA398CAD-9E3B-4C6A-935C-6130B941BB65}"/>
              </a:ext>
            </a:extLst>
          </p:cNvPr>
          <p:cNvSpPr>
            <a:spLocks noGrp="1"/>
          </p:cNvSpPr>
          <p:nvPr/>
        </p:nvSpPr>
        <p:spPr>
          <a:xfrm>
            <a:off x="552450" y="1743075"/>
            <a:ext cx="2095500" cy="1866900"/>
          </a:xfrm>
          <a:prstGeom prst="rect">
            <a:avLst/>
          </a:prstGeom>
          <a:solidFill>
            <a:srgbClr val="FFFFFF"/>
          </a:solidFill>
          <a:ln w="9525">
            <a:solidFill>
              <a:srgbClr val="D6D6D6"/>
            </a:solidFill>
            <a:prstDash val="solid"/>
          </a:ln>
        </p:spPr>
      </p:sp>
      <p:sp>
        <p:nvSpPr>
          <p:cNvPr id="10" name="正方形/長方形 9">
            <a:extLst>
              <a:ext uri="{FF2B5EF4-FFF2-40B4-BE49-F238E27FC236}">
                <a16:creationId xmlns:a16="http://schemas.microsoft.com/office/drawing/2014/main" id="{4D2AE3FD-85F6-4960-A365-785060C560AA}"/>
              </a:ext>
            </a:extLst>
          </p:cNvPr>
          <p:cNvSpPr>
            <a:spLocks noGrp="1"/>
          </p:cNvSpPr>
          <p:nvPr/>
        </p:nvSpPr>
        <p:spPr>
          <a:xfrm>
            <a:off x="552450" y="1743075"/>
            <a:ext cx="2095500" cy="76200"/>
          </a:xfrm>
          <a:prstGeom prst="rect">
            <a:avLst/>
          </a:prstGeom>
          <a:solidFill>
            <a:srgbClr val="00A5D8"/>
          </a:solidFill>
          <a:ln w="0">
            <a:noFill/>
            <a:prstDash val="solid"/>
          </a:ln>
        </p:spPr>
      </p:sp>
      <p:sp>
        <p:nvSpPr>
          <p:cNvPr id="11" name="正方形/長方形 10">
            <a:extLst>
              <a:ext uri="{FF2B5EF4-FFF2-40B4-BE49-F238E27FC236}">
                <a16:creationId xmlns:a16="http://schemas.microsoft.com/office/drawing/2014/main" id="{20D0319B-9A8C-40ED-8366-44E4A5599818}"/>
              </a:ext>
            </a:extLst>
          </p:cNvPr>
          <p:cNvSpPr>
            <a:spLocks noGrp="1"/>
          </p:cNvSpPr>
          <p:nvPr/>
        </p:nvSpPr>
        <p:spPr>
          <a:xfrm>
            <a:off x="723900" y="1990725"/>
            <a:ext cx="1752600" cy="285750"/>
          </a:xfrm>
          <a:prstGeom prst="rect">
            <a:avLst/>
          </a:prstGeom>
          <a:noFill/>
          <a:ln w="0">
            <a:noFill/>
            <a:prstDash val="solid"/>
          </a:ln>
        </p:spPr>
        <p:txBody>
          <a:bodyPr wrap="square" lIns="28575" tIns="19050" rIns="28575" bIns="19050" anchor="ctr">
            <a:normAutofit/>
          </a:bodyPr>
          <a:lstStyle/>
          <a:p>
            <a:pPr algn="l">
              <a:lnSpc>
                <a:spcPct val="100000"/>
              </a:lnSpc>
              <a:buNone/>
              <a:defRPr sz="1350" b="1" i="0">
                <a:solidFill>
                  <a:srgbClr val="00A5D8"/>
                </a:solidFill>
                <a:latin typeface="Yu Gothic"/>
                <a:ea typeface="Yu Gothic"/>
                <a:cs typeface="Yu Gothic"/>
              </a:defRPr>
            </a:pPr>
            <a:r>
              <a:rPr sz="1350" b="1" i="0">
                <a:solidFill>
                  <a:srgbClr val="00A5D8"/>
                </a:solidFill>
                <a:latin typeface="Yu Gothic"/>
                <a:ea typeface="Yu Gothic"/>
                <a:cs typeface="Yu Gothic"/>
              </a:rPr>
              <a:t>history</a:t>
            </a:r>
          </a:p>
        </p:txBody>
      </p:sp>
      <p:sp>
        <p:nvSpPr>
          <p:cNvPr id="12" name="正方形/長方形 11">
            <a:extLst>
              <a:ext uri="{FF2B5EF4-FFF2-40B4-BE49-F238E27FC236}">
                <a16:creationId xmlns:a16="http://schemas.microsoft.com/office/drawing/2014/main" id="{B353270E-48EB-48D4-8FE1-38E578D83621}"/>
              </a:ext>
            </a:extLst>
          </p:cNvPr>
          <p:cNvSpPr>
            <a:spLocks noGrp="1"/>
          </p:cNvSpPr>
          <p:nvPr/>
        </p:nvSpPr>
        <p:spPr>
          <a:xfrm>
            <a:off x="723900" y="2324100"/>
            <a:ext cx="1752600" cy="228600"/>
          </a:xfrm>
          <a:prstGeom prst="rect">
            <a:avLst/>
          </a:prstGeom>
          <a:noFill/>
          <a:ln w="0">
            <a:noFill/>
            <a:prstDash val="solid"/>
          </a:ln>
        </p:spPr>
        <p:txBody>
          <a:bodyPr wrap="square" lIns="28575" tIns="19050" rIns="28575" bIns="19050" anchor="ctr">
            <a:normAutofit/>
          </a:bodyPr>
          <a:lstStyle/>
          <a:p>
            <a:pPr algn="l">
              <a:lnSpc>
                <a:spcPct val="100000"/>
              </a:lnSpc>
              <a:buNone/>
              <a:defRPr sz="825" b="1" i="0">
                <a:solidFill>
                  <a:srgbClr val="777777"/>
                </a:solidFill>
                <a:latin typeface="Yu Gothic"/>
                <a:ea typeface="Yu Gothic"/>
                <a:cs typeface="Yu Gothic"/>
              </a:defRPr>
            </a:pPr>
            <a:r>
              <a:rPr sz="825" b="1" i="0">
                <a:solidFill>
                  <a:srgbClr val="777777"/>
                </a:solidFill>
                <a:latin typeface="Yu Gothic"/>
                <a:ea typeface="Yu Gothic"/>
                <a:cs typeface="Yu Gothic"/>
              </a:rPr>
              <a:t>t ≤ H</a:t>
            </a:r>
          </a:p>
        </p:txBody>
      </p:sp>
      <p:sp>
        <p:nvSpPr>
          <p:cNvPr id="13" name="直線コネクタ 12">
            <a:extLst>
              <a:ext uri="{FF2B5EF4-FFF2-40B4-BE49-F238E27FC236}">
                <a16:creationId xmlns:a16="http://schemas.microsoft.com/office/drawing/2014/main" id="{2C622B79-0CCF-40E6-A67F-FF1CD0138242}"/>
              </a:ext>
            </a:extLst>
          </p:cNvPr>
          <p:cNvSpPr>
            <a:spLocks noGrp="1"/>
          </p:cNvSpPr>
          <p:nvPr/>
        </p:nvSpPr>
        <p:spPr>
          <a:xfrm>
            <a:off x="723900" y="2638425"/>
            <a:ext cx="1752600" cy="0"/>
          </a:xfrm>
          <a:prstGeom prst="line">
            <a:avLst/>
          </a:prstGeom>
          <a:noFill/>
          <a:ln w="9525">
            <a:solidFill>
              <a:srgbClr val="D6D6D6"/>
            </a:solidFill>
            <a:prstDash val="solid"/>
          </a:ln>
        </p:spPr>
      </p:sp>
      <p:sp>
        <p:nvSpPr>
          <p:cNvPr id="14" name="正方形/長方形 13">
            <a:extLst>
              <a:ext uri="{FF2B5EF4-FFF2-40B4-BE49-F238E27FC236}">
                <a16:creationId xmlns:a16="http://schemas.microsoft.com/office/drawing/2014/main" id="{98C1F73E-E03D-4AC0-B013-109B6D4C6C64}"/>
              </a:ext>
            </a:extLst>
          </p:cNvPr>
          <p:cNvSpPr>
            <a:spLocks noGrp="1"/>
          </p:cNvSpPr>
          <p:nvPr/>
        </p:nvSpPr>
        <p:spPr>
          <a:xfrm>
            <a:off x="723900" y="2790825"/>
            <a:ext cx="1752600" cy="609600"/>
          </a:xfrm>
          <a:prstGeom prst="rect">
            <a:avLst/>
          </a:prstGeom>
          <a:noFill/>
          <a:ln w="0">
            <a:noFill/>
            <a:prstDash val="solid"/>
          </a:ln>
        </p:spPr>
        <p:txBody>
          <a:bodyPr wrap="square" lIns="28575" tIns="19050" rIns="28575" bIns="19050" anchor="ctr">
            <a:normAutofit fontScale="96618"/>
          </a:bodyPr>
          <a:lstStyle/>
          <a:p>
            <a:pPr algn="ctr">
              <a:lnSpc>
                <a:spcPct val="115000"/>
              </a:lnSpc>
              <a:buNone/>
              <a:defRPr sz="1125" b="0" i="0">
                <a:solidFill>
                  <a:srgbClr val="5B5B5B"/>
                </a:solidFill>
                <a:latin typeface="Yu Gothic"/>
                <a:ea typeface="Yu Gothic"/>
                <a:cs typeface="Yu Gothic"/>
              </a:defRPr>
            </a:pPr>
            <a:r>
              <a:rPr sz="1125" b="0" i="0">
                <a:solidFill>
                  <a:srgbClr val="5B5B5B"/>
                </a:solidFill>
                <a:latin typeface="Yu Gothic"/>
                <a:ea typeface="Yu Gothic"/>
                <a:cs typeface="Yu Gothic"/>
              </a:rPr>
              <a:t>temperature</a:t>
            </a:r>
          </a:p>
          <a:p>
            <a:pPr algn="ctr">
              <a:lnSpc>
                <a:spcPct val="115000"/>
              </a:lnSpc>
              <a:buNone/>
              <a:defRPr sz="1125" b="0" i="0">
                <a:solidFill>
                  <a:srgbClr val="5B5B5B"/>
                </a:solidFill>
                <a:latin typeface="Yu Gothic"/>
                <a:ea typeface="Yu Gothic"/>
                <a:cs typeface="Yu Gothic"/>
              </a:defRPr>
            </a:pPr>
            <a:r>
              <a:rPr sz="1125" b="0" i="0">
                <a:solidFill>
                  <a:srgbClr val="5B5B5B"/>
                </a:solidFill>
                <a:latin typeface="Yu Gothic"/>
                <a:ea typeface="Yu Gothic"/>
                <a:cs typeface="Yu Gothic"/>
              </a:rPr>
              <a:t>controls</a:t>
            </a:r>
          </a:p>
          <a:p>
            <a:pPr algn="ctr">
              <a:lnSpc>
                <a:spcPct val="115000"/>
              </a:lnSpc>
              <a:buNone/>
              <a:defRPr sz="1125" b="0" i="0">
                <a:solidFill>
                  <a:srgbClr val="5B5B5B"/>
                </a:solidFill>
                <a:latin typeface="Yu Gothic"/>
                <a:ea typeface="Yu Gothic"/>
                <a:cs typeface="Yu Gothic"/>
              </a:defRPr>
            </a:pPr>
            <a:r>
              <a:rPr sz="1125" b="0" i="0">
                <a:solidFill>
                  <a:srgbClr val="5B5B5B"/>
                </a:solidFill>
                <a:latin typeface="Yu Gothic"/>
                <a:ea typeface="Yu Gothic"/>
                <a:cs typeface="Yu Gothic"/>
              </a:rPr>
              <a:t>mask</a:t>
            </a:r>
          </a:p>
        </p:txBody>
      </p:sp>
      <p:sp>
        <p:nvSpPr>
          <p:cNvPr id="15" name="正方形/長方形 14">
            <a:extLst>
              <a:ext uri="{FF2B5EF4-FFF2-40B4-BE49-F238E27FC236}">
                <a16:creationId xmlns:a16="http://schemas.microsoft.com/office/drawing/2014/main" id="{367845C3-0CFD-4709-8B44-B7E2842AF01C}"/>
              </a:ext>
            </a:extLst>
          </p:cNvPr>
          <p:cNvSpPr>
            <a:spLocks noGrp="1"/>
          </p:cNvSpPr>
          <p:nvPr/>
        </p:nvSpPr>
        <p:spPr>
          <a:xfrm>
            <a:off x="3105150" y="1743075"/>
            <a:ext cx="2095500" cy="1866900"/>
          </a:xfrm>
          <a:prstGeom prst="rect">
            <a:avLst/>
          </a:prstGeom>
          <a:solidFill>
            <a:srgbClr val="FFFFFF"/>
          </a:solidFill>
          <a:ln w="9525">
            <a:solidFill>
              <a:srgbClr val="D6D6D6"/>
            </a:solidFill>
            <a:prstDash val="solid"/>
          </a:ln>
        </p:spPr>
      </p:sp>
      <p:sp>
        <p:nvSpPr>
          <p:cNvPr id="16" name="正方形/長方形 15">
            <a:extLst>
              <a:ext uri="{FF2B5EF4-FFF2-40B4-BE49-F238E27FC236}">
                <a16:creationId xmlns:a16="http://schemas.microsoft.com/office/drawing/2014/main" id="{F6C239E2-0DBA-4E90-B889-D3D8E264A1D8}"/>
              </a:ext>
            </a:extLst>
          </p:cNvPr>
          <p:cNvSpPr>
            <a:spLocks noGrp="1"/>
          </p:cNvSpPr>
          <p:nvPr/>
        </p:nvSpPr>
        <p:spPr>
          <a:xfrm>
            <a:off x="3105150" y="1743075"/>
            <a:ext cx="2095500" cy="76200"/>
          </a:xfrm>
          <a:prstGeom prst="rect">
            <a:avLst/>
          </a:prstGeom>
          <a:solidFill>
            <a:srgbClr val="76BE18"/>
          </a:solidFill>
          <a:ln w="0">
            <a:noFill/>
            <a:prstDash val="solid"/>
          </a:ln>
        </p:spPr>
      </p:sp>
      <p:sp>
        <p:nvSpPr>
          <p:cNvPr id="17" name="正方形/長方形 16">
            <a:extLst>
              <a:ext uri="{FF2B5EF4-FFF2-40B4-BE49-F238E27FC236}">
                <a16:creationId xmlns:a16="http://schemas.microsoft.com/office/drawing/2014/main" id="{C68FDDC0-523D-4BA6-AD7B-0612F1C5F081}"/>
              </a:ext>
            </a:extLst>
          </p:cNvPr>
          <p:cNvSpPr>
            <a:spLocks noGrp="1"/>
          </p:cNvSpPr>
          <p:nvPr/>
        </p:nvSpPr>
        <p:spPr>
          <a:xfrm>
            <a:off x="3276600" y="1990725"/>
            <a:ext cx="1752600" cy="285750"/>
          </a:xfrm>
          <a:prstGeom prst="rect">
            <a:avLst/>
          </a:prstGeom>
          <a:noFill/>
          <a:ln w="0">
            <a:noFill/>
            <a:prstDash val="solid"/>
          </a:ln>
        </p:spPr>
        <p:txBody>
          <a:bodyPr wrap="square" lIns="28575" tIns="19050" rIns="28575" bIns="19050" anchor="ctr">
            <a:normAutofit/>
          </a:bodyPr>
          <a:lstStyle/>
          <a:p>
            <a:pPr algn="l">
              <a:lnSpc>
                <a:spcPct val="100000"/>
              </a:lnSpc>
              <a:buNone/>
              <a:defRPr sz="1350" b="1" i="0">
                <a:solidFill>
                  <a:srgbClr val="76BE18"/>
                </a:solidFill>
                <a:latin typeface="Yu Gothic"/>
                <a:ea typeface="Yu Gothic"/>
                <a:cs typeface="Yu Gothic"/>
              </a:defRPr>
            </a:pPr>
            <a:r>
              <a:rPr sz="1350" b="1" i="0">
                <a:solidFill>
                  <a:srgbClr val="76BE18"/>
                </a:solidFill>
                <a:latin typeface="Yu Gothic"/>
                <a:ea typeface="Yu Gothic"/>
                <a:cs typeface="Yu Gothic"/>
              </a:rPr>
              <a:t>state assimilation</a:t>
            </a:r>
          </a:p>
        </p:txBody>
      </p:sp>
      <p:sp>
        <p:nvSpPr>
          <p:cNvPr id="18" name="正方形/長方形 17">
            <a:extLst>
              <a:ext uri="{FF2B5EF4-FFF2-40B4-BE49-F238E27FC236}">
                <a16:creationId xmlns:a16="http://schemas.microsoft.com/office/drawing/2014/main" id="{96611DEF-6E67-4AF5-8B47-9B4CEEDACD68}"/>
              </a:ext>
            </a:extLst>
          </p:cNvPr>
          <p:cNvSpPr>
            <a:spLocks noGrp="1"/>
          </p:cNvSpPr>
          <p:nvPr/>
        </p:nvSpPr>
        <p:spPr>
          <a:xfrm>
            <a:off x="3276600" y="2324100"/>
            <a:ext cx="1752600" cy="228600"/>
          </a:xfrm>
          <a:prstGeom prst="rect">
            <a:avLst/>
          </a:prstGeom>
          <a:noFill/>
          <a:ln w="0">
            <a:noFill/>
            <a:prstDash val="solid"/>
          </a:ln>
        </p:spPr>
        <p:txBody>
          <a:bodyPr wrap="square" lIns="28575" tIns="19050" rIns="28575" bIns="19050" anchor="ctr">
            <a:normAutofit/>
          </a:bodyPr>
          <a:lstStyle/>
          <a:p>
            <a:pPr algn="l">
              <a:lnSpc>
                <a:spcPct val="100000"/>
              </a:lnSpc>
              <a:buNone/>
              <a:defRPr sz="825" b="1" i="0">
                <a:solidFill>
                  <a:srgbClr val="777777"/>
                </a:solidFill>
                <a:latin typeface="Yu Gothic"/>
                <a:ea typeface="Yu Gothic"/>
                <a:cs typeface="Yu Gothic"/>
              </a:defRPr>
            </a:pPr>
            <a:r>
              <a:rPr sz="825" b="1" i="0">
                <a:solidFill>
                  <a:srgbClr val="777777"/>
                </a:solidFill>
                <a:latin typeface="Yu Gothic"/>
                <a:ea typeface="Yu Gothic"/>
                <a:cs typeface="Yu Gothic"/>
              </a:rPr>
              <a:t>posterior at H</a:t>
            </a:r>
          </a:p>
        </p:txBody>
      </p:sp>
      <p:sp>
        <p:nvSpPr>
          <p:cNvPr id="19" name="直線コネクタ 18">
            <a:extLst>
              <a:ext uri="{FF2B5EF4-FFF2-40B4-BE49-F238E27FC236}">
                <a16:creationId xmlns:a16="http://schemas.microsoft.com/office/drawing/2014/main" id="{E1B2841C-508B-4510-BA5F-F270A47AADCB}"/>
              </a:ext>
            </a:extLst>
          </p:cNvPr>
          <p:cNvSpPr>
            <a:spLocks noGrp="1"/>
          </p:cNvSpPr>
          <p:nvPr/>
        </p:nvSpPr>
        <p:spPr>
          <a:xfrm>
            <a:off x="3276600" y="2638425"/>
            <a:ext cx="1752600" cy="0"/>
          </a:xfrm>
          <a:prstGeom prst="line">
            <a:avLst/>
          </a:prstGeom>
          <a:noFill/>
          <a:ln w="9525">
            <a:solidFill>
              <a:srgbClr val="D6D6D6"/>
            </a:solidFill>
            <a:prstDash val="solid"/>
          </a:ln>
        </p:spPr>
      </p:sp>
      <p:sp>
        <p:nvSpPr>
          <p:cNvPr id="20" name="正方形/長方形 19">
            <a:extLst>
              <a:ext uri="{FF2B5EF4-FFF2-40B4-BE49-F238E27FC236}">
                <a16:creationId xmlns:a16="http://schemas.microsoft.com/office/drawing/2014/main" id="{719D67F9-8F5A-4259-A33D-30B5A90E23CD}"/>
              </a:ext>
            </a:extLst>
          </p:cNvPr>
          <p:cNvSpPr>
            <a:spLocks noGrp="1"/>
          </p:cNvSpPr>
          <p:nvPr/>
        </p:nvSpPr>
        <p:spPr>
          <a:xfrm>
            <a:off x="3276600" y="2790825"/>
            <a:ext cx="1752600" cy="609600"/>
          </a:xfrm>
          <a:prstGeom prst="rect">
            <a:avLst/>
          </a:prstGeom>
          <a:noFill/>
          <a:ln w="0">
            <a:noFill/>
            <a:prstDash val="solid"/>
          </a:ln>
        </p:spPr>
        <p:txBody>
          <a:bodyPr wrap="square" lIns="28575" tIns="19050" rIns="28575" bIns="19050" anchor="ctr">
            <a:normAutofit/>
          </a:bodyPr>
          <a:lstStyle/>
          <a:p>
            <a:pPr algn="ctr">
              <a:lnSpc>
                <a:spcPct val="115000"/>
              </a:lnSpc>
              <a:buNone/>
              <a:defRPr sz="1125" b="0" i="0">
                <a:solidFill>
                  <a:srgbClr val="5B5B5B"/>
                </a:solidFill>
                <a:latin typeface="Yu Gothic"/>
                <a:ea typeface="Yu Gothic"/>
                <a:cs typeface="Yu Gothic"/>
              </a:defRPr>
            </a:pPr>
            <a:r>
              <a:rPr sz="1125" b="0" i="0">
                <a:solidFill>
                  <a:srgbClr val="5B5B5B"/>
                </a:solidFill>
                <a:latin typeface="Yu Gothic"/>
                <a:ea typeface="Yu Gothic"/>
                <a:cs typeface="Yu Gothic"/>
              </a:rPr>
              <a:t>state mean at H</a:t>
            </a:r>
          </a:p>
          <a:p>
            <a:pPr algn="ctr">
              <a:lnSpc>
                <a:spcPct val="115000"/>
              </a:lnSpc>
              <a:buNone/>
              <a:defRPr sz="1125" b="0" i="0">
                <a:solidFill>
                  <a:srgbClr val="5B5B5B"/>
                </a:solidFill>
                <a:latin typeface="Yu Gothic"/>
                <a:ea typeface="Yu Gothic"/>
                <a:cs typeface="Yu Gothic"/>
              </a:defRPr>
            </a:pPr>
            <a:r>
              <a:rPr sz="1125" b="0" i="0">
                <a:solidFill>
                  <a:srgbClr val="5B5B5B"/>
                </a:solidFill>
                <a:latin typeface="Yu Gothic"/>
                <a:ea typeface="Yu Gothic"/>
                <a:cs typeface="Yu Gothic"/>
              </a:rPr>
              <a:t>covariance P(H)</a:t>
            </a:r>
          </a:p>
        </p:txBody>
      </p:sp>
      <p:sp>
        <p:nvSpPr>
          <p:cNvPr id="21" name="正方形/長方形 20">
            <a:extLst>
              <a:ext uri="{FF2B5EF4-FFF2-40B4-BE49-F238E27FC236}">
                <a16:creationId xmlns:a16="http://schemas.microsoft.com/office/drawing/2014/main" id="{FE990FC3-DCB8-4B62-8081-5E2CA9197921}"/>
              </a:ext>
            </a:extLst>
          </p:cNvPr>
          <p:cNvSpPr>
            <a:spLocks noGrp="1"/>
          </p:cNvSpPr>
          <p:nvPr/>
        </p:nvSpPr>
        <p:spPr>
          <a:xfrm>
            <a:off x="5657850" y="1743075"/>
            <a:ext cx="2095500" cy="1866900"/>
          </a:xfrm>
          <a:prstGeom prst="rect">
            <a:avLst/>
          </a:prstGeom>
          <a:solidFill>
            <a:srgbClr val="FFFFFF"/>
          </a:solidFill>
          <a:ln w="9525">
            <a:solidFill>
              <a:srgbClr val="D6D6D6"/>
            </a:solidFill>
            <a:prstDash val="solid"/>
          </a:ln>
        </p:spPr>
      </p:sp>
      <p:sp>
        <p:nvSpPr>
          <p:cNvPr id="22" name="正方形/長方形 21">
            <a:extLst>
              <a:ext uri="{FF2B5EF4-FFF2-40B4-BE49-F238E27FC236}">
                <a16:creationId xmlns:a16="http://schemas.microsoft.com/office/drawing/2014/main" id="{EC8243AF-2A13-4B06-A0AF-322F03FF3639}"/>
              </a:ext>
            </a:extLst>
          </p:cNvPr>
          <p:cNvSpPr>
            <a:spLocks noGrp="1"/>
          </p:cNvSpPr>
          <p:nvPr/>
        </p:nvSpPr>
        <p:spPr>
          <a:xfrm>
            <a:off x="5657850" y="1743075"/>
            <a:ext cx="2095500" cy="76200"/>
          </a:xfrm>
          <a:prstGeom prst="rect">
            <a:avLst/>
          </a:prstGeom>
          <a:solidFill>
            <a:srgbClr val="7B2DAF"/>
          </a:solidFill>
          <a:ln w="0">
            <a:noFill/>
            <a:prstDash val="solid"/>
          </a:ln>
        </p:spPr>
      </p:sp>
      <p:sp>
        <p:nvSpPr>
          <p:cNvPr id="23" name="正方形/長方形 22">
            <a:extLst>
              <a:ext uri="{FF2B5EF4-FFF2-40B4-BE49-F238E27FC236}">
                <a16:creationId xmlns:a16="http://schemas.microsoft.com/office/drawing/2014/main" id="{48BA83DA-8497-49F3-BFD8-D4151B8BA1F7}"/>
              </a:ext>
            </a:extLst>
          </p:cNvPr>
          <p:cNvSpPr>
            <a:spLocks noGrp="1"/>
          </p:cNvSpPr>
          <p:nvPr/>
        </p:nvSpPr>
        <p:spPr>
          <a:xfrm>
            <a:off x="5829300" y="1990725"/>
            <a:ext cx="1752600" cy="285750"/>
          </a:xfrm>
          <a:prstGeom prst="rect">
            <a:avLst/>
          </a:prstGeom>
          <a:noFill/>
          <a:ln w="0">
            <a:noFill/>
            <a:prstDash val="solid"/>
          </a:ln>
        </p:spPr>
        <p:txBody>
          <a:bodyPr wrap="square" lIns="28575" tIns="19050" rIns="28575" bIns="19050" anchor="ctr">
            <a:normAutofit/>
          </a:bodyPr>
          <a:lstStyle/>
          <a:p>
            <a:pPr algn="l">
              <a:lnSpc>
                <a:spcPct val="100000"/>
              </a:lnSpc>
              <a:buNone/>
              <a:defRPr sz="1350" b="1" i="0">
                <a:solidFill>
                  <a:srgbClr val="7B2DAF"/>
                </a:solidFill>
                <a:latin typeface="Yu Gothic"/>
                <a:ea typeface="Yu Gothic"/>
                <a:cs typeface="Yu Gothic"/>
              </a:defRPr>
            </a:pPr>
            <a:r>
              <a:rPr sz="1350" b="1" i="0">
                <a:solidFill>
                  <a:srgbClr val="7B2DAF"/>
                </a:solidFill>
                <a:latin typeface="Yu Gothic"/>
                <a:ea typeface="Yu Gothic"/>
                <a:cs typeface="Yu Gothic"/>
              </a:rPr>
              <a:t>open-loop rollout</a:t>
            </a:r>
          </a:p>
        </p:txBody>
      </p:sp>
      <p:sp>
        <p:nvSpPr>
          <p:cNvPr id="24" name="正方形/長方形 23">
            <a:extLst>
              <a:ext uri="{FF2B5EF4-FFF2-40B4-BE49-F238E27FC236}">
                <a16:creationId xmlns:a16="http://schemas.microsoft.com/office/drawing/2014/main" id="{B4A5B31F-415B-4AC7-8A04-43D072FCFAA2}"/>
              </a:ext>
            </a:extLst>
          </p:cNvPr>
          <p:cNvSpPr>
            <a:spLocks noGrp="1"/>
          </p:cNvSpPr>
          <p:nvPr/>
        </p:nvSpPr>
        <p:spPr>
          <a:xfrm>
            <a:off x="5829300" y="2324100"/>
            <a:ext cx="1752600" cy="228600"/>
          </a:xfrm>
          <a:prstGeom prst="rect">
            <a:avLst/>
          </a:prstGeom>
          <a:noFill/>
          <a:ln w="0">
            <a:noFill/>
            <a:prstDash val="solid"/>
          </a:ln>
        </p:spPr>
        <p:txBody>
          <a:bodyPr wrap="square" lIns="28575" tIns="19050" rIns="28575" bIns="19050" anchor="ctr">
            <a:normAutofit/>
          </a:bodyPr>
          <a:lstStyle/>
          <a:p>
            <a:pPr algn="l">
              <a:lnSpc>
                <a:spcPct val="100000"/>
              </a:lnSpc>
              <a:buNone/>
              <a:defRPr sz="825" b="1" i="0">
                <a:solidFill>
                  <a:srgbClr val="777777"/>
                </a:solidFill>
                <a:latin typeface="Yu Gothic"/>
                <a:ea typeface="Yu Gothic"/>
                <a:cs typeface="Yu Gothic"/>
              </a:defRPr>
            </a:pPr>
            <a:r>
              <a:rPr sz="825" b="1" i="0">
                <a:solidFill>
                  <a:srgbClr val="777777"/>
                </a:solidFill>
                <a:latin typeface="Yu Gothic"/>
                <a:ea typeface="Yu Gothic"/>
                <a:cs typeface="Yu Gothic"/>
              </a:rPr>
              <a:t>t &gt; H</a:t>
            </a:r>
          </a:p>
        </p:txBody>
      </p:sp>
      <p:sp>
        <p:nvSpPr>
          <p:cNvPr id="25" name="直線コネクタ 24">
            <a:extLst>
              <a:ext uri="{FF2B5EF4-FFF2-40B4-BE49-F238E27FC236}">
                <a16:creationId xmlns:a16="http://schemas.microsoft.com/office/drawing/2014/main" id="{AA812871-232E-4540-BFE5-E1B4068FD8EE}"/>
              </a:ext>
            </a:extLst>
          </p:cNvPr>
          <p:cNvSpPr>
            <a:spLocks noGrp="1"/>
          </p:cNvSpPr>
          <p:nvPr/>
        </p:nvSpPr>
        <p:spPr>
          <a:xfrm>
            <a:off x="5829300" y="2638425"/>
            <a:ext cx="1752600" cy="0"/>
          </a:xfrm>
          <a:prstGeom prst="line">
            <a:avLst/>
          </a:prstGeom>
          <a:noFill/>
          <a:ln w="9525">
            <a:solidFill>
              <a:srgbClr val="D6D6D6"/>
            </a:solidFill>
            <a:prstDash val="solid"/>
          </a:ln>
        </p:spPr>
      </p:sp>
      <p:sp>
        <p:nvSpPr>
          <p:cNvPr id="26" name="正方形/長方形 25">
            <a:extLst>
              <a:ext uri="{FF2B5EF4-FFF2-40B4-BE49-F238E27FC236}">
                <a16:creationId xmlns:a16="http://schemas.microsoft.com/office/drawing/2014/main" id="{508E9841-4A8F-40A8-99EE-673FBD8DCE19}"/>
              </a:ext>
            </a:extLst>
          </p:cNvPr>
          <p:cNvSpPr>
            <a:spLocks noGrp="1"/>
          </p:cNvSpPr>
          <p:nvPr/>
        </p:nvSpPr>
        <p:spPr>
          <a:xfrm>
            <a:off x="5829300" y="2790825"/>
            <a:ext cx="1752600" cy="609600"/>
          </a:xfrm>
          <a:prstGeom prst="rect">
            <a:avLst/>
          </a:prstGeom>
          <a:noFill/>
          <a:ln w="0">
            <a:noFill/>
            <a:prstDash val="solid"/>
          </a:ln>
        </p:spPr>
        <p:txBody>
          <a:bodyPr wrap="square" lIns="28575" tIns="19050" rIns="28575" bIns="19050" anchor="ctr">
            <a:normAutofit/>
          </a:bodyPr>
          <a:lstStyle/>
          <a:p>
            <a:pPr algn="ctr">
              <a:lnSpc>
                <a:spcPct val="115000"/>
              </a:lnSpc>
              <a:buNone/>
              <a:defRPr sz="1125" b="0" i="0">
                <a:solidFill>
                  <a:srgbClr val="5B5B5B"/>
                </a:solidFill>
                <a:latin typeface="Yu Gothic"/>
                <a:ea typeface="Yu Gothic"/>
                <a:cs typeface="Yu Gothic"/>
              </a:defRPr>
            </a:pPr>
            <a:r>
              <a:rPr sz="1125" b="0" i="0">
                <a:solidFill>
                  <a:srgbClr val="5B5B5B"/>
                </a:solidFill>
                <a:latin typeface="Yu Gothic"/>
                <a:ea typeface="Yu Gothic"/>
                <a:cs typeface="Yu Gothic"/>
              </a:rPr>
              <a:t>known/planned inputs</a:t>
            </a:r>
          </a:p>
          <a:p>
            <a:pPr algn="ctr">
              <a:lnSpc>
                <a:spcPct val="115000"/>
              </a:lnSpc>
              <a:buNone/>
              <a:defRPr sz="1125" b="0" i="0">
                <a:solidFill>
                  <a:srgbClr val="5B5B5B"/>
                </a:solidFill>
                <a:latin typeface="Yu Gothic"/>
                <a:ea typeface="Yu Gothic"/>
                <a:cs typeface="Yu Gothic"/>
              </a:defRPr>
            </a:pPr>
            <a:r>
              <a:rPr sz="1125" b="0" i="0">
                <a:solidFill>
                  <a:srgbClr val="5B5B5B"/>
                </a:solidFill>
                <a:latin typeface="Yu Gothic"/>
                <a:ea typeface="Yu Gothic"/>
                <a:cs typeface="Yu Gothic"/>
              </a:rPr>
              <a:t>no future y</a:t>
            </a:r>
          </a:p>
        </p:txBody>
      </p:sp>
      <p:sp>
        <p:nvSpPr>
          <p:cNvPr id="27" name="正方形/長方形 26">
            <a:extLst>
              <a:ext uri="{FF2B5EF4-FFF2-40B4-BE49-F238E27FC236}">
                <a16:creationId xmlns:a16="http://schemas.microsoft.com/office/drawing/2014/main" id="{B3C94308-73F1-4335-8959-98B0AD59BD45}"/>
              </a:ext>
            </a:extLst>
          </p:cNvPr>
          <p:cNvSpPr>
            <a:spLocks noGrp="1"/>
          </p:cNvSpPr>
          <p:nvPr/>
        </p:nvSpPr>
        <p:spPr>
          <a:xfrm>
            <a:off x="8210550" y="1743075"/>
            <a:ext cx="3429000" cy="1866900"/>
          </a:xfrm>
          <a:prstGeom prst="rect">
            <a:avLst/>
          </a:prstGeom>
          <a:solidFill>
            <a:srgbClr val="FFFFFF"/>
          </a:solidFill>
          <a:ln w="9525">
            <a:solidFill>
              <a:srgbClr val="D6D6D6"/>
            </a:solidFill>
            <a:prstDash val="solid"/>
          </a:ln>
        </p:spPr>
      </p:sp>
      <p:sp>
        <p:nvSpPr>
          <p:cNvPr id="28" name="正方形/長方形 27">
            <a:extLst>
              <a:ext uri="{FF2B5EF4-FFF2-40B4-BE49-F238E27FC236}">
                <a16:creationId xmlns:a16="http://schemas.microsoft.com/office/drawing/2014/main" id="{E06B284A-7DF6-4666-8070-9B82E3EFFE07}"/>
              </a:ext>
            </a:extLst>
          </p:cNvPr>
          <p:cNvSpPr>
            <a:spLocks noGrp="1"/>
          </p:cNvSpPr>
          <p:nvPr/>
        </p:nvSpPr>
        <p:spPr>
          <a:xfrm>
            <a:off x="8210550" y="1743075"/>
            <a:ext cx="3429000" cy="76200"/>
          </a:xfrm>
          <a:prstGeom prst="rect">
            <a:avLst/>
          </a:prstGeom>
          <a:solidFill>
            <a:srgbClr val="E5A900"/>
          </a:solidFill>
          <a:ln w="0">
            <a:noFill/>
            <a:prstDash val="solid"/>
          </a:ln>
        </p:spPr>
      </p:sp>
      <p:sp>
        <p:nvSpPr>
          <p:cNvPr id="29" name="正方形/長方形 28">
            <a:extLst>
              <a:ext uri="{FF2B5EF4-FFF2-40B4-BE49-F238E27FC236}">
                <a16:creationId xmlns:a16="http://schemas.microsoft.com/office/drawing/2014/main" id="{A60F64AB-A32E-48D2-80DE-BEBE024E9772}"/>
              </a:ext>
            </a:extLst>
          </p:cNvPr>
          <p:cNvSpPr>
            <a:spLocks noGrp="1"/>
          </p:cNvSpPr>
          <p:nvPr/>
        </p:nvSpPr>
        <p:spPr>
          <a:xfrm>
            <a:off x="8382000" y="1990725"/>
            <a:ext cx="3086100" cy="285750"/>
          </a:xfrm>
          <a:prstGeom prst="rect">
            <a:avLst/>
          </a:prstGeom>
          <a:noFill/>
          <a:ln w="0">
            <a:noFill/>
            <a:prstDash val="solid"/>
          </a:ln>
        </p:spPr>
        <p:txBody>
          <a:bodyPr wrap="square" lIns="28575" tIns="19050" rIns="28575" bIns="19050" anchor="ctr">
            <a:normAutofit/>
          </a:bodyPr>
          <a:lstStyle/>
          <a:p>
            <a:pPr algn="l">
              <a:lnSpc>
                <a:spcPct val="100000"/>
              </a:lnSpc>
              <a:buNone/>
              <a:defRPr sz="1350" b="1" i="0">
                <a:solidFill>
                  <a:srgbClr val="E5A900"/>
                </a:solidFill>
                <a:latin typeface="Yu Gothic"/>
                <a:ea typeface="Yu Gothic"/>
                <a:cs typeface="Yu Gothic"/>
              </a:defRPr>
            </a:pPr>
            <a:r>
              <a:rPr sz="1350" b="1" i="0">
                <a:solidFill>
                  <a:srgbClr val="E5A900"/>
                </a:solidFill>
                <a:latin typeface="Yu Gothic"/>
                <a:ea typeface="Yu Gothic"/>
                <a:cs typeface="Yu Gothic"/>
              </a:rPr>
              <a:t>forecast product</a:t>
            </a:r>
          </a:p>
        </p:txBody>
      </p:sp>
      <p:sp>
        <p:nvSpPr>
          <p:cNvPr id="30" name="正方形/長方形 29">
            <a:extLst>
              <a:ext uri="{FF2B5EF4-FFF2-40B4-BE49-F238E27FC236}">
                <a16:creationId xmlns:a16="http://schemas.microsoft.com/office/drawing/2014/main" id="{7E622E62-7A80-40DC-9017-A68F57D9A595}"/>
              </a:ext>
            </a:extLst>
          </p:cNvPr>
          <p:cNvSpPr>
            <a:spLocks noGrp="1"/>
          </p:cNvSpPr>
          <p:nvPr/>
        </p:nvSpPr>
        <p:spPr>
          <a:xfrm>
            <a:off x="8382000" y="2324100"/>
            <a:ext cx="3086100" cy="228600"/>
          </a:xfrm>
          <a:prstGeom prst="rect">
            <a:avLst/>
          </a:prstGeom>
          <a:noFill/>
          <a:ln w="0">
            <a:noFill/>
            <a:prstDash val="solid"/>
          </a:ln>
        </p:spPr>
        <p:txBody>
          <a:bodyPr wrap="square" lIns="28575" tIns="19050" rIns="28575" bIns="19050" anchor="ctr">
            <a:normAutofit/>
          </a:bodyPr>
          <a:lstStyle/>
          <a:p>
            <a:pPr algn="l">
              <a:lnSpc>
                <a:spcPct val="100000"/>
              </a:lnSpc>
              <a:buNone/>
              <a:defRPr sz="825" b="1" i="0">
                <a:solidFill>
                  <a:srgbClr val="777777"/>
                </a:solidFill>
                <a:latin typeface="Yu Gothic"/>
                <a:ea typeface="Yu Gothic"/>
                <a:cs typeface="Yu Gothic"/>
              </a:defRPr>
            </a:pPr>
            <a:r>
              <a:rPr sz="825" b="1" i="0">
                <a:solidFill>
                  <a:srgbClr val="777777"/>
                </a:solidFill>
                <a:latin typeface="Yu Gothic"/>
                <a:ea typeface="Yu Gothic"/>
                <a:cs typeface="Yu Gothic"/>
              </a:rPr>
              <a:t>temperature + uncertainty</a:t>
            </a:r>
          </a:p>
        </p:txBody>
      </p:sp>
      <p:sp>
        <p:nvSpPr>
          <p:cNvPr id="31" name="直線コネクタ 30">
            <a:extLst>
              <a:ext uri="{FF2B5EF4-FFF2-40B4-BE49-F238E27FC236}">
                <a16:creationId xmlns:a16="http://schemas.microsoft.com/office/drawing/2014/main" id="{07056749-DE15-495A-A390-A62AC8ADF40D}"/>
              </a:ext>
            </a:extLst>
          </p:cNvPr>
          <p:cNvSpPr>
            <a:spLocks noGrp="1"/>
          </p:cNvSpPr>
          <p:nvPr/>
        </p:nvSpPr>
        <p:spPr>
          <a:xfrm>
            <a:off x="8382000" y="2638425"/>
            <a:ext cx="3086100" cy="0"/>
          </a:xfrm>
          <a:prstGeom prst="line">
            <a:avLst/>
          </a:prstGeom>
          <a:noFill/>
          <a:ln w="9525">
            <a:solidFill>
              <a:srgbClr val="D6D6D6"/>
            </a:solidFill>
            <a:prstDash val="solid"/>
          </a:ln>
        </p:spPr>
      </p:sp>
      <p:sp>
        <p:nvSpPr>
          <p:cNvPr id="32" name="正方形/長方形 31">
            <a:extLst>
              <a:ext uri="{FF2B5EF4-FFF2-40B4-BE49-F238E27FC236}">
                <a16:creationId xmlns:a16="http://schemas.microsoft.com/office/drawing/2014/main" id="{8A35BA3F-6550-4D14-8CD8-527C271BF421}"/>
              </a:ext>
            </a:extLst>
          </p:cNvPr>
          <p:cNvSpPr>
            <a:spLocks noGrp="1"/>
          </p:cNvSpPr>
          <p:nvPr/>
        </p:nvSpPr>
        <p:spPr>
          <a:xfrm>
            <a:off x="8382000" y="2790825"/>
            <a:ext cx="3086100" cy="609600"/>
          </a:xfrm>
          <a:prstGeom prst="rect">
            <a:avLst/>
          </a:prstGeom>
          <a:noFill/>
          <a:ln w="0">
            <a:noFill/>
            <a:prstDash val="solid"/>
          </a:ln>
        </p:spPr>
        <p:txBody>
          <a:bodyPr wrap="square" lIns="28575" tIns="19050" rIns="28575" bIns="19050" anchor="ctr">
            <a:normAutofit/>
          </a:bodyPr>
          <a:lstStyle/>
          <a:p>
            <a:pPr algn="ctr">
              <a:lnSpc>
                <a:spcPct val="115000"/>
              </a:lnSpc>
              <a:buNone/>
              <a:defRPr sz="1125" b="0" i="0">
                <a:solidFill>
                  <a:srgbClr val="5B5B5B"/>
                </a:solidFill>
                <a:latin typeface="Yu Gothic"/>
                <a:ea typeface="Yu Gothic"/>
                <a:cs typeface="Yu Gothic"/>
              </a:defRPr>
            </a:pPr>
            <a:r>
              <a:rPr sz="1125" b="0" i="0">
                <a:solidFill>
                  <a:srgbClr val="5B5B5B"/>
                </a:solidFill>
                <a:latin typeface="Yu Gothic"/>
                <a:ea typeface="Yu Gothic"/>
                <a:cs typeface="Yu Gothic"/>
              </a:rPr>
              <a:t>mean / covariance / threshold risk</a:t>
            </a:r>
          </a:p>
        </p:txBody>
      </p:sp>
      <p:cxnSp>
        <p:nvCxnSpPr>
          <p:cNvPr id="85" name="直線矢印コネクタ 84"/>
          <p:cNvCxnSpPr>
            <a:stCxn id="9" idx="3"/>
            <a:endCxn id="15" idx="1"/>
          </p:cNvCxnSpPr>
          <p:nvPr/>
        </p:nvCxnSpPr>
        <p:spPr>
          <a:xfrm>
            <a:off x="2647950" y="2676525"/>
            <a:ext cx="457200" cy="0"/>
          </a:xfrm>
          <a:prstGeom prst="straightConnector1">
            <a:avLst/>
          </a:prstGeom>
          <a:ln w="19050">
            <a:solidFill>
              <a:srgbClr val="007FA8"/>
            </a:solidFill>
            <a:prstDash val="solid"/>
            <a:tailEnd type="triangle" w="sm" len="sm"/>
          </a:ln>
        </p:spPr>
      </p:cxnSp>
      <p:cxnSp>
        <p:nvCxnSpPr>
          <p:cNvPr id="86" name="直線矢印コネクタ 85"/>
          <p:cNvCxnSpPr>
            <a:stCxn id="15" idx="3"/>
            <a:endCxn id="21" idx="1"/>
          </p:cNvCxnSpPr>
          <p:nvPr/>
        </p:nvCxnSpPr>
        <p:spPr>
          <a:xfrm>
            <a:off x="5200650" y="2676525"/>
            <a:ext cx="457200" cy="0"/>
          </a:xfrm>
          <a:prstGeom prst="straightConnector1">
            <a:avLst/>
          </a:prstGeom>
          <a:ln w="19050">
            <a:solidFill>
              <a:srgbClr val="007FA8"/>
            </a:solidFill>
            <a:prstDash val="solid"/>
            <a:tailEnd type="triangle" w="sm" len="sm"/>
          </a:ln>
        </p:spPr>
      </p:cxnSp>
      <p:cxnSp>
        <p:nvCxnSpPr>
          <p:cNvPr id="87" name="直線矢印コネクタ 86"/>
          <p:cNvCxnSpPr>
            <a:stCxn id="21" idx="3"/>
            <a:endCxn id="27" idx="1"/>
          </p:cNvCxnSpPr>
          <p:nvPr/>
        </p:nvCxnSpPr>
        <p:spPr>
          <a:xfrm>
            <a:off x="7753350" y="2676525"/>
            <a:ext cx="457200" cy="0"/>
          </a:xfrm>
          <a:prstGeom prst="straightConnector1">
            <a:avLst/>
          </a:prstGeom>
          <a:ln w="19050">
            <a:solidFill>
              <a:srgbClr val="007FA8"/>
            </a:solidFill>
            <a:prstDash val="solid"/>
            <a:tailEnd type="triangle" w="sm" len="sm"/>
          </a:ln>
        </p:spPr>
      </p:cxnSp>
      <p:sp>
        <p:nvSpPr>
          <p:cNvPr id="36" name="直線コネクタ 35">
            <a:extLst>
              <a:ext uri="{FF2B5EF4-FFF2-40B4-BE49-F238E27FC236}">
                <a16:creationId xmlns:a16="http://schemas.microsoft.com/office/drawing/2014/main" id="{2E03485B-6C95-4698-8FBB-C0FF67FE90B7}"/>
              </a:ext>
            </a:extLst>
          </p:cNvPr>
          <p:cNvSpPr>
            <a:spLocks noGrp="1"/>
          </p:cNvSpPr>
          <p:nvPr/>
        </p:nvSpPr>
        <p:spPr>
          <a:xfrm>
            <a:off x="552450" y="3895725"/>
            <a:ext cx="11087100" cy="0"/>
          </a:xfrm>
          <a:prstGeom prst="line">
            <a:avLst/>
          </a:prstGeom>
          <a:noFill/>
          <a:ln w="9525">
            <a:solidFill>
              <a:srgbClr val="D6D6D6"/>
            </a:solidFill>
            <a:prstDash val="solid"/>
          </a:ln>
        </p:spPr>
      </p:sp>
      <p:sp>
        <p:nvSpPr>
          <p:cNvPr id="37" name="正方形/長方形 36">
            <a:extLst>
              <a:ext uri="{FF2B5EF4-FFF2-40B4-BE49-F238E27FC236}">
                <a16:creationId xmlns:a16="http://schemas.microsoft.com/office/drawing/2014/main" id="{AFC871B9-3E01-4EB8-8ECB-A4422FEC6915}"/>
              </a:ext>
            </a:extLst>
          </p:cNvPr>
          <p:cNvSpPr>
            <a:spLocks noGrp="1"/>
          </p:cNvSpPr>
          <p:nvPr/>
        </p:nvSpPr>
        <p:spPr>
          <a:xfrm>
            <a:off x="552450" y="4095750"/>
            <a:ext cx="1809750" cy="257175"/>
          </a:xfrm>
          <a:prstGeom prst="rect">
            <a:avLst/>
          </a:prstGeom>
          <a:noFill/>
          <a:ln w="0">
            <a:noFill/>
            <a:prstDash val="solid"/>
          </a:ln>
        </p:spPr>
        <p:txBody>
          <a:bodyPr wrap="square" lIns="28575" tIns="19050" rIns="28575" bIns="19050" anchor="ctr">
            <a:normAutofit/>
          </a:bodyPr>
          <a:lstStyle/>
          <a:p>
            <a:pPr algn="l">
              <a:lnSpc>
                <a:spcPct val="100000"/>
              </a:lnSpc>
              <a:buNone/>
              <a:defRPr sz="1275" b="1" i="0">
                <a:solidFill>
                  <a:srgbClr val="3F3F3F"/>
                </a:solidFill>
                <a:latin typeface="Yu Gothic"/>
                <a:ea typeface="Yu Gothic"/>
                <a:cs typeface="Yu Gothic"/>
              </a:defRPr>
            </a:pPr>
            <a:r>
              <a:rPr sz="1275" b="1" i="0">
                <a:solidFill>
                  <a:srgbClr val="3F3F3F"/>
                </a:solidFill>
                <a:latin typeface="Yu Gothic"/>
                <a:ea typeface="Yu Gothic"/>
                <a:cs typeface="Yu Gothic"/>
              </a:rPr>
              <a:t>状態・観測分布</a:t>
            </a:r>
          </a:p>
        </p:txBody>
      </p:sp>
      <p:sp>
        <p:nvSpPr>
          <p:cNvPr id="38" name="正方形/長方形 37">
            <a:extLst>
              <a:ext uri="{FF2B5EF4-FFF2-40B4-BE49-F238E27FC236}">
                <a16:creationId xmlns:a16="http://schemas.microsoft.com/office/drawing/2014/main" id="{9110B167-A1E1-4C7E-A0FD-9985B5824DCF}"/>
              </a:ext>
            </a:extLst>
          </p:cNvPr>
          <p:cNvSpPr>
            <a:spLocks noGrp="1"/>
          </p:cNvSpPr>
          <p:nvPr/>
        </p:nvSpPr>
        <p:spPr>
          <a:xfrm>
            <a:off x="2381250" y="4029075"/>
            <a:ext cx="7143750" cy="400050"/>
          </a:xfrm>
          <a:prstGeom prst="rect">
            <a:avLst/>
          </a:prstGeom>
          <a:noFill/>
          <a:ln w="0">
            <a:noFill/>
            <a:prstDash val="solid"/>
          </a:ln>
        </p:spPr>
        <p:txBody>
          <a:bodyPr wrap="square" lIns="28575" tIns="19050" rIns="28575" bIns="19050" anchor="ctr">
            <a:normAutofit/>
          </a:bodyPr>
          <a:lstStyle/>
          <a:p>
            <a:pPr algn="ctr">
              <a:lnSpc>
                <a:spcPct val="100000"/>
              </a:lnSpc>
              <a:buNone/>
              <a:defRPr sz="1725" b="1" i="0">
                <a:solidFill>
                  <a:srgbClr val="3F3F3F"/>
                </a:solidFill>
                <a:latin typeface="Cambria Math"/>
                <a:ea typeface="Cambria Math"/>
                <a:cs typeface="Cambria Math"/>
              </a:defRPr>
            </a:pPr>
            <a:r>
              <a:rPr sz="1725" b="1" i="0">
                <a:solidFill>
                  <a:srgbClr val="3F3F3F"/>
                </a:solidFill>
                <a:latin typeface="Cambria Math"/>
                <a:ea typeface="Cambria Math"/>
                <a:cs typeface="Cambria Math"/>
              </a:rPr>
              <a:t>xₖ ∼ N(x̂ₖ, Pₖ),     ŷₖ = Hx̂ₖ,     Σy,ₖ = HPₖHᵀ + R</a:t>
            </a:r>
          </a:p>
        </p:txBody>
      </p:sp>
      <p:sp>
        <p:nvSpPr>
          <p:cNvPr id="39" name="正方形/長方形 38">
            <a:extLst>
              <a:ext uri="{FF2B5EF4-FFF2-40B4-BE49-F238E27FC236}">
                <a16:creationId xmlns:a16="http://schemas.microsoft.com/office/drawing/2014/main" id="{0BFDD7DD-6FF9-40F3-B338-9181C76B9AAE}"/>
              </a:ext>
            </a:extLst>
          </p:cNvPr>
          <p:cNvSpPr>
            <a:spLocks noGrp="1"/>
          </p:cNvSpPr>
          <p:nvPr/>
        </p:nvSpPr>
        <p:spPr>
          <a:xfrm>
            <a:off x="552450" y="4476750"/>
            <a:ext cx="11087100" cy="285750"/>
          </a:xfrm>
          <a:prstGeom prst="rect">
            <a:avLst/>
          </a:prstGeom>
          <a:noFill/>
          <a:ln w="0">
            <a:noFill/>
            <a:prstDash val="solid"/>
          </a:ln>
        </p:spPr>
        <p:txBody>
          <a:bodyPr wrap="square" lIns="28575" tIns="19050" rIns="28575" bIns="19050" anchor="ctr">
            <a:normAutofit/>
          </a:bodyPr>
          <a:lstStyle/>
          <a:p>
            <a:pPr algn="ctr">
              <a:lnSpc>
                <a:spcPct val="100000"/>
              </a:lnSpc>
              <a:buNone/>
              <a:defRPr sz="938" b="0" i="0">
                <a:solidFill>
                  <a:srgbClr val="5B5B5B"/>
                </a:solidFill>
                <a:latin typeface="Yu Gothic"/>
                <a:ea typeface="Yu Gothic"/>
                <a:cs typeface="Yu Gothic"/>
              </a:defRPr>
            </a:pPr>
            <a:r>
              <a:rPr sz="938" b="0" i="0">
                <a:solidFill>
                  <a:srgbClr val="5B5B5B"/>
                </a:solidFill>
                <a:latin typeface="Yu Gothic"/>
                <a:ea typeface="Yu Gothic"/>
                <a:cs typeface="Yu Gothic"/>
              </a:rPr>
              <a:t>Pは初期状態・process noise・sensor noiseを伝播。parameter uncertaintyとmodel discrepancyは別途ensemble/校正で加える。</a:t>
            </a:r>
          </a:p>
        </p:txBody>
      </p:sp>
      <p:sp>
        <p:nvSpPr>
          <p:cNvPr id="40" name="正方形/長方形 39">
            <a:extLst>
              <a:ext uri="{FF2B5EF4-FFF2-40B4-BE49-F238E27FC236}">
                <a16:creationId xmlns:a16="http://schemas.microsoft.com/office/drawing/2014/main" id="{889D4E0E-D87F-4464-98B5-AD0143789FEB}"/>
              </a:ext>
            </a:extLst>
          </p:cNvPr>
          <p:cNvSpPr>
            <a:spLocks noGrp="1"/>
          </p:cNvSpPr>
          <p:nvPr/>
        </p:nvSpPr>
        <p:spPr>
          <a:xfrm>
            <a:off x="552450" y="5057775"/>
            <a:ext cx="2581275" cy="866775"/>
          </a:xfrm>
          <a:prstGeom prst="rect">
            <a:avLst/>
          </a:prstGeom>
          <a:solidFill>
            <a:srgbClr val="F8F8F8"/>
          </a:solidFill>
          <a:ln w="9525">
            <a:solidFill>
              <a:srgbClr val="D6D6D6"/>
            </a:solidFill>
            <a:prstDash val="solid"/>
          </a:ln>
        </p:spPr>
      </p:sp>
      <p:sp>
        <p:nvSpPr>
          <p:cNvPr id="41" name="正方形/長方形 40">
            <a:extLst>
              <a:ext uri="{FF2B5EF4-FFF2-40B4-BE49-F238E27FC236}">
                <a16:creationId xmlns:a16="http://schemas.microsoft.com/office/drawing/2014/main" id="{F5104B9C-6348-4C24-83CA-357D0DC98C24}"/>
              </a:ext>
            </a:extLst>
          </p:cNvPr>
          <p:cNvSpPr>
            <a:spLocks noGrp="1"/>
          </p:cNvSpPr>
          <p:nvPr/>
        </p:nvSpPr>
        <p:spPr>
          <a:xfrm>
            <a:off x="704850" y="5181600"/>
            <a:ext cx="723900" cy="209550"/>
          </a:xfrm>
          <a:prstGeom prst="rect">
            <a:avLst/>
          </a:prstGeom>
          <a:noFill/>
          <a:ln w="0">
            <a:noFill/>
            <a:prstDash val="solid"/>
          </a:ln>
        </p:spPr>
        <p:txBody>
          <a:bodyPr wrap="square" lIns="28575" tIns="19050" rIns="28575" bIns="19050" anchor="ctr">
            <a:normAutofit/>
          </a:bodyPr>
          <a:lstStyle/>
          <a:p>
            <a:pPr algn="l">
              <a:lnSpc>
                <a:spcPct val="100000"/>
              </a:lnSpc>
              <a:buNone/>
              <a:defRPr sz="900" b="1" i="0">
                <a:solidFill>
                  <a:srgbClr val="00A5D8"/>
                </a:solidFill>
                <a:latin typeface="Yu Gothic"/>
                <a:ea typeface="Yu Gothic"/>
                <a:cs typeface="Yu Gothic"/>
              </a:defRPr>
            </a:pPr>
            <a:r>
              <a:rPr sz="900" b="1" i="0">
                <a:solidFill>
                  <a:srgbClr val="00A5D8"/>
                </a:solidFill>
                <a:latin typeface="Yu Gothic"/>
                <a:ea typeface="Yu Gothic"/>
                <a:cs typeface="Yu Gothic"/>
              </a:rPr>
              <a:t>cutoff</a:t>
            </a:r>
          </a:p>
        </p:txBody>
      </p:sp>
      <p:sp>
        <p:nvSpPr>
          <p:cNvPr id="42" name="正方形/長方形 41">
            <a:extLst>
              <a:ext uri="{FF2B5EF4-FFF2-40B4-BE49-F238E27FC236}">
                <a16:creationId xmlns:a16="http://schemas.microsoft.com/office/drawing/2014/main" id="{48895213-47CC-46E8-A16C-2B5B2D12F2AA}"/>
              </a:ext>
            </a:extLst>
          </p:cNvPr>
          <p:cNvSpPr>
            <a:spLocks noGrp="1"/>
          </p:cNvSpPr>
          <p:nvPr/>
        </p:nvSpPr>
        <p:spPr>
          <a:xfrm>
            <a:off x="704850" y="5448300"/>
            <a:ext cx="2276475" cy="285750"/>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5B5B5B"/>
                </a:solidFill>
                <a:latin typeface="Yu Gothic"/>
                <a:ea typeface="Yu Gothic"/>
                <a:cs typeface="Yu Gothic"/>
              </a:defRPr>
            </a:pPr>
            <a:r>
              <a:rPr sz="975" b="1" i="0">
                <a:solidFill>
                  <a:srgbClr val="5B5B5B"/>
                </a:solidFill>
                <a:latin typeface="Yu Gothic"/>
                <a:ea typeface="Yu Gothic"/>
                <a:cs typeface="Yu Gothic"/>
              </a:rPr>
              <a:t>各case固有のHを保存</a:t>
            </a:r>
          </a:p>
        </p:txBody>
      </p:sp>
      <p:sp>
        <p:nvSpPr>
          <p:cNvPr id="43" name="正方形/長方形 42">
            <a:extLst>
              <a:ext uri="{FF2B5EF4-FFF2-40B4-BE49-F238E27FC236}">
                <a16:creationId xmlns:a16="http://schemas.microsoft.com/office/drawing/2014/main" id="{18B76B4B-D194-4EF8-928C-3E5489B5A702}"/>
              </a:ext>
            </a:extLst>
          </p:cNvPr>
          <p:cNvSpPr>
            <a:spLocks noGrp="1"/>
          </p:cNvSpPr>
          <p:nvPr/>
        </p:nvSpPr>
        <p:spPr>
          <a:xfrm>
            <a:off x="3324225" y="5057775"/>
            <a:ext cx="2581275" cy="866775"/>
          </a:xfrm>
          <a:prstGeom prst="rect">
            <a:avLst/>
          </a:prstGeom>
          <a:solidFill>
            <a:srgbClr val="F8F8F8"/>
          </a:solidFill>
          <a:ln w="9525">
            <a:solidFill>
              <a:srgbClr val="D6D6D6"/>
            </a:solidFill>
            <a:prstDash val="solid"/>
          </a:ln>
        </p:spPr>
      </p:sp>
      <p:sp>
        <p:nvSpPr>
          <p:cNvPr id="44" name="正方形/長方形 43">
            <a:extLst>
              <a:ext uri="{FF2B5EF4-FFF2-40B4-BE49-F238E27FC236}">
                <a16:creationId xmlns:a16="http://schemas.microsoft.com/office/drawing/2014/main" id="{F232B90E-6E5D-4B71-8086-DD915C1460D5}"/>
              </a:ext>
            </a:extLst>
          </p:cNvPr>
          <p:cNvSpPr>
            <a:spLocks noGrp="1"/>
          </p:cNvSpPr>
          <p:nvPr/>
        </p:nvSpPr>
        <p:spPr>
          <a:xfrm>
            <a:off x="3476625" y="5181600"/>
            <a:ext cx="723900" cy="209550"/>
          </a:xfrm>
          <a:prstGeom prst="rect">
            <a:avLst/>
          </a:prstGeom>
          <a:noFill/>
          <a:ln w="0">
            <a:noFill/>
            <a:prstDash val="solid"/>
          </a:ln>
        </p:spPr>
        <p:txBody>
          <a:bodyPr wrap="square" lIns="28575" tIns="19050" rIns="28575" bIns="19050" anchor="ctr">
            <a:normAutofit/>
          </a:bodyPr>
          <a:lstStyle/>
          <a:p>
            <a:pPr algn="l">
              <a:lnSpc>
                <a:spcPct val="100000"/>
              </a:lnSpc>
              <a:buNone/>
              <a:defRPr sz="900" b="1" i="0">
                <a:solidFill>
                  <a:srgbClr val="76BE18"/>
                </a:solidFill>
                <a:latin typeface="Yu Gothic"/>
                <a:ea typeface="Yu Gothic"/>
                <a:cs typeface="Yu Gothic"/>
              </a:defRPr>
            </a:pPr>
            <a:r>
              <a:rPr sz="900" b="1" i="0">
                <a:solidFill>
                  <a:srgbClr val="76BE18"/>
                </a:solidFill>
                <a:latin typeface="Yu Gothic"/>
                <a:ea typeface="Yu Gothic"/>
                <a:cs typeface="Yu Gothic"/>
              </a:rPr>
              <a:t>input</a:t>
            </a:r>
          </a:p>
        </p:txBody>
      </p:sp>
      <p:sp>
        <p:nvSpPr>
          <p:cNvPr id="45" name="正方形/長方形 44">
            <a:extLst>
              <a:ext uri="{FF2B5EF4-FFF2-40B4-BE49-F238E27FC236}">
                <a16:creationId xmlns:a16="http://schemas.microsoft.com/office/drawing/2014/main" id="{EB8ED771-F7F7-4E6D-BF53-37C984BFA008}"/>
              </a:ext>
            </a:extLst>
          </p:cNvPr>
          <p:cNvSpPr>
            <a:spLocks noGrp="1"/>
          </p:cNvSpPr>
          <p:nvPr/>
        </p:nvSpPr>
        <p:spPr>
          <a:xfrm>
            <a:off x="3476625" y="5448300"/>
            <a:ext cx="2276475" cy="285750"/>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5B5B5B"/>
                </a:solidFill>
                <a:latin typeface="Yu Gothic"/>
                <a:ea typeface="Yu Gothic"/>
                <a:cs typeface="Yu Gothic"/>
              </a:defRPr>
            </a:pPr>
            <a:r>
              <a:rPr sz="975" b="1" i="0">
                <a:solidFill>
                  <a:srgbClr val="5B5B5B"/>
                </a:solidFill>
                <a:latin typeface="Yu Gothic"/>
                <a:ea typeface="Yu Gothic"/>
                <a:cs typeface="Yu Gothic"/>
              </a:rPr>
              <a:t>left zero-order hold</a:t>
            </a:r>
          </a:p>
        </p:txBody>
      </p:sp>
      <p:sp>
        <p:nvSpPr>
          <p:cNvPr id="46" name="正方形/長方形 45">
            <a:extLst>
              <a:ext uri="{FF2B5EF4-FFF2-40B4-BE49-F238E27FC236}">
                <a16:creationId xmlns:a16="http://schemas.microsoft.com/office/drawing/2014/main" id="{96224DD2-CC9D-40C0-BB72-61F76D6C2735}"/>
              </a:ext>
            </a:extLst>
          </p:cNvPr>
          <p:cNvSpPr>
            <a:spLocks noGrp="1"/>
          </p:cNvSpPr>
          <p:nvPr/>
        </p:nvSpPr>
        <p:spPr>
          <a:xfrm>
            <a:off x="6096000" y="5057775"/>
            <a:ext cx="2581275" cy="866775"/>
          </a:xfrm>
          <a:prstGeom prst="rect">
            <a:avLst/>
          </a:prstGeom>
          <a:solidFill>
            <a:srgbClr val="F8F8F8"/>
          </a:solidFill>
          <a:ln w="9525">
            <a:solidFill>
              <a:srgbClr val="D6D6D6"/>
            </a:solidFill>
            <a:prstDash val="solid"/>
          </a:ln>
        </p:spPr>
      </p:sp>
      <p:sp>
        <p:nvSpPr>
          <p:cNvPr id="47" name="正方形/長方形 46">
            <a:extLst>
              <a:ext uri="{FF2B5EF4-FFF2-40B4-BE49-F238E27FC236}">
                <a16:creationId xmlns:a16="http://schemas.microsoft.com/office/drawing/2014/main" id="{28BFE849-3390-4C28-8C4D-A97AC6769515}"/>
              </a:ext>
            </a:extLst>
          </p:cNvPr>
          <p:cNvSpPr>
            <a:spLocks noGrp="1"/>
          </p:cNvSpPr>
          <p:nvPr/>
        </p:nvSpPr>
        <p:spPr>
          <a:xfrm>
            <a:off x="6248400" y="5181600"/>
            <a:ext cx="723900" cy="209550"/>
          </a:xfrm>
          <a:prstGeom prst="rect">
            <a:avLst/>
          </a:prstGeom>
          <a:noFill/>
          <a:ln w="0">
            <a:noFill/>
            <a:prstDash val="solid"/>
          </a:ln>
        </p:spPr>
        <p:txBody>
          <a:bodyPr wrap="square" lIns="28575" tIns="19050" rIns="28575" bIns="19050" anchor="ctr">
            <a:normAutofit/>
          </a:bodyPr>
          <a:lstStyle/>
          <a:p>
            <a:pPr algn="l">
              <a:lnSpc>
                <a:spcPct val="100000"/>
              </a:lnSpc>
              <a:buNone/>
              <a:defRPr sz="900" b="1" i="0">
                <a:solidFill>
                  <a:srgbClr val="7B2DAF"/>
                </a:solidFill>
                <a:latin typeface="Yu Gothic"/>
                <a:ea typeface="Yu Gothic"/>
                <a:cs typeface="Yu Gothic"/>
              </a:defRPr>
            </a:pPr>
            <a:r>
              <a:rPr sz="900" b="1" i="0">
                <a:solidFill>
                  <a:srgbClr val="7B2DAF"/>
                </a:solidFill>
                <a:latin typeface="Yu Gothic"/>
                <a:ea typeface="Yu Gothic"/>
                <a:cs typeface="Yu Gothic"/>
              </a:rPr>
              <a:t>missing</a:t>
            </a:r>
          </a:p>
        </p:txBody>
      </p:sp>
      <p:sp>
        <p:nvSpPr>
          <p:cNvPr id="48" name="正方形/長方形 47">
            <a:extLst>
              <a:ext uri="{FF2B5EF4-FFF2-40B4-BE49-F238E27FC236}">
                <a16:creationId xmlns:a16="http://schemas.microsoft.com/office/drawing/2014/main" id="{6C1FDB07-6163-470F-913F-70DA32B3E76E}"/>
              </a:ext>
            </a:extLst>
          </p:cNvPr>
          <p:cNvSpPr>
            <a:spLocks noGrp="1"/>
          </p:cNvSpPr>
          <p:nvPr/>
        </p:nvSpPr>
        <p:spPr>
          <a:xfrm>
            <a:off x="6248400" y="5448300"/>
            <a:ext cx="2276475" cy="285750"/>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5B5B5B"/>
                </a:solidFill>
                <a:latin typeface="Yu Gothic"/>
                <a:ea typeface="Yu Gothic"/>
                <a:cs typeface="Yu Gothic"/>
              </a:defRPr>
            </a:pPr>
            <a:r>
              <a:rPr sz="975" b="1" i="0">
                <a:solidFill>
                  <a:srgbClr val="5B5B5B"/>
                </a:solidFill>
                <a:latin typeface="Yu Gothic"/>
                <a:ea typeface="Yu Gothic"/>
                <a:cs typeface="Yu Gothic"/>
              </a:rPr>
              <a:t>maskで観測行を縮約</a:t>
            </a:r>
          </a:p>
        </p:txBody>
      </p:sp>
      <p:sp>
        <p:nvSpPr>
          <p:cNvPr id="49" name="正方形/長方形 48">
            <a:extLst>
              <a:ext uri="{FF2B5EF4-FFF2-40B4-BE49-F238E27FC236}">
                <a16:creationId xmlns:a16="http://schemas.microsoft.com/office/drawing/2014/main" id="{3011E1A7-148E-4EAE-911F-6E3B4FC0D817}"/>
              </a:ext>
            </a:extLst>
          </p:cNvPr>
          <p:cNvSpPr>
            <a:spLocks noGrp="1"/>
          </p:cNvSpPr>
          <p:nvPr/>
        </p:nvSpPr>
        <p:spPr>
          <a:xfrm>
            <a:off x="8867775" y="5057775"/>
            <a:ext cx="2581275" cy="866775"/>
          </a:xfrm>
          <a:prstGeom prst="rect">
            <a:avLst/>
          </a:prstGeom>
          <a:solidFill>
            <a:srgbClr val="F8F8F8"/>
          </a:solidFill>
          <a:ln w="9525">
            <a:solidFill>
              <a:srgbClr val="D6D6D6"/>
            </a:solidFill>
            <a:prstDash val="solid"/>
          </a:ln>
        </p:spPr>
      </p:sp>
      <p:sp>
        <p:nvSpPr>
          <p:cNvPr id="50" name="正方形/長方形 49">
            <a:extLst>
              <a:ext uri="{FF2B5EF4-FFF2-40B4-BE49-F238E27FC236}">
                <a16:creationId xmlns:a16="http://schemas.microsoft.com/office/drawing/2014/main" id="{E99D1D62-71BC-41C4-BBAC-E43815653F4F}"/>
              </a:ext>
            </a:extLst>
          </p:cNvPr>
          <p:cNvSpPr>
            <a:spLocks noGrp="1"/>
          </p:cNvSpPr>
          <p:nvPr/>
        </p:nvSpPr>
        <p:spPr>
          <a:xfrm>
            <a:off x="9020175" y="5181600"/>
            <a:ext cx="723900" cy="209550"/>
          </a:xfrm>
          <a:prstGeom prst="rect">
            <a:avLst/>
          </a:prstGeom>
          <a:noFill/>
          <a:ln w="0">
            <a:noFill/>
            <a:prstDash val="solid"/>
          </a:ln>
        </p:spPr>
        <p:txBody>
          <a:bodyPr wrap="square" lIns="28575" tIns="19050" rIns="28575" bIns="19050" anchor="ctr">
            <a:normAutofit/>
          </a:bodyPr>
          <a:lstStyle/>
          <a:p>
            <a:pPr algn="l">
              <a:lnSpc>
                <a:spcPct val="100000"/>
              </a:lnSpc>
              <a:buNone/>
              <a:defRPr sz="900" b="1" i="0">
                <a:solidFill>
                  <a:srgbClr val="E5A900"/>
                </a:solidFill>
                <a:latin typeface="Yu Gothic"/>
                <a:ea typeface="Yu Gothic"/>
                <a:cs typeface="Yu Gothic"/>
              </a:defRPr>
            </a:pPr>
            <a:r>
              <a:rPr sz="900" b="1" i="0">
                <a:solidFill>
                  <a:srgbClr val="E5A900"/>
                </a:solidFill>
                <a:latin typeface="Yu Gothic"/>
                <a:ea typeface="Yu Gothic"/>
                <a:cs typeface="Yu Gothic"/>
              </a:rPr>
              <a:t>report</a:t>
            </a:r>
          </a:p>
        </p:txBody>
      </p:sp>
      <p:sp>
        <p:nvSpPr>
          <p:cNvPr id="51" name="正方形/長方形 50">
            <a:extLst>
              <a:ext uri="{FF2B5EF4-FFF2-40B4-BE49-F238E27FC236}">
                <a16:creationId xmlns:a16="http://schemas.microsoft.com/office/drawing/2014/main" id="{A4CBA397-D1D8-4ABC-BC31-B46D4B5E51FE}"/>
              </a:ext>
            </a:extLst>
          </p:cNvPr>
          <p:cNvSpPr>
            <a:spLocks noGrp="1"/>
          </p:cNvSpPr>
          <p:nvPr/>
        </p:nvSpPr>
        <p:spPr>
          <a:xfrm>
            <a:off x="9020175" y="5448300"/>
            <a:ext cx="2276475" cy="285750"/>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5B5B5B"/>
                </a:solidFill>
                <a:latin typeface="Yu Gothic"/>
                <a:ea typeface="Yu Gothic"/>
                <a:cs typeface="Yu Gothic"/>
              </a:defRPr>
            </a:pPr>
            <a:r>
              <a:rPr sz="975" b="1" i="0">
                <a:solidFill>
                  <a:srgbClr val="5B5B5B"/>
                </a:solidFill>
                <a:latin typeface="Yu Gothic"/>
                <a:ea typeface="Yu Gothic"/>
                <a:cs typeface="Yu Gothic"/>
              </a:rPr>
              <a:t>mean / worst / phaseを併記</a:t>
            </a:r>
          </a:p>
        </p:txBody>
      </p:sp>
      <p:sp>
        <p:nvSpPr>
          <p:cNvPr id="52" name="正方形/長方形 51">
            <a:extLst>
              <a:ext uri="{FF2B5EF4-FFF2-40B4-BE49-F238E27FC236}">
                <a16:creationId xmlns:a16="http://schemas.microsoft.com/office/drawing/2014/main" id="{8877351A-26E9-48A2-9141-CDC776D5120D}"/>
              </a:ext>
            </a:extLst>
          </p:cNvPr>
          <p:cNvSpPr>
            <a:spLocks noGrp="1"/>
          </p:cNvSpPr>
          <p:nvPr/>
        </p:nvSpPr>
        <p:spPr>
          <a:xfrm>
            <a:off x="552450" y="6076950"/>
            <a:ext cx="11087100" cy="190500"/>
          </a:xfrm>
          <a:prstGeom prst="rect">
            <a:avLst/>
          </a:prstGeom>
          <a:noFill/>
          <a:ln w="0">
            <a:noFill/>
            <a:prstDash val="solid"/>
          </a:ln>
        </p:spPr>
        <p:txBody>
          <a:bodyPr wrap="square" lIns="28575" tIns="19050" rIns="28575" bIns="19050" anchor="ctr">
            <a:normAutofit/>
          </a:bodyPr>
          <a:lstStyle/>
          <a:p>
            <a:pPr algn="ctr">
              <a:lnSpc>
                <a:spcPct val="100000"/>
              </a:lnSpc>
              <a:buNone/>
              <a:defRPr sz="863" b="1" i="0">
                <a:solidFill>
                  <a:srgbClr val="C4493D"/>
                </a:solidFill>
                <a:latin typeface="Yu Gothic"/>
                <a:ea typeface="Yu Gothic"/>
                <a:cs typeface="Yu Gothic"/>
              </a:defRPr>
            </a:pPr>
            <a:r>
              <a:rPr sz="863" b="1" i="0">
                <a:solidFill>
                  <a:srgbClr val="C4493D"/>
                </a:solidFill>
                <a:latin typeface="Yu Gothic"/>
                <a:ea typeface="Yu Gothic"/>
                <a:cs typeface="Yu Gothic"/>
              </a:rPr>
              <a:t>禁止事項：全trajectoryで初期状態を最適化してからsuffix誤差を測る — 未来情報のleakageになる。</a:t>
            </a:r>
          </a:p>
        </p:txBody>
      </p:sp>
    </p:spTree>
    <p:extLst>
      <p:ext uri="{BB962C8B-B14F-4D97-AF65-F5344CB8AC3E}">
        <p14:creationId xmlns:p14="http://schemas.microsoft.com/office/powerpoint/2010/main" val="16548444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8" name="正方形/長方形 47">
            <a:extLst>
              <a:ext uri="{FF2B5EF4-FFF2-40B4-BE49-F238E27FC236}">
                <a16:creationId xmlns:a16="http://schemas.microsoft.com/office/drawing/2014/main" id="{984419FD-5162-463D-9454-5D09931FC0ED}"/>
              </a:ext>
            </a:extLst>
          </p:cNvPr>
          <p:cNvSpPr>
            <a:spLocks noGrp="1"/>
          </p:cNvSpPr>
          <p:nvPr/>
        </p:nvSpPr>
        <p:spPr>
          <a:xfrm>
            <a:off x="552450" y="190500"/>
            <a:ext cx="76200" cy="142875"/>
          </a:xfrm>
          <a:prstGeom prst="rect">
            <a:avLst/>
          </a:prstGeom>
          <a:solidFill>
            <a:srgbClr val="76BE18"/>
          </a:solidFill>
          <a:ln w="0">
            <a:noFill/>
            <a:prstDash val="solid"/>
          </a:ln>
        </p:spPr>
      </p:sp>
      <p:sp>
        <p:nvSpPr>
          <p:cNvPr id="2" name="正方形/長方形 1">
            <a:extLst>
              <a:ext uri="{FF2B5EF4-FFF2-40B4-BE49-F238E27FC236}">
                <a16:creationId xmlns:a16="http://schemas.microsoft.com/office/drawing/2014/main" id="{51B2BA70-8903-4968-8E4E-E9C2F30A326B}"/>
              </a:ext>
            </a:extLst>
          </p:cNvPr>
          <p:cNvSpPr>
            <a:spLocks noGrp="1"/>
          </p:cNvSpPr>
          <p:nvPr/>
        </p:nvSpPr>
        <p:spPr>
          <a:xfrm>
            <a:off x="704850" y="161925"/>
            <a:ext cx="3429000" cy="190500"/>
          </a:xfrm>
          <a:prstGeom prst="rect">
            <a:avLst/>
          </a:prstGeom>
          <a:noFill/>
          <a:ln w="0">
            <a:noFill/>
            <a:prstDash val="solid"/>
          </a:ln>
        </p:spPr>
        <p:txBody>
          <a:bodyPr wrap="none" lIns="28575" tIns="19050" rIns="28575" bIns="19050" anchor="ctr">
            <a:noAutofit/>
          </a:bodyPr>
          <a:lstStyle/>
          <a:p>
            <a:pPr algn="l">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STATE MONITORING</a:t>
            </a:r>
          </a:p>
        </p:txBody>
      </p:sp>
      <p:sp>
        <p:nvSpPr>
          <p:cNvPr id="3" name="正方形/長方形 2">
            <a:extLst>
              <a:ext uri="{FF2B5EF4-FFF2-40B4-BE49-F238E27FC236}">
                <a16:creationId xmlns:a16="http://schemas.microsoft.com/office/drawing/2014/main" id="{BFEB7CB8-9EB8-40FD-A295-64C6F0BDD904}"/>
              </a:ext>
            </a:extLst>
          </p:cNvPr>
          <p:cNvSpPr>
            <a:spLocks noGrp="1"/>
          </p:cNvSpPr>
          <p:nvPr/>
        </p:nvSpPr>
        <p:spPr>
          <a:xfrm>
            <a:off x="552450" y="400050"/>
            <a:ext cx="11001375" cy="400050"/>
          </a:xfrm>
          <a:prstGeom prst="rect">
            <a:avLst/>
          </a:prstGeom>
          <a:noFill/>
          <a:ln w="0">
            <a:noFill/>
            <a:prstDash val="solid"/>
          </a:ln>
        </p:spPr>
        <p:txBody>
          <a:bodyPr wrap="none" lIns="19050" tIns="0" rIns="19050" bIns="0" anchor="ctr">
            <a:normAutofit/>
          </a:bodyPr>
          <a:lstStyle/>
          <a:p>
            <a:pPr algn="l">
              <a:lnSpc>
                <a:spcPct val="100000"/>
              </a:lnSpc>
              <a:buNone/>
              <a:defRPr sz="2175" b="1" i="0">
                <a:solidFill>
                  <a:srgbClr val="00A5D8"/>
                </a:solidFill>
                <a:latin typeface="Yu Gothic"/>
                <a:ea typeface="Yu Gothic"/>
                <a:cs typeface="Yu Gothic"/>
              </a:defRPr>
            </a:pPr>
            <a:r>
              <a:rPr sz="2175" b="1" i="0">
                <a:solidFill>
                  <a:srgbClr val="00A5D8"/>
                </a:solidFill>
                <a:latin typeface="Yu Gothic"/>
                <a:ea typeface="Yu Gothic"/>
                <a:cs typeface="Yu Gothic"/>
              </a:rPr>
              <a:t>温度・未知熱・相対sensor biasを拡張状態として推定し、innovationを診断量にする</a:t>
            </a:r>
          </a:p>
        </p:txBody>
      </p:sp>
      <p:sp>
        <p:nvSpPr>
          <p:cNvPr id="4" name="正方形/長方形 3">
            <a:extLst>
              <a:ext uri="{FF2B5EF4-FFF2-40B4-BE49-F238E27FC236}">
                <a16:creationId xmlns:a16="http://schemas.microsoft.com/office/drawing/2014/main" id="{DDD75D69-F996-40F1-84B7-B662FCC06B61}"/>
              </a:ext>
            </a:extLst>
          </p:cNvPr>
          <p:cNvSpPr>
            <a:spLocks noGrp="1"/>
          </p:cNvSpPr>
          <p:nvPr/>
        </p:nvSpPr>
        <p:spPr>
          <a:xfrm>
            <a:off x="571500" y="838200"/>
            <a:ext cx="10906125" cy="228600"/>
          </a:xfrm>
          <a:prstGeom prst="rect">
            <a:avLst/>
          </a:prstGeom>
          <a:noFill/>
          <a:ln w="0">
            <a:noFill/>
            <a:prstDash val="solid"/>
          </a:ln>
        </p:spPr>
        <p:txBody>
          <a:bodyPr wrap="none" lIns="28575" tIns="19050" rIns="28575" bIns="19050" anchor="ctr">
            <a:noAutofit/>
          </a:bodyPr>
          <a:lstStyle/>
          <a:p>
            <a:pPr algn="l">
              <a:lnSpc>
                <a:spcPct val="100000"/>
              </a:lnSpc>
              <a:buNone/>
              <a:defRPr sz="975" b="0" i="0">
                <a:solidFill>
                  <a:srgbClr val="5B5B5B"/>
                </a:solidFill>
                <a:latin typeface="Yu Gothic"/>
                <a:ea typeface="Yu Gothic"/>
                <a:cs typeface="Yu Gothic"/>
              </a:defRPr>
            </a:pPr>
            <a:r>
              <a:rPr sz="975" b="0" i="0">
                <a:solidFill>
                  <a:srgbClr val="5B5B5B"/>
                </a:solidFill>
                <a:latin typeface="Yu Gothic"/>
                <a:ea typeface="Yu Gothic"/>
                <a:cs typeface="Yu Gothic"/>
              </a:rPr>
              <a:t>故障名を直接分類するのではなく、物理的に解釈できる偏差channelへ分解する</a:t>
            </a:r>
          </a:p>
        </p:txBody>
      </p:sp>
      <p:sp>
        <p:nvSpPr>
          <p:cNvPr id="5" name="直線コネクタ 4">
            <a:extLst>
              <a:ext uri="{FF2B5EF4-FFF2-40B4-BE49-F238E27FC236}">
                <a16:creationId xmlns:a16="http://schemas.microsoft.com/office/drawing/2014/main" id="{A5B9D27B-E105-441B-BFAD-815C4C0760DA}"/>
              </a:ext>
            </a:extLst>
          </p:cNvPr>
          <p:cNvSpPr>
            <a:spLocks noGrp="1"/>
          </p:cNvSpPr>
          <p:nvPr/>
        </p:nvSpPr>
        <p:spPr>
          <a:xfrm>
            <a:off x="552450" y="1152525"/>
            <a:ext cx="11087100" cy="0"/>
          </a:xfrm>
          <a:prstGeom prst="line">
            <a:avLst/>
          </a:prstGeom>
          <a:noFill/>
          <a:ln w="9525">
            <a:solidFill>
              <a:srgbClr val="D6D6D6"/>
            </a:solidFill>
            <a:prstDash val="solid"/>
          </a:ln>
        </p:spPr>
      </p:sp>
      <p:sp>
        <p:nvSpPr>
          <p:cNvPr id="6" name="直線コネクタ 5">
            <a:extLst>
              <a:ext uri="{FF2B5EF4-FFF2-40B4-BE49-F238E27FC236}">
                <a16:creationId xmlns:a16="http://schemas.microsoft.com/office/drawing/2014/main" id="{0E8E7601-B4B5-406D-BC9C-E6618E0270A5}"/>
              </a:ext>
            </a:extLst>
          </p:cNvPr>
          <p:cNvSpPr>
            <a:spLocks noGrp="1"/>
          </p:cNvSpPr>
          <p:nvPr/>
        </p:nvSpPr>
        <p:spPr>
          <a:xfrm>
            <a:off x="552450" y="6438900"/>
            <a:ext cx="11087100" cy="0"/>
          </a:xfrm>
          <a:prstGeom prst="line">
            <a:avLst/>
          </a:prstGeom>
          <a:noFill/>
          <a:ln w="9525">
            <a:solidFill>
              <a:srgbClr val="D6D6D6"/>
            </a:solidFill>
            <a:prstDash val="solid"/>
          </a:ln>
        </p:spPr>
      </p:sp>
      <p:sp>
        <p:nvSpPr>
          <p:cNvPr id="7" name="正方形/長方形 6">
            <a:extLst>
              <a:ext uri="{FF2B5EF4-FFF2-40B4-BE49-F238E27FC236}">
                <a16:creationId xmlns:a16="http://schemas.microsoft.com/office/drawing/2014/main" id="{92FB63E3-D679-4895-B6AE-9CC10C1007F6}"/>
              </a:ext>
            </a:extLst>
          </p:cNvPr>
          <p:cNvSpPr>
            <a:spLocks noGrp="1"/>
          </p:cNvSpPr>
          <p:nvPr/>
        </p:nvSpPr>
        <p:spPr>
          <a:xfrm>
            <a:off x="571500" y="6505575"/>
            <a:ext cx="5334000" cy="171450"/>
          </a:xfrm>
          <a:prstGeom prst="rect">
            <a:avLst/>
          </a:prstGeom>
          <a:noFill/>
          <a:ln w="0">
            <a:noFill/>
            <a:prstDash val="solid"/>
          </a:ln>
        </p:spPr>
        <p:txBody>
          <a:bodyPr wrap="none" lIns="28575" tIns="19050" rIns="28575" bIns="19050" anchor="ctr">
            <a:noAutofit/>
          </a:bodyPr>
          <a:lstStyle/>
          <a:p>
            <a:pPr algn="l">
              <a:lnSpc>
                <a:spcPct val="100000"/>
              </a:lnSpc>
              <a:buNone/>
              <a:defRPr sz="713" b="0" i="0">
                <a:solidFill>
                  <a:srgbClr val="777777"/>
                </a:solidFill>
                <a:latin typeface="Yu Gothic"/>
                <a:ea typeface="Yu Gothic"/>
                <a:cs typeface="Yu Gothic"/>
              </a:defRPr>
            </a:pPr>
            <a:r>
              <a:rPr sz="713" b="0" i="0">
                <a:solidFill>
                  <a:srgbClr val="777777"/>
                </a:solidFill>
                <a:latin typeface="Yu Gothic"/>
                <a:ea typeface="Yu Gothic"/>
                <a:cs typeface="Yu Gothic"/>
              </a:rPr>
              <a:t>THERMAL RC / EQUIPMENT ENGINEERING REVIEW  ·  2026-09-17</a:t>
            </a:r>
          </a:p>
        </p:txBody>
      </p:sp>
      <p:sp>
        <p:nvSpPr>
          <p:cNvPr id="8" name="正方形/長方形 7">
            <a:extLst>
              <a:ext uri="{FF2B5EF4-FFF2-40B4-BE49-F238E27FC236}">
                <a16:creationId xmlns:a16="http://schemas.microsoft.com/office/drawing/2014/main" id="{229AC0FC-6230-4E6D-B67C-B74C0C461362}"/>
              </a:ext>
            </a:extLst>
          </p:cNvPr>
          <p:cNvSpPr>
            <a:spLocks noGrp="1"/>
          </p:cNvSpPr>
          <p:nvPr/>
        </p:nvSpPr>
        <p:spPr>
          <a:xfrm>
            <a:off x="11125200" y="6496050"/>
            <a:ext cx="476250" cy="171450"/>
          </a:xfrm>
          <a:prstGeom prst="rect">
            <a:avLst/>
          </a:prstGeom>
          <a:noFill/>
          <a:ln w="0">
            <a:noFill/>
            <a:prstDash val="solid"/>
          </a:ln>
        </p:spPr>
        <p:txBody>
          <a:bodyPr wrap="square" lIns="28575" tIns="19050" rIns="28575" bIns="19050" anchor="ctr">
            <a:noAutofit/>
          </a:bodyPr>
          <a:lstStyle/>
          <a:p>
            <a:pPr algn="r">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20</a:t>
            </a:r>
          </a:p>
        </p:txBody>
      </p:sp>
      <p:sp>
        <p:nvSpPr>
          <p:cNvPr id="9" name="正方形/長方形 8">
            <a:extLst>
              <a:ext uri="{FF2B5EF4-FFF2-40B4-BE49-F238E27FC236}">
                <a16:creationId xmlns:a16="http://schemas.microsoft.com/office/drawing/2014/main" id="{8F144344-5EC0-48A8-A0F2-BEEA88072310}"/>
              </a:ext>
            </a:extLst>
          </p:cNvPr>
          <p:cNvSpPr>
            <a:spLocks noGrp="1"/>
          </p:cNvSpPr>
          <p:nvPr/>
        </p:nvSpPr>
        <p:spPr>
          <a:xfrm>
            <a:off x="552450" y="1438275"/>
            <a:ext cx="3067050" cy="2238375"/>
          </a:xfrm>
          <a:prstGeom prst="rect">
            <a:avLst/>
          </a:prstGeom>
          <a:solidFill>
            <a:srgbClr val="201445"/>
          </a:solidFill>
          <a:ln w="0">
            <a:noFill/>
            <a:prstDash val="solid"/>
          </a:ln>
        </p:spPr>
      </p:sp>
      <p:sp>
        <p:nvSpPr>
          <p:cNvPr id="10" name="正方形/長方形 9">
            <a:extLst>
              <a:ext uri="{FF2B5EF4-FFF2-40B4-BE49-F238E27FC236}">
                <a16:creationId xmlns:a16="http://schemas.microsoft.com/office/drawing/2014/main" id="{9480F008-8BA4-4693-AAF5-6430EA42ADEC}"/>
              </a:ext>
            </a:extLst>
          </p:cNvPr>
          <p:cNvSpPr>
            <a:spLocks noGrp="1"/>
          </p:cNvSpPr>
          <p:nvPr/>
        </p:nvSpPr>
        <p:spPr>
          <a:xfrm>
            <a:off x="762000" y="1619250"/>
            <a:ext cx="2095500" cy="247650"/>
          </a:xfrm>
          <a:prstGeom prst="rect">
            <a:avLst/>
          </a:prstGeom>
          <a:noFill/>
          <a:ln w="0">
            <a:noFill/>
            <a:prstDash val="solid"/>
          </a:ln>
        </p:spPr>
        <p:txBody>
          <a:bodyPr wrap="square" lIns="28575" tIns="19050" rIns="28575" bIns="19050" anchor="ctr">
            <a:normAutofit/>
          </a:bodyPr>
          <a:lstStyle/>
          <a:p>
            <a:pPr algn="l">
              <a:lnSpc>
                <a:spcPct val="100000"/>
              </a:lnSpc>
              <a:buNone/>
              <a:defRPr sz="1050" b="1" i="0">
                <a:solidFill>
                  <a:srgbClr val="76BE18"/>
                </a:solidFill>
                <a:latin typeface="Yu Gothic"/>
                <a:ea typeface="Yu Gothic"/>
                <a:cs typeface="Yu Gothic"/>
              </a:defRPr>
            </a:pPr>
            <a:r>
              <a:rPr sz="1050" b="1" i="0">
                <a:solidFill>
                  <a:srgbClr val="76BE18"/>
                </a:solidFill>
                <a:latin typeface="Yu Gothic"/>
                <a:ea typeface="Yu Gothic"/>
                <a:cs typeface="Yu Gothic"/>
              </a:rPr>
              <a:t>augmented state</a:t>
            </a:r>
          </a:p>
        </p:txBody>
      </p:sp>
      <p:sp>
        <p:nvSpPr>
          <p:cNvPr id="11" name="正方形/長方形 10">
            <a:extLst>
              <a:ext uri="{FF2B5EF4-FFF2-40B4-BE49-F238E27FC236}">
                <a16:creationId xmlns:a16="http://schemas.microsoft.com/office/drawing/2014/main" id="{098DF503-24D2-4C82-82AA-F91F114B6DBE}"/>
              </a:ext>
            </a:extLst>
          </p:cNvPr>
          <p:cNvSpPr>
            <a:spLocks noGrp="1"/>
          </p:cNvSpPr>
          <p:nvPr/>
        </p:nvSpPr>
        <p:spPr>
          <a:xfrm>
            <a:off x="762000" y="2019300"/>
            <a:ext cx="2647950" cy="447675"/>
          </a:xfrm>
          <a:prstGeom prst="rect">
            <a:avLst/>
          </a:prstGeom>
          <a:noFill/>
          <a:ln w="0">
            <a:noFill/>
            <a:prstDash val="solid"/>
          </a:ln>
        </p:spPr>
        <p:txBody>
          <a:bodyPr wrap="square" lIns="28575" tIns="19050" rIns="28575" bIns="19050" anchor="ctr">
            <a:normAutofit/>
          </a:bodyPr>
          <a:lstStyle/>
          <a:p>
            <a:pPr algn="ctr">
              <a:lnSpc>
                <a:spcPct val="100000"/>
              </a:lnSpc>
              <a:buNone/>
              <a:defRPr sz="2250" b="1" i="0">
                <a:solidFill>
                  <a:srgbClr val="FFFFFF"/>
                </a:solidFill>
                <a:latin typeface="Cambria Math"/>
                <a:ea typeface="Cambria Math"/>
                <a:cs typeface="Cambria Math"/>
              </a:defRPr>
            </a:pPr>
            <a:r>
              <a:rPr sz="2250" b="1" i="0">
                <a:solidFill>
                  <a:srgbClr val="FFFFFF"/>
                </a:solidFill>
                <a:latin typeface="Cambria Math"/>
                <a:ea typeface="Cambria Math"/>
                <a:cs typeface="Cambria Math"/>
              </a:rPr>
              <a:t>z = [T; d; β]</a:t>
            </a:r>
          </a:p>
        </p:txBody>
      </p:sp>
      <p:sp>
        <p:nvSpPr>
          <p:cNvPr id="12" name="正方形/長方形 11">
            <a:extLst>
              <a:ext uri="{FF2B5EF4-FFF2-40B4-BE49-F238E27FC236}">
                <a16:creationId xmlns:a16="http://schemas.microsoft.com/office/drawing/2014/main" id="{EB0DBFFA-CF3A-44A6-AF4D-1BE47B77EB9C}"/>
              </a:ext>
            </a:extLst>
          </p:cNvPr>
          <p:cNvSpPr>
            <a:spLocks noGrp="1"/>
          </p:cNvSpPr>
          <p:nvPr/>
        </p:nvSpPr>
        <p:spPr>
          <a:xfrm>
            <a:off x="847725" y="2647950"/>
            <a:ext cx="2476500" cy="781050"/>
          </a:xfrm>
          <a:prstGeom prst="rect">
            <a:avLst/>
          </a:prstGeom>
          <a:noFill/>
          <a:ln w="0">
            <a:noFill/>
            <a:prstDash val="solid"/>
          </a:ln>
        </p:spPr>
        <p:txBody>
          <a:bodyPr wrap="square" lIns="28575" tIns="19050" rIns="28575" bIns="19050" anchor="t">
            <a:normAutofit/>
          </a:bodyPr>
          <a:lstStyle/>
          <a:p>
            <a:pPr algn="l">
              <a:lnSpc>
                <a:spcPct val="118000"/>
              </a:lnSpc>
              <a:buNone/>
              <a:defRPr sz="975" b="0" i="0">
                <a:solidFill>
                  <a:srgbClr val="DCD5EA"/>
                </a:solidFill>
                <a:latin typeface="Yu Gothic"/>
                <a:ea typeface="Yu Gothic"/>
                <a:cs typeface="Yu Gothic"/>
              </a:defRPr>
            </a:pPr>
            <a:r>
              <a:rPr sz="975" b="0" i="0">
                <a:solidFill>
                  <a:srgbClr val="DCD5EA"/>
                </a:solidFill>
                <a:latin typeface="Yu Gothic"/>
                <a:ea typeface="Yu Gothic"/>
                <a:cs typeface="Yu Gothic"/>
              </a:rPr>
              <a:t>T  physical temperature</a:t>
            </a:r>
          </a:p>
          <a:p>
            <a:pPr algn="l">
              <a:lnSpc>
                <a:spcPct val="118000"/>
              </a:lnSpc>
              <a:buNone/>
              <a:defRPr sz="975" b="0" i="0">
                <a:solidFill>
                  <a:srgbClr val="DCD5EA"/>
                </a:solidFill>
                <a:latin typeface="Yu Gothic"/>
                <a:ea typeface="Yu Gothic"/>
                <a:cs typeface="Yu Gothic"/>
              </a:defRPr>
            </a:pPr>
            <a:r>
              <a:rPr sz="975" b="0" i="0">
                <a:solidFill>
                  <a:srgbClr val="DCD5EA"/>
                </a:solidFill>
                <a:latin typeface="Yu Gothic"/>
                <a:ea typeface="Yu Gothic"/>
                <a:cs typeface="Yu Gothic"/>
              </a:rPr>
              <a:t>d  unknown heat [W]</a:t>
            </a:r>
          </a:p>
          <a:p>
            <a:pPr algn="l">
              <a:lnSpc>
                <a:spcPct val="118000"/>
              </a:lnSpc>
              <a:buNone/>
              <a:defRPr sz="975" b="0" i="0">
                <a:solidFill>
                  <a:srgbClr val="DCD5EA"/>
                </a:solidFill>
                <a:latin typeface="Yu Gothic"/>
                <a:ea typeface="Yu Gothic"/>
                <a:cs typeface="Yu Gothic"/>
              </a:defRPr>
            </a:pPr>
            <a:r>
              <a:rPr sz="975" b="0" i="0">
                <a:solidFill>
                  <a:srgbClr val="DCD5EA"/>
                </a:solidFill>
                <a:latin typeface="Yu Gothic"/>
                <a:ea typeface="Yu Gothic"/>
                <a:cs typeface="Yu Gothic"/>
              </a:rPr>
              <a:t>β  identifiable relative bias [K]</a:t>
            </a:r>
          </a:p>
        </p:txBody>
      </p:sp>
      <p:sp>
        <p:nvSpPr>
          <p:cNvPr id="13" name="正方形/長方形 12">
            <a:extLst>
              <a:ext uri="{FF2B5EF4-FFF2-40B4-BE49-F238E27FC236}">
                <a16:creationId xmlns:a16="http://schemas.microsoft.com/office/drawing/2014/main" id="{80BE3A11-A1C5-45D1-928B-2D5CB9100184}"/>
              </a:ext>
            </a:extLst>
          </p:cNvPr>
          <p:cNvSpPr>
            <a:spLocks noGrp="1"/>
          </p:cNvSpPr>
          <p:nvPr/>
        </p:nvSpPr>
        <p:spPr>
          <a:xfrm>
            <a:off x="4162425" y="1666875"/>
            <a:ext cx="1885950" cy="800100"/>
          </a:xfrm>
          <a:prstGeom prst="rect">
            <a:avLst/>
          </a:prstGeom>
          <a:solidFill>
            <a:srgbClr val="E5F6FB"/>
          </a:solidFill>
          <a:ln w="19050">
            <a:solidFill>
              <a:srgbClr val="00A5D8"/>
            </a:solidFill>
            <a:prstDash val="solid"/>
          </a:ln>
        </p:spPr>
      </p:sp>
      <p:sp>
        <p:nvSpPr>
          <p:cNvPr id="14" name="正方形/長方形 13">
            <a:extLst>
              <a:ext uri="{FF2B5EF4-FFF2-40B4-BE49-F238E27FC236}">
                <a16:creationId xmlns:a16="http://schemas.microsoft.com/office/drawing/2014/main" id="{4BBC8131-82E0-49E5-A6E2-A1B0451D50A6}"/>
              </a:ext>
            </a:extLst>
          </p:cNvPr>
          <p:cNvSpPr>
            <a:spLocks noGrp="1"/>
          </p:cNvSpPr>
          <p:nvPr/>
        </p:nvSpPr>
        <p:spPr>
          <a:xfrm>
            <a:off x="4324350" y="1781175"/>
            <a:ext cx="1562100" cy="228600"/>
          </a:xfrm>
          <a:prstGeom prst="rect">
            <a:avLst/>
          </a:prstGeom>
          <a:noFill/>
          <a:ln w="0">
            <a:noFill/>
            <a:prstDash val="solid"/>
          </a:ln>
        </p:spPr>
        <p:txBody>
          <a:bodyPr wrap="square" lIns="28575" tIns="19050" rIns="28575" bIns="19050" anchor="ctr">
            <a:normAutofit fontScale="98039"/>
          </a:bodyPr>
          <a:lstStyle/>
          <a:p>
            <a:pPr algn="ctr">
              <a:lnSpc>
                <a:spcPct val="100000"/>
              </a:lnSpc>
              <a:buNone/>
              <a:defRPr sz="1275" b="1" i="0">
                <a:solidFill>
                  <a:srgbClr val="007FA8"/>
                </a:solidFill>
                <a:latin typeface="Yu Gothic"/>
                <a:ea typeface="Yu Gothic"/>
                <a:cs typeface="Yu Gothic"/>
              </a:defRPr>
            </a:pPr>
            <a:r>
              <a:rPr sz="1275" b="1" i="0">
                <a:solidFill>
                  <a:srgbClr val="007FA8"/>
                </a:solidFill>
                <a:latin typeface="Yu Gothic"/>
                <a:ea typeface="Yu Gothic"/>
                <a:cs typeface="Yu Gothic"/>
              </a:rPr>
              <a:t>predict</a:t>
            </a:r>
          </a:p>
        </p:txBody>
      </p:sp>
      <p:sp>
        <p:nvSpPr>
          <p:cNvPr id="15" name="正方形/長方形 14">
            <a:extLst>
              <a:ext uri="{FF2B5EF4-FFF2-40B4-BE49-F238E27FC236}">
                <a16:creationId xmlns:a16="http://schemas.microsoft.com/office/drawing/2014/main" id="{0A7526C3-2A5F-46DF-A974-5EA51FFDE47B}"/>
              </a:ext>
            </a:extLst>
          </p:cNvPr>
          <p:cNvSpPr>
            <a:spLocks noGrp="1"/>
          </p:cNvSpPr>
          <p:nvPr/>
        </p:nvSpPr>
        <p:spPr>
          <a:xfrm>
            <a:off x="4324350" y="2076450"/>
            <a:ext cx="1562100" cy="266700"/>
          </a:xfrm>
          <a:prstGeom prst="rect">
            <a:avLst/>
          </a:prstGeom>
          <a:noFill/>
          <a:ln w="0">
            <a:noFill/>
            <a:prstDash val="solid"/>
          </a:ln>
        </p:spPr>
        <p:txBody>
          <a:bodyPr wrap="square" lIns="28575" tIns="19050" rIns="28575" bIns="19050" anchor="ctr">
            <a:normAutofit fontScale="90909"/>
          </a:bodyPr>
          <a:lstStyle/>
          <a:p>
            <a:pPr algn="ctr">
              <a:lnSpc>
                <a:spcPct val="100000"/>
              </a:lnSpc>
              <a:buNone/>
              <a:defRPr sz="1650" b="0" i="0">
                <a:solidFill>
                  <a:srgbClr val="3F3F3F"/>
                </a:solidFill>
                <a:latin typeface="Cambria Math"/>
                <a:ea typeface="Cambria Math"/>
                <a:cs typeface="Cambria Math"/>
              </a:defRPr>
            </a:pPr>
            <a:r>
              <a:rPr sz="1650" b="0" i="0">
                <a:solidFill>
                  <a:srgbClr val="3F3F3F"/>
                </a:solidFill>
                <a:latin typeface="Cambria Math"/>
                <a:ea typeface="Cambria Math"/>
                <a:cs typeface="Cambria Math"/>
              </a:rPr>
              <a:t>z⁻, P⁻</a:t>
            </a:r>
          </a:p>
        </p:txBody>
      </p:sp>
      <p:sp>
        <p:nvSpPr>
          <p:cNvPr id="16" name="正方形/長方形 15">
            <a:extLst>
              <a:ext uri="{FF2B5EF4-FFF2-40B4-BE49-F238E27FC236}">
                <a16:creationId xmlns:a16="http://schemas.microsoft.com/office/drawing/2014/main" id="{0AE58E91-BBE2-4F4A-8489-98FACE48D5BE}"/>
              </a:ext>
            </a:extLst>
          </p:cNvPr>
          <p:cNvSpPr>
            <a:spLocks noGrp="1"/>
          </p:cNvSpPr>
          <p:nvPr/>
        </p:nvSpPr>
        <p:spPr>
          <a:xfrm>
            <a:off x="6629400" y="1666875"/>
            <a:ext cx="1885950" cy="800100"/>
          </a:xfrm>
          <a:prstGeom prst="rect">
            <a:avLst/>
          </a:prstGeom>
          <a:solidFill>
            <a:srgbClr val="FFF5D7"/>
          </a:solidFill>
          <a:ln w="19050">
            <a:solidFill>
              <a:srgbClr val="E5A900"/>
            </a:solidFill>
            <a:prstDash val="solid"/>
          </a:ln>
        </p:spPr>
      </p:sp>
      <p:sp>
        <p:nvSpPr>
          <p:cNvPr id="17" name="正方形/長方形 16">
            <a:extLst>
              <a:ext uri="{FF2B5EF4-FFF2-40B4-BE49-F238E27FC236}">
                <a16:creationId xmlns:a16="http://schemas.microsoft.com/office/drawing/2014/main" id="{1A95551A-0143-4A15-83EA-56625C69161C}"/>
              </a:ext>
            </a:extLst>
          </p:cNvPr>
          <p:cNvSpPr>
            <a:spLocks noGrp="1"/>
          </p:cNvSpPr>
          <p:nvPr/>
        </p:nvSpPr>
        <p:spPr>
          <a:xfrm>
            <a:off x="6791325" y="1781175"/>
            <a:ext cx="1562100" cy="228600"/>
          </a:xfrm>
          <a:prstGeom prst="rect">
            <a:avLst/>
          </a:prstGeom>
          <a:noFill/>
          <a:ln w="0">
            <a:noFill/>
            <a:prstDash val="solid"/>
          </a:ln>
        </p:spPr>
        <p:txBody>
          <a:bodyPr wrap="square" lIns="28575" tIns="19050" rIns="28575" bIns="19050" anchor="ctr">
            <a:normAutofit fontScale="98039"/>
          </a:bodyPr>
          <a:lstStyle/>
          <a:p>
            <a:pPr algn="ctr">
              <a:lnSpc>
                <a:spcPct val="100000"/>
              </a:lnSpc>
              <a:buNone/>
              <a:defRPr sz="1275" b="1" i="0">
                <a:solidFill>
                  <a:srgbClr val="806000"/>
                </a:solidFill>
                <a:latin typeface="Yu Gothic"/>
                <a:ea typeface="Yu Gothic"/>
                <a:cs typeface="Yu Gothic"/>
              </a:defRPr>
            </a:pPr>
            <a:r>
              <a:rPr sz="1275" b="1" i="0">
                <a:solidFill>
                  <a:srgbClr val="806000"/>
                </a:solidFill>
                <a:latin typeface="Yu Gothic"/>
                <a:ea typeface="Yu Gothic"/>
                <a:cs typeface="Yu Gothic"/>
              </a:rPr>
              <a:t>innovation</a:t>
            </a:r>
          </a:p>
        </p:txBody>
      </p:sp>
      <p:sp>
        <p:nvSpPr>
          <p:cNvPr id="18" name="正方形/長方形 17">
            <a:extLst>
              <a:ext uri="{FF2B5EF4-FFF2-40B4-BE49-F238E27FC236}">
                <a16:creationId xmlns:a16="http://schemas.microsoft.com/office/drawing/2014/main" id="{C7F4BE8D-FB22-4847-BA2A-D3849A820400}"/>
              </a:ext>
            </a:extLst>
          </p:cNvPr>
          <p:cNvSpPr>
            <a:spLocks noGrp="1"/>
          </p:cNvSpPr>
          <p:nvPr/>
        </p:nvSpPr>
        <p:spPr>
          <a:xfrm>
            <a:off x="6791325" y="2076450"/>
            <a:ext cx="1562100" cy="266700"/>
          </a:xfrm>
          <a:prstGeom prst="rect">
            <a:avLst/>
          </a:prstGeom>
          <a:noFill/>
          <a:ln w="0">
            <a:noFill/>
            <a:prstDash val="solid"/>
          </a:ln>
        </p:spPr>
        <p:txBody>
          <a:bodyPr wrap="square" lIns="28575" tIns="19050" rIns="28575" bIns="19050" anchor="ctr">
            <a:normAutofit/>
          </a:bodyPr>
          <a:lstStyle/>
          <a:p>
            <a:pPr algn="ctr">
              <a:lnSpc>
                <a:spcPct val="100000"/>
              </a:lnSpc>
              <a:buNone/>
              <a:defRPr sz="1425" b="0" i="0">
                <a:solidFill>
                  <a:srgbClr val="3F3F3F"/>
                </a:solidFill>
                <a:latin typeface="Cambria Math"/>
                <a:ea typeface="Cambria Math"/>
                <a:cs typeface="Cambria Math"/>
              </a:defRPr>
            </a:pPr>
            <a:r>
              <a:rPr sz="1425" b="0" i="0">
                <a:solidFill>
                  <a:srgbClr val="3F3F3F"/>
                </a:solidFill>
                <a:latin typeface="Cambria Math"/>
                <a:ea typeface="Cambria Math"/>
                <a:cs typeface="Cambria Math"/>
              </a:rPr>
              <a:t>ν = y − Hz⁻</a:t>
            </a:r>
          </a:p>
        </p:txBody>
      </p:sp>
      <p:sp>
        <p:nvSpPr>
          <p:cNvPr id="19" name="正方形/長方形 18">
            <a:extLst>
              <a:ext uri="{FF2B5EF4-FFF2-40B4-BE49-F238E27FC236}">
                <a16:creationId xmlns:a16="http://schemas.microsoft.com/office/drawing/2014/main" id="{2ECA4D49-A8A0-4F55-B489-4CEFE3AD9C67}"/>
              </a:ext>
            </a:extLst>
          </p:cNvPr>
          <p:cNvSpPr>
            <a:spLocks noGrp="1"/>
          </p:cNvSpPr>
          <p:nvPr/>
        </p:nvSpPr>
        <p:spPr>
          <a:xfrm>
            <a:off x="9096375" y="1666875"/>
            <a:ext cx="1885950" cy="800100"/>
          </a:xfrm>
          <a:prstGeom prst="rect">
            <a:avLst/>
          </a:prstGeom>
          <a:solidFill>
            <a:srgbClr val="EEF7DF"/>
          </a:solidFill>
          <a:ln w="19050">
            <a:solidFill>
              <a:srgbClr val="76BE18"/>
            </a:solidFill>
            <a:prstDash val="solid"/>
          </a:ln>
        </p:spPr>
      </p:sp>
      <p:sp>
        <p:nvSpPr>
          <p:cNvPr id="20" name="正方形/長方形 19">
            <a:extLst>
              <a:ext uri="{FF2B5EF4-FFF2-40B4-BE49-F238E27FC236}">
                <a16:creationId xmlns:a16="http://schemas.microsoft.com/office/drawing/2014/main" id="{AD0F7197-61C2-4FF3-A3E8-377171821300}"/>
              </a:ext>
            </a:extLst>
          </p:cNvPr>
          <p:cNvSpPr>
            <a:spLocks noGrp="1"/>
          </p:cNvSpPr>
          <p:nvPr/>
        </p:nvSpPr>
        <p:spPr>
          <a:xfrm>
            <a:off x="9258300" y="1781175"/>
            <a:ext cx="1562100" cy="228600"/>
          </a:xfrm>
          <a:prstGeom prst="rect">
            <a:avLst/>
          </a:prstGeom>
          <a:noFill/>
          <a:ln w="0">
            <a:noFill/>
            <a:prstDash val="solid"/>
          </a:ln>
        </p:spPr>
        <p:txBody>
          <a:bodyPr wrap="square" lIns="28575" tIns="19050" rIns="28575" bIns="19050" anchor="ctr">
            <a:normAutofit fontScale="98039"/>
          </a:bodyPr>
          <a:lstStyle/>
          <a:p>
            <a:pPr algn="ctr">
              <a:lnSpc>
                <a:spcPct val="100000"/>
              </a:lnSpc>
              <a:buNone/>
              <a:defRPr sz="1275" b="1" i="0">
                <a:solidFill>
                  <a:srgbClr val="4D8710"/>
                </a:solidFill>
                <a:latin typeface="Yu Gothic"/>
                <a:ea typeface="Yu Gothic"/>
                <a:cs typeface="Yu Gothic"/>
              </a:defRPr>
            </a:pPr>
            <a:r>
              <a:rPr sz="1275" b="1" i="0">
                <a:solidFill>
                  <a:srgbClr val="4D8710"/>
                </a:solidFill>
                <a:latin typeface="Yu Gothic"/>
                <a:ea typeface="Yu Gothic"/>
                <a:cs typeface="Yu Gothic"/>
              </a:rPr>
              <a:t>robust update</a:t>
            </a:r>
          </a:p>
        </p:txBody>
      </p:sp>
      <p:sp>
        <p:nvSpPr>
          <p:cNvPr id="21" name="正方形/長方形 20">
            <a:extLst>
              <a:ext uri="{FF2B5EF4-FFF2-40B4-BE49-F238E27FC236}">
                <a16:creationId xmlns:a16="http://schemas.microsoft.com/office/drawing/2014/main" id="{069D52C9-98FE-4205-8550-BE711BA668EB}"/>
              </a:ext>
            </a:extLst>
          </p:cNvPr>
          <p:cNvSpPr>
            <a:spLocks noGrp="1"/>
          </p:cNvSpPr>
          <p:nvPr/>
        </p:nvSpPr>
        <p:spPr>
          <a:xfrm>
            <a:off x="9258300" y="2076450"/>
            <a:ext cx="1562100" cy="266700"/>
          </a:xfrm>
          <a:prstGeom prst="rect">
            <a:avLst/>
          </a:prstGeom>
          <a:noFill/>
          <a:ln w="0">
            <a:noFill/>
            <a:prstDash val="solid"/>
          </a:ln>
        </p:spPr>
        <p:txBody>
          <a:bodyPr wrap="square" lIns="28575" tIns="19050" rIns="28575" bIns="19050" anchor="ctr">
            <a:normAutofit fontScale="90909"/>
          </a:bodyPr>
          <a:lstStyle/>
          <a:p>
            <a:pPr algn="ctr">
              <a:lnSpc>
                <a:spcPct val="100000"/>
              </a:lnSpc>
              <a:buNone/>
              <a:defRPr sz="1650" b="0" i="0">
                <a:solidFill>
                  <a:srgbClr val="3F3F3F"/>
                </a:solidFill>
                <a:latin typeface="Cambria Math"/>
                <a:ea typeface="Cambria Math"/>
                <a:cs typeface="Cambria Math"/>
              </a:defRPr>
            </a:pPr>
            <a:r>
              <a:rPr sz="1650" b="0" i="0">
                <a:solidFill>
                  <a:srgbClr val="3F3F3F"/>
                </a:solidFill>
                <a:latin typeface="Cambria Math"/>
                <a:ea typeface="Cambria Math"/>
                <a:cs typeface="Cambria Math"/>
              </a:rPr>
              <a:t>z⁺, P⁺</a:t>
            </a:r>
          </a:p>
        </p:txBody>
      </p:sp>
      <p:cxnSp>
        <p:nvCxnSpPr>
          <p:cNvPr id="69" name="直線矢印コネクタ 68"/>
          <p:cNvCxnSpPr>
            <a:stCxn id="13" idx="3"/>
            <a:endCxn id="16" idx="1"/>
          </p:cNvCxnSpPr>
          <p:nvPr/>
        </p:nvCxnSpPr>
        <p:spPr>
          <a:xfrm>
            <a:off x="6048375" y="2066925"/>
            <a:ext cx="581025" cy="0"/>
          </a:xfrm>
          <a:prstGeom prst="straightConnector1">
            <a:avLst/>
          </a:prstGeom>
          <a:ln w="19050">
            <a:solidFill>
              <a:srgbClr val="007FA8"/>
            </a:solidFill>
            <a:prstDash val="solid"/>
            <a:tailEnd type="triangle" w="sm" len="sm"/>
          </a:ln>
        </p:spPr>
      </p:cxnSp>
      <p:cxnSp>
        <p:nvCxnSpPr>
          <p:cNvPr id="70" name="直線矢印コネクタ 69"/>
          <p:cNvCxnSpPr>
            <a:stCxn id="16" idx="3"/>
            <a:endCxn id="19" idx="1"/>
          </p:cNvCxnSpPr>
          <p:nvPr/>
        </p:nvCxnSpPr>
        <p:spPr>
          <a:xfrm>
            <a:off x="8515350" y="2066925"/>
            <a:ext cx="581025" cy="0"/>
          </a:xfrm>
          <a:prstGeom prst="straightConnector1">
            <a:avLst/>
          </a:prstGeom>
          <a:ln w="19050">
            <a:solidFill>
              <a:srgbClr val="007FA8"/>
            </a:solidFill>
            <a:prstDash val="solid"/>
            <a:tailEnd type="triangle" w="sm" len="sm"/>
          </a:ln>
        </p:spPr>
      </p:cxnSp>
      <p:sp>
        <p:nvSpPr>
          <p:cNvPr id="24" name="正方形/長方形 23">
            <a:extLst>
              <a:ext uri="{FF2B5EF4-FFF2-40B4-BE49-F238E27FC236}">
                <a16:creationId xmlns:a16="http://schemas.microsoft.com/office/drawing/2014/main" id="{11550951-300B-4A79-9750-5F243CBC0FBD}"/>
              </a:ext>
            </a:extLst>
          </p:cNvPr>
          <p:cNvSpPr>
            <a:spLocks noGrp="1"/>
          </p:cNvSpPr>
          <p:nvPr/>
        </p:nvSpPr>
        <p:spPr>
          <a:xfrm>
            <a:off x="4248150" y="2590800"/>
            <a:ext cx="1714500" cy="171450"/>
          </a:xfrm>
          <a:prstGeom prst="rect">
            <a:avLst/>
          </a:prstGeom>
          <a:noFill/>
          <a:ln w="0">
            <a:noFill/>
            <a:prstDash val="solid"/>
          </a:ln>
        </p:spPr>
        <p:txBody>
          <a:bodyPr wrap="square" lIns="28575" tIns="19050" rIns="28575" bIns="19050" anchor="ctr">
            <a:normAutofit/>
          </a:bodyPr>
          <a:lstStyle/>
          <a:p>
            <a:pPr algn="ctr">
              <a:lnSpc>
                <a:spcPct val="100000"/>
              </a:lnSpc>
              <a:buNone/>
              <a:defRPr sz="750" b="0" i="0">
                <a:solidFill>
                  <a:srgbClr val="777777"/>
                </a:solidFill>
                <a:latin typeface="Yu Gothic"/>
                <a:ea typeface="Yu Gothic"/>
                <a:cs typeface="Yu Gothic"/>
              </a:defRPr>
            </a:pPr>
            <a:r>
              <a:rPr sz="750" b="0" i="0">
                <a:solidFill>
                  <a:srgbClr val="777777"/>
                </a:solidFill>
                <a:latin typeface="Yu Gothic"/>
                <a:ea typeface="Yu Gothic"/>
                <a:cs typeface="Yu Gothic"/>
              </a:rPr>
              <a:t>Van Loan / implicit Qd</a:t>
            </a:r>
          </a:p>
        </p:txBody>
      </p:sp>
      <p:sp>
        <p:nvSpPr>
          <p:cNvPr id="25" name="正方形/長方形 24">
            <a:extLst>
              <a:ext uri="{FF2B5EF4-FFF2-40B4-BE49-F238E27FC236}">
                <a16:creationId xmlns:a16="http://schemas.microsoft.com/office/drawing/2014/main" id="{259F1DCD-AF35-460E-A334-DFD7431EDFA6}"/>
              </a:ext>
            </a:extLst>
          </p:cNvPr>
          <p:cNvSpPr>
            <a:spLocks noGrp="1"/>
          </p:cNvSpPr>
          <p:nvPr/>
        </p:nvSpPr>
        <p:spPr>
          <a:xfrm>
            <a:off x="6715125" y="2590800"/>
            <a:ext cx="1714500" cy="171450"/>
          </a:xfrm>
          <a:prstGeom prst="rect">
            <a:avLst/>
          </a:prstGeom>
          <a:noFill/>
          <a:ln w="0">
            <a:noFill/>
            <a:prstDash val="solid"/>
          </a:ln>
        </p:spPr>
        <p:txBody>
          <a:bodyPr wrap="square" lIns="28575" tIns="19050" rIns="28575" bIns="19050" anchor="ctr">
            <a:normAutofit/>
          </a:bodyPr>
          <a:lstStyle/>
          <a:p>
            <a:pPr algn="ctr">
              <a:lnSpc>
                <a:spcPct val="100000"/>
              </a:lnSpc>
              <a:buNone/>
              <a:defRPr sz="750" b="0" i="0">
                <a:solidFill>
                  <a:srgbClr val="777777"/>
                </a:solidFill>
                <a:latin typeface="Yu Gothic"/>
                <a:ea typeface="Yu Gothic"/>
                <a:cs typeface="Yu Gothic"/>
              </a:defRPr>
            </a:pPr>
            <a:r>
              <a:rPr sz="750" b="0" i="0">
                <a:solidFill>
                  <a:srgbClr val="777777"/>
                </a:solidFill>
                <a:latin typeface="Yu Gothic"/>
                <a:ea typeface="Yu Gothic"/>
                <a:cs typeface="Yu Gothic"/>
              </a:rPr>
              <a:t>missing rows removed</a:t>
            </a:r>
          </a:p>
        </p:txBody>
      </p:sp>
      <p:sp>
        <p:nvSpPr>
          <p:cNvPr id="26" name="正方形/長方形 25">
            <a:extLst>
              <a:ext uri="{FF2B5EF4-FFF2-40B4-BE49-F238E27FC236}">
                <a16:creationId xmlns:a16="http://schemas.microsoft.com/office/drawing/2014/main" id="{727A2658-8A77-44BA-8718-2C545414CEDB}"/>
              </a:ext>
            </a:extLst>
          </p:cNvPr>
          <p:cNvSpPr>
            <a:spLocks noGrp="1"/>
          </p:cNvSpPr>
          <p:nvPr/>
        </p:nvSpPr>
        <p:spPr>
          <a:xfrm>
            <a:off x="9182100" y="2590800"/>
            <a:ext cx="1714500" cy="171450"/>
          </a:xfrm>
          <a:prstGeom prst="rect">
            <a:avLst/>
          </a:prstGeom>
          <a:noFill/>
          <a:ln w="0">
            <a:noFill/>
            <a:prstDash val="solid"/>
          </a:ln>
        </p:spPr>
        <p:txBody>
          <a:bodyPr wrap="square" lIns="28575" tIns="19050" rIns="28575" bIns="19050" anchor="ctr">
            <a:normAutofit/>
          </a:bodyPr>
          <a:lstStyle/>
          <a:p>
            <a:pPr algn="ctr">
              <a:lnSpc>
                <a:spcPct val="100000"/>
              </a:lnSpc>
              <a:buNone/>
              <a:defRPr sz="750" b="0" i="0">
                <a:solidFill>
                  <a:srgbClr val="777777"/>
                </a:solidFill>
                <a:latin typeface="Yu Gothic"/>
                <a:ea typeface="Yu Gothic"/>
                <a:cs typeface="Yu Gothic"/>
              </a:defRPr>
            </a:pPr>
            <a:r>
              <a:rPr sz="750" b="0" i="0">
                <a:solidFill>
                  <a:srgbClr val="777777"/>
                </a:solidFill>
                <a:latin typeface="Yu Gothic"/>
                <a:ea typeface="Yu Gothic"/>
                <a:cs typeface="Yu Gothic"/>
              </a:rPr>
              <a:t>Joseph covariance</a:t>
            </a:r>
          </a:p>
        </p:txBody>
      </p:sp>
      <p:sp>
        <p:nvSpPr>
          <p:cNvPr id="27" name="正方形/長方形 26">
            <a:extLst>
              <a:ext uri="{FF2B5EF4-FFF2-40B4-BE49-F238E27FC236}">
                <a16:creationId xmlns:a16="http://schemas.microsoft.com/office/drawing/2014/main" id="{635ECF27-A8F5-4E06-BAD0-9ED670E01F7E}"/>
              </a:ext>
            </a:extLst>
          </p:cNvPr>
          <p:cNvSpPr>
            <a:spLocks noGrp="1"/>
          </p:cNvSpPr>
          <p:nvPr/>
        </p:nvSpPr>
        <p:spPr>
          <a:xfrm>
            <a:off x="4162425" y="2952750"/>
            <a:ext cx="6819900" cy="723900"/>
          </a:xfrm>
          <a:prstGeom prst="rect">
            <a:avLst/>
          </a:prstGeom>
          <a:solidFill>
            <a:srgbClr val="F8F8F8"/>
          </a:solidFill>
          <a:ln w="9525">
            <a:solidFill>
              <a:srgbClr val="D6D6D6"/>
            </a:solidFill>
            <a:prstDash val="solid"/>
          </a:ln>
        </p:spPr>
      </p:sp>
      <p:sp>
        <p:nvSpPr>
          <p:cNvPr id="28" name="正方形/長方形 27">
            <a:extLst>
              <a:ext uri="{FF2B5EF4-FFF2-40B4-BE49-F238E27FC236}">
                <a16:creationId xmlns:a16="http://schemas.microsoft.com/office/drawing/2014/main" id="{EC6D0B93-A817-4B80-8DD9-390367856EF9}"/>
              </a:ext>
            </a:extLst>
          </p:cNvPr>
          <p:cNvSpPr>
            <a:spLocks noGrp="1"/>
          </p:cNvSpPr>
          <p:nvPr/>
        </p:nvSpPr>
        <p:spPr>
          <a:xfrm>
            <a:off x="4362450" y="3105150"/>
            <a:ext cx="2781300" cy="361950"/>
          </a:xfrm>
          <a:prstGeom prst="rect">
            <a:avLst/>
          </a:prstGeom>
          <a:noFill/>
          <a:ln w="0">
            <a:noFill/>
            <a:prstDash val="solid"/>
          </a:ln>
        </p:spPr>
        <p:txBody>
          <a:bodyPr wrap="square" lIns="28575" tIns="19050" rIns="28575" bIns="19050" anchor="ctr">
            <a:normAutofit/>
          </a:bodyPr>
          <a:lstStyle/>
          <a:p>
            <a:pPr algn="ctr">
              <a:lnSpc>
                <a:spcPct val="100000"/>
              </a:lnSpc>
              <a:buNone/>
              <a:defRPr sz="1875" b="1" i="0">
                <a:solidFill>
                  <a:srgbClr val="3F3F3F"/>
                </a:solidFill>
                <a:latin typeface="Cambria Math"/>
                <a:ea typeface="Cambria Math"/>
                <a:cs typeface="Cambria Math"/>
              </a:defRPr>
            </a:pPr>
            <a:r>
              <a:rPr sz="1875" b="1" i="0">
                <a:solidFill>
                  <a:srgbClr val="3F3F3F"/>
                </a:solidFill>
                <a:latin typeface="Cambria Math"/>
                <a:ea typeface="Cambria Math"/>
                <a:cs typeface="Cambria Math"/>
              </a:rPr>
              <a:t>NISₖ = νₖᵀ Sₖ⁻¹νₖ</a:t>
            </a:r>
          </a:p>
        </p:txBody>
      </p:sp>
      <p:sp>
        <p:nvSpPr>
          <p:cNvPr id="29" name="正方形/長方形 28">
            <a:extLst>
              <a:ext uri="{FF2B5EF4-FFF2-40B4-BE49-F238E27FC236}">
                <a16:creationId xmlns:a16="http://schemas.microsoft.com/office/drawing/2014/main" id="{03DE19D6-E87A-4311-82D7-B854274B062F}"/>
              </a:ext>
            </a:extLst>
          </p:cNvPr>
          <p:cNvSpPr>
            <a:spLocks noGrp="1"/>
          </p:cNvSpPr>
          <p:nvPr/>
        </p:nvSpPr>
        <p:spPr>
          <a:xfrm>
            <a:off x="7448550" y="3048000"/>
            <a:ext cx="1543050" cy="190500"/>
          </a:xfrm>
          <a:prstGeom prst="rect">
            <a:avLst/>
          </a:prstGeom>
          <a:noFill/>
          <a:ln w="0">
            <a:noFill/>
            <a:prstDash val="solid"/>
          </a:ln>
        </p:spPr>
        <p:txBody>
          <a:bodyPr wrap="square" lIns="28575" tIns="19050" rIns="28575" bIns="19050" anchor="ctr">
            <a:normAutofit/>
          </a:bodyPr>
          <a:lstStyle/>
          <a:p>
            <a:pPr algn="ctr">
              <a:lnSpc>
                <a:spcPct val="100000"/>
              </a:lnSpc>
              <a:buNone/>
              <a:defRPr sz="788" b="1" i="0">
                <a:solidFill>
                  <a:srgbClr val="777777"/>
                </a:solidFill>
                <a:latin typeface="Yu Gothic"/>
                <a:ea typeface="Yu Gothic"/>
                <a:cs typeface="Yu Gothic"/>
              </a:defRPr>
            </a:pPr>
            <a:r>
              <a:rPr sz="788" b="1" i="0">
                <a:solidFill>
                  <a:srgbClr val="777777"/>
                </a:solidFill>
                <a:latin typeface="Yu Gothic"/>
                <a:ea typeface="Yu Gothic"/>
                <a:cs typeface="Yu Gothic"/>
              </a:rPr>
              <a:t>χ² 99.99% threshold</a:t>
            </a:r>
          </a:p>
        </p:txBody>
      </p:sp>
      <p:sp>
        <p:nvSpPr>
          <p:cNvPr id="30" name="正方形/長方形 29">
            <a:extLst>
              <a:ext uri="{FF2B5EF4-FFF2-40B4-BE49-F238E27FC236}">
                <a16:creationId xmlns:a16="http://schemas.microsoft.com/office/drawing/2014/main" id="{A8AD5569-EE38-4FAA-BAD4-12EB0D043EF3}"/>
              </a:ext>
            </a:extLst>
          </p:cNvPr>
          <p:cNvSpPr>
            <a:spLocks noGrp="1"/>
          </p:cNvSpPr>
          <p:nvPr/>
        </p:nvSpPr>
        <p:spPr>
          <a:xfrm>
            <a:off x="7258050" y="3286125"/>
            <a:ext cx="3429000" cy="219075"/>
          </a:xfrm>
          <a:prstGeom prst="rect">
            <a:avLst/>
          </a:prstGeom>
          <a:noFill/>
          <a:ln w="0">
            <a:noFill/>
            <a:prstDash val="solid"/>
          </a:ln>
        </p:spPr>
        <p:txBody>
          <a:bodyPr wrap="square" lIns="28575" tIns="19050" rIns="28575" bIns="19050" anchor="ctr">
            <a:normAutofit/>
          </a:bodyPr>
          <a:lstStyle/>
          <a:p>
            <a:pPr algn="ctr">
              <a:lnSpc>
                <a:spcPct val="100000"/>
              </a:lnSpc>
              <a:buNone/>
              <a:defRPr sz="938" b="1" i="0">
                <a:solidFill>
                  <a:srgbClr val="007FA8"/>
                </a:solidFill>
                <a:latin typeface="Yu Gothic"/>
                <a:ea typeface="Yu Gothic"/>
                <a:cs typeface="Yu Gothic"/>
              </a:defRPr>
            </a:pPr>
            <a:r>
              <a:rPr sz="938" b="1" i="0">
                <a:solidFill>
                  <a:srgbClr val="007FA8"/>
                </a:solidFill>
                <a:latin typeface="Yu Gothic"/>
                <a:ea typeface="Yu Gothic"/>
                <a:cs typeface="Yu Gothic"/>
              </a:rPr>
              <a:t>1 dof  15.14   /   2 dof  18.42   /   3 dof  21.11</a:t>
            </a:r>
          </a:p>
        </p:txBody>
      </p:sp>
      <p:sp>
        <p:nvSpPr>
          <p:cNvPr id="31" name="正方形/長方形 30">
            <a:extLst>
              <a:ext uri="{FF2B5EF4-FFF2-40B4-BE49-F238E27FC236}">
                <a16:creationId xmlns:a16="http://schemas.microsoft.com/office/drawing/2014/main" id="{C8F19CDE-9D9C-4BFB-BAC9-89FE7FA4C69C}"/>
              </a:ext>
            </a:extLst>
          </p:cNvPr>
          <p:cNvSpPr>
            <a:spLocks noGrp="1"/>
          </p:cNvSpPr>
          <p:nvPr/>
        </p:nvSpPr>
        <p:spPr>
          <a:xfrm>
            <a:off x="552450" y="3981450"/>
            <a:ext cx="2000250" cy="285750"/>
          </a:xfrm>
          <a:prstGeom prst="rect">
            <a:avLst/>
          </a:prstGeom>
          <a:noFill/>
          <a:ln w="0">
            <a:noFill/>
            <a:prstDash val="solid"/>
          </a:ln>
        </p:spPr>
        <p:txBody>
          <a:bodyPr wrap="square" lIns="28575" tIns="19050" rIns="28575" bIns="19050" anchor="ctr">
            <a:normAutofit/>
          </a:bodyPr>
          <a:lstStyle/>
          <a:p>
            <a:pPr algn="l">
              <a:lnSpc>
                <a:spcPct val="100000"/>
              </a:lnSpc>
              <a:buNone/>
              <a:defRPr sz="1350" b="1" i="0">
                <a:solidFill>
                  <a:srgbClr val="3F3F3F"/>
                </a:solidFill>
                <a:latin typeface="Yu Gothic"/>
                <a:ea typeface="Yu Gothic"/>
                <a:cs typeface="Yu Gothic"/>
              </a:defRPr>
            </a:pPr>
            <a:r>
              <a:rPr sz="1350" b="1" i="0">
                <a:solidFill>
                  <a:srgbClr val="3F3F3F"/>
                </a:solidFill>
                <a:latin typeface="Yu Gothic"/>
                <a:ea typeface="Yu Gothic"/>
                <a:cs typeface="Yu Gothic"/>
              </a:rPr>
              <a:t>偏差の解釈</a:t>
            </a:r>
          </a:p>
        </p:txBody>
      </p:sp>
      <p:sp>
        <p:nvSpPr>
          <p:cNvPr id="32" name="正方形/長方形 31">
            <a:extLst>
              <a:ext uri="{FF2B5EF4-FFF2-40B4-BE49-F238E27FC236}">
                <a16:creationId xmlns:a16="http://schemas.microsoft.com/office/drawing/2014/main" id="{213237EC-A8DF-4570-903E-0FDEEB2F997F}"/>
              </a:ext>
            </a:extLst>
          </p:cNvPr>
          <p:cNvSpPr>
            <a:spLocks noGrp="1"/>
          </p:cNvSpPr>
          <p:nvPr/>
        </p:nvSpPr>
        <p:spPr>
          <a:xfrm>
            <a:off x="552450" y="4371975"/>
            <a:ext cx="3505200" cy="1438275"/>
          </a:xfrm>
          <a:prstGeom prst="rect">
            <a:avLst/>
          </a:prstGeom>
          <a:solidFill>
            <a:srgbClr val="FFFFFF"/>
          </a:solidFill>
          <a:ln w="9525">
            <a:solidFill>
              <a:srgbClr val="D6D6D6"/>
            </a:solidFill>
            <a:prstDash val="solid"/>
          </a:ln>
        </p:spPr>
      </p:sp>
      <p:sp>
        <p:nvSpPr>
          <p:cNvPr id="33" name="正方形/長方形 32">
            <a:extLst>
              <a:ext uri="{FF2B5EF4-FFF2-40B4-BE49-F238E27FC236}">
                <a16:creationId xmlns:a16="http://schemas.microsoft.com/office/drawing/2014/main" id="{07322C83-1A09-40AE-B6AD-C2B3370CE866}"/>
              </a:ext>
            </a:extLst>
          </p:cNvPr>
          <p:cNvSpPr>
            <a:spLocks noGrp="1"/>
          </p:cNvSpPr>
          <p:nvPr/>
        </p:nvSpPr>
        <p:spPr>
          <a:xfrm>
            <a:off x="552450" y="4371975"/>
            <a:ext cx="76200" cy="1438275"/>
          </a:xfrm>
          <a:prstGeom prst="rect">
            <a:avLst/>
          </a:prstGeom>
          <a:solidFill>
            <a:srgbClr val="7B2DAF"/>
          </a:solidFill>
          <a:ln w="0">
            <a:noFill/>
            <a:prstDash val="solid"/>
          </a:ln>
        </p:spPr>
      </p:sp>
      <p:sp>
        <p:nvSpPr>
          <p:cNvPr id="34" name="正方形/長方形 33">
            <a:extLst>
              <a:ext uri="{FF2B5EF4-FFF2-40B4-BE49-F238E27FC236}">
                <a16:creationId xmlns:a16="http://schemas.microsoft.com/office/drawing/2014/main" id="{A416EB68-DCAE-4E09-ABA2-4001079E2A45}"/>
              </a:ext>
            </a:extLst>
          </p:cNvPr>
          <p:cNvSpPr>
            <a:spLocks noGrp="1"/>
          </p:cNvSpPr>
          <p:nvPr/>
        </p:nvSpPr>
        <p:spPr>
          <a:xfrm>
            <a:off x="762000" y="4514850"/>
            <a:ext cx="3105150" cy="257175"/>
          </a:xfrm>
          <a:prstGeom prst="rect">
            <a:avLst/>
          </a:prstGeom>
          <a:noFill/>
          <a:ln w="0">
            <a:noFill/>
            <a:prstDash val="solid"/>
          </a:ln>
        </p:spPr>
        <p:txBody>
          <a:bodyPr wrap="square" lIns="28575" tIns="19050" rIns="28575" bIns="19050" anchor="ctr">
            <a:normAutofit/>
          </a:bodyPr>
          <a:lstStyle/>
          <a:p>
            <a:pPr algn="l">
              <a:lnSpc>
                <a:spcPct val="100000"/>
              </a:lnSpc>
              <a:buNone/>
              <a:defRPr sz="1125" b="1" i="0">
                <a:solidFill>
                  <a:srgbClr val="7B2DAF"/>
                </a:solidFill>
                <a:latin typeface="Cambria Math"/>
                <a:ea typeface="Cambria Math"/>
                <a:cs typeface="Cambria Math"/>
              </a:defRPr>
            </a:pPr>
            <a:r>
              <a:rPr sz="1125" b="1" i="0">
                <a:solidFill>
                  <a:srgbClr val="7B2DAF"/>
                </a:solidFill>
                <a:latin typeface="Cambria Math"/>
                <a:ea typeface="Cambria Math"/>
                <a:cs typeface="Cambria Math"/>
              </a:rPr>
              <a:t>β rises / d ≈ 0</a:t>
            </a:r>
          </a:p>
        </p:txBody>
      </p:sp>
      <p:sp>
        <p:nvSpPr>
          <p:cNvPr id="35" name="正方形/長方形 34">
            <a:extLst>
              <a:ext uri="{FF2B5EF4-FFF2-40B4-BE49-F238E27FC236}">
                <a16:creationId xmlns:a16="http://schemas.microsoft.com/office/drawing/2014/main" id="{28264BEF-AED9-43C5-8E07-4495098C6221}"/>
              </a:ext>
            </a:extLst>
          </p:cNvPr>
          <p:cNvSpPr>
            <a:spLocks noGrp="1"/>
          </p:cNvSpPr>
          <p:nvPr/>
        </p:nvSpPr>
        <p:spPr>
          <a:xfrm>
            <a:off x="762000" y="4848225"/>
            <a:ext cx="3105150" cy="276225"/>
          </a:xfrm>
          <a:prstGeom prst="rect">
            <a:avLst/>
          </a:prstGeom>
          <a:noFill/>
          <a:ln w="0">
            <a:noFill/>
            <a:prstDash val="solid"/>
          </a:ln>
        </p:spPr>
        <p:txBody>
          <a:bodyPr wrap="square" lIns="28575" tIns="19050" rIns="28575" bIns="19050" anchor="ctr">
            <a:normAutofit/>
          </a:bodyPr>
          <a:lstStyle/>
          <a:p>
            <a:pPr algn="l">
              <a:lnSpc>
                <a:spcPct val="100000"/>
              </a:lnSpc>
              <a:buNone/>
              <a:defRPr sz="1050" b="1" i="0">
                <a:solidFill>
                  <a:srgbClr val="3F3F3F"/>
                </a:solidFill>
                <a:latin typeface="Yu Gothic"/>
                <a:ea typeface="Yu Gothic"/>
                <a:cs typeface="Yu Gothic"/>
              </a:defRPr>
            </a:pPr>
            <a:r>
              <a:rPr sz="1050" b="1" i="0">
                <a:solidFill>
                  <a:srgbClr val="3F3F3F"/>
                </a:solidFill>
                <a:latin typeface="Yu Gothic"/>
                <a:ea typeface="Yu Gothic"/>
                <a:cs typeface="Yu Gothic"/>
              </a:rPr>
              <a:t>sensor offset・校正ずれ</a:t>
            </a:r>
          </a:p>
        </p:txBody>
      </p:sp>
      <p:sp>
        <p:nvSpPr>
          <p:cNvPr id="36" name="正方形/長方形 35">
            <a:extLst>
              <a:ext uri="{FF2B5EF4-FFF2-40B4-BE49-F238E27FC236}">
                <a16:creationId xmlns:a16="http://schemas.microsoft.com/office/drawing/2014/main" id="{F73EE48C-7FE7-4389-A13F-C90DC1634EC9}"/>
              </a:ext>
            </a:extLst>
          </p:cNvPr>
          <p:cNvSpPr>
            <a:spLocks noGrp="1"/>
          </p:cNvSpPr>
          <p:nvPr/>
        </p:nvSpPr>
        <p:spPr>
          <a:xfrm>
            <a:off x="762000" y="5219700"/>
            <a:ext cx="3105150" cy="400050"/>
          </a:xfrm>
          <a:prstGeom prst="rect">
            <a:avLst/>
          </a:prstGeom>
          <a:noFill/>
          <a:ln w="0">
            <a:noFill/>
            <a:prstDash val="solid"/>
          </a:ln>
        </p:spPr>
        <p:txBody>
          <a:bodyPr wrap="square" lIns="28575" tIns="19050" rIns="28575" bIns="19050" anchor="t">
            <a:normAutofit/>
          </a:bodyPr>
          <a:lstStyle/>
          <a:p>
            <a:pPr algn="l">
              <a:lnSpc>
                <a:spcPct val="108000"/>
              </a:lnSpc>
              <a:buNone/>
              <a:defRPr sz="863" b="0" i="0">
                <a:solidFill>
                  <a:srgbClr val="5B5B5B"/>
                </a:solidFill>
                <a:latin typeface="Yu Gothic"/>
                <a:ea typeface="Yu Gothic"/>
                <a:cs typeface="Yu Gothic"/>
              </a:defRPr>
            </a:pPr>
            <a:r>
              <a:rPr sz="863" b="0" i="0">
                <a:solidFill>
                  <a:srgbClr val="5B5B5B"/>
                </a:solidFill>
                <a:latin typeface="Yu Gothic"/>
                <a:ea typeface="Yu Gothic"/>
                <a:cs typeface="Yu Gothic"/>
              </a:rPr>
              <a:t>他sensorとの相対整合、gauge固定</a:t>
            </a:r>
          </a:p>
        </p:txBody>
      </p:sp>
      <p:sp>
        <p:nvSpPr>
          <p:cNvPr id="37" name="正方形/長方形 36">
            <a:extLst>
              <a:ext uri="{FF2B5EF4-FFF2-40B4-BE49-F238E27FC236}">
                <a16:creationId xmlns:a16="http://schemas.microsoft.com/office/drawing/2014/main" id="{C3141B55-EF56-4F18-827E-7A7A47C668EF}"/>
              </a:ext>
            </a:extLst>
          </p:cNvPr>
          <p:cNvSpPr>
            <a:spLocks noGrp="1"/>
          </p:cNvSpPr>
          <p:nvPr/>
        </p:nvSpPr>
        <p:spPr>
          <a:xfrm>
            <a:off x="4248150" y="4371975"/>
            <a:ext cx="3505200" cy="1438275"/>
          </a:xfrm>
          <a:prstGeom prst="rect">
            <a:avLst/>
          </a:prstGeom>
          <a:solidFill>
            <a:srgbClr val="FFFFFF"/>
          </a:solidFill>
          <a:ln w="9525">
            <a:solidFill>
              <a:srgbClr val="D6D6D6"/>
            </a:solidFill>
            <a:prstDash val="solid"/>
          </a:ln>
        </p:spPr>
      </p:sp>
      <p:sp>
        <p:nvSpPr>
          <p:cNvPr id="38" name="正方形/長方形 37">
            <a:extLst>
              <a:ext uri="{FF2B5EF4-FFF2-40B4-BE49-F238E27FC236}">
                <a16:creationId xmlns:a16="http://schemas.microsoft.com/office/drawing/2014/main" id="{C766A32B-6D4D-4807-A402-AA29775EA5FB}"/>
              </a:ext>
            </a:extLst>
          </p:cNvPr>
          <p:cNvSpPr>
            <a:spLocks noGrp="1"/>
          </p:cNvSpPr>
          <p:nvPr/>
        </p:nvSpPr>
        <p:spPr>
          <a:xfrm>
            <a:off x="4248150" y="4371975"/>
            <a:ext cx="76200" cy="1438275"/>
          </a:xfrm>
          <a:prstGeom prst="rect">
            <a:avLst/>
          </a:prstGeom>
          <a:solidFill>
            <a:srgbClr val="E5A900"/>
          </a:solidFill>
          <a:ln w="0">
            <a:noFill/>
            <a:prstDash val="solid"/>
          </a:ln>
        </p:spPr>
      </p:sp>
      <p:sp>
        <p:nvSpPr>
          <p:cNvPr id="39" name="正方形/長方形 38">
            <a:extLst>
              <a:ext uri="{FF2B5EF4-FFF2-40B4-BE49-F238E27FC236}">
                <a16:creationId xmlns:a16="http://schemas.microsoft.com/office/drawing/2014/main" id="{CF31E58D-EA1A-4158-AE64-16D68428BFC9}"/>
              </a:ext>
            </a:extLst>
          </p:cNvPr>
          <p:cNvSpPr>
            <a:spLocks noGrp="1"/>
          </p:cNvSpPr>
          <p:nvPr/>
        </p:nvSpPr>
        <p:spPr>
          <a:xfrm>
            <a:off x="4457700" y="4514850"/>
            <a:ext cx="3105150" cy="257175"/>
          </a:xfrm>
          <a:prstGeom prst="rect">
            <a:avLst/>
          </a:prstGeom>
          <a:noFill/>
          <a:ln w="0">
            <a:noFill/>
            <a:prstDash val="solid"/>
          </a:ln>
        </p:spPr>
        <p:txBody>
          <a:bodyPr wrap="square" lIns="28575" tIns="19050" rIns="28575" bIns="19050" anchor="ctr">
            <a:normAutofit/>
          </a:bodyPr>
          <a:lstStyle/>
          <a:p>
            <a:pPr algn="l">
              <a:lnSpc>
                <a:spcPct val="100000"/>
              </a:lnSpc>
              <a:buNone/>
              <a:defRPr sz="1125" b="1" i="0">
                <a:solidFill>
                  <a:srgbClr val="E5A900"/>
                </a:solidFill>
                <a:latin typeface="Cambria Math"/>
                <a:ea typeface="Cambria Math"/>
                <a:cs typeface="Cambria Math"/>
              </a:defRPr>
            </a:pPr>
            <a:r>
              <a:rPr sz="1125" b="1" i="0">
                <a:solidFill>
                  <a:srgbClr val="E5A900"/>
                </a:solidFill>
                <a:latin typeface="Cambria Math"/>
                <a:ea typeface="Cambria Math"/>
                <a:cs typeface="Cambria Math"/>
              </a:rPr>
              <a:t>d rises / β small</a:t>
            </a:r>
          </a:p>
        </p:txBody>
      </p:sp>
      <p:sp>
        <p:nvSpPr>
          <p:cNvPr id="40" name="正方形/長方形 39">
            <a:extLst>
              <a:ext uri="{FF2B5EF4-FFF2-40B4-BE49-F238E27FC236}">
                <a16:creationId xmlns:a16="http://schemas.microsoft.com/office/drawing/2014/main" id="{F218024C-A9D6-46F4-80D0-900DB69D1FDB}"/>
              </a:ext>
            </a:extLst>
          </p:cNvPr>
          <p:cNvSpPr>
            <a:spLocks noGrp="1"/>
          </p:cNvSpPr>
          <p:nvPr/>
        </p:nvSpPr>
        <p:spPr>
          <a:xfrm>
            <a:off x="4457700" y="4848225"/>
            <a:ext cx="3105150" cy="276225"/>
          </a:xfrm>
          <a:prstGeom prst="rect">
            <a:avLst/>
          </a:prstGeom>
          <a:noFill/>
          <a:ln w="0">
            <a:noFill/>
            <a:prstDash val="solid"/>
          </a:ln>
        </p:spPr>
        <p:txBody>
          <a:bodyPr wrap="square" lIns="28575" tIns="19050" rIns="28575" bIns="19050" anchor="ctr">
            <a:normAutofit/>
          </a:bodyPr>
          <a:lstStyle/>
          <a:p>
            <a:pPr algn="l">
              <a:lnSpc>
                <a:spcPct val="100000"/>
              </a:lnSpc>
              <a:buNone/>
              <a:defRPr sz="1050" b="1" i="0">
                <a:solidFill>
                  <a:srgbClr val="3F3F3F"/>
                </a:solidFill>
                <a:latin typeface="Yu Gothic"/>
                <a:ea typeface="Yu Gothic"/>
                <a:cs typeface="Yu Gothic"/>
              </a:defRPr>
            </a:pPr>
            <a:r>
              <a:rPr sz="1050" b="1" i="0">
                <a:solidFill>
                  <a:srgbClr val="3F3F3F"/>
                </a:solidFill>
                <a:latin typeface="Yu Gothic"/>
                <a:ea typeface="Yu Gothic"/>
                <a:cs typeface="Yu Gothic"/>
              </a:rPr>
              <a:t>未指令発熱・冷却損失</a:t>
            </a:r>
          </a:p>
        </p:txBody>
      </p:sp>
      <p:sp>
        <p:nvSpPr>
          <p:cNvPr id="41" name="正方形/長方形 40">
            <a:extLst>
              <a:ext uri="{FF2B5EF4-FFF2-40B4-BE49-F238E27FC236}">
                <a16:creationId xmlns:a16="http://schemas.microsoft.com/office/drawing/2014/main" id="{0C3E07B3-1F3F-4AF1-83AA-9A727FF6F854}"/>
              </a:ext>
            </a:extLst>
          </p:cNvPr>
          <p:cNvSpPr>
            <a:spLocks noGrp="1"/>
          </p:cNvSpPr>
          <p:nvPr/>
        </p:nvSpPr>
        <p:spPr>
          <a:xfrm>
            <a:off x="4457700" y="5219700"/>
            <a:ext cx="3105150" cy="400050"/>
          </a:xfrm>
          <a:prstGeom prst="rect">
            <a:avLst/>
          </a:prstGeom>
          <a:noFill/>
          <a:ln w="0">
            <a:noFill/>
            <a:prstDash val="solid"/>
          </a:ln>
        </p:spPr>
        <p:txBody>
          <a:bodyPr wrap="square" lIns="28575" tIns="19050" rIns="28575" bIns="19050" anchor="t">
            <a:normAutofit/>
          </a:bodyPr>
          <a:lstStyle/>
          <a:p>
            <a:pPr algn="l">
              <a:lnSpc>
                <a:spcPct val="108000"/>
              </a:lnSpc>
              <a:buNone/>
              <a:defRPr sz="863" b="0" i="0">
                <a:solidFill>
                  <a:srgbClr val="5B5B5B"/>
                </a:solidFill>
                <a:latin typeface="Yu Gothic"/>
                <a:ea typeface="Yu Gothic"/>
                <a:cs typeface="Yu Gothic"/>
              </a:defRPr>
            </a:pPr>
            <a:r>
              <a:rPr sz="863" b="0" i="0">
                <a:solidFill>
                  <a:srgbClr val="5B5B5B"/>
                </a:solidFill>
                <a:latin typeface="Yu Gothic"/>
                <a:ea typeface="Yu Gothic"/>
                <a:cs typeface="Yu Gothic"/>
              </a:rPr>
              <a:t>複数nodeの整合した温度上昇</a:t>
            </a:r>
          </a:p>
        </p:txBody>
      </p:sp>
      <p:sp>
        <p:nvSpPr>
          <p:cNvPr id="42" name="正方形/長方形 41">
            <a:extLst>
              <a:ext uri="{FF2B5EF4-FFF2-40B4-BE49-F238E27FC236}">
                <a16:creationId xmlns:a16="http://schemas.microsoft.com/office/drawing/2014/main" id="{2D396B2A-3DAA-4CD2-8893-C8921CDFCA98}"/>
              </a:ext>
            </a:extLst>
          </p:cNvPr>
          <p:cNvSpPr>
            <a:spLocks noGrp="1"/>
          </p:cNvSpPr>
          <p:nvPr/>
        </p:nvSpPr>
        <p:spPr>
          <a:xfrm>
            <a:off x="7943850" y="4371975"/>
            <a:ext cx="3505200" cy="1438275"/>
          </a:xfrm>
          <a:prstGeom prst="rect">
            <a:avLst/>
          </a:prstGeom>
          <a:solidFill>
            <a:srgbClr val="FFFFFF"/>
          </a:solidFill>
          <a:ln w="9525">
            <a:solidFill>
              <a:srgbClr val="D6D6D6"/>
            </a:solidFill>
            <a:prstDash val="solid"/>
          </a:ln>
        </p:spPr>
      </p:sp>
      <p:sp>
        <p:nvSpPr>
          <p:cNvPr id="43" name="正方形/長方形 42">
            <a:extLst>
              <a:ext uri="{FF2B5EF4-FFF2-40B4-BE49-F238E27FC236}">
                <a16:creationId xmlns:a16="http://schemas.microsoft.com/office/drawing/2014/main" id="{F1ED345F-6C68-4837-82A9-D32EA6955414}"/>
              </a:ext>
            </a:extLst>
          </p:cNvPr>
          <p:cNvSpPr>
            <a:spLocks noGrp="1"/>
          </p:cNvSpPr>
          <p:nvPr/>
        </p:nvSpPr>
        <p:spPr>
          <a:xfrm>
            <a:off x="7943850" y="4371975"/>
            <a:ext cx="76200" cy="1438275"/>
          </a:xfrm>
          <a:prstGeom prst="rect">
            <a:avLst/>
          </a:prstGeom>
          <a:solidFill>
            <a:srgbClr val="C4493D"/>
          </a:solidFill>
          <a:ln w="0">
            <a:noFill/>
            <a:prstDash val="solid"/>
          </a:ln>
        </p:spPr>
      </p:sp>
      <p:sp>
        <p:nvSpPr>
          <p:cNvPr id="44" name="正方形/長方形 43">
            <a:extLst>
              <a:ext uri="{FF2B5EF4-FFF2-40B4-BE49-F238E27FC236}">
                <a16:creationId xmlns:a16="http://schemas.microsoft.com/office/drawing/2014/main" id="{E1DCF9E8-CE90-477C-980B-009CF2AA4F24}"/>
              </a:ext>
            </a:extLst>
          </p:cNvPr>
          <p:cNvSpPr>
            <a:spLocks noGrp="1"/>
          </p:cNvSpPr>
          <p:nvPr/>
        </p:nvSpPr>
        <p:spPr>
          <a:xfrm>
            <a:off x="8153400" y="4514850"/>
            <a:ext cx="3105150" cy="257175"/>
          </a:xfrm>
          <a:prstGeom prst="rect">
            <a:avLst/>
          </a:prstGeom>
          <a:noFill/>
          <a:ln w="0">
            <a:noFill/>
            <a:prstDash val="solid"/>
          </a:ln>
        </p:spPr>
        <p:txBody>
          <a:bodyPr wrap="square" lIns="28575" tIns="19050" rIns="28575" bIns="19050" anchor="ctr">
            <a:normAutofit/>
          </a:bodyPr>
          <a:lstStyle/>
          <a:p>
            <a:pPr algn="l">
              <a:lnSpc>
                <a:spcPct val="100000"/>
              </a:lnSpc>
              <a:buNone/>
              <a:defRPr sz="1125" b="1" i="0">
                <a:solidFill>
                  <a:srgbClr val="C4493D"/>
                </a:solidFill>
                <a:latin typeface="Cambria Math"/>
                <a:ea typeface="Cambria Math"/>
                <a:cs typeface="Cambria Math"/>
              </a:defRPr>
            </a:pPr>
            <a:r>
              <a:rPr sz="1125" b="1" i="0">
                <a:solidFill>
                  <a:srgbClr val="C4493D"/>
                </a:solidFill>
                <a:latin typeface="Cambria Math"/>
                <a:ea typeface="Cambria Math"/>
                <a:cs typeface="Cambria Math"/>
              </a:rPr>
              <a:t>NIS only</a:t>
            </a:r>
          </a:p>
        </p:txBody>
      </p:sp>
      <p:sp>
        <p:nvSpPr>
          <p:cNvPr id="45" name="正方形/長方形 44">
            <a:extLst>
              <a:ext uri="{FF2B5EF4-FFF2-40B4-BE49-F238E27FC236}">
                <a16:creationId xmlns:a16="http://schemas.microsoft.com/office/drawing/2014/main" id="{BD3E72FF-B444-4B59-A83B-B2A4784DB9CE}"/>
              </a:ext>
            </a:extLst>
          </p:cNvPr>
          <p:cNvSpPr>
            <a:spLocks noGrp="1"/>
          </p:cNvSpPr>
          <p:nvPr/>
        </p:nvSpPr>
        <p:spPr>
          <a:xfrm>
            <a:off x="8153400" y="4848225"/>
            <a:ext cx="3105150" cy="276225"/>
          </a:xfrm>
          <a:prstGeom prst="rect">
            <a:avLst/>
          </a:prstGeom>
          <a:noFill/>
          <a:ln w="0">
            <a:noFill/>
            <a:prstDash val="solid"/>
          </a:ln>
        </p:spPr>
        <p:txBody>
          <a:bodyPr wrap="square" lIns="28575" tIns="19050" rIns="28575" bIns="19050" anchor="ctr">
            <a:normAutofit/>
          </a:bodyPr>
          <a:lstStyle/>
          <a:p>
            <a:pPr algn="l">
              <a:lnSpc>
                <a:spcPct val="100000"/>
              </a:lnSpc>
              <a:buNone/>
              <a:defRPr sz="1050" b="1" i="0">
                <a:solidFill>
                  <a:srgbClr val="3F3F3F"/>
                </a:solidFill>
                <a:latin typeface="Yu Gothic"/>
                <a:ea typeface="Yu Gothic"/>
                <a:cs typeface="Yu Gothic"/>
              </a:defRPr>
            </a:pPr>
            <a:r>
              <a:rPr sz="1050" b="1" i="0">
                <a:solidFill>
                  <a:srgbClr val="3F3F3F"/>
                </a:solidFill>
                <a:latin typeface="Yu Gothic"/>
                <a:ea typeface="Yu Gothic"/>
                <a:cs typeface="Yu Gothic"/>
              </a:rPr>
              <a:t>model mismatch・同期ずれ</a:t>
            </a:r>
          </a:p>
        </p:txBody>
      </p:sp>
      <p:sp>
        <p:nvSpPr>
          <p:cNvPr id="46" name="正方形/長方形 45">
            <a:extLst>
              <a:ext uri="{FF2B5EF4-FFF2-40B4-BE49-F238E27FC236}">
                <a16:creationId xmlns:a16="http://schemas.microsoft.com/office/drawing/2014/main" id="{9FC9FD64-9515-4331-B313-02BF8AC82DE6}"/>
              </a:ext>
            </a:extLst>
          </p:cNvPr>
          <p:cNvSpPr>
            <a:spLocks noGrp="1"/>
          </p:cNvSpPr>
          <p:nvPr/>
        </p:nvSpPr>
        <p:spPr>
          <a:xfrm>
            <a:off x="8153400" y="5219700"/>
            <a:ext cx="3105150" cy="400050"/>
          </a:xfrm>
          <a:prstGeom prst="rect">
            <a:avLst/>
          </a:prstGeom>
          <a:noFill/>
          <a:ln w="0">
            <a:noFill/>
            <a:prstDash val="solid"/>
          </a:ln>
        </p:spPr>
        <p:txBody>
          <a:bodyPr wrap="square" lIns="28575" tIns="19050" rIns="28575" bIns="19050" anchor="t">
            <a:normAutofit/>
          </a:bodyPr>
          <a:lstStyle/>
          <a:p>
            <a:pPr algn="l">
              <a:lnSpc>
                <a:spcPct val="108000"/>
              </a:lnSpc>
              <a:buNone/>
              <a:defRPr sz="863" b="0" i="0">
                <a:solidFill>
                  <a:srgbClr val="5B5B5B"/>
                </a:solidFill>
                <a:latin typeface="Yu Gothic"/>
                <a:ea typeface="Yu Gothic"/>
                <a:cs typeface="Yu Gothic"/>
              </a:defRPr>
            </a:pPr>
            <a:r>
              <a:rPr sz="863" b="0" i="0">
                <a:solidFill>
                  <a:srgbClr val="5B5B5B"/>
                </a:solidFill>
                <a:latin typeface="Yu Gothic"/>
                <a:ea typeface="Yu Gothic"/>
                <a:cs typeface="Yu Gothic"/>
              </a:rPr>
              <a:t>持続性、自己相関、運転域で再校正</a:t>
            </a:r>
          </a:p>
        </p:txBody>
      </p:sp>
      <p:sp>
        <p:nvSpPr>
          <p:cNvPr id="47" name="正方形/長方形 46">
            <a:extLst>
              <a:ext uri="{FF2B5EF4-FFF2-40B4-BE49-F238E27FC236}">
                <a16:creationId xmlns:a16="http://schemas.microsoft.com/office/drawing/2014/main" id="{A3C6819C-2EA5-4EEF-9BF0-3C094B8C2352}"/>
              </a:ext>
            </a:extLst>
          </p:cNvPr>
          <p:cNvSpPr>
            <a:spLocks noGrp="1"/>
          </p:cNvSpPr>
          <p:nvPr/>
        </p:nvSpPr>
        <p:spPr>
          <a:xfrm>
            <a:off x="552450" y="5981700"/>
            <a:ext cx="11087100" cy="228600"/>
          </a:xfrm>
          <a:prstGeom prst="rect">
            <a:avLst/>
          </a:prstGeom>
          <a:noFill/>
          <a:ln w="0">
            <a:noFill/>
            <a:prstDash val="solid"/>
          </a:ln>
        </p:spPr>
        <p:txBody>
          <a:bodyPr wrap="square" lIns="28575" tIns="19050" rIns="28575" bIns="19050" anchor="ctr">
            <a:normAutofit/>
          </a:bodyPr>
          <a:lstStyle/>
          <a:p>
            <a:pPr algn="ctr">
              <a:lnSpc>
                <a:spcPct val="100000"/>
              </a:lnSpc>
              <a:buNone/>
              <a:defRPr sz="863" b="1" i="0">
                <a:solidFill>
                  <a:srgbClr val="5B5B5B"/>
                </a:solidFill>
                <a:latin typeface="Yu Gothic"/>
                <a:ea typeface="Yu Gothic"/>
                <a:cs typeface="Yu Gothic"/>
              </a:defRPr>
            </a:pPr>
            <a:r>
              <a:rPr sz="863" b="1" i="0">
                <a:solidFill>
                  <a:srgbClr val="5B5B5B"/>
                </a:solidFill>
                <a:latin typeface="Yu Gothic"/>
                <a:ea typeface="Yu Gothic"/>
                <a:cs typeface="Yu Gothic"/>
              </a:rPr>
              <a:t>運用閾値はχ²理論値を初期値とし、正常保持データの自己相関・multiple testing・model errorで校正する。</a:t>
            </a:r>
          </a:p>
        </p:txBody>
      </p:sp>
    </p:spTree>
    <p:extLst>
      <p:ext uri="{BB962C8B-B14F-4D97-AF65-F5344CB8AC3E}">
        <p14:creationId xmlns:p14="http://schemas.microsoft.com/office/powerpoint/2010/main" val="4741947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4" name="正方形/長方形 63">
            <a:extLst>
              <a:ext uri="{FF2B5EF4-FFF2-40B4-BE49-F238E27FC236}">
                <a16:creationId xmlns:a16="http://schemas.microsoft.com/office/drawing/2014/main" id="{FA745DFE-C30D-4D96-AC64-F8C4475B4BC3}"/>
              </a:ext>
            </a:extLst>
          </p:cNvPr>
          <p:cNvSpPr>
            <a:spLocks noGrp="1"/>
          </p:cNvSpPr>
          <p:nvPr/>
        </p:nvSpPr>
        <p:spPr>
          <a:xfrm>
            <a:off x="552450" y="190500"/>
            <a:ext cx="76200" cy="142875"/>
          </a:xfrm>
          <a:prstGeom prst="rect">
            <a:avLst/>
          </a:prstGeom>
          <a:solidFill>
            <a:srgbClr val="76BE18"/>
          </a:solidFill>
          <a:ln w="0">
            <a:noFill/>
            <a:prstDash val="solid"/>
          </a:ln>
        </p:spPr>
      </p:sp>
      <p:sp>
        <p:nvSpPr>
          <p:cNvPr id="2" name="正方形/長方形 1">
            <a:extLst>
              <a:ext uri="{FF2B5EF4-FFF2-40B4-BE49-F238E27FC236}">
                <a16:creationId xmlns:a16="http://schemas.microsoft.com/office/drawing/2014/main" id="{5884CCFD-AD60-4853-AAB7-C11FA1CB2B49}"/>
              </a:ext>
            </a:extLst>
          </p:cNvPr>
          <p:cNvSpPr>
            <a:spLocks noGrp="1"/>
          </p:cNvSpPr>
          <p:nvPr/>
        </p:nvSpPr>
        <p:spPr>
          <a:xfrm>
            <a:off x="704850" y="161925"/>
            <a:ext cx="3429000" cy="190500"/>
          </a:xfrm>
          <a:prstGeom prst="rect">
            <a:avLst/>
          </a:prstGeom>
          <a:noFill/>
          <a:ln w="0">
            <a:noFill/>
            <a:prstDash val="solid"/>
          </a:ln>
        </p:spPr>
        <p:txBody>
          <a:bodyPr wrap="none" lIns="28575" tIns="19050" rIns="28575" bIns="19050" anchor="ctr">
            <a:noAutofit/>
          </a:bodyPr>
          <a:lstStyle/>
          <a:p>
            <a:pPr algn="l">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WORKFLOW / EVALUATE</a:t>
            </a:r>
          </a:p>
        </p:txBody>
      </p:sp>
      <p:sp>
        <p:nvSpPr>
          <p:cNvPr id="3" name="正方形/長方形 2">
            <a:extLst>
              <a:ext uri="{FF2B5EF4-FFF2-40B4-BE49-F238E27FC236}">
                <a16:creationId xmlns:a16="http://schemas.microsoft.com/office/drawing/2014/main" id="{D94E1ED7-ACB1-42C8-B9A5-6489B5318CAE}"/>
              </a:ext>
            </a:extLst>
          </p:cNvPr>
          <p:cNvSpPr>
            <a:spLocks noGrp="1"/>
          </p:cNvSpPr>
          <p:nvPr/>
        </p:nvSpPr>
        <p:spPr>
          <a:xfrm>
            <a:off x="552450" y="400050"/>
            <a:ext cx="11001375" cy="400050"/>
          </a:xfrm>
          <a:prstGeom prst="rect">
            <a:avLst/>
          </a:prstGeom>
          <a:noFill/>
          <a:ln w="0">
            <a:noFill/>
            <a:prstDash val="solid"/>
          </a:ln>
        </p:spPr>
        <p:txBody>
          <a:bodyPr wrap="none" lIns="19050" tIns="0" rIns="19050" bIns="0" anchor="ctr">
            <a:normAutofit/>
          </a:bodyPr>
          <a:lstStyle/>
          <a:p>
            <a:pPr algn="l">
              <a:lnSpc>
                <a:spcPct val="100000"/>
              </a:lnSpc>
              <a:buNone/>
              <a:defRPr sz="2175" b="1" i="0">
                <a:solidFill>
                  <a:srgbClr val="00A5D8"/>
                </a:solidFill>
                <a:latin typeface="Yu Gothic"/>
                <a:ea typeface="Yu Gothic"/>
                <a:cs typeface="Yu Gothic"/>
              </a:defRPr>
            </a:pPr>
            <a:r>
              <a:rPr sz="2175" b="1" i="0">
                <a:solidFill>
                  <a:srgbClr val="00A5D8"/>
                </a:solidFill>
                <a:latin typeface="Yu Gothic"/>
                <a:ea typeface="Yu Gothic"/>
                <a:cs typeface="Yu Gothic"/>
              </a:rPr>
              <a:t>処理例ごとに生成・同定・推論・評価を分離し、評価dataを学習directoryへ戻さない</a:t>
            </a:r>
          </a:p>
        </p:txBody>
      </p:sp>
      <p:sp>
        <p:nvSpPr>
          <p:cNvPr id="4" name="正方形/長方形 3">
            <a:extLst>
              <a:ext uri="{FF2B5EF4-FFF2-40B4-BE49-F238E27FC236}">
                <a16:creationId xmlns:a16="http://schemas.microsoft.com/office/drawing/2014/main" id="{4D85763C-A365-477B-954C-72A6E361B319}"/>
              </a:ext>
            </a:extLst>
          </p:cNvPr>
          <p:cNvSpPr>
            <a:spLocks noGrp="1"/>
          </p:cNvSpPr>
          <p:nvPr/>
        </p:nvSpPr>
        <p:spPr>
          <a:xfrm>
            <a:off x="571500" y="838200"/>
            <a:ext cx="10906125" cy="228600"/>
          </a:xfrm>
          <a:prstGeom prst="rect">
            <a:avLst/>
          </a:prstGeom>
          <a:noFill/>
          <a:ln w="0">
            <a:noFill/>
            <a:prstDash val="solid"/>
          </a:ln>
        </p:spPr>
        <p:txBody>
          <a:bodyPr wrap="none" lIns="28575" tIns="19050" rIns="28575" bIns="19050" anchor="ctr">
            <a:noAutofit/>
          </a:bodyPr>
          <a:lstStyle/>
          <a:p>
            <a:pPr algn="l">
              <a:lnSpc>
                <a:spcPct val="100000"/>
              </a:lnSpc>
              <a:buNone/>
              <a:defRPr sz="975" b="0" i="0">
                <a:solidFill>
                  <a:srgbClr val="5B5B5B"/>
                </a:solidFill>
                <a:latin typeface="Yu Gothic"/>
                <a:ea typeface="Yu Gothic"/>
                <a:cs typeface="Yu Gothic"/>
              </a:defRPr>
            </a:pPr>
            <a:r>
              <a:rPr sz="975" b="0" i="0">
                <a:solidFill>
                  <a:srgbClr val="5B5B5B"/>
                </a:solidFill>
                <a:latin typeface="Yu Gothic"/>
                <a:ea typeface="Yu Gothic"/>
                <a:cs typeface="Yu Gothic"/>
              </a:rPr>
              <a:t>benchmarkとCAE reportは、公開workflowの出力をcanonical source dataへ集約する</a:t>
            </a:r>
          </a:p>
        </p:txBody>
      </p:sp>
      <p:sp>
        <p:nvSpPr>
          <p:cNvPr id="5" name="直線コネクタ 4">
            <a:extLst>
              <a:ext uri="{FF2B5EF4-FFF2-40B4-BE49-F238E27FC236}">
                <a16:creationId xmlns:a16="http://schemas.microsoft.com/office/drawing/2014/main" id="{CC0A5D4D-EF50-4890-9161-6FE3DEEB13D4}"/>
              </a:ext>
            </a:extLst>
          </p:cNvPr>
          <p:cNvSpPr>
            <a:spLocks noGrp="1"/>
          </p:cNvSpPr>
          <p:nvPr/>
        </p:nvSpPr>
        <p:spPr>
          <a:xfrm>
            <a:off x="552450" y="1152525"/>
            <a:ext cx="11087100" cy="0"/>
          </a:xfrm>
          <a:prstGeom prst="line">
            <a:avLst/>
          </a:prstGeom>
          <a:noFill/>
          <a:ln w="9525">
            <a:solidFill>
              <a:srgbClr val="D6D6D6"/>
            </a:solidFill>
            <a:prstDash val="solid"/>
          </a:ln>
        </p:spPr>
      </p:sp>
      <p:sp>
        <p:nvSpPr>
          <p:cNvPr id="6" name="直線コネクタ 5">
            <a:extLst>
              <a:ext uri="{FF2B5EF4-FFF2-40B4-BE49-F238E27FC236}">
                <a16:creationId xmlns:a16="http://schemas.microsoft.com/office/drawing/2014/main" id="{86B5AB5C-EE58-4A29-8F5F-F2CFF664549B}"/>
              </a:ext>
            </a:extLst>
          </p:cNvPr>
          <p:cNvSpPr>
            <a:spLocks noGrp="1"/>
          </p:cNvSpPr>
          <p:nvPr/>
        </p:nvSpPr>
        <p:spPr>
          <a:xfrm>
            <a:off x="552450" y="6438900"/>
            <a:ext cx="11087100" cy="0"/>
          </a:xfrm>
          <a:prstGeom prst="line">
            <a:avLst/>
          </a:prstGeom>
          <a:noFill/>
          <a:ln w="9525">
            <a:solidFill>
              <a:srgbClr val="D6D6D6"/>
            </a:solidFill>
            <a:prstDash val="solid"/>
          </a:ln>
        </p:spPr>
      </p:sp>
      <p:sp>
        <p:nvSpPr>
          <p:cNvPr id="7" name="正方形/長方形 6">
            <a:extLst>
              <a:ext uri="{FF2B5EF4-FFF2-40B4-BE49-F238E27FC236}">
                <a16:creationId xmlns:a16="http://schemas.microsoft.com/office/drawing/2014/main" id="{82183B36-C655-456B-8610-CF646C2D8E52}"/>
              </a:ext>
            </a:extLst>
          </p:cNvPr>
          <p:cNvSpPr>
            <a:spLocks noGrp="1"/>
          </p:cNvSpPr>
          <p:nvPr/>
        </p:nvSpPr>
        <p:spPr>
          <a:xfrm>
            <a:off x="571500" y="6505575"/>
            <a:ext cx="5334000" cy="171450"/>
          </a:xfrm>
          <a:prstGeom prst="rect">
            <a:avLst/>
          </a:prstGeom>
          <a:noFill/>
          <a:ln w="0">
            <a:noFill/>
            <a:prstDash val="solid"/>
          </a:ln>
        </p:spPr>
        <p:txBody>
          <a:bodyPr wrap="none" lIns="28575" tIns="19050" rIns="28575" bIns="19050" anchor="ctr">
            <a:noAutofit/>
          </a:bodyPr>
          <a:lstStyle/>
          <a:p>
            <a:pPr algn="l">
              <a:lnSpc>
                <a:spcPct val="100000"/>
              </a:lnSpc>
              <a:buNone/>
              <a:defRPr sz="713" b="0" i="0">
                <a:solidFill>
                  <a:srgbClr val="777777"/>
                </a:solidFill>
                <a:latin typeface="Yu Gothic"/>
                <a:ea typeface="Yu Gothic"/>
                <a:cs typeface="Yu Gothic"/>
              </a:defRPr>
            </a:pPr>
            <a:r>
              <a:rPr sz="713" b="0" i="0">
                <a:solidFill>
                  <a:srgbClr val="777777"/>
                </a:solidFill>
                <a:latin typeface="Yu Gothic"/>
                <a:ea typeface="Yu Gothic"/>
                <a:cs typeface="Yu Gothic"/>
              </a:rPr>
              <a:t>THERMAL RC / EQUIPMENT ENGINEERING REVIEW  ·  2026-09-17</a:t>
            </a:r>
          </a:p>
        </p:txBody>
      </p:sp>
      <p:sp>
        <p:nvSpPr>
          <p:cNvPr id="8" name="正方形/長方形 7">
            <a:extLst>
              <a:ext uri="{FF2B5EF4-FFF2-40B4-BE49-F238E27FC236}">
                <a16:creationId xmlns:a16="http://schemas.microsoft.com/office/drawing/2014/main" id="{2AA85752-539E-4A47-A02E-213B9610A334}"/>
              </a:ext>
            </a:extLst>
          </p:cNvPr>
          <p:cNvSpPr>
            <a:spLocks noGrp="1"/>
          </p:cNvSpPr>
          <p:nvPr/>
        </p:nvSpPr>
        <p:spPr>
          <a:xfrm>
            <a:off x="11125200" y="6496050"/>
            <a:ext cx="476250" cy="171450"/>
          </a:xfrm>
          <a:prstGeom prst="rect">
            <a:avLst/>
          </a:prstGeom>
          <a:noFill/>
          <a:ln w="0">
            <a:noFill/>
            <a:prstDash val="solid"/>
          </a:ln>
        </p:spPr>
        <p:txBody>
          <a:bodyPr wrap="square" lIns="28575" tIns="19050" rIns="28575" bIns="19050" anchor="ctr">
            <a:noAutofit/>
          </a:bodyPr>
          <a:lstStyle/>
          <a:p>
            <a:pPr algn="r">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21</a:t>
            </a:r>
          </a:p>
        </p:txBody>
      </p:sp>
      <p:sp>
        <p:nvSpPr>
          <p:cNvPr id="9" name="正方形/長方形 8">
            <a:extLst>
              <a:ext uri="{FF2B5EF4-FFF2-40B4-BE49-F238E27FC236}">
                <a16:creationId xmlns:a16="http://schemas.microsoft.com/office/drawing/2014/main" id="{7AE04F19-7303-4739-8D85-4259DD143D5B}"/>
              </a:ext>
            </a:extLst>
          </p:cNvPr>
          <p:cNvSpPr>
            <a:spLocks noGrp="1"/>
          </p:cNvSpPr>
          <p:nvPr/>
        </p:nvSpPr>
        <p:spPr>
          <a:xfrm>
            <a:off x="552450" y="1476375"/>
            <a:ext cx="1581150" cy="962025"/>
          </a:xfrm>
          <a:prstGeom prst="rect">
            <a:avLst/>
          </a:prstGeom>
          <a:solidFill>
            <a:srgbClr val="EEF7DF"/>
          </a:solidFill>
          <a:ln w="9525">
            <a:solidFill>
              <a:srgbClr val="76BE18"/>
            </a:solidFill>
            <a:prstDash val="solid"/>
          </a:ln>
        </p:spPr>
      </p:sp>
      <p:sp>
        <p:nvSpPr>
          <p:cNvPr id="10" name="正方形/長方形 9">
            <a:extLst>
              <a:ext uri="{FF2B5EF4-FFF2-40B4-BE49-F238E27FC236}">
                <a16:creationId xmlns:a16="http://schemas.microsoft.com/office/drawing/2014/main" id="{93AF9E90-534F-43E9-87CF-ECE6F7B1E7F9}"/>
              </a:ext>
            </a:extLst>
          </p:cNvPr>
          <p:cNvSpPr>
            <a:spLocks noGrp="1"/>
          </p:cNvSpPr>
          <p:nvPr/>
        </p:nvSpPr>
        <p:spPr>
          <a:xfrm>
            <a:off x="695325" y="1609725"/>
            <a:ext cx="1295400" cy="257175"/>
          </a:xfrm>
          <a:prstGeom prst="rect">
            <a:avLst/>
          </a:prstGeom>
          <a:noFill/>
          <a:ln w="0">
            <a:noFill/>
            <a:prstDash val="solid"/>
          </a:ln>
        </p:spPr>
        <p:txBody>
          <a:bodyPr wrap="square" lIns="28575" tIns="19050" rIns="28575" bIns="19050" anchor="ctr">
            <a:normAutofit/>
          </a:bodyPr>
          <a:lstStyle/>
          <a:p>
            <a:pPr algn="ctr">
              <a:lnSpc>
                <a:spcPct val="100000"/>
              </a:lnSpc>
              <a:buNone/>
              <a:defRPr sz="1200" b="1" i="0">
                <a:solidFill>
                  <a:srgbClr val="76BE18"/>
                </a:solidFill>
                <a:latin typeface="Yu Gothic"/>
                <a:ea typeface="Yu Gothic"/>
                <a:cs typeface="Yu Gothic"/>
              </a:defRPr>
            </a:pPr>
            <a:r>
              <a:rPr sz="1200" b="1" i="0">
                <a:solidFill>
                  <a:srgbClr val="76BE18"/>
                </a:solidFill>
                <a:latin typeface="Yu Gothic"/>
                <a:ea typeface="Yu Gothic"/>
                <a:cs typeface="Yu Gothic"/>
              </a:rPr>
              <a:t>TopCell</a:t>
            </a:r>
          </a:p>
        </p:txBody>
      </p:sp>
      <p:sp>
        <p:nvSpPr>
          <p:cNvPr id="11" name="正方形/長方形 10">
            <a:extLst>
              <a:ext uri="{FF2B5EF4-FFF2-40B4-BE49-F238E27FC236}">
                <a16:creationId xmlns:a16="http://schemas.microsoft.com/office/drawing/2014/main" id="{4543EEB2-3DC6-48F3-BFD0-B26FBCE9EC00}"/>
              </a:ext>
            </a:extLst>
          </p:cNvPr>
          <p:cNvSpPr>
            <a:spLocks noGrp="1"/>
          </p:cNvSpPr>
          <p:nvPr/>
        </p:nvSpPr>
        <p:spPr>
          <a:xfrm>
            <a:off x="695325" y="1933575"/>
            <a:ext cx="1295400" cy="361950"/>
          </a:xfrm>
          <a:prstGeom prst="rect">
            <a:avLst/>
          </a:prstGeom>
          <a:noFill/>
          <a:ln w="0">
            <a:noFill/>
            <a:prstDash val="solid"/>
          </a:ln>
        </p:spPr>
        <p:txBody>
          <a:bodyPr wrap="square" lIns="28575" tIns="19050" rIns="28575" bIns="19050" anchor="ctr">
            <a:normAutofit/>
          </a:bodyPr>
          <a:lstStyle/>
          <a:p>
            <a:pPr algn="ctr">
              <a:lnSpc>
                <a:spcPct val="103000"/>
              </a:lnSpc>
              <a:buNone/>
              <a:defRPr sz="728" b="0" i="0">
                <a:solidFill>
                  <a:srgbClr val="5B5B5B"/>
                </a:solidFill>
                <a:latin typeface="Yu Gothic"/>
                <a:ea typeface="Yu Gothic"/>
                <a:cs typeface="Yu Gothic"/>
              </a:defRPr>
            </a:pPr>
            <a:r>
              <a:rPr sz="728" b="0" i="0">
                <a:solidFill>
                  <a:srgbClr val="5B5B5B"/>
                </a:solidFill>
                <a:latin typeface="Yu Gothic"/>
                <a:ea typeface="Yu Gothic"/>
                <a:cs typeface="Yu Gothic"/>
              </a:rPr>
              <a:t>228 train / 12 forecast / 5 monitor</a:t>
            </a:r>
          </a:p>
        </p:txBody>
      </p:sp>
      <p:sp>
        <p:nvSpPr>
          <p:cNvPr id="12" name="正方形/長方形 11">
            <a:extLst>
              <a:ext uri="{FF2B5EF4-FFF2-40B4-BE49-F238E27FC236}">
                <a16:creationId xmlns:a16="http://schemas.microsoft.com/office/drawing/2014/main" id="{A916DED8-3F62-4F0C-9E7B-3271D0FC51DE}"/>
              </a:ext>
            </a:extLst>
          </p:cNvPr>
          <p:cNvSpPr>
            <a:spLocks noGrp="1"/>
          </p:cNvSpPr>
          <p:nvPr/>
        </p:nvSpPr>
        <p:spPr>
          <a:xfrm>
            <a:off x="2533650" y="1476375"/>
            <a:ext cx="1866900" cy="962025"/>
          </a:xfrm>
          <a:prstGeom prst="rect">
            <a:avLst/>
          </a:prstGeom>
          <a:solidFill>
            <a:srgbClr val="FFFFFF"/>
          </a:solidFill>
          <a:ln w="9525">
            <a:solidFill>
              <a:srgbClr val="D6D6D6"/>
            </a:solidFill>
            <a:prstDash val="solid"/>
          </a:ln>
        </p:spPr>
      </p:sp>
      <p:sp>
        <p:nvSpPr>
          <p:cNvPr id="13" name="正方形/長方形 12">
            <a:extLst>
              <a:ext uri="{FF2B5EF4-FFF2-40B4-BE49-F238E27FC236}">
                <a16:creationId xmlns:a16="http://schemas.microsoft.com/office/drawing/2014/main" id="{147D5872-2101-451E-A366-24C2E56C12EC}"/>
              </a:ext>
            </a:extLst>
          </p:cNvPr>
          <p:cNvSpPr>
            <a:spLocks noGrp="1"/>
          </p:cNvSpPr>
          <p:nvPr/>
        </p:nvSpPr>
        <p:spPr>
          <a:xfrm>
            <a:off x="2533650" y="1476375"/>
            <a:ext cx="57150" cy="962025"/>
          </a:xfrm>
          <a:prstGeom prst="rect">
            <a:avLst/>
          </a:prstGeom>
          <a:solidFill>
            <a:srgbClr val="76BE18"/>
          </a:solidFill>
          <a:ln w="0">
            <a:noFill/>
            <a:prstDash val="solid"/>
          </a:ln>
        </p:spPr>
      </p:sp>
      <p:sp>
        <p:nvSpPr>
          <p:cNvPr id="14" name="正方形/長方形 13">
            <a:extLst>
              <a:ext uri="{FF2B5EF4-FFF2-40B4-BE49-F238E27FC236}">
                <a16:creationId xmlns:a16="http://schemas.microsoft.com/office/drawing/2014/main" id="{F6ABE590-819A-4958-8CC1-6A4D1635AD71}"/>
              </a:ext>
            </a:extLst>
          </p:cNvPr>
          <p:cNvSpPr>
            <a:spLocks noGrp="1"/>
          </p:cNvSpPr>
          <p:nvPr/>
        </p:nvSpPr>
        <p:spPr>
          <a:xfrm>
            <a:off x="2695575" y="1628775"/>
            <a:ext cx="1543050" cy="619125"/>
          </a:xfrm>
          <a:prstGeom prst="rect">
            <a:avLst/>
          </a:prstGeom>
          <a:noFill/>
          <a:ln w="0">
            <a:noFill/>
            <a:prstDash val="solid"/>
          </a:ln>
        </p:spPr>
        <p:txBody>
          <a:bodyPr wrap="square" lIns="28575" tIns="19050" rIns="28575" bIns="19050" anchor="ctr">
            <a:normAutofit/>
          </a:bodyPr>
          <a:lstStyle/>
          <a:p>
            <a:pPr algn="ctr">
              <a:lnSpc>
                <a:spcPct val="108000"/>
              </a:lnSpc>
              <a:buNone/>
              <a:defRPr sz="938" b="1" i="0">
                <a:solidFill>
                  <a:srgbClr val="5B5B5B"/>
                </a:solidFill>
                <a:latin typeface="Yu Gothic"/>
                <a:ea typeface="Yu Gothic"/>
                <a:cs typeface="Yu Gothic"/>
              </a:defRPr>
            </a:pPr>
            <a:r>
              <a:rPr sz="938" b="1" i="0">
                <a:solidFill>
                  <a:srgbClr val="5B5B5B"/>
                </a:solidFill>
                <a:latin typeface="Yu Gothic"/>
                <a:ea typeface="Yu Gothic"/>
                <a:cs typeface="Yu Gothic"/>
              </a:rPr>
              <a:t>synthetic truth</a:t>
            </a:r>
          </a:p>
          <a:p>
            <a:pPr algn="ctr">
              <a:lnSpc>
                <a:spcPct val="108000"/>
              </a:lnSpc>
              <a:buNone/>
              <a:defRPr sz="938" b="1" i="0">
                <a:solidFill>
                  <a:srgbClr val="5B5B5B"/>
                </a:solidFill>
                <a:latin typeface="Yu Gothic"/>
                <a:ea typeface="Yu Gothic"/>
                <a:cs typeface="Yu Gothic"/>
              </a:defRPr>
            </a:pPr>
            <a:r>
              <a:rPr sz="938" b="1" i="0">
                <a:solidFill>
                  <a:srgbClr val="5B5B5B"/>
                </a:solidFill>
                <a:latin typeface="Yu Gothic"/>
                <a:ea typeface="Yu Gothic"/>
                <a:cs typeface="Yu Gothic"/>
              </a:rPr>
              <a:t>generate</a:t>
            </a:r>
          </a:p>
        </p:txBody>
      </p:sp>
      <p:sp>
        <p:nvSpPr>
          <p:cNvPr id="15" name="正方形/長方形 14">
            <a:extLst>
              <a:ext uri="{FF2B5EF4-FFF2-40B4-BE49-F238E27FC236}">
                <a16:creationId xmlns:a16="http://schemas.microsoft.com/office/drawing/2014/main" id="{FB4BF194-C9D5-4A2E-A34B-733F93B66F85}"/>
              </a:ext>
            </a:extLst>
          </p:cNvPr>
          <p:cNvSpPr>
            <a:spLocks noGrp="1"/>
          </p:cNvSpPr>
          <p:nvPr/>
        </p:nvSpPr>
        <p:spPr>
          <a:xfrm>
            <a:off x="4800600" y="1476375"/>
            <a:ext cx="1866900" cy="962025"/>
          </a:xfrm>
          <a:prstGeom prst="rect">
            <a:avLst/>
          </a:prstGeom>
          <a:solidFill>
            <a:srgbClr val="FFFFFF"/>
          </a:solidFill>
          <a:ln w="9525">
            <a:solidFill>
              <a:srgbClr val="D6D6D6"/>
            </a:solidFill>
            <a:prstDash val="solid"/>
          </a:ln>
        </p:spPr>
      </p:sp>
      <p:sp>
        <p:nvSpPr>
          <p:cNvPr id="16" name="正方形/長方形 15">
            <a:extLst>
              <a:ext uri="{FF2B5EF4-FFF2-40B4-BE49-F238E27FC236}">
                <a16:creationId xmlns:a16="http://schemas.microsoft.com/office/drawing/2014/main" id="{745F8B14-BEC2-4837-BFD9-45D6BA407821}"/>
              </a:ext>
            </a:extLst>
          </p:cNvPr>
          <p:cNvSpPr>
            <a:spLocks noGrp="1"/>
          </p:cNvSpPr>
          <p:nvPr/>
        </p:nvSpPr>
        <p:spPr>
          <a:xfrm>
            <a:off x="4800600" y="1476375"/>
            <a:ext cx="57150" cy="962025"/>
          </a:xfrm>
          <a:prstGeom prst="rect">
            <a:avLst/>
          </a:prstGeom>
          <a:solidFill>
            <a:srgbClr val="76BE18"/>
          </a:solidFill>
          <a:ln w="0">
            <a:noFill/>
            <a:prstDash val="solid"/>
          </a:ln>
        </p:spPr>
      </p:sp>
      <p:sp>
        <p:nvSpPr>
          <p:cNvPr id="17" name="正方形/長方形 16">
            <a:extLst>
              <a:ext uri="{FF2B5EF4-FFF2-40B4-BE49-F238E27FC236}">
                <a16:creationId xmlns:a16="http://schemas.microsoft.com/office/drawing/2014/main" id="{F31A4428-9BCB-45BB-8ECD-CBEE8EBC7EA7}"/>
              </a:ext>
            </a:extLst>
          </p:cNvPr>
          <p:cNvSpPr>
            <a:spLocks noGrp="1"/>
          </p:cNvSpPr>
          <p:nvPr/>
        </p:nvSpPr>
        <p:spPr>
          <a:xfrm>
            <a:off x="4962525" y="1628775"/>
            <a:ext cx="1543050" cy="619125"/>
          </a:xfrm>
          <a:prstGeom prst="rect">
            <a:avLst/>
          </a:prstGeom>
          <a:noFill/>
          <a:ln w="0">
            <a:noFill/>
            <a:prstDash val="solid"/>
          </a:ln>
        </p:spPr>
        <p:txBody>
          <a:bodyPr wrap="square" lIns="28575" tIns="19050" rIns="28575" bIns="19050" anchor="ctr">
            <a:normAutofit/>
          </a:bodyPr>
          <a:lstStyle/>
          <a:p>
            <a:pPr algn="ctr">
              <a:lnSpc>
                <a:spcPct val="108000"/>
              </a:lnSpc>
              <a:buNone/>
              <a:defRPr sz="938" b="1" i="0">
                <a:solidFill>
                  <a:srgbClr val="5B5B5B"/>
                </a:solidFill>
                <a:latin typeface="Yu Gothic"/>
                <a:ea typeface="Yu Gothic"/>
                <a:cs typeface="Yu Gothic"/>
              </a:defRPr>
            </a:pPr>
            <a:r>
              <a:rPr sz="938" b="1" i="0">
                <a:solidFill>
                  <a:srgbClr val="5B5B5B"/>
                </a:solidFill>
                <a:latin typeface="Yu Gothic"/>
                <a:ea typeface="Yu Gothic"/>
                <a:cs typeface="Yu Gothic"/>
              </a:rPr>
              <a:t>celltemp train</a:t>
            </a:r>
          </a:p>
        </p:txBody>
      </p:sp>
      <p:sp>
        <p:nvSpPr>
          <p:cNvPr id="18" name="正方形/長方形 17">
            <a:extLst>
              <a:ext uri="{FF2B5EF4-FFF2-40B4-BE49-F238E27FC236}">
                <a16:creationId xmlns:a16="http://schemas.microsoft.com/office/drawing/2014/main" id="{EEDB8980-D086-462D-8E08-FB31E872CEF8}"/>
              </a:ext>
            </a:extLst>
          </p:cNvPr>
          <p:cNvSpPr>
            <a:spLocks noGrp="1"/>
          </p:cNvSpPr>
          <p:nvPr/>
        </p:nvSpPr>
        <p:spPr>
          <a:xfrm>
            <a:off x="7067550" y="1476375"/>
            <a:ext cx="1866900" cy="962025"/>
          </a:xfrm>
          <a:prstGeom prst="rect">
            <a:avLst/>
          </a:prstGeom>
          <a:solidFill>
            <a:srgbClr val="FFFFFF"/>
          </a:solidFill>
          <a:ln w="9525">
            <a:solidFill>
              <a:srgbClr val="D6D6D6"/>
            </a:solidFill>
            <a:prstDash val="solid"/>
          </a:ln>
        </p:spPr>
      </p:sp>
      <p:sp>
        <p:nvSpPr>
          <p:cNvPr id="19" name="正方形/長方形 18">
            <a:extLst>
              <a:ext uri="{FF2B5EF4-FFF2-40B4-BE49-F238E27FC236}">
                <a16:creationId xmlns:a16="http://schemas.microsoft.com/office/drawing/2014/main" id="{314EFB38-BCE0-411D-83D1-A8C18514ADD6}"/>
              </a:ext>
            </a:extLst>
          </p:cNvPr>
          <p:cNvSpPr>
            <a:spLocks noGrp="1"/>
          </p:cNvSpPr>
          <p:nvPr/>
        </p:nvSpPr>
        <p:spPr>
          <a:xfrm>
            <a:off x="7067550" y="1476375"/>
            <a:ext cx="57150" cy="962025"/>
          </a:xfrm>
          <a:prstGeom prst="rect">
            <a:avLst/>
          </a:prstGeom>
          <a:solidFill>
            <a:srgbClr val="76BE18"/>
          </a:solidFill>
          <a:ln w="0">
            <a:noFill/>
            <a:prstDash val="solid"/>
          </a:ln>
        </p:spPr>
      </p:sp>
      <p:sp>
        <p:nvSpPr>
          <p:cNvPr id="20" name="正方形/長方形 19">
            <a:extLst>
              <a:ext uri="{FF2B5EF4-FFF2-40B4-BE49-F238E27FC236}">
                <a16:creationId xmlns:a16="http://schemas.microsoft.com/office/drawing/2014/main" id="{8DD910D7-AE4C-4D65-8846-0D90C4098EDB}"/>
              </a:ext>
            </a:extLst>
          </p:cNvPr>
          <p:cNvSpPr>
            <a:spLocks noGrp="1"/>
          </p:cNvSpPr>
          <p:nvPr/>
        </p:nvSpPr>
        <p:spPr>
          <a:xfrm>
            <a:off x="7229475" y="1628775"/>
            <a:ext cx="1543050" cy="619125"/>
          </a:xfrm>
          <a:prstGeom prst="rect">
            <a:avLst/>
          </a:prstGeom>
          <a:noFill/>
          <a:ln w="0">
            <a:noFill/>
            <a:prstDash val="solid"/>
          </a:ln>
        </p:spPr>
        <p:txBody>
          <a:bodyPr wrap="square" lIns="28575" tIns="19050" rIns="28575" bIns="19050" anchor="ctr">
            <a:normAutofit/>
          </a:bodyPr>
          <a:lstStyle/>
          <a:p>
            <a:pPr algn="ctr">
              <a:lnSpc>
                <a:spcPct val="108000"/>
              </a:lnSpc>
              <a:buNone/>
              <a:defRPr sz="938" b="1" i="0">
                <a:solidFill>
                  <a:srgbClr val="5B5B5B"/>
                </a:solidFill>
                <a:latin typeface="Yu Gothic"/>
                <a:ea typeface="Yu Gothic"/>
                <a:cs typeface="Yu Gothic"/>
              </a:defRPr>
            </a:pPr>
            <a:r>
              <a:rPr sz="938" b="1" i="0">
                <a:solidFill>
                  <a:srgbClr val="5B5B5B"/>
                </a:solidFill>
                <a:latin typeface="Yu Gothic"/>
                <a:ea typeface="Yu Gothic"/>
                <a:cs typeface="Yu Gothic"/>
              </a:rPr>
              <a:t>forecast +</a:t>
            </a:r>
          </a:p>
          <a:p>
            <a:pPr algn="ctr">
              <a:lnSpc>
                <a:spcPct val="108000"/>
              </a:lnSpc>
              <a:buNone/>
              <a:defRPr sz="938" b="1" i="0">
                <a:solidFill>
                  <a:srgbClr val="5B5B5B"/>
                </a:solidFill>
                <a:latin typeface="Yu Gothic"/>
                <a:ea typeface="Yu Gothic"/>
                <a:cs typeface="Yu Gothic"/>
              </a:defRPr>
            </a:pPr>
            <a:r>
              <a:rPr sz="938" b="1" i="0">
                <a:solidFill>
                  <a:srgbClr val="5B5B5B"/>
                </a:solidFill>
                <a:latin typeface="Yu Gothic"/>
                <a:ea typeface="Yu Gothic"/>
                <a:cs typeface="Yu Gothic"/>
              </a:rPr>
              <a:t>monitor</a:t>
            </a:r>
          </a:p>
        </p:txBody>
      </p:sp>
      <p:sp>
        <p:nvSpPr>
          <p:cNvPr id="21" name="正方形/長方形 20">
            <a:extLst>
              <a:ext uri="{FF2B5EF4-FFF2-40B4-BE49-F238E27FC236}">
                <a16:creationId xmlns:a16="http://schemas.microsoft.com/office/drawing/2014/main" id="{0A831BF5-C286-4E1A-9A57-150B61D220D7}"/>
              </a:ext>
            </a:extLst>
          </p:cNvPr>
          <p:cNvSpPr>
            <a:spLocks noGrp="1"/>
          </p:cNvSpPr>
          <p:nvPr/>
        </p:nvSpPr>
        <p:spPr>
          <a:xfrm>
            <a:off x="9334500" y="1476375"/>
            <a:ext cx="1866900" cy="962025"/>
          </a:xfrm>
          <a:prstGeom prst="rect">
            <a:avLst/>
          </a:prstGeom>
          <a:solidFill>
            <a:srgbClr val="FFFFFF"/>
          </a:solidFill>
          <a:ln w="9525">
            <a:solidFill>
              <a:srgbClr val="D6D6D6"/>
            </a:solidFill>
            <a:prstDash val="solid"/>
          </a:ln>
        </p:spPr>
      </p:sp>
      <p:sp>
        <p:nvSpPr>
          <p:cNvPr id="22" name="正方形/長方形 21">
            <a:extLst>
              <a:ext uri="{FF2B5EF4-FFF2-40B4-BE49-F238E27FC236}">
                <a16:creationId xmlns:a16="http://schemas.microsoft.com/office/drawing/2014/main" id="{D8DEE1BC-AE6E-440F-8A65-80D68E6C8E62}"/>
              </a:ext>
            </a:extLst>
          </p:cNvPr>
          <p:cNvSpPr>
            <a:spLocks noGrp="1"/>
          </p:cNvSpPr>
          <p:nvPr/>
        </p:nvSpPr>
        <p:spPr>
          <a:xfrm>
            <a:off x="9334500" y="1476375"/>
            <a:ext cx="57150" cy="962025"/>
          </a:xfrm>
          <a:prstGeom prst="rect">
            <a:avLst/>
          </a:prstGeom>
          <a:solidFill>
            <a:srgbClr val="76BE18"/>
          </a:solidFill>
          <a:ln w="0">
            <a:noFill/>
            <a:prstDash val="solid"/>
          </a:ln>
        </p:spPr>
      </p:sp>
      <p:sp>
        <p:nvSpPr>
          <p:cNvPr id="23" name="正方形/長方形 22">
            <a:extLst>
              <a:ext uri="{FF2B5EF4-FFF2-40B4-BE49-F238E27FC236}">
                <a16:creationId xmlns:a16="http://schemas.microsoft.com/office/drawing/2014/main" id="{306B1630-4723-4D25-BDE7-D43975783360}"/>
              </a:ext>
            </a:extLst>
          </p:cNvPr>
          <p:cNvSpPr>
            <a:spLocks noGrp="1"/>
          </p:cNvSpPr>
          <p:nvPr/>
        </p:nvSpPr>
        <p:spPr>
          <a:xfrm>
            <a:off x="9496425" y="1628775"/>
            <a:ext cx="1543050" cy="619125"/>
          </a:xfrm>
          <a:prstGeom prst="rect">
            <a:avLst/>
          </a:prstGeom>
          <a:noFill/>
          <a:ln w="0">
            <a:noFill/>
            <a:prstDash val="solid"/>
          </a:ln>
        </p:spPr>
        <p:txBody>
          <a:bodyPr wrap="square" lIns="28575" tIns="19050" rIns="28575" bIns="19050" anchor="ctr">
            <a:normAutofit/>
          </a:bodyPr>
          <a:lstStyle/>
          <a:p>
            <a:pPr algn="ctr">
              <a:lnSpc>
                <a:spcPct val="108000"/>
              </a:lnSpc>
              <a:buNone/>
              <a:defRPr sz="938" b="1" i="0">
                <a:solidFill>
                  <a:srgbClr val="5B5B5B"/>
                </a:solidFill>
                <a:latin typeface="Yu Gothic"/>
                <a:ea typeface="Yu Gothic"/>
                <a:cs typeface="Yu Gothic"/>
              </a:defRPr>
            </a:pPr>
            <a:r>
              <a:rPr sz="938" b="1" i="0">
                <a:solidFill>
                  <a:srgbClr val="5B5B5B"/>
                </a:solidFill>
                <a:latin typeface="Yu Gothic"/>
                <a:ea typeface="Yu Gothic"/>
                <a:cs typeface="Yu Gothic"/>
              </a:rPr>
              <a:t>evaluate</a:t>
            </a:r>
          </a:p>
          <a:p>
            <a:pPr algn="ctr">
              <a:lnSpc>
                <a:spcPct val="108000"/>
              </a:lnSpc>
              <a:buNone/>
              <a:defRPr sz="938" b="1" i="0">
                <a:solidFill>
                  <a:srgbClr val="5B5B5B"/>
                </a:solidFill>
                <a:latin typeface="Yu Gothic"/>
                <a:ea typeface="Yu Gothic"/>
                <a:cs typeface="Yu Gothic"/>
              </a:defRPr>
            </a:pPr>
            <a:r>
              <a:rPr sz="938" b="1" i="0">
                <a:solidFill>
                  <a:srgbClr val="5B5B5B"/>
                </a:solidFill>
                <a:latin typeface="Yu Gothic"/>
                <a:ea typeface="Yu Gothic"/>
                <a:cs typeface="Yu Gothic"/>
              </a:rPr>
              <a:t>benchmark</a:t>
            </a:r>
          </a:p>
        </p:txBody>
      </p:sp>
      <p:cxnSp>
        <p:nvCxnSpPr>
          <p:cNvPr id="87" name="直線矢印コネクタ 86"/>
          <p:cNvCxnSpPr>
            <a:stCxn id="12" idx="3"/>
            <a:endCxn id="15" idx="1"/>
          </p:cNvCxnSpPr>
          <p:nvPr/>
        </p:nvCxnSpPr>
        <p:spPr>
          <a:xfrm>
            <a:off x="4400550" y="1957388"/>
            <a:ext cx="400050" cy="0"/>
          </a:xfrm>
          <a:prstGeom prst="straightConnector1">
            <a:avLst/>
          </a:prstGeom>
          <a:ln w="14288">
            <a:solidFill>
              <a:srgbClr val="76BE18"/>
            </a:solidFill>
            <a:prstDash val="solid"/>
            <a:tailEnd type="triangle" w="sm" len="sm"/>
          </a:ln>
        </p:spPr>
      </p:cxnSp>
      <p:cxnSp>
        <p:nvCxnSpPr>
          <p:cNvPr id="88" name="直線矢印コネクタ 87"/>
          <p:cNvCxnSpPr>
            <a:stCxn id="15" idx="3"/>
            <a:endCxn id="18" idx="1"/>
          </p:cNvCxnSpPr>
          <p:nvPr/>
        </p:nvCxnSpPr>
        <p:spPr>
          <a:xfrm>
            <a:off x="6667500" y="1957388"/>
            <a:ext cx="400050" cy="0"/>
          </a:xfrm>
          <a:prstGeom prst="straightConnector1">
            <a:avLst/>
          </a:prstGeom>
          <a:ln w="14288">
            <a:solidFill>
              <a:srgbClr val="76BE18"/>
            </a:solidFill>
            <a:prstDash val="solid"/>
            <a:tailEnd type="triangle" w="sm" len="sm"/>
          </a:ln>
        </p:spPr>
      </p:cxnSp>
      <p:cxnSp>
        <p:nvCxnSpPr>
          <p:cNvPr id="89" name="直線矢印コネクタ 88"/>
          <p:cNvCxnSpPr>
            <a:stCxn id="18" idx="3"/>
            <a:endCxn id="21" idx="1"/>
          </p:cNvCxnSpPr>
          <p:nvPr/>
        </p:nvCxnSpPr>
        <p:spPr>
          <a:xfrm>
            <a:off x="8934450" y="1957388"/>
            <a:ext cx="400050" cy="0"/>
          </a:xfrm>
          <a:prstGeom prst="straightConnector1">
            <a:avLst/>
          </a:prstGeom>
          <a:ln w="14288">
            <a:solidFill>
              <a:srgbClr val="76BE18"/>
            </a:solidFill>
            <a:prstDash val="solid"/>
            <a:tailEnd type="triangle" w="sm" len="sm"/>
          </a:ln>
        </p:spPr>
      </p:cxnSp>
      <p:sp>
        <p:nvSpPr>
          <p:cNvPr id="27" name="正方形/長方形 26">
            <a:extLst>
              <a:ext uri="{FF2B5EF4-FFF2-40B4-BE49-F238E27FC236}">
                <a16:creationId xmlns:a16="http://schemas.microsoft.com/office/drawing/2014/main" id="{EA4B9736-8208-491D-8E07-227A58CB90F7}"/>
              </a:ext>
            </a:extLst>
          </p:cNvPr>
          <p:cNvSpPr>
            <a:spLocks noGrp="1"/>
          </p:cNvSpPr>
          <p:nvPr/>
        </p:nvSpPr>
        <p:spPr>
          <a:xfrm>
            <a:off x="552450" y="2714625"/>
            <a:ext cx="1581150" cy="962025"/>
          </a:xfrm>
          <a:prstGeom prst="rect">
            <a:avLst/>
          </a:prstGeom>
          <a:solidFill>
            <a:srgbClr val="E5F6FB"/>
          </a:solidFill>
          <a:ln w="9525">
            <a:solidFill>
              <a:srgbClr val="00A5D8"/>
            </a:solidFill>
            <a:prstDash val="solid"/>
          </a:ln>
        </p:spPr>
      </p:sp>
      <p:sp>
        <p:nvSpPr>
          <p:cNvPr id="28" name="正方形/長方形 27">
            <a:extLst>
              <a:ext uri="{FF2B5EF4-FFF2-40B4-BE49-F238E27FC236}">
                <a16:creationId xmlns:a16="http://schemas.microsoft.com/office/drawing/2014/main" id="{BAEDB487-2CBC-429D-8A66-CCE33C41C5E7}"/>
              </a:ext>
            </a:extLst>
          </p:cNvPr>
          <p:cNvSpPr>
            <a:spLocks noGrp="1"/>
          </p:cNvSpPr>
          <p:nvPr/>
        </p:nvSpPr>
        <p:spPr>
          <a:xfrm>
            <a:off x="695325" y="2847975"/>
            <a:ext cx="1295400" cy="257175"/>
          </a:xfrm>
          <a:prstGeom prst="rect">
            <a:avLst/>
          </a:prstGeom>
          <a:noFill/>
          <a:ln w="0">
            <a:noFill/>
            <a:prstDash val="solid"/>
          </a:ln>
        </p:spPr>
        <p:txBody>
          <a:bodyPr wrap="square" lIns="28575" tIns="19050" rIns="28575" bIns="19050" anchor="ctr">
            <a:normAutofit/>
          </a:bodyPr>
          <a:lstStyle/>
          <a:p>
            <a:pPr algn="ctr">
              <a:lnSpc>
                <a:spcPct val="100000"/>
              </a:lnSpc>
              <a:buNone/>
              <a:defRPr sz="1200" b="1" i="0">
                <a:solidFill>
                  <a:srgbClr val="00A5D8"/>
                </a:solidFill>
                <a:latin typeface="Yu Gothic"/>
                <a:ea typeface="Yu Gothic"/>
                <a:cs typeface="Yu Gothic"/>
              </a:defRPr>
            </a:pPr>
            <a:r>
              <a:rPr sz="1200" b="1" i="0">
                <a:solidFill>
                  <a:srgbClr val="00A5D8"/>
                </a:solidFill>
                <a:latin typeface="Yu Gothic"/>
                <a:ea typeface="Yu Gothic"/>
                <a:cs typeface="Yu Gothic"/>
              </a:rPr>
              <a:t>Linear COMSOL</a:t>
            </a:r>
          </a:p>
        </p:txBody>
      </p:sp>
      <p:sp>
        <p:nvSpPr>
          <p:cNvPr id="29" name="正方形/長方形 28">
            <a:extLst>
              <a:ext uri="{FF2B5EF4-FFF2-40B4-BE49-F238E27FC236}">
                <a16:creationId xmlns:a16="http://schemas.microsoft.com/office/drawing/2014/main" id="{745DC3AC-9D7F-434D-AA23-5E95F6C9D997}"/>
              </a:ext>
            </a:extLst>
          </p:cNvPr>
          <p:cNvSpPr>
            <a:spLocks noGrp="1"/>
          </p:cNvSpPr>
          <p:nvPr/>
        </p:nvSpPr>
        <p:spPr>
          <a:xfrm>
            <a:off x="695325" y="3171825"/>
            <a:ext cx="1295400" cy="361950"/>
          </a:xfrm>
          <a:prstGeom prst="rect">
            <a:avLst/>
          </a:prstGeom>
          <a:noFill/>
          <a:ln w="0">
            <a:noFill/>
            <a:prstDash val="solid"/>
          </a:ln>
        </p:spPr>
        <p:txBody>
          <a:bodyPr wrap="square" lIns="28575" tIns="19050" rIns="28575" bIns="19050" anchor="ctr">
            <a:normAutofit/>
          </a:bodyPr>
          <a:lstStyle/>
          <a:p>
            <a:pPr algn="ctr">
              <a:lnSpc>
                <a:spcPct val="103000"/>
              </a:lnSpc>
              <a:buNone/>
              <a:defRPr sz="728" b="0" i="0">
                <a:solidFill>
                  <a:srgbClr val="5B5B5B"/>
                </a:solidFill>
                <a:latin typeface="Yu Gothic"/>
                <a:ea typeface="Yu Gothic"/>
                <a:cs typeface="Yu Gothic"/>
              </a:defRPr>
            </a:pPr>
            <a:r>
              <a:rPr sz="728" b="0" i="0">
                <a:solidFill>
                  <a:srgbClr val="5B5B5B"/>
                </a:solidFill>
                <a:latin typeface="Yu Gothic"/>
                <a:ea typeface="Yu Gothic"/>
                <a:cs typeface="Yu Gothic"/>
              </a:rPr>
              <a:t>8 forecast cases; volume-average target</a:t>
            </a:r>
          </a:p>
        </p:txBody>
      </p:sp>
      <p:sp>
        <p:nvSpPr>
          <p:cNvPr id="30" name="正方形/長方形 29">
            <a:extLst>
              <a:ext uri="{FF2B5EF4-FFF2-40B4-BE49-F238E27FC236}">
                <a16:creationId xmlns:a16="http://schemas.microsoft.com/office/drawing/2014/main" id="{3FE046B7-4324-48BC-91DF-BB4E9B6CC239}"/>
              </a:ext>
            </a:extLst>
          </p:cNvPr>
          <p:cNvSpPr>
            <a:spLocks noGrp="1"/>
          </p:cNvSpPr>
          <p:nvPr/>
        </p:nvSpPr>
        <p:spPr>
          <a:xfrm>
            <a:off x="2533650" y="2714625"/>
            <a:ext cx="1866900" cy="962025"/>
          </a:xfrm>
          <a:prstGeom prst="rect">
            <a:avLst/>
          </a:prstGeom>
          <a:solidFill>
            <a:srgbClr val="FFFFFF"/>
          </a:solidFill>
          <a:ln w="9525">
            <a:solidFill>
              <a:srgbClr val="D6D6D6"/>
            </a:solidFill>
            <a:prstDash val="solid"/>
          </a:ln>
        </p:spPr>
      </p:sp>
      <p:sp>
        <p:nvSpPr>
          <p:cNvPr id="31" name="正方形/長方形 30">
            <a:extLst>
              <a:ext uri="{FF2B5EF4-FFF2-40B4-BE49-F238E27FC236}">
                <a16:creationId xmlns:a16="http://schemas.microsoft.com/office/drawing/2014/main" id="{BFD1A070-FAE7-4957-BB33-048B585B9C3E}"/>
              </a:ext>
            </a:extLst>
          </p:cNvPr>
          <p:cNvSpPr>
            <a:spLocks noGrp="1"/>
          </p:cNvSpPr>
          <p:nvPr/>
        </p:nvSpPr>
        <p:spPr>
          <a:xfrm>
            <a:off x="2533650" y="2714625"/>
            <a:ext cx="57150" cy="962025"/>
          </a:xfrm>
          <a:prstGeom prst="rect">
            <a:avLst/>
          </a:prstGeom>
          <a:solidFill>
            <a:srgbClr val="00A5D8"/>
          </a:solidFill>
          <a:ln w="0">
            <a:noFill/>
            <a:prstDash val="solid"/>
          </a:ln>
        </p:spPr>
      </p:sp>
      <p:sp>
        <p:nvSpPr>
          <p:cNvPr id="32" name="正方形/長方形 31">
            <a:extLst>
              <a:ext uri="{FF2B5EF4-FFF2-40B4-BE49-F238E27FC236}">
                <a16:creationId xmlns:a16="http://schemas.microsoft.com/office/drawing/2014/main" id="{0769FAAA-CA83-4859-9863-DBF9BD155320}"/>
              </a:ext>
            </a:extLst>
          </p:cNvPr>
          <p:cNvSpPr>
            <a:spLocks noGrp="1"/>
          </p:cNvSpPr>
          <p:nvPr/>
        </p:nvSpPr>
        <p:spPr>
          <a:xfrm>
            <a:off x="2695575" y="2867025"/>
            <a:ext cx="1543050" cy="619125"/>
          </a:xfrm>
          <a:prstGeom prst="rect">
            <a:avLst/>
          </a:prstGeom>
          <a:noFill/>
          <a:ln w="0">
            <a:noFill/>
            <a:prstDash val="solid"/>
          </a:ln>
        </p:spPr>
        <p:txBody>
          <a:bodyPr wrap="square" lIns="28575" tIns="19050" rIns="28575" bIns="19050" anchor="ctr">
            <a:normAutofit/>
          </a:bodyPr>
          <a:lstStyle/>
          <a:p>
            <a:pPr algn="ctr">
              <a:lnSpc>
                <a:spcPct val="108000"/>
              </a:lnSpc>
              <a:buNone/>
              <a:defRPr sz="938" b="1" i="0">
                <a:solidFill>
                  <a:srgbClr val="5B5B5B"/>
                </a:solidFill>
                <a:latin typeface="Yu Gothic"/>
                <a:ea typeface="Yu Gothic"/>
                <a:cs typeface="Yu Gothic"/>
              </a:defRPr>
            </a:pPr>
            <a:r>
              <a:rPr sz="938" b="1" i="0">
                <a:solidFill>
                  <a:srgbClr val="5B5B5B"/>
                </a:solidFill>
                <a:latin typeface="Yu Gothic"/>
                <a:ea typeface="Yu Gothic"/>
                <a:cs typeface="Yu Gothic"/>
              </a:rPr>
              <a:t>COMSOL export</a:t>
            </a:r>
          </a:p>
          <a:p>
            <a:pPr algn="ctr">
              <a:lnSpc>
                <a:spcPct val="108000"/>
              </a:lnSpc>
              <a:buNone/>
              <a:defRPr sz="938" b="1" i="0">
                <a:solidFill>
                  <a:srgbClr val="5B5B5B"/>
                </a:solidFill>
                <a:latin typeface="Yu Gothic"/>
                <a:ea typeface="Yu Gothic"/>
                <a:cs typeface="Yu Gothic"/>
              </a:defRPr>
            </a:pPr>
            <a:r>
              <a:rPr sz="938" b="1" i="0">
                <a:solidFill>
                  <a:srgbClr val="5B5B5B"/>
                </a:solidFill>
                <a:latin typeface="Yu Gothic"/>
                <a:ea typeface="Yu Gothic"/>
                <a:cs typeface="Yu Gothic"/>
              </a:rPr>
              <a:t>+ QA</a:t>
            </a:r>
          </a:p>
        </p:txBody>
      </p:sp>
      <p:sp>
        <p:nvSpPr>
          <p:cNvPr id="33" name="正方形/長方形 32">
            <a:extLst>
              <a:ext uri="{FF2B5EF4-FFF2-40B4-BE49-F238E27FC236}">
                <a16:creationId xmlns:a16="http://schemas.microsoft.com/office/drawing/2014/main" id="{7E69DE3F-0A9A-4519-97D7-B6C169F420D0}"/>
              </a:ext>
            </a:extLst>
          </p:cNvPr>
          <p:cNvSpPr>
            <a:spLocks noGrp="1"/>
          </p:cNvSpPr>
          <p:nvPr/>
        </p:nvSpPr>
        <p:spPr>
          <a:xfrm>
            <a:off x="4800600" y="2714625"/>
            <a:ext cx="1866900" cy="962025"/>
          </a:xfrm>
          <a:prstGeom prst="rect">
            <a:avLst/>
          </a:prstGeom>
          <a:solidFill>
            <a:srgbClr val="FFFFFF"/>
          </a:solidFill>
          <a:ln w="9525">
            <a:solidFill>
              <a:srgbClr val="D6D6D6"/>
            </a:solidFill>
            <a:prstDash val="solid"/>
          </a:ln>
        </p:spPr>
      </p:sp>
      <p:sp>
        <p:nvSpPr>
          <p:cNvPr id="34" name="正方形/長方形 33">
            <a:extLst>
              <a:ext uri="{FF2B5EF4-FFF2-40B4-BE49-F238E27FC236}">
                <a16:creationId xmlns:a16="http://schemas.microsoft.com/office/drawing/2014/main" id="{705D9781-8610-47D2-8EA0-74A232985ECE}"/>
              </a:ext>
            </a:extLst>
          </p:cNvPr>
          <p:cNvSpPr>
            <a:spLocks noGrp="1"/>
          </p:cNvSpPr>
          <p:nvPr/>
        </p:nvSpPr>
        <p:spPr>
          <a:xfrm>
            <a:off x="4800600" y="2714625"/>
            <a:ext cx="57150" cy="962025"/>
          </a:xfrm>
          <a:prstGeom prst="rect">
            <a:avLst/>
          </a:prstGeom>
          <a:solidFill>
            <a:srgbClr val="00A5D8"/>
          </a:solidFill>
          <a:ln w="0">
            <a:noFill/>
            <a:prstDash val="solid"/>
          </a:ln>
        </p:spPr>
      </p:sp>
      <p:sp>
        <p:nvSpPr>
          <p:cNvPr id="35" name="正方形/長方形 34">
            <a:extLst>
              <a:ext uri="{FF2B5EF4-FFF2-40B4-BE49-F238E27FC236}">
                <a16:creationId xmlns:a16="http://schemas.microsoft.com/office/drawing/2014/main" id="{D84F5E33-8EA1-43EB-8682-29822EACBA29}"/>
              </a:ext>
            </a:extLst>
          </p:cNvPr>
          <p:cNvSpPr>
            <a:spLocks noGrp="1"/>
          </p:cNvSpPr>
          <p:nvPr/>
        </p:nvSpPr>
        <p:spPr>
          <a:xfrm>
            <a:off x="4962525" y="2867025"/>
            <a:ext cx="1543050" cy="619125"/>
          </a:xfrm>
          <a:prstGeom prst="rect">
            <a:avLst/>
          </a:prstGeom>
          <a:noFill/>
          <a:ln w="0">
            <a:noFill/>
            <a:prstDash val="solid"/>
          </a:ln>
        </p:spPr>
        <p:txBody>
          <a:bodyPr wrap="square" lIns="28575" tIns="19050" rIns="28575" bIns="19050" anchor="ctr">
            <a:normAutofit/>
          </a:bodyPr>
          <a:lstStyle/>
          <a:p>
            <a:pPr algn="ctr">
              <a:lnSpc>
                <a:spcPct val="108000"/>
              </a:lnSpc>
              <a:buNone/>
              <a:defRPr sz="938" b="1" i="0">
                <a:solidFill>
                  <a:srgbClr val="5B5B5B"/>
                </a:solidFill>
                <a:latin typeface="Yu Gothic"/>
                <a:ea typeface="Yu Gothic"/>
                <a:cs typeface="Yu Gothic"/>
              </a:defRPr>
            </a:pPr>
            <a:r>
              <a:rPr sz="938" b="1" i="0">
                <a:solidFill>
                  <a:srgbClr val="5B5B5B"/>
                </a:solidFill>
                <a:latin typeface="Yu Gothic"/>
                <a:ea typeface="Yu Gothic"/>
                <a:cs typeface="Yu Gothic"/>
              </a:rPr>
              <a:t>celltemp train</a:t>
            </a:r>
          </a:p>
        </p:txBody>
      </p:sp>
      <p:sp>
        <p:nvSpPr>
          <p:cNvPr id="36" name="正方形/長方形 35">
            <a:extLst>
              <a:ext uri="{FF2B5EF4-FFF2-40B4-BE49-F238E27FC236}">
                <a16:creationId xmlns:a16="http://schemas.microsoft.com/office/drawing/2014/main" id="{967B6DD0-4084-4A72-B470-51B53FCE16F5}"/>
              </a:ext>
            </a:extLst>
          </p:cNvPr>
          <p:cNvSpPr>
            <a:spLocks noGrp="1"/>
          </p:cNvSpPr>
          <p:nvPr/>
        </p:nvSpPr>
        <p:spPr>
          <a:xfrm>
            <a:off x="7067550" y="2714625"/>
            <a:ext cx="1866900" cy="962025"/>
          </a:xfrm>
          <a:prstGeom prst="rect">
            <a:avLst/>
          </a:prstGeom>
          <a:solidFill>
            <a:srgbClr val="FFFFFF"/>
          </a:solidFill>
          <a:ln w="9525">
            <a:solidFill>
              <a:srgbClr val="D6D6D6"/>
            </a:solidFill>
            <a:prstDash val="solid"/>
          </a:ln>
        </p:spPr>
      </p:sp>
      <p:sp>
        <p:nvSpPr>
          <p:cNvPr id="37" name="正方形/長方形 36">
            <a:extLst>
              <a:ext uri="{FF2B5EF4-FFF2-40B4-BE49-F238E27FC236}">
                <a16:creationId xmlns:a16="http://schemas.microsoft.com/office/drawing/2014/main" id="{0963D2BE-77D4-4C1D-8A97-A066BD2316EF}"/>
              </a:ext>
            </a:extLst>
          </p:cNvPr>
          <p:cNvSpPr>
            <a:spLocks noGrp="1"/>
          </p:cNvSpPr>
          <p:nvPr/>
        </p:nvSpPr>
        <p:spPr>
          <a:xfrm>
            <a:off x="7067550" y="2714625"/>
            <a:ext cx="57150" cy="962025"/>
          </a:xfrm>
          <a:prstGeom prst="rect">
            <a:avLst/>
          </a:prstGeom>
          <a:solidFill>
            <a:srgbClr val="00A5D8"/>
          </a:solidFill>
          <a:ln w="0">
            <a:noFill/>
            <a:prstDash val="solid"/>
          </a:ln>
        </p:spPr>
      </p:sp>
      <p:sp>
        <p:nvSpPr>
          <p:cNvPr id="38" name="正方形/長方形 37">
            <a:extLst>
              <a:ext uri="{FF2B5EF4-FFF2-40B4-BE49-F238E27FC236}">
                <a16:creationId xmlns:a16="http://schemas.microsoft.com/office/drawing/2014/main" id="{EFF506FC-1D2F-4072-804E-A282DB108FEA}"/>
              </a:ext>
            </a:extLst>
          </p:cNvPr>
          <p:cNvSpPr>
            <a:spLocks noGrp="1"/>
          </p:cNvSpPr>
          <p:nvPr/>
        </p:nvSpPr>
        <p:spPr>
          <a:xfrm>
            <a:off x="7229475" y="2867025"/>
            <a:ext cx="1543050" cy="619125"/>
          </a:xfrm>
          <a:prstGeom prst="rect">
            <a:avLst/>
          </a:prstGeom>
          <a:noFill/>
          <a:ln w="0">
            <a:noFill/>
            <a:prstDash val="solid"/>
          </a:ln>
        </p:spPr>
        <p:txBody>
          <a:bodyPr wrap="square" lIns="28575" tIns="19050" rIns="28575" bIns="19050" anchor="ctr">
            <a:normAutofit/>
          </a:bodyPr>
          <a:lstStyle/>
          <a:p>
            <a:pPr algn="ctr">
              <a:lnSpc>
                <a:spcPct val="108000"/>
              </a:lnSpc>
              <a:buNone/>
              <a:defRPr sz="938" b="1" i="0">
                <a:solidFill>
                  <a:srgbClr val="5B5B5B"/>
                </a:solidFill>
                <a:latin typeface="Yu Gothic"/>
                <a:ea typeface="Yu Gothic"/>
                <a:cs typeface="Yu Gothic"/>
              </a:defRPr>
            </a:pPr>
            <a:r>
              <a:rPr sz="938" b="1" i="0">
                <a:solidFill>
                  <a:srgbClr val="5B5B5B"/>
                </a:solidFill>
                <a:latin typeface="Yu Gothic"/>
                <a:ea typeface="Yu Gothic"/>
                <a:cs typeface="Yu Gothic"/>
              </a:rPr>
              <a:t>external holdout</a:t>
            </a:r>
          </a:p>
          <a:p>
            <a:pPr algn="ctr">
              <a:lnSpc>
                <a:spcPct val="108000"/>
              </a:lnSpc>
              <a:buNone/>
              <a:defRPr sz="938" b="1" i="0">
                <a:solidFill>
                  <a:srgbClr val="5B5B5B"/>
                </a:solidFill>
                <a:latin typeface="Yu Gothic"/>
                <a:ea typeface="Yu Gothic"/>
                <a:cs typeface="Yu Gothic"/>
              </a:defRPr>
            </a:pPr>
            <a:r>
              <a:rPr sz="938" b="1" i="0">
                <a:solidFill>
                  <a:srgbClr val="5B5B5B"/>
                </a:solidFill>
                <a:latin typeface="Yu Gothic"/>
                <a:ea typeface="Yu Gothic"/>
                <a:cs typeface="Yu Gothic"/>
              </a:rPr>
              <a:t>forecast / monitor</a:t>
            </a:r>
          </a:p>
        </p:txBody>
      </p:sp>
      <p:sp>
        <p:nvSpPr>
          <p:cNvPr id="39" name="正方形/長方形 38">
            <a:extLst>
              <a:ext uri="{FF2B5EF4-FFF2-40B4-BE49-F238E27FC236}">
                <a16:creationId xmlns:a16="http://schemas.microsoft.com/office/drawing/2014/main" id="{C734265C-D063-40EE-BB33-8F920552C29E}"/>
              </a:ext>
            </a:extLst>
          </p:cNvPr>
          <p:cNvSpPr>
            <a:spLocks noGrp="1"/>
          </p:cNvSpPr>
          <p:nvPr/>
        </p:nvSpPr>
        <p:spPr>
          <a:xfrm>
            <a:off x="9334500" y="2714625"/>
            <a:ext cx="1866900" cy="962025"/>
          </a:xfrm>
          <a:prstGeom prst="rect">
            <a:avLst/>
          </a:prstGeom>
          <a:solidFill>
            <a:srgbClr val="FFFFFF"/>
          </a:solidFill>
          <a:ln w="9525">
            <a:solidFill>
              <a:srgbClr val="D6D6D6"/>
            </a:solidFill>
            <a:prstDash val="solid"/>
          </a:ln>
        </p:spPr>
      </p:sp>
      <p:sp>
        <p:nvSpPr>
          <p:cNvPr id="40" name="正方形/長方形 39">
            <a:extLst>
              <a:ext uri="{FF2B5EF4-FFF2-40B4-BE49-F238E27FC236}">
                <a16:creationId xmlns:a16="http://schemas.microsoft.com/office/drawing/2014/main" id="{15C224F9-8151-4BB9-98FA-129E72245692}"/>
              </a:ext>
            </a:extLst>
          </p:cNvPr>
          <p:cNvSpPr>
            <a:spLocks noGrp="1"/>
          </p:cNvSpPr>
          <p:nvPr/>
        </p:nvSpPr>
        <p:spPr>
          <a:xfrm>
            <a:off x="9334500" y="2714625"/>
            <a:ext cx="57150" cy="962025"/>
          </a:xfrm>
          <a:prstGeom prst="rect">
            <a:avLst/>
          </a:prstGeom>
          <a:solidFill>
            <a:srgbClr val="00A5D8"/>
          </a:solidFill>
          <a:ln w="0">
            <a:noFill/>
            <a:prstDash val="solid"/>
          </a:ln>
        </p:spPr>
      </p:sp>
      <p:sp>
        <p:nvSpPr>
          <p:cNvPr id="41" name="正方形/長方形 40">
            <a:extLst>
              <a:ext uri="{FF2B5EF4-FFF2-40B4-BE49-F238E27FC236}">
                <a16:creationId xmlns:a16="http://schemas.microsoft.com/office/drawing/2014/main" id="{722FE2C1-46E3-49B6-BBC2-C441301DA55B}"/>
              </a:ext>
            </a:extLst>
          </p:cNvPr>
          <p:cNvSpPr>
            <a:spLocks noGrp="1"/>
          </p:cNvSpPr>
          <p:nvPr/>
        </p:nvSpPr>
        <p:spPr>
          <a:xfrm>
            <a:off x="9496425" y="2867025"/>
            <a:ext cx="1543050" cy="619125"/>
          </a:xfrm>
          <a:prstGeom prst="rect">
            <a:avLst/>
          </a:prstGeom>
          <a:noFill/>
          <a:ln w="0">
            <a:noFill/>
            <a:prstDash val="solid"/>
          </a:ln>
        </p:spPr>
        <p:txBody>
          <a:bodyPr wrap="square" lIns="28575" tIns="19050" rIns="28575" bIns="19050" anchor="ctr">
            <a:normAutofit/>
          </a:bodyPr>
          <a:lstStyle/>
          <a:p>
            <a:pPr algn="ctr">
              <a:lnSpc>
                <a:spcPct val="108000"/>
              </a:lnSpc>
              <a:buNone/>
              <a:defRPr sz="938" b="1" i="0">
                <a:solidFill>
                  <a:srgbClr val="5B5B5B"/>
                </a:solidFill>
                <a:latin typeface="Yu Gothic"/>
                <a:ea typeface="Yu Gothic"/>
                <a:cs typeface="Yu Gothic"/>
              </a:defRPr>
            </a:pPr>
            <a:r>
              <a:rPr sz="938" b="1" i="0">
                <a:solidFill>
                  <a:srgbClr val="5B5B5B"/>
                </a:solidFill>
                <a:latin typeface="Yu Gothic"/>
                <a:ea typeface="Yu Gothic"/>
                <a:cs typeface="Yu Gothic"/>
              </a:rPr>
              <a:t>evaluate.py</a:t>
            </a:r>
          </a:p>
          <a:p>
            <a:pPr algn="ctr">
              <a:lnSpc>
                <a:spcPct val="108000"/>
              </a:lnSpc>
              <a:buNone/>
              <a:defRPr sz="938" b="1" i="0">
                <a:solidFill>
                  <a:srgbClr val="5B5B5B"/>
                </a:solidFill>
                <a:latin typeface="Yu Gothic"/>
                <a:ea typeface="Yu Gothic"/>
                <a:cs typeface="Yu Gothic"/>
              </a:defRPr>
            </a:pPr>
            <a:r>
              <a:rPr sz="938" b="1" i="0">
                <a:solidFill>
                  <a:srgbClr val="5B5B5B"/>
                </a:solidFill>
                <a:latin typeface="Yu Gothic"/>
                <a:ea typeface="Yu Gothic"/>
                <a:cs typeface="Yu Gothic"/>
              </a:rPr>
              <a:t>metrics</a:t>
            </a:r>
          </a:p>
        </p:txBody>
      </p:sp>
      <p:cxnSp>
        <p:nvCxnSpPr>
          <p:cNvPr id="105" name="直線矢印コネクタ 104"/>
          <p:cNvCxnSpPr>
            <a:stCxn id="30" idx="3"/>
            <a:endCxn id="33" idx="1"/>
          </p:cNvCxnSpPr>
          <p:nvPr/>
        </p:nvCxnSpPr>
        <p:spPr>
          <a:xfrm>
            <a:off x="4400550" y="3195638"/>
            <a:ext cx="400050" cy="0"/>
          </a:xfrm>
          <a:prstGeom prst="straightConnector1">
            <a:avLst/>
          </a:prstGeom>
          <a:ln w="14288">
            <a:solidFill>
              <a:srgbClr val="00A5D8"/>
            </a:solidFill>
            <a:prstDash val="solid"/>
            <a:tailEnd type="triangle" w="sm" len="sm"/>
          </a:ln>
        </p:spPr>
      </p:cxnSp>
      <p:cxnSp>
        <p:nvCxnSpPr>
          <p:cNvPr id="106" name="直線矢印コネクタ 105"/>
          <p:cNvCxnSpPr>
            <a:stCxn id="33" idx="3"/>
            <a:endCxn id="36" idx="1"/>
          </p:cNvCxnSpPr>
          <p:nvPr/>
        </p:nvCxnSpPr>
        <p:spPr>
          <a:xfrm>
            <a:off x="6667500" y="3195638"/>
            <a:ext cx="400050" cy="0"/>
          </a:xfrm>
          <a:prstGeom prst="straightConnector1">
            <a:avLst/>
          </a:prstGeom>
          <a:ln w="14288">
            <a:solidFill>
              <a:srgbClr val="00A5D8"/>
            </a:solidFill>
            <a:prstDash val="solid"/>
            <a:tailEnd type="triangle" w="sm" len="sm"/>
          </a:ln>
        </p:spPr>
      </p:cxnSp>
      <p:cxnSp>
        <p:nvCxnSpPr>
          <p:cNvPr id="107" name="直線矢印コネクタ 106"/>
          <p:cNvCxnSpPr>
            <a:stCxn id="36" idx="3"/>
            <a:endCxn id="39" idx="1"/>
          </p:cNvCxnSpPr>
          <p:nvPr/>
        </p:nvCxnSpPr>
        <p:spPr>
          <a:xfrm>
            <a:off x="8934450" y="3195638"/>
            <a:ext cx="400050" cy="0"/>
          </a:xfrm>
          <a:prstGeom prst="straightConnector1">
            <a:avLst/>
          </a:prstGeom>
          <a:ln w="14288">
            <a:solidFill>
              <a:srgbClr val="00A5D8"/>
            </a:solidFill>
            <a:prstDash val="solid"/>
            <a:tailEnd type="triangle" w="sm" len="sm"/>
          </a:ln>
        </p:spPr>
      </p:cxnSp>
      <p:sp>
        <p:nvSpPr>
          <p:cNvPr id="45" name="正方形/長方形 44">
            <a:extLst>
              <a:ext uri="{FF2B5EF4-FFF2-40B4-BE49-F238E27FC236}">
                <a16:creationId xmlns:a16="http://schemas.microsoft.com/office/drawing/2014/main" id="{8AA3D0EB-2F79-499D-BBA7-6E4F7B5C97D0}"/>
              </a:ext>
            </a:extLst>
          </p:cNvPr>
          <p:cNvSpPr>
            <a:spLocks noGrp="1"/>
          </p:cNvSpPr>
          <p:nvPr/>
        </p:nvSpPr>
        <p:spPr>
          <a:xfrm>
            <a:off x="552450" y="3952875"/>
            <a:ext cx="1581150" cy="962025"/>
          </a:xfrm>
          <a:prstGeom prst="rect">
            <a:avLst/>
          </a:prstGeom>
          <a:solidFill>
            <a:srgbClr val="EFE5F6"/>
          </a:solidFill>
          <a:ln w="9525">
            <a:solidFill>
              <a:srgbClr val="7B2DAF"/>
            </a:solidFill>
            <a:prstDash val="solid"/>
          </a:ln>
        </p:spPr>
      </p:sp>
      <p:sp>
        <p:nvSpPr>
          <p:cNvPr id="46" name="正方形/長方形 45">
            <a:extLst>
              <a:ext uri="{FF2B5EF4-FFF2-40B4-BE49-F238E27FC236}">
                <a16:creationId xmlns:a16="http://schemas.microsoft.com/office/drawing/2014/main" id="{FE6A7D3C-C23C-47DB-856F-E06596AC29E7}"/>
              </a:ext>
            </a:extLst>
          </p:cNvPr>
          <p:cNvSpPr>
            <a:spLocks noGrp="1"/>
          </p:cNvSpPr>
          <p:nvPr/>
        </p:nvSpPr>
        <p:spPr>
          <a:xfrm>
            <a:off x="695325" y="4086225"/>
            <a:ext cx="1295400" cy="257175"/>
          </a:xfrm>
          <a:prstGeom prst="rect">
            <a:avLst/>
          </a:prstGeom>
          <a:noFill/>
          <a:ln w="0">
            <a:noFill/>
            <a:prstDash val="solid"/>
          </a:ln>
        </p:spPr>
        <p:txBody>
          <a:bodyPr wrap="square" lIns="28575" tIns="19050" rIns="28575" bIns="19050" anchor="ctr">
            <a:normAutofit/>
          </a:bodyPr>
          <a:lstStyle/>
          <a:p>
            <a:pPr algn="ctr">
              <a:lnSpc>
                <a:spcPct val="100000"/>
              </a:lnSpc>
              <a:buNone/>
              <a:defRPr sz="1200" b="1" i="0">
                <a:solidFill>
                  <a:srgbClr val="7B2DAF"/>
                </a:solidFill>
                <a:latin typeface="Yu Gothic"/>
                <a:ea typeface="Yu Gothic"/>
                <a:cs typeface="Yu Gothic"/>
              </a:defRPr>
            </a:pPr>
            <a:r>
              <a:rPr sz="1200" b="1" i="0">
                <a:solidFill>
                  <a:srgbClr val="7B2DAF"/>
                </a:solidFill>
                <a:latin typeface="Yu Gothic"/>
                <a:ea typeface="Yu Gothic"/>
                <a:cs typeface="Yu Gothic"/>
              </a:rPr>
              <a:t>High fidelity</a:t>
            </a:r>
          </a:p>
        </p:txBody>
      </p:sp>
      <p:sp>
        <p:nvSpPr>
          <p:cNvPr id="47" name="正方形/長方形 46">
            <a:extLst>
              <a:ext uri="{FF2B5EF4-FFF2-40B4-BE49-F238E27FC236}">
                <a16:creationId xmlns:a16="http://schemas.microsoft.com/office/drawing/2014/main" id="{83C13C30-004E-45A5-AB42-EC40E2A4EBD8}"/>
              </a:ext>
            </a:extLst>
          </p:cNvPr>
          <p:cNvSpPr>
            <a:spLocks noGrp="1"/>
          </p:cNvSpPr>
          <p:nvPr/>
        </p:nvSpPr>
        <p:spPr>
          <a:xfrm>
            <a:off x="695325" y="4410075"/>
            <a:ext cx="1295400" cy="361950"/>
          </a:xfrm>
          <a:prstGeom prst="rect">
            <a:avLst/>
          </a:prstGeom>
          <a:noFill/>
          <a:ln w="0">
            <a:noFill/>
            <a:prstDash val="solid"/>
          </a:ln>
        </p:spPr>
        <p:txBody>
          <a:bodyPr wrap="square" lIns="28575" tIns="19050" rIns="28575" bIns="19050" anchor="ctr">
            <a:normAutofit/>
          </a:bodyPr>
          <a:lstStyle/>
          <a:p>
            <a:pPr algn="ctr">
              <a:lnSpc>
                <a:spcPct val="103000"/>
              </a:lnSpc>
              <a:buNone/>
              <a:defRPr sz="728" b="0" i="0">
                <a:solidFill>
                  <a:srgbClr val="5B5B5B"/>
                </a:solidFill>
                <a:latin typeface="Yu Gothic"/>
                <a:ea typeface="Yu Gothic"/>
                <a:cs typeface="Yu Gothic"/>
              </a:defRPr>
            </a:pPr>
            <a:r>
              <a:rPr sz="728" b="0" i="0">
                <a:solidFill>
                  <a:srgbClr val="5B5B5B"/>
                </a:solidFill>
                <a:latin typeface="Yu Gothic"/>
                <a:ea typeface="Yu Gothic"/>
                <a:cs typeface="Yu Gothic"/>
              </a:rPr>
              <a:t>ordinary report refresh does not rerun COMSOL</a:t>
            </a:r>
          </a:p>
        </p:txBody>
      </p:sp>
      <p:sp>
        <p:nvSpPr>
          <p:cNvPr id="48" name="正方形/長方形 47">
            <a:extLst>
              <a:ext uri="{FF2B5EF4-FFF2-40B4-BE49-F238E27FC236}">
                <a16:creationId xmlns:a16="http://schemas.microsoft.com/office/drawing/2014/main" id="{9149850E-1BAF-4BDD-A837-1BBA4203A5A9}"/>
              </a:ext>
            </a:extLst>
          </p:cNvPr>
          <p:cNvSpPr>
            <a:spLocks noGrp="1"/>
          </p:cNvSpPr>
          <p:nvPr/>
        </p:nvSpPr>
        <p:spPr>
          <a:xfrm>
            <a:off x="2533650" y="3952875"/>
            <a:ext cx="1866900" cy="962025"/>
          </a:xfrm>
          <a:prstGeom prst="rect">
            <a:avLst/>
          </a:prstGeom>
          <a:solidFill>
            <a:srgbClr val="FFFFFF"/>
          </a:solidFill>
          <a:ln w="9525">
            <a:solidFill>
              <a:srgbClr val="D6D6D6"/>
            </a:solidFill>
            <a:prstDash val="solid"/>
          </a:ln>
        </p:spPr>
      </p:sp>
      <p:sp>
        <p:nvSpPr>
          <p:cNvPr id="49" name="正方形/長方形 48">
            <a:extLst>
              <a:ext uri="{FF2B5EF4-FFF2-40B4-BE49-F238E27FC236}">
                <a16:creationId xmlns:a16="http://schemas.microsoft.com/office/drawing/2014/main" id="{D9C0092A-1D96-4339-9A12-56EFFC349080}"/>
              </a:ext>
            </a:extLst>
          </p:cNvPr>
          <p:cNvSpPr>
            <a:spLocks noGrp="1"/>
          </p:cNvSpPr>
          <p:nvPr/>
        </p:nvSpPr>
        <p:spPr>
          <a:xfrm>
            <a:off x="2533650" y="3952875"/>
            <a:ext cx="57150" cy="962025"/>
          </a:xfrm>
          <a:prstGeom prst="rect">
            <a:avLst/>
          </a:prstGeom>
          <a:solidFill>
            <a:srgbClr val="7B2DAF"/>
          </a:solidFill>
          <a:ln w="0">
            <a:noFill/>
            <a:prstDash val="solid"/>
          </a:ln>
        </p:spPr>
      </p:sp>
      <p:sp>
        <p:nvSpPr>
          <p:cNvPr id="50" name="正方形/長方形 49">
            <a:extLst>
              <a:ext uri="{FF2B5EF4-FFF2-40B4-BE49-F238E27FC236}">
                <a16:creationId xmlns:a16="http://schemas.microsoft.com/office/drawing/2014/main" id="{2EB1F778-9A1B-4C6A-9C5E-BCC36D50BC14}"/>
              </a:ext>
            </a:extLst>
          </p:cNvPr>
          <p:cNvSpPr>
            <a:spLocks noGrp="1"/>
          </p:cNvSpPr>
          <p:nvPr/>
        </p:nvSpPr>
        <p:spPr>
          <a:xfrm>
            <a:off x="2695575" y="4105275"/>
            <a:ext cx="1543050" cy="619125"/>
          </a:xfrm>
          <a:prstGeom prst="rect">
            <a:avLst/>
          </a:prstGeom>
          <a:noFill/>
          <a:ln w="0">
            <a:noFill/>
            <a:prstDash val="solid"/>
          </a:ln>
        </p:spPr>
        <p:txBody>
          <a:bodyPr wrap="square" lIns="28575" tIns="19050" rIns="28575" bIns="19050" anchor="ctr">
            <a:normAutofit/>
          </a:bodyPr>
          <a:lstStyle/>
          <a:p>
            <a:pPr algn="ctr">
              <a:lnSpc>
                <a:spcPct val="108000"/>
              </a:lnSpc>
              <a:buNone/>
              <a:defRPr sz="938" b="1" i="0">
                <a:solidFill>
                  <a:srgbClr val="5B5B5B"/>
                </a:solidFill>
                <a:latin typeface="Yu Gothic"/>
                <a:ea typeface="Yu Gothic"/>
                <a:cs typeface="Yu Gothic"/>
              </a:defRPr>
            </a:pPr>
            <a:r>
              <a:rPr sz="938" b="1" i="0">
                <a:solidFill>
                  <a:srgbClr val="5B5B5B"/>
                </a:solidFill>
                <a:latin typeface="Yu Gothic"/>
                <a:ea typeface="Yu Gothic"/>
                <a:cs typeface="Yu Gothic"/>
              </a:rPr>
              <a:t>mesh / time /</a:t>
            </a:r>
          </a:p>
          <a:p>
            <a:pPr algn="ctr">
              <a:lnSpc>
                <a:spcPct val="108000"/>
              </a:lnSpc>
              <a:buNone/>
              <a:defRPr sz="938" b="1" i="0">
                <a:solidFill>
                  <a:srgbClr val="5B5B5B"/>
                </a:solidFill>
                <a:latin typeface="Yu Gothic"/>
                <a:ea typeface="Yu Gothic"/>
                <a:cs typeface="Yu Gothic"/>
              </a:defRPr>
            </a:pPr>
            <a:r>
              <a:rPr sz="938" b="1" i="0">
                <a:solidFill>
                  <a:srgbClr val="5B5B5B"/>
                </a:solidFill>
                <a:latin typeface="Yu Gothic"/>
                <a:ea typeface="Yu Gothic"/>
                <a:cs typeface="Yu Gothic"/>
              </a:rPr>
              <a:t>radiation evidence</a:t>
            </a:r>
          </a:p>
        </p:txBody>
      </p:sp>
      <p:sp>
        <p:nvSpPr>
          <p:cNvPr id="51" name="正方形/長方形 50">
            <a:extLst>
              <a:ext uri="{FF2B5EF4-FFF2-40B4-BE49-F238E27FC236}">
                <a16:creationId xmlns:a16="http://schemas.microsoft.com/office/drawing/2014/main" id="{581A0BE4-708F-4103-A681-EE2674244836}"/>
              </a:ext>
            </a:extLst>
          </p:cNvPr>
          <p:cNvSpPr>
            <a:spLocks noGrp="1"/>
          </p:cNvSpPr>
          <p:nvPr/>
        </p:nvSpPr>
        <p:spPr>
          <a:xfrm>
            <a:off x="4800600" y="3952875"/>
            <a:ext cx="1866900" cy="962025"/>
          </a:xfrm>
          <a:prstGeom prst="rect">
            <a:avLst/>
          </a:prstGeom>
          <a:solidFill>
            <a:srgbClr val="FFFFFF"/>
          </a:solidFill>
          <a:ln w="9525">
            <a:solidFill>
              <a:srgbClr val="D6D6D6"/>
            </a:solidFill>
            <a:prstDash val="solid"/>
          </a:ln>
        </p:spPr>
      </p:sp>
      <p:sp>
        <p:nvSpPr>
          <p:cNvPr id="52" name="正方形/長方形 51">
            <a:extLst>
              <a:ext uri="{FF2B5EF4-FFF2-40B4-BE49-F238E27FC236}">
                <a16:creationId xmlns:a16="http://schemas.microsoft.com/office/drawing/2014/main" id="{7BE3B39B-1E7C-4CFA-B906-7DFFBAA9D512}"/>
              </a:ext>
            </a:extLst>
          </p:cNvPr>
          <p:cNvSpPr>
            <a:spLocks noGrp="1"/>
          </p:cNvSpPr>
          <p:nvPr/>
        </p:nvSpPr>
        <p:spPr>
          <a:xfrm>
            <a:off x="4800600" y="3952875"/>
            <a:ext cx="57150" cy="962025"/>
          </a:xfrm>
          <a:prstGeom prst="rect">
            <a:avLst/>
          </a:prstGeom>
          <a:solidFill>
            <a:srgbClr val="7B2DAF"/>
          </a:solidFill>
          <a:ln w="0">
            <a:noFill/>
            <a:prstDash val="solid"/>
          </a:ln>
        </p:spPr>
      </p:sp>
      <p:sp>
        <p:nvSpPr>
          <p:cNvPr id="53" name="正方形/長方形 52">
            <a:extLst>
              <a:ext uri="{FF2B5EF4-FFF2-40B4-BE49-F238E27FC236}">
                <a16:creationId xmlns:a16="http://schemas.microsoft.com/office/drawing/2014/main" id="{7FF122D3-F105-43BC-8246-D5DBE2CA24C7}"/>
              </a:ext>
            </a:extLst>
          </p:cNvPr>
          <p:cNvSpPr>
            <a:spLocks noGrp="1"/>
          </p:cNvSpPr>
          <p:nvPr/>
        </p:nvSpPr>
        <p:spPr>
          <a:xfrm>
            <a:off x="4962525" y="4105275"/>
            <a:ext cx="1543050" cy="619125"/>
          </a:xfrm>
          <a:prstGeom prst="rect">
            <a:avLst/>
          </a:prstGeom>
          <a:noFill/>
          <a:ln w="0">
            <a:noFill/>
            <a:prstDash val="solid"/>
          </a:ln>
        </p:spPr>
        <p:txBody>
          <a:bodyPr wrap="square" lIns="28575" tIns="19050" rIns="28575" bIns="19050" anchor="ctr">
            <a:normAutofit/>
          </a:bodyPr>
          <a:lstStyle/>
          <a:p>
            <a:pPr algn="ctr">
              <a:lnSpc>
                <a:spcPct val="108000"/>
              </a:lnSpc>
              <a:buNone/>
              <a:defRPr sz="938" b="1" i="0">
                <a:solidFill>
                  <a:srgbClr val="5B5B5B"/>
                </a:solidFill>
                <a:latin typeface="Yu Gothic"/>
                <a:ea typeface="Yu Gothic"/>
                <a:cs typeface="Yu Gothic"/>
              </a:defRPr>
            </a:pPr>
            <a:r>
              <a:rPr sz="938" b="1" i="0">
                <a:solidFill>
                  <a:srgbClr val="5B5B5B"/>
                </a:solidFill>
                <a:latin typeface="Yu Gothic"/>
                <a:ea typeface="Yu Gothic"/>
                <a:cs typeface="Yu Gothic"/>
              </a:rPr>
              <a:t>benchmark_</a:t>
            </a:r>
          </a:p>
          <a:p>
            <a:pPr algn="ctr">
              <a:lnSpc>
                <a:spcPct val="108000"/>
              </a:lnSpc>
              <a:buNone/>
              <a:defRPr sz="938" b="1" i="0">
                <a:solidFill>
                  <a:srgbClr val="5B5B5B"/>
                </a:solidFill>
                <a:latin typeface="Yu Gothic"/>
                <a:ea typeface="Yu Gothic"/>
                <a:cs typeface="Yu Gothic"/>
              </a:defRPr>
            </a:pPr>
            <a:r>
              <a:rPr sz="938" b="1" i="0">
                <a:solidFill>
                  <a:srgbClr val="5B5B5B"/>
                </a:solidFill>
                <a:latin typeface="Yu Gothic"/>
                <a:ea typeface="Yu Gothic"/>
                <a:cs typeface="Yu Gothic"/>
              </a:rPr>
              <a:t>high_fidelity.py</a:t>
            </a:r>
          </a:p>
        </p:txBody>
      </p:sp>
      <p:sp>
        <p:nvSpPr>
          <p:cNvPr id="54" name="正方形/長方形 53">
            <a:extLst>
              <a:ext uri="{FF2B5EF4-FFF2-40B4-BE49-F238E27FC236}">
                <a16:creationId xmlns:a16="http://schemas.microsoft.com/office/drawing/2014/main" id="{565B8CFC-7B2A-4ED0-A8A6-F2B6A6CA7E59}"/>
              </a:ext>
            </a:extLst>
          </p:cNvPr>
          <p:cNvSpPr>
            <a:spLocks noGrp="1"/>
          </p:cNvSpPr>
          <p:nvPr/>
        </p:nvSpPr>
        <p:spPr>
          <a:xfrm>
            <a:off x="7067550" y="3952875"/>
            <a:ext cx="1866900" cy="962025"/>
          </a:xfrm>
          <a:prstGeom prst="rect">
            <a:avLst/>
          </a:prstGeom>
          <a:solidFill>
            <a:srgbClr val="FFFFFF"/>
          </a:solidFill>
          <a:ln w="9525">
            <a:solidFill>
              <a:srgbClr val="D6D6D6"/>
            </a:solidFill>
            <a:prstDash val="solid"/>
          </a:ln>
        </p:spPr>
      </p:sp>
      <p:sp>
        <p:nvSpPr>
          <p:cNvPr id="55" name="正方形/長方形 54">
            <a:extLst>
              <a:ext uri="{FF2B5EF4-FFF2-40B4-BE49-F238E27FC236}">
                <a16:creationId xmlns:a16="http://schemas.microsoft.com/office/drawing/2014/main" id="{3EFD71EE-3638-4F14-BAC8-D81D1FF84297}"/>
              </a:ext>
            </a:extLst>
          </p:cNvPr>
          <p:cNvSpPr>
            <a:spLocks noGrp="1"/>
          </p:cNvSpPr>
          <p:nvPr/>
        </p:nvSpPr>
        <p:spPr>
          <a:xfrm>
            <a:off x="7067550" y="3952875"/>
            <a:ext cx="57150" cy="962025"/>
          </a:xfrm>
          <a:prstGeom prst="rect">
            <a:avLst/>
          </a:prstGeom>
          <a:solidFill>
            <a:srgbClr val="7B2DAF"/>
          </a:solidFill>
          <a:ln w="0">
            <a:noFill/>
            <a:prstDash val="solid"/>
          </a:ln>
        </p:spPr>
      </p:sp>
      <p:sp>
        <p:nvSpPr>
          <p:cNvPr id="56" name="正方形/長方形 55">
            <a:extLst>
              <a:ext uri="{FF2B5EF4-FFF2-40B4-BE49-F238E27FC236}">
                <a16:creationId xmlns:a16="http://schemas.microsoft.com/office/drawing/2014/main" id="{48D101CF-38DB-4A1F-A60F-77729325693C}"/>
              </a:ext>
            </a:extLst>
          </p:cNvPr>
          <p:cNvSpPr>
            <a:spLocks noGrp="1"/>
          </p:cNvSpPr>
          <p:nvPr/>
        </p:nvSpPr>
        <p:spPr>
          <a:xfrm>
            <a:off x="7229475" y="4105275"/>
            <a:ext cx="1543050" cy="619125"/>
          </a:xfrm>
          <a:prstGeom prst="rect">
            <a:avLst/>
          </a:prstGeom>
          <a:noFill/>
          <a:ln w="0">
            <a:noFill/>
            <a:prstDash val="solid"/>
          </a:ln>
        </p:spPr>
        <p:txBody>
          <a:bodyPr wrap="square" lIns="28575" tIns="19050" rIns="28575" bIns="19050" anchor="ctr">
            <a:normAutofit/>
          </a:bodyPr>
          <a:lstStyle/>
          <a:p>
            <a:pPr algn="ctr">
              <a:lnSpc>
                <a:spcPct val="108000"/>
              </a:lnSpc>
              <a:buNone/>
              <a:defRPr sz="938" b="1" i="0">
                <a:solidFill>
                  <a:srgbClr val="5B5B5B"/>
                </a:solidFill>
                <a:latin typeface="Yu Gothic"/>
                <a:ea typeface="Yu Gothic"/>
                <a:cs typeface="Yu Gothic"/>
              </a:defRPr>
            </a:pPr>
            <a:r>
              <a:rPr sz="938" b="1" i="0">
                <a:solidFill>
                  <a:srgbClr val="5B5B5B"/>
                </a:solidFill>
                <a:latin typeface="Yu Gothic"/>
                <a:ea typeface="Yu Gothic"/>
                <a:cs typeface="Yu Gothic"/>
              </a:rPr>
              <a:t>canonical</a:t>
            </a:r>
          </a:p>
          <a:p>
            <a:pPr algn="ctr">
              <a:lnSpc>
                <a:spcPct val="108000"/>
              </a:lnSpc>
              <a:buNone/>
              <a:defRPr sz="938" b="1" i="0">
                <a:solidFill>
                  <a:srgbClr val="5B5B5B"/>
                </a:solidFill>
                <a:latin typeface="Yu Gothic"/>
                <a:ea typeface="Yu Gothic"/>
                <a:cs typeface="Yu Gothic"/>
              </a:defRPr>
            </a:pPr>
            <a:r>
              <a:rPr sz="938" b="1" i="0">
                <a:solidFill>
                  <a:srgbClr val="5B5B5B"/>
                </a:solidFill>
                <a:latin typeface="Yu Gothic"/>
                <a:ea typeface="Yu Gothic"/>
                <a:cs typeface="Yu Gothic"/>
              </a:rPr>
              <a:t>source_data</a:t>
            </a:r>
          </a:p>
        </p:txBody>
      </p:sp>
      <p:sp>
        <p:nvSpPr>
          <p:cNvPr id="57" name="正方形/長方形 56">
            <a:extLst>
              <a:ext uri="{FF2B5EF4-FFF2-40B4-BE49-F238E27FC236}">
                <a16:creationId xmlns:a16="http://schemas.microsoft.com/office/drawing/2014/main" id="{27B50793-BDA9-426B-8429-3C55D56EBC92}"/>
              </a:ext>
            </a:extLst>
          </p:cNvPr>
          <p:cNvSpPr>
            <a:spLocks noGrp="1"/>
          </p:cNvSpPr>
          <p:nvPr/>
        </p:nvSpPr>
        <p:spPr>
          <a:xfrm>
            <a:off x="9334500" y="3952875"/>
            <a:ext cx="1866900" cy="962025"/>
          </a:xfrm>
          <a:prstGeom prst="rect">
            <a:avLst/>
          </a:prstGeom>
          <a:solidFill>
            <a:srgbClr val="FFFFFF"/>
          </a:solidFill>
          <a:ln w="9525">
            <a:solidFill>
              <a:srgbClr val="D6D6D6"/>
            </a:solidFill>
            <a:prstDash val="solid"/>
          </a:ln>
        </p:spPr>
      </p:sp>
      <p:sp>
        <p:nvSpPr>
          <p:cNvPr id="58" name="正方形/長方形 57">
            <a:extLst>
              <a:ext uri="{FF2B5EF4-FFF2-40B4-BE49-F238E27FC236}">
                <a16:creationId xmlns:a16="http://schemas.microsoft.com/office/drawing/2014/main" id="{C1E5865E-DE89-4FDA-9C92-E1010A2A5DBC}"/>
              </a:ext>
            </a:extLst>
          </p:cNvPr>
          <p:cNvSpPr>
            <a:spLocks noGrp="1"/>
          </p:cNvSpPr>
          <p:nvPr/>
        </p:nvSpPr>
        <p:spPr>
          <a:xfrm>
            <a:off x="9334500" y="3952875"/>
            <a:ext cx="57150" cy="962025"/>
          </a:xfrm>
          <a:prstGeom prst="rect">
            <a:avLst/>
          </a:prstGeom>
          <a:solidFill>
            <a:srgbClr val="7B2DAF"/>
          </a:solidFill>
          <a:ln w="0">
            <a:noFill/>
            <a:prstDash val="solid"/>
          </a:ln>
        </p:spPr>
      </p:sp>
      <p:sp>
        <p:nvSpPr>
          <p:cNvPr id="59" name="正方形/長方形 58">
            <a:extLst>
              <a:ext uri="{FF2B5EF4-FFF2-40B4-BE49-F238E27FC236}">
                <a16:creationId xmlns:a16="http://schemas.microsoft.com/office/drawing/2014/main" id="{CAC54EB0-93BE-4820-9257-2D1D89D571AC}"/>
              </a:ext>
            </a:extLst>
          </p:cNvPr>
          <p:cNvSpPr>
            <a:spLocks noGrp="1"/>
          </p:cNvSpPr>
          <p:nvPr/>
        </p:nvSpPr>
        <p:spPr>
          <a:xfrm>
            <a:off x="9496425" y="4105275"/>
            <a:ext cx="1543050" cy="619125"/>
          </a:xfrm>
          <a:prstGeom prst="rect">
            <a:avLst/>
          </a:prstGeom>
          <a:noFill/>
          <a:ln w="0">
            <a:noFill/>
            <a:prstDash val="solid"/>
          </a:ln>
        </p:spPr>
        <p:txBody>
          <a:bodyPr wrap="square" lIns="28575" tIns="19050" rIns="28575" bIns="19050" anchor="ctr">
            <a:normAutofit/>
          </a:bodyPr>
          <a:lstStyle/>
          <a:p>
            <a:pPr algn="ctr">
              <a:lnSpc>
                <a:spcPct val="108000"/>
              </a:lnSpc>
              <a:buNone/>
              <a:defRPr sz="938" b="1" i="0">
                <a:solidFill>
                  <a:srgbClr val="5B5B5B"/>
                </a:solidFill>
                <a:latin typeface="Yu Gothic"/>
                <a:ea typeface="Yu Gothic"/>
                <a:cs typeface="Yu Gothic"/>
              </a:defRPr>
            </a:pPr>
            <a:r>
              <a:rPr sz="938" b="1" i="0">
                <a:solidFill>
                  <a:srgbClr val="5B5B5B"/>
                </a:solidFill>
                <a:latin typeface="Yu Gothic"/>
                <a:ea typeface="Yu Gothic"/>
                <a:cs typeface="Yu Gothic"/>
              </a:rPr>
              <a:t>build_report.py</a:t>
            </a:r>
          </a:p>
          <a:p>
            <a:pPr algn="ctr">
              <a:lnSpc>
                <a:spcPct val="108000"/>
              </a:lnSpc>
              <a:buNone/>
              <a:defRPr sz="938" b="1" i="0">
                <a:solidFill>
                  <a:srgbClr val="5B5B5B"/>
                </a:solidFill>
                <a:latin typeface="Yu Gothic"/>
                <a:ea typeface="Yu Gothic"/>
                <a:cs typeface="Yu Gothic"/>
              </a:defRPr>
            </a:pPr>
            <a:r>
              <a:rPr sz="938" b="1" i="0">
                <a:solidFill>
                  <a:srgbClr val="5B5B5B"/>
                </a:solidFill>
                <a:latin typeface="Yu Gothic"/>
                <a:ea typeface="Yu Gothic"/>
                <a:cs typeface="Yu Gothic"/>
              </a:rPr>
              <a:t>CAE report</a:t>
            </a:r>
          </a:p>
        </p:txBody>
      </p:sp>
      <p:cxnSp>
        <p:nvCxnSpPr>
          <p:cNvPr id="123" name="直線矢印コネクタ 122"/>
          <p:cNvCxnSpPr>
            <a:stCxn id="48" idx="3"/>
            <a:endCxn id="51" idx="1"/>
          </p:cNvCxnSpPr>
          <p:nvPr/>
        </p:nvCxnSpPr>
        <p:spPr>
          <a:xfrm>
            <a:off x="4400550" y="4433888"/>
            <a:ext cx="400050" cy="0"/>
          </a:xfrm>
          <a:prstGeom prst="straightConnector1">
            <a:avLst/>
          </a:prstGeom>
          <a:ln w="14288">
            <a:solidFill>
              <a:srgbClr val="7B2DAF"/>
            </a:solidFill>
            <a:prstDash val="solid"/>
            <a:tailEnd type="triangle" w="sm" len="sm"/>
          </a:ln>
        </p:spPr>
      </p:cxnSp>
      <p:cxnSp>
        <p:nvCxnSpPr>
          <p:cNvPr id="124" name="直線矢印コネクタ 123"/>
          <p:cNvCxnSpPr>
            <a:stCxn id="51" idx="3"/>
            <a:endCxn id="54" idx="1"/>
          </p:cNvCxnSpPr>
          <p:nvPr/>
        </p:nvCxnSpPr>
        <p:spPr>
          <a:xfrm>
            <a:off x="6667500" y="4433888"/>
            <a:ext cx="400050" cy="0"/>
          </a:xfrm>
          <a:prstGeom prst="straightConnector1">
            <a:avLst/>
          </a:prstGeom>
          <a:ln w="14288">
            <a:solidFill>
              <a:srgbClr val="7B2DAF"/>
            </a:solidFill>
            <a:prstDash val="solid"/>
            <a:tailEnd type="triangle" w="sm" len="sm"/>
          </a:ln>
        </p:spPr>
      </p:cxnSp>
      <p:cxnSp>
        <p:nvCxnSpPr>
          <p:cNvPr id="125" name="直線矢印コネクタ 124"/>
          <p:cNvCxnSpPr>
            <a:stCxn id="54" idx="3"/>
            <a:endCxn id="57" idx="1"/>
          </p:cNvCxnSpPr>
          <p:nvPr/>
        </p:nvCxnSpPr>
        <p:spPr>
          <a:xfrm>
            <a:off x="8934450" y="4433888"/>
            <a:ext cx="400050" cy="0"/>
          </a:xfrm>
          <a:prstGeom prst="straightConnector1">
            <a:avLst/>
          </a:prstGeom>
          <a:ln w="14288">
            <a:solidFill>
              <a:srgbClr val="7B2DAF"/>
            </a:solidFill>
            <a:prstDash val="solid"/>
            <a:tailEnd type="triangle" w="sm" len="sm"/>
          </a:ln>
        </p:spPr>
      </p:cxnSp>
      <p:graphicFrame>
        <p:nvGraphicFramePr>
          <p:cNvPr id="126" name="表 125"/>
          <p:cNvGraphicFramePr/>
          <p:nvPr/>
        </p:nvGraphicFramePr>
        <p:xfrm>
          <a:off x="552450" y="5181600"/>
          <a:ext cx="11087100" cy="1057275"/>
        </p:xfrm>
        <a:graphic>
          <a:graphicData uri="http://schemas.openxmlformats.org/drawingml/2006/table">
            <a:tbl>
              <a:tblPr/>
              <a:tblGrid>
                <a:gridCol w="1924050">
                  <a:extLst>
                    <a:ext uri="{9D8B030D-6E8A-4147-A177-3AD203B41FA5}">
                      <a16:colId xmlns:a16="http://schemas.microsoft.com/office/drawing/2014/main" val="20000"/>
                    </a:ext>
                  </a:extLst>
                </a:gridCol>
                <a:gridCol w="2790825">
                  <a:extLst>
                    <a:ext uri="{9D8B030D-6E8A-4147-A177-3AD203B41FA5}">
                      <a16:colId xmlns:a16="http://schemas.microsoft.com/office/drawing/2014/main" val="20001"/>
                    </a:ext>
                  </a:extLst>
                </a:gridCol>
                <a:gridCol w="3419475">
                  <a:extLst>
                    <a:ext uri="{9D8B030D-6E8A-4147-A177-3AD203B41FA5}">
                      <a16:colId xmlns:a16="http://schemas.microsoft.com/office/drawing/2014/main" val="20002"/>
                    </a:ext>
                  </a:extLst>
                </a:gridCol>
                <a:gridCol w="2952750">
                  <a:extLst>
                    <a:ext uri="{9D8B030D-6E8A-4147-A177-3AD203B41FA5}">
                      <a16:colId xmlns:a16="http://schemas.microsoft.com/office/drawing/2014/main" val="20003"/>
                    </a:ext>
                  </a:extLst>
                </a:gridCol>
              </a:tblGrid>
              <a:tr h="264319">
                <a:tc>
                  <a:txBody>
                    <a:bodyPr/>
                    <a:lstStyle/>
                    <a:p>
                      <a:r>
                        <a:rPr sz="788" b="1">
                          <a:solidFill>
                            <a:srgbClr val="FFFFFF"/>
                          </a:solidFill>
                          <a:latin typeface="Yu Gothic"/>
                          <a:ea typeface="Yu Gothic"/>
                          <a:cs typeface="Yu Gothic"/>
                        </a:rPr>
                        <a:t>evidence layer</a:t>
                      </a:r>
                    </a:p>
                  </a:txBody>
                  <a:tcPr>
                    <a:solidFill>
                      <a:srgbClr val="007FA8"/>
                    </a:solidFill>
                  </a:tcPr>
                </a:tc>
                <a:tc>
                  <a:txBody>
                    <a:bodyPr/>
                    <a:lstStyle/>
                    <a:p>
                      <a:r>
                        <a:rPr sz="788" b="1">
                          <a:solidFill>
                            <a:srgbClr val="FFFFFF"/>
                          </a:solidFill>
                          <a:latin typeface="Yu Gothic"/>
                          <a:ea typeface="Yu Gothic"/>
                          <a:cs typeface="Yu Gothic"/>
                        </a:rPr>
                        <a:t>primary output</a:t>
                      </a:r>
                    </a:p>
                  </a:txBody>
                  <a:tcPr>
                    <a:solidFill>
                      <a:srgbClr val="007FA8"/>
                    </a:solidFill>
                  </a:tcPr>
                </a:tc>
                <a:tc>
                  <a:txBody>
                    <a:bodyPr/>
                    <a:lstStyle/>
                    <a:p>
                      <a:r>
                        <a:rPr sz="788" b="1">
                          <a:solidFill>
                            <a:srgbClr val="FFFFFF"/>
                          </a:solidFill>
                          <a:latin typeface="Yu Gothic"/>
                          <a:ea typeface="Yu Gothic"/>
                          <a:cs typeface="Yu Gothic"/>
                        </a:rPr>
                        <a:t>主張できる範囲</a:t>
                      </a:r>
                    </a:p>
                  </a:txBody>
                  <a:tcPr>
                    <a:solidFill>
                      <a:srgbClr val="007FA8"/>
                    </a:solidFill>
                  </a:tcPr>
                </a:tc>
                <a:tc>
                  <a:txBody>
                    <a:bodyPr/>
                    <a:lstStyle/>
                    <a:p>
                      <a:r>
                        <a:rPr sz="788" b="1">
                          <a:solidFill>
                            <a:srgbClr val="FFFFFF"/>
                          </a:solidFill>
                          <a:latin typeface="Yu Gothic"/>
                          <a:ea typeface="Yu Gothic"/>
                          <a:cs typeface="Yu Gothic"/>
                        </a:rPr>
                        <a:t>停止条件 / 再評価条件</a:t>
                      </a:r>
                    </a:p>
                  </a:txBody>
                  <a:tcPr>
                    <a:solidFill>
                      <a:srgbClr val="007FA8"/>
                    </a:solidFill>
                  </a:tcPr>
                </a:tc>
                <a:extLst>
                  <a:ext uri="{0D108BD9-81ED-4DB2-BD59-A6C34878D82A}">
                    <a16:rowId xmlns:a16="http://schemas.microsoft.com/office/drawing/2014/main" val="10000"/>
                  </a:ext>
                </a:extLst>
              </a:tr>
              <a:tr h="264319">
                <a:tc>
                  <a:txBody>
                    <a:bodyPr/>
                    <a:lstStyle/>
                    <a:p>
                      <a:r>
                        <a:rPr sz="743" b="1">
                          <a:solidFill>
                            <a:srgbClr val="4D8710"/>
                          </a:solidFill>
                          <a:latin typeface="Yu Gothic"/>
                          <a:ea typeface="Yu Gothic"/>
                          <a:cs typeface="Yu Gothic"/>
                        </a:rPr>
                        <a:t>TopCell</a:t>
                      </a:r>
                    </a:p>
                  </a:txBody>
                  <a:tcPr>
                    <a:solidFill>
                      <a:srgbClr val="FFFFFF"/>
                    </a:solidFill>
                  </a:tcPr>
                </a:tc>
                <a:tc>
                  <a:txBody>
                    <a:bodyPr/>
                    <a:lstStyle/>
                    <a:p>
                      <a:r>
                        <a:rPr sz="743">
                          <a:solidFill>
                            <a:srgbClr val="5B5B5B"/>
                          </a:solidFill>
                          <a:latin typeface="Yu Gothic"/>
                          <a:ea typeface="Yu Gothic"/>
                          <a:cs typeface="Yu Gothic"/>
                        </a:rPr>
                        <a:t>benchmark_summary.json</a:t>
                      </a:r>
                    </a:p>
                  </a:txBody>
                  <a:tcPr>
                    <a:solidFill>
                      <a:srgbClr val="FFFFFF"/>
                    </a:solidFill>
                  </a:tcPr>
                </a:tc>
                <a:tc>
                  <a:txBody>
                    <a:bodyPr/>
                    <a:lstStyle/>
                    <a:p>
                      <a:r>
                        <a:rPr sz="743">
                          <a:solidFill>
                            <a:srgbClr val="5B5B5B"/>
                          </a:solidFill>
                          <a:latin typeface="Yu Gothic"/>
                          <a:ea typeface="Yu Gothic"/>
                          <a:cs typeface="Yu Gothic"/>
                        </a:rPr>
                        <a:t>既知truth内の回帰・model gap検出</a:t>
                      </a:r>
                    </a:p>
                  </a:txBody>
                  <a:tcPr>
                    <a:solidFill>
                      <a:srgbClr val="FFFFFF"/>
                    </a:solidFill>
                  </a:tcPr>
                </a:tc>
                <a:tc>
                  <a:txBody>
                    <a:bodyPr/>
                    <a:lstStyle/>
                    <a:p>
                      <a:r>
                        <a:rPr sz="743">
                          <a:solidFill>
                            <a:srgbClr val="5B5B5B"/>
                          </a:solidFill>
                          <a:latin typeface="Yu Gothic"/>
                          <a:ea typeface="Yu Gothic"/>
                          <a:cs typeface="Yu Gothic"/>
                        </a:rPr>
                        <a:t>core threshold逸脱 / negative control改善</a:t>
                      </a:r>
                    </a:p>
                  </a:txBody>
                  <a:tcPr>
                    <a:solidFill>
                      <a:srgbClr val="FFFFFF"/>
                    </a:solidFill>
                  </a:tcPr>
                </a:tc>
                <a:extLst>
                  <a:ext uri="{0D108BD9-81ED-4DB2-BD59-A6C34878D82A}">
                    <a16:rowId xmlns:a16="http://schemas.microsoft.com/office/drawing/2014/main" val="10001"/>
                  </a:ext>
                </a:extLst>
              </a:tr>
              <a:tr h="264319">
                <a:tc>
                  <a:txBody>
                    <a:bodyPr/>
                    <a:lstStyle/>
                    <a:p>
                      <a:r>
                        <a:rPr sz="743" b="1">
                          <a:solidFill>
                            <a:srgbClr val="007FA8"/>
                          </a:solidFill>
                          <a:latin typeface="Yu Gothic"/>
                          <a:ea typeface="Yu Gothic"/>
                          <a:cs typeface="Yu Gothic"/>
                        </a:rPr>
                        <a:t>Linear COMSOL</a:t>
                      </a:r>
                    </a:p>
                  </a:txBody>
                  <a:tcPr>
                    <a:solidFill>
                      <a:srgbClr val="F8F8F8"/>
                    </a:solidFill>
                  </a:tcPr>
                </a:tc>
                <a:tc>
                  <a:txBody>
                    <a:bodyPr/>
                    <a:lstStyle/>
                    <a:p>
                      <a:r>
                        <a:rPr sz="743">
                          <a:solidFill>
                            <a:srgbClr val="5B5B5B"/>
                          </a:solidFill>
                          <a:latin typeface="Yu Gothic"/>
                          <a:ea typeface="Yu Gothic"/>
                          <a:cs typeface="Yu Gothic"/>
                        </a:rPr>
                        <a:t>forecast_cases.csv / monitor metrics</a:t>
                      </a:r>
                    </a:p>
                  </a:txBody>
                  <a:tcPr>
                    <a:solidFill>
                      <a:srgbClr val="F8F8F8"/>
                    </a:solidFill>
                  </a:tcPr>
                </a:tc>
                <a:tc>
                  <a:txBody>
                    <a:bodyPr/>
                    <a:lstStyle/>
                    <a:p>
                      <a:r>
                        <a:rPr sz="743">
                          <a:solidFill>
                            <a:srgbClr val="5B5B5B"/>
                          </a:solidFill>
                          <a:latin typeface="Yu Gothic"/>
                          <a:ea typeface="Yu Gothic"/>
                          <a:cs typeface="Yu Gothic"/>
                        </a:rPr>
                        <a:t>線形境界・領域平均への外部転移</a:t>
                      </a:r>
                    </a:p>
                  </a:txBody>
                  <a:tcPr>
                    <a:solidFill>
                      <a:srgbClr val="F8F8F8"/>
                    </a:solidFill>
                  </a:tcPr>
                </a:tc>
                <a:tc>
                  <a:txBody>
                    <a:bodyPr/>
                    <a:lstStyle/>
                    <a:p>
                      <a:r>
                        <a:rPr sz="743">
                          <a:solidFill>
                            <a:srgbClr val="5B5B5B"/>
                          </a:solidFill>
                          <a:latin typeface="Yu Gothic"/>
                          <a:ea typeface="Yu Gothic"/>
                          <a:cs typeface="Yu Gothic"/>
                        </a:rPr>
                        <a:t>geometry・material・boundary変更</a:t>
                      </a:r>
                    </a:p>
                  </a:txBody>
                  <a:tcPr>
                    <a:solidFill>
                      <a:srgbClr val="F8F8F8"/>
                    </a:solidFill>
                  </a:tcPr>
                </a:tc>
                <a:extLst>
                  <a:ext uri="{0D108BD9-81ED-4DB2-BD59-A6C34878D82A}">
                    <a16:rowId xmlns:a16="http://schemas.microsoft.com/office/drawing/2014/main" val="10002"/>
                  </a:ext>
                </a:extLst>
              </a:tr>
              <a:tr h="264319">
                <a:tc>
                  <a:txBody>
                    <a:bodyPr/>
                    <a:lstStyle/>
                    <a:p>
                      <a:r>
                        <a:rPr sz="743" b="1">
                          <a:solidFill>
                            <a:srgbClr val="7B2DAF"/>
                          </a:solidFill>
                          <a:latin typeface="Yu Gothic"/>
                          <a:ea typeface="Yu Gothic"/>
                          <a:cs typeface="Yu Gothic"/>
                        </a:rPr>
                        <a:t>High fidelity</a:t>
                      </a:r>
                    </a:p>
                  </a:txBody>
                  <a:tcPr>
                    <a:solidFill>
                      <a:srgbClr val="FFFFFF"/>
                    </a:solidFill>
                  </a:tcPr>
                </a:tc>
                <a:tc>
                  <a:txBody>
                    <a:bodyPr/>
                    <a:lstStyle/>
                    <a:p>
                      <a:r>
                        <a:rPr sz="743">
                          <a:solidFill>
                            <a:srgbClr val="5B5B5B"/>
                          </a:solidFill>
                          <a:latin typeface="Yu Gothic"/>
                          <a:ea typeface="Yu Gothic"/>
                          <a:cs typeface="Yu Gothic"/>
                        </a:rPr>
                        <a:t>canonical source_data + report</a:t>
                      </a:r>
                    </a:p>
                  </a:txBody>
                  <a:tcPr>
                    <a:solidFill>
                      <a:srgbClr val="FFFFFF"/>
                    </a:solidFill>
                  </a:tcPr>
                </a:tc>
                <a:tc>
                  <a:txBody>
                    <a:bodyPr/>
                    <a:lstStyle/>
                    <a:p>
                      <a:r>
                        <a:rPr sz="743">
                          <a:solidFill>
                            <a:srgbClr val="5B5B5B"/>
                          </a:solidFill>
                          <a:latin typeface="Yu Gothic"/>
                          <a:ea typeface="Yu Gothic"/>
                          <a:cs typeface="Yu Gothic"/>
                        </a:rPr>
                        <a:t>mesh/time/model-form screening</a:t>
                      </a:r>
                    </a:p>
                  </a:txBody>
                  <a:tcPr>
                    <a:solidFill>
                      <a:srgbClr val="FFFFFF"/>
                    </a:solidFill>
                  </a:tcPr>
                </a:tc>
                <a:tc>
                  <a:txBody>
                    <a:bodyPr/>
                    <a:lstStyle/>
                    <a:p>
                      <a:r>
                        <a:rPr sz="743">
                          <a:solidFill>
                            <a:srgbClr val="5B5B5B"/>
                          </a:solidFill>
                          <a:latin typeface="Yu Gothic"/>
                          <a:ea typeface="Yu Gothic"/>
                          <a:cs typeface="Yu Gothic"/>
                        </a:rPr>
                        <a:t>mesh未収束 / radiation sensitivity不一致</a:t>
                      </a:r>
                    </a:p>
                  </a:txBody>
                  <a:tcPr>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4470311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 name="正方形/長方形 34">
            <a:extLst>
              <a:ext uri="{FF2B5EF4-FFF2-40B4-BE49-F238E27FC236}">
                <a16:creationId xmlns:a16="http://schemas.microsoft.com/office/drawing/2014/main" id="{5BE96FAA-3FD2-421C-9965-F215269528A0}"/>
              </a:ext>
            </a:extLst>
          </p:cNvPr>
          <p:cNvSpPr>
            <a:spLocks noGrp="1"/>
          </p:cNvSpPr>
          <p:nvPr/>
        </p:nvSpPr>
        <p:spPr>
          <a:xfrm>
            <a:off x="552450" y="190500"/>
            <a:ext cx="76200" cy="142875"/>
          </a:xfrm>
          <a:prstGeom prst="rect">
            <a:avLst/>
          </a:prstGeom>
          <a:solidFill>
            <a:srgbClr val="76BE18"/>
          </a:solidFill>
          <a:ln w="0">
            <a:noFill/>
            <a:prstDash val="solid"/>
          </a:ln>
        </p:spPr>
      </p:sp>
      <p:sp>
        <p:nvSpPr>
          <p:cNvPr id="2" name="正方形/長方形 1">
            <a:extLst>
              <a:ext uri="{FF2B5EF4-FFF2-40B4-BE49-F238E27FC236}">
                <a16:creationId xmlns:a16="http://schemas.microsoft.com/office/drawing/2014/main" id="{82888AEA-727A-4C42-8DAF-E4F449891A55}"/>
              </a:ext>
            </a:extLst>
          </p:cNvPr>
          <p:cNvSpPr>
            <a:spLocks noGrp="1"/>
          </p:cNvSpPr>
          <p:nvPr/>
        </p:nvSpPr>
        <p:spPr>
          <a:xfrm>
            <a:off x="704850" y="161925"/>
            <a:ext cx="3429000" cy="190500"/>
          </a:xfrm>
          <a:prstGeom prst="rect">
            <a:avLst/>
          </a:prstGeom>
          <a:noFill/>
          <a:ln w="0">
            <a:noFill/>
            <a:prstDash val="solid"/>
          </a:ln>
        </p:spPr>
        <p:txBody>
          <a:bodyPr wrap="none" lIns="28575" tIns="19050" rIns="28575" bIns="19050" anchor="ctr">
            <a:noAutofit/>
          </a:bodyPr>
          <a:lstStyle/>
          <a:p>
            <a:pPr algn="l">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MONITORING EVIDENCE</a:t>
            </a:r>
          </a:p>
        </p:txBody>
      </p:sp>
      <p:sp>
        <p:nvSpPr>
          <p:cNvPr id="3" name="正方形/長方形 2">
            <a:extLst>
              <a:ext uri="{FF2B5EF4-FFF2-40B4-BE49-F238E27FC236}">
                <a16:creationId xmlns:a16="http://schemas.microsoft.com/office/drawing/2014/main" id="{0C15AB24-A66D-4791-9512-4A8914C0C6F3}"/>
              </a:ext>
            </a:extLst>
          </p:cNvPr>
          <p:cNvSpPr>
            <a:spLocks noGrp="1"/>
          </p:cNvSpPr>
          <p:nvPr/>
        </p:nvSpPr>
        <p:spPr>
          <a:xfrm>
            <a:off x="552450" y="400050"/>
            <a:ext cx="11001375" cy="400050"/>
          </a:xfrm>
          <a:prstGeom prst="rect">
            <a:avLst/>
          </a:prstGeom>
          <a:noFill/>
          <a:ln w="0">
            <a:noFill/>
            <a:prstDash val="solid"/>
          </a:ln>
        </p:spPr>
        <p:txBody>
          <a:bodyPr wrap="none" lIns="19050" tIns="0" rIns="19050" bIns="0" anchor="ctr">
            <a:normAutofit/>
          </a:bodyPr>
          <a:lstStyle/>
          <a:p>
            <a:pPr algn="l">
              <a:lnSpc>
                <a:spcPct val="100000"/>
              </a:lnSpc>
              <a:buNone/>
              <a:defRPr sz="2175" b="1" i="0">
                <a:solidFill>
                  <a:srgbClr val="00A5D8"/>
                </a:solidFill>
                <a:latin typeface="Yu Gothic"/>
                <a:ea typeface="Yu Gothic"/>
                <a:cs typeface="Yu Gothic"/>
              </a:defRPr>
            </a:pPr>
            <a:r>
              <a:rPr sz="2175" b="1" i="0">
                <a:solidFill>
                  <a:srgbClr val="00A5D8"/>
                </a:solidFill>
                <a:latin typeface="Yu Gothic"/>
                <a:ea typeface="Yu Gothic"/>
                <a:cs typeface="Yu Gothic"/>
              </a:rPr>
              <a:t>sensor offsetは即時検知、3 W未指令発熱は10 sで検知した</a:t>
            </a:r>
          </a:p>
        </p:txBody>
      </p:sp>
      <p:sp>
        <p:nvSpPr>
          <p:cNvPr id="4" name="正方形/長方形 3">
            <a:extLst>
              <a:ext uri="{FF2B5EF4-FFF2-40B4-BE49-F238E27FC236}">
                <a16:creationId xmlns:a16="http://schemas.microsoft.com/office/drawing/2014/main" id="{F203F7B4-62D9-4E7A-A925-4CE2DB968B07}"/>
              </a:ext>
            </a:extLst>
          </p:cNvPr>
          <p:cNvSpPr>
            <a:spLocks noGrp="1"/>
          </p:cNvSpPr>
          <p:nvPr/>
        </p:nvSpPr>
        <p:spPr>
          <a:xfrm>
            <a:off x="571500" y="838200"/>
            <a:ext cx="10906125" cy="228600"/>
          </a:xfrm>
          <a:prstGeom prst="rect">
            <a:avLst/>
          </a:prstGeom>
          <a:noFill/>
          <a:ln w="0">
            <a:noFill/>
            <a:prstDash val="solid"/>
          </a:ln>
        </p:spPr>
        <p:txBody>
          <a:bodyPr wrap="none" lIns="28575" tIns="19050" rIns="28575" bIns="19050" anchor="ctr">
            <a:noAutofit/>
          </a:bodyPr>
          <a:lstStyle/>
          <a:p>
            <a:pPr algn="l">
              <a:lnSpc>
                <a:spcPct val="100000"/>
              </a:lnSpc>
              <a:buNone/>
              <a:defRPr sz="975" b="0" i="0">
                <a:solidFill>
                  <a:srgbClr val="5B5B5B"/>
                </a:solidFill>
                <a:latin typeface="Yu Gothic"/>
                <a:ea typeface="Yu Gothic"/>
                <a:cs typeface="Yu Gothic"/>
              </a:defRPr>
            </a:pPr>
            <a:r>
              <a:rPr sz="975" b="0" i="0">
                <a:solidFill>
                  <a:srgbClr val="5B5B5B"/>
                </a:solidFill>
                <a:latin typeface="Yu Gothic"/>
                <a:ea typeface="Yu Gothic"/>
                <a:cs typeface="Yu Gothic"/>
              </a:rPr>
              <a:t>同じobserverが欠測中もposteriorを維持し、故障channelを分離する</a:t>
            </a:r>
          </a:p>
        </p:txBody>
      </p:sp>
      <p:sp>
        <p:nvSpPr>
          <p:cNvPr id="5" name="直線コネクタ 4">
            <a:extLst>
              <a:ext uri="{FF2B5EF4-FFF2-40B4-BE49-F238E27FC236}">
                <a16:creationId xmlns:a16="http://schemas.microsoft.com/office/drawing/2014/main" id="{061E5079-4D37-42AF-869C-86DD8AE55E71}"/>
              </a:ext>
            </a:extLst>
          </p:cNvPr>
          <p:cNvSpPr>
            <a:spLocks noGrp="1"/>
          </p:cNvSpPr>
          <p:nvPr/>
        </p:nvSpPr>
        <p:spPr>
          <a:xfrm>
            <a:off x="552450" y="1152525"/>
            <a:ext cx="11087100" cy="0"/>
          </a:xfrm>
          <a:prstGeom prst="line">
            <a:avLst/>
          </a:prstGeom>
          <a:noFill/>
          <a:ln w="9525">
            <a:solidFill>
              <a:srgbClr val="D6D6D6"/>
            </a:solidFill>
            <a:prstDash val="solid"/>
          </a:ln>
        </p:spPr>
      </p:sp>
      <p:sp>
        <p:nvSpPr>
          <p:cNvPr id="6" name="直線コネクタ 5">
            <a:extLst>
              <a:ext uri="{FF2B5EF4-FFF2-40B4-BE49-F238E27FC236}">
                <a16:creationId xmlns:a16="http://schemas.microsoft.com/office/drawing/2014/main" id="{D9422F98-79ED-4EEE-BBB1-091816279E2C}"/>
              </a:ext>
            </a:extLst>
          </p:cNvPr>
          <p:cNvSpPr>
            <a:spLocks noGrp="1"/>
          </p:cNvSpPr>
          <p:nvPr/>
        </p:nvSpPr>
        <p:spPr>
          <a:xfrm>
            <a:off x="552450" y="6438900"/>
            <a:ext cx="11087100" cy="0"/>
          </a:xfrm>
          <a:prstGeom prst="line">
            <a:avLst/>
          </a:prstGeom>
          <a:noFill/>
          <a:ln w="9525">
            <a:solidFill>
              <a:srgbClr val="D6D6D6"/>
            </a:solidFill>
            <a:prstDash val="solid"/>
          </a:ln>
        </p:spPr>
      </p:sp>
      <p:sp>
        <p:nvSpPr>
          <p:cNvPr id="7" name="正方形/長方形 6">
            <a:extLst>
              <a:ext uri="{FF2B5EF4-FFF2-40B4-BE49-F238E27FC236}">
                <a16:creationId xmlns:a16="http://schemas.microsoft.com/office/drawing/2014/main" id="{E2CC199A-B655-4597-B912-17D69FD94C7D}"/>
              </a:ext>
            </a:extLst>
          </p:cNvPr>
          <p:cNvSpPr>
            <a:spLocks noGrp="1"/>
          </p:cNvSpPr>
          <p:nvPr/>
        </p:nvSpPr>
        <p:spPr>
          <a:xfrm>
            <a:off x="571500" y="6505575"/>
            <a:ext cx="5334000" cy="171450"/>
          </a:xfrm>
          <a:prstGeom prst="rect">
            <a:avLst/>
          </a:prstGeom>
          <a:noFill/>
          <a:ln w="0">
            <a:noFill/>
            <a:prstDash val="solid"/>
          </a:ln>
        </p:spPr>
        <p:txBody>
          <a:bodyPr wrap="none" lIns="28575" tIns="19050" rIns="28575" bIns="19050" anchor="ctr">
            <a:noAutofit/>
          </a:bodyPr>
          <a:lstStyle/>
          <a:p>
            <a:pPr algn="l">
              <a:lnSpc>
                <a:spcPct val="100000"/>
              </a:lnSpc>
              <a:buNone/>
              <a:defRPr sz="713" b="0" i="0">
                <a:solidFill>
                  <a:srgbClr val="777777"/>
                </a:solidFill>
                <a:latin typeface="Yu Gothic"/>
                <a:ea typeface="Yu Gothic"/>
                <a:cs typeface="Yu Gothic"/>
              </a:defRPr>
            </a:pPr>
            <a:r>
              <a:rPr sz="713" b="0" i="0">
                <a:solidFill>
                  <a:srgbClr val="777777"/>
                </a:solidFill>
                <a:latin typeface="Yu Gothic"/>
                <a:ea typeface="Yu Gothic"/>
                <a:cs typeface="Yu Gothic"/>
              </a:rPr>
              <a:t>THERMAL RC / EQUIPMENT ENGINEERING REVIEW  ·  2026-09-17</a:t>
            </a:r>
          </a:p>
        </p:txBody>
      </p:sp>
      <p:sp>
        <p:nvSpPr>
          <p:cNvPr id="8" name="正方形/長方形 7">
            <a:extLst>
              <a:ext uri="{FF2B5EF4-FFF2-40B4-BE49-F238E27FC236}">
                <a16:creationId xmlns:a16="http://schemas.microsoft.com/office/drawing/2014/main" id="{CB1B6CB5-7841-4D33-8153-301911954FDE}"/>
              </a:ext>
            </a:extLst>
          </p:cNvPr>
          <p:cNvSpPr>
            <a:spLocks noGrp="1"/>
          </p:cNvSpPr>
          <p:nvPr/>
        </p:nvSpPr>
        <p:spPr>
          <a:xfrm>
            <a:off x="11125200" y="6496050"/>
            <a:ext cx="476250" cy="171450"/>
          </a:xfrm>
          <a:prstGeom prst="rect">
            <a:avLst/>
          </a:prstGeom>
          <a:noFill/>
          <a:ln w="0">
            <a:noFill/>
            <a:prstDash val="solid"/>
          </a:ln>
        </p:spPr>
        <p:txBody>
          <a:bodyPr wrap="square" lIns="28575" tIns="19050" rIns="28575" bIns="19050" anchor="ctr">
            <a:noAutofit/>
          </a:bodyPr>
          <a:lstStyle/>
          <a:p>
            <a:pPr algn="r">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22</a:t>
            </a:r>
          </a:p>
        </p:txBody>
      </p:sp>
      <p:sp>
        <p:nvSpPr>
          <p:cNvPr id="9" name="正方形/長方形 8">
            <a:extLst>
              <a:ext uri="{FF2B5EF4-FFF2-40B4-BE49-F238E27FC236}">
                <a16:creationId xmlns:a16="http://schemas.microsoft.com/office/drawing/2014/main" id="{B79F643A-69B3-4CA7-82A5-019EAE9B1F05}"/>
              </a:ext>
            </a:extLst>
          </p:cNvPr>
          <p:cNvSpPr>
            <a:spLocks noGrp="1"/>
          </p:cNvSpPr>
          <p:nvPr/>
        </p:nvSpPr>
        <p:spPr>
          <a:xfrm>
            <a:off x="552450" y="1381125"/>
            <a:ext cx="5238750" cy="247650"/>
          </a:xfrm>
          <a:prstGeom prst="rect">
            <a:avLst/>
          </a:prstGeom>
          <a:noFill/>
          <a:ln w="0">
            <a:noFill/>
            <a:prstDash val="solid"/>
          </a:ln>
        </p:spPr>
        <p:txBody>
          <a:bodyPr wrap="square" lIns="28575" tIns="19050" rIns="28575" bIns="19050" anchor="ctr">
            <a:normAutofit/>
          </a:bodyPr>
          <a:lstStyle/>
          <a:p>
            <a:pPr algn="l">
              <a:lnSpc>
                <a:spcPct val="100000"/>
              </a:lnSpc>
              <a:buNone/>
              <a:defRPr sz="1200" b="1" i="0">
                <a:solidFill>
                  <a:srgbClr val="3F3F3F"/>
                </a:solidFill>
                <a:latin typeface="Yu Gothic"/>
                <a:ea typeface="Yu Gothic"/>
                <a:cs typeface="Yu Gothic"/>
              </a:defRPr>
            </a:pPr>
            <a:r>
              <a:rPr sz="1200" b="1" i="0">
                <a:solidFill>
                  <a:srgbClr val="3F3F3F"/>
                </a:solidFill>
                <a:latin typeface="Yu Gothic"/>
                <a:ea typeface="Yu Gothic"/>
                <a:cs typeface="Yu Gothic"/>
              </a:rPr>
              <a:t>M03  +3 K chip sensor offset</a:t>
            </a:r>
          </a:p>
        </p:txBody>
      </p:sp>
      <p:graphicFrame>
        <p:nvGraphicFramePr>
          <p:cNvPr id="44" name="Chart"/>
          <p:cNvGraphicFramePr/>
          <p:nvPr/>
        </p:nvGraphicFramePr>
        <p:xfrm>
          <a:off x="552450" y="1657350"/>
          <a:ext cx="5257800" cy="2971800"/>
        </p:xfrm>
        <a:graphic>
          <a:graphicData uri="http://schemas.openxmlformats.org/drawingml/2006/chart">
            <c:chart xmlns:c="http://schemas.openxmlformats.org/drawingml/2006/chart" xmlns:r="http://schemas.openxmlformats.org/officeDocument/2006/relationships" r:id="rId3"/>
          </a:graphicData>
        </a:graphic>
      </p:graphicFrame>
      <p:sp>
        <p:nvSpPr>
          <p:cNvPr id="11" name="正方形/長方形 10">
            <a:extLst>
              <a:ext uri="{FF2B5EF4-FFF2-40B4-BE49-F238E27FC236}">
                <a16:creationId xmlns:a16="http://schemas.microsoft.com/office/drawing/2014/main" id="{797EA89F-CBFA-4B64-A2F1-C05658373B9D}"/>
              </a:ext>
            </a:extLst>
          </p:cNvPr>
          <p:cNvSpPr>
            <a:spLocks noGrp="1"/>
          </p:cNvSpPr>
          <p:nvPr/>
        </p:nvSpPr>
        <p:spPr>
          <a:xfrm>
            <a:off x="552450" y="4657725"/>
            <a:ext cx="5257800" cy="190500"/>
          </a:xfrm>
          <a:prstGeom prst="rect">
            <a:avLst/>
          </a:prstGeom>
          <a:noFill/>
          <a:ln w="0">
            <a:noFill/>
            <a:prstDash val="solid"/>
          </a:ln>
        </p:spPr>
        <p:txBody>
          <a:bodyPr wrap="square" lIns="28575" tIns="19050" rIns="28575" bIns="19050" anchor="ctr">
            <a:normAutofit/>
          </a:bodyPr>
          <a:lstStyle/>
          <a:p>
            <a:pPr algn="ctr">
              <a:lnSpc>
                <a:spcPct val="100000"/>
              </a:lnSpc>
              <a:buNone/>
              <a:defRPr sz="788" b="1" i="0">
                <a:solidFill>
                  <a:srgbClr val="7B2DAF"/>
                </a:solidFill>
                <a:latin typeface="Yu Gothic"/>
                <a:ea typeface="Yu Gothic"/>
                <a:cs typeface="Yu Gothic"/>
              </a:defRPr>
            </a:pPr>
            <a:r>
              <a:rPr sz="788" b="1" i="0">
                <a:solidFill>
                  <a:srgbClr val="7B2DAF"/>
                </a:solidFill>
                <a:latin typeface="Yu Gothic"/>
                <a:ea typeface="Yu Gothic"/>
                <a:cs typeface="Yu Gothic"/>
              </a:rPr>
              <a:t>event start = first detection = 300 s</a:t>
            </a:r>
          </a:p>
        </p:txBody>
      </p:sp>
      <p:sp>
        <p:nvSpPr>
          <p:cNvPr id="12" name="正方形/長方形 11">
            <a:extLst>
              <a:ext uri="{FF2B5EF4-FFF2-40B4-BE49-F238E27FC236}">
                <a16:creationId xmlns:a16="http://schemas.microsoft.com/office/drawing/2014/main" id="{5EFC8FBB-AFE5-4D74-AE9F-152A718BBAE8}"/>
              </a:ext>
            </a:extLst>
          </p:cNvPr>
          <p:cNvSpPr>
            <a:spLocks noGrp="1"/>
          </p:cNvSpPr>
          <p:nvPr/>
        </p:nvSpPr>
        <p:spPr>
          <a:xfrm>
            <a:off x="6381750" y="1381125"/>
            <a:ext cx="5257800" cy="247650"/>
          </a:xfrm>
          <a:prstGeom prst="rect">
            <a:avLst/>
          </a:prstGeom>
          <a:noFill/>
          <a:ln w="0">
            <a:noFill/>
            <a:prstDash val="solid"/>
          </a:ln>
        </p:spPr>
        <p:txBody>
          <a:bodyPr wrap="square" lIns="28575" tIns="19050" rIns="28575" bIns="19050" anchor="ctr">
            <a:normAutofit/>
          </a:bodyPr>
          <a:lstStyle/>
          <a:p>
            <a:pPr algn="l">
              <a:lnSpc>
                <a:spcPct val="100000"/>
              </a:lnSpc>
              <a:buNone/>
              <a:defRPr sz="1200" b="1" i="0">
                <a:solidFill>
                  <a:srgbClr val="3F3F3F"/>
                </a:solidFill>
                <a:latin typeface="Yu Gothic"/>
                <a:ea typeface="Yu Gothic"/>
                <a:cs typeface="Yu Gothic"/>
              </a:defRPr>
            </a:pPr>
            <a:r>
              <a:rPr sz="1200" b="1" i="0">
                <a:solidFill>
                  <a:srgbClr val="3F3F3F"/>
                </a:solidFill>
                <a:latin typeface="Yu Gothic"/>
                <a:ea typeface="Yu Gothic"/>
                <a:cs typeface="Yu Gothic"/>
              </a:rPr>
              <a:t>M05  3 W hidden heat</a:t>
            </a:r>
          </a:p>
        </p:txBody>
      </p:sp>
      <p:graphicFrame>
        <p:nvGraphicFramePr>
          <p:cNvPr id="47" name="Chart"/>
          <p:cNvGraphicFramePr/>
          <p:nvPr/>
        </p:nvGraphicFramePr>
        <p:xfrm>
          <a:off x="6381750" y="1657350"/>
          <a:ext cx="5257800" cy="2971800"/>
        </p:xfrm>
        <a:graphic>
          <a:graphicData uri="http://schemas.openxmlformats.org/drawingml/2006/chart">
            <c:chart xmlns:c="http://schemas.openxmlformats.org/drawingml/2006/chart" xmlns:r="http://schemas.openxmlformats.org/officeDocument/2006/relationships" r:id="rId4"/>
          </a:graphicData>
        </a:graphic>
      </p:graphicFrame>
      <p:sp>
        <p:nvSpPr>
          <p:cNvPr id="14" name="正方形/長方形 13">
            <a:extLst>
              <a:ext uri="{FF2B5EF4-FFF2-40B4-BE49-F238E27FC236}">
                <a16:creationId xmlns:a16="http://schemas.microsoft.com/office/drawing/2014/main" id="{E8279B8D-5512-4F77-90D7-5894C0D5FAD6}"/>
              </a:ext>
            </a:extLst>
          </p:cNvPr>
          <p:cNvSpPr>
            <a:spLocks noGrp="1"/>
          </p:cNvSpPr>
          <p:nvPr/>
        </p:nvSpPr>
        <p:spPr>
          <a:xfrm>
            <a:off x="6381750" y="4657725"/>
            <a:ext cx="5257800" cy="190500"/>
          </a:xfrm>
          <a:prstGeom prst="rect">
            <a:avLst/>
          </a:prstGeom>
          <a:noFill/>
          <a:ln w="0">
            <a:noFill/>
            <a:prstDash val="solid"/>
          </a:ln>
        </p:spPr>
        <p:txBody>
          <a:bodyPr wrap="square" lIns="28575" tIns="19050" rIns="28575" bIns="19050" anchor="ctr">
            <a:normAutofit/>
          </a:bodyPr>
          <a:lstStyle/>
          <a:p>
            <a:pPr algn="ctr">
              <a:lnSpc>
                <a:spcPct val="100000"/>
              </a:lnSpc>
              <a:buNone/>
              <a:defRPr sz="788" b="1" i="0">
                <a:solidFill>
                  <a:srgbClr val="007FA8"/>
                </a:solidFill>
                <a:latin typeface="Yu Gothic"/>
                <a:ea typeface="Yu Gothic"/>
                <a:cs typeface="Yu Gothic"/>
              </a:defRPr>
            </a:pPr>
            <a:r>
              <a:rPr sz="788" b="1" i="0">
                <a:solidFill>
                  <a:srgbClr val="007FA8"/>
                </a:solidFill>
                <a:latin typeface="Yu Gothic"/>
                <a:ea typeface="Yu Gothic"/>
                <a:cs typeface="Yu Gothic"/>
              </a:rPr>
              <a:t>event 282–380 s / first detection 292 s</a:t>
            </a:r>
          </a:p>
        </p:txBody>
      </p:sp>
      <p:sp>
        <p:nvSpPr>
          <p:cNvPr id="15" name="正方形/長方形 14">
            <a:extLst>
              <a:ext uri="{FF2B5EF4-FFF2-40B4-BE49-F238E27FC236}">
                <a16:creationId xmlns:a16="http://schemas.microsoft.com/office/drawing/2014/main" id="{9932681B-B918-43C5-9904-AC94B094B418}"/>
              </a:ext>
            </a:extLst>
          </p:cNvPr>
          <p:cNvSpPr>
            <a:spLocks noGrp="1"/>
          </p:cNvSpPr>
          <p:nvPr/>
        </p:nvSpPr>
        <p:spPr>
          <a:xfrm>
            <a:off x="552450" y="5067300"/>
            <a:ext cx="2571750" cy="1057275"/>
          </a:xfrm>
          <a:prstGeom prst="rect">
            <a:avLst/>
          </a:prstGeom>
          <a:solidFill>
            <a:srgbClr val="FFFFFF"/>
          </a:solidFill>
          <a:ln w="9525">
            <a:solidFill>
              <a:srgbClr val="D6D6D6"/>
            </a:solidFill>
            <a:prstDash val="solid"/>
          </a:ln>
        </p:spPr>
      </p:sp>
      <p:sp>
        <p:nvSpPr>
          <p:cNvPr id="16" name="正方形/長方形 15">
            <a:extLst>
              <a:ext uri="{FF2B5EF4-FFF2-40B4-BE49-F238E27FC236}">
                <a16:creationId xmlns:a16="http://schemas.microsoft.com/office/drawing/2014/main" id="{AE0B0FBA-0295-49BE-A8C7-1C7C5C4E9CE5}"/>
              </a:ext>
            </a:extLst>
          </p:cNvPr>
          <p:cNvSpPr>
            <a:spLocks noGrp="1"/>
          </p:cNvSpPr>
          <p:nvPr/>
        </p:nvSpPr>
        <p:spPr>
          <a:xfrm>
            <a:off x="552450" y="5067300"/>
            <a:ext cx="66675" cy="1057275"/>
          </a:xfrm>
          <a:prstGeom prst="rect">
            <a:avLst/>
          </a:prstGeom>
          <a:solidFill>
            <a:srgbClr val="7B2DAF"/>
          </a:solidFill>
          <a:ln w="0">
            <a:noFill/>
            <a:prstDash val="solid"/>
          </a:ln>
        </p:spPr>
      </p:sp>
      <p:sp>
        <p:nvSpPr>
          <p:cNvPr id="17" name="正方形/長方形 16">
            <a:extLst>
              <a:ext uri="{FF2B5EF4-FFF2-40B4-BE49-F238E27FC236}">
                <a16:creationId xmlns:a16="http://schemas.microsoft.com/office/drawing/2014/main" id="{72C4BDD2-1194-4B88-BAB1-02FF7FACC94B}"/>
              </a:ext>
            </a:extLst>
          </p:cNvPr>
          <p:cNvSpPr>
            <a:spLocks noGrp="1"/>
          </p:cNvSpPr>
          <p:nvPr/>
        </p:nvSpPr>
        <p:spPr>
          <a:xfrm>
            <a:off x="742950" y="5162550"/>
            <a:ext cx="2286000" cy="371475"/>
          </a:xfrm>
          <a:prstGeom prst="rect">
            <a:avLst/>
          </a:prstGeom>
          <a:noFill/>
          <a:ln w="0">
            <a:noFill/>
            <a:prstDash val="solid"/>
          </a:ln>
        </p:spPr>
        <p:txBody>
          <a:bodyPr wrap="square" lIns="28575" tIns="19050" rIns="28575" bIns="19050" anchor="ctr">
            <a:normAutofit/>
          </a:bodyPr>
          <a:lstStyle/>
          <a:p>
            <a:pPr algn="l">
              <a:lnSpc>
                <a:spcPct val="100000"/>
              </a:lnSpc>
              <a:buNone/>
              <a:defRPr sz="2025" b="1" i="0">
                <a:solidFill>
                  <a:srgbClr val="3F3F3F"/>
                </a:solidFill>
                <a:latin typeface="Yu Gothic"/>
                <a:ea typeface="Yu Gothic"/>
                <a:cs typeface="Yu Gothic"/>
              </a:defRPr>
            </a:pPr>
            <a:r>
              <a:rPr sz="2025" b="1" i="0">
                <a:solidFill>
                  <a:srgbClr val="3F3F3F"/>
                </a:solidFill>
                <a:latin typeface="Yu Gothic"/>
                <a:ea typeface="Yu Gothic"/>
                <a:cs typeface="Yu Gothic"/>
              </a:rPr>
              <a:t>0 s</a:t>
            </a:r>
          </a:p>
        </p:txBody>
      </p:sp>
      <p:sp>
        <p:nvSpPr>
          <p:cNvPr id="18" name="正方形/長方形 17">
            <a:extLst>
              <a:ext uri="{FF2B5EF4-FFF2-40B4-BE49-F238E27FC236}">
                <a16:creationId xmlns:a16="http://schemas.microsoft.com/office/drawing/2014/main" id="{B8BCD67D-BFC6-4ECA-9E5B-14FAC07A1B6E}"/>
              </a:ext>
            </a:extLst>
          </p:cNvPr>
          <p:cNvSpPr>
            <a:spLocks noGrp="1"/>
          </p:cNvSpPr>
          <p:nvPr/>
        </p:nvSpPr>
        <p:spPr>
          <a:xfrm>
            <a:off x="742950" y="5543550"/>
            <a:ext cx="2286000" cy="266700"/>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5B5B5B"/>
                </a:solidFill>
                <a:latin typeface="Yu Gothic"/>
                <a:ea typeface="Yu Gothic"/>
                <a:cs typeface="Yu Gothic"/>
              </a:defRPr>
            </a:pPr>
            <a:r>
              <a:rPr sz="975" b="1" i="0">
                <a:solidFill>
                  <a:srgbClr val="5B5B5B"/>
                </a:solidFill>
                <a:latin typeface="Yu Gothic"/>
                <a:ea typeface="Yu Gothic"/>
                <a:cs typeface="Yu Gothic"/>
              </a:rPr>
              <a:t>M03 detection delay</a:t>
            </a:r>
          </a:p>
        </p:txBody>
      </p:sp>
      <p:sp>
        <p:nvSpPr>
          <p:cNvPr id="19" name="正方形/長方形 18">
            <a:extLst>
              <a:ext uri="{FF2B5EF4-FFF2-40B4-BE49-F238E27FC236}">
                <a16:creationId xmlns:a16="http://schemas.microsoft.com/office/drawing/2014/main" id="{02EDA77D-73EB-4B08-9EAD-CDCCEED93033}"/>
              </a:ext>
            </a:extLst>
          </p:cNvPr>
          <p:cNvSpPr>
            <a:spLocks noGrp="1"/>
          </p:cNvSpPr>
          <p:nvPr/>
        </p:nvSpPr>
        <p:spPr>
          <a:xfrm>
            <a:off x="742950" y="5829300"/>
            <a:ext cx="2286000" cy="238125"/>
          </a:xfrm>
          <a:prstGeom prst="rect">
            <a:avLst/>
          </a:prstGeom>
          <a:noFill/>
          <a:ln w="0">
            <a:noFill/>
            <a:prstDash val="solid"/>
          </a:ln>
        </p:spPr>
        <p:txBody>
          <a:bodyPr wrap="square" lIns="28575" tIns="19050" rIns="28575" bIns="19050" anchor="t">
            <a:normAutofit/>
          </a:bodyPr>
          <a:lstStyle/>
          <a:p>
            <a:pPr algn="l">
              <a:lnSpc>
                <a:spcPct val="106000"/>
              </a:lnSpc>
              <a:buNone/>
              <a:defRPr sz="788" b="0" i="0">
                <a:solidFill>
                  <a:srgbClr val="777777"/>
                </a:solidFill>
                <a:latin typeface="Yu Gothic"/>
                <a:ea typeface="Yu Gothic"/>
                <a:cs typeface="Yu Gothic"/>
              </a:defRPr>
            </a:pPr>
            <a:r>
              <a:rPr sz="788" b="0" i="0">
                <a:solidFill>
                  <a:srgbClr val="777777"/>
                </a:solidFill>
                <a:latin typeface="Yu Gothic"/>
                <a:ea typeface="Yu Gothic"/>
                <a:cs typeface="Yu Gothic"/>
              </a:rPr>
              <a:t>max NIS 403.305</a:t>
            </a:r>
          </a:p>
        </p:txBody>
      </p:sp>
      <p:sp>
        <p:nvSpPr>
          <p:cNvPr id="20" name="正方形/長方形 19">
            <a:extLst>
              <a:ext uri="{FF2B5EF4-FFF2-40B4-BE49-F238E27FC236}">
                <a16:creationId xmlns:a16="http://schemas.microsoft.com/office/drawing/2014/main" id="{7440E158-068D-492E-9280-A6FEC27EF6EF}"/>
              </a:ext>
            </a:extLst>
          </p:cNvPr>
          <p:cNvSpPr>
            <a:spLocks noGrp="1"/>
          </p:cNvSpPr>
          <p:nvPr/>
        </p:nvSpPr>
        <p:spPr>
          <a:xfrm>
            <a:off x="3324225" y="5067300"/>
            <a:ext cx="2571750" cy="1057275"/>
          </a:xfrm>
          <a:prstGeom prst="rect">
            <a:avLst/>
          </a:prstGeom>
          <a:solidFill>
            <a:srgbClr val="FFFFFF"/>
          </a:solidFill>
          <a:ln w="9525">
            <a:solidFill>
              <a:srgbClr val="D6D6D6"/>
            </a:solidFill>
            <a:prstDash val="solid"/>
          </a:ln>
        </p:spPr>
      </p:sp>
      <p:sp>
        <p:nvSpPr>
          <p:cNvPr id="21" name="正方形/長方形 20">
            <a:extLst>
              <a:ext uri="{FF2B5EF4-FFF2-40B4-BE49-F238E27FC236}">
                <a16:creationId xmlns:a16="http://schemas.microsoft.com/office/drawing/2014/main" id="{99A87839-9D73-4415-BED1-962815D629A4}"/>
              </a:ext>
            </a:extLst>
          </p:cNvPr>
          <p:cNvSpPr>
            <a:spLocks noGrp="1"/>
          </p:cNvSpPr>
          <p:nvPr/>
        </p:nvSpPr>
        <p:spPr>
          <a:xfrm>
            <a:off x="3324225" y="5067300"/>
            <a:ext cx="66675" cy="1057275"/>
          </a:xfrm>
          <a:prstGeom prst="rect">
            <a:avLst/>
          </a:prstGeom>
          <a:solidFill>
            <a:srgbClr val="76BE18"/>
          </a:solidFill>
          <a:ln w="0">
            <a:noFill/>
            <a:prstDash val="solid"/>
          </a:ln>
        </p:spPr>
      </p:sp>
      <p:sp>
        <p:nvSpPr>
          <p:cNvPr id="22" name="正方形/長方形 21">
            <a:extLst>
              <a:ext uri="{FF2B5EF4-FFF2-40B4-BE49-F238E27FC236}">
                <a16:creationId xmlns:a16="http://schemas.microsoft.com/office/drawing/2014/main" id="{22DD2026-D083-4002-8A8C-2FD80053456B}"/>
              </a:ext>
            </a:extLst>
          </p:cNvPr>
          <p:cNvSpPr>
            <a:spLocks noGrp="1"/>
          </p:cNvSpPr>
          <p:nvPr/>
        </p:nvSpPr>
        <p:spPr>
          <a:xfrm>
            <a:off x="3514725" y="5162550"/>
            <a:ext cx="2286000" cy="371475"/>
          </a:xfrm>
          <a:prstGeom prst="rect">
            <a:avLst/>
          </a:prstGeom>
          <a:noFill/>
          <a:ln w="0">
            <a:noFill/>
            <a:prstDash val="solid"/>
          </a:ln>
        </p:spPr>
        <p:txBody>
          <a:bodyPr wrap="square" lIns="28575" tIns="19050" rIns="28575" bIns="19050" anchor="ctr">
            <a:normAutofit/>
          </a:bodyPr>
          <a:lstStyle/>
          <a:p>
            <a:pPr algn="l">
              <a:lnSpc>
                <a:spcPct val="100000"/>
              </a:lnSpc>
              <a:buNone/>
              <a:defRPr sz="2025" b="1" i="0">
                <a:solidFill>
                  <a:srgbClr val="3F3F3F"/>
                </a:solidFill>
                <a:latin typeface="Yu Gothic"/>
                <a:ea typeface="Yu Gothic"/>
                <a:cs typeface="Yu Gothic"/>
              </a:defRPr>
            </a:pPr>
            <a:r>
              <a:rPr sz="2025" b="1" i="0">
                <a:solidFill>
                  <a:srgbClr val="3F3F3F"/>
                </a:solidFill>
                <a:latin typeface="Yu Gothic"/>
                <a:ea typeface="Yu Gothic"/>
                <a:cs typeface="Yu Gothic"/>
              </a:rPr>
              <a:t>0.040 K</a:t>
            </a:r>
          </a:p>
        </p:txBody>
      </p:sp>
      <p:sp>
        <p:nvSpPr>
          <p:cNvPr id="23" name="正方形/長方形 22">
            <a:extLst>
              <a:ext uri="{FF2B5EF4-FFF2-40B4-BE49-F238E27FC236}">
                <a16:creationId xmlns:a16="http://schemas.microsoft.com/office/drawing/2014/main" id="{DDF59577-8EEC-48E8-9B6F-D5C8717229A2}"/>
              </a:ext>
            </a:extLst>
          </p:cNvPr>
          <p:cNvSpPr>
            <a:spLocks noGrp="1"/>
          </p:cNvSpPr>
          <p:nvPr/>
        </p:nvSpPr>
        <p:spPr>
          <a:xfrm>
            <a:off x="3514725" y="5543550"/>
            <a:ext cx="2286000" cy="266700"/>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5B5B5B"/>
                </a:solidFill>
                <a:latin typeface="Yu Gothic"/>
                <a:ea typeface="Yu Gothic"/>
                <a:cs typeface="Yu Gothic"/>
              </a:defRPr>
            </a:pPr>
            <a:r>
              <a:rPr sz="975" b="1" i="0">
                <a:solidFill>
                  <a:srgbClr val="5B5B5B"/>
                </a:solidFill>
                <a:latin typeface="Yu Gothic"/>
                <a:ea typeface="Yu Gothic"/>
                <a:cs typeface="Yu Gothic"/>
              </a:rPr>
              <a:t>M04 missing-window RMSE</a:t>
            </a:r>
          </a:p>
        </p:txBody>
      </p:sp>
      <p:sp>
        <p:nvSpPr>
          <p:cNvPr id="24" name="正方形/長方形 23">
            <a:extLst>
              <a:ext uri="{FF2B5EF4-FFF2-40B4-BE49-F238E27FC236}">
                <a16:creationId xmlns:a16="http://schemas.microsoft.com/office/drawing/2014/main" id="{7F683D78-D2A1-4EF8-9150-E171BF646338}"/>
              </a:ext>
            </a:extLst>
          </p:cNvPr>
          <p:cNvSpPr>
            <a:spLocks noGrp="1"/>
          </p:cNvSpPr>
          <p:nvPr/>
        </p:nvSpPr>
        <p:spPr>
          <a:xfrm>
            <a:off x="3514725" y="5829300"/>
            <a:ext cx="2286000" cy="238125"/>
          </a:xfrm>
          <a:prstGeom prst="rect">
            <a:avLst/>
          </a:prstGeom>
          <a:noFill/>
          <a:ln w="0">
            <a:noFill/>
            <a:prstDash val="solid"/>
          </a:ln>
        </p:spPr>
        <p:txBody>
          <a:bodyPr wrap="square" lIns="28575" tIns="19050" rIns="28575" bIns="19050" anchor="t">
            <a:normAutofit/>
          </a:bodyPr>
          <a:lstStyle/>
          <a:p>
            <a:pPr algn="l">
              <a:lnSpc>
                <a:spcPct val="106000"/>
              </a:lnSpc>
              <a:buNone/>
              <a:defRPr sz="788" b="0" i="0">
                <a:solidFill>
                  <a:srgbClr val="777777"/>
                </a:solidFill>
                <a:latin typeface="Yu Gothic"/>
                <a:ea typeface="Yu Gothic"/>
                <a:cs typeface="Yu Gothic"/>
              </a:defRPr>
            </a:pPr>
            <a:r>
              <a:rPr sz="788" b="0" i="0">
                <a:solidFill>
                  <a:srgbClr val="777777"/>
                </a:solidFill>
                <a:latin typeface="Yu Gothic"/>
                <a:ea typeface="Yu Gothic"/>
                <a:cs typeface="Yu Gothic"/>
              </a:rPr>
              <a:t>posterior remains finite</a:t>
            </a:r>
          </a:p>
        </p:txBody>
      </p:sp>
      <p:sp>
        <p:nvSpPr>
          <p:cNvPr id="25" name="正方形/長方形 24">
            <a:extLst>
              <a:ext uri="{FF2B5EF4-FFF2-40B4-BE49-F238E27FC236}">
                <a16:creationId xmlns:a16="http://schemas.microsoft.com/office/drawing/2014/main" id="{A536518E-E73C-4C87-B7AB-B36802FA09C7}"/>
              </a:ext>
            </a:extLst>
          </p:cNvPr>
          <p:cNvSpPr>
            <a:spLocks noGrp="1"/>
          </p:cNvSpPr>
          <p:nvPr/>
        </p:nvSpPr>
        <p:spPr>
          <a:xfrm>
            <a:off x="6096000" y="5067300"/>
            <a:ext cx="2571750" cy="1057275"/>
          </a:xfrm>
          <a:prstGeom prst="rect">
            <a:avLst/>
          </a:prstGeom>
          <a:solidFill>
            <a:srgbClr val="FFFFFF"/>
          </a:solidFill>
          <a:ln w="9525">
            <a:solidFill>
              <a:srgbClr val="D6D6D6"/>
            </a:solidFill>
            <a:prstDash val="solid"/>
          </a:ln>
        </p:spPr>
      </p:sp>
      <p:sp>
        <p:nvSpPr>
          <p:cNvPr id="26" name="正方形/長方形 25">
            <a:extLst>
              <a:ext uri="{FF2B5EF4-FFF2-40B4-BE49-F238E27FC236}">
                <a16:creationId xmlns:a16="http://schemas.microsoft.com/office/drawing/2014/main" id="{198BD200-26DB-4317-B003-D7D60D4F0358}"/>
              </a:ext>
            </a:extLst>
          </p:cNvPr>
          <p:cNvSpPr>
            <a:spLocks noGrp="1"/>
          </p:cNvSpPr>
          <p:nvPr/>
        </p:nvSpPr>
        <p:spPr>
          <a:xfrm>
            <a:off x="6096000" y="5067300"/>
            <a:ext cx="66675" cy="1057275"/>
          </a:xfrm>
          <a:prstGeom prst="rect">
            <a:avLst/>
          </a:prstGeom>
          <a:solidFill>
            <a:srgbClr val="00A5D8"/>
          </a:solidFill>
          <a:ln w="0">
            <a:noFill/>
            <a:prstDash val="solid"/>
          </a:ln>
        </p:spPr>
      </p:sp>
      <p:sp>
        <p:nvSpPr>
          <p:cNvPr id="27" name="正方形/長方形 26">
            <a:extLst>
              <a:ext uri="{FF2B5EF4-FFF2-40B4-BE49-F238E27FC236}">
                <a16:creationId xmlns:a16="http://schemas.microsoft.com/office/drawing/2014/main" id="{DEAB9C10-3545-4A2A-AFA0-EEE685203F67}"/>
              </a:ext>
            </a:extLst>
          </p:cNvPr>
          <p:cNvSpPr>
            <a:spLocks noGrp="1"/>
          </p:cNvSpPr>
          <p:nvPr/>
        </p:nvSpPr>
        <p:spPr>
          <a:xfrm>
            <a:off x="6286500" y="5162550"/>
            <a:ext cx="2286000" cy="371475"/>
          </a:xfrm>
          <a:prstGeom prst="rect">
            <a:avLst/>
          </a:prstGeom>
          <a:noFill/>
          <a:ln w="0">
            <a:noFill/>
            <a:prstDash val="solid"/>
          </a:ln>
        </p:spPr>
        <p:txBody>
          <a:bodyPr wrap="square" lIns="28575" tIns="19050" rIns="28575" bIns="19050" anchor="ctr">
            <a:normAutofit/>
          </a:bodyPr>
          <a:lstStyle/>
          <a:p>
            <a:pPr algn="l">
              <a:lnSpc>
                <a:spcPct val="100000"/>
              </a:lnSpc>
              <a:buNone/>
              <a:defRPr sz="2025" b="1" i="0">
                <a:solidFill>
                  <a:srgbClr val="3F3F3F"/>
                </a:solidFill>
                <a:latin typeface="Yu Gothic"/>
                <a:ea typeface="Yu Gothic"/>
                <a:cs typeface="Yu Gothic"/>
              </a:defRPr>
            </a:pPr>
            <a:r>
              <a:rPr sz="2025" b="1" i="0">
                <a:solidFill>
                  <a:srgbClr val="3F3F3F"/>
                </a:solidFill>
                <a:latin typeface="Yu Gothic"/>
                <a:ea typeface="Yu Gothic"/>
                <a:cs typeface="Yu Gothic"/>
              </a:rPr>
              <a:t>10 s</a:t>
            </a:r>
          </a:p>
        </p:txBody>
      </p:sp>
      <p:sp>
        <p:nvSpPr>
          <p:cNvPr id="28" name="正方形/長方形 27">
            <a:extLst>
              <a:ext uri="{FF2B5EF4-FFF2-40B4-BE49-F238E27FC236}">
                <a16:creationId xmlns:a16="http://schemas.microsoft.com/office/drawing/2014/main" id="{75FE11BE-65F2-4550-983D-0471CC1A2B95}"/>
              </a:ext>
            </a:extLst>
          </p:cNvPr>
          <p:cNvSpPr>
            <a:spLocks noGrp="1"/>
          </p:cNvSpPr>
          <p:nvPr/>
        </p:nvSpPr>
        <p:spPr>
          <a:xfrm>
            <a:off x="6286500" y="5543550"/>
            <a:ext cx="2286000" cy="266700"/>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5B5B5B"/>
                </a:solidFill>
                <a:latin typeface="Yu Gothic"/>
                <a:ea typeface="Yu Gothic"/>
                <a:cs typeface="Yu Gothic"/>
              </a:defRPr>
            </a:pPr>
            <a:r>
              <a:rPr sz="975" b="1" i="0">
                <a:solidFill>
                  <a:srgbClr val="5B5B5B"/>
                </a:solidFill>
                <a:latin typeface="Yu Gothic"/>
                <a:ea typeface="Yu Gothic"/>
                <a:cs typeface="Yu Gothic"/>
              </a:rPr>
              <a:t>M05 detection delay</a:t>
            </a:r>
          </a:p>
        </p:txBody>
      </p:sp>
      <p:sp>
        <p:nvSpPr>
          <p:cNvPr id="29" name="正方形/長方形 28">
            <a:extLst>
              <a:ext uri="{FF2B5EF4-FFF2-40B4-BE49-F238E27FC236}">
                <a16:creationId xmlns:a16="http://schemas.microsoft.com/office/drawing/2014/main" id="{1D097644-B8D3-48A3-8283-E19D2008620C}"/>
              </a:ext>
            </a:extLst>
          </p:cNvPr>
          <p:cNvSpPr>
            <a:spLocks noGrp="1"/>
          </p:cNvSpPr>
          <p:nvPr/>
        </p:nvSpPr>
        <p:spPr>
          <a:xfrm>
            <a:off x="6286500" y="5829300"/>
            <a:ext cx="2286000" cy="238125"/>
          </a:xfrm>
          <a:prstGeom prst="rect">
            <a:avLst/>
          </a:prstGeom>
          <a:noFill/>
          <a:ln w="0">
            <a:noFill/>
            <a:prstDash val="solid"/>
          </a:ln>
        </p:spPr>
        <p:txBody>
          <a:bodyPr wrap="square" lIns="28575" tIns="19050" rIns="28575" bIns="19050" anchor="t">
            <a:normAutofit/>
          </a:bodyPr>
          <a:lstStyle/>
          <a:p>
            <a:pPr algn="l">
              <a:lnSpc>
                <a:spcPct val="106000"/>
              </a:lnSpc>
              <a:buNone/>
              <a:defRPr sz="788" b="0" i="0">
                <a:solidFill>
                  <a:srgbClr val="777777"/>
                </a:solidFill>
                <a:latin typeface="Yu Gothic"/>
                <a:ea typeface="Yu Gothic"/>
                <a:cs typeface="Yu Gothic"/>
              </a:defRPr>
            </a:pPr>
            <a:r>
              <a:rPr sz="788" b="0" i="0">
                <a:solidFill>
                  <a:srgbClr val="777777"/>
                </a:solidFill>
                <a:latin typeface="Yu Gothic"/>
                <a:ea typeface="Yu Gothic"/>
                <a:cs typeface="Yu Gothic"/>
              </a:rPr>
              <a:t>3 W uncommanded heat</a:t>
            </a:r>
          </a:p>
        </p:txBody>
      </p:sp>
      <p:sp>
        <p:nvSpPr>
          <p:cNvPr id="30" name="正方形/長方形 29">
            <a:extLst>
              <a:ext uri="{FF2B5EF4-FFF2-40B4-BE49-F238E27FC236}">
                <a16:creationId xmlns:a16="http://schemas.microsoft.com/office/drawing/2014/main" id="{8D44360C-2D93-4A40-B7B5-422A45D8AB50}"/>
              </a:ext>
            </a:extLst>
          </p:cNvPr>
          <p:cNvSpPr>
            <a:spLocks noGrp="1"/>
          </p:cNvSpPr>
          <p:nvPr/>
        </p:nvSpPr>
        <p:spPr>
          <a:xfrm>
            <a:off x="8867775" y="5067300"/>
            <a:ext cx="2771775" cy="1057275"/>
          </a:xfrm>
          <a:prstGeom prst="rect">
            <a:avLst/>
          </a:prstGeom>
          <a:solidFill>
            <a:srgbClr val="FFFFFF"/>
          </a:solidFill>
          <a:ln w="9525">
            <a:solidFill>
              <a:srgbClr val="D6D6D6"/>
            </a:solidFill>
            <a:prstDash val="solid"/>
          </a:ln>
        </p:spPr>
      </p:sp>
      <p:sp>
        <p:nvSpPr>
          <p:cNvPr id="31" name="正方形/長方形 30">
            <a:extLst>
              <a:ext uri="{FF2B5EF4-FFF2-40B4-BE49-F238E27FC236}">
                <a16:creationId xmlns:a16="http://schemas.microsoft.com/office/drawing/2014/main" id="{276B3C99-ED85-42E0-87B5-4CF469BEBF13}"/>
              </a:ext>
            </a:extLst>
          </p:cNvPr>
          <p:cNvSpPr>
            <a:spLocks noGrp="1"/>
          </p:cNvSpPr>
          <p:nvPr/>
        </p:nvSpPr>
        <p:spPr>
          <a:xfrm>
            <a:off x="8867775" y="5067300"/>
            <a:ext cx="66675" cy="1057275"/>
          </a:xfrm>
          <a:prstGeom prst="rect">
            <a:avLst/>
          </a:prstGeom>
          <a:solidFill>
            <a:srgbClr val="E5A900"/>
          </a:solidFill>
          <a:ln w="0">
            <a:noFill/>
            <a:prstDash val="solid"/>
          </a:ln>
        </p:spPr>
      </p:sp>
      <p:sp>
        <p:nvSpPr>
          <p:cNvPr id="32" name="正方形/長方形 31">
            <a:extLst>
              <a:ext uri="{FF2B5EF4-FFF2-40B4-BE49-F238E27FC236}">
                <a16:creationId xmlns:a16="http://schemas.microsoft.com/office/drawing/2014/main" id="{DF6366BA-5019-4ADD-9B5D-C6C254BCD1C4}"/>
              </a:ext>
            </a:extLst>
          </p:cNvPr>
          <p:cNvSpPr>
            <a:spLocks noGrp="1"/>
          </p:cNvSpPr>
          <p:nvPr/>
        </p:nvSpPr>
        <p:spPr>
          <a:xfrm>
            <a:off x="9058275" y="5162550"/>
            <a:ext cx="2486025" cy="371475"/>
          </a:xfrm>
          <a:prstGeom prst="rect">
            <a:avLst/>
          </a:prstGeom>
          <a:noFill/>
          <a:ln w="0">
            <a:noFill/>
            <a:prstDash val="solid"/>
          </a:ln>
        </p:spPr>
        <p:txBody>
          <a:bodyPr wrap="square" lIns="28575" tIns="19050" rIns="28575" bIns="19050" anchor="ctr">
            <a:normAutofit/>
          </a:bodyPr>
          <a:lstStyle/>
          <a:p>
            <a:pPr algn="l">
              <a:lnSpc>
                <a:spcPct val="100000"/>
              </a:lnSpc>
              <a:buNone/>
              <a:defRPr sz="2025" b="1" i="0">
                <a:solidFill>
                  <a:srgbClr val="3F3F3F"/>
                </a:solidFill>
                <a:latin typeface="Yu Gothic"/>
                <a:ea typeface="Yu Gothic"/>
                <a:cs typeface="Yu Gothic"/>
              </a:defRPr>
            </a:pPr>
            <a:r>
              <a:rPr sz="2025" b="1" i="0">
                <a:solidFill>
                  <a:srgbClr val="3F3F3F"/>
                </a:solidFill>
                <a:latin typeface="Yu Gothic"/>
                <a:ea typeface="Yu Gothic"/>
                <a:cs typeface="Yu Gothic"/>
              </a:rPr>
              <a:t>3.182 W</a:t>
            </a:r>
          </a:p>
        </p:txBody>
      </p:sp>
      <p:sp>
        <p:nvSpPr>
          <p:cNvPr id="33" name="正方形/長方形 32">
            <a:extLst>
              <a:ext uri="{FF2B5EF4-FFF2-40B4-BE49-F238E27FC236}">
                <a16:creationId xmlns:a16="http://schemas.microsoft.com/office/drawing/2014/main" id="{EC2709CB-DB33-4164-960C-8783BF6AE74B}"/>
              </a:ext>
            </a:extLst>
          </p:cNvPr>
          <p:cNvSpPr>
            <a:spLocks noGrp="1"/>
          </p:cNvSpPr>
          <p:nvPr/>
        </p:nvSpPr>
        <p:spPr>
          <a:xfrm>
            <a:off x="9058275" y="5543550"/>
            <a:ext cx="2486025" cy="266700"/>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5B5B5B"/>
                </a:solidFill>
                <a:latin typeface="Yu Gothic"/>
                <a:ea typeface="Yu Gothic"/>
                <a:cs typeface="Yu Gothic"/>
              </a:defRPr>
            </a:pPr>
            <a:r>
              <a:rPr sz="975" b="1" i="0">
                <a:solidFill>
                  <a:srgbClr val="5B5B5B"/>
                </a:solidFill>
                <a:latin typeface="Yu Gothic"/>
                <a:ea typeface="Yu Gothic"/>
                <a:cs typeface="Yu Gothic"/>
              </a:rPr>
              <a:t>M05 estimated peak</a:t>
            </a:r>
          </a:p>
        </p:txBody>
      </p:sp>
      <p:sp>
        <p:nvSpPr>
          <p:cNvPr id="34" name="正方形/長方形 33">
            <a:extLst>
              <a:ext uri="{FF2B5EF4-FFF2-40B4-BE49-F238E27FC236}">
                <a16:creationId xmlns:a16="http://schemas.microsoft.com/office/drawing/2014/main" id="{1528301C-7DB7-4616-96B3-C1E59F637D49}"/>
              </a:ext>
            </a:extLst>
          </p:cNvPr>
          <p:cNvSpPr>
            <a:spLocks noGrp="1"/>
          </p:cNvSpPr>
          <p:nvPr/>
        </p:nvSpPr>
        <p:spPr>
          <a:xfrm>
            <a:off x="9058275" y="5829300"/>
            <a:ext cx="2486025" cy="238125"/>
          </a:xfrm>
          <a:prstGeom prst="rect">
            <a:avLst/>
          </a:prstGeom>
          <a:noFill/>
          <a:ln w="0">
            <a:noFill/>
            <a:prstDash val="solid"/>
          </a:ln>
        </p:spPr>
        <p:txBody>
          <a:bodyPr wrap="square" lIns="28575" tIns="19050" rIns="28575" bIns="19050" anchor="t">
            <a:normAutofit/>
          </a:bodyPr>
          <a:lstStyle/>
          <a:p>
            <a:pPr algn="l">
              <a:lnSpc>
                <a:spcPct val="106000"/>
              </a:lnSpc>
              <a:buNone/>
              <a:defRPr sz="788" b="0" i="0">
                <a:solidFill>
                  <a:srgbClr val="777777"/>
                </a:solidFill>
                <a:latin typeface="Yu Gothic"/>
                <a:ea typeface="Yu Gothic"/>
                <a:cs typeface="Yu Gothic"/>
              </a:defRPr>
            </a:pPr>
            <a:r>
              <a:rPr sz="788" b="0" i="0">
                <a:solidFill>
                  <a:srgbClr val="777777"/>
                </a:solidFill>
                <a:latin typeface="Yu Gothic"/>
                <a:ea typeface="Yu Gothic"/>
                <a:cs typeface="Yu Gothic"/>
              </a:rPr>
              <a:t>event sensor bias ≤ 0.061 K</a:t>
            </a:r>
          </a:p>
        </p:txBody>
      </p:sp>
    </p:spTree>
    <p:extLst>
      <p:ext uri="{BB962C8B-B14F-4D97-AF65-F5344CB8AC3E}">
        <p14:creationId xmlns:p14="http://schemas.microsoft.com/office/powerpoint/2010/main" val="9799231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 name="正方形/長方形 30">
            <a:extLst>
              <a:ext uri="{FF2B5EF4-FFF2-40B4-BE49-F238E27FC236}">
                <a16:creationId xmlns:a16="http://schemas.microsoft.com/office/drawing/2014/main" id="{79886CE3-9D13-4494-AB5E-4B612C7BB443}"/>
              </a:ext>
            </a:extLst>
          </p:cNvPr>
          <p:cNvSpPr>
            <a:spLocks noGrp="1"/>
          </p:cNvSpPr>
          <p:nvPr/>
        </p:nvSpPr>
        <p:spPr>
          <a:xfrm>
            <a:off x="552450" y="190500"/>
            <a:ext cx="76200" cy="142875"/>
          </a:xfrm>
          <a:prstGeom prst="rect">
            <a:avLst/>
          </a:prstGeom>
          <a:solidFill>
            <a:srgbClr val="76BE18"/>
          </a:solidFill>
          <a:ln w="0">
            <a:noFill/>
            <a:prstDash val="solid"/>
          </a:ln>
        </p:spPr>
      </p:sp>
      <p:sp>
        <p:nvSpPr>
          <p:cNvPr id="2" name="正方形/長方形 1">
            <a:extLst>
              <a:ext uri="{FF2B5EF4-FFF2-40B4-BE49-F238E27FC236}">
                <a16:creationId xmlns:a16="http://schemas.microsoft.com/office/drawing/2014/main" id="{7C831AD8-DC86-4751-A6A9-2AFB671979A7}"/>
              </a:ext>
            </a:extLst>
          </p:cNvPr>
          <p:cNvSpPr>
            <a:spLocks noGrp="1"/>
          </p:cNvSpPr>
          <p:nvPr/>
        </p:nvSpPr>
        <p:spPr>
          <a:xfrm>
            <a:off x="704850" y="161925"/>
            <a:ext cx="3429000" cy="190500"/>
          </a:xfrm>
          <a:prstGeom prst="rect">
            <a:avLst/>
          </a:prstGeom>
          <a:noFill/>
          <a:ln w="0">
            <a:noFill/>
            <a:prstDash val="solid"/>
          </a:ln>
        </p:spPr>
        <p:txBody>
          <a:bodyPr wrap="none" lIns="28575" tIns="19050" rIns="28575" bIns="19050" anchor="ctr">
            <a:noAutofit/>
          </a:bodyPr>
          <a:lstStyle/>
          <a:p>
            <a:pPr algn="l">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SYNTHETIC BENCHMARK</a:t>
            </a:r>
          </a:p>
        </p:txBody>
      </p:sp>
      <p:sp>
        <p:nvSpPr>
          <p:cNvPr id="3" name="正方形/長方形 2">
            <a:extLst>
              <a:ext uri="{FF2B5EF4-FFF2-40B4-BE49-F238E27FC236}">
                <a16:creationId xmlns:a16="http://schemas.microsoft.com/office/drawing/2014/main" id="{0BE9CE51-0530-48C7-A9A5-8CD7ADB1519C}"/>
              </a:ext>
            </a:extLst>
          </p:cNvPr>
          <p:cNvSpPr>
            <a:spLocks noGrp="1"/>
          </p:cNvSpPr>
          <p:nvPr/>
        </p:nvSpPr>
        <p:spPr>
          <a:xfrm>
            <a:off x="552450" y="400050"/>
            <a:ext cx="11001375" cy="400050"/>
          </a:xfrm>
          <a:prstGeom prst="rect">
            <a:avLst/>
          </a:prstGeom>
          <a:noFill/>
          <a:ln w="0">
            <a:noFill/>
            <a:prstDash val="solid"/>
          </a:ln>
        </p:spPr>
        <p:txBody>
          <a:bodyPr wrap="none" lIns="19050" tIns="0" rIns="19050" bIns="0" anchor="ctr">
            <a:normAutofit/>
          </a:bodyPr>
          <a:lstStyle/>
          <a:p>
            <a:pPr algn="l">
              <a:lnSpc>
                <a:spcPct val="100000"/>
              </a:lnSpc>
              <a:buNone/>
              <a:defRPr sz="2175" b="1" i="0">
                <a:solidFill>
                  <a:srgbClr val="00A5D8"/>
                </a:solidFill>
                <a:latin typeface="Yu Gothic"/>
                <a:ea typeface="Yu Gothic"/>
                <a:cs typeface="Yu Gothic"/>
              </a:defRPr>
            </a:pPr>
            <a:r>
              <a:rPr sz="2175" b="1" i="0">
                <a:solidFill>
                  <a:srgbClr val="00A5D8"/>
                </a:solidFill>
                <a:latin typeface="Yu Gothic"/>
                <a:ea typeface="Yu Gothic"/>
                <a:cs typeface="Yu Gothic"/>
              </a:rPr>
              <a:t>TopCellは通常条件で安定する一方、初期観測の疎さが最大誤差を支配した</a:t>
            </a:r>
          </a:p>
        </p:txBody>
      </p:sp>
      <p:sp>
        <p:nvSpPr>
          <p:cNvPr id="4" name="正方形/長方形 3">
            <a:extLst>
              <a:ext uri="{FF2B5EF4-FFF2-40B4-BE49-F238E27FC236}">
                <a16:creationId xmlns:a16="http://schemas.microsoft.com/office/drawing/2014/main" id="{7D72510A-FCFB-484E-8D9D-05520327F534}"/>
              </a:ext>
            </a:extLst>
          </p:cNvPr>
          <p:cNvSpPr>
            <a:spLocks noGrp="1"/>
          </p:cNvSpPr>
          <p:nvPr/>
        </p:nvSpPr>
        <p:spPr>
          <a:xfrm>
            <a:off x="571500" y="838200"/>
            <a:ext cx="10906125" cy="228600"/>
          </a:xfrm>
          <a:prstGeom prst="rect">
            <a:avLst/>
          </a:prstGeom>
          <a:noFill/>
          <a:ln w="0">
            <a:noFill/>
            <a:prstDash val="solid"/>
          </a:ln>
        </p:spPr>
        <p:txBody>
          <a:bodyPr wrap="none" lIns="28575" tIns="19050" rIns="28575" bIns="19050" anchor="ctr">
            <a:noAutofit/>
          </a:bodyPr>
          <a:lstStyle/>
          <a:p>
            <a:pPr algn="l">
              <a:lnSpc>
                <a:spcPct val="100000"/>
              </a:lnSpc>
              <a:buNone/>
              <a:defRPr sz="975" b="0" i="0">
                <a:solidFill>
                  <a:srgbClr val="5B5B5B"/>
                </a:solidFill>
                <a:latin typeface="Yu Gothic"/>
                <a:ea typeface="Yu Gothic"/>
                <a:cs typeface="Yu Gothic"/>
              </a:defRPr>
            </a:pPr>
            <a:r>
              <a:rPr sz="975" b="0" i="0">
                <a:solidFill>
                  <a:srgbClr val="5B5B5B"/>
                </a:solidFill>
                <a:latin typeface="Yu Gothic"/>
                <a:ea typeface="Yu Gothic"/>
                <a:cs typeface="Yu Gothic"/>
              </a:rPr>
              <a:t>意図的model gapはcore scoreから分離し、失敗を隠さない</a:t>
            </a:r>
          </a:p>
        </p:txBody>
      </p:sp>
      <p:sp>
        <p:nvSpPr>
          <p:cNvPr id="5" name="直線コネクタ 4">
            <a:extLst>
              <a:ext uri="{FF2B5EF4-FFF2-40B4-BE49-F238E27FC236}">
                <a16:creationId xmlns:a16="http://schemas.microsoft.com/office/drawing/2014/main" id="{9349D07F-5FD0-46ED-85F0-170F1D891A60}"/>
              </a:ext>
            </a:extLst>
          </p:cNvPr>
          <p:cNvSpPr>
            <a:spLocks noGrp="1"/>
          </p:cNvSpPr>
          <p:nvPr/>
        </p:nvSpPr>
        <p:spPr>
          <a:xfrm>
            <a:off x="552450" y="1152525"/>
            <a:ext cx="11087100" cy="0"/>
          </a:xfrm>
          <a:prstGeom prst="line">
            <a:avLst/>
          </a:prstGeom>
          <a:noFill/>
          <a:ln w="9525">
            <a:solidFill>
              <a:srgbClr val="D6D6D6"/>
            </a:solidFill>
            <a:prstDash val="solid"/>
          </a:ln>
        </p:spPr>
      </p:sp>
      <p:sp>
        <p:nvSpPr>
          <p:cNvPr id="6" name="直線コネクタ 5">
            <a:extLst>
              <a:ext uri="{FF2B5EF4-FFF2-40B4-BE49-F238E27FC236}">
                <a16:creationId xmlns:a16="http://schemas.microsoft.com/office/drawing/2014/main" id="{FE574636-82A4-48F3-8E4B-5D8F6742A9A0}"/>
              </a:ext>
            </a:extLst>
          </p:cNvPr>
          <p:cNvSpPr>
            <a:spLocks noGrp="1"/>
          </p:cNvSpPr>
          <p:nvPr/>
        </p:nvSpPr>
        <p:spPr>
          <a:xfrm>
            <a:off x="552450" y="6438900"/>
            <a:ext cx="11087100" cy="0"/>
          </a:xfrm>
          <a:prstGeom prst="line">
            <a:avLst/>
          </a:prstGeom>
          <a:noFill/>
          <a:ln w="9525">
            <a:solidFill>
              <a:srgbClr val="D6D6D6"/>
            </a:solidFill>
            <a:prstDash val="solid"/>
          </a:ln>
        </p:spPr>
      </p:sp>
      <p:sp>
        <p:nvSpPr>
          <p:cNvPr id="7" name="正方形/長方形 6">
            <a:extLst>
              <a:ext uri="{FF2B5EF4-FFF2-40B4-BE49-F238E27FC236}">
                <a16:creationId xmlns:a16="http://schemas.microsoft.com/office/drawing/2014/main" id="{E880F5A0-5B67-4A01-A4AF-F129D684C509}"/>
              </a:ext>
            </a:extLst>
          </p:cNvPr>
          <p:cNvSpPr>
            <a:spLocks noGrp="1"/>
          </p:cNvSpPr>
          <p:nvPr/>
        </p:nvSpPr>
        <p:spPr>
          <a:xfrm>
            <a:off x="571500" y="6505575"/>
            <a:ext cx="5334000" cy="171450"/>
          </a:xfrm>
          <a:prstGeom prst="rect">
            <a:avLst/>
          </a:prstGeom>
          <a:noFill/>
          <a:ln w="0">
            <a:noFill/>
            <a:prstDash val="solid"/>
          </a:ln>
        </p:spPr>
        <p:txBody>
          <a:bodyPr wrap="none" lIns="28575" tIns="19050" rIns="28575" bIns="19050" anchor="ctr">
            <a:noAutofit/>
          </a:bodyPr>
          <a:lstStyle/>
          <a:p>
            <a:pPr algn="l">
              <a:lnSpc>
                <a:spcPct val="100000"/>
              </a:lnSpc>
              <a:buNone/>
              <a:defRPr sz="713" b="0" i="0">
                <a:solidFill>
                  <a:srgbClr val="777777"/>
                </a:solidFill>
                <a:latin typeface="Yu Gothic"/>
                <a:ea typeface="Yu Gothic"/>
                <a:cs typeface="Yu Gothic"/>
              </a:defRPr>
            </a:pPr>
            <a:r>
              <a:rPr sz="713" b="0" i="0">
                <a:solidFill>
                  <a:srgbClr val="777777"/>
                </a:solidFill>
                <a:latin typeface="Yu Gothic"/>
                <a:ea typeface="Yu Gothic"/>
                <a:cs typeface="Yu Gothic"/>
              </a:rPr>
              <a:t>THERMAL RC / EQUIPMENT ENGINEERING REVIEW  ·  2026-09-17</a:t>
            </a:r>
          </a:p>
        </p:txBody>
      </p:sp>
      <p:sp>
        <p:nvSpPr>
          <p:cNvPr id="8" name="正方形/長方形 7">
            <a:extLst>
              <a:ext uri="{FF2B5EF4-FFF2-40B4-BE49-F238E27FC236}">
                <a16:creationId xmlns:a16="http://schemas.microsoft.com/office/drawing/2014/main" id="{6B03706E-902C-4DF4-BDDD-AC0E7A0E1C88}"/>
              </a:ext>
            </a:extLst>
          </p:cNvPr>
          <p:cNvSpPr>
            <a:spLocks noGrp="1"/>
          </p:cNvSpPr>
          <p:nvPr/>
        </p:nvSpPr>
        <p:spPr>
          <a:xfrm>
            <a:off x="11125200" y="6496050"/>
            <a:ext cx="476250" cy="171450"/>
          </a:xfrm>
          <a:prstGeom prst="rect">
            <a:avLst/>
          </a:prstGeom>
          <a:noFill/>
          <a:ln w="0">
            <a:noFill/>
            <a:prstDash val="solid"/>
          </a:ln>
        </p:spPr>
        <p:txBody>
          <a:bodyPr wrap="square" lIns="28575" tIns="19050" rIns="28575" bIns="19050" anchor="ctr">
            <a:noAutofit/>
          </a:bodyPr>
          <a:lstStyle/>
          <a:p>
            <a:pPr algn="r">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23</a:t>
            </a:r>
          </a:p>
        </p:txBody>
      </p:sp>
      <p:sp>
        <p:nvSpPr>
          <p:cNvPr id="9" name="正方形/長方形 8">
            <a:extLst>
              <a:ext uri="{FF2B5EF4-FFF2-40B4-BE49-F238E27FC236}">
                <a16:creationId xmlns:a16="http://schemas.microsoft.com/office/drawing/2014/main" id="{DA36F1DA-A0F1-4DF0-A12A-A3EB1ADFBFB2}"/>
              </a:ext>
            </a:extLst>
          </p:cNvPr>
          <p:cNvSpPr>
            <a:spLocks noGrp="1"/>
          </p:cNvSpPr>
          <p:nvPr/>
        </p:nvSpPr>
        <p:spPr>
          <a:xfrm>
            <a:off x="552450" y="1381125"/>
            <a:ext cx="5257800" cy="247650"/>
          </a:xfrm>
          <a:prstGeom prst="rect">
            <a:avLst/>
          </a:prstGeom>
          <a:noFill/>
          <a:ln w="0">
            <a:noFill/>
            <a:prstDash val="solid"/>
          </a:ln>
        </p:spPr>
        <p:txBody>
          <a:bodyPr wrap="square" lIns="28575" tIns="19050" rIns="28575" bIns="19050" anchor="ctr">
            <a:normAutofit/>
          </a:bodyPr>
          <a:lstStyle/>
          <a:p>
            <a:pPr algn="l">
              <a:lnSpc>
                <a:spcPct val="100000"/>
              </a:lnSpc>
              <a:buNone/>
              <a:defRPr sz="1200" b="1" i="0">
                <a:solidFill>
                  <a:srgbClr val="3F3F3F"/>
                </a:solidFill>
                <a:latin typeface="Yu Gothic"/>
                <a:ea typeface="Yu Gothic"/>
                <a:cs typeface="Yu Gothic"/>
              </a:defRPr>
            </a:pPr>
            <a:r>
              <a:rPr sz="1200" b="1" i="0">
                <a:solidFill>
                  <a:srgbClr val="3F3F3F"/>
                </a:solidFill>
                <a:latin typeface="Yu Gothic"/>
                <a:ea typeface="Yu Gothic"/>
                <a:cs typeface="Yu Gothic"/>
              </a:rPr>
              <a:t>core group mean RMSE</a:t>
            </a:r>
          </a:p>
        </p:txBody>
      </p:sp>
      <p:graphicFrame>
        <p:nvGraphicFramePr>
          <p:cNvPr id="40" name="Chart"/>
          <p:cNvGraphicFramePr/>
          <p:nvPr/>
        </p:nvGraphicFramePr>
        <p:xfrm>
          <a:off x="552450" y="1657350"/>
          <a:ext cx="5257800" cy="3124200"/>
        </p:xfrm>
        <a:graphic>
          <a:graphicData uri="http://schemas.openxmlformats.org/drawingml/2006/chart">
            <c:chart xmlns:c="http://schemas.openxmlformats.org/drawingml/2006/chart" xmlns:r="http://schemas.openxmlformats.org/officeDocument/2006/relationships" r:id="rId3"/>
          </a:graphicData>
        </a:graphic>
      </p:graphicFrame>
      <p:sp>
        <p:nvSpPr>
          <p:cNvPr id="11" name="正方形/長方形 10">
            <a:extLst>
              <a:ext uri="{FF2B5EF4-FFF2-40B4-BE49-F238E27FC236}">
                <a16:creationId xmlns:a16="http://schemas.microsoft.com/office/drawing/2014/main" id="{56319D26-FF7E-4474-8A3F-11D3AA5FD93F}"/>
              </a:ext>
            </a:extLst>
          </p:cNvPr>
          <p:cNvSpPr>
            <a:spLocks noGrp="1"/>
          </p:cNvSpPr>
          <p:nvPr/>
        </p:nvSpPr>
        <p:spPr>
          <a:xfrm>
            <a:off x="6381750" y="1381125"/>
            <a:ext cx="5257800" cy="247650"/>
          </a:xfrm>
          <a:prstGeom prst="rect">
            <a:avLst/>
          </a:prstGeom>
          <a:noFill/>
          <a:ln w="0">
            <a:noFill/>
            <a:prstDash val="solid"/>
          </a:ln>
        </p:spPr>
        <p:txBody>
          <a:bodyPr wrap="square" lIns="28575" tIns="19050" rIns="28575" bIns="19050" anchor="ctr">
            <a:normAutofit/>
          </a:bodyPr>
          <a:lstStyle/>
          <a:p>
            <a:pPr algn="l">
              <a:lnSpc>
                <a:spcPct val="100000"/>
              </a:lnSpc>
              <a:buNone/>
              <a:defRPr sz="1200" b="1" i="0">
                <a:solidFill>
                  <a:srgbClr val="3F3F3F"/>
                </a:solidFill>
                <a:latin typeface="Yu Gothic"/>
                <a:ea typeface="Yu Gothic"/>
                <a:cs typeface="Yu Gothic"/>
              </a:defRPr>
            </a:pPr>
            <a:r>
              <a:rPr sz="1200" b="1" i="0">
                <a:solidFill>
                  <a:srgbClr val="3F3F3F"/>
                </a:solidFill>
                <a:latin typeface="Yu Gothic"/>
                <a:ea typeface="Yu Gothic"/>
                <a:cs typeface="Yu Gothic"/>
              </a:rPr>
              <a:t>初期化ケースの改善</a:t>
            </a:r>
          </a:p>
        </p:txBody>
      </p:sp>
      <p:graphicFrame>
        <p:nvGraphicFramePr>
          <p:cNvPr id="42" name="Chart"/>
          <p:cNvGraphicFramePr/>
          <p:nvPr/>
        </p:nvGraphicFramePr>
        <p:xfrm>
          <a:off x="6381750" y="1657350"/>
          <a:ext cx="5257800" cy="3124200"/>
        </p:xfrm>
        <a:graphic>
          <a:graphicData uri="http://schemas.openxmlformats.org/drawingml/2006/chart">
            <c:chart xmlns:c="http://schemas.openxmlformats.org/drawingml/2006/chart" xmlns:r="http://schemas.openxmlformats.org/officeDocument/2006/relationships" r:id="rId4"/>
          </a:graphicData>
        </a:graphic>
      </p:graphicFrame>
      <p:sp>
        <p:nvSpPr>
          <p:cNvPr id="13" name="正方形/長方形 12">
            <a:extLst>
              <a:ext uri="{FF2B5EF4-FFF2-40B4-BE49-F238E27FC236}">
                <a16:creationId xmlns:a16="http://schemas.microsoft.com/office/drawing/2014/main" id="{9580BCFB-7317-4CD7-A623-83776C133826}"/>
              </a:ext>
            </a:extLst>
          </p:cNvPr>
          <p:cNvSpPr>
            <a:spLocks noGrp="1"/>
          </p:cNvSpPr>
          <p:nvPr/>
        </p:nvSpPr>
        <p:spPr>
          <a:xfrm>
            <a:off x="6381750" y="4676775"/>
            <a:ext cx="5257800" cy="190500"/>
          </a:xfrm>
          <a:prstGeom prst="rect">
            <a:avLst/>
          </a:prstGeom>
          <a:noFill/>
          <a:ln w="0">
            <a:noFill/>
            <a:prstDash val="solid"/>
          </a:ln>
        </p:spPr>
        <p:txBody>
          <a:bodyPr wrap="square" lIns="28575" tIns="19050" rIns="28575" bIns="19050" anchor="ctr">
            <a:normAutofit/>
          </a:bodyPr>
          <a:lstStyle/>
          <a:p>
            <a:pPr algn="ctr">
              <a:lnSpc>
                <a:spcPct val="100000"/>
              </a:lnSpc>
              <a:buNone/>
              <a:defRPr sz="825" b="1" i="0">
                <a:solidFill>
                  <a:srgbClr val="4D8710"/>
                </a:solidFill>
                <a:latin typeface="Yu Gothic"/>
                <a:ea typeface="Yu Gothic"/>
                <a:cs typeface="Yu Gothic"/>
              </a:defRPr>
            </a:pPr>
            <a:r>
              <a:rPr sz="825" b="1" i="0">
                <a:solidFill>
                  <a:srgbClr val="4D8710"/>
                </a:solidFill>
                <a:latin typeface="Yu Gothic"/>
                <a:ea typeface="Yu Gothic"/>
                <a:cs typeface="Yu Gothic"/>
              </a:rPr>
              <a:t>history同化により 97.1%低減</a:t>
            </a:r>
          </a:p>
        </p:txBody>
      </p:sp>
      <p:sp>
        <p:nvSpPr>
          <p:cNvPr id="14" name="正方形/長方形 13">
            <a:extLst>
              <a:ext uri="{FF2B5EF4-FFF2-40B4-BE49-F238E27FC236}">
                <a16:creationId xmlns:a16="http://schemas.microsoft.com/office/drawing/2014/main" id="{88AA47BC-FC0B-4621-ABA7-97E96BDBE661}"/>
              </a:ext>
            </a:extLst>
          </p:cNvPr>
          <p:cNvSpPr>
            <a:spLocks noGrp="1"/>
          </p:cNvSpPr>
          <p:nvPr/>
        </p:nvSpPr>
        <p:spPr>
          <a:xfrm>
            <a:off x="552450" y="5105400"/>
            <a:ext cx="2571750" cy="1028700"/>
          </a:xfrm>
          <a:prstGeom prst="rect">
            <a:avLst/>
          </a:prstGeom>
          <a:solidFill>
            <a:srgbClr val="FFFFFF"/>
          </a:solidFill>
          <a:ln w="9525">
            <a:solidFill>
              <a:srgbClr val="D6D6D6"/>
            </a:solidFill>
            <a:prstDash val="solid"/>
          </a:ln>
        </p:spPr>
      </p:sp>
      <p:sp>
        <p:nvSpPr>
          <p:cNvPr id="15" name="正方形/長方形 14">
            <a:extLst>
              <a:ext uri="{FF2B5EF4-FFF2-40B4-BE49-F238E27FC236}">
                <a16:creationId xmlns:a16="http://schemas.microsoft.com/office/drawing/2014/main" id="{C6F48945-4BB4-4204-AE91-7D8D84EC6721}"/>
              </a:ext>
            </a:extLst>
          </p:cNvPr>
          <p:cNvSpPr>
            <a:spLocks noGrp="1"/>
          </p:cNvSpPr>
          <p:nvPr/>
        </p:nvSpPr>
        <p:spPr>
          <a:xfrm>
            <a:off x="552450" y="5105400"/>
            <a:ext cx="66675" cy="1028700"/>
          </a:xfrm>
          <a:prstGeom prst="rect">
            <a:avLst/>
          </a:prstGeom>
          <a:solidFill>
            <a:srgbClr val="00A5D8"/>
          </a:solidFill>
          <a:ln w="0">
            <a:noFill/>
            <a:prstDash val="solid"/>
          </a:ln>
        </p:spPr>
      </p:sp>
      <p:sp>
        <p:nvSpPr>
          <p:cNvPr id="16" name="正方形/長方形 15">
            <a:extLst>
              <a:ext uri="{FF2B5EF4-FFF2-40B4-BE49-F238E27FC236}">
                <a16:creationId xmlns:a16="http://schemas.microsoft.com/office/drawing/2014/main" id="{E337423C-9DCF-4CB9-8B4D-2C83211657F9}"/>
              </a:ext>
            </a:extLst>
          </p:cNvPr>
          <p:cNvSpPr>
            <a:spLocks noGrp="1"/>
          </p:cNvSpPr>
          <p:nvPr/>
        </p:nvSpPr>
        <p:spPr>
          <a:xfrm>
            <a:off x="742950" y="5200650"/>
            <a:ext cx="2286000" cy="371475"/>
          </a:xfrm>
          <a:prstGeom prst="rect">
            <a:avLst/>
          </a:prstGeom>
          <a:noFill/>
          <a:ln w="0">
            <a:noFill/>
            <a:prstDash val="solid"/>
          </a:ln>
        </p:spPr>
        <p:txBody>
          <a:bodyPr wrap="square" lIns="28575" tIns="19050" rIns="28575" bIns="19050" anchor="ctr">
            <a:normAutofit/>
          </a:bodyPr>
          <a:lstStyle/>
          <a:p>
            <a:pPr algn="l">
              <a:lnSpc>
                <a:spcPct val="100000"/>
              </a:lnSpc>
              <a:buNone/>
              <a:defRPr sz="2025" b="1" i="0">
                <a:solidFill>
                  <a:srgbClr val="3F3F3F"/>
                </a:solidFill>
                <a:latin typeface="Yu Gothic"/>
                <a:ea typeface="Yu Gothic"/>
                <a:cs typeface="Yu Gothic"/>
              </a:defRPr>
            </a:pPr>
            <a:r>
              <a:rPr sz="2025" b="1" i="0">
                <a:solidFill>
                  <a:srgbClr val="3F3F3F"/>
                </a:solidFill>
                <a:latin typeface="Yu Gothic"/>
                <a:ea typeface="Yu Gothic"/>
                <a:cs typeface="Yu Gothic"/>
              </a:rPr>
              <a:t>0.143 K</a:t>
            </a:r>
          </a:p>
        </p:txBody>
      </p:sp>
      <p:sp>
        <p:nvSpPr>
          <p:cNvPr id="17" name="正方形/長方形 16">
            <a:extLst>
              <a:ext uri="{FF2B5EF4-FFF2-40B4-BE49-F238E27FC236}">
                <a16:creationId xmlns:a16="http://schemas.microsoft.com/office/drawing/2014/main" id="{C939C3FB-3033-4133-B264-8EF37417BD84}"/>
              </a:ext>
            </a:extLst>
          </p:cNvPr>
          <p:cNvSpPr>
            <a:spLocks noGrp="1"/>
          </p:cNvSpPr>
          <p:nvPr/>
        </p:nvSpPr>
        <p:spPr>
          <a:xfrm>
            <a:off x="742950" y="5581650"/>
            <a:ext cx="2286000" cy="266700"/>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5B5B5B"/>
                </a:solidFill>
                <a:latin typeface="Yu Gothic"/>
                <a:ea typeface="Yu Gothic"/>
                <a:cs typeface="Yu Gothic"/>
              </a:defRPr>
            </a:pPr>
            <a:r>
              <a:rPr sz="975" b="1" i="0">
                <a:solidFill>
                  <a:srgbClr val="5B5B5B"/>
                </a:solidFill>
                <a:latin typeface="Yu Gothic"/>
                <a:ea typeface="Yu Gothic"/>
                <a:cs typeface="Yu Gothic"/>
              </a:rPr>
              <a:t>core 11ケース平均</a:t>
            </a:r>
          </a:p>
        </p:txBody>
      </p:sp>
      <p:sp>
        <p:nvSpPr>
          <p:cNvPr id="18" name="正方形/長方形 17">
            <a:extLst>
              <a:ext uri="{FF2B5EF4-FFF2-40B4-BE49-F238E27FC236}">
                <a16:creationId xmlns:a16="http://schemas.microsoft.com/office/drawing/2014/main" id="{FB1675D2-B73D-4FE2-91E8-B9E6E250CFC0}"/>
              </a:ext>
            </a:extLst>
          </p:cNvPr>
          <p:cNvSpPr>
            <a:spLocks noGrp="1"/>
          </p:cNvSpPr>
          <p:nvPr/>
        </p:nvSpPr>
        <p:spPr>
          <a:xfrm>
            <a:off x="3324225" y="5105400"/>
            <a:ext cx="2571750" cy="1028700"/>
          </a:xfrm>
          <a:prstGeom prst="rect">
            <a:avLst/>
          </a:prstGeom>
          <a:solidFill>
            <a:srgbClr val="FFFFFF"/>
          </a:solidFill>
          <a:ln w="9525">
            <a:solidFill>
              <a:srgbClr val="D6D6D6"/>
            </a:solidFill>
            <a:prstDash val="solid"/>
          </a:ln>
        </p:spPr>
      </p:sp>
      <p:sp>
        <p:nvSpPr>
          <p:cNvPr id="19" name="正方形/長方形 18">
            <a:extLst>
              <a:ext uri="{FF2B5EF4-FFF2-40B4-BE49-F238E27FC236}">
                <a16:creationId xmlns:a16="http://schemas.microsoft.com/office/drawing/2014/main" id="{EB9177D6-0B02-4873-8C8F-2D6CF8F130F3}"/>
              </a:ext>
            </a:extLst>
          </p:cNvPr>
          <p:cNvSpPr>
            <a:spLocks noGrp="1"/>
          </p:cNvSpPr>
          <p:nvPr/>
        </p:nvSpPr>
        <p:spPr>
          <a:xfrm>
            <a:off x="3324225" y="5105400"/>
            <a:ext cx="66675" cy="1028700"/>
          </a:xfrm>
          <a:prstGeom prst="rect">
            <a:avLst/>
          </a:prstGeom>
          <a:solidFill>
            <a:srgbClr val="7B2DAF"/>
          </a:solidFill>
          <a:ln w="0">
            <a:noFill/>
            <a:prstDash val="solid"/>
          </a:ln>
        </p:spPr>
      </p:sp>
      <p:sp>
        <p:nvSpPr>
          <p:cNvPr id="20" name="正方形/長方形 19">
            <a:extLst>
              <a:ext uri="{FF2B5EF4-FFF2-40B4-BE49-F238E27FC236}">
                <a16:creationId xmlns:a16="http://schemas.microsoft.com/office/drawing/2014/main" id="{09DD8B2A-81C7-417C-BCF6-3B0F487F9174}"/>
              </a:ext>
            </a:extLst>
          </p:cNvPr>
          <p:cNvSpPr>
            <a:spLocks noGrp="1"/>
          </p:cNvSpPr>
          <p:nvPr/>
        </p:nvSpPr>
        <p:spPr>
          <a:xfrm>
            <a:off x="3514725" y="5200650"/>
            <a:ext cx="2286000" cy="371475"/>
          </a:xfrm>
          <a:prstGeom prst="rect">
            <a:avLst/>
          </a:prstGeom>
          <a:noFill/>
          <a:ln w="0">
            <a:noFill/>
            <a:prstDash val="solid"/>
          </a:ln>
        </p:spPr>
        <p:txBody>
          <a:bodyPr wrap="square" lIns="28575" tIns="19050" rIns="28575" bIns="19050" anchor="ctr">
            <a:normAutofit/>
          </a:bodyPr>
          <a:lstStyle/>
          <a:p>
            <a:pPr algn="l">
              <a:lnSpc>
                <a:spcPct val="100000"/>
              </a:lnSpc>
              <a:buNone/>
              <a:defRPr sz="2025" b="1" i="0">
                <a:solidFill>
                  <a:srgbClr val="3F3F3F"/>
                </a:solidFill>
                <a:latin typeface="Yu Gothic"/>
                <a:ea typeface="Yu Gothic"/>
                <a:cs typeface="Yu Gothic"/>
              </a:defRPr>
            </a:pPr>
            <a:r>
              <a:rPr sz="2025" b="1" i="0">
                <a:solidFill>
                  <a:srgbClr val="3F3F3F"/>
                </a:solidFill>
                <a:latin typeface="Yu Gothic"/>
                <a:ea typeface="Yu Gothic"/>
                <a:cs typeface="Yu Gothic"/>
              </a:rPr>
              <a:t>7.185 K</a:t>
            </a:r>
          </a:p>
        </p:txBody>
      </p:sp>
      <p:sp>
        <p:nvSpPr>
          <p:cNvPr id="21" name="正方形/長方形 20">
            <a:extLst>
              <a:ext uri="{FF2B5EF4-FFF2-40B4-BE49-F238E27FC236}">
                <a16:creationId xmlns:a16="http://schemas.microsoft.com/office/drawing/2014/main" id="{2F18CAAF-A3E5-4FB7-A818-38FB160DA417}"/>
              </a:ext>
            </a:extLst>
          </p:cNvPr>
          <p:cNvSpPr>
            <a:spLocks noGrp="1"/>
          </p:cNvSpPr>
          <p:nvPr/>
        </p:nvSpPr>
        <p:spPr>
          <a:xfrm>
            <a:off x="3514725" y="5581650"/>
            <a:ext cx="2286000" cy="266700"/>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5B5B5B"/>
                </a:solidFill>
                <a:latin typeface="Yu Gothic"/>
                <a:ea typeface="Yu Gothic"/>
                <a:cs typeface="Yu Gothic"/>
              </a:defRPr>
            </a:pPr>
            <a:r>
              <a:rPr sz="975" b="1" i="0">
                <a:solidFill>
                  <a:srgbClr val="5B5B5B"/>
                </a:solidFill>
                <a:latin typeface="Yu Gothic"/>
                <a:ea typeface="Yu Gothic"/>
                <a:cs typeface="Yu Gothic"/>
              </a:rPr>
              <a:t>prior平均</a:t>
            </a:r>
          </a:p>
        </p:txBody>
      </p:sp>
      <p:sp>
        <p:nvSpPr>
          <p:cNvPr id="22" name="正方形/長方形 21">
            <a:extLst>
              <a:ext uri="{FF2B5EF4-FFF2-40B4-BE49-F238E27FC236}">
                <a16:creationId xmlns:a16="http://schemas.microsoft.com/office/drawing/2014/main" id="{14D0B82A-FFEF-4D98-862A-F3E7BBB754B7}"/>
              </a:ext>
            </a:extLst>
          </p:cNvPr>
          <p:cNvSpPr>
            <a:spLocks noGrp="1"/>
          </p:cNvSpPr>
          <p:nvPr/>
        </p:nvSpPr>
        <p:spPr>
          <a:xfrm>
            <a:off x="6096000" y="5105400"/>
            <a:ext cx="2571750" cy="1028700"/>
          </a:xfrm>
          <a:prstGeom prst="rect">
            <a:avLst/>
          </a:prstGeom>
          <a:solidFill>
            <a:srgbClr val="FFFFFF"/>
          </a:solidFill>
          <a:ln w="9525">
            <a:solidFill>
              <a:srgbClr val="D6D6D6"/>
            </a:solidFill>
            <a:prstDash val="solid"/>
          </a:ln>
        </p:spPr>
      </p:sp>
      <p:sp>
        <p:nvSpPr>
          <p:cNvPr id="23" name="正方形/長方形 22">
            <a:extLst>
              <a:ext uri="{FF2B5EF4-FFF2-40B4-BE49-F238E27FC236}">
                <a16:creationId xmlns:a16="http://schemas.microsoft.com/office/drawing/2014/main" id="{331E8F03-3723-4BD3-AE79-C57F6AF536D7}"/>
              </a:ext>
            </a:extLst>
          </p:cNvPr>
          <p:cNvSpPr>
            <a:spLocks noGrp="1"/>
          </p:cNvSpPr>
          <p:nvPr/>
        </p:nvSpPr>
        <p:spPr>
          <a:xfrm>
            <a:off x="6096000" y="5105400"/>
            <a:ext cx="66675" cy="1028700"/>
          </a:xfrm>
          <a:prstGeom prst="rect">
            <a:avLst/>
          </a:prstGeom>
          <a:solidFill>
            <a:srgbClr val="E5A900"/>
          </a:solidFill>
          <a:ln w="0">
            <a:noFill/>
            <a:prstDash val="solid"/>
          </a:ln>
        </p:spPr>
      </p:sp>
      <p:sp>
        <p:nvSpPr>
          <p:cNvPr id="24" name="正方形/長方形 23">
            <a:extLst>
              <a:ext uri="{FF2B5EF4-FFF2-40B4-BE49-F238E27FC236}">
                <a16:creationId xmlns:a16="http://schemas.microsoft.com/office/drawing/2014/main" id="{489C6748-F41C-4157-A3ED-839D41A74965}"/>
              </a:ext>
            </a:extLst>
          </p:cNvPr>
          <p:cNvSpPr>
            <a:spLocks noGrp="1"/>
          </p:cNvSpPr>
          <p:nvPr/>
        </p:nvSpPr>
        <p:spPr>
          <a:xfrm>
            <a:off x="6286500" y="5200650"/>
            <a:ext cx="2286000" cy="371475"/>
          </a:xfrm>
          <a:prstGeom prst="rect">
            <a:avLst/>
          </a:prstGeom>
          <a:noFill/>
          <a:ln w="0">
            <a:noFill/>
            <a:prstDash val="solid"/>
          </a:ln>
        </p:spPr>
        <p:txBody>
          <a:bodyPr wrap="square" lIns="28575" tIns="19050" rIns="28575" bIns="19050" anchor="ctr">
            <a:normAutofit/>
          </a:bodyPr>
          <a:lstStyle/>
          <a:p>
            <a:pPr algn="l">
              <a:lnSpc>
                <a:spcPct val="100000"/>
              </a:lnSpc>
              <a:buNone/>
              <a:defRPr sz="2025" b="1" i="0">
                <a:solidFill>
                  <a:srgbClr val="3F3F3F"/>
                </a:solidFill>
                <a:latin typeface="Yu Gothic"/>
                <a:ea typeface="Yu Gothic"/>
                <a:cs typeface="Yu Gothic"/>
              </a:defRPr>
            </a:pPr>
            <a:r>
              <a:rPr sz="2025" b="1" i="0">
                <a:solidFill>
                  <a:srgbClr val="3F3F3F"/>
                </a:solidFill>
                <a:latin typeface="Yu Gothic"/>
                <a:ea typeface="Yu Gothic"/>
                <a:cs typeface="Yu Gothic"/>
              </a:rPr>
              <a:t>1.303 K</a:t>
            </a:r>
          </a:p>
        </p:txBody>
      </p:sp>
      <p:sp>
        <p:nvSpPr>
          <p:cNvPr id="25" name="正方形/長方形 24">
            <a:extLst>
              <a:ext uri="{FF2B5EF4-FFF2-40B4-BE49-F238E27FC236}">
                <a16:creationId xmlns:a16="http://schemas.microsoft.com/office/drawing/2014/main" id="{F804677C-678B-493D-872C-AAF1A194E37C}"/>
              </a:ext>
            </a:extLst>
          </p:cNvPr>
          <p:cNvSpPr>
            <a:spLocks noGrp="1"/>
          </p:cNvSpPr>
          <p:nvPr/>
        </p:nvSpPr>
        <p:spPr>
          <a:xfrm>
            <a:off x="6286500" y="5581650"/>
            <a:ext cx="2286000" cy="266700"/>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5B5B5B"/>
                </a:solidFill>
                <a:latin typeface="Yu Gothic"/>
                <a:ea typeface="Yu Gothic"/>
                <a:cs typeface="Yu Gothic"/>
              </a:defRPr>
            </a:pPr>
            <a:r>
              <a:rPr sz="975" b="1" i="0">
                <a:solidFill>
                  <a:srgbClr val="5B5B5B"/>
                </a:solidFill>
                <a:latin typeface="Yu Gothic"/>
                <a:ea typeface="Yu Gothic"/>
                <a:cs typeface="Yu Gothic"/>
              </a:rPr>
              <a:t>worst F09</a:t>
            </a:r>
          </a:p>
        </p:txBody>
      </p:sp>
      <p:sp>
        <p:nvSpPr>
          <p:cNvPr id="26" name="正方形/長方形 25">
            <a:extLst>
              <a:ext uri="{FF2B5EF4-FFF2-40B4-BE49-F238E27FC236}">
                <a16:creationId xmlns:a16="http://schemas.microsoft.com/office/drawing/2014/main" id="{29A9959B-EF24-4947-AFC9-0A5E1D277356}"/>
              </a:ext>
            </a:extLst>
          </p:cNvPr>
          <p:cNvSpPr>
            <a:spLocks noGrp="1"/>
          </p:cNvSpPr>
          <p:nvPr/>
        </p:nvSpPr>
        <p:spPr>
          <a:xfrm>
            <a:off x="8867775" y="5105400"/>
            <a:ext cx="2771775" cy="1028700"/>
          </a:xfrm>
          <a:prstGeom prst="rect">
            <a:avLst/>
          </a:prstGeom>
          <a:solidFill>
            <a:srgbClr val="FFFFFF"/>
          </a:solidFill>
          <a:ln w="9525">
            <a:solidFill>
              <a:srgbClr val="D6D6D6"/>
            </a:solidFill>
            <a:prstDash val="solid"/>
          </a:ln>
        </p:spPr>
      </p:sp>
      <p:sp>
        <p:nvSpPr>
          <p:cNvPr id="27" name="正方形/長方形 26">
            <a:extLst>
              <a:ext uri="{FF2B5EF4-FFF2-40B4-BE49-F238E27FC236}">
                <a16:creationId xmlns:a16="http://schemas.microsoft.com/office/drawing/2014/main" id="{89DB5CA2-314D-4AE0-9E42-DD4E9C52B48C}"/>
              </a:ext>
            </a:extLst>
          </p:cNvPr>
          <p:cNvSpPr>
            <a:spLocks noGrp="1"/>
          </p:cNvSpPr>
          <p:nvPr/>
        </p:nvSpPr>
        <p:spPr>
          <a:xfrm>
            <a:off x="8867775" y="5105400"/>
            <a:ext cx="66675" cy="1028700"/>
          </a:xfrm>
          <a:prstGeom prst="rect">
            <a:avLst/>
          </a:prstGeom>
          <a:solidFill>
            <a:srgbClr val="C4493D"/>
          </a:solidFill>
          <a:ln w="0">
            <a:noFill/>
            <a:prstDash val="solid"/>
          </a:ln>
        </p:spPr>
      </p:sp>
      <p:sp>
        <p:nvSpPr>
          <p:cNvPr id="28" name="正方形/長方形 27">
            <a:extLst>
              <a:ext uri="{FF2B5EF4-FFF2-40B4-BE49-F238E27FC236}">
                <a16:creationId xmlns:a16="http://schemas.microsoft.com/office/drawing/2014/main" id="{380AC206-9138-47B1-BB0D-07A87E2C45E4}"/>
              </a:ext>
            </a:extLst>
          </p:cNvPr>
          <p:cNvSpPr>
            <a:spLocks noGrp="1"/>
          </p:cNvSpPr>
          <p:nvPr/>
        </p:nvSpPr>
        <p:spPr>
          <a:xfrm>
            <a:off x="9058275" y="5200650"/>
            <a:ext cx="2486025" cy="371475"/>
          </a:xfrm>
          <a:prstGeom prst="rect">
            <a:avLst/>
          </a:prstGeom>
          <a:noFill/>
          <a:ln w="0">
            <a:noFill/>
            <a:prstDash val="solid"/>
          </a:ln>
        </p:spPr>
        <p:txBody>
          <a:bodyPr wrap="square" lIns="28575" tIns="19050" rIns="28575" bIns="19050" anchor="ctr">
            <a:normAutofit/>
          </a:bodyPr>
          <a:lstStyle/>
          <a:p>
            <a:pPr algn="l">
              <a:lnSpc>
                <a:spcPct val="100000"/>
              </a:lnSpc>
              <a:buNone/>
              <a:defRPr sz="2025" b="1" i="0">
                <a:solidFill>
                  <a:srgbClr val="3F3F3F"/>
                </a:solidFill>
                <a:latin typeface="Yu Gothic"/>
                <a:ea typeface="Yu Gothic"/>
                <a:cs typeface="Yu Gothic"/>
              </a:defRPr>
            </a:pPr>
            <a:r>
              <a:rPr sz="2025" b="1" i="0">
                <a:solidFill>
                  <a:srgbClr val="3F3F3F"/>
                </a:solidFill>
                <a:latin typeface="Yu Gothic"/>
                <a:ea typeface="Yu Gothic"/>
                <a:cs typeface="Yu Gothic"/>
              </a:rPr>
              <a:t>9.823 K</a:t>
            </a:r>
          </a:p>
        </p:txBody>
      </p:sp>
      <p:sp>
        <p:nvSpPr>
          <p:cNvPr id="29" name="正方形/長方形 28">
            <a:extLst>
              <a:ext uri="{FF2B5EF4-FFF2-40B4-BE49-F238E27FC236}">
                <a16:creationId xmlns:a16="http://schemas.microsoft.com/office/drawing/2014/main" id="{9E1DABE3-E69A-4B18-9081-7BF15A8E4B8A}"/>
              </a:ext>
            </a:extLst>
          </p:cNvPr>
          <p:cNvSpPr>
            <a:spLocks noGrp="1"/>
          </p:cNvSpPr>
          <p:nvPr/>
        </p:nvSpPr>
        <p:spPr>
          <a:xfrm>
            <a:off x="9058275" y="5581650"/>
            <a:ext cx="2486025" cy="266700"/>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5B5B5B"/>
                </a:solidFill>
                <a:latin typeface="Yu Gothic"/>
                <a:ea typeface="Yu Gothic"/>
                <a:cs typeface="Yu Gothic"/>
              </a:defRPr>
            </a:pPr>
            <a:r>
              <a:rPr sz="975" b="1" i="0">
                <a:solidFill>
                  <a:srgbClr val="5B5B5B"/>
                </a:solidFill>
                <a:latin typeface="Yu Gothic"/>
                <a:ea typeface="Yu Gothic"/>
                <a:cs typeface="Yu Gothic"/>
              </a:rPr>
              <a:t>F11 intentional gap</a:t>
            </a:r>
          </a:p>
        </p:txBody>
      </p:sp>
      <p:sp>
        <p:nvSpPr>
          <p:cNvPr id="30" name="正方形/長方形 29">
            <a:extLst>
              <a:ext uri="{FF2B5EF4-FFF2-40B4-BE49-F238E27FC236}">
                <a16:creationId xmlns:a16="http://schemas.microsoft.com/office/drawing/2014/main" id="{EB860D6A-006A-457A-B42E-44A631D14108}"/>
              </a:ext>
            </a:extLst>
          </p:cNvPr>
          <p:cNvSpPr>
            <a:spLocks noGrp="1"/>
          </p:cNvSpPr>
          <p:nvPr/>
        </p:nvSpPr>
        <p:spPr>
          <a:xfrm>
            <a:off x="9058275" y="5867400"/>
            <a:ext cx="2486025" cy="209550"/>
          </a:xfrm>
          <a:prstGeom prst="rect">
            <a:avLst/>
          </a:prstGeom>
          <a:noFill/>
          <a:ln w="0">
            <a:noFill/>
            <a:prstDash val="solid"/>
          </a:ln>
        </p:spPr>
        <p:txBody>
          <a:bodyPr wrap="square" lIns="28575" tIns="19050" rIns="28575" bIns="19050" anchor="t">
            <a:normAutofit/>
          </a:bodyPr>
          <a:lstStyle/>
          <a:p>
            <a:pPr algn="l">
              <a:lnSpc>
                <a:spcPct val="106000"/>
              </a:lnSpc>
              <a:buNone/>
              <a:defRPr sz="788" b="0" i="0">
                <a:solidFill>
                  <a:srgbClr val="777777"/>
                </a:solidFill>
                <a:latin typeface="Yu Gothic"/>
                <a:ea typeface="Yu Gothic"/>
                <a:cs typeface="Yu Gothic"/>
              </a:defRPr>
            </a:pPr>
            <a:r>
              <a:rPr sz="788" b="0" i="0">
                <a:solidFill>
                  <a:srgbClr val="777777"/>
                </a:solidFill>
                <a:latin typeface="Yu Gothic"/>
                <a:ea typeface="Yu Gothic"/>
                <a:cs typeface="Yu Gothic"/>
              </a:rPr>
              <a:t>温度依存heat lossを未表現</a:t>
            </a:r>
          </a:p>
        </p:txBody>
      </p:sp>
    </p:spTree>
    <p:extLst>
      <p:ext uri="{BB962C8B-B14F-4D97-AF65-F5344CB8AC3E}">
        <p14:creationId xmlns:p14="http://schemas.microsoft.com/office/powerpoint/2010/main" val="16372106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 name="正方形/長方形 33">
            <a:extLst>
              <a:ext uri="{FF2B5EF4-FFF2-40B4-BE49-F238E27FC236}">
                <a16:creationId xmlns:a16="http://schemas.microsoft.com/office/drawing/2014/main" id="{ABA76A64-1341-42D0-9BC1-1E1516BD27EB}"/>
              </a:ext>
            </a:extLst>
          </p:cNvPr>
          <p:cNvSpPr>
            <a:spLocks noGrp="1"/>
          </p:cNvSpPr>
          <p:nvPr/>
        </p:nvSpPr>
        <p:spPr>
          <a:xfrm>
            <a:off x="552450" y="190500"/>
            <a:ext cx="76200" cy="142875"/>
          </a:xfrm>
          <a:prstGeom prst="rect">
            <a:avLst/>
          </a:prstGeom>
          <a:solidFill>
            <a:srgbClr val="76BE18"/>
          </a:solidFill>
          <a:ln w="0">
            <a:noFill/>
            <a:prstDash val="solid"/>
          </a:ln>
        </p:spPr>
      </p:sp>
      <p:sp>
        <p:nvSpPr>
          <p:cNvPr id="2" name="正方形/長方形 1">
            <a:extLst>
              <a:ext uri="{FF2B5EF4-FFF2-40B4-BE49-F238E27FC236}">
                <a16:creationId xmlns:a16="http://schemas.microsoft.com/office/drawing/2014/main" id="{55A0D1E4-73F2-4E0F-B7BF-56B7FBB9BB21}"/>
              </a:ext>
            </a:extLst>
          </p:cNvPr>
          <p:cNvSpPr>
            <a:spLocks noGrp="1"/>
          </p:cNvSpPr>
          <p:nvPr/>
        </p:nvSpPr>
        <p:spPr>
          <a:xfrm>
            <a:off x="704850" y="161925"/>
            <a:ext cx="3429000" cy="190500"/>
          </a:xfrm>
          <a:prstGeom prst="rect">
            <a:avLst/>
          </a:prstGeom>
          <a:noFill/>
          <a:ln w="0">
            <a:noFill/>
            <a:prstDash val="solid"/>
          </a:ln>
        </p:spPr>
        <p:txBody>
          <a:bodyPr wrap="none" lIns="28575" tIns="19050" rIns="28575" bIns="19050" anchor="ctr">
            <a:noAutofit/>
          </a:bodyPr>
          <a:lstStyle/>
          <a:p>
            <a:pPr algn="l">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LINEAR COMSOL</a:t>
            </a:r>
          </a:p>
        </p:txBody>
      </p:sp>
      <p:sp>
        <p:nvSpPr>
          <p:cNvPr id="3" name="正方形/長方形 2">
            <a:extLst>
              <a:ext uri="{FF2B5EF4-FFF2-40B4-BE49-F238E27FC236}">
                <a16:creationId xmlns:a16="http://schemas.microsoft.com/office/drawing/2014/main" id="{2951C4BA-3BAC-4DAA-AC6A-12896614EFA8}"/>
              </a:ext>
            </a:extLst>
          </p:cNvPr>
          <p:cNvSpPr>
            <a:spLocks noGrp="1"/>
          </p:cNvSpPr>
          <p:nvPr/>
        </p:nvSpPr>
        <p:spPr>
          <a:xfrm>
            <a:off x="552450" y="400050"/>
            <a:ext cx="11001375" cy="400050"/>
          </a:xfrm>
          <a:prstGeom prst="rect">
            <a:avLst/>
          </a:prstGeom>
          <a:noFill/>
          <a:ln w="0">
            <a:noFill/>
            <a:prstDash val="solid"/>
          </a:ln>
        </p:spPr>
        <p:txBody>
          <a:bodyPr wrap="none" lIns="19050" tIns="0" rIns="19050" bIns="0" anchor="ctr">
            <a:normAutofit/>
          </a:bodyPr>
          <a:lstStyle/>
          <a:p>
            <a:pPr algn="l">
              <a:lnSpc>
                <a:spcPct val="100000"/>
              </a:lnSpc>
              <a:buNone/>
              <a:defRPr sz="2175" b="1" i="0">
                <a:solidFill>
                  <a:srgbClr val="00A5D8"/>
                </a:solidFill>
                <a:latin typeface="Yu Gothic"/>
                <a:ea typeface="Yu Gothic"/>
                <a:cs typeface="Yu Gothic"/>
              </a:defRPr>
            </a:pPr>
            <a:r>
              <a:rPr sz="2175" b="1" i="0">
                <a:solidFill>
                  <a:srgbClr val="00A5D8"/>
                </a:solidFill>
                <a:latin typeface="Yu Gothic"/>
                <a:ea typeface="Yu Gothic"/>
                <a:cs typeface="Yu Gothic"/>
              </a:rPr>
              <a:t>外部8ケースの平均RMSEは0.036 K、worstはshort-pulse条件の0.083 K</a:t>
            </a:r>
          </a:p>
        </p:txBody>
      </p:sp>
      <p:sp>
        <p:nvSpPr>
          <p:cNvPr id="4" name="正方形/長方形 3">
            <a:extLst>
              <a:ext uri="{FF2B5EF4-FFF2-40B4-BE49-F238E27FC236}">
                <a16:creationId xmlns:a16="http://schemas.microsoft.com/office/drawing/2014/main" id="{BD177DC5-BF52-40A8-98A9-408D00FC05D5}"/>
              </a:ext>
            </a:extLst>
          </p:cNvPr>
          <p:cNvSpPr>
            <a:spLocks noGrp="1"/>
          </p:cNvSpPr>
          <p:nvPr/>
        </p:nvSpPr>
        <p:spPr>
          <a:xfrm>
            <a:off x="571500" y="838200"/>
            <a:ext cx="10906125" cy="228600"/>
          </a:xfrm>
          <a:prstGeom prst="rect">
            <a:avLst/>
          </a:prstGeom>
          <a:noFill/>
          <a:ln w="0">
            <a:noFill/>
            <a:prstDash val="solid"/>
          </a:ln>
        </p:spPr>
        <p:txBody>
          <a:bodyPr wrap="none" lIns="28575" tIns="19050" rIns="28575" bIns="19050" anchor="ctr">
            <a:noAutofit/>
          </a:bodyPr>
          <a:lstStyle/>
          <a:p>
            <a:pPr algn="l">
              <a:lnSpc>
                <a:spcPct val="100000"/>
              </a:lnSpc>
              <a:buNone/>
              <a:defRPr sz="975" b="0" i="0">
                <a:solidFill>
                  <a:srgbClr val="5B5B5B"/>
                </a:solidFill>
                <a:latin typeface="Yu Gothic"/>
                <a:ea typeface="Yu Gothic"/>
                <a:cs typeface="Yu Gothic"/>
              </a:defRPr>
            </a:pPr>
            <a:r>
              <a:rPr sz="975" b="0" i="0">
                <a:solidFill>
                  <a:srgbClr val="5B5B5B"/>
                </a:solidFill>
                <a:latin typeface="Yu Gothic"/>
                <a:ea typeface="Yu Gothic"/>
                <a:cs typeface="Yu Gothic"/>
              </a:rPr>
              <a:t>体積平均温度に対する結果であり、局所hotspotの安全余裕は別に設定する</a:t>
            </a:r>
          </a:p>
        </p:txBody>
      </p:sp>
      <p:sp>
        <p:nvSpPr>
          <p:cNvPr id="5" name="直線コネクタ 4">
            <a:extLst>
              <a:ext uri="{FF2B5EF4-FFF2-40B4-BE49-F238E27FC236}">
                <a16:creationId xmlns:a16="http://schemas.microsoft.com/office/drawing/2014/main" id="{3B86A20A-C292-431A-B484-7E858DE5274F}"/>
              </a:ext>
            </a:extLst>
          </p:cNvPr>
          <p:cNvSpPr>
            <a:spLocks noGrp="1"/>
          </p:cNvSpPr>
          <p:nvPr/>
        </p:nvSpPr>
        <p:spPr>
          <a:xfrm>
            <a:off x="552450" y="1152525"/>
            <a:ext cx="11087100" cy="0"/>
          </a:xfrm>
          <a:prstGeom prst="line">
            <a:avLst/>
          </a:prstGeom>
          <a:noFill/>
          <a:ln w="9525">
            <a:solidFill>
              <a:srgbClr val="D6D6D6"/>
            </a:solidFill>
            <a:prstDash val="solid"/>
          </a:ln>
        </p:spPr>
      </p:sp>
      <p:sp>
        <p:nvSpPr>
          <p:cNvPr id="6" name="直線コネクタ 5">
            <a:extLst>
              <a:ext uri="{FF2B5EF4-FFF2-40B4-BE49-F238E27FC236}">
                <a16:creationId xmlns:a16="http://schemas.microsoft.com/office/drawing/2014/main" id="{98BB3712-A6D3-4311-91C5-E88332FE7917}"/>
              </a:ext>
            </a:extLst>
          </p:cNvPr>
          <p:cNvSpPr>
            <a:spLocks noGrp="1"/>
          </p:cNvSpPr>
          <p:nvPr/>
        </p:nvSpPr>
        <p:spPr>
          <a:xfrm>
            <a:off x="552450" y="6438900"/>
            <a:ext cx="11087100" cy="0"/>
          </a:xfrm>
          <a:prstGeom prst="line">
            <a:avLst/>
          </a:prstGeom>
          <a:noFill/>
          <a:ln w="9525">
            <a:solidFill>
              <a:srgbClr val="D6D6D6"/>
            </a:solidFill>
            <a:prstDash val="solid"/>
          </a:ln>
        </p:spPr>
      </p:sp>
      <p:sp>
        <p:nvSpPr>
          <p:cNvPr id="7" name="正方形/長方形 6">
            <a:extLst>
              <a:ext uri="{FF2B5EF4-FFF2-40B4-BE49-F238E27FC236}">
                <a16:creationId xmlns:a16="http://schemas.microsoft.com/office/drawing/2014/main" id="{46DAFB3E-EB5A-4B17-A7CF-58F98A5C3FA3}"/>
              </a:ext>
            </a:extLst>
          </p:cNvPr>
          <p:cNvSpPr>
            <a:spLocks noGrp="1"/>
          </p:cNvSpPr>
          <p:nvPr/>
        </p:nvSpPr>
        <p:spPr>
          <a:xfrm>
            <a:off x="571500" y="6505575"/>
            <a:ext cx="5334000" cy="171450"/>
          </a:xfrm>
          <a:prstGeom prst="rect">
            <a:avLst/>
          </a:prstGeom>
          <a:noFill/>
          <a:ln w="0">
            <a:noFill/>
            <a:prstDash val="solid"/>
          </a:ln>
        </p:spPr>
        <p:txBody>
          <a:bodyPr wrap="none" lIns="28575" tIns="19050" rIns="28575" bIns="19050" anchor="ctr">
            <a:noAutofit/>
          </a:bodyPr>
          <a:lstStyle/>
          <a:p>
            <a:pPr algn="l">
              <a:lnSpc>
                <a:spcPct val="100000"/>
              </a:lnSpc>
              <a:buNone/>
              <a:defRPr sz="713" b="0" i="0">
                <a:solidFill>
                  <a:srgbClr val="777777"/>
                </a:solidFill>
                <a:latin typeface="Yu Gothic"/>
                <a:ea typeface="Yu Gothic"/>
                <a:cs typeface="Yu Gothic"/>
              </a:defRPr>
            </a:pPr>
            <a:r>
              <a:rPr sz="713" b="0" i="0">
                <a:solidFill>
                  <a:srgbClr val="777777"/>
                </a:solidFill>
                <a:latin typeface="Yu Gothic"/>
                <a:ea typeface="Yu Gothic"/>
                <a:cs typeface="Yu Gothic"/>
              </a:rPr>
              <a:t>THERMAL RC / EQUIPMENT ENGINEERING REVIEW  ·  2026-09-17</a:t>
            </a:r>
          </a:p>
        </p:txBody>
      </p:sp>
      <p:sp>
        <p:nvSpPr>
          <p:cNvPr id="8" name="正方形/長方形 7">
            <a:extLst>
              <a:ext uri="{FF2B5EF4-FFF2-40B4-BE49-F238E27FC236}">
                <a16:creationId xmlns:a16="http://schemas.microsoft.com/office/drawing/2014/main" id="{9AFC19C2-AB0C-4106-A880-0044A026A1F8}"/>
              </a:ext>
            </a:extLst>
          </p:cNvPr>
          <p:cNvSpPr>
            <a:spLocks noGrp="1"/>
          </p:cNvSpPr>
          <p:nvPr/>
        </p:nvSpPr>
        <p:spPr>
          <a:xfrm>
            <a:off x="11125200" y="6496050"/>
            <a:ext cx="476250" cy="171450"/>
          </a:xfrm>
          <a:prstGeom prst="rect">
            <a:avLst/>
          </a:prstGeom>
          <a:noFill/>
          <a:ln w="0">
            <a:noFill/>
            <a:prstDash val="solid"/>
          </a:ln>
        </p:spPr>
        <p:txBody>
          <a:bodyPr wrap="square" lIns="28575" tIns="19050" rIns="28575" bIns="19050" anchor="ctr">
            <a:noAutofit/>
          </a:bodyPr>
          <a:lstStyle/>
          <a:p>
            <a:pPr algn="r">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24</a:t>
            </a:r>
          </a:p>
        </p:txBody>
      </p:sp>
      <p:graphicFrame>
        <p:nvGraphicFramePr>
          <p:cNvPr id="42" name="Chart"/>
          <p:cNvGraphicFramePr/>
          <p:nvPr/>
        </p:nvGraphicFramePr>
        <p:xfrm>
          <a:off x="552450" y="1438275"/>
          <a:ext cx="7219950" cy="3619500"/>
        </p:xfrm>
        <a:graphic>
          <a:graphicData uri="http://schemas.openxmlformats.org/drawingml/2006/chart">
            <c:chart xmlns:c="http://schemas.openxmlformats.org/drawingml/2006/chart" xmlns:r="http://schemas.openxmlformats.org/officeDocument/2006/relationships" r:id="rId3"/>
          </a:graphicData>
        </a:graphic>
      </p:graphicFrame>
      <p:sp>
        <p:nvSpPr>
          <p:cNvPr id="10" name="正方形/長方形 9">
            <a:extLst>
              <a:ext uri="{FF2B5EF4-FFF2-40B4-BE49-F238E27FC236}">
                <a16:creationId xmlns:a16="http://schemas.microsoft.com/office/drawing/2014/main" id="{47A873C0-4E40-4636-B7F0-1FEBC790B622}"/>
              </a:ext>
            </a:extLst>
          </p:cNvPr>
          <p:cNvSpPr>
            <a:spLocks noGrp="1"/>
          </p:cNvSpPr>
          <p:nvPr/>
        </p:nvSpPr>
        <p:spPr>
          <a:xfrm>
            <a:off x="8058150" y="1438275"/>
            <a:ext cx="3581400" cy="247650"/>
          </a:xfrm>
          <a:prstGeom prst="rect">
            <a:avLst/>
          </a:prstGeom>
          <a:noFill/>
          <a:ln w="0">
            <a:noFill/>
            <a:prstDash val="solid"/>
          </a:ln>
        </p:spPr>
        <p:txBody>
          <a:bodyPr wrap="square" lIns="28575" tIns="19050" rIns="28575" bIns="19050" anchor="ctr">
            <a:normAutofit/>
          </a:bodyPr>
          <a:lstStyle/>
          <a:p>
            <a:pPr algn="l">
              <a:lnSpc>
                <a:spcPct val="100000"/>
              </a:lnSpc>
              <a:buNone/>
              <a:defRPr sz="1200" b="1" i="0">
                <a:solidFill>
                  <a:srgbClr val="3F3F3F"/>
                </a:solidFill>
                <a:latin typeface="Yu Gothic"/>
                <a:ea typeface="Yu Gothic"/>
                <a:cs typeface="Yu Gothic"/>
              </a:defRPr>
            </a:pPr>
            <a:r>
              <a:rPr sz="1200" b="1" i="0">
                <a:solidFill>
                  <a:srgbClr val="3F3F3F"/>
                </a:solidFill>
                <a:latin typeface="Yu Gothic"/>
                <a:ea typeface="Yu Gothic"/>
                <a:cs typeface="Yu Gothic"/>
              </a:rPr>
              <a:t>同定パラメータ</a:t>
            </a:r>
          </a:p>
        </p:txBody>
      </p:sp>
      <p:graphicFrame>
        <p:nvGraphicFramePr>
          <p:cNvPr id="44" name="表 43"/>
          <p:cNvGraphicFramePr/>
          <p:nvPr/>
        </p:nvGraphicFramePr>
        <p:xfrm>
          <a:off x="8058150" y="1781175"/>
          <a:ext cx="3581400" cy="1657350"/>
        </p:xfrm>
        <a:graphic>
          <a:graphicData uri="http://schemas.openxmlformats.org/drawingml/2006/table">
            <a:tbl>
              <a:tblPr/>
              <a:tblGrid>
                <a:gridCol w="1619250">
                  <a:extLst>
                    <a:ext uri="{9D8B030D-6E8A-4147-A177-3AD203B41FA5}">
                      <a16:colId xmlns:a16="http://schemas.microsoft.com/office/drawing/2014/main" val="20000"/>
                    </a:ext>
                  </a:extLst>
                </a:gridCol>
                <a:gridCol w="933450">
                  <a:extLst>
                    <a:ext uri="{9D8B030D-6E8A-4147-A177-3AD203B41FA5}">
                      <a16:colId xmlns:a16="http://schemas.microsoft.com/office/drawing/2014/main" val="20001"/>
                    </a:ext>
                  </a:extLst>
                </a:gridCol>
                <a:gridCol w="1028700">
                  <a:extLst>
                    <a:ext uri="{9D8B030D-6E8A-4147-A177-3AD203B41FA5}">
                      <a16:colId xmlns:a16="http://schemas.microsoft.com/office/drawing/2014/main" val="20002"/>
                    </a:ext>
                  </a:extLst>
                </a:gridCol>
              </a:tblGrid>
              <a:tr h="414338">
                <a:tc>
                  <a:txBody>
                    <a:bodyPr/>
                    <a:lstStyle/>
                    <a:p>
                      <a:r>
                        <a:rPr sz="938" b="1">
                          <a:solidFill>
                            <a:srgbClr val="FFFFFF"/>
                          </a:solidFill>
                          <a:latin typeface="Yu Gothic"/>
                          <a:ea typeface="Yu Gothic"/>
                          <a:cs typeface="Yu Gothic"/>
                        </a:rPr>
                        <a:t>parameter</a:t>
                      </a:r>
                    </a:p>
                  </a:txBody>
                  <a:tcPr>
                    <a:solidFill>
                      <a:srgbClr val="007FA8"/>
                    </a:solidFill>
                  </a:tcPr>
                </a:tc>
                <a:tc>
                  <a:txBody>
                    <a:bodyPr/>
                    <a:lstStyle/>
                    <a:p>
                      <a:r>
                        <a:rPr sz="938" b="1">
                          <a:solidFill>
                            <a:srgbClr val="FFFFFF"/>
                          </a:solidFill>
                          <a:latin typeface="Yu Gothic"/>
                          <a:ea typeface="Yu Gothic"/>
                          <a:cs typeface="Yu Gothic"/>
                        </a:rPr>
                        <a:t>prior</a:t>
                      </a:r>
                    </a:p>
                  </a:txBody>
                  <a:tcPr>
                    <a:solidFill>
                      <a:srgbClr val="007FA8"/>
                    </a:solidFill>
                  </a:tcPr>
                </a:tc>
                <a:tc>
                  <a:txBody>
                    <a:bodyPr/>
                    <a:lstStyle/>
                    <a:p>
                      <a:r>
                        <a:rPr sz="938" b="1">
                          <a:solidFill>
                            <a:srgbClr val="FFFFFF"/>
                          </a:solidFill>
                          <a:latin typeface="Yu Gothic"/>
                          <a:ea typeface="Yu Gothic"/>
                          <a:cs typeface="Yu Gothic"/>
                        </a:rPr>
                        <a:t>fitted</a:t>
                      </a:r>
                    </a:p>
                  </a:txBody>
                  <a:tcPr>
                    <a:solidFill>
                      <a:srgbClr val="007FA8"/>
                    </a:solidFill>
                  </a:tcPr>
                </a:tc>
                <a:extLst>
                  <a:ext uri="{0D108BD9-81ED-4DB2-BD59-A6C34878D82A}">
                    <a16:rowId xmlns:a16="http://schemas.microsoft.com/office/drawing/2014/main" val="10000"/>
                  </a:ext>
                </a:extLst>
              </a:tr>
              <a:tr h="414338">
                <a:tc>
                  <a:txBody>
                    <a:bodyPr/>
                    <a:lstStyle/>
                    <a:p>
                      <a:r>
                        <a:rPr sz="863">
                          <a:solidFill>
                            <a:srgbClr val="5B5B5B"/>
                          </a:solidFill>
                          <a:latin typeface="Yu Gothic"/>
                          <a:ea typeface="Yu Gothic"/>
                          <a:cs typeface="Yu Gothic"/>
                        </a:rPr>
                        <a:t>G chip–base</a:t>
                      </a:r>
                    </a:p>
                  </a:txBody>
                  <a:tcPr>
                    <a:solidFill>
                      <a:srgbClr val="FFFFFF"/>
                    </a:solidFill>
                  </a:tcPr>
                </a:tc>
                <a:tc>
                  <a:txBody>
                    <a:bodyPr/>
                    <a:lstStyle/>
                    <a:p>
                      <a:r>
                        <a:rPr sz="863">
                          <a:solidFill>
                            <a:srgbClr val="5B5B5B"/>
                          </a:solidFill>
                          <a:latin typeface="Yu Gothic"/>
                          <a:ea typeface="Yu Gothic"/>
                          <a:cs typeface="Yu Gothic"/>
                        </a:rPr>
                        <a:t>40.000</a:t>
                      </a:r>
                    </a:p>
                  </a:txBody>
                  <a:tcPr>
                    <a:solidFill>
                      <a:srgbClr val="FFFFFF"/>
                    </a:solidFill>
                  </a:tcPr>
                </a:tc>
                <a:tc>
                  <a:txBody>
                    <a:bodyPr/>
                    <a:lstStyle/>
                    <a:p>
                      <a:r>
                        <a:rPr sz="863">
                          <a:solidFill>
                            <a:srgbClr val="5B5B5B"/>
                          </a:solidFill>
                          <a:latin typeface="Yu Gothic"/>
                          <a:ea typeface="Yu Gothic"/>
                          <a:cs typeface="Yu Gothic"/>
                        </a:rPr>
                        <a:t>38.220</a:t>
                      </a:r>
                    </a:p>
                  </a:txBody>
                  <a:tcPr>
                    <a:solidFill>
                      <a:srgbClr val="FFFFFF"/>
                    </a:solidFill>
                  </a:tcPr>
                </a:tc>
                <a:extLst>
                  <a:ext uri="{0D108BD9-81ED-4DB2-BD59-A6C34878D82A}">
                    <a16:rowId xmlns:a16="http://schemas.microsoft.com/office/drawing/2014/main" val="10001"/>
                  </a:ext>
                </a:extLst>
              </a:tr>
              <a:tr h="414338">
                <a:tc>
                  <a:txBody>
                    <a:bodyPr/>
                    <a:lstStyle/>
                    <a:p>
                      <a:r>
                        <a:rPr sz="863">
                          <a:solidFill>
                            <a:srgbClr val="5B5B5B"/>
                          </a:solidFill>
                          <a:latin typeface="Yu Gothic"/>
                          <a:ea typeface="Yu Gothic"/>
                          <a:cs typeface="Yu Gothic"/>
                        </a:rPr>
                        <a:t>G base–fins</a:t>
                      </a:r>
                    </a:p>
                  </a:txBody>
                  <a:tcPr>
                    <a:solidFill>
                      <a:srgbClr val="F8F8F8"/>
                    </a:solidFill>
                  </a:tcPr>
                </a:tc>
                <a:tc>
                  <a:txBody>
                    <a:bodyPr/>
                    <a:lstStyle/>
                    <a:p>
                      <a:r>
                        <a:rPr sz="863">
                          <a:solidFill>
                            <a:srgbClr val="5B5B5B"/>
                          </a:solidFill>
                          <a:latin typeface="Yu Gothic"/>
                          <a:ea typeface="Yu Gothic"/>
                          <a:cs typeface="Yu Gothic"/>
                        </a:rPr>
                        <a:t>12.000</a:t>
                      </a:r>
                    </a:p>
                  </a:txBody>
                  <a:tcPr>
                    <a:solidFill>
                      <a:srgbClr val="F8F8F8"/>
                    </a:solidFill>
                  </a:tcPr>
                </a:tc>
                <a:tc>
                  <a:txBody>
                    <a:bodyPr/>
                    <a:lstStyle/>
                    <a:p>
                      <a:r>
                        <a:rPr sz="863">
                          <a:solidFill>
                            <a:srgbClr val="5B5B5B"/>
                          </a:solidFill>
                          <a:latin typeface="Yu Gothic"/>
                          <a:ea typeface="Yu Gothic"/>
                          <a:cs typeface="Yu Gothic"/>
                        </a:rPr>
                        <a:t>9.992</a:t>
                      </a:r>
                    </a:p>
                  </a:txBody>
                  <a:tcPr>
                    <a:solidFill>
                      <a:srgbClr val="F8F8F8"/>
                    </a:solidFill>
                  </a:tcPr>
                </a:tc>
                <a:extLst>
                  <a:ext uri="{0D108BD9-81ED-4DB2-BD59-A6C34878D82A}">
                    <a16:rowId xmlns:a16="http://schemas.microsoft.com/office/drawing/2014/main" val="10002"/>
                  </a:ext>
                </a:extLst>
              </a:tr>
              <a:tr h="414338">
                <a:tc>
                  <a:txBody>
                    <a:bodyPr/>
                    <a:lstStyle/>
                    <a:p>
                      <a:r>
                        <a:rPr sz="863">
                          <a:solidFill>
                            <a:srgbClr val="5B5B5B"/>
                          </a:solidFill>
                          <a:latin typeface="Yu Gothic"/>
                          <a:ea typeface="Yu Gothic"/>
                          <a:cs typeface="Yu Gothic"/>
                        </a:rPr>
                        <a:t>hA coolant</a:t>
                      </a:r>
                    </a:p>
                  </a:txBody>
                  <a:tcPr>
                    <a:solidFill>
                      <a:srgbClr val="FFFFFF"/>
                    </a:solidFill>
                  </a:tcPr>
                </a:tc>
                <a:tc>
                  <a:txBody>
                    <a:bodyPr/>
                    <a:lstStyle/>
                    <a:p>
                      <a:r>
                        <a:rPr sz="863">
                          <a:solidFill>
                            <a:srgbClr val="5B5B5B"/>
                          </a:solidFill>
                          <a:latin typeface="Yu Gothic"/>
                          <a:ea typeface="Yu Gothic"/>
                          <a:cs typeface="Yu Gothic"/>
                        </a:rPr>
                        <a:t>0.440</a:t>
                      </a:r>
                    </a:p>
                  </a:txBody>
                  <a:tcPr>
                    <a:solidFill>
                      <a:srgbClr val="FFFFFF"/>
                    </a:solidFill>
                  </a:tcPr>
                </a:tc>
                <a:tc>
                  <a:txBody>
                    <a:bodyPr/>
                    <a:lstStyle/>
                    <a:p>
                      <a:r>
                        <a:rPr sz="863">
                          <a:solidFill>
                            <a:srgbClr val="5B5B5B"/>
                          </a:solidFill>
                          <a:latin typeface="Yu Gothic"/>
                          <a:ea typeface="Yu Gothic"/>
                          <a:cs typeface="Yu Gothic"/>
                        </a:rPr>
                        <a:t>0.1906</a:t>
                      </a:r>
                    </a:p>
                  </a:txBody>
                  <a:tcPr>
                    <a:solidFill>
                      <a:srgbClr val="FFFFFF"/>
                    </a:solidFill>
                  </a:tcPr>
                </a:tc>
                <a:extLst>
                  <a:ext uri="{0D108BD9-81ED-4DB2-BD59-A6C34878D82A}">
                    <a16:rowId xmlns:a16="http://schemas.microsoft.com/office/drawing/2014/main" val="10003"/>
                  </a:ext>
                </a:extLst>
              </a:tr>
            </a:tbl>
          </a:graphicData>
        </a:graphic>
      </p:graphicFrame>
      <p:sp>
        <p:nvSpPr>
          <p:cNvPr id="12" name="正方形/長方形 11">
            <a:extLst>
              <a:ext uri="{FF2B5EF4-FFF2-40B4-BE49-F238E27FC236}">
                <a16:creationId xmlns:a16="http://schemas.microsoft.com/office/drawing/2014/main" id="{B2F26D42-19D1-4E18-A544-C7CB377A5BA1}"/>
              </a:ext>
            </a:extLst>
          </p:cNvPr>
          <p:cNvSpPr>
            <a:spLocks noGrp="1"/>
          </p:cNvSpPr>
          <p:nvPr/>
        </p:nvSpPr>
        <p:spPr>
          <a:xfrm>
            <a:off x="8058150" y="3638550"/>
            <a:ext cx="3581400" cy="1419225"/>
          </a:xfrm>
          <a:prstGeom prst="rect">
            <a:avLst/>
          </a:prstGeom>
          <a:solidFill>
            <a:srgbClr val="FBE9E7"/>
          </a:solidFill>
          <a:ln w="9525">
            <a:solidFill>
              <a:srgbClr val="C4493D"/>
            </a:solidFill>
            <a:prstDash val="solid"/>
          </a:ln>
        </p:spPr>
      </p:sp>
      <p:sp>
        <p:nvSpPr>
          <p:cNvPr id="13" name="正方形/長方形 12">
            <a:extLst>
              <a:ext uri="{FF2B5EF4-FFF2-40B4-BE49-F238E27FC236}">
                <a16:creationId xmlns:a16="http://schemas.microsoft.com/office/drawing/2014/main" id="{AF598F48-5FF7-463B-B09C-6486F9A9264D}"/>
              </a:ext>
            </a:extLst>
          </p:cNvPr>
          <p:cNvSpPr>
            <a:spLocks noGrp="1"/>
          </p:cNvSpPr>
          <p:nvPr/>
        </p:nvSpPr>
        <p:spPr>
          <a:xfrm>
            <a:off x="8239125" y="3781425"/>
            <a:ext cx="1428750" cy="228600"/>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C4493D"/>
                </a:solidFill>
                <a:latin typeface="Yu Gothic"/>
                <a:ea typeface="Yu Gothic"/>
                <a:cs typeface="Yu Gothic"/>
              </a:defRPr>
            </a:pPr>
            <a:r>
              <a:rPr sz="975" b="1" i="0">
                <a:solidFill>
                  <a:srgbClr val="C4493D"/>
                </a:solidFill>
                <a:latin typeface="Yu Gothic"/>
                <a:ea typeface="Yu Gothic"/>
                <a:cs typeface="Yu Gothic"/>
              </a:rPr>
              <a:t>hotspot check</a:t>
            </a:r>
          </a:p>
        </p:txBody>
      </p:sp>
      <p:sp>
        <p:nvSpPr>
          <p:cNvPr id="14" name="正方形/長方形 13">
            <a:extLst>
              <a:ext uri="{FF2B5EF4-FFF2-40B4-BE49-F238E27FC236}">
                <a16:creationId xmlns:a16="http://schemas.microsoft.com/office/drawing/2014/main" id="{355234E8-6797-4595-AF33-00C3C0D807F9}"/>
              </a:ext>
            </a:extLst>
          </p:cNvPr>
          <p:cNvSpPr>
            <a:spLocks noGrp="1"/>
          </p:cNvSpPr>
          <p:nvPr/>
        </p:nvSpPr>
        <p:spPr>
          <a:xfrm>
            <a:off x="8239125" y="4114800"/>
            <a:ext cx="2476500" cy="200025"/>
          </a:xfrm>
          <a:prstGeom prst="rect">
            <a:avLst/>
          </a:prstGeom>
          <a:noFill/>
          <a:ln w="0">
            <a:noFill/>
            <a:prstDash val="solid"/>
          </a:ln>
        </p:spPr>
        <p:txBody>
          <a:bodyPr wrap="square" lIns="28575" tIns="19050" rIns="28575" bIns="19050" anchor="ctr">
            <a:normAutofit/>
          </a:bodyPr>
          <a:lstStyle/>
          <a:p>
            <a:pPr algn="l">
              <a:lnSpc>
                <a:spcPct val="100000"/>
              </a:lnSpc>
              <a:buNone/>
              <a:defRPr sz="863" b="0" i="0">
                <a:solidFill>
                  <a:srgbClr val="5B5B5B"/>
                </a:solidFill>
                <a:latin typeface="Yu Gothic"/>
                <a:ea typeface="Yu Gothic"/>
                <a:cs typeface="Yu Gothic"/>
              </a:defRPr>
            </a:pPr>
            <a:r>
              <a:rPr sz="863" b="0" i="0">
                <a:solidFill>
                  <a:srgbClr val="5B5B5B"/>
                </a:solidFill>
                <a:latin typeface="Yu Gothic"/>
                <a:ea typeface="Yu Gothic"/>
                <a:cs typeface="Yu Gothic"/>
              </a:rPr>
              <a:t>最大 average–hotspot gap</a:t>
            </a:r>
          </a:p>
        </p:txBody>
      </p:sp>
      <p:sp>
        <p:nvSpPr>
          <p:cNvPr id="15" name="正方形/長方形 14">
            <a:extLst>
              <a:ext uri="{FF2B5EF4-FFF2-40B4-BE49-F238E27FC236}">
                <a16:creationId xmlns:a16="http://schemas.microsoft.com/office/drawing/2014/main" id="{A3DEB4D6-49BD-4EA9-8E83-5F731671E519}"/>
              </a:ext>
            </a:extLst>
          </p:cNvPr>
          <p:cNvSpPr>
            <a:spLocks noGrp="1"/>
          </p:cNvSpPr>
          <p:nvPr/>
        </p:nvSpPr>
        <p:spPr>
          <a:xfrm>
            <a:off x="10306050" y="4038600"/>
            <a:ext cx="1143000" cy="323850"/>
          </a:xfrm>
          <a:prstGeom prst="rect">
            <a:avLst/>
          </a:prstGeom>
          <a:noFill/>
          <a:ln w="0">
            <a:noFill/>
            <a:prstDash val="solid"/>
          </a:ln>
        </p:spPr>
        <p:txBody>
          <a:bodyPr wrap="square" lIns="28575" tIns="19050" rIns="28575" bIns="19050" anchor="ctr">
            <a:normAutofit/>
          </a:bodyPr>
          <a:lstStyle/>
          <a:p>
            <a:pPr algn="r">
              <a:lnSpc>
                <a:spcPct val="100000"/>
              </a:lnSpc>
              <a:buNone/>
              <a:defRPr sz="1725" b="1" i="0">
                <a:solidFill>
                  <a:srgbClr val="C4493D"/>
                </a:solidFill>
                <a:latin typeface="Yu Gothic"/>
                <a:ea typeface="Yu Gothic"/>
                <a:cs typeface="Yu Gothic"/>
              </a:defRPr>
            </a:pPr>
            <a:r>
              <a:rPr sz="1725" b="1" i="0">
                <a:solidFill>
                  <a:srgbClr val="C4493D"/>
                </a:solidFill>
                <a:latin typeface="Yu Gothic"/>
                <a:ea typeface="Yu Gothic"/>
                <a:cs typeface="Yu Gothic"/>
              </a:rPr>
              <a:t>0.238 K</a:t>
            </a:r>
          </a:p>
        </p:txBody>
      </p:sp>
      <p:sp>
        <p:nvSpPr>
          <p:cNvPr id="16" name="正方形/長方形 15">
            <a:extLst>
              <a:ext uri="{FF2B5EF4-FFF2-40B4-BE49-F238E27FC236}">
                <a16:creationId xmlns:a16="http://schemas.microsoft.com/office/drawing/2014/main" id="{76729717-0DA9-4E3C-8DB7-EAE62297AA34}"/>
              </a:ext>
            </a:extLst>
          </p:cNvPr>
          <p:cNvSpPr>
            <a:spLocks noGrp="1"/>
          </p:cNvSpPr>
          <p:nvPr/>
        </p:nvSpPr>
        <p:spPr>
          <a:xfrm>
            <a:off x="8239125" y="4467225"/>
            <a:ext cx="2476500" cy="200025"/>
          </a:xfrm>
          <a:prstGeom prst="rect">
            <a:avLst/>
          </a:prstGeom>
          <a:noFill/>
          <a:ln w="0">
            <a:noFill/>
            <a:prstDash val="solid"/>
          </a:ln>
        </p:spPr>
        <p:txBody>
          <a:bodyPr wrap="square" lIns="28575" tIns="19050" rIns="28575" bIns="19050" anchor="ctr">
            <a:normAutofit/>
          </a:bodyPr>
          <a:lstStyle/>
          <a:p>
            <a:pPr algn="l">
              <a:lnSpc>
                <a:spcPct val="100000"/>
              </a:lnSpc>
              <a:buNone/>
              <a:defRPr sz="863" b="0" i="0">
                <a:solidFill>
                  <a:srgbClr val="5B5B5B"/>
                </a:solidFill>
                <a:latin typeface="Yu Gothic"/>
                <a:ea typeface="Yu Gothic"/>
                <a:cs typeface="Yu Gothic"/>
              </a:defRPr>
            </a:pPr>
            <a:r>
              <a:rPr sz="863" b="0" i="0">
                <a:solidFill>
                  <a:srgbClr val="5B5B5B"/>
                </a:solidFill>
                <a:latin typeface="Yu Gothic"/>
                <a:ea typeface="Yu Gothic"/>
                <a:cs typeface="Yu Gothic"/>
              </a:rPr>
              <a:t>最大 hotspot 過小評価</a:t>
            </a:r>
          </a:p>
        </p:txBody>
      </p:sp>
      <p:sp>
        <p:nvSpPr>
          <p:cNvPr id="17" name="正方形/長方形 16">
            <a:extLst>
              <a:ext uri="{FF2B5EF4-FFF2-40B4-BE49-F238E27FC236}">
                <a16:creationId xmlns:a16="http://schemas.microsoft.com/office/drawing/2014/main" id="{5A123483-1868-40CF-9D9A-E317C54D1E01}"/>
              </a:ext>
            </a:extLst>
          </p:cNvPr>
          <p:cNvSpPr>
            <a:spLocks noGrp="1"/>
          </p:cNvSpPr>
          <p:nvPr/>
        </p:nvSpPr>
        <p:spPr>
          <a:xfrm>
            <a:off x="10306050" y="4391025"/>
            <a:ext cx="1143000" cy="323850"/>
          </a:xfrm>
          <a:prstGeom prst="rect">
            <a:avLst/>
          </a:prstGeom>
          <a:noFill/>
          <a:ln w="0">
            <a:noFill/>
            <a:prstDash val="solid"/>
          </a:ln>
        </p:spPr>
        <p:txBody>
          <a:bodyPr wrap="square" lIns="28575" tIns="19050" rIns="28575" bIns="19050" anchor="ctr">
            <a:normAutofit/>
          </a:bodyPr>
          <a:lstStyle/>
          <a:p>
            <a:pPr algn="r">
              <a:lnSpc>
                <a:spcPct val="100000"/>
              </a:lnSpc>
              <a:buNone/>
              <a:defRPr sz="1725" b="1" i="0">
                <a:solidFill>
                  <a:srgbClr val="C4493D"/>
                </a:solidFill>
                <a:latin typeface="Yu Gothic"/>
                <a:ea typeface="Yu Gothic"/>
                <a:cs typeface="Yu Gothic"/>
              </a:defRPr>
            </a:pPr>
            <a:r>
              <a:rPr sz="1725" b="1" i="0">
                <a:solidFill>
                  <a:srgbClr val="C4493D"/>
                </a:solidFill>
                <a:latin typeface="Yu Gothic"/>
                <a:ea typeface="Yu Gothic"/>
                <a:cs typeface="Yu Gothic"/>
              </a:rPr>
              <a:t>0.328 K</a:t>
            </a:r>
          </a:p>
        </p:txBody>
      </p:sp>
      <p:sp>
        <p:nvSpPr>
          <p:cNvPr id="18" name="正方形/長方形 17">
            <a:extLst>
              <a:ext uri="{FF2B5EF4-FFF2-40B4-BE49-F238E27FC236}">
                <a16:creationId xmlns:a16="http://schemas.microsoft.com/office/drawing/2014/main" id="{7665FB5B-AF8E-4390-86F8-F775A66487C8}"/>
              </a:ext>
            </a:extLst>
          </p:cNvPr>
          <p:cNvSpPr>
            <a:spLocks noGrp="1"/>
          </p:cNvSpPr>
          <p:nvPr/>
        </p:nvSpPr>
        <p:spPr>
          <a:xfrm>
            <a:off x="552450" y="5267325"/>
            <a:ext cx="2571750" cy="866775"/>
          </a:xfrm>
          <a:prstGeom prst="rect">
            <a:avLst/>
          </a:prstGeom>
          <a:solidFill>
            <a:srgbClr val="FFFFFF"/>
          </a:solidFill>
          <a:ln w="9525">
            <a:solidFill>
              <a:srgbClr val="D6D6D6"/>
            </a:solidFill>
            <a:prstDash val="solid"/>
          </a:ln>
        </p:spPr>
      </p:sp>
      <p:sp>
        <p:nvSpPr>
          <p:cNvPr id="19" name="正方形/長方形 18">
            <a:extLst>
              <a:ext uri="{FF2B5EF4-FFF2-40B4-BE49-F238E27FC236}">
                <a16:creationId xmlns:a16="http://schemas.microsoft.com/office/drawing/2014/main" id="{4B7B7215-786D-4506-886D-A9A916D1E790}"/>
              </a:ext>
            </a:extLst>
          </p:cNvPr>
          <p:cNvSpPr>
            <a:spLocks noGrp="1"/>
          </p:cNvSpPr>
          <p:nvPr/>
        </p:nvSpPr>
        <p:spPr>
          <a:xfrm>
            <a:off x="552450" y="5267325"/>
            <a:ext cx="66675" cy="866775"/>
          </a:xfrm>
          <a:prstGeom prst="rect">
            <a:avLst/>
          </a:prstGeom>
          <a:solidFill>
            <a:srgbClr val="00A5D8"/>
          </a:solidFill>
          <a:ln w="0">
            <a:noFill/>
            <a:prstDash val="solid"/>
          </a:ln>
        </p:spPr>
      </p:sp>
      <p:sp>
        <p:nvSpPr>
          <p:cNvPr id="20" name="正方形/長方形 19">
            <a:extLst>
              <a:ext uri="{FF2B5EF4-FFF2-40B4-BE49-F238E27FC236}">
                <a16:creationId xmlns:a16="http://schemas.microsoft.com/office/drawing/2014/main" id="{CAD868C7-6532-4345-B92F-345D18B05A2C}"/>
              </a:ext>
            </a:extLst>
          </p:cNvPr>
          <p:cNvSpPr>
            <a:spLocks noGrp="1"/>
          </p:cNvSpPr>
          <p:nvPr/>
        </p:nvSpPr>
        <p:spPr>
          <a:xfrm>
            <a:off x="742950" y="5362575"/>
            <a:ext cx="2286000" cy="371475"/>
          </a:xfrm>
          <a:prstGeom prst="rect">
            <a:avLst/>
          </a:prstGeom>
          <a:noFill/>
          <a:ln w="0">
            <a:noFill/>
            <a:prstDash val="solid"/>
          </a:ln>
        </p:spPr>
        <p:txBody>
          <a:bodyPr wrap="square" lIns="28575" tIns="19050" rIns="28575" bIns="19050" anchor="ctr">
            <a:normAutofit/>
          </a:bodyPr>
          <a:lstStyle/>
          <a:p>
            <a:pPr algn="l">
              <a:lnSpc>
                <a:spcPct val="100000"/>
              </a:lnSpc>
              <a:buNone/>
              <a:defRPr sz="2025" b="1" i="0">
                <a:solidFill>
                  <a:srgbClr val="3F3F3F"/>
                </a:solidFill>
                <a:latin typeface="Yu Gothic"/>
                <a:ea typeface="Yu Gothic"/>
                <a:cs typeface="Yu Gothic"/>
              </a:defRPr>
            </a:pPr>
            <a:r>
              <a:rPr sz="2025" b="1" i="0">
                <a:solidFill>
                  <a:srgbClr val="3F3F3F"/>
                </a:solidFill>
                <a:latin typeface="Yu Gothic"/>
                <a:ea typeface="Yu Gothic"/>
                <a:cs typeface="Yu Gothic"/>
              </a:rPr>
              <a:t>0.036 K</a:t>
            </a:r>
          </a:p>
        </p:txBody>
      </p:sp>
      <p:sp>
        <p:nvSpPr>
          <p:cNvPr id="21" name="正方形/長方形 20">
            <a:extLst>
              <a:ext uri="{FF2B5EF4-FFF2-40B4-BE49-F238E27FC236}">
                <a16:creationId xmlns:a16="http://schemas.microsoft.com/office/drawing/2014/main" id="{1A2B50CD-082B-4754-8095-DC422A3CCE66}"/>
              </a:ext>
            </a:extLst>
          </p:cNvPr>
          <p:cNvSpPr>
            <a:spLocks noGrp="1"/>
          </p:cNvSpPr>
          <p:nvPr/>
        </p:nvSpPr>
        <p:spPr>
          <a:xfrm>
            <a:off x="742950" y="5743575"/>
            <a:ext cx="2286000" cy="266700"/>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5B5B5B"/>
                </a:solidFill>
                <a:latin typeface="Yu Gothic"/>
                <a:ea typeface="Yu Gothic"/>
                <a:cs typeface="Yu Gothic"/>
              </a:defRPr>
            </a:pPr>
            <a:r>
              <a:rPr sz="975" b="1" i="0">
                <a:solidFill>
                  <a:srgbClr val="5B5B5B"/>
                </a:solidFill>
                <a:latin typeface="Yu Gothic"/>
                <a:ea typeface="Yu Gothic"/>
                <a:cs typeface="Yu Gothic"/>
              </a:rPr>
              <a:t>mean RMSE</a:t>
            </a:r>
          </a:p>
        </p:txBody>
      </p:sp>
      <p:sp>
        <p:nvSpPr>
          <p:cNvPr id="22" name="正方形/長方形 21">
            <a:extLst>
              <a:ext uri="{FF2B5EF4-FFF2-40B4-BE49-F238E27FC236}">
                <a16:creationId xmlns:a16="http://schemas.microsoft.com/office/drawing/2014/main" id="{468F2F76-E3CC-471A-9203-6C73389C0DDB}"/>
              </a:ext>
            </a:extLst>
          </p:cNvPr>
          <p:cNvSpPr>
            <a:spLocks noGrp="1"/>
          </p:cNvSpPr>
          <p:nvPr/>
        </p:nvSpPr>
        <p:spPr>
          <a:xfrm>
            <a:off x="3324225" y="5267325"/>
            <a:ext cx="2571750" cy="866775"/>
          </a:xfrm>
          <a:prstGeom prst="rect">
            <a:avLst/>
          </a:prstGeom>
          <a:solidFill>
            <a:srgbClr val="FFFFFF"/>
          </a:solidFill>
          <a:ln w="9525">
            <a:solidFill>
              <a:srgbClr val="D6D6D6"/>
            </a:solidFill>
            <a:prstDash val="solid"/>
          </a:ln>
        </p:spPr>
      </p:sp>
      <p:sp>
        <p:nvSpPr>
          <p:cNvPr id="23" name="正方形/長方形 22">
            <a:extLst>
              <a:ext uri="{FF2B5EF4-FFF2-40B4-BE49-F238E27FC236}">
                <a16:creationId xmlns:a16="http://schemas.microsoft.com/office/drawing/2014/main" id="{02F8BB55-0FBA-4E58-869A-09DE40CACCD6}"/>
              </a:ext>
            </a:extLst>
          </p:cNvPr>
          <p:cNvSpPr>
            <a:spLocks noGrp="1"/>
          </p:cNvSpPr>
          <p:nvPr/>
        </p:nvSpPr>
        <p:spPr>
          <a:xfrm>
            <a:off x="3324225" y="5267325"/>
            <a:ext cx="66675" cy="866775"/>
          </a:xfrm>
          <a:prstGeom prst="rect">
            <a:avLst/>
          </a:prstGeom>
          <a:solidFill>
            <a:srgbClr val="7B2DAF"/>
          </a:solidFill>
          <a:ln w="0">
            <a:noFill/>
            <a:prstDash val="solid"/>
          </a:ln>
        </p:spPr>
      </p:sp>
      <p:sp>
        <p:nvSpPr>
          <p:cNvPr id="24" name="正方形/長方形 23">
            <a:extLst>
              <a:ext uri="{FF2B5EF4-FFF2-40B4-BE49-F238E27FC236}">
                <a16:creationId xmlns:a16="http://schemas.microsoft.com/office/drawing/2014/main" id="{575603BA-CC8B-4E0C-9280-BFBFED977F95}"/>
              </a:ext>
            </a:extLst>
          </p:cNvPr>
          <p:cNvSpPr>
            <a:spLocks noGrp="1"/>
          </p:cNvSpPr>
          <p:nvPr/>
        </p:nvSpPr>
        <p:spPr>
          <a:xfrm>
            <a:off x="3514725" y="5362575"/>
            <a:ext cx="2286000" cy="371475"/>
          </a:xfrm>
          <a:prstGeom prst="rect">
            <a:avLst/>
          </a:prstGeom>
          <a:noFill/>
          <a:ln w="0">
            <a:noFill/>
            <a:prstDash val="solid"/>
          </a:ln>
        </p:spPr>
        <p:txBody>
          <a:bodyPr wrap="square" lIns="28575" tIns="19050" rIns="28575" bIns="19050" anchor="ctr">
            <a:normAutofit/>
          </a:bodyPr>
          <a:lstStyle/>
          <a:p>
            <a:pPr algn="l">
              <a:lnSpc>
                <a:spcPct val="100000"/>
              </a:lnSpc>
              <a:buNone/>
              <a:defRPr sz="2025" b="1" i="0">
                <a:solidFill>
                  <a:srgbClr val="3F3F3F"/>
                </a:solidFill>
                <a:latin typeface="Yu Gothic"/>
                <a:ea typeface="Yu Gothic"/>
                <a:cs typeface="Yu Gothic"/>
              </a:defRPr>
            </a:pPr>
            <a:r>
              <a:rPr sz="2025" b="1" i="0">
                <a:solidFill>
                  <a:srgbClr val="3F3F3F"/>
                </a:solidFill>
                <a:latin typeface="Yu Gothic"/>
                <a:ea typeface="Yu Gothic"/>
                <a:cs typeface="Yu Gothic"/>
              </a:rPr>
              <a:t>0.083 K</a:t>
            </a:r>
          </a:p>
        </p:txBody>
      </p:sp>
      <p:sp>
        <p:nvSpPr>
          <p:cNvPr id="25" name="正方形/長方形 24">
            <a:extLst>
              <a:ext uri="{FF2B5EF4-FFF2-40B4-BE49-F238E27FC236}">
                <a16:creationId xmlns:a16="http://schemas.microsoft.com/office/drawing/2014/main" id="{D7823B08-05E5-4D5F-AD9D-4FA6AE50D7C1}"/>
              </a:ext>
            </a:extLst>
          </p:cNvPr>
          <p:cNvSpPr>
            <a:spLocks noGrp="1"/>
          </p:cNvSpPr>
          <p:nvPr/>
        </p:nvSpPr>
        <p:spPr>
          <a:xfrm>
            <a:off x="3514725" y="5743575"/>
            <a:ext cx="2286000" cy="266700"/>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5B5B5B"/>
                </a:solidFill>
                <a:latin typeface="Yu Gothic"/>
                <a:ea typeface="Yu Gothic"/>
                <a:cs typeface="Yu Gothic"/>
              </a:defRPr>
            </a:pPr>
            <a:r>
              <a:rPr sz="975" b="1" i="0">
                <a:solidFill>
                  <a:srgbClr val="5B5B5B"/>
                </a:solidFill>
                <a:latin typeface="Yu Gothic"/>
                <a:ea typeface="Yu Gothic"/>
                <a:cs typeface="Yu Gothic"/>
              </a:rPr>
              <a:t>worst F05</a:t>
            </a:r>
          </a:p>
        </p:txBody>
      </p:sp>
      <p:sp>
        <p:nvSpPr>
          <p:cNvPr id="26" name="正方形/長方形 25">
            <a:extLst>
              <a:ext uri="{FF2B5EF4-FFF2-40B4-BE49-F238E27FC236}">
                <a16:creationId xmlns:a16="http://schemas.microsoft.com/office/drawing/2014/main" id="{77F6DBE2-7984-4599-90F8-8E1E8153ADC8}"/>
              </a:ext>
            </a:extLst>
          </p:cNvPr>
          <p:cNvSpPr>
            <a:spLocks noGrp="1"/>
          </p:cNvSpPr>
          <p:nvPr/>
        </p:nvSpPr>
        <p:spPr>
          <a:xfrm>
            <a:off x="6096000" y="5267325"/>
            <a:ext cx="2571750" cy="866775"/>
          </a:xfrm>
          <a:prstGeom prst="rect">
            <a:avLst/>
          </a:prstGeom>
          <a:solidFill>
            <a:srgbClr val="FFFFFF"/>
          </a:solidFill>
          <a:ln w="9525">
            <a:solidFill>
              <a:srgbClr val="D6D6D6"/>
            </a:solidFill>
            <a:prstDash val="solid"/>
          </a:ln>
        </p:spPr>
      </p:sp>
      <p:sp>
        <p:nvSpPr>
          <p:cNvPr id="27" name="正方形/長方形 26">
            <a:extLst>
              <a:ext uri="{FF2B5EF4-FFF2-40B4-BE49-F238E27FC236}">
                <a16:creationId xmlns:a16="http://schemas.microsoft.com/office/drawing/2014/main" id="{16F2BAA7-4DE1-4EAF-A7A0-57EA2E778A4A}"/>
              </a:ext>
            </a:extLst>
          </p:cNvPr>
          <p:cNvSpPr>
            <a:spLocks noGrp="1"/>
          </p:cNvSpPr>
          <p:nvPr/>
        </p:nvSpPr>
        <p:spPr>
          <a:xfrm>
            <a:off x="6096000" y="5267325"/>
            <a:ext cx="66675" cy="866775"/>
          </a:xfrm>
          <a:prstGeom prst="rect">
            <a:avLst/>
          </a:prstGeom>
          <a:solidFill>
            <a:srgbClr val="E5A900"/>
          </a:solidFill>
          <a:ln w="0">
            <a:noFill/>
            <a:prstDash val="solid"/>
          </a:ln>
        </p:spPr>
      </p:sp>
      <p:sp>
        <p:nvSpPr>
          <p:cNvPr id="28" name="正方形/長方形 27">
            <a:extLst>
              <a:ext uri="{FF2B5EF4-FFF2-40B4-BE49-F238E27FC236}">
                <a16:creationId xmlns:a16="http://schemas.microsoft.com/office/drawing/2014/main" id="{E86CA8A2-0016-4AF1-BC09-7BECAE181786}"/>
              </a:ext>
            </a:extLst>
          </p:cNvPr>
          <p:cNvSpPr>
            <a:spLocks noGrp="1"/>
          </p:cNvSpPr>
          <p:nvPr/>
        </p:nvSpPr>
        <p:spPr>
          <a:xfrm>
            <a:off x="6286500" y="5362575"/>
            <a:ext cx="2286000" cy="371475"/>
          </a:xfrm>
          <a:prstGeom prst="rect">
            <a:avLst/>
          </a:prstGeom>
          <a:noFill/>
          <a:ln w="0">
            <a:noFill/>
            <a:prstDash val="solid"/>
          </a:ln>
        </p:spPr>
        <p:txBody>
          <a:bodyPr wrap="square" lIns="28575" tIns="19050" rIns="28575" bIns="19050" anchor="ctr">
            <a:normAutofit/>
          </a:bodyPr>
          <a:lstStyle/>
          <a:p>
            <a:pPr algn="l">
              <a:lnSpc>
                <a:spcPct val="100000"/>
              </a:lnSpc>
              <a:buNone/>
              <a:defRPr sz="2025" b="1" i="0">
                <a:solidFill>
                  <a:srgbClr val="3F3F3F"/>
                </a:solidFill>
                <a:latin typeface="Yu Gothic"/>
                <a:ea typeface="Yu Gothic"/>
                <a:cs typeface="Yu Gothic"/>
              </a:defRPr>
            </a:pPr>
            <a:r>
              <a:rPr sz="2025" b="1" i="0">
                <a:solidFill>
                  <a:srgbClr val="3F3F3F"/>
                </a:solidFill>
                <a:latin typeface="Yu Gothic"/>
                <a:ea typeface="Yu Gothic"/>
                <a:cs typeface="Yu Gothic"/>
              </a:rPr>
              <a:t>7.362 K</a:t>
            </a:r>
          </a:p>
        </p:txBody>
      </p:sp>
      <p:sp>
        <p:nvSpPr>
          <p:cNvPr id="29" name="正方形/長方形 28">
            <a:extLst>
              <a:ext uri="{FF2B5EF4-FFF2-40B4-BE49-F238E27FC236}">
                <a16:creationId xmlns:a16="http://schemas.microsoft.com/office/drawing/2014/main" id="{88BA4463-6249-4308-BC0E-F07F4381B7B2}"/>
              </a:ext>
            </a:extLst>
          </p:cNvPr>
          <p:cNvSpPr>
            <a:spLocks noGrp="1"/>
          </p:cNvSpPr>
          <p:nvPr/>
        </p:nvSpPr>
        <p:spPr>
          <a:xfrm>
            <a:off x="6286500" y="5743575"/>
            <a:ext cx="2286000" cy="266700"/>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5B5B5B"/>
                </a:solidFill>
                <a:latin typeface="Yu Gothic"/>
                <a:ea typeface="Yu Gothic"/>
                <a:cs typeface="Yu Gothic"/>
              </a:defRPr>
            </a:pPr>
            <a:r>
              <a:rPr sz="975" b="1" i="0">
                <a:solidFill>
                  <a:srgbClr val="5B5B5B"/>
                </a:solidFill>
                <a:latin typeface="Yu Gothic"/>
                <a:ea typeface="Yu Gothic"/>
                <a:cs typeface="Yu Gothic"/>
              </a:rPr>
              <a:t>prior mean</a:t>
            </a:r>
          </a:p>
        </p:txBody>
      </p:sp>
      <p:sp>
        <p:nvSpPr>
          <p:cNvPr id="30" name="正方形/長方形 29">
            <a:extLst>
              <a:ext uri="{FF2B5EF4-FFF2-40B4-BE49-F238E27FC236}">
                <a16:creationId xmlns:a16="http://schemas.microsoft.com/office/drawing/2014/main" id="{C9D823C5-0FA9-419B-8C11-06BA70EC98D5}"/>
              </a:ext>
            </a:extLst>
          </p:cNvPr>
          <p:cNvSpPr>
            <a:spLocks noGrp="1"/>
          </p:cNvSpPr>
          <p:nvPr/>
        </p:nvSpPr>
        <p:spPr>
          <a:xfrm>
            <a:off x="8867775" y="5267325"/>
            <a:ext cx="2771775" cy="866775"/>
          </a:xfrm>
          <a:prstGeom prst="rect">
            <a:avLst/>
          </a:prstGeom>
          <a:solidFill>
            <a:srgbClr val="FFFFFF"/>
          </a:solidFill>
          <a:ln w="9525">
            <a:solidFill>
              <a:srgbClr val="D6D6D6"/>
            </a:solidFill>
            <a:prstDash val="solid"/>
          </a:ln>
        </p:spPr>
      </p:sp>
      <p:sp>
        <p:nvSpPr>
          <p:cNvPr id="31" name="正方形/長方形 30">
            <a:extLst>
              <a:ext uri="{FF2B5EF4-FFF2-40B4-BE49-F238E27FC236}">
                <a16:creationId xmlns:a16="http://schemas.microsoft.com/office/drawing/2014/main" id="{736F1185-E2AC-45E4-BC41-1278262B161C}"/>
              </a:ext>
            </a:extLst>
          </p:cNvPr>
          <p:cNvSpPr>
            <a:spLocks noGrp="1"/>
          </p:cNvSpPr>
          <p:nvPr/>
        </p:nvSpPr>
        <p:spPr>
          <a:xfrm>
            <a:off x="8867775" y="5267325"/>
            <a:ext cx="66675" cy="866775"/>
          </a:xfrm>
          <a:prstGeom prst="rect">
            <a:avLst/>
          </a:prstGeom>
          <a:solidFill>
            <a:srgbClr val="76BE18"/>
          </a:solidFill>
          <a:ln w="0">
            <a:noFill/>
            <a:prstDash val="solid"/>
          </a:ln>
        </p:spPr>
      </p:sp>
      <p:sp>
        <p:nvSpPr>
          <p:cNvPr id="32" name="正方形/長方形 31">
            <a:extLst>
              <a:ext uri="{FF2B5EF4-FFF2-40B4-BE49-F238E27FC236}">
                <a16:creationId xmlns:a16="http://schemas.microsoft.com/office/drawing/2014/main" id="{FDFB1321-A7D8-49D0-823D-1E0EC30CCF09}"/>
              </a:ext>
            </a:extLst>
          </p:cNvPr>
          <p:cNvSpPr>
            <a:spLocks noGrp="1"/>
          </p:cNvSpPr>
          <p:nvPr/>
        </p:nvSpPr>
        <p:spPr>
          <a:xfrm>
            <a:off x="9058275" y="5362575"/>
            <a:ext cx="2486025" cy="371475"/>
          </a:xfrm>
          <a:prstGeom prst="rect">
            <a:avLst/>
          </a:prstGeom>
          <a:noFill/>
          <a:ln w="0">
            <a:noFill/>
            <a:prstDash val="solid"/>
          </a:ln>
        </p:spPr>
        <p:txBody>
          <a:bodyPr wrap="square" lIns="28575" tIns="19050" rIns="28575" bIns="19050" anchor="ctr">
            <a:normAutofit/>
          </a:bodyPr>
          <a:lstStyle/>
          <a:p>
            <a:pPr algn="l">
              <a:lnSpc>
                <a:spcPct val="100000"/>
              </a:lnSpc>
              <a:buNone/>
              <a:defRPr sz="2025" b="1" i="0">
                <a:solidFill>
                  <a:srgbClr val="3F3F3F"/>
                </a:solidFill>
                <a:latin typeface="Yu Gothic"/>
                <a:ea typeface="Yu Gothic"/>
                <a:cs typeface="Yu Gothic"/>
              </a:defRPr>
            </a:pPr>
            <a:r>
              <a:rPr sz="2025" b="1" i="0">
                <a:solidFill>
                  <a:srgbClr val="3F3F3F"/>
                </a:solidFill>
                <a:latin typeface="Yu Gothic"/>
                <a:ea typeface="Yu Gothic"/>
                <a:cs typeface="Yu Gothic"/>
              </a:rPr>
              <a:t>99.06%</a:t>
            </a:r>
          </a:p>
        </p:txBody>
      </p:sp>
      <p:sp>
        <p:nvSpPr>
          <p:cNvPr id="33" name="正方形/長方形 32">
            <a:extLst>
              <a:ext uri="{FF2B5EF4-FFF2-40B4-BE49-F238E27FC236}">
                <a16:creationId xmlns:a16="http://schemas.microsoft.com/office/drawing/2014/main" id="{BF71D92F-83EB-4ACA-95A7-6248B7797250}"/>
              </a:ext>
            </a:extLst>
          </p:cNvPr>
          <p:cNvSpPr>
            <a:spLocks noGrp="1"/>
          </p:cNvSpPr>
          <p:nvPr/>
        </p:nvSpPr>
        <p:spPr>
          <a:xfrm>
            <a:off x="9058275" y="5743575"/>
            <a:ext cx="2486025" cy="266700"/>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5B5B5B"/>
                </a:solidFill>
                <a:latin typeface="Yu Gothic"/>
                <a:ea typeface="Yu Gothic"/>
                <a:cs typeface="Yu Gothic"/>
              </a:defRPr>
            </a:pPr>
            <a:r>
              <a:rPr sz="975" b="1" i="0">
                <a:solidFill>
                  <a:srgbClr val="5B5B5B"/>
                </a:solidFill>
                <a:latin typeface="Yu Gothic"/>
                <a:ea typeface="Yu Gothic"/>
                <a:cs typeface="Yu Gothic"/>
              </a:rPr>
              <a:t>mean improvement</a:t>
            </a:r>
          </a:p>
        </p:txBody>
      </p:sp>
    </p:spTree>
    <p:extLst>
      <p:ext uri="{BB962C8B-B14F-4D97-AF65-F5344CB8AC3E}">
        <p14:creationId xmlns:p14="http://schemas.microsoft.com/office/powerpoint/2010/main" val="18858110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 name="正方形/長方形 30">
            <a:extLst>
              <a:ext uri="{FF2B5EF4-FFF2-40B4-BE49-F238E27FC236}">
                <a16:creationId xmlns:a16="http://schemas.microsoft.com/office/drawing/2014/main" id="{20D23391-843C-4C0E-BB8A-45614EC62EAB}"/>
              </a:ext>
            </a:extLst>
          </p:cNvPr>
          <p:cNvSpPr>
            <a:spLocks noGrp="1"/>
          </p:cNvSpPr>
          <p:nvPr/>
        </p:nvSpPr>
        <p:spPr>
          <a:xfrm>
            <a:off x="552450" y="190500"/>
            <a:ext cx="76200" cy="142875"/>
          </a:xfrm>
          <a:prstGeom prst="rect">
            <a:avLst/>
          </a:prstGeom>
          <a:solidFill>
            <a:srgbClr val="76BE18"/>
          </a:solidFill>
          <a:ln w="0">
            <a:noFill/>
            <a:prstDash val="solid"/>
          </a:ln>
        </p:spPr>
      </p:sp>
      <p:sp>
        <p:nvSpPr>
          <p:cNvPr id="2" name="正方形/長方形 1">
            <a:extLst>
              <a:ext uri="{FF2B5EF4-FFF2-40B4-BE49-F238E27FC236}">
                <a16:creationId xmlns:a16="http://schemas.microsoft.com/office/drawing/2014/main" id="{548E1880-4F14-452A-AB57-5C97EC114EEF}"/>
              </a:ext>
            </a:extLst>
          </p:cNvPr>
          <p:cNvSpPr>
            <a:spLocks noGrp="1"/>
          </p:cNvSpPr>
          <p:nvPr/>
        </p:nvSpPr>
        <p:spPr>
          <a:xfrm>
            <a:off x="704850" y="161925"/>
            <a:ext cx="3429000" cy="190500"/>
          </a:xfrm>
          <a:prstGeom prst="rect">
            <a:avLst/>
          </a:prstGeom>
          <a:noFill/>
          <a:ln w="0">
            <a:noFill/>
            <a:prstDash val="solid"/>
          </a:ln>
        </p:spPr>
        <p:txBody>
          <a:bodyPr wrap="none" lIns="28575" tIns="19050" rIns="28575" bIns="19050" anchor="ctr">
            <a:noAutofit/>
          </a:bodyPr>
          <a:lstStyle/>
          <a:p>
            <a:pPr algn="l">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CAE CREDIBILITY</a:t>
            </a:r>
          </a:p>
        </p:txBody>
      </p:sp>
      <p:sp>
        <p:nvSpPr>
          <p:cNvPr id="3" name="正方形/長方形 2">
            <a:extLst>
              <a:ext uri="{FF2B5EF4-FFF2-40B4-BE49-F238E27FC236}">
                <a16:creationId xmlns:a16="http://schemas.microsoft.com/office/drawing/2014/main" id="{A870205B-B77C-4702-95C5-3A66F11C1E90}"/>
              </a:ext>
            </a:extLst>
          </p:cNvPr>
          <p:cNvSpPr>
            <a:spLocks noGrp="1"/>
          </p:cNvSpPr>
          <p:nvPr/>
        </p:nvSpPr>
        <p:spPr>
          <a:xfrm>
            <a:off x="552450" y="400050"/>
            <a:ext cx="11001375" cy="400050"/>
          </a:xfrm>
          <a:prstGeom prst="rect">
            <a:avLst/>
          </a:prstGeom>
          <a:noFill/>
          <a:ln w="0">
            <a:noFill/>
            <a:prstDash val="solid"/>
          </a:ln>
        </p:spPr>
        <p:txBody>
          <a:bodyPr wrap="none" lIns="19050" tIns="0" rIns="19050" bIns="0" anchor="ctr">
            <a:normAutofit/>
          </a:bodyPr>
          <a:lstStyle/>
          <a:p>
            <a:pPr algn="l">
              <a:lnSpc>
                <a:spcPct val="100000"/>
              </a:lnSpc>
              <a:buNone/>
              <a:defRPr sz="2175" b="1" i="0">
                <a:solidFill>
                  <a:srgbClr val="00A5D8"/>
                </a:solidFill>
                <a:latin typeface="Yu Gothic"/>
                <a:ea typeface="Yu Gothic"/>
                <a:cs typeface="Yu Gothic"/>
              </a:defRPr>
            </a:pPr>
            <a:r>
              <a:rPr sz="2175" b="1" i="0">
                <a:solidFill>
                  <a:srgbClr val="00A5D8"/>
                </a:solidFill>
                <a:latin typeface="Yu Gothic"/>
                <a:ea typeface="Yu Gothic"/>
                <a:cs typeface="Yu Gothic"/>
              </a:rPr>
              <a:t>0.1 K級のモデル誤差を議論する前に、同程度のメッシュ不確かさを収束させる</a:t>
            </a:r>
          </a:p>
        </p:txBody>
      </p:sp>
      <p:sp>
        <p:nvSpPr>
          <p:cNvPr id="4" name="正方形/長方形 3">
            <a:extLst>
              <a:ext uri="{FF2B5EF4-FFF2-40B4-BE49-F238E27FC236}">
                <a16:creationId xmlns:a16="http://schemas.microsoft.com/office/drawing/2014/main" id="{0B49B88D-65AF-4ED0-9E04-0DD05961F5FD}"/>
              </a:ext>
            </a:extLst>
          </p:cNvPr>
          <p:cNvSpPr>
            <a:spLocks noGrp="1"/>
          </p:cNvSpPr>
          <p:nvPr/>
        </p:nvSpPr>
        <p:spPr>
          <a:xfrm>
            <a:off x="571500" y="838200"/>
            <a:ext cx="10906125" cy="228600"/>
          </a:xfrm>
          <a:prstGeom prst="rect">
            <a:avLst/>
          </a:prstGeom>
          <a:noFill/>
          <a:ln w="0">
            <a:noFill/>
            <a:prstDash val="solid"/>
          </a:ln>
        </p:spPr>
        <p:txBody>
          <a:bodyPr wrap="none" lIns="28575" tIns="19050" rIns="28575" bIns="19050" anchor="ctr">
            <a:noAutofit/>
          </a:bodyPr>
          <a:lstStyle/>
          <a:p>
            <a:pPr algn="l">
              <a:lnSpc>
                <a:spcPct val="100000"/>
              </a:lnSpc>
              <a:buNone/>
              <a:defRPr sz="975" b="0" i="0">
                <a:solidFill>
                  <a:srgbClr val="5B5B5B"/>
                </a:solidFill>
                <a:latin typeface="Yu Gothic"/>
                <a:ea typeface="Yu Gothic"/>
                <a:cs typeface="Yu Gothic"/>
              </a:defRPr>
            </a:pPr>
            <a:r>
              <a:rPr sz="975" b="0" i="0">
                <a:solidFill>
                  <a:srgbClr val="5B5B5B"/>
                </a:solidFill>
                <a:latin typeface="Yu Gothic"/>
                <a:ea typeface="Yu Gothic"/>
                <a:cs typeface="Yu Gothic"/>
              </a:rPr>
              <a:t>medium→fineのchip平均差はMC01で0.496 K、MC02で0.154 K</a:t>
            </a:r>
          </a:p>
        </p:txBody>
      </p:sp>
      <p:sp>
        <p:nvSpPr>
          <p:cNvPr id="5" name="直線コネクタ 4">
            <a:extLst>
              <a:ext uri="{FF2B5EF4-FFF2-40B4-BE49-F238E27FC236}">
                <a16:creationId xmlns:a16="http://schemas.microsoft.com/office/drawing/2014/main" id="{319CC585-5BE5-416D-893E-11F101BE71B8}"/>
              </a:ext>
            </a:extLst>
          </p:cNvPr>
          <p:cNvSpPr>
            <a:spLocks noGrp="1"/>
          </p:cNvSpPr>
          <p:nvPr/>
        </p:nvSpPr>
        <p:spPr>
          <a:xfrm>
            <a:off x="552450" y="1152525"/>
            <a:ext cx="11087100" cy="0"/>
          </a:xfrm>
          <a:prstGeom prst="line">
            <a:avLst/>
          </a:prstGeom>
          <a:noFill/>
          <a:ln w="9525">
            <a:solidFill>
              <a:srgbClr val="D6D6D6"/>
            </a:solidFill>
            <a:prstDash val="solid"/>
          </a:ln>
        </p:spPr>
      </p:sp>
      <p:sp>
        <p:nvSpPr>
          <p:cNvPr id="6" name="直線コネクタ 5">
            <a:extLst>
              <a:ext uri="{FF2B5EF4-FFF2-40B4-BE49-F238E27FC236}">
                <a16:creationId xmlns:a16="http://schemas.microsoft.com/office/drawing/2014/main" id="{15E7D48F-5E98-4ED6-8E6C-6FCD862E432C}"/>
              </a:ext>
            </a:extLst>
          </p:cNvPr>
          <p:cNvSpPr>
            <a:spLocks noGrp="1"/>
          </p:cNvSpPr>
          <p:nvPr/>
        </p:nvSpPr>
        <p:spPr>
          <a:xfrm>
            <a:off x="552450" y="6438900"/>
            <a:ext cx="11087100" cy="0"/>
          </a:xfrm>
          <a:prstGeom prst="line">
            <a:avLst/>
          </a:prstGeom>
          <a:noFill/>
          <a:ln w="9525">
            <a:solidFill>
              <a:srgbClr val="D6D6D6"/>
            </a:solidFill>
            <a:prstDash val="solid"/>
          </a:ln>
        </p:spPr>
      </p:sp>
      <p:sp>
        <p:nvSpPr>
          <p:cNvPr id="7" name="正方形/長方形 6">
            <a:extLst>
              <a:ext uri="{FF2B5EF4-FFF2-40B4-BE49-F238E27FC236}">
                <a16:creationId xmlns:a16="http://schemas.microsoft.com/office/drawing/2014/main" id="{5074EAF7-2624-4FB3-BCEA-D4F3DE0329BB}"/>
              </a:ext>
            </a:extLst>
          </p:cNvPr>
          <p:cNvSpPr>
            <a:spLocks noGrp="1"/>
          </p:cNvSpPr>
          <p:nvPr/>
        </p:nvSpPr>
        <p:spPr>
          <a:xfrm>
            <a:off x="571500" y="6505575"/>
            <a:ext cx="5334000" cy="171450"/>
          </a:xfrm>
          <a:prstGeom prst="rect">
            <a:avLst/>
          </a:prstGeom>
          <a:noFill/>
          <a:ln w="0">
            <a:noFill/>
            <a:prstDash val="solid"/>
          </a:ln>
        </p:spPr>
        <p:txBody>
          <a:bodyPr wrap="none" lIns="28575" tIns="19050" rIns="28575" bIns="19050" anchor="ctr">
            <a:noAutofit/>
          </a:bodyPr>
          <a:lstStyle/>
          <a:p>
            <a:pPr algn="l">
              <a:lnSpc>
                <a:spcPct val="100000"/>
              </a:lnSpc>
              <a:buNone/>
              <a:defRPr sz="713" b="0" i="0">
                <a:solidFill>
                  <a:srgbClr val="777777"/>
                </a:solidFill>
                <a:latin typeface="Yu Gothic"/>
                <a:ea typeface="Yu Gothic"/>
                <a:cs typeface="Yu Gothic"/>
              </a:defRPr>
            </a:pPr>
            <a:r>
              <a:rPr sz="713" b="0" i="0">
                <a:solidFill>
                  <a:srgbClr val="777777"/>
                </a:solidFill>
                <a:latin typeface="Yu Gothic"/>
                <a:ea typeface="Yu Gothic"/>
                <a:cs typeface="Yu Gothic"/>
              </a:rPr>
              <a:t>THERMAL RC / EQUIPMENT ENGINEERING REVIEW  ·  2026-09-17</a:t>
            </a:r>
          </a:p>
        </p:txBody>
      </p:sp>
      <p:sp>
        <p:nvSpPr>
          <p:cNvPr id="8" name="正方形/長方形 7">
            <a:extLst>
              <a:ext uri="{FF2B5EF4-FFF2-40B4-BE49-F238E27FC236}">
                <a16:creationId xmlns:a16="http://schemas.microsoft.com/office/drawing/2014/main" id="{0BEF6DFD-7CE4-4737-A57A-4670EEE2C6DF}"/>
              </a:ext>
            </a:extLst>
          </p:cNvPr>
          <p:cNvSpPr>
            <a:spLocks noGrp="1"/>
          </p:cNvSpPr>
          <p:nvPr/>
        </p:nvSpPr>
        <p:spPr>
          <a:xfrm>
            <a:off x="11125200" y="6496050"/>
            <a:ext cx="476250" cy="171450"/>
          </a:xfrm>
          <a:prstGeom prst="rect">
            <a:avLst/>
          </a:prstGeom>
          <a:noFill/>
          <a:ln w="0">
            <a:noFill/>
            <a:prstDash val="solid"/>
          </a:ln>
        </p:spPr>
        <p:txBody>
          <a:bodyPr wrap="square" lIns="28575" tIns="19050" rIns="28575" bIns="19050" anchor="ctr">
            <a:noAutofit/>
          </a:bodyPr>
          <a:lstStyle/>
          <a:p>
            <a:pPr algn="r">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25</a:t>
            </a:r>
          </a:p>
        </p:txBody>
      </p:sp>
      <p:sp>
        <p:nvSpPr>
          <p:cNvPr id="9" name="正方形/長方形 8">
            <a:extLst>
              <a:ext uri="{FF2B5EF4-FFF2-40B4-BE49-F238E27FC236}">
                <a16:creationId xmlns:a16="http://schemas.microsoft.com/office/drawing/2014/main" id="{734659DB-98C1-4A11-B912-1725364C7131}"/>
              </a:ext>
            </a:extLst>
          </p:cNvPr>
          <p:cNvSpPr>
            <a:spLocks noGrp="1"/>
          </p:cNvSpPr>
          <p:nvPr/>
        </p:nvSpPr>
        <p:spPr>
          <a:xfrm>
            <a:off x="552450" y="1381125"/>
            <a:ext cx="5219700" cy="247650"/>
          </a:xfrm>
          <a:prstGeom prst="rect">
            <a:avLst/>
          </a:prstGeom>
          <a:noFill/>
          <a:ln w="0">
            <a:noFill/>
            <a:prstDash val="solid"/>
          </a:ln>
        </p:spPr>
        <p:txBody>
          <a:bodyPr wrap="square" lIns="28575" tIns="19050" rIns="28575" bIns="19050" anchor="ctr">
            <a:normAutofit/>
          </a:bodyPr>
          <a:lstStyle/>
          <a:p>
            <a:pPr algn="l">
              <a:lnSpc>
                <a:spcPct val="100000"/>
              </a:lnSpc>
              <a:buNone/>
              <a:defRPr sz="1200" b="1" i="0">
                <a:solidFill>
                  <a:srgbClr val="3F3F3F"/>
                </a:solidFill>
                <a:latin typeface="Yu Gothic"/>
                <a:ea typeface="Yu Gothic"/>
                <a:cs typeface="Yu Gothic"/>
              </a:defRPr>
            </a:pPr>
            <a:r>
              <a:rPr sz="1200" b="1" i="0">
                <a:solidFill>
                  <a:srgbClr val="3F3F3F"/>
                </a:solidFill>
                <a:latin typeface="Yu Gothic"/>
                <a:ea typeface="Yu Gothic"/>
                <a:cs typeface="Yu Gothic"/>
              </a:rPr>
              <a:t>adjacent mesh difference</a:t>
            </a:r>
          </a:p>
        </p:txBody>
      </p:sp>
      <p:graphicFrame>
        <p:nvGraphicFramePr>
          <p:cNvPr id="40" name="Chart"/>
          <p:cNvGraphicFramePr/>
          <p:nvPr/>
        </p:nvGraphicFramePr>
        <p:xfrm>
          <a:off x="552450" y="1657350"/>
          <a:ext cx="5219700" cy="3238500"/>
        </p:xfrm>
        <a:graphic>
          <a:graphicData uri="http://schemas.openxmlformats.org/drawingml/2006/chart">
            <c:chart xmlns:c="http://schemas.openxmlformats.org/drawingml/2006/chart" xmlns:r="http://schemas.openxmlformats.org/officeDocument/2006/relationships" r:id="rId3"/>
          </a:graphicData>
        </a:graphic>
      </p:graphicFrame>
      <p:sp>
        <p:nvSpPr>
          <p:cNvPr id="11" name="直線コネクタ 10">
            <a:extLst>
              <a:ext uri="{FF2B5EF4-FFF2-40B4-BE49-F238E27FC236}">
                <a16:creationId xmlns:a16="http://schemas.microsoft.com/office/drawing/2014/main" id="{E21E1AFE-9585-479C-98EB-52381316C67C}"/>
              </a:ext>
            </a:extLst>
          </p:cNvPr>
          <p:cNvSpPr>
            <a:spLocks noGrp="1"/>
          </p:cNvSpPr>
          <p:nvPr/>
        </p:nvSpPr>
        <p:spPr>
          <a:xfrm>
            <a:off x="1009650" y="3514725"/>
            <a:ext cx="4305300" cy="0"/>
          </a:xfrm>
          <a:prstGeom prst="line">
            <a:avLst/>
          </a:prstGeom>
          <a:noFill/>
          <a:ln w="14288">
            <a:solidFill>
              <a:srgbClr val="C4493D"/>
            </a:solidFill>
            <a:prstDash val="dash"/>
          </a:ln>
        </p:spPr>
      </p:sp>
      <p:sp>
        <p:nvSpPr>
          <p:cNvPr id="12" name="正方形/長方形 11">
            <a:extLst>
              <a:ext uri="{FF2B5EF4-FFF2-40B4-BE49-F238E27FC236}">
                <a16:creationId xmlns:a16="http://schemas.microsoft.com/office/drawing/2014/main" id="{DC546A86-CEFE-4F26-AA08-758D68577C1D}"/>
              </a:ext>
            </a:extLst>
          </p:cNvPr>
          <p:cNvSpPr>
            <a:spLocks noGrp="1"/>
          </p:cNvSpPr>
          <p:nvPr/>
        </p:nvSpPr>
        <p:spPr>
          <a:xfrm>
            <a:off x="3619500" y="3324225"/>
            <a:ext cx="1619250" cy="171450"/>
          </a:xfrm>
          <a:prstGeom prst="rect">
            <a:avLst/>
          </a:prstGeom>
          <a:noFill/>
          <a:ln w="0">
            <a:noFill/>
            <a:prstDash val="solid"/>
          </a:ln>
        </p:spPr>
        <p:txBody>
          <a:bodyPr wrap="square" lIns="28575" tIns="19050" rIns="28575" bIns="19050" anchor="ctr">
            <a:normAutofit/>
          </a:bodyPr>
          <a:lstStyle/>
          <a:p>
            <a:pPr algn="r">
              <a:lnSpc>
                <a:spcPct val="100000"/>
              </a:lnSpc>
              <a:buNone/>
              <a:defRPr sz="713" b="1" i="0">
                <a:solidFill>
                  <a:srgbClr val="C4493D"/>
                </a:solidFill>
                <a:latin typeface="Yu Gothic"/>
                <a:ea typeface="Yu Gothic"/>
                <a:cs typeface="Yu Gothic"/>
              </a:defRPr>
            </a:pPr>
            <a:r>
              <a:rPr sz="713" b="1" i="0">
                <a:solidFill>
                  <a:srgbClr val="C4493D"/>
                </a:solidFill>
                <a:latin typeface="Yu Gothic"/>
                <a:ea typeface="Yu Gothic"/>
                <a:cs typeface="Yu Gothic"/>
              </a:rPr>
              <a:t>strict criterion 0.25 K</a:t>
            </a:r>
          </a:p>
        </p:txBody>
      </p:sp>
      <p:sp>
        <p:nvSpPr>
          <p:cNvPr id="13" name="正方形/長方形 12">
            <a:extLst>
              <a:ext uri="{FF2B5EF4-FFF2-40B4-BE49-F238E27FC236}">
                <a16:creationId xmlns:a16="http://schemas.microsoft.com/office/drawing/2014/main" id="{CC8FFF41-0F51-4C0F-AAFD-0BE30C7DE586}"/>
              </a:ext>
            </a:extLst>
          </p:cNvPr>
          <p:cNvSpPr>
            <a:spLocks noGrp="1"/>
          </p:cNvSpPr>
          <p:nvPr/>
        </p:nvSpPr>
        <p:spPr>
          <a:xfrm>
            <a:off x="6153150" y="1381125"/>
            <a:ext cx="5486400" cy="247650"/>
          </a:xfrm>
          <a:prstGeom prst="rect">
            <a:avLst/>
          </a:prstGeom>
          <a:noFill/>
          <a:ln w="0">
            <a:noFill/>
            <a:prstDash val="solid"/>
          </a:ln>
        </p:spPr>
        <p:txBody>
          <a:bodyPr wrap="square" lIns="28575" tIns="19050" rIns="28575" bIns="19050" anchor="ctr">
            <a:normAutofit/>
          </a:bodyPr>
          <a:lstStyle/>
          <a:p>
            <a:pPr algn="l">
              <a:lnSpc>
                <a:spcPct val="100000"/>
              </a:lnSpc>
              <a:buNone/>
              <a:defRPr sz="1200" b="1" i="0">
                <a:solidFill>
                  <a:srgbClr val="3F3F3F"/>
                </a:solidFill>
                <a:latin typeface="Yu Gothic"/>
                <a:ea typeface="Yu Gothic"/>
                <a:cs typeface="Yu Gothic"/>
              </a:defRPr>
            </a:pPr>
            <a:r>
              <a:rPr sz="1200" b="1" i="0">
                <a:solidFill>
                  <a:srgbClr val="3F3F3F"/>
                </a:solidFill>
                <a:latin typeface="Yu Gothic"/>
                <a:ea typeface="Yu Gothic"/>
                <a:cs typeface="Yu Gothic"/>
              </a:rPr>
              <a:t>mesh / solve cost</a:t>
            </a:r>
          </a:p>
        </p:txBody>
      </p:sp>
      <p:graphicFrame>
        <p:nvGraphicFramePr>
          <p:cNvPr id="44" name="表 43"/>
          <p:cNvGraphicFramePr/>
          <p:nvPr/>
        </p:nvGraphicFramePr>
        <p:xfrm>
          <a:off x="6153150" y="1724025"/>
          <a:ext cx="5486400" cy="2276475"/>
        </p:xfrm>
        <a:graphic>
          <a:graphicData uri="http://schemas.openxmlformats.org/drawingml/2006/table">
            <a:tbl>
              <a:tblPr/>
              <a:tblGrid>
                <a:gridCol w="16764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tblGrid>
              <a:tr h="455295">
                <a:tc>
                  <a:txBody>
                    <a:bodyPr/>
                    <a:lstStyle/>
                    <a:p>
                      <a:r>
                        <a:rPr sz="938" b="1">
                          <a:solidFill>
                            <a:srgbClr val="FFFFFF"/>
                          </a:solidFill>
                          <a:latin typeface="Yu Gothic"/>
                          <a:ea typeface="Yu Gothic"/>
                          <a:cs typeface="Yu Gothic"/>
                        </a:rPr>
                        <a:t>mesh</a:t>
                      </a:r>
                    </a:p>
                  </a:txBody>
                  <a:tcPr>
                    <a:solidFill>
                      <a:srgbClr val="007FA8"/>
                    </a:solidFill>
                  </a:tcPr>
                </a:tc>
                <a:tc>
                  <a:txBody>
                    <a:bodyPr/>
                    <a:lstStyle/>
                    <a:p>
                      <a:r>
                        <a:rPr sz="938" b="1">
                          <a:solidFill>
                            <a:srgbClr val="FFFFFF"/>
                          </a:solidFill>
                          <a:latin typeface="Yu Gothic"/>
                          <a:ea typeface="Yu Gothic"/>
                          <a:cs typeface="Yu Gothic"/>
                        </a:rPr>
                        <a:t>elements</a:t>
                      </a:r>
                    </a:p>
                  </a:txBody>
                  <a:tcPr>
                    <a:solidFill>
                      <a:srgbClr val="007FA8"/>
                    </a:solidFill>
                  </a:tcPr>
                </a:tc>
                <a:tc>
                  <a:txBody>
                    <a:bodyPr/>
                    <a:lstStyle/>
                    <a:p>
                      <a:r>
                        <a:rPr sz="938" b="1">
                          <a:solidFill>
                            <a:srgbClr val="FFFFFF"/>
                          </a:solidFill>
                          <a:latin typeface="Yu Gothic"/>
                          <a:ea typeface="Yu Gothic"/>
                          <a:cs typeface="Yu Gothic"/>
                        </a:rPr>
                        <a:t>MC01 [s]</a:t>
                      </a:r>
                    </a:p>
                  </a:txBody>
                  <a:tcPr>
                    <a:solidFill>
                      <a:srgbClr val="007FA8"/>
                    </a:solidFill>
                  </a:tcPr>
                </a:tc>
                <a:tc>
                  <a:txBody>
                    <a:bodyPr/>
                    <a:lstStyle/>
                    <a:p>
                      <a:r>
                        <a:rPr sz="938" b="1">
                          <a:solidFill>
                            <a:srgbClr val="FFFFFF"/>
                          </a:solidFill>
                          <a:latin typeface="Yu Gothic"/>
                          <a:ea typeface="Yu Gothic"/>
                          <a:cs typeface="Yu Gothic"/>
                        </a:rPr>
                        <a:t>MC02 [s]</a:t>
                      </a:r>
                    </a:p>
                  </a:txBody>
                  <a:tcPr>
                    <a:solidFill>
                      <a:srgbClr val="007FA8"/>
                    </a:solidFill>
                  </a:tcPr>
                </a:tc>
                <a:extLst>
                  <a:ext uri="{0D108BD9-81ED-4DB2-BD59-A6C34878D82A}">
                    <a16:rowId xmlns:a16="http://schemas.microsoft.com/office/drawing/2014/main" val="10000"/>
                  </a:ext>
                </a:extLst>
              </a:tr>
              <a:tr h="455295">
                <a:tc>
                  <a:txBody>
                    <a:bodyPr/>
                    <a:lstStyle/>
                    <a:p>
                      <a:r>
                        <a:rPr sz="900">
                          <a:solidFill>
                            <a:srgbClr val="5B5B5B"/>
                          </a:solidFill>
                          <a:latin typeface="Yu Gothic"/>
                          <a:ea typeface="Yu Gothic"/>
                          <a:cs typeface="Yu Gothic"/>
                        </a:rPr>
                        <a:t>global-8</a:t>
                      </a:r>
                    </a:p>
                  </a:txBody>
                  <a:tcPr>
                    <a:solidFill>
                      <a:srgbClr val="FFFFFF"/>
                    </a:solidFill>
                  </a:tcPr>
                </a:tc>
                <a:tc>
                  <a:txBody>
                    <a:bodyPr/>
                    <a:lstStyle/>
                    <a:p>
                      <a:r>
                        <a:rPr sz="900">
                          <a:solidFill>
                            <a:srgbClr val="5B5B5B"/>
                          </a:solidFill>
                          <a:latin typeface="Yu Gothic"/>
                          <a:ea typeface="Yu Gothic"/>
                          <a:cs typeface="Yu Gothic"/>
                        </a:rPr>
                        <a:t>48,870</a:t>
                      </a:r>
                    </a:p>
                  </a:txBody>
                  <a:tcPr>
                    <a:solidFill>
                      <a:srgbClr val="FFFFFF"/>
                    </a:solidFill>
                  </a:tcPr>
                </a:tc>
                <a:tc>
                  <a:txBody>
                    <a:bodyPr/>
                    <a:lstStyle/>
                    <a:p>
                      <a:r>
                        <a:rPr sz="900">
                          <a:solidFill>
                            <a:srgbClr val="5B5B5B"/>
                          </a:solidFill>
                          <a:latin typeface="Yu Gothic"/>
                          <a:ea typeface="Yu Gothic"/>
                          <a:cs typeface="Yu Gothic"/>
                        </a:rPr>
                        <a:t>30</a:t>
                      </a:r>
                    </a:p>
                  </a:txBody>
                  <a:tcPr>
                    <a:solidFill>
                      <a:srgbClr val="FFFFFF"/>
                    </a:solidFill>
                  </a:tcPr>
                </a:tc>
                <a:tc>
                  <a:txBody>
                    <a:bodyPr/>
                    <a:lstStyle/>
                    <a:p>
                      <a:r>
                        <a:rPr sz="900">
                          <a:solidFill>
                            <a:srgbClr val="5B5B5B"/>
                          </a:solidFill>
                          <a:latin typeface="Yu Gothic"/>
                          <a:ea typeface="Yu Gothic"/>
                          <a:cs typeface="Yu Gothic"/>
                        </a:rPr>
                        <a:t>62</a:t>
                      </a:r>
                    </a:p>
                  </a:txBody>
                  <a:tcPr>
                    <a:solidFill>
                      <a:srgbClr val="FFFFFF"/>
                    </a:solidFill>
                  </a:tcPr>
                </a:tc>
                <a:extLst>
                  <a:ext uri="{0D108BD9-81ED-4DB2-BD59-A6C34878D82A}">
                    <a16:rowId xmlns:a16="http://schemas.microsoft.com/office/drawing/2014/main" val="10001"/>
                  </a:ext>
                </a:extLst>
              </a:tr>
              <a:tr h="455295">
                <a:tc>
                  <a:txBody>
                    <a:bodyPr/>
                    <a:lstStyle/>
                    <a:p>
                      <a:r>
                        <a:rPr sz="900">
                          <a:solidFill>
                            <a:srgbClr val="5B5B5B"/>
                          </a:solidFill>
                          <a:latin typeface="Yu Gothic"/>
                          <a:ea typeface="Yu Gothic"/>
                          <a:cs typeface="Yu Gothic"/>
                        </a:rPr>
                        <a:t>local-coarse</a:t>
                      </a:r>
                    </a:p>
                  </a:txBody>
                  <a:tcPr>
                    <a:solidFill>
                      <a:srgbClr val="F8F8F8"/>
                    </a:solidFill>
                  </a:tcPr>
                </a:tc>
                <a:tc>
                  <a:txBody>
                    <a:bodyPr/>
                    <a:lstStyle/>
                    <a:p>
                      <a:r>
                        <a:rPr sz="900">
                          <a:solidFill>
                            <a:srgbClr val="5B5B5B"/>
                          </a:solidFill>
                          <a:latin typeface="Yu Gothic"/>
                          <a:ea typeface="Yu Gothic"/>
                          <a:cs typeface="Yu Gothic"/>
                        </a:rPr>
                        <a:t>837,644</a:t>
                      </a:r>
                    </a:p>
                  </a:txBody>
                  <a:tcPr>
                    <a:solidFill>
                      <a:srgbClr val="F8F8F8"/>
                    </a:solidFill>
                  </a:tcPr>
                </a:tc>
                <a:tc>
                  <a:txBody>
                    <a:bodyPr/>
                    <a:lstStyle/>
                    <a:p>
                      <a:r>
                        <a:rPr sz="900">
                          <a:solidFill>
                            <a:srgbClr val="5B5B5B"/>
                          </a:solidFill>
                          <a:latin typeface="Yu Gothic"/>
                          <a:ea typeface="Yu Gothic"/>
                          <a:cs typeface="Yu Gothic"/>
                        </a:rPr>
                        <a:t>223</a:t>
                      </a:r>
                    </a:p>
                  </a:txBody>
                  <a:tcPr>
                    <a:solidFill>
                      <a:srgbClr val="F8F8F8"/>
                    </a:solidFill>
                  </a:tcPr>
                </a:tc>
                <a:tc>
                  <a:txBody>
                    <a:bodyPr/>
                    <a:lstStyle/>
                    <a:p>
                      <a:r>
                        <a:rPr sz="900">
                          <a:solidFill>
                            <a:srgbClr val="5B5B5B"/>
                          </a:solidFill>
                          <a:latin typeface="Yu Gothic"/>
                          <a:ea typeface="Yu Gothic"/>
                          <a:cs typeface="Yu Gothic"/>
                        </a:rPr>
                        <a:t>537</a:t>
                      </a:r>
                    </a:p>
                  </a:txBody>
                  <a:tcPr>
                    <a:solidFill>
                      <a:srgbClr val="F8F8F8"/>
                    </a:solidFill>
                  </a:tcPr>
                </a:tc>
                <a:extLst>
                  <a:ext uri="{0D108BD9-81ED-4DB2-BD59-A6C34878D82A}">
                    <a16:rowId xmlns:a16="http://schemas.microsoft.com/office/drawing/2014/main" val="10002"/>
                  </a:ext>
                </a:extLst>
              </a:tr>
              <a:tr h="455295">
                <a:tc>
                  <a:txBody>
                    <a:bodyPr/>
                    <a:lstStyle/>
                    <a:p>
                      <a:r>
                        <a:rPr sz="900">
                          <a:solidFill>
                            <a:srgbClr val="5B5B5B"/>
                          </a:solidFill>
                          <a:latin typeface="Yu Gothic"/>
                          <a:ea typeface="Yu Gothic"/>
                          <a:cs typeface="Yu Gothic"/>
                        </a:rPr>
                        <a:t>local-medium</a:t>
                      </a:r>
                    </a:p>
                  </a:txBody>
                  <a:tcPr>
                    <a:solidFill>
                      <a:srgbClr val="FFFFFF"/>
                    </a:solidFill>
                  </a:tcPr>
                </a:tc>
                <a:tc>
                  <a:txBody>
                    <a:bodyPr/>
                    <a:lstStyle/>
                    <a:p>
                      <a:r>
                        <a:rPr sz="900">
                          <a:solidFill>
                            <a:srgbClr val="5B5B5B"/>
                          </a:solidFill>
                          <a:latin typeface="Yu Gothic"/>
                          <a:ea typeface="Yu Gothic"/>
                          <a:cs typeface="Yu Gothic"/>
                        </a:rPr>
                        <a:t>1,748,906</a:t>
                      </a:r>
                    </a:p>
                  </a:txBody>
                  <a:tcPr>
                    <a:solidFill>
                      <a:srgbClr val="FFFFFF"/>
                    </a:solidFill>
                  </a:tcPr>
                </a:tc>
                <a:tc>
                  <a:txBody>
                    <a:bodyPr/>
                    <a:lstStyle/>
                    <a:p>
                      <a:r>
                        <a:rPr sz="900">
                          <a:solidFill>
                            <a:srgbClr val="5B5B5B"/>
                          </a:solidFill>
                          <a:latin typeface="Yu Gothic"/>
                          <a:ea typeface="Yu Gothic"/>
                          <a:cs typeface="Yu Gothic"/>
                        </a:rPr>
                        <a:t>492</a:t>
                      </a:r>
                    </a:p>
                  </a:txBody>
                  <a:tcPr>
                    <a:solidFill>
                      <a:srgbClr val="FFFFFF"/>
                    </a:solidFill>
                  </a:tcPr>
                </a:tc>
                <a:tc>
                  <a:txBody>
                    <a:bodyPr/>
                    <a:lstStyle/>
                    <a:p>
                      <a:r>
                        <a:rPr sz="900">
                          <a:solidFill>
                            <a:srgbClr val="5B5B5B"/>
                          </a:solidFill>
                          <a:latin typeface="Yu Gothic"/>
                          <a:ea typeface="Yu Gothic"/>
                          <a:cs typeface="Yu Gothic"/>
                        </a:rPr>
                        <a:t>1,380</a:t>
                      </a:r>
                    </a:p>
                  </a:txBody>
                  <a:tcPr>
                    <a:solidFill>
                      <a:srgbClr val="FFFFFF"/>
                    </a:solidFill>
                  </a:tcPr>
                </a:tc>
                <a:extLst>
                  <a:ext uri="{0D108BD9-81ED-4DB2-BD59-A6C34878D82A}">
                    <a16:rowId xmlns:a16="http://schemas.microsoft.com/office/drawing/2014/main" val="10003"/>
                  </a:ext>
                </a:extLst>
              </a:tr>
              <a:tr h="455295">
                <a:tc>
                  <a:txBody>
                    <a:bodyPr/>
                    <a:lstStyle/>
                    <a:p>
                      <a:r>
                        <a:rPr sz="900">
                          <a:solidFill>
                            <a:srgbClr val="5B5B5B"/>
                          </a:solidFill>
                          <a:latin typeface="Yu Gothic"/>
                          <a:ea typeface="Yu Gothic"/>
                          <a:cs typeface="Yu Gothic"/>
                        </a:rPr>
                        <a:t>local-fine</a:t>
                      </a:r>
                    </a:p>
                  </a:txBody>
                  <a:tcPr>
                    <a:solidFill>
                      <a:srgbClr val="F8F8F8"/>
                    </a:solidFill>
                  </a:tcPr>
                </a:tc>
                <a:tc>
                  <a:txBody>
                    <a:bodyPr/>
                    <a:lstStyle/>
                    <a:p>
                      <a:r>
                        <a:rPr sz="900">
                          <a:solidFill>
                            <a:srgbClr val="5B5B5B"/>
                          </a:solidFill>
                          <a:latin typeface="Yu Gothic"/>
                          <a:ea typeface="Yu Gothic"/>
                          <a:cs typeface="Yu Gothic"/>
                        </a:rPr>
                        <a:t>3,587,721</a:t>
                      </a:r>
                    </a:p>
                  </a:txBody>
                  <a:tcPr>
                    <a:solidFill>
                      <a:srgbClr val="F8F8F8"/>
                    </a:solidFill>
                  </a:tcPr>
                </a:tc>
                <a:tc>
                  <a:txBody>
                    <a:bodyPr/>
                    <a:lstStyle/>
                    <a:p>
                      <a:r>
                        <a:rPr sz="900">
                          <a:solidFill>
                            <a:srgbClr val="5B5B5B"/>
                          </a:solidFill>
                          <a:latin typeface="Yu Gothic"/>
                          <a:ea typeface="Yu Gothic"/>
                          <a:cs typeface="Yu Gothic"/>
                        </a:rPr>
                        <a:t>1,169</a:t>
                      </a:r>
                    </a:p>
                  </a:txBody>
                  <a:tcPr>
                    <a:solidFill>
                      <a:srgbClr val="F8F8F8"/>
                    </a:solidFill>
                  </a:tcPr>
                </a:tc>
                <a:tc>
                  <a:txBody>
                    <a:bodyPr/>
                    <a:lstStyle/>
                    <a:p>
                      <a:r>
                        <a:rPr sz="900">
                          <a:solidFill>
                            <a:srgbClr val="5B5B5B"/>
                          </a:solidFill>
                          <a:latin typeface="Yu Gothic"/>
                          <a:ea typeface="Yu Gothic"/>
                          <a:cs typeface="Yu Gothic"/>
                        </a:rPr>
                        <a:t>3,950</a:t>
                      </a:r>
                    </a:p>
                  </a:txBody>
                  <a:tcPr>
                    <a:solidFill>
                      <a:srgbClr val="F8F8F8"/>
                    </a:solidFill>
                  </a:tcPr>
                </a:tc>
                <a:extLst>
                  <a:ext uri="{0D108BD9-81ED-4DB2-BD59-A6C34878D82A}">
                    <a16:rowId xmlns:a16="http://schemas.microsoft.com/office/drawing/2014/main" val="10004"/>
                  </a:ext>
                </a:extLst>
              </a:tr>
            </a:tbl>
          </a:graphicData>
        </a:graphic>
      </p:graphicFrame>
      <p:sp>
        <p:nvSpPr>
          <p:cNvPr id="15" name="正方形/長方形 14">
            <a:extLst>
              <a:ext uri="{FF2B5EF4-FFF2-40B4-BE49-F238E27FC236}">
                <a16:creationId xmlns:a16="http://schemas.microsoft.com/office/drawing/2014/main" id="{7E35E369-5C29-4D63-A9B7-AF046DE308DF}"/>
              </a:ext>
            </a:extLst>
          </p:cNvPr>
          <p:cNvSpPr>
            <a:spLocks noGrp="1"/>
          </p:cNvSpPr>
          <p:nvPr/>
        </p:nvSpPr>
        <p:spPr>
          <a:xfrm>
            <a:off x="6153150" y="4210050"/>
            <a:ext cx="5486400" cy="685800"/>
          </a:xfrm>
          <a:prstGeom prst="rect">
            <a:avLst/>
          </a:prstGeom>
          <a:solidFill>
            <a:srgbClr val="FBE9E7"/>
          </a:solidFill>
          <a:ln w="9525">
            <a:solidFill>
              <a:srgbClr val="C4493D"/>
            </a:solidFill>
            <a:prstDash val="solid"/>
          </a:ln>
        </p:spPr>
      </p:sp>
      <p:sp>
        <p:nvSpPr>
          <p:cNvPr id="16" name="正方形/長方形 15">
            <a:extLst>
              <a:ext uri="{FF2B5EF4-FFF2-40B4-BE49-F238E27FC236}">
                <a16:creationId xmlns:a16="http://schemas.microsoft.com/office/drawing/2014/main" id="{69C66CF0-C4BF-435A-94A0-BC52338F02DA}"/>
              </a:ext>
            </a:extLst>
          </p:cNvPr>
          <p:cNvSpPr>
            <a:spLocks noGrp="1"/>
          </p:cNvSpPr>
          <p:nvPr/>
        </p:nvSpPr>
        <p:spPr>
          <a:xfrm>
            <a:off x="6334125" y="4324350"/>
            <a:ext cx="2238375" cy="209550"/>
          </a:xfrm>
          <a:prstGeom prst="rect">
            <a:avLst/>
          </a:prstGeom>
          <a:noFill/>
          <a:ln w="0">
            <a:noFill/>
            <a:prstDash val="solid"/>
          </a:ln>
        </p:spPr>
        <p:txBody>
          <a:bodyPr wrap="square" lIns="28575" tIns="19050" rIns="28575" bIns="19050" anchor="ctr">
            <a:normAutofit/>
          </a:bodyPr>
          <a:lstStyle/>
          <a:p>
            <a:pPr algn="l">
              <a:lnSpc>
                <a:spcPct val="100000"/>
              </a:lnSpc>
              <a:buNone/>
              <a:defRPr sz="900" b="1" i="0">
                <a:solidFill>
                  <a:srgbClr val="C4493D"/>
                </a:solidFill>
                <a:latin typeface="Yu Gothic"/>
                <a:ea typeface="Yu Gothic"/>
                <a:cs typeface="Yu Gothic"/>
              </a:defRPr>
            </a:pPr>
            <a:r>
              <a:rPr sz="900" b="1" i="0">
                <a:solidFill>
                  <a:srgbClr val="C4493D"/>
                </a:solidFill>
                <a:latin typeface="Yu Gothic"/>
                <a:ea typeface="Yu Gothic"/>
                <a:cs typeface="Yu Gothic"/>
              </a:rPr>
              <a:t>global-8 → local-coarse</a:t>
            </a:r>
          </a:p>
        </p:txBody>
      </p:sp>
      <p:sp>
        <p:nvSpPr>
          <p:cNvPr id="17" name="正方形/長方形 16">
            <a:extLst>
              <a:ext uri="{FF2B5EF4-FFF2-40B4-BE49-F238E27FC236}">
                <a16:creationId xmlns:a16="http://schemas.microsoft.com/office/drawing/2014/main" id="{44419014-BF45-4E8C-9496-BB39442CA172}"/>
              </a:ext>
            </a:extLst>
          </p:cNvPr>
          <p:cNvSpPr>
            <a:spLocks noGrp="1"/>
          </p:cNvSpPr>
          <p:nvPr/>
        </p:nvSpPr>
        <p:spPr>
          <a:xfrm>
            <a:off x="8858250" y="4276725"/>
            <a:ext cx="2552700" cy="295275"/>
          </a:xfrm>
          <a:prstGeom prst="rect">
            <a:avLst/>
          </a:prstGeom>
          <a:noFill/>
          <a:ln w="0">
            <a:noFill/>
            <a:prstDash val="solid"/>
          </a:ln>
        </p:spPr>
        <p:txBody>
          <a:bodyPr wrap="square" lIns="28575" tIns="19050" rIns="28575" bIns="19050" anchor="ctr">
            <a:normAutofit fontScale="97826"/>
          </a:bodyPr>
          <a:lstStyle/>
          <a:p>
            <a:pPr algn="r">
              <a:lnSpc>
                <a:spcPct val="100000"/>
              </a:lnSpc>
              <a:buNone/>
              <a:defRPr sz="1725" b="1" i="0">
                <a:solidFill>
                  <a:srgbClr val="C4493D"/>
                </a:solidFill>
                <a:latin typeface="Yu Gothic"/>
                <a:ea typeface="Yu Gothic"/>
                <a:cs typeface="Yu Gothic"/>
              </a:defRPr>
            </a:pPr>
            <a:r>
              <a:rPr sz="1725" b="1" i="0">
                <a:solidFill>
                  <a:srgbClr val="C4493D"/>
                </a:solidFill>
                <a:latin typeface="Yu Gothic"/>
                <a:ea typeface="Yu Gothic"/>
                <a:cs typeface="Yu Gothic"/>
              </a:rPr>
              <a:t>+15.913 K</a:t>
            </a:r>
          </a:p>
        </p:txBody>
      </p:sp>
      <p:sp>
        <p:nvSpPr>
          <p:cNvPr id="18" name="正方形/長方形 17">
            <a:extLst>
              <a:ext uri="{FF2B5EF4-FFF2-40B4-BE49-F238E27FC236}">
                <a16:creationId xmlns:a16="http://schemas.microsoft.com/office/drawing/2014/main" id="{BBCAA68F-B204-43A1-95EE-9CE0106F4452}"/>
              </a:ext>
            </a:extLst>
          </p:cNvPr>
          <p:cNvSpPr>
            <a:spLocks noGrp="1"/>
          </p:cNvSpPr>
          <p:nvPr/>
        </p:nvSpPr>
        <p:spPr>
          <a:xfrm>
            <a:off x="6334125" y="4591050"/>
            <a:ext cx="5076825" cy="190500"/>
          </a:xfrm>
          <a:prstGeom prst="rect">
            <a:avLst/>
          </a:prstGeom>
          <a:noFill/>
          <a:ln w="0">
            <a:noFill/>
            <a:prstDash val="solid"/>
          </a:ln>
        </p:spPr>
        <p:txBody>
          <a:bodyPr wrap="square" lIns="28575" tIns="19050" rIns="28575" bIns="19050" anchor="ctr">
            <a:normAutofit/>
          </a:bodyPr>
          <a:lstStyle/>
          <a:p>
            <a:pPr algn="l">
              <a:lnSpc>
                <a:spcPct val="100000"/>
              </a:lnSpc>
              <a:buNone/>
              <a:defRPr sz="788" b="0" i="0">
                <a:solidFill>
                  <a:srgbClr val="5B5B5B"/>
                </a:solidFill>
                <a:latin typeface="Yu Gothic"/>
                <a:ea typeface="Yu Gothic"/>
                <a:cs typeface="Yu Gothic"/>
              </a:defRPr>
            </a:pPr>
            <a:r>
              <a:rPr sz="788" b="0" i="0">
                <a:solidFill>
                  <a:srgbClr val="5B5B5B"/>
                </a:solidFill>
                <a:latin typeface="Yu Gothic"/>
                <a:ea typeface="Yu Gothic"/>
                <a:cs typeface="Yu Gothic"/>
              </a:rPr>
              <a:t>MC01 chip平均。global meshは局所熱勾配を解像できない。</a:t>
            </a:r>
          </a:p>
        </p:txBody>
      </p:sp>
      <p:sp>
        <p:nvSpPr>
          <p:cNvPr id="19" name="正方形/長方形 18">
            <a:extLst>
              <a:ext uri="{FF2B5EF4-FFF2-40B4-BE49-F238E27FC236}">
                <a16:creationId xmlns:a16="http://schemas.microsoft.com/office/drawing/2014/main" id="{6BE175A4-26D0-49D2-BC74-FE1CD569581F}"/>
              </a:ext>
            </a:extLst>
          </p:cNvPr>
          <p:cNvSpPr>
            <a:spLocks noGrp="1"/>
          </p:cNvSpPr>
          <p:nvPr/>
        </p:nvSpPr>
        <p:spPr>
          <a:xfrm>
            <a:off x="552450" y="5191125"/>
            <a:ext cx="3505200" cy="942975"/>
          </a:xfrm>
          <a:prstGeom prst="rect">
            <a:avLst/>
          </a:prstGeom>
          <a:solidFill>
            <a:srgbClr val="FFF5D7"/>
          </a:solidFill>
          <a:ln w="9525">
            <a:solidFill>
              <a:srgbClr val="E5A900"/>
            </a:solidFill>
            <a:prstDash val="solid"/>
          </a:ln>
        </p:spPr>
      </p:sp>
      <p:sp>
        <p:nvSpPr>
          <p:cNvPr id="20" name="正方形/長方形 19">
            <a:extLst>
              <a:ext uri="{FF2B5EF4-FFF2-40B4-BE49-F238E27FC236}">
                <a16:creationId xmlns:a16="http://schemas.microsoft.com/office/drawing/2014/main" id="{C452CAA3-8EBA-4337-BCAD-0E50ED960E94}"/>
              </a:ext>
            </a:extLst>
          </p:cNvPr>
          <p:cNvSpPr>
            <a:spLocks noGrp="1"/>
          </p:cNvSpPr>
          <p:nvPr/>
        </p:nvSpPr>
        <p:spPr>
          <a:xfrm>
            <a:off x="723900" y="5295900"/>
            <a:ext cx="1066800" cy="209550"/>
          </a:xfrm>
          <a:prstGeom prst="rect">
            <a:avLst/>
          </a:prstGeom>
          <a:noFill/>
          <a:ln w="0">
            <a:noFill/>
            <a:prstDash val="solid"/>
          </a:ln>
        </p:spPr>
        <p:txBody>
          <a:bodyPr wrap="square" lIns="28575" tIns="19050" rIns="28575" bIns="19050" anchor="ctr">
            <a:normAutofit/>
          </a:bodyPr>
          <a:lstStyle/>
          <a:p>
            <a:pPr algn="l">
              <a:lnSpc>
                <a:spcPct val="100000"/>
              </a:lnSpc>
              <a:buNone/>
              <a:defRPr sz="900" b="1" i="0">
                <a:solidFill>
                  <a:srgbClr val="E5A900"/>
                </a:solidFill>
                <a:latin typeface="Yu Gothic"/>
                <a:ea typeface="Yu Gothic"/>
                <a:cs typeface="Yu Gothic"/>
              </a:defRPr>
            </a:pPr>
            <a:r>
              <a:rPr sz="900" b="1" i="0">
                <a:solidFill>
                  <a:srgbClr val="E5A900"/>
                </a:solidFill>
                <a:latin typeface="Yu Gothic"/>
                <a:ea typeface="Yu Gothic"/>
                <a:cs typeface="Yu Gothic"/>
              </a:rPr>
              <a:t>screening</a:t>
            </a:r>
          </a:p>
        </p:txBody>
      </p:sp>
      <p:sp>
        <p:nvSpPr>
          <p:cNvPr id="21" name="正方形/長方形 20">
            <a:extLst>
              <a:ext uri="{FF2B5EF4-FFF2-40B4-BE49-F238E27FC236}">
                <a16:creationId xmlns:a16="http://schemas.microsoft.com/office/drawing/2014/main" id="{313D0B32-B5AB-45BB-AD6B-099BF8821BC2}"/>
              </a:ext>
            </a:extLst>
          </p:cNvPr>
          <p:cNvSpPr>
            <a:spLocks noGrp="1"/>
          </p:cNvSpPr>
          <p:nvPr/>
        </p:nvSpPr>
        <p:spPr>
          <a:xfrm>
            <a:off x="1847850" y="5257800"/>
            <a:ext cx="2000250" cy="276225"/>
          </a:xfrm>
          <a:prstGeom prst="rect">
            <a:avLst/>
          </a:prstGeom>
          <a:noFill/>
          <a:ln w="0">
            <a:noFill/>
            <a:prstDash val="solid"/>
          </a:ln>
        </p:spPr>
        <p:txBody>
          <a:bodyPr wrap="square" lIns="28575" tIns="19050" rIns="28575" bIns="19050" anchor="ctr">
            <a:normAutofit/>
          </a:bodyPr>
          <a:lstStyle/>
          <a:p>
            <a:pPr algn="r">
              <a:lnSpc>
                <a:spcPct val="100000"/>
              </a:lnSpc>
              <a:buNone/>
              <a:defRPr sz="1500" b="1" i="0">
                <a:solidFill>
                  <a:srgbClr val="3F3F3F"/>
                </a:solidFill>
                <a:latin typeface="Yu Gothic"/>
                <a:ea typeface="Yu Gothic"/>
                <a:cs typeface="Yu Gothic"/>
              </a:defRPr>
            </a:pPr>
            <a:r>
              <a:rPr sz="1500" b="1" i="0">
                <a:solidFill>
                  <a:srgbClr val="3F3F3F"/>
                </a:solidFill>
                <a:latin typeface="Yu Gothic"/>
                <a:ea typeface="Yu Gothic"/>
                <a:cs typeface="Yu Gothic"/>
              </a:rPr>
              <a:t>≤ 0.50 K</a:t>
            </a:r>
          </a:p>
        </p:txBody>
      </p:sp>
      <p:sp>
        <p:nvSpPr>
          <p:cNvPr id="22" name="正方形/長方形 21">
            <a:extLst>
              <a:ext uri="{FF2B5EF4-FFF2-40B4-BE49-F238E27FC236}">
                <a16:creationId xmlns:a16="http://schemas.microsoft.com/office/drawing/2014/main" id="{05B9087E-BBF7-45EA-9523-EE86FE40A9C0}"/>
              </a:ext>
            </a:extLst>
          </p:cNvPr>
          <p:cNvSpPr>
            <a:spLocks noGrp="1"/>
          </p:cNvSpPr>
          <p:nvPr/>
        </p:nvSpPr>
        <p:spPr>
          <a:xfrm>
            <a:off x="723900" y="5638800"/>
            <a:ext cx="3124200" cy="304800"/>
          </a:xfrm>
          <a:prstGeom prst="rect">
            <a:avLst/>
          </a:prstGeom>
          <a:noFill/>
          <a:ln w="0">
            <a:noFill/>
            <a:prstDash val="solid"/>
          </a:ln>
        </p:spPr>
        <p:txBody>
          <a:bodyPr wrap="square" lIns="28575" tIns="19050" rIns="28575" bIns="19050" anchor="ctr">
            <a:normAutofit/>
          </a:bodyPr>
          <a:lstStyle/>
          <a:p>
            <a:pPr algn="l">
              <a:lnSpc>
                <a:spcPct val="100000"/>
              </a:lnSpc>
              <a:buNone/>
              <a:defRPr sz="863" b="0" i="0">
                <a:solidFill>
                  <a:srgbClr val="5B5B5B"/>
                </a:solidFill>
                <a:latin typeface="Yu Gothic"/>
                <a:ea typeface="Yu Gothic"/>
                <a:cs typeface="Yu Gothic"/>
              </a:defRPr>
            </a:pPr>
            <a:r>
              <a:rPr sz="863" b="0" i="0">
                <a:solidFill>
                  <a:srgbClr val="5B5B5B"/>
                </a:solidFill>
                <a:latin typeface="Yu Gothic"/>
                <a:ea typeface="Yu Gothic"/>
                <a:cs typeface="Yu Gothic"/>
              </a:rPr>
              <a:t>MC01 ぎりぎり / MC02 pass</a:t>
            </a:r>
          </a:p>
        </p:txBody>
      </p:sp>
      <p:sp>
        <p:nvSpPr>
          <p:cNvPr id="23" name="正方形/長方形 22">
            <a:extLst>
              <a:ext uri="{FF2B5EF4-FFF2-40B4-BE49-F238E27FC236}">
                <a16:creationId xmlns:a16="http://schemas.microsoft.com/office/drawing/2014/main" id="{2ACDC086-E944-4571-A4DD-1BF432BF425A}"/>
              </a:ext>
            </a:extLst>
          </p:cNvPr>
          <p:cNvSpPr>
            <a:spLocks noGrp="1"/>
          </p:cNvSpPr>
          <p:nvPr/>
        </p:nvSpPr>
        <p:spPr>
          <a:xfrm>
            <a:off x="4248150" y="5191125"/>
            <a:ext cx="3505200" cy="942975"/>
          </a:xfrm>
          <a:prstGeom prst="rect">
            <a:avLst/>
          </a:prstGeom>
          <a:solidFill>
            <a:srgbClr val="FBE9E7"/>
          </a:solidFill>
          <a:ln w="9525">
            <a:solidFill>
              <a:srgbClr val="C4493D"/>
            </a:solidFill>
            <a:prstDash val="solid"/>
          </a:ln>
        </p:spPr>
      </p:sp>
      <p:sp>
        <p:nvSpPr>
          <p:cNvPr id="24" name="正方形/長方形 23">
            <a:extLst>
              <a:ext uri="{FF2B5EF4-FFF2-40B4-BE49-F238E27FC236}">
                <a16:creationId xmlns:a16="http://schemas.microsoft.com/office/drawing/2014/main" id="{8BEE8A96-B017-47D0-8D28-9A41A2EA9CC4}"/>
              </a:ext>
            </a:extLst>
          </p:cNvPr>
          <p:cNvSpPr>
            <a:spLocks noGrp="1"/>
          </p:cNvSpPr>
          <p:nvPr/>
        </p:nvSpPr>
        <p:spPr>
          <a:xfrm>
            <a:off x="4419600" y="5295900"/>
            <a:ext cx="1066800" cy="209550"/>
          </a:xfrm>
          <a:prstGeom prst="rect">
            <a:avLst/>
          </a:prstGeom>
          <a:noFill/>
          <a:ln w="0">
            <a:noFill/>
            <a:prstDash val="solid"/>
          </a:ln>
        </p:spPr>
        <p:txBody>
          <a:bodyPr wrap="square" lIns="28575" tIns="19050" rIns="28575" bIns="19050" anchor="ctr">
            <a:normAutofit/>
          </a:bodyPr>
          <a:lstStyle/>
          <a:p>
            <a:pPr algn="l">
              <a:lnSpc>
                <a:spcPct val="100000"/>
              </a:lnSpc>
              <a:buNone/>
              <a:defRPr sz="900" b="1" i="0">
                <a:solidFill>
                  <a:srgbClr val="C4493D"/>
                </a:solidFill>
                <a:latin typeface="Yu Gothic"/>
                <a:ea typeface="Yu Gothic"/>
                <a:cs typeface="Yu Gothic"/>
              </a:defRPr>
            </a:pPr>
            <a:r>
              <a:rPr sz="900" b="1" i="0">
                <a:solidFill>
                  <a:srgbClr val="C4493D"/>
                </a:solidFill>
                <a:latin typeface="Yu Gothic"/>
                <a:ea typeface="Yu Gothic"/>
                <a:cs typeface="Yu Gothic"/>
              </a:rPr>
              <a:t>strict average</a:t>
            </a:r>
          </a:p>
        </p:txBody>
      </p:sp>
      <p:sp>
        <p:nvSpPr>
          <p:cNvPr id="25" name="正方形/長方形 24">
            <a:extLst>
              <a:ext uri="{FF2B5EF4-FFF2-40B4-BE49-F238E27FC236}">
                <a16:creationId xmlns:a16="http://schemas.microsoft.com/office/drawing/2014/main" id="{D8C07F17-7CB5-4300-A8EC-92834A3D41AE}"/>
              </a:ext>
            </a:extLst>
          </p:cNvPr>
          <p:cNvSpPr>
            <a:spLocks noGrp="1"/>
          </p:cNvSpPr>
          <p:nvPr/>
        </p:nvSpPr>
        <p:spPr>
          <a:xfrm>
            <a:off x="5543550" y="5257800"/>
            <a:ext cx="2000250" cy="276225"/>
          </a:xfrm>
          <a:prstGeom prst="rect">
            <a:avLst/>
          </a:prstGeom>
          <a:noFill/>
          <a:ln w="0">
            <a:noFill/>
            <a:prstDash val="solid"/>
          </a:ln>
        </p:spPr>
        <p:txBody>
          <a:bodyPr wrap="square" lIns="28575" tIns="19050" rIns="28575" bIns="19050" anchor="ctr">
            <a:normAutofit/>
          </a:bodyPr>
          <a:lstStyle/>
          <a:p>
            <a:pPr algn="r">
              <a:lnSpc>
                <a:spcPct val="100000"/>
              </a:lnSpc>
              <a:buNone/>
              <a:defRPr sz="1500" b="1" i="0">
                <a:solidFill>
                  <a:srgbClr val="3F3F3F"/>
                </a:solidFill>
                <a:latin typeface="Yu Gothic"/>
                <a:ea typeface="Yu Gothic"/>
                <a:cs typeface="Yu Gothic"/>
              </a:defRPr>
            </a:pPr>
            <a:r>
              <a:rPr sz="1500" b="1" i="0">
                <a:solidFill>
                  <a:srgbClr val="3F3F3F"/>
                </a:solidFill>
                <a:latin typeface="Yu Gothic"/>
                <a:ea typeface="Yu Gothic"/>
                <a:cs typeface="Yu Gothic"/>
              </a:rPr>
              <a:t>≤ 0.25 K</a:t>
            </a:r>
          </a:p>
        </p:txBody>
      </p:sp>
      <p:sp>
        <p:nvSpPr>
          <p:cNvPr id="26" name="正方形/長方形 25">
            <a:extLst>
              <a:ext uri="{FF2B5EF4-FFF2-40B4-BE49-F238E27FC236}">
                <a16:creationId xmlns:a16="http://schemas.microsoft.com/office/drawing/2014/main" id="{63E3B8DA-ACDD-4401-8BC8-0187078232C5}"/>
              </a:ext>
            </a:extLst>
          </p:cNvPr>
          <p:cNvSpPr>
            <a:spLocks noGrp="1"/>
          </p:cNvSpPr>
          <p:nvPr/>
        </p:nvSpPr>
        <p:spPr>
          <a:xfrm>
            <a:off x="4419600" y="5638800"/>
            <a:ext cx="3124200" cy="304800"/>
          </a:xfrm>
          <a:prstGeom prst="rect">
            <a:avLst/>
          </a:prstGeom>
          <a:noFill/>
          <a:ln w="0">
            <a:noFill/>
            <a:prstDash val="solid"/>
          </a:ln>
        </p:spPr>
        <p:txBody>
          <a:bodyPr wrap="square" lIns="28575" tIns="19050" rIns="28575" bIns="19050" anchor="ctr">
            <a:normAutofit/>
          </a:bodyPr>
          <a:lstStyle/>
          <a:p>
            <a:pPr algn="l">
              <a:lnSpc>
                <a:spcPct val="100000"/>
              </a:lnSpc>
              <a:buNone/>
              <a:defRPr sz="863" b="0" i="0">
                <a:solidFill>
                  <a:srgbClr val="5B5B5B"/>
                </a:solidFill>
                <a:latin typeface="Yu Gothic"/>
                <a:ea typeface="Yu Gothic"/>
                <a:cs typeface="Yu Gothic"/>
              </a:defRPr>
            </a:pPr>
            <a:r>
              <a:rPr sz="863" b="0" i="0">
                <a:solidFill>
                  <a:srgbClr val="5B5B5B"/>
                </a:solidFill>
                <a:latin typeface="Yu Gothic"/>
                <a:ea typeface="Yu Gothic"/>
                <a:cs typeface="Yu Gothic"/>
              </a:rPr>
              <a:t>MC01 fail / MC02 pass</a:t>
            </a:r>
          </a:p>
        </p:txBody>
      </p:sp>
      <p:sp>
        <p:nvSpPr>
          <p:cNvPr id="27" name="正方形/長方形 26">
            <a:extLst>
              <a:ext uri="{FF2B5EF4-FFF2-40B4-BE49-F238E27FC236}">
                <a16:creationId xmlns:a16="http://schemas.microsoft.com/office/drawing/2014/main" id="{09217F93-C01B-4910-BDC6-080D8224CA2B}"/>
              </a:ext>
            </a:extLst>
          </p:cNvPr>
          <p:cNvSpPr>
            <a:spLocks noGrp="1"/>
          </p:cNvSpPr>
          <p:nvPr/>
        </p:nvSpPr>
        <p:spPr>
          <a:xfrm>
            <a:off x="7943850" y="5191125"/>
            <a:ext cx="3505200" cy="942975"/>
          </a:xfrm>
          <a:prstGeom prst="rect">
            <a:avLst/>
          </a:prstGeom>
          <a:solidFill>
            <a:srgbClr val="EFE5F6"/>
          </a:solidFill>
          <a:ln w="9525">
            <a:solidFill>
              <a:srgbClr val="7B2DAF"/>
            </a:solidFill>
            <a:prstDash val="solid"/>
          </a:ln>
        </p:spPr>
      </p:sp>
      <p:sp>
        <p:nvSpPr>
          <p:cNvPr id="28" name="正方形/長方形 27">
            <a:extLst>
              <a:ext uri="{FF2B5EF4-FFF2-40B4-BE49-F238E27FC236}">
                <a16:creationId xmlns:a16="http://schemas.microsoft.com/office/drawing/2014/main" id="{539E479A-71E8-48A8-8F77-F7F8CAB49B78}"/>
              </a:ext>
            </a:extLst>
          </p:cNvPr>
          <p:cNvSpPr>
            <a:spLocks noGrp="1"/>
          </p:cNvSpPr>
          <p:nvPr/>
        </p:nvSpPr>
        <p:spPr>
          <a:xfrm>
            <a:off x="8115300" y="5295900"/>
            <a:ext cx="1066800" cy="209550"/>
          </a:xfrm>
          <a:prstGeom prst="rect">
            <a:avLst/>
          </a:prstGeom>
          <a:noFill/>
          <a:ln w="0">
            <a:noFill/>
            <a:prstDash val="solid"/>
          </a:ln>
        </p:spPr>
        <p:txBody>
          <a:bodyPr wrap="square" lIns="28575" tIns="19050" rIns="28575" bIns="19050" anchor="ctr">
            <a:normAutofit/>
          </a:bodyPr>
          <a:lstStyle/>
          <a:p>
            <a:pPr algn="l">
              <a:lnSpc>
                <a:spcPct val="100000"/>
              </a:lnSpc>
              <a:buNone/>
              <a:defRPr sz="900" b="1" i="0">
                <a:solidFill>
                  <a:srgbClr val="7B2DAF"/>
                </a:solidFill>
                <a:latin typeface="Yu Gothic"/>
                <a:ea typeface="Yu Gothic"/>
                <a:cs typeface="Yu Gothic"/>
              </a:defRPr>
            </a:pPr>
            <a:r>
              <a:rPr sz="900" b="1" i="0">
                <a:solidFill>
                  <a:srgbClr val="7B2DAF"/>
                </a:solidFill>
                <a:latin typeface="Yu Gothic"/>
                <a:ea typeface="Yu Gothic"/>
                <a:cs typeface="Yu Gothic"/>
              </a:rPr>
              <a:t>current status</a:t>
            </a:r>
          </a:p>
        </p:txBody>
      </p:sp>
      <p:sp>
        <p:nvSpPr>
          <p:cNvPr id="29" name="正方形/長方形 28">
            <a:extLst>
              <a:ext uri="{FF2B5EF4-FFF2-40B4-BE49-F238E27FC236}">
                <a16:creationId xmlns:a16="http://schemas.microsoft.com/office/drawing/2014/main" id="{0D433CAF-465C-4F6C-8161-4253B0698E18}"/>
              </a:ext>
            </a:extLst>
          </p:cNvPr>
          <p:cNvSpPr>
            <a:spLocks noGrp="1"/>
          </p:cNvSpPr>
          <p:nvPr/>
        </p:nvSpPr>
        <p:spPr>
          <a:xfrm>
            <a:off x="9239250" y="5257800"/>
            <a:ext cx="2000250" cy="276225"/>
          </a:xfrm>
          <a:prstGeom prst="rect">
            <a:avLst/>
          </a:prstGeom>
          <a:noFill/>
          <a:ln w="0">
            <a:noFill/>
            <a:prstDash val="solid"/>
          </a:ln>
        </p:spPr>
        <p:txBody>
          <a:bodyPr wrap="square" lIns="28575" tIns="19050" rIns="28575" bIns="19050" anchor="ctr">
            <a:normAutofit/>
          </a:bodyPr>
          <a:lstStyle/>
          <a:p>
            <a:pPr algn="r">
              <a:lnSpc>
                <a:spcPct val="100000"/>
              </a:lnSpc>
              <a:buNone/>
              <a:defRPr sz="1500" b="1" i="0">
                <a:solidFill>
                  <a:srgbClr val="3F3F3F"/>
                </a:solidFill>
                <a:latin typeface="Yu Gothic"/>
                <a:ea typeface="Yu Gothic"/>
                <a:cs typeface="Yu Gothic"/>
              </a:defRPr>
            </a:pPr>
            <a:r>
              <a:rPr sz="1500" b="1" i="0">
                <a:solidFill>
                  <a:srgbClr val="3F3F3F"/>
                </a:solidFill>
                <a:latin typeface="Yu Gothic"/>
                <a:ea typeface="Yu Gothic"/>
                <a:cs typeface="Yu Gothic"/>
              </a:rPr>
              <a:t>not qualified</a:t>
            </a:r>
          </a:p>
        </p:txBody>
      </p:sp>
      <p:sp>
        <p:nvSpPr>
          <p:cNvPr id="30" name="正方形/長方形 29">
            <a:extLst>
              <a:ext uri="{FF2B5EF4-FFF2-40B4-BE49-F238E27FC236}">
                <a16:creationId xmlns:a16="http://schemas.microsoft.com/office/drawing/2014/main" id="{E556CAAB-DD6E-4A92-8AF1-9777679F7850}"/>
              </a:ext>
            </a:extLst>
          </p:cNvPr>
          <p:cNvSpPr>
            <a:spLocks noGrp="1"/>
          </p:cNvSpPr>
          <p:nvPr/>
        </p:nvSpPr>
        <p:spPr>
          <a:xfrm>
            <a:off x="8115300" y="5638800"/>
            <a:ext cx="3124200" cy="304800"/>
          </a:xfrm>
          <a:prstGeom prst="rect">
            <a:avLst/>
          </a:prstGeom>
          <a:noFill/>
          <a:ln w="0">
            <a:noFill/>
            <a:prstDash val="solid"/>
          </a:ln>
        </p:spPr>
        <p:txBody>
          <a:bodyPr wrap="square" lIns="28575" tIns="19050" rIns="28575" bIns="19050" anchor="ctr">
            <a:normAutofit/>
          </a:bodyPr>
          <a:lstStyle/>
          <a:p>
            <a:pPr algn="l">
              <a:lnSpc>
                <a:spcPct val="100000"/>
              </a:lnSpc>
              <a:buNone/>
              <a:defRPr sz="863" b="0" i="0">
                <a:solidFill>
                  <a:srgbClr val="5B5B5B"/>
                </a:solidFill>
                <a:latin typeface="Yu Gothic"/>
                <a:ea typeface="Yu Gothic"/>
                <a:cs typeface="Yu Gothic"/>
              </a:defRPr>
            </a:pPr>
            <a:r>
              <a:rPr sz="863" b="0" i="0">
                <a:solidFill>
                  <a:srgbClr val="5B5B5B"/>
                </a:solidFill>
                <a:latin typeface="Yu Gothic"/>
                <a:ea typeface="Yu Gothic"/>
                <a:cs typeface="Yu Gothic"/>
              </a:rPr>
              <a:t>temporal convergence・実験比較も未完</a:t>
            </a:r>
          </a:p>
        </p:txBody>
      </p:sp>
    </p:spTree>
    <p:extLst>
      <p:ext uri="{BB962C8B-B14F-4D97-AF65-F5344CB8AC3E}">
        <p14:creationId xmlns:p14="http://schemas.microsoft.com/office/powerpoint/2010/main" val="1666714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 name="正方形/長方形 32">
            <a:extLst>
              <a:ext uri="{FF2B5EF4-FFF2-40B4-BE49-F238E27FC236}">
                <a16:creationId xmlns:a16="http://schemas.microsoft.com/office/drawing/2014/main" id="{7A2C604A-82BA-4CB3-BB77-DD0A89C81375}"/>
              </a:ext>
            </a:extLst>
          </p:cNvPr>
          <p:cNvSpPr>
            <a:spLocks noGrp="1"/>
          </p:cNvSpPr>
          <p:nvPr/>
        </p:nvSpPr>
        <p:spPr>
          <a:xfrm>
            <a:off x="552450" y="190500"/>
            <a:ext cx="76200" cy="142875"/>
          </a:xfrm>
          <a:prstGeom prst="rect">
            <a:avLst/>
          </a:prstGeom>
          <a:solidFill>
            <a:srgbClr val="76BE18"/>
          </a:solidFill>
          <a:ln w="0">
            <a:noFill/>
            <a:prstDash val="solid"/>
          </a:ln>
        </p:spPr>
      </p:sp>
      <p:sp>
        <p:nvSpPr>
          <p:cNvPr id="2" name="正方形/長方形 1">
            <a:extLst>
              <a:ext uri="{FF2B5EF4-FFF2-40B4-BE49-F238E27FC236}">
                <a16:creationId xmlns:a16="http://schemas.microsoft.com/office/drawing/2014/main" id="{ABD2BFE1-7E46-428F-8FF1-16867CA2BFA5}"/>
              </a:ext>
            </a:extLst>
          </p:cNvPr>
          <p:cNvSpPr>
            <a:spLocks noGrp="1"/>
          </p:cNvSpPr>
          <p:nvPr/>
        </p:nvSpPr>
        <p:spPr>
          <a:xfrm>
            <a:off x="704850" y="161925"/>
            <a:ext cx="3429000" cy="190500"/>
          </a:xfrm>
          <a:prstGeom prst="rect">
            <a:avLst/>
          </a:prstGeom>
          <a:noFill/>
          <a:ln w="0">
            <a:noFill/>
            <a:prstDash val="solid"/>
          </a:ln>
        </p:spPr>
        <p:txBody>
          <a:bodyPr wrap="none" lIns="28575" tIns="19050" rIns="28575" bIns="19050" anchor="ctr">
            <a:noAutofit/>
          </a:bodyPr>
          <a:lstStyle/>
          <a:p>
            <a:pPr algn="l">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HIGH-FIDELITY SCREENING</a:t>
            </a:r>
          </a:p>
        </p:txBody>
      </p:sp>
      <p:sp>
        <p:nvSpPr>
          <p:cNvPr id="3" name="正方形/長方形 2">
            <a:extLst>
              <a:ext uri="{FF2B5EF4-FFF2-40B4-BE49-F238E27FC236}">
                <a16:creationId xmlns:a16="http://schemas.microsoft.com/office/drawing/2014/main" id="{5D310733-E9E9-488B-A873-E720936A286E}"/>
              </a:ext>
            </a:extLst>
          </p:cNvPr>
          <p:cNvSpPr>
            <a:spLocks noGrp="1"/>
          </p:cNvSpPr>
          <p:nvPr/>
        </p:nvSpPr>
        <p:spPr>
          <a:xfrm>
            <a:off x="552450" y="400050"/>
            <a:ext cx="11001375" cy="400050"/>
          </a:xfrm>
          <a:prstGeom prst="rect">
            <a:avLst/>
          </a:prstGeom>
          <a:noFill/>
          <a:ln w="0">
            <a:noFill/>
            <a:prstDash val="solid"/>
          </a:ln>
        </p:spPr>
        <p:txBody>
          <a:bodyPr wrap="none" lIns="19050" tIns="0" rIns="19050" bIns="0" anchor="ctr">
            <a:normAutofit/>
          </a:bodyPr>
          <a:lstStyle/>
          <a:p>
            <a:pPr algn="l">
              <a:lnSpc>
                <a:spcPct val="100000"/>
              </a:lnSpc>
              <a:buNone/>
              <a:defRPr sz="2175" b="1" i="0">
                <a:solidFill>
                  <a:srgbClr val="00A5D8"/>
                </a:solidFill>
                <a:latin typeface="Yu Gothic"/>
                <a:ea typeface="Yu Gothic"/>
                <a:cs typeface="Yu Gothic"/>
              </a:defRPr>
            </a:pPr>
            <a:r>
              <a:rPr sz="2175" b="1" i="0">
                <a:solidFill>
                  <a:srgbClr val="00A5D8"/>
                </a:solidFill>
                <a:latin typeface="Yu Gothic"/>
                <a:ea typeface="Yu Gothic"/>
                <a:cs typeface="Yu Gothic"/>
              </a:rPr>
              <a:t>平均RMSEは改善したが、放射感度の大きさは再現できていない</a:t>
            </a:r>
          </a:p>
        </p:txBody>
      </p:sp>
      <p:sp>
        <p:nvSpPr>
          <p:cNvPr id="4" name="正方形/長方形 3">
            <a:extLst>
              <a:ext uri="{FF2B5EF4-FFF2-40B4-BE49-F238E27FC236}">
                <a16:creationId xmlns:a16="http://schemas.microsoft.com/office/drawing/2014/main" id="{35F8EA32-4D1A-402A-89E9-4DFC53FD5283}"/>
              </a:ext>
            </a:extLst>
          </p:cNvPr>
          <p:cNvSpPr>
            <a:spLocks noGrp="1"/>
          </p:cNvSpPr>
          <p:nvPr/>
        </p:nvSpPr>
        <p:spPr>
          <a:xfrm>
            <a:off x="571500" y="838200"/>
            <a:ext cx="10906125" cy="228600"/>
          </a:xfrm>
          <a:prstGeom prst="rect">
            <a:avLst/>
          </a:prstGeom>
          <a:noFill/>
          <a:ln w="0">
            <a:noFill/>
            <a:prstDash val="solid"/>
          </a:ln>
        </p:spPr>
        <p:txBody>
          <a:bodyPr wrap="none" lIns="28575" tIns="19050" rIns="28575" bIns="19050" anchor="ctr">
            <a:noAutofit/>
          </a:bodyPr>
          <a:lstStyle/>
          <a:p>
            <a:pPr algn="l">
              <a:lnSpc>
                <a:spcPct val="100000"/>
              </a:lnSpc>
              <a:buNone/>
              <a:defRPr sz="975" b="0" i="0">
                <a:solidFill>
                  <a:srgbClr val="5B5B5B"/>
                </a:solidFill>
                <a:latin typeface="Yu Gothic"/>
                <a:ea typeface="Yu Gothic"/>
                <a:cs typeface="Yu Gothic"/>
              </a:defRPr>
            </a:pPr>
            <a:r>
              <a:rPr sz="975" b="0" i="0">
                <a:solidFill>
                  <a:srgbClr val="5B5B5B"/>
                </a:solidFill>
                <a:latin typeface="Yu Gothic"/>
                <a:ea typeface="Yu Gothic"/>
                <a:cs typeface="Yu Gothic"/>
              </a:rPr>
              <a:t>良い総合誤差と正しい物理感度は別の検証項目である</a:t>
            </a:r>
          </a:p>
        </p:txBody>
      </p:sp>
      <p:sp>
        <p:nvSpPr>
          <p:cNvPr id="5" name="直線コネクタ 4">
            <a:extLst>
              <a:ext uri="{FF2B5EF4-FFF2-40B4-BE49-F238E27FC236}">
                <a16:creationId xmlns:a16="http://schemas.microsoft.com/office/drawing/2014/main" id="{7DEB50C1-3CB0-4138-8B90-7E1841003EF3}"/>
              </a:ext>
            </a:extLst>
          </p:cNvPr>
          <p:cNvSpPr>
            <a:spLocks noGrp="1"/>
          </p:cNvSpPr>
          <p:nvPr/>
        </p:nvSpPr>
        <p:spPr>
          <a:xfrm>
            <a:off x="552450" y="1152525"/>
            <a:ext cx="11087100" cy="0"/>
          </a:xfrm>
          <a:prstGeom prst="line">
            <a:avLst/>
          </a:prstGeom>
          <a:noFill/>
          <a:ln w="9525">
            <a:solidFill>
              <a:srgbClr val="D6D6D6"/>
            </a:solidFill>
            <a:prstDash val="solid"/>
          </a:ln>
        </p:spPr>
      </p:sp>
      <p:sp>
        <p:nvSpPr>
          <p:cNvPr id="6" name="直線コネクタ 5">
            <a:extLst>
              <a:ext uri="{FF2B5EF4-FFF2-40B4-BE49-F238E27FC236}">
                <a16:creationId xmlns:a16="http://schemas.microsoft.com/office/drawing/2014/main" id="{ABF1D7D9-E09E-48C5-9A8B-97413079437B}"/>
              </a:ext>
            </a:extLst>
          </p:cNvPr>
          <p:cNvSpPr>
            <a:spLocks noGrp="1"/>
          </p:cNvSpPr>
          <p:nvPr/>
        </p:nvSpPr>
        <p:spPr>
          <a:xfrm>
            <a:off x="552450" y="6438900"/>
            <a:ext cx="11087100" cy="0"/>
          </a:xfrm>
          <a:prstGeom prst="line">
            <a:avLst/>
          </a:prstGeom>
          <a:noFill/>
          <a:ln w="9525">
            <a:solidFill>
              <a:srgbClr val="D6D6D6"/>
            </a:solidFill>
            <a:prstDash val="solid"/>
          </a:ln>
        </p:spPr>
      </p:sp>
      <p:sp>
        <p:nvSpPr>
          <p:cNvPr id="7" name="正方形/長方形 6">
            <a:extLst>
              <a:ext uri="{FF2B5EF4-FFF2-40B4-BE49-F238E27FC236}">
                <a16:creationId xmlns:a16="http://schemas.microsoft.com/office/drawing/2014/main" id="{66B8C685-55E2-4B2F-93FB-05D44DAA0074}"/>
              </a:ext>
            </a:extLst>
          </p:cNvPr>
          <p:cNvSpPr>
            <a:spLocks noGrp="1"/>
          </p:cNvSpPr>
          <p:nvPr/>
        </p:nvSpPr>
        <p:spPr>
          <a:xfrm>
            <a:off x="571500" y="6505575"/>
            <a:ext cx="5334000" cy="171450"/>
          </a:xfrm>
          <a:prstGeom prst="rect">
            <a:avLst/>
          </a:prstGeom>
          <a:noFill/>
          <a:ln w="0">
            <a:noFill/>
            <a:prstDash val="solid"/>
          </a:ln>
        </p:spPr>
        <p:txBody>
          <a:bodyPr wrap="none" lIns="28575" tIns="19050" rIns="28575" bIns="19050" anchor="ctr">
            <a:noAutofit/>
          </a:bodyPr>
          <a:lstStyle/>
          <a:p>
            <a:pPr algn="l">
              <a:lnSpc>
                <a:spcPct val="100000"/>
              </a:lnSpc>
              <a:buNone/>
              <a:defRPr sz="713" b="0" i="0">
                <a:solidFill>
                  <a:srgbClr val="777777"/>
                </a:solidFill>
                <a:latin typeface="Yu Gothic"/>
                <a:ea typeface="Yu Gothic"/>
                <a:cs typeface="Yu Gothic"/>
              </a:defRPr>
            </a:pPr>
            <a:r>
              <a:rPr sz="713" b="0" i="0">
                <a:solidFill>
                  <a:srgbClr val="777777"/>
                </a:solidFill>
                <a:latin typeface="Yu Gothic"/>
                <a:ea typeface="Yu Gothic"/>
                <a:cs typeface="Yu Gothic"/>
              </a:rPr>
              <a:t>THERMAL RC / EQUIPMENT ENGINEERING REVIEW  ·  2026-09-17</a:t>
            </a:r>
          </a:p>
        </p:txBody>
      </p:sp>
      <p:sp>
        <p:nvSpPr>
          <p:cNvPr id="8" name="正方形/長方形 7">
            <a:extLst>
              <a:ext uri="{FF2B5EF4-FFF2-40B4-BE49-F238E27FC236}">
                <a16:creationId xmlns:a16="http://schemas.microsoft.com/office/drawing/2014/main" id="{D3B6719F-CACF-43CC-A9ED-F1FA4FDB4445}"/>
              </a:ext>
            </a:extLst>
          </p:cNvPr>
          <p:cNvSpPr>
            <a:spLocks noGrp="1"/>
          </p:cNvSpPr>
          <p:nvPr/>
        </p:nvSpPr>
        <p:spPr>
          <a:xfrm>
            <a:off x="11125200" y="6496050"/>
            <a:ext cx="476250" cy="171450"/>
          </a:xfrm>
          <a:prstGeom prst="rect">
            <a:avLst/>
          </a:prstGeom>
          <a:noFill/>
          <a:ln w="0">
            <a:noFill/>
            <a:prstDash val="solid"/>
          </a:ln>
        </p:spPr>
        <p:txBody>
          <a:bodyPr wrap="square" lIns="28575" tIns="19050" rIns="28575" bIns="19050" anchor="ctr">
            <a:noAutofit/>
          </a:bodyPr>
          <a:lstStyle/>
          <a:p>
            <a:pPr algn="r">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26</a:t>
            </a:r>
          </a:p>
        </p:txBody>
      </p:sp>
      <p:sp>
        <p:nvSpPr>
          <p:cNvPr id="9" name="正方形/長方形 8">
            <a:extLst>
              <a:ext uri="{FF2B5EF4-FFF2-40B4-BE49-F238E27FC236}">
                <a16:creationId xmlns:a16="http://schemas.microsoft.com/office/drawing/2014/main" id="{A7B0434D-CB3F-42F2-81EA-2B05196925FF}"/>
              </a:ext>
            </a:extLst>
          </p:cNvPr>
          <p:cNvSpPr>
            <a:spLocks noGrp="1"/>
          </p:cNvSpPr>
          <p:nvPr/>
        </p:nvSpPr>
        <p:spPr>
          <a:xfrm>
            <a:off x="552450" y="1381125"/>
            <a:ext cx="5143500" cy="247650"/>
          </a:xfrm>
          <a:prstGeom prst="rect">
            <a:avLst/>
          </a:prstGeom>
          <a:noFill/>
          <a:ln w="0">
            <a:noFill/>
            <a:prstDash val="solid"/>
          </a:ln>
        </p:spPr>
        <p:txBody>
          <a:bodyPr wrap="square" lIns="28575" tIns="19050" rIns="28575" bIns="19050" anchor="ctr">
            <a:normAutofit/>
          </a:bodyPr>
          <a:lstStyle/>
          <a:p>
            <a:pPr algn="l">
              <a:lnSpc>
                <a:spcPct val="100000"/>
              </a:lnSpc>
              <a:buNone/>
              <a:defRPr sz="1200" b="1" i="0">
                <a:solidFill>
                  <a:srgbClr val="3F3F3F"/>
                </a:solidFill>
                <a:latin typeface="Yu Gothic"/>
                <a:ea typeface="Yu Gothic"/>
                <a:cs typeface="Yu Gothic"/>
              </a:defRPr>
            </a:pPr>
            <a:r>
              <a:rPr sz="1200" b="1" i="0">
                <a:solidFill>
                  <a:srgbClr val="3F3F3F"/>
                </a:solidFill>
                <a:latin typeface="Yu Gothic"/>
                <a:ea typeface="Yu Gothic"/>
                <a:cs typeface="Yu Gothic"/>
              </a:rPr>
              <a:t>external RMSE</a:t>
            </a:r>
          </a:p>
        </p:txBody>
      </p:sp>
      <p:graphicFrame>
        <p:nvGraphicFramePr>
          <p:cNvPr id="42" name="Chart"/>
          <p:cNvGraphicFramePr/>
          <p:nvPr/>
        </p:nvGraphicFramePr>
        <p:xfrm>
          <a:off x="552450" y="1657350"/>
          <a:ext cx="5143500" cy="3133725"/>
        </p:xfrm>
        <a:graphic>
          <a:graphicData uri="http://schemas.openxmlformats.org/drawingml/2006/chart">
            <c:chart xmlns:c="http://schemas.openxmlformats.org/drawingml/2006/chart" xmlns:r="http://schemas.openxmlformats.org/officeDocument/2006/relationships" r:id="rId3"/>
          </a:graphicData>
        </a:graphic>
      </p:graphicFrame>
      <p:sp>
        <p:nvSpPr>
          <p:cNvPr id="11" name="正方形/長方形 10">
            <a:extLst>
              <a:ext uri="{FF2B5EF4-FFF2-40B4-BE49-F238E27FC236}">
                <a16:creationId xmlns:a16="http://schemas.microsoft.com/office/drawing/2014/main" id="{358EF17C-01D3-47D5-AFDD-090D0DD346F2}"/>
              </a:ext>
            </a:extLst>
          </p:cNvPr>
          <p:cNvSpPr>
            <a:spLocks noGrp="1"/>
          </p:cNvSpPr>
          <p:nvPr/>
        </p:nvSpPr>
        <p:spPr>
          <a:xfrm>
            <a:off x="6076950" y="1381125"/>
            <a:ext cx="5562600" cy="247650"/>
          </a:xfrm>
          <a:prstGeom prst="rect">
            <a:avLst/>
          </a:prstGeom>
          <a:noFill/>
          <a:ln w="0">
            <a:noFill/>
            <a:prstDash val="solid"/>
          </a:ln>
        </p:spPr>
        <p:txBody>
          <a:bodyPr wrap="square" lIns="28575" tIns="19050" rIns="28575" bIns="19050" anchor="ctr">
            <a:normAutofit/>
          </a:bodyPr>
          <a:lstStyle/>
          <a:p>
            <a:pPr algn="l">
              <a:lnSpc>
                <a:spcPct val="100000"/>
              </a:lnSpc>
              <a:buNone/>
              <a:defRPr sz="1200" b="1" i="0">
                <a:solidFill>
                  <a:srgbClr val="3F3F3F"/>
                </a:solidFill>
                <a:latin typeface="Yu Gothic"/>
                <a:ea typeface="Yu Gothic"/>
                <a:cs typeface="Yu Gothic"/>
              </a:defRPr>
            </a:pPr>
            <a:r>
              <a:rPr sz="1200" b="1" i="0">
                <a:solidFill>
                  <a:srgbClr val="3F3F3F"/>
                </a:solidFill>
                <a:latin typeface="Yu Gothic"/>
                <a:ea typeface="Yu Gothic"/>
                <a:cs typeface="Yu Gothic"/>
              </a:rPr>
              <a:t>radiation pair: chip temperature delta</a:t>
            </a:r>
          </a:p>
        </p:txBody>
      </p:sp>
      <p:graphicFrame>
        <p:nvGraphicFramePr>
          <p:cNvPr id="44" name="Chart"/>
          <p:cNvGraphicFramePr/>
          <p:nvPr/>
        </p:nvGraphicFramePr>
        <p:xfrm>
          <a:off x="6076950" y="1657350"/>
          <a:ext cx="5562600" cy="3133725"/>
        </p:xfrm>
        <a:graphic>
          <a:graphicData uri="http://schemas.openxmlformats.org/drawingml/2006/chart">
            <c:chart xmlns:c="http://schemas.openxmlformats.org/drawingml/2006/chart" xmlns:r="http://schemas.openxmlformats.org/officeDocument/2006/relationships" r:id="rId4"/>
          </a:graphicData>
        </a:graphic>
      </p:graphicFrame>
      <p:sp>
        <p:nvSpPr>
          <p:cNvPr id="13" name="正方形/長方形 12">
            <a:extLst>
              <a:ext uri="{FF2B5EF4-FFF2-40B4-BE49-F238E27FC236}">
                <a16:creationId xmlns:a16="http://schemas.microsoft.com/office/drawing/2014/main" id="{BE8870B8-3AC2-4C47-9AFA-A31EA2B71793}"/>
              </a:ext>
            </a:extLst>
          </p:cNvPr>
          <p:cNvSpPr>
            <a:spLocks noGrp="1"/>
          </p:cNvSpPr>
          <p:nvPr/>
        </p:nvSpPr>
        <p:spPr>
          <a:xfrm>
            <a:off x="552450" y="5038725"/>
            <a:ext cx="2571750" cy="1095375"/>
          </a:xfrm>
          <a:prstGeom prst="rect">
            <a:avLst/>
          </a:prstGeom>
          <a:solidFill>
            <a:srgbClr val="FFFFFF"/>
          </a:solidFill>
          <a:ln w="9525">
            <a:solidFill>
              <a:srgbClr val="D6D6D6"/>
            </a:solidFill>
            <a:prstDash val="solid"/>
          </a:ln>
        </p:spPr>
      </p:sp>
      <p:sp>
        <p:nvSpPr>
          <p:cNvPr id="14" name="正方形/長方形 13">
            <a:extLst>
              <a:ext uri="{FF2B5EF4-FFF2-40B4-BE49-F238E27FC236}">
                <a16:creationId xmlns:a16="http://schemas.microsoft.com/office/drawing/2014/main" id="{750B5CF1-C859-4176-B3BE-0592DF3BB576}"/>
              </a:ext>
            </a:extLst>
          </p:cNvPr>
          <p:cNvSpPr>
            <a:spLocks noGrp="1"/>
          </p:cNvSpPr>
          <p:nvPr/>
        </p:nvSpPr>
        <p:spPr>
          <a:xfrm>
            <a:off x="552450" y="5038725"/>
            <a:ext cx="66675" cy="1095375"/>
          </a:xfrm>
          <a:prstGeom prst="rect">
            <a:avLst/>
          </a:prstGeom>
          <a:solidFill>
            <a:srgbClr val="00A5D8"/>
          </a:solidFill>
          <a:ln w="0">
            <a:noFill/>
            <a:prstDash val="solid"/>
          </a:ln>
        </p:spPr>
      </p:sp>
      <p:sp>
        <p:nvSpPr>
          <p:cNvPr id="15" name="正方形/長方形 14">
            <a:extLst>
              <a:ext uri="{FF2B5EF4-FFF2-40B4-BE49-F238E27FC236}">
                <a16:creationId xmlns:a16="http://schemas.microsoft.com/office/drawing/2014/main" id="{D8CF13F5-3D53-4565-8A94-1594C4B6CB64}"/>
              </a:ext>
            </a:extLst>
          </p:cNvPr>
          <p:cNvSpPr>
            <a:spLocks noGrp="1"/>
          </p:cNvSpPr>
          <p:nvPr/>
        </p:nvSpPr>
        <p:spPr>
          <a:xfrm>
            <a:off x="742950" y="5133975"/>
            <a:ext cx="2286000" cy="371475"/>
          </a:xfrm>
          <a:prstGeom prst="rect">
            <a:avLst/>
          </a:prstGeom>
          <a:noFill/>
          <a:ln w="0">
            <a:noFill/>
            <a:prstDash val="solid"/>
          </a:ln>
        </p:spPr>
        <p:txBody>
          <a:bodyPr wrap="square" lIns="28575" tIns="19050" rIns="28575" bIns="19050" anchor="ctr">
            <a:normAutofit/>
          </a:bodyPr>
          <a:lstStyle/>
          <a:p>
            <a:pPr algn="l">
              <a:lnSpc>
                <a:spcPct val="100000"/>
              </a:lnSpc>
              <a:buNone/>
              <a:defRPr sz="2025" b="1" i="0">
                <a:solidFill>
                  <a:srgbClr val="3F3F3F"/>
                </a:solidFill>
                <a:latin typeface="Yu Gothic"/>
                <a:ea typeface="Yu Gothic"/>
                <a:cs typeface="Yu Gothic"/>
              </a:defRPr>
            </a:pPr>
            <a:r>
              <a:rPr sz="2025" b="1" i="0">
                <a:solidFill>
                  <a:srgbClr val="3F3F3F"/>
                </a:solidFill>
                <a:latin typeface="Yu Gothic"/>
                <a:ea typeface="Yu Gothic"/>
                <a:cs typeface="Yu Gothic"/>
              </a:rPr>
              <a:t>0.0956 K</a:t>
            </a:r>
          </a:p>
        </p:txBody>
      </p:sp>
      <p:sp>
        <p:nvSpPr>
          <p:cNvPr id="16" name="正方形/長方形 15">
            <a:extLst>
              <a:ext uri="{FF2B5EF4-FFF2-40B4-BE49-F238E27FC236}">
                <a16:creationId xmlns:a16="http://schemas.microsoft.com/office/drawing/2014/main" id="{CEE900C6-2D1E-4FE2-9DB5-3E2CF3EAD5CE}"/>
              </a:ext>
            </a:extLst>
          </p:cNvPr>
          <p:cNvSpPr>
            <a:spLocks noGrp="1"/>
          </p:cNvSpPr>
          <p:nvPr/>
        </p:nvSpPr>
        <p:spPr>
          <a:xfrm>
            <a:off x="742950" y="5514975"/>
            <a:ext cx="2286000" cy="266700"/>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5B5B5B"/>
                </a:solidFill>
                <a:latin typeface="Yu Gothic"/>
                <a:ea typeface="Yu Gothic"/>
                <a:cs typeface="Yu Gothic"/>
              </a:defRPr>
            </a:pPr>
            <a:r>
              <a:rPr sz="975" b="1" i="0">
                <a:solidFill>
                  <a:srgbClr val="5B5B5B"/>
                </a:solidFill>
                <a:latin typeface="Yu Gothic"/>
                <a:ea typeface="Yu Gothic"/>
                <a:cs typeface="Yu Gothic"/>
              </a:rPr>
              <a:t>learned mean RMSE</a:t>
            </a:r>
          </a:p>
        </p:txBody>
      </p:sp>
      <p:sp>
        <p:nvSpPr>
          <p:cNvPr id="17" name="正方形/長方形 16">
            <a:extLst>
              <a:ext uri="{FF2B5EF4-FFF2-40B4-BE49-F238E27FC236}">
                <a16:creationId xmlns:a16="http://schemas.microsoft.com/office/drawing/2014/main" id="{03F32995-BE88-41D4-BE94-5FD4AC7B72A3}"/>
              </a:ext>
            </a:extLst>
          </p:cNvPr>
          <p:cNvSpPr>
            <a:spLocks noGrp="1"/>
          </p:cNvSpPr>
          <p:nvPr/>
        </p:nvSpPr>
        <p:spPr>
          <a:xfrm>
            <a:off x="742950" y="5800725"/>
            <a:ext cx="2286000" cy="276225"/>
          </a:xfrm>
          <a:prstGeom prst="rect">
            <a:avLst/>
          </a:prstGeom>
          <a:noFill/>
          <a:ln w="0">
            <a:noFill/>
            <a:prstDash val="solid"/>
          </a:ln>
        </p:spPr>
        <p:txBody>
          <a:bodyPr wrap="square" lIns="28575" tIns="19050" rIns="28575" bIns="19050" anchor="t">
            <a:normAutofit/>
          </a:bodyPr>
          <a:lstStyle/>
          <a:p>
            <a:pPr algn="l">
              <a:lnSpc>
                <a:spcPct val="106000"/>
              </a:lnSpc>
              <a:buNone/>
              <a:defRPr sz="788" b="0" i="0">
                <a:solidFill>
                  <a:srgbClr val="777777"/>
                </a:solidFill>
                <a:latin typeface="Yu Gothic"/>
                <a:ea typeface="Yu Gothic"/>
                <a:cs typeface="Yu Gothic"/>
              </a:defRPr>
            </a:pPr>
            <a:r>
              <a:rPr sz="788" b="0" i="0">
                <a:solidFill>
                  <a:srgbClr val="777777"/>
                </a:solidFill>
                <a:latin typeface="Yu Gothic"/>
                <a:ea typeface="Yu Gothic"/>
                <a:cs typeface="Yu Gothic"/>
              </a:rPr>
              <a:t>prior mean 0.8889 K</a:t>
            </a:r>
          </a:p>
        </p:txBody>
      </p:sp>
      <p:sp>
        <p:nvSpPr>
          <p:cNvPr id="18" name="正方形/長方形 17">
            <a:extLst>
              <a:ext uri="{FF2B5EF4-FFF2-40B4-BE49-F238E27FC236}">
                <a16:creationId xmlns:a16="http://schemas.microsoft.com/office/drawing/2014/main" id="{F61C03CC-8E4D-4916-A0E5-1E6272EDBAB7}"/>
              </a:ext>
            </a:extLst>
          </p:cNvPr>
          <p:cNvSpPr>
            <a:spLocks noGrp="1"/>
          </p:cNvSpPr>
          <p:nvPr/>
        </p:nvSpPr>
        <p:spPr>
          <a:xfrm>
            <a:off x="3324225" y="5038725"/>
            <a:ext cx="2571750" cy="1095375"/>
          </a:xfrm>
          <a:prstGeom prst="rect">
            <a:avLst/>
          </a:prstGeom>
          <a:solidFill>
            <a:srgbClr val="FFFFFF"/>
          </a:solidFill>
          <a:ln w="9525">
            <a:solidFill>
              <a:srgbClr val="D6D6D6"/>
            </a:solidFill>
            <a:prstDash val="solid"/>
          </a:ln>
        </p:spPr>
      </p:sp>
      <p:sp>
        <p:nvSpPr>
          <p:cNvPr id="19" name="正方形/長方形 18">
            <a:extLst>
              <a:ext uri="{FF2B5EF4-FFF2-40B4-BE49-F238E27FC236}">
                <a16:creationId xmlns:a16="http://schemas.microsoft.com/office/drawing/2014/main" id="{9E9BF960-259B-44EE-9936-2685BC2AE6BD}"/>
              </a:ext>
            </a:extLst>
          </p:cNvPr>
          <p:cNvSpPr>
            <a:spLocks noGrp="1"/>
          </p:cNvSpPr>
          <p:nvPr/>
        </p:nvSpPr>
        <p:spPr>
          <a:xfrm>
            <a:off x="3324225" y="5038725"/>
            <a:ext cx="66675" cy="1095375"/>
          </a:xfrm>
          <a:prstGeom prst="rect">
            <a:avLst/>
          </a:prstGeom>
          <a:solidFill>
            <a:srgbClr val="76BE18"/>
          </a:solidFill>
          <a:ln w="0">
            <a:noFill/>
            <a:prstDash val="solid"/>
          </a:ln>
        </p:spPr>
      </p:sp>
      <p:sp>
        <p:nvSpPr>
          <p:cNvPr id="20" name="正方形/長方形 19">
            <a:extLst>
              <a:ext uri="{FF2B5EF4-FFF2-40B4-BE49-F238E27FC236}">
                <a16:creationId xmlns:a16="http://schemas.microsoft.com/office/drawing/2014/main" id="{0C8EE229-C110-4020-87F5-15BDEEED02E5}"/>
              </a:ext>
            </a:extLst>
          </p:cNvPr>
          <p:cNvSpPr>
            <a:spLocks noGrp="1"/>
          </p:cNvSpPr>
          <p:nvPr/>
        </p:nvSpPr>
        <p:spPr>
          <a:xfrm>
            <a:off x="3514725" y="5133975"/>
            <a:ext cx="2286000" cy="371475"/>
          </a:xfrm>
          <a:prstGeom prst="rect">
            <a:avLst/>
          </a:prstGeom>
          <a:noFill/>
          <a:ln w="0">
            <a:noFill/>
            <a:prstDash val="solid"/>
          </a:ln>
        </p:spPr>
        <p:txBody>
          <a:bodyPr wrap="square" lIns="28575" tIns="19050" rIns="28575" bIns="19050" anchor="ctr">
            <a:normAutofit/>
          </a:bodyPr>
          <a:lstStyle/>
          <a:p>
            <a:pPr algn="l">
              <a:lnSpc>
                <a:spcPct val="100000"/>
              </a:lnSpc>
              <a:buNone/>
              <a:defRPr sz="2025" b="1" i="0">
                <a:solidFill>
                  <a:srgbClr val="3F3F3F"/>
                </a:solidFill>
                <a:latin typeface="Yu Gothic"/>
                <a:ea typeface="Yu Gothic"/>
                <a:cs typeface="Yu Gothic"/>
              </a:defRPr>
            </a:pPr>
            <a:r>
              <a:rPr sz="2025" b="1" i="0">
                <a:solidFill>
                  <a:srgbClr val="3F3F3F"/>
                </a:solidFill>
                <a:latin typeface="Yu Gothic"/>
                <a:ea typeface="Yu Gothic"/>
                <a:cs typeface="Yu Gothic"/>
              </a:rPr>
              <a:t>33 / 33</a:t>
            </a:r>
          </a:p>
        </p:txBody>
      </p:sp>
      <p:sp>
        <p:nvSpPr>
          <p:cNvPr id="21" name="正方形/長方形 20">
            <a:extLst>
              <a:ext uri="{FF2B5EF4-FFF2-40B4-BE49-F238E27FC236}">
                <a16:creationId xmlns:a16="http://schemas.microsoft.com/office/drawing/2014/main" id="{9C1C7047-FE8C-4E3F-B781-D2FA0297AFEB}"/>
              </a:ext>
            </a:extLst>
          </p:cNvPr>
          <p:cNvSpPr>
            <a:spLocks noGrp="1"/>
          </p:cNvSpPr>
          <p:nvPr/>
        </p:nvSpPr>
        <p:spPr>
          <a:xfrm>
            <a:off x="3514725" y="5514975"/>
            <a:ext cx="2286000" cy="266700"/>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5B5B5B"/>
                </a:solidFill>
                <a:latin typeface="Yu Gothic"/>
                <a:ea typeface="Yu Gothic"/>
                <a:cs typeface="Yu Gothic"/>
              </a:defRPr>
            </a:pPr>
            <a:r>
              <a:rPr sz="975" b="1" i="0">
                <a:solidFill>
                  <a:srgbClr val="5B5B5B"/>
                </a:solidFill>
                <a:latin typeface="Yu Gothic"/>
                <a:ea typeface="Yu Gothic"/>
                <a:cs typeface="Yu Gothic"/>
              </a:rPr>
              <a:t>scalar errors ≤ mesh diff</a:t>
            </a:r>
          </a:p>
        </p:txBody>
      </p:sp>
      <p:sp>
        <p:nvSpPr>
          <p:cNvPr id="22" name="正方形/長方形 21">
            <a:extLst>
              <a:ext uri="{FF2B5EF4-FFF2-40B4-BE49-F238E27FC236}">
                <a16:creationId xmlns:a16="http://schemas.microsoft.com/office/drawing/2014/main" id="{4463B433-BEF2-46C7-A115-8BC903A27146}"/>
              </a:ext>
            </a:extLst>
          </p:cNvPr>
          <p:cNvSpPr>
            <a:spLocks noGrp="1"/>
          </p:cNvSpPr>
          <p:nvPr/>
        </p:nvSpPr>
        <p:spPr>
          <a:xfrm>
            <a:off x="3514725" y="5800725"/>
            <a:ext cx="2286000" cy="276225"/>
          </a:xfrm>
          <a:prstGeom prst="rect">
            <a:avLst/>
          </a:prstGeom>
          <a:noFill/>
          <a:ln w="0">
            <a:noFill/>
            <a:prstDash val="solid"/>
          </a:ln>
        </p:spPr>
        <p:txBody>
          <a:bodyPr wrap="square" lIns="28575" tIns="19050" rIns="28575" bIns="19050" anchor="t">
            <a:normAutofit/>
          </a:bodyPr>
          <a:lstStyle/>
          <a:p>
            <a:pPr algn="l">
              <a:lnSpc>
                <a:spcPct val="106000"/>
              </a:lnSpc>
              <a:buNone/>
              <a:defRPr sz="788" b="0" i="0">
                <a:solidFill>
                  <a:srgbClr val="777777"/>
                </a:solidFill>
                <a:latin typeface="Yu Gothic"/>
                <a:ea typeface="Yu Gothic"/>
                <a:cs typeface="Yu Gothic"/>
              </a:defRPr>
            </a:pPr>
            <a:r>
              <a:rPr sz="788" b="0" i="0">
                <a:solidFill>
                  <a:srgbClr val="777777"/>
                </a:solidFill>
                <a:latin typeface="Yu Gothic"/>
                <a:ea typeface="Yu Gothic"/>
                <a:cs typeface="Yu Gothic"/>
              </a:rPr>
              <a:t>conservative adjacent-mesh bound</a:t>
            </a:r>
          </a:p>
        </p:txBody>
      </p:sp>
      <p:sp>
        <p:nvSpPr>
          <p:cNvPr id="23" name="正方形/長方形 22">
            <a:extLst>
              <a:ext uri="{FF2B5EF4-FFF2-40B4-BE49-F238E27FC236}">
                <a16:creationId xmlns:a16="http://schemas.microsoft.com/office/drawing/2014/main" id="{47282F9F-5C8F-4722-8CC0-EC758ADD86AD}"/>
              </a:ext>
            </a:extLst>
          </p:cNvPr>
          <p:cNvSpPr>
            <a:spLocks noGrp="1"/>
          </p:cNvSpPr>
          <p:nvPr/>
        </p:nvSpPr>
        <p:spPr>
          <a:xfrm>
            <a:off x="6096000" y="5038725"/>
            <a:ext cx="2571750" cy="1095375"/>
          </a:xfrm>
          <a:prstGeom prst="rect">
            <a:avLst/>
          </a:prstGeom>
          <a:solidFill>
            <a:srgbClr val="FFFFFF"/>
          </a:solidFill>
          <a:ln w="9525">
            <a:solidFill>
              <a:srgbClr val="D6D6D6"/>
            </a:solidFill>
            <a:prstDash val="solid"/>
          </a:ln>
        </p:spPr>
      </p:sp>
      <p:sp>
        <p:nvSpPr>
          <p:cNvPr id="24" name="正方形/長方形 23">
            <a:extLst>
              <a:ext uri="{FF2B5EF4-FFF2-40B4-BE49-F238E27FC236}">
                <a16:creationId xmlns:a16="http://schemas.microsoft.com/office/drawing/2014/main" id="{0F1C00D0-E4FF-44A2-81E1-4F2B02DAC42A}"/>
              </a:ext>
            </a:extLst>
          </p:cNvPr>
          <p:cNvSpPr>
            <a:spLocks noGrp="1"/>
          </p:cNvSpPr>
          <p:nvPr/>
        </p:nvSpPr>
        <p:spPr>
          <a:xfrm>
            <a:off x="6096000" y="5038725"/>
            <a:ext cx="66675" cy="1095375"/>
          </a:xfrm>
          <a:prstGeom prst="rect">
            <a:avLst/>
          </a:prstGeom>
          <a:solidFill>
            <a:srgbClr val="7B2DAF"/>
          </a:solidFill>
          <a:ln w="0">
            <a:noFill/>
            <a:prstDash val="solid"/>
          </a:ln>
        </p:spPr>
      </p:sp>
      <p:sp>
        <p:nvSpPr>
          <p:cNvPr id="25" name="正方形/長方形 24">
            <a:extLst>
              <a:ext uri="{FF2B5EF4-FFF2-40B4-BE49-F238E27FC236}">
                <a16:creationId xmlns:a16="http://schemas.microsoft.com/office/drawing/2014/main" id="{136117AB-4277-4F27-84FB-3D166E05B232}"/>
              </a:ext>
            </a:extLst>
          </p:cNvPr>
          <p:cNvSpPr>
            <a:spLocks noGrp="1"/>
          </p:cNvSpPr>
          <p:nvPr/>
        </p:nvSpPr>
        <p:spPr>
          <a:xfrm>
            <a:off x="6286500" y="5133975"/>
            <a:ext cx="2286000" cy="371475"/>
          </a:xfrm>
          <a:prstGeom prst="rect">
            <a:avLst/>
          </a:prstGeom>
          <a:noFill/>
          <a:ln w="0">
            <a:noFill/>
            <a:prstDash val="solid"/>
          </a:ln>
        </p:spPr>
        <p:txBody>
          <a:bodyPr wrap="square" lIns="28575" tIns="19050" rIns="28575" bIns="19050" anchor="ctr">
            <a:normAutofit/>
          </a:bodyPr>
          <a:lstStyle/>
          <a:p>
            <a:pPr algn="l">
              <a:lnSpc>
                <a:spcPct val="100000"/>
              </a:lnSpc>
              <a:buNone/>
              <a:defRPr sz="2025" b="1" i="0">
                <a:solidFill>
                  <a:srgbClr val="3F3F3F"/>
                </a:solidFill>
                <a:latin typeface="Yu Gothic"/>
                <a:ea typeface="Yu Gothic"/>
                <a:cs typeface="Yu Gothic"/>
              </a:defRPr>
            </a:pPr>
            <a:r>
              <a:rPr sz="2025" b="1" i="0">
                <a:solidFill>
                  <a:srgbClr val="3F3F3F"/>
                </a:solidFill>
                <a:latin typeface="Yu Gothic"/>
                <a:ea typeface="Yu Gothic"/>
                <a:cs typeface="Yu Gothic"/>
              </a:rPr>
              <a:t>−0.381 K</a:t>
            </a:r>
          </a:p>
        </p:txBody>
      </p:sp>
      <p:sp>
        <p:nvSpPr>
          <p:cNvPr id="26" name="正方形/長方形 25">
            <a:extLst>
              <a:ext uri="{FF2B5EF4-FFF2-40B4-BE49-F238E27FC236}">
                <a16:creationId xmlns:a16="http://schemas.microsoft.com/office/drawing/2014/main" id="{5D293071-0D79-4896-9526-951E8839E0A2}"/>
              </a:ext>
            </a:extLst>
          </p:cNvPr>
          <p:cNvSpPr>
            <a:spLocks noGrp="1"/>
          </p:cNvSpPr>
          <p:nvPr/>
        </p:nvSpPr>
        <p:spPr>
          <a:xfrm>
            <a:off x="6286500" y="5514975"/>
            <a:ext cx="2286000" cy="266700"/>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5B5B5B"/>
                </a:solidFill>
                <a:latin typeface="Yu Gothic"/>
                <a:ea typeface="Yu Gothic"/>
                <a:cs typeface="Yu Gothic"/>
              </a:defRPr>
            </a:pPr>
            <a:r>
              <a:rPr sz="975" b="1" i="0">
                <a:solidFill>
                  <a:srgbClr val="5B5B5B"/>
                </a:solidFill>
                <a:latin typeface="Yu Gothic"/>
                <a:ea typeface="Yu Gothic"/>
                <a:cs typeface="Yu Gothic"/>
              </a:rPr>
              <a:t>truth radiation effect @220 s</a:t>
            </a:r>
          </a:p>
        </p:txBody>
      </p:sp>
      <p:sp>
        <p:nvSpPr>
          <p:cNvPr id="27" name="正方形/長方形 26">
            <a:extLst>
              <a:ext uri="{FF2B5EF4-FFF2-40B4-BE49-F238E27FC236}">
                <a16:creationId xmlns:a16="http://schemas.microsoft.com/office/drawing/2014/main" id="{9CAB8A5A-19E8-4BC9-B2B7-2A14833DFA06}"/>
              </a:ext>
            </a:extLst>
          </p:cNvPr>
          <p:cNvSpPr>
            <a:spLocks noGrp="1"/>
          </p:cNvSpPr>
          <p:nvPr/>
        </p:nvSpPr>
        <p:spPr>
          <a:xfrm>
            <a:off x="6286500" y="5800725"/>
            <a:ext cx="2286000" cy="276225"/>
          </a:xfrm>
          <a:prstGeom prst="rect">
            <a:avLst/>
          </a:prstGeom>
          <a:noFill/>
          <a:ln w="0">
            <a:noFill/>
            <a:prstDash val="solid"/>
          </a:ln>
        </p:spPr>
        <p:txBody>
          <a:bodyPr wrap="square" lIns="28575" tIns="19050" rIns="28575" bIns="19050" anchor="t">
            <a:normAutofit/>
          </a:bodyPr>
          <a:lstStyle/>
          <a:p>
            <a:pPr algn="l">
              <a:lnSpc>
                <a:spcPct val="106000"/>
              </a:lnSpc>
              <a:buNone/>
              <a:defRPr sz="788" b="0" i="0">
                <a:solidFill>
                  <a:srgbClr val="777777"/>
                </a:solidFill>
                <a:latin typeface="Yu Gothic"/>
                <a:ea typeface="Yu Gothic"/>
                <a:cs typeface="Yu Gothic"/>
              </a:defRPr>
            </a:pPr>
            <a:r>
              <a:rPr sz="788" b="0" i="0">
                <a:solidFill>
                  <a:srgbClr val="777777"/>
                </a:solidFill>
                <a:latin typeface="Yu Gothic"/>
                <a:ea typeface="Yu Gothic"/>
                <a:cs typeface="Yu Gothic"/>
              </a:rPr>
              <a:t>model prediction −0.001 K</a:t>
            </a:r>
          </a:p>
        </p:txBody>
      </p:sp>
      <p:sp>
        <p:nvSpPr>
          <p:cNvPr id="28" name="正方形/長方形 27">
            <a:extLst>
              <a:ext uri="{FF2B5EF4-FFF2-40B4-BE49-F238E27FC236}">
                <a16:creationId xmlns:a16="http://schemas.microsoft.com/office/drawing/2014/main" id="{C1D4B0C3-F107-42FE-8E4F-A21DA4086289}"/>
              </a:ext>
            </a:extLst>
          </p:cNvPr>
          <p:cNvSpPr>
            <a:spLocks noGrp="1"/>
          </p:cNvSpPr>
          <p:nvPr/>
        </p:nvSpPr>
        <p:spPr>
          <a:xfrm>
            <a:off x="8867775" y="5038725"/>
            <a:ext cx="2771775" cy="1095375"/>
          </a:xfrm>
          <a:prstGeom prst="rect">
            <a:avLst/>
          </a:prstGeom>
          <a:solidFill>
            <a:srgbClr val="FFFFFF"/>
          </a:solidFill>
          <a:ln w="9525">
            <a:solidFill>
              <a:srgbClr val="D6D6D6"/>
            </a:solidFill>
            <a:prstDash val="solid"/>
          </a:ln>
        </p:spPr>
      </p:sp>
      <p:sp>
        <p:nvSpPr>
          <p:cNvPr id="29" name="正方形/長方形 28">
            <a:extLst>
              <a:ext uri="{FF2B5EF4-FFF2-40B4-BE49-F238E27FC236}">
                <a16:creationId xmlns:a16="http://schemas.microsoft.com/office/drawing/2014/main" id="{179A273E-D9A6-46EA-BD2B-3F1AC2966835}"/>
              </a:ext>
            </a:extLst>
          </p:cNvPr>
          <p:cNvSpPr>
            <a:spLocks noGrp="1"/>
          </p:cNvSpPr>
          <p:nvPr/>
        </p:nvSpPr>
        <p:spPr>
          <a:xfrm>
            <a:off x="8867775" y="5038725"/>
            <a:ext cx="66675" cy="1095375"/>
          </a:xfrm>
          <a:prstGeom prst="rect">
            <a:avLst/>
          </a:prstGeom>
          <a:solidFill>
            <a:srgbClr val="E5A900"/>
          </a:solidFill>
          <a:ln w="0">
            <a:noFill/>
            <a:prstDash val="solid"/>
          </a:ln>
        </p:spPr>
      </p:sp>
      <p:sp>
        <p:nvSpPr>
          <p:cNvPr id="30" name="正方形/長方形 29">
            <a:extLst>
              <a:ext uri="{FF2B5EF4-FFF2-40B4-BE49-F238E27FC236}">
                <a16:creationId xmlns:a16="http://schemas.microsoft.com/office/drawing/2014/main" id="{4E2A42B5-93AA-4FD0-AC20-23FB18C92E3A}"/>
              </a:ext>
            </a:extLst>
          </p:cNvPr>
          <p:cNvSpPr>
            <a:spLocks noGrp="1"/>
          </p:cNvSpPr>
          <p:nvPr/>
        </p:nvSpPr>
        <p:spPr>
          <a:xfrm>
            <a:off x="9058275" y="5133975"/>
            <a:ext cx="2486025" cy="371475"/>
          </a:xfrm>
          <a:prstGeom prst="rect">
            <a:avLst/>
          </a:prstGeom>
          <a:noFill/>
          <a:ln w="0">
            <a:noFill/>
            <a:prstDash val="solid"/>
          </a:ln>
        </p:spPr>
        <p:txBody>
          <a:bodyPr wrap="square" lIns="28575" tIns="19050" rIns="28575" bIns="19050" anchor="ctr">
            <a:normAutofit/>
          </a:bodyPr>
          <a:lstStyle/>
          <a:p>
            <a:pPr algn="l">
              <a:lnSpc>
                <a:spcPct val="100000"/>
              </a:lnSpc>
              <a:buNone/>
              <a:defRPr sz="2025" b="1" i="0">
                <a:solidFill>
                  <a:srgbClr val="3F3F3F"/>
                </a:solidFill>
                <a:latin typeface="Yu Gothic"/>
                <a:ea typeface="Yu Gothic"/>
                <a:cs typeface="Yu Gothic"/>
              </a:defRPr>
            </a:pPr>
            <a:r>
              <a:rPr sz="2025" b="1" i="0">
                <a:solidFill>
                  <a:srgbClr val="3F3F3F"/>
                </a:solidFill>
                <a:latin typeface="Yu Gothic"/>
                <a:ea typeface="Yu Gothic"/>
                <a:cs typeface="Yu Gothic"/>
              </a:rPr>
              <a:t>0.496 K</a:t>
            </a:r>
          </a:p>
        </p:txBody>
      </p:sp>
      <p:sp>
        <p:nvSpPr>
          <p:cNvPr id="31" name="正方形/長方形 30">
            <a:extLst>
              <a:ext uri="{FF2B5EF4-FFF2-40B4-BE49-F238E27FC236}">
                <a16:creationId xmlns:a16="http://schemas.microsoft.com/office/drawing/2014/main" id="{7FD7B454-2A12-412B-95D3-CA67ED3392D6}"/>
              </a:ext>
            </a:extLst>
          </p:cNvPr>
          <p:cNvSpPr>
            <a:spLocks noGrp="1"/>
          </p:cNvSpPr>
          <p:nvPr/>
        </p:nvSpPr>
        <p:spPr>
          <a:xfrm>
            <a:off x="9058275" y="5514975"/>
            <a:ext cx="2486025" cy="266700"/>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5B5B5B"/>
                </a:solidFill>
                <a:latin typeface="Yu Gothic"/>
                <a:ea typeface="Yu Gothic"/>
                <a:cs typeface="Yu Gothic"/>
              </a:defRPr>
            </a:pPr>
            <a:r>
              <a:rPr sz="975" b="1" i="0">
                <a:solidFill>
                  <a:srgbClr val="5B5B5B"/>
                </a:solidFill>
                <a:latin typeface="Yu Gothic"/>
                <a:ea typeface="Yu Gothic"/>
                <a:cs typeface="Yu Gothic"/>
              </a:rPr>
              <a:t>mesh difference</a:t>
            </a:r>
          </a:p>
        </p:txBody>
      </p:sp>
      <p:sp>
        <p:nvSpPr>
          <p:cNvPr id="32" name="正方形/長方形 31">
            <a:extLst>
              <a:ext uri="{FF2B5EF4-FFF2-40B4-BE49-F238E27FC236}">
                <a16:creationId xmlns:a16="http://schemas.microsoft.com/office/drawing/2014/main" id="{25FD5959-5D5A-4411-818B-CA472E5E054D}"/>
              </a:ext>
            </a:extLst>
          </p:cNvPr>
          <p:cNvSpPr>
            <a:spLocks noGrp="1"/>
          </p:cNvSpPr>
          <p:nvPr/>
        </p:nvSpPr>
        <p:spPr>
          <a:xfrm>
            <a:off x="9058275" y="5800725"/>
            <a:ext cx="2486025" cy="276225"/>
          </a:xfrm>
          <a:prstGeom prst="rect">
            <a:avLst/>
          </a:prstGeom>
          <a:noFill/>
          <a:ln w="0">
            <a:noFill/>
            <a:prstDash val="solid"/>
          </a:ln>
        </p:spPr>
        <p:txBody>
          <a:bodyPr wrap="square" lIns="28575" tIns="19050" rIns="28575" bIns="19050" anchor="t">
            <a:normAutofit/>
          </a:bodyPr>
          <a:lstStyle/>
          <a:p>
            <a:pPr algn="l">
              <a:lnSpc>
                <a:spcPct val="106000"/>
              </a:lnSpc>
              <a:buNone/>
              <a:defRPr sz="788" b="0" i="0">
                <a:solidFill>
                  <a:srgbClr val="777777"/>
                </a:solidFill>
                <a:latin typeface="Yu Gothic"/>
                <a:ea typeface="Yu Gothic"/>
                <a:cs typeface="Yu Gothic"/>
              </a:defRPr>
            </a:pPr>
            <a:r>
              <a:rPr sz="788" b="0" i="0">
                <a:solidFill>
                  <a:srgbClr val="777777"/>
                </a:solidFill>
                <a:latin typeface="Yu Gothic"/>
                <a:ea typeface="Yu Gothic"/>
                <a:cs typeface="Yu Gothic"/>
              </a:rPr>
              <a:t>radiation effect itself is unresolved</a:t>
            </a:r>
          </a:p>
        </p:txBody>
      </p:sp>
    </p:spTree>
    <p:extLst>
      <p:ext uri="{BB962C8B-B14F-4D97-AF65-F5344CB8AC3E}">
        <p14:creationId xmlns:p14="http://schemas.microsoft.com/office/powerpoint/2010/main" val="7870931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正方形/長方形 19">
            <a:extLst>
              <a:ext uri="{FF2B5EF4-FFF2-40B4-BE49-F238E27FC236}">
                <a16:creationId xmlns:a16="http://schemas.microsoft.com/office/drawing/2014/main" id="{CDD941FD-3708-4FE3-8A09-54C33753F75A}"/>
              </a:ext>
            </a:extLst>
          </p:cNvPr>
          <p:cNvSpPr>
            <a:spLocks noGrp="1"/>
          </p:cNvSpPr>
          <p:nvPr/>
        </p:nvSpPr>
        <p:spPr>
          <a:xfrm>
            <a:off x="552450" y="190500"/>
            <a:ext cx="76200" cy="142875"/>
          </a:xfrm>
          <a:prstGeom prst="rect">
            <a:avLst/>
          </a:prstGeom>
          <a:solidFill>
            <a:srgbClr val="76BE18"/>
          </a:solidFill>
          <a:ln w="0">
            <a:noFill/>
            <a:prstDash val="solid"/>
          </a:ln>
        </p:spPr>
      </p:sp>
      <p:sp>
        <p:nvSpPr>
          <p:cNvPr id="2" name="正方形/長方形 1">
            <a:extLst>
              <a:ext uri="{FF2B5EF4-FFF2-40B4-BE49-F238E27FC236}">
                <a16:creationId xmlns:a16="http://schemas.microsoft.com/office/drawing/2014/main" id="{E89A1205-2395-4456-AC81-F414F3E706C3}"/>
              </a:ext>
            </a:extLst>
          </p:cNvPr>
          <p:cNvSpPr>
            <a:spLocks noGrp="1"/>
          </p:cNvSpPr>
          <p:nvPr/>
        </p:nvSpPr>
        <p:spPr>
          <a:xfrm>
            <a:off x="704850" y="161925"/>
            <a:ext cx="3429000" cy="190500"/>
          </a:xfrm>
          <a:prstGeom prst="rect">
            <a:avLst/>
          </a:prstGeom>
          <a:noFill/>
          <a:ln w="0">
            <a:noFill/>
            <a:prstDash val="solid"/>
          </a:ln>
        </p:spPr>
        <p:txBody>
          <a:bodyPr wrap="none" lIns="28575" tIns="19050" rIns="28575" bIns="19050" anchor="ctr">
            <a:noAutofit/>
          </a:bodyPr>
          <a:lstStyle/>
          <a:p>
            <a:pPr algn="l">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EQUIPMENT VALUE</a:t>
            </a:r>
          </a:p>
        </p:txBody>
      </p:sp>
      <p:sp>
        <p:nvSpPr>
          <p:cNvPr id="3" name="正方形/長方形 2">
            <a:extLst>
              <a:ext uri="{FF2B5EF4-FFF2-40B4-BE49-F238E27FC236}">
                <a16:creationId xmlns:a16="http://schemas.microsoft.com/office/drawing/2014/main" id="{358F20C9-6C42-4667-A2C1-6D323E49545D}"/>
              </a:ext>
            </a:extLst>
          </p:cNvPr>
          <p:cNvSpPr>
            <a:spLocks noGrp="1"/>
          </p:cNvSpPr>
          <p:nvPr/>
        </p:nvSpPr>
        <p:spPr>
          <a:xfrm>
            <a:off x="552450" y="400050"/>
            <a:ext cx="11001375" cy="400050"/>
          </a:xfrm>
          <a:prstGeom prst="rect">
            <a:avLst/>
          </a:prstGeom>
          <a:noFill/>
          <a:ln w="0">
            <a:noFill/>
            <a:prstDash val="solid"/>
          </a:ln>
        </p:spPr>
        <p:txBody>
          <a:bodyPr wrap="none" lIns="19050" tIns="0" rIns="19050" bIns="0" anchor="ctr">
            <a:normAutofit/>
          </a:bodyPr>
          <a:lstStyle/>
          <a:p>
            <a:pPr algn="l">
              <a:lnSpc>
                <a:spcPct val="100000"/>
              </a:lnSpc>
              <a:buNone/>
              <a:defRPr sz="2175" b="1" i="0">
                <a:solidFill>
                  <a:srgbClr val="00A5D8"/>
                </a:solidFill>
                <a:latin typeface="Yu Gothic"/>
                <a:ea typeface="Yu Gothic"/>
                <a:cs typeface="Yu Gothic"/>
              </a:defRPr>
            </a:pPr>
            <a:r>
              <a:rPr sz="2175" b="1" i="0">
                <a:solidFill>
                  <a:srgbClr val="00A5D8"/>
                </a:solidFill>
                <a:latin typeface="Yu Gothic"/>
                <a:ea typeface="Yu Gothic"/>
                <a:cs typeface="Yu Gothic"/>
              </a:rPr>
              <a:t>高速な物理surrogateとして、CAEと装置データの間の判断を短周期化する</a:t>
            </a:r>
          </a:p>
        </p:txBody>
      </p:sp>
      <p:sp>
        <p:nvSpPr>
          <p:cNvPr id="4" name="正方形/長方形 3">
            <a:extLst>
              <a:ext uri="{FF2B5EF4-FFF2-40B4-BE49-F238E27FC236}">
                <a16:creationId xmlns:a16="http://schemas.microsoft.com/office/drawing/2014/main" id="{FE020611-D7DB-405A-854A-9748A6080880}"/>
              </a:ext>
            </a:extLst>
          </p:cNvPr>
          <p:cNvSpPr>
            <a:spLocks noGrp="1"/>
          </p:cNvSpPr>
          <p:nvPr/>
        </p:nvSpPr>
        <p:spPr>
          <a:xfrm>
            <a:off x="571500" y="838200"/>
            <a:ext cx="10906125" cy="228600"/>
          </a:xfrm>
          <a:prstGeom prst="rect">
            <a:avLst/>
          </a:prstGeom>
          <a:noFill/>
          <a:ln w="0">
            <a:noFill/>
            <a:prstDash val="solid"/>
          </a:ln>
        </p:spPr>
        <p:txBody>
          <a:bodyPr wrap="none" lIns="28575" tIns="19050" rIns="28575" bIns="19050" anchor="ctr">
            <a:noAutofit/>
          </a:bodyPr>
          <a:lstStyle/>
          <a:p>
            <a:pPr algn="l">
              <a:lnSpc>
                <a:spcPct val="100000"/>
              </a:lnSpc>
              <a:buNone/>
              <a:defRPr sz="975" b="0" i="0">
                <a:solidFill>
                  <a:srgbClr val="5B5B5B"/>
                </a:solidFill>
                <a:latin typeface="Yu Gothic"/>
                <a:ea typeface="Yu Gothic"/>
                <a:cs typeface="Yu Gothic"/>
              </a:defRPr>
            </a:pPr>
            <a:r>
              <a:rPr sz="975" b="0" i="0">
                <a:solidFill>
                  <a:srgbClr val="5B5B5B"/>
                </a:solidFill>
                <a:latin typeface="Yu Gothic"/>
                <a:ea typeface="Yu Gothic"/>
                <a:cs typeface="Yu Gothic"/>
              </a:rPr>
              <a:t>有用性は精度だけでなく、どの意思決定を安全に支援できるかで定義する</a:t>
            </a:r>
          </a:p>
        </p:txBody>
      </p:sp>
      <p:sp>
        <p:nvSpPr>
          <p:cNvPr id="5" name="直線コネクタ 4">
            <a:extLst>
              <a:ext uri="{FF2B5EF4-FFF2-40B4-BE49-F238E27FC236}">
                <a16:creationId xmlns:a16="http://schemas.microsoft.com/office/drawing/2014/main" id="{53F7DB9A-CD59-4B6F-AABE-F991724E30A5}"/>
              </a:ext>
            </a:extLst>
          </p:cNvPr>
          <p:cNvSpPr>
            <a:spLocks noGrp="1"/>
          </p:cNvSpPr>
          <p:nvPr/>
        </p:nvSpPr>
        <p:spPr>
          <a:xfrm>
            <a:off x="552450" y="1152525"/>
            <a:ext cx="11087100" cy="0"/>
          </a:xfrm>
          <a:prstGeom prst="line">
            <a:avLst/>
          </a:prstGeom>
          <a:noFill/>
          <a:ln w="9525">
            <a:solidFill>
              <a:srgbClr val="D6D6D6"/>
            </a:solidFill>
            <a:prstDash val="solid"/>
          </a:ln>
        </p:spPr>
      </p:sp>
      <p:sp>
        <p:nvSpPr>
          <p:cNvPr id="6" name="直線コネクタ 5">
            <a:extLst>
              <a:ext uri="{FF2B5EF4-FFF2-40B4-BE49-F238E27FC236}">
                <a16:creationId xmlns:a16="http://schemas.microsoft.com/office/drawing/2014/main" id="{4FD5C90C-3553-40CB-B4E6-8B58E42DAB25}"/>
              </a:ext>
            </a:extLst>
          </p:cNvPr>
          <p:cNvSpPr>
            <a:spLocks noGrp="1"/>
          </p:cNvSpPr>
          <p:nvPr/>
        </p:nvSpPr>
        <p:spPr>
          <a:xfrm>
            <a:off x="552450" y="6438900"/>
            <a:ext cx="11087100" cy="0"/>
          </a:xfrm>
          <a:prstGeom prst="line">
            <a:avLst/>
          </a:prstGeom>
          <a:noFill/>
          <a:ln w="9525">
            <a:solidFill>
              <a:srgbClr val="D6D6D6"/>
            </a:solidFill>
            <a:prstDash val="solid"/>
          </a:ln>
        </p:spPr>
      </p:sp>
      <p:sp>
        <p:nvSpPr>
          <p:cNvPr id="7" name="正方形/長方形 6">
            <a:extLst>
              <a:ext uri="{FF2B5EF4-FFF2-40B4-BE49-F238E27FC236}">
                <a16:creationId xmlns:a16="http://schemas.microsoft.com/office/drawing/2014/main" id="{41107FA9-F1A9-4790-A18F-049A6337D908}"/>
              </a:ext>
            </a:extLst>
          </p:cNvPr>
          <p:cNvSpPr>
            <a:spLocks noGrp="1"/>
          </p:cNvSpPr>
          <p:nvPr/>
        </p:nvSpPr>
        <p:spPr>
          <a:xfrm>
            <a:off x="571500" y="6505575"/>
            <a:ext cx="5334000" cy="171450"/>
          </a:xfrm>
          <a:prstGeom prst="rect">
            <a:avLst/>
          </a:prstGeom>
          <a:noFill/>
          <a:ln w="0">
            <a:noFill/>
            <a:prstDash val="solid"/>
          </a:ln>
        </p:spPr>
        <p:txBody>
          <a:bodyPr wrap="none" lIns="28575" tIns="19050" rIns="28575" bIns="19050" anchor="ctr">
            <a:noAutofit/>
          </a:bodyPr>
          <a:lstStyle/>
          <a:p>
            <a:pPr algn="l">
              <a:lnSpc>
                <a:spcPct val="100000"/>
              </a:lnSpc>
              <a:buNone/>
              <a:defRPr sz="713" b="0" i="0">
                <a:solidFill>
                  <a:srgbClr val="777777"/>
                </a:solidFill>
                <a:latin typeface="Yu Gothic"/>
                <a:ea typeface="Yu Gothic"/>
                <a:cs typeface="Yu Gothic"/>
              </a:defRPr>
            </a:pPr>
            <a:r>
              <a:rPr sz="713" b="0" i="0">
                <a:solidFill>
                  <a:srgbClr val="777777"/>
                </a:solidFill>
                <a:latin typeface="Yu Gothic"/>
                <a:ea typeface="Yu Gothic"/>
                <a:cs typeface="Yu Gothic"/>
              </a:rPr>
              <a:t>THERMAL RC / EQUIPMENT ENGINEERING REVIEW  ·  2026-09-17</a:t>
            </a:r>
          </a:p>
        </p:txBody>
      </p:sp>
      <p:sp>
        <p:nvSpPr>
          <p:cNvPr id="8" name="正方形/長方形 7">
            <a:extLst>
              <a:ext uri="{FF2B5EF4-FFF2-40B4-BE49-F238E27FC236}">
                <a16:creationId xmlns:a16="http://schemas.microsoft.com/office/drawing/2014/main" id="{8A9BD9DD-8B86-4209-B213-BBA658CE8EDC}"/>
              </a:ext>
            </a:extLst>
          </p:cNvPr>
          <p:cNvSpPr>
            <a:spLocks noGrp="1"/>
          </p:cNvSpPr>
          <p:nvPr/>
        </p:nvSpPr>
        <p:spPr>
          <a:xfrm>
            <a:off x="11125200" y="6496050"/>
            <a:ext cx="476250" cy="171450"/>
          </a:xfrm>
          <a:prstGeom prst="rect">
            <a:avLst/>
          </a:prstGeom>
          <a:noFill/>
          <a:ln w="0">
            <a:noFill/>
            <a:prstDash val="solid"/>
          </a:ln>
        </p:spPr>
        <p:txBody>
          <a:bodyPr wrap="square" lIns="28575" tIns="19050" rIns="28575" bIns="19050" anchor="ctr">
            <a:noAutofit/>
          </a:bodyPr>
          <a:lstStyle/>
          <a:p>
            <a:pPr algn="r">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27</a:t>
            </a:r>
          </a:p>
        </p:txBody>
      </p:sp>
      <p:graphicFrame>
        <p:nvGraphicFramePr>
          <p:cNvPr id="28" name="表 27"/>
          <p:cNvGraphicFramePr/>
          <p:nvPr/>
        </p:nvGraphicFramePr>
        <p:xfrm>
          <a:off x="552450" y="1438275"/>
          <a:ext cx="11087100" cy="3533775"/>
        </p:xfrm>
        <a:graphic>
          <a:graphicData uri="http://schemas.openxmlformats.org/drawingml/2006/table">
            <a:tbl>
              <a:tblPr/>
              <a:tblGrid>
                <a:gridCol w="2000250">
                  <a:extLst>
                    <a:ext uri="{9D8B030D-6E8A-4147-A177-3AD203B41FA5}">
                      <a16:colId xmlns:a16="http://schemas.microsoft.com/office/drawing/2014/main" val="20000"/>
                    </a:ext>
                  </a:extLst>
                </a:gridCol>
                <a:gridCol w="2190750">
                  <a:extLst>
                    <a:ext uri="{9D8B030D-6E8A-4147-A177-3AD203B41FA5}">
                      <a16:colId xmlns:a16="http://schemas.microsoft.com/office/drawing/2014/main" val="20001"/>
                    </a:ext>
                  </a:extLst>
                </a:gridCol>
                <a:gridCol w="2857500">
                  <a:extLst>
                    <a:ext uri="{9D8B030D-6E8A-4147-A177-3AD203B41FA5}">
                      <a16:colId xmlns:a16="http://schemas.microsoft.com/office/drawing/2014/main" val="20002"/>
                    </a:ext>
                  </a:extLst>
                </a:gridCol>
                <a:gridCol w="2571750">
                  <a:extLst>
                    <a:ext uri="{9D8B030D-6E8A-4147-A177-3AD203B41FA5}">
                      <a16:colId xmlns:a16="http://schemas.microsoft.com/office/drawing/2014/main" val="20003"/>
                    </a:ext>
                  </a:extLst>
                </a:gridCol>
                <a:gridCol w="1466850">
                  <a:extLst>
                    <a:ext uri="{9D8B030D-6E8A-4147-A177-3AD203B41FA5}">
                      <a16:colId xmlns:a16="http://schemas.microsoft.com/office/drawing/2014/main" val="20004"/>
                    </a:ext>
                  </a:extLst>
                </a:gridCol>
              </a:tblGrid>
              <a:tr h="588963">
                <a:tc>
                  <a:txBody>
                    <a:bodyPr/>
                    <a:lstStyle/>
                    <a:p>
                      <a:r>
                        <a:rPr sz="938" b="1">
                          <a:solidFill>
                            <a:srgbClr val="FFFFFF"/>
                          </a:solidFill>
                          <a:latin typeface="Yu Gothic"/>
                          <a:ea typeface="Yu Gothic"/>
                          <a:cs typeface="Yu Gothic"/>
                        </a:rPr>
                        <a:t>装置ユースケース</a:t>
                      </a:r>
                    </a:p>
                  </a:txBody>
                  <a:tcPr>
                    <a:solidFill>
                      <a:srgbClr val="00A5D8"/>
                    </a:solidFill>
                  </a:tcPr>
                </a:tc>
                <a:tc>
                  <a:txBody>
                    <a:bodyPr/>
                    <a:lstStyle/>
                    <a:p>
                      <a:r>
                        <a:rPr sz="938" b="1">
                          <a:solidFill>
                            <a:srgbClr val="FFFFFF"/>
                          </a:solidFill>
                          <a:latin typeface="Yu Gothic"/>
                          <a:ea typeface="Yu Gothic"/>
                          <a:cs typeface="Yu Gothic"/>
                        </a:rPr>
                        <a:t>モデル出力</a:t>
                      </a:r>
                    </a:p>
                  </a:txBody>
                  <a:tcPr>
                    <a:solidFill>
                      <a:srgbClr val="00A5D8"/>
                    </a:solidFill>
                  </a:tcPr>
                </a:tc>
                <a:tc>
                  <a:txBody>
                    <a:bodyPr/>
                    <a:lstStyle/>
                    <a:p>
                      <a:r>
                        <a:rPr sz="938" b="1">
                          <a:solidFill>
                            <a:srgbClr val="FFFFFF"/>
                          </a:solidFill>
                          <a:latin typeface="Yu Gothic"/>
                          <a:ea typeface="Yu Gothic"/>
                          <a:cs typeface="Yu Gothic"/>
                        </a:rPr>
                        <a:t>技術的な有用性</a:t>
                      </a:r>
                    </a:p>
                  </a:txBody>
                  <a:tcPr>
                    <a:solidFill>
                      <a:srgbClr val="00A5D8"/>
                    </a:solidFill>
                  </a:tcPr>
                </a:tc>
                <a:tc>
                  <a:txBody>
                    <a:bodyPr/>
                    <a:lstStyle/>
                    <a:p>
                      <a:r>
                        <a:rPr sz="938" b="1">
                          <a:solidFill>
                            <a:srgbClr val="FFFFFF"/>
                          </a:solidFill>
                          <a:latin typeface="Yu Gothic"/>
                          <a:ea typeface="Yu Gothic"/>
                          <a:cs typeface="Yu Gothic"/>
                        </a:rPr>
                        <a:t>採用gate</a:t>
                      </a:r>
                    </a:p>
                  </a:txBody>
                  <a:tcPr>
                    <a:solidFill>
                      <a:srgbClr val="00A5D8"/>
                    </a:solidFill>
                  </a:tcPr>
                </a:tc>
                <a:tc>
                  <a:txBody>
                    <a:bodyPr/>
                    <a:lstStyle/>
                    <a:p>
                      <a:r>
                        <a:rPr sz="938" b="1">
                          <a:solidFill>
                            <a:srgbClr val="FFFFFF"/>
                          </a:solidFill>
                          <a:latin typeface="Yu Gothic"/>
                          <a:ea typeface="Yu Gothic"/>
                          <a:cs typeface="Yu Gothic"/>
                        </a:rPr>
                        <a:t>現状</a:t>
                      </a:r>
                    </a:p>
                  </a:txBody>
                  <a:tcPr>
                    <a:solidFill>
                      <a:srgbClr val="00A5D8"/>
                    </a:solidFill>
                  </a:tcPr>
                </a:tc>
                <a:extLst>
                  <a:ext uri="{0D108BD9-81ED-4DB2-BD59-A6C34878D82A}">
                    <a16:rowId xmlns:a16="http://schemas.microsoft.com/office/drawing/2014/main" val="10000"/>
                  </a:ext>
                </a:extLst>
              </a:tr>
              <a:tr h="588963">
                <a:tc>
                  <a:txBody>
                    <a:bodyPr/>
                    <a:lstStyle/>
                    <a:p>
                      <a:r>
                        <a:rPr sz="848" b="1">
                          <a:solidFill>
                            <a:srgbClr val="5B5B5B"/>
                          </a:solidFill>
                          <a:latin typeface="Yu Gothic"/>
                          <a:ea typeface="Yu Gothic"/>
                          <a:cs typeface="Yu Gothic"/>
                        </a:rPr>
                        <a:t>warm-up / cool-down</a:t>
                      </a:r>
                    </a:p>
                  </a:txBody>
                  <a:tcPr>
                    <a:solidFill>
                      <a:srgbClr val="FFFFFF"/>
                    </a:solidFill>
                  </a:tcPr>
                </a:tc>
                <a:tc>
                  <a:txBody>
                    <a:bodyPr/>
                    <a:lstStyle/>
                    <a:p>
                      <a:r>
                        <a:rPr sz="848">
                          <a:solidFill>
                            <a:srgbClr val="5B5B5B"/>
                          </a:solidFill>
                          <a:latin typeface="Yu Gothic"/>
                          <a:ea typeface="Yu Gothic"/>
                          <a:cs typeface="Yu Gothic"/>
                        </a:rPr>
                        <a:t>将来温度・到達時間</a:t>
                      </a:r>
                    </a:p>
                  </a:txBody>
                  <a:tcPr>
                    <a:solidFill>
                      <a:srgbClr val="FFFFFF"/>
                    </a:solidFill>
                  </a:tcPr>
                </a:tc>
                <a:tc>
                  <a:txBody>
                    <a:bodyPr/>
                    <a:lstStyle/>
                    <a:p>
                      <a:r>
                        <a:rPr sz="848">
                          <a:solidFill>
                            <a:srgbClr val="5B5B5B"/>
                          </a:solidFill>
                          <a:latin typeface="Yu Gothic"/>
                          <a:ea typeface="Yu Gothic"/>
                          <a:cs typeface="Yu Gothic"/>
                        </a:rPr>
                        <a:t>recipe待ち時間とthermal soakの比較</a:t>
                      </a:r>
                    </a:p>
                  </a:txBody>
                  <a:tcPr>
                    <a:solidFill>
                      <a:srgbClr val="FFFFFF"/>
                    </a:solidFill>
                  </a:tcPr>
                </a:tc>
                <a:tc>
                  <a:txBody>
                    <a:bodyPr/>
                    <a:lstStyle/>
                    <a:p>
                      <a:r>
                        <a:rPr sz="848">
                          <a:solidFill>
                            <a:srgbClr val="5B5B5B"/>
                          </a:solidFill>
                          <a:latin typeface="Yu Gothic"/>
                          <a:ea typeface="Yu Gothic"/>
                          <a:cs typeface="Yu Gothic"/>
                        </a:rPr>
                        <a:t>運転域holdout、worst error</a:t>
                      </a:r>
                    </a:p>
                  </a:txBody>
                  <a:tcPr>
                    <a:solidFill>
                      <a:srgbClr val="FFFFFF"/>
                    </a:solidFill>
                  </a:tcPr>
                </a:tc>
                <a:tc>
                  <a:txBody>
                    <a:bodyPr/>
                    <a:lstStyle/>
                    <a:p>
                      <a:r>
                        <a:rPr sz="848" b="1">
                          <a:solidFill>
                            <a:srgbClr val="4D8710"/>
                          </a:solidFill>
                          <a:latin typeface="Yu Gothic"/>
                          <a:ea typeface="Yu Gothic"/>
                          <a:cs typeface="Yu Gothic"/>
                        </a:rPr>
                        <a:t>screening可</a:t>
                      </a:r>
                    </a:p>
                  </a:txBody>
                  <a:tcPr>
                    <a:solidFill>
                      <a:srgbClr val="EEF7DF"/>
                    </a:solidFill>
                  </a:tcPr>
                </a:tc>
                <a:extLst>
                  <a:ext uri="{0D108BD9-81ED-4DB2-BD59-A6C34878D82A}">
                    <a16:rowId xmlns:a16="http://schemas.microsoft.com/office/drawing/2014/main" val="10001"/>
                  </a:ext>
                </a:extLst>
              </a:tr>
              <a:tr h="588963">
                <a:tc>
                  <a:txBody>
                    <a:bodyPr/>
                    <a:lstStyle/>
                    <a:p>
                      <a:r>
                        <a:rPr sz="848" b="1">
                          <a:solidFill>
                            <a:srgbClr val="5B5B5B"/>
                          </a:solidFill>
                          <a:latin typeface="Yu Gothic"/>
                          <a:ea typeface="Yu Gothic"/>
                          <a:cs typeface="Yu Gothic"/>
                        </a:rPr>
                        <a:t>virtual sensor</a:t>
                      </a:r>
                    </a:p>
                  </a:txBody>
                  <a:tcPr>
                    <a:solidFill>
                      <a:srgbClr val="F8F8F8"/>
                    </a:solidFill>
                  </a:tcPr>
                </a:tc>
                <a:tc>
                  <a:txBody>
                    <a:bodyPr/>
                    <a:lstStyle/>
                    <a:p>
                      <a:r>
                        <a:rPr sz="848">
                          <a:solidFill>
                            <a:srgbClr val="5B5B5B"/>
                          </a:solidFill>
                          <a:latin typeface="Yu Gothic"/>
                          <a:ea typeface="Yu Gothic"/>
                          <a:cs typeface="Yu Gothic"/>
                        </a:rPr>
                        <a:t>未計測node温度・共分散</a:t>
                      </a:r>
                    </a:p>
                  </a:txBody>
                  <a:tcPr>
                    <a:solidFill>
                      <a:srgbClr val="F8F8F8"/>
                    </a:solidFill>
                  </a:tcPr>
                </a:tc>
                <a:tc>
                  <a:txBody>
                    <a:bodyPr/>
                    <a:lstStyle/>
                    <a:p>
                      <a:r>
                        <a:rPr sz="848">
                          <a:solidFill>
                            <a:srgbClr val="5B5B5B"/>
                          </a:solidFill>
                          <a:latin typeface="Yu Gothic"/>
                          <a:ea typeface="Yu Gothic"/>
                          <a:cs typeface="Yu Gothic"/>
                        </a:rPr>
                        <a:t>sensor削減検討、欠測補完</a:t>
                      </a:r>
                    </a:p>
                  </a:txBody>
                  <a:tcPr>
                    <a:solidFill>
                      <a:srgbClr val="F8F8F8"/>
                    </a:solidFill>
                  </a:tcPr>
                </a:tc>
                <a:tc>
                  <a:txBody>
                    <a:bodyPr/>
                    <a:lstStyle/>
                    <a:p>
                      <a:r>
                        <a:rPr sz="848">
                          <a:solidFill>
                            <a:srgbClr val="5B5B5B"/>
                          </a:solidFill>
                          <a:latin typeface="Yu Gothic"/>
                          <a:ea typeface="Yu Gothic"/>
                          <a:cs typeface="Yu Gothic"/>
                        </a:rPr>
                        <a:t>observability、校正、bandwidth</a:t>
                      </a:r>
                    </a:p>
                  </a:txBody>
                  <a:tcPr>
                    <a:solidFill>
                      <a:srgbClr val="F8F8F8"/>
                    </a:solidFill>
                  </a:tcPr>
                </a:tc>
                <a:tc>
                  <a:txBody>
                    <a:bodyPr/>
                    <a:lstStyle/>
                    <a:p>
                      <a:r>
                        <a:rPr sz="848" b="1">
                          <a:solidFill>
                            <a:srgbClr val="806000"/>
                          </a:solidFill>
                          <a:latin typeface="Yu Gothic"/>
                          <a:ea typeface="Yu Gothic"/>
                          <a:cs typeface="Yu Gothic"/>
                        </a:rPr>
                        <a:t>条件付</a:t>
                      </a:r>
                    </a:p>
                  </a:txBody>
                  <a:tcPr>
                    <a:solidFill>
                      <a:srgbClr val="FFF5D7"/>
                    </a:solidFill>
                  </a:tcPr>
                </a:tc>
                <a:extLst>
                  <a:ext uri="{0D108BD9-81ED-4DB2-BD59-A6C34878D82A}">
                    <a16:rowId xmlns:a16="http://schemas.microsoft.com/office/drawing/2014/main" val="10002"/>
                  </a:ext>
                </a:extLst>
              </a:tr>
              <a:tr h="588963">
                <a:tc>
                  <a:txBody>
                    <a:bodyPr/>
                    <a:lstStyle/>
                    <a:p>
                      <a:r>
                        <a:rPr sz="848" b="1">
                          <a:solidFill>
                            <a:srgbClr val="5B5B5B"/>
                          </a:solidFill>
                          <a:latin typeface="Yu Gothic"/>
                          <a:ea typeface="Yu Gothic"/>
                          <a:cs typeface="Yu Gothic"/>
                        </a:rPr>
                        <a:t>異常検知</a:t>
                      </a:r>
                    </a:p>
                  </a:txBody>
                  <a:tcPr>
                    <a:solidFill>
                      <a:srgbClr val="FFFFFF"/>
                    </a:solidFill>
                  </a:tcPr>
                </a:tc>
                <a:tc>
                  <a:txBody>
                    <a:bodyPr/>
                    <a:lstStyle/>
                    <a:p>
                      <a:r>
                        <a:rPr sz="848">
                          <a:solidFill>
                            <a:srgbClr val="5B5B5B"/>
                          </a:solidFill>
                          <a:latin typeface="Yu Gothic"/>
                          <a:ea typeface="Yu Gothic"/>
                          <a:cs typeface="Yu Gothic"/>
                        </a:rPr>
                        <a:t>NIS、未知熱d、bias β</a:t>
                      </a:r>
                    </a:p>
                  </a:txBody>
                  <a:tcPr>
                    <a:solidFill>
                      <a:srgbClr val="FFFFFF"/>
                    </a:solidFill>
                  </a:tcPr>
                </a:tc>
                <a:tc>
                  <a:txBody>
                    <a:bodyPr/>
                    <a:lstStyle/>
                    <a:p>
                      <a:r>
                        <a:rPr sz="848">
                          <a:solidFill>
                            <a:srgbClr val="5B5B5B"/>
                          </a:solidFill>
                          <a:latin typeface="Yu Gothic"/>
                          <a:ea typeface="Yu Gothic"/>
                          <a:cs typeface="Yu Gothic"/>
                        </a:rPr>
                        <a:t>未指令発熱とsensorずれの切分け</a:t>
                      </a:r>
                    </a:p>
                  </a:txBody>
                  <a:tcPr>
                    <a:solidFill>
                      <a:srgbClr val="FFFFFF"/>
                    </a:solidFill>
                  </a:tcPr>
                </a:tc>
                <a:tc>
                  <a:txBody>
                    <a:bodyPr/>
                    <a:lstStyle/>
                    <a:p>
                      <a:r>
                        <a:rPr sz="848">
                          <a:solidFill>
                            <a:srgbClr val="5B5B5B"/>
                          </a:solidFill>
                          <a:latin typeface="Yu Gothic"/>
                          <a:ea typeface="Yu Gothic"/>
                          <a:cs typeface="Yu Gothic"/>
                        </a:rPr>
                        <a:t>false alert/hour、fault DOE</a:t>
                      </a:r>
                    </a:p>
                  </a:txBody>
                  <a:tcPr>
                    <a:solidFill>
                      <a:srgbClr val="FFFFFF"/>
                    </a:solidFill>
                  </a:tcPr>
                </a:tc>
                <a:tc>
                  <a:txBody>
                    <a:bodyPr/>
                    <a:lstStyle/>
                    <a:p>
                      <a:r>
                        <a:rPr sz="848" b="1">
                          <a:solidFill>
                            <a:srgbClr val="806000"/>
                          </a:solidFill>
                          <a:latin typeface="Yu Gothic"/>
                          <a:ea typeface="Yu Gothic"/>
                          <a:cs typeface="Yu Gothic"/>
                        </a:rPr>
                        <a:t>CAE evidence有</a:t>
                      </a:r>
                    </a:p>
                  </a:txBody>
                  <a:tcPr>
                    <a:solidFill>
                      <a:srgbClr val="FFF5D7"/>
                    </a:solidFill>
                  </a:tcPr>
                </a:tc>
                <a:extLst>
                  <a:ext uri="{0D108BD9-81ED-4DB2-BD59-A6C34878D82A}">
                    <a16:rowId xmlns:a16="http://schemas.microsoft.com/office/drawing/2014/main" val="10003"/>
                  </a:ext>
                </a:extLst>
              </a:tr>
              <a:tr h="588963">
                <a:tc>
                  <a:txBody>
                    <a:bodyPr/>
                    <a:lstStyle/>
                    <a:p>
                      <a:r>
                        <a:rPr sz="848" b="1">
                          <a:solidFill>
                            <a:srgbClr val="5B5B5B"/>
                          </a:solidFill>
                          <a:latin typeface="Yu Gothic"/>
                          <a:ea typeface="Yu Gothic"/>
                          <a:cs typeface="Yu Gothic"/>
                        </a:rPr>
                        <a:t>recipe / cooling設計</a:t>
                      </a:r>
                    </a:p>
                  </a:txBody>
                  <a:tcPr>
                    <a:solidFill>
                      <a:srgbClr val="F8F8F8"/>
                    </a:solidFill>
                  </a:tcPr>
                </a:tc>
                <a:tc>
                  <a:txBody>
                    <a:bodyPr/>
                    <a:lstStyle/>
                    <a:p>
                      <a:r>
                        <a:rPr sz="848">
                          <a:solidFill>
                            <a:srgbClr val="5B5B5B"/>
                          </a:solidFill>
                          <a:latin typeface="Yu Gothic"/>
                          <a:ea typeface="Yu Gothic"/>
                          <a:cs typeface="Yu Gothic"/>
                        </a:rPr>
                        <a:t>parameter sweep・感度</a:t>
                      </a:r>
                    </a:p>
                  </a:txBody>
                  <a:tcPr>
                    <a:solidFill>
                      <a:srgbClr val="F8F8F8"/>
                    </a:solidFill>
                  </a:tcPr>
                </a:tc>
                <a:tc>
                  <a:txBody>
                    <a:bodyPr/>
                    <a:lstStyle/>
                    <a:p>
                      <a:r>
                        <a:rPr sz="848">
                          <a:solidFill>
                            <a:srgbClr val="5B5B5B"/>
                          </a:solidFill>
                          <a:latin typeface="Yu Gothic"/>
                          <a:ea typeface="Yu Gothic"/>
                          <a:cs typeface="Yu Gothic"/>
                        </a:rPr>
                        <a:t>CAE実行前の候補絞込み</a:t>
                      </a:r>
                    </a:p>
                  </a:txBody>
                  <a:tcPr>
                    <a:solidFill>
                      <a:srgbClr val="F8F8F8"/>
                    </a:solidFill>
                  </a:tcPr>
                </a:tc>
                <a:tc>
                  <a:txBody>
                    <a:bodyPr/>
                    <a:lstStyle/>
                    <a:p>
                      <a:r>
                        <a:rPr sz="848">
                          <a:solidFill>
                            <a:srgbClr val="5B5B5B"/>
                          </a:solidFill>
                          <a:latin typeface="Yu Gothic"/>
                          <a:ea typeface="Yu Gothic"/>
                          <a:cs typeface="Yu Gothic"/>
                        </a:rPr>
                        <a:t>外挿禁止、parameter uncertainty</a:t>
                      </a:r>
                    </a:p>
                  </a:txBody>
                  <a:tcPr>
                    <a:solidFill>
                      <a:srgbClr val="F8F8F8"/>
                    </a:solidFill>
                  </a:tcPr>
                </a:tc>
                <a:tc>
                  <a:txBody>
                    <a:bodyPr/>
                    <a:lstStyle/>
                    <a:p>
                      <a:r>
                        <a:rPr sz="848" b="1">
                          <a:solidFill>
                            <a:srgbClr val="4D8710"/>
                          </a:solidFill>
                          <a:latin typeface="Yu Gothic"/>
                          <a:ea typeface="Yu Gothic"/>
                          <a:cs typeface="Yu Gothic"/>
                        </a:rPr>
                        <a:t>screening可</a:t>
                      </a:r>
                    </a:p>
                  </a:txBody>
                  <a:tcPr>
                    <a:solidFill>
                      <a:srgbClr val="EEF7DF"/>
                    </a:solidFill>
                  </a:tcPr>
                </a:tc>
                <a:extLst>
                  <a:ext uri="{0D108BD9-81ED-4DB2-BD59-A6C34878D82A}">
                    <a16:rowId xmlns:a16="http://schemas.microsoft.com/office/drawing/2014/main" val="10004"/>
                  </a:ext>
                </a:extLst>
              </a:tr>
              <a:tr h="588963">
                <a:tc>
                  <a:txBody>
                    <a:bodyPr/>
                    <a:lstStyle/>
                    <a:p>
                      <a:r>
                        <a:rPr sz="848" b="1">
                          <a:solidFill>
                            <a:srgbClr val="5B5B5B"/>
                          </a:solidFill>
                          <a:latin typeface="Yu Gothic"/>
                          <a:ea typeface="Yu Gothic"/>
                          <a:cs typeface="Yu Gothic"/>
                        </a:rPr>
                        <a:t>hardware change</a:t>
                      </a:r>
                    </a:p>
                  </a:txBody>
                  <a:tcPr>
                    <a:solidFill>
                      <a:srgbClr val="FFFFFF"/>
                    </a:solidFill>
                  </a:tcPr>
                </a:tc>
                <a:tc>
                  <a:txBody>
                    <a:bodyPr/>
                    <a:lstStyle/>
                    <a:p>
                      <a:r>
                        <a:rPr sz="848">
                          <a:solidFill>
                            <a:srgbClr val="5B5B5B"/>
                          </a:solidFill>
                          <a:latin typeface="Yu Gothic"/>
                          <a:ea typeface="Yu Gothic"/>
                          <a:cs typeface="Yu Gothic"/>
                        </a:rPr>
                        <a:t>再同定係数・残差</a:t>
                      </a:r>
                    </a:p>
                  </a:txBody>
                  <a:tcPr>
                    <a:solidFill>
                      <a:srgbClr val="FFFFFF"/>
                    </a:solidFill>
                  </a:tcPr>
                </a:tc>
                <a:tc>
                  <a:txBody>
                    <a:bodyPr/>
                    <a:lstStyle/>
                    <a:p>
                      <a:r>
                        <a:rPr sz="848">
                          <a:solidFill>
                            <a:srgbClr val="5B5B5B"/>
                          </a:solidFill>
                          <a:latin typeface="Yu Gothic"/>
                          <a:ea typeface="Yu Gothic"/>
                          <a:cs typeface="Yu Gothic"/>
                        </a:rPr>
                        <a:t>接触・冷却経路変更の比較</a:t>
                      </a:r>
                    </a:p>
                  </a:txBody>
                  <a:tcPr>
                    <a:solidFill>
                      <a:srgbClr val="FFFFFF"/>
                    </a:solidFill>
                  </a:tcPr>
                </a:tc>
                <a:tc>
                  <a:txBody>
                    <a:bodyPr/>
                    <a:lstStyle/>
                    <a:p>
                      <a:r>
                        <a:rPr sz="848">
                          <a:solidFill>
                            <a:srgbClr val="5B5B5B"/>
                          </a:solidFill>
                          <a:latin typeface="Yu Gothic"/>
                          <a:ea typeface="Yu Gothic"/>
                          <a:cs typeface="Yu Gothic"/>
                        </a:rPr>
                        <a:t>topology再確認、CAE/実験再V&amp;V</a:t>
                      </a:r>
                    </a:p>
                  </a:txBody>
                  <a:tcPr>
                    <a:solidFill>
                      <a:srgbClr val="FFFFFF"/>
                    </a:solidFill>
                  </a:tcPr>
                </a:tc>
                <a:tc>
                  <a:txBody>
                    <a:bodyPr/>
                    <a:lstStyle/>
                    <a:p>
                      <a:r>
                        <a:rPr sz="848" b="1">
                          <a:solidFill>
                            <a:srgbClr val="C4493D"/>
                          </a:solidFill>
                          <a:latin typeface="Yu Gothic"/>
                          <a:ea typeface="Yu Gothic"/>
                          <a:cs typeface="Yu Gothic"/>
                        </a:rPr>
                        <a:t>要再検証</a:t>
                      </a:r>
                    </a:p>
                  </a:txBody>
                  <a:tcPr>
                    <a:solidFill>
                      <a:srgbClr val="FBE9E7"/>
                    </a:solidFill>
                  </a:tcPr>
                </a:tc>
                <a:extLst>
                  <a:ext uri="{0D108BD9-81ED-4DB2-BD59-A6C34878D82A}">
                    <a16:rowId xmlns:a16="http://schemas.microsoft.com/office/drawing/2014/main" val="10005"/>
                  </a:ext>
                </a:extLst>
              </a:tr>
            </a:tbl>
          </a:graphicData>
        </a:graphic>
      </p:graphicFrame>
      <p:sp>
        <p:nvSpPr>
          <p:cNvPr id="10" name="正方形/長方形 9">
            <a:extLst>
              <a:ext uri="{FF2B5EF4-FFF2-40B4-BE49-F238E27FC236}">
                <a16:creationId xmlns:a16="http://schemas.microsoft.com/office/drawing/2014/main" id="{1580F7B7-62F5-4AB2-86BF-3F06D5D00955}"/>
              </a:ext>
            </a:extLst>
          </p:cNvPr>
          <p:cNvSpPr>
            <a:spLocks noGrp="1"/>
          </p:cNvSpPr>
          <p:nvPr/>
        </p:nvSpPr>
        <p:spPr>
          <a:xfrm>
            <a:off x="552450" y="5229225"/>
            <a:ext cx="3505200" cy="885825"/>
          </a:xfrm>
          <a:prstGeom prst="rect">
            <a:avLst/>
          </a:prstGeom>
          <a:solidFill>
            <a:srgbClr val="F8F8F8"/>
          </a:solidFill>
          <a:ln w="9525">
            <a:solidFill>
              <a:srgbClr val="D6D6D6"/>
            </a:solidFill>
            <a:prstDash val="solid"/>
          </a:ln>
        </p:spPr>
      </p:sp>
      <p:sp>
        <p:nvSpPr>
          <p:cNvPr id="11" name="正方形/長方形 10">
            <a:extLst>
              <a:ext uri="{FF2B5EF4-FFF2-40B4-BE49-F238E27FC236}">
                <a16:creationId xmlns:a16="http://schemas.microsoft.com/office/drawing/2014/main" id="{D4EDBDD4-BCBD-4D32-8166-224DC3BCAC65}"/>
              </a:ext>
            </a:extLst>
          </p:cNvPr>
          <p:cNvSpPr>
            <a:spLocks noGrp="1"/>
          </p:cNvSpPr>
          <p:nvPr/>
        </p:nvSpPr>
        <p:spPr>
          <a:xfrm>
            <a:off x="723900" y="5343525"/>
            <a:ext cx="762000" cy="228600"/>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00A5D8"/>
                </a:solidFill>
                <a:latin typeface="Yu Gothic"/>
                <a:ea typeface="Yu Gothic"/>
                <a:cs typeface="Yu Gothic"/>
              </a:defRPr>
            </a:pPr>
            <a:r>
              <a:rPr sz="975" b="1" i="0">
                <a:solidFill>
                  <a:srgbClr val="00A5D8"/>
                </a:solidFill>
                <a:latin typeface="Yu Gothic"/>
                <a:ea typeface="Yu Gothic"/>
                <a:cs typeface="Yu Gothic"/>
              </a:rPr>
              <a:t>CAE</a:t>
            </a:r>
          </a:p>
        </p:txBody>
      </p:sp>
      <p:sp>
        <p:nvSpPr>
          <p:cNvPr id="12" name="正方形/長方形 11">
            <a:extLst>
              <a:ext uri="{FF2B5EF4-FFF2-40B4-BE49-F238E27FC236}">
                <a16:creationId xmlns:a16="http://schemas.microsoft.com/office/drawing/2014/main" id="{F2BECF02-4A50-49B7-A8C1-64EB3DB98EAC}"/>
              </a:ext>
            </a:extLst>
          </p:cNvPr>
          <p:cNvSpPr>
            <a:spLocks noGrp="1"/>
          </p:cNvSpPr>
          <p:nvPr/>
        </p:nvSpPr>
        <p:spPr>
          <a:xfrm>
            <a:off x="723900" y="5610225"/>
            <a:ext cx="3143250" cy="352425"/>
          </a:xfrm>
          <a:prstGeom prst="rect">
            <a:avLst/>
          </a:prstGeom>
          <a:noFill/>
          <a:ln w="0">
            <a:noFill/>
            <a:prstDash val="solid"/>
          </a:ln>
        </p:spPr>
        <p:txBody>
          <a:bodyPr wrap="square" lIns="28575" tIns="19050" rIns="28575" bIns="19050" anchor="t">
            <a:normAutofit/>
          </a:bodyPr>
          <a:lstStyle/>
          <a:p>
            <a:pPr algn="l">
              <a:lnSpc>
                <a:spcPct val="107000"/>
              </a:lnSpc>
              <a:buNone/>
              <a:defRPr sz="863" b="0" i="0">
                <a:solidFill>
                  <a:srgbClr val="5B5B5B"/>
                </a:solidFill>
                <a:latin typeface="Yu Gothic"/>
                <a:ea typeface="Yu Gothic"/>
                <a:cs typeface="Yu Gothic"/>
              </a:defRPr>
            </a:pPr>
            <a:r>
              <a:rPr sz="863" b="0" i="0">
                <a:solidFill>
                  <a:srgbClr val="5B5B5B"/>
                </a:solidFill>
                <a:latin typeface="Yu Gothic"/>
                <a:ea typeface="Yu Gothic"/>
                <a:cs typeface="Yu Gothic"/>
              </a:rPr>
              <a:t>全caseを高忠実度で解く前に、感度とworst候補を選別</a:t>
            </a:r>
          </a:p>
        </p:txBody>
      </p:sp>
      <p:sp>
        <p:nvSpPr>
          <p:cNvPr id="13" name="正方形/長方形 12">
            <a:extLst>
              <a:ext uri="{FF2B5EF4-FFF2-40B4-BE49-F238E27FC236}">
                <a16:creationId xmlns:a16="http://schemas.microsoft.com/office/drawing/2014/main" id="{91E3F208-D982-4F97-B14E-D6590999FAA2}"/>
              </a:ext>
            </a:extLst>
          </p:cNvPr>
          <p:cNvSpPr>
            <a:spLocks noGrp="1"/>
          </p:cNvSpPr>
          <p:nvPr/>
        </p:nvSpPr>
        <p:spPr>
          <a:xfrm>
            <a:off x="4248150" y="5229225"/>
            <a:ext cx="3505200" cy="885825"/>
          </a:xfrm>
          <a:prstGeom prst="rect">
            <a:avLst/>
          </a:prstGeom>
          <a:solidFill>
            <a:srgbClr val="F8F8F8"/>
          </a:solidFill>
          <a:ln w="9525">
            <a:solidFill>
              <a:srgbClr val="D6D6D6"/>
            </a:solidFill>
            <a:prstDash val="solid"/>
          </a:ln>
        </p:spPr>
      </p:sp>
      <p:sp>
        <p:nvSpPr>
          <p:cNvPr id="14" name="正方形/長方形 13">
            <a:extLst>
              <a:ext uri="{FF2B5EF4-FFF2-40B4-BE49-F238E27FC236}">
                <a16:creationId xmlns:a16="http://schemas.microsoft.com/office/drawing/2014/main" id="{C315F265-354E-4B68-B0D8-C8EE3841C515}"/>
              </a:ext>
            </a:extLst>
          </p:cNvPr>
          <p:cNvSpPr>
            <a:spLocks noGrp="1"/>
          </p:cNvSpPr>
          <p:nvPr/>
        </p:nvSpPr>
        <p:spPr>
          <a:xfrm>
            <a:off x="4419600" y="5343525"/>
            <a:ext cx="762000" cy="228600"/>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76BE18"/>
                </a:solidFill>
                <a:latin typeface="Yu Gothic"/>
                <a:ea typeface="Yu Gothic"/>
                <a:cs typeface="Yu Gothic"/>
              </a:defRPr>
            </a:pPr>
            <a:r>
              <a:rPr sz="975" b="1" i="0">
                <a:solidFill>
                  <a:srgbClr val="76BE18"/>
                </a:solidFill>
                <a:latin typeface="Yu Gothic"/>
                <a:ea typeface="Yu Gothic"/>
                <a:cs typeface="Yu Gothic"/>
              </a:rPr>
              <a:t>Control</a:t>
            </a:r>
          </a:p>
        </p:txBody>
      </p:sp>
      <p:sp>
        <p:nvSpPr>
          <p:cNvPr id="15" name="正方形/長方形 14">
            <a:extLst>
              <a:ext uri="{FF2B5EF4-FFF2-40B4-BE49-F238E27FC236}">
                <a16:creationId xmlns:a16="http://schemas.microsoft.com/office/drawing/2014/main" id="{C5F9741C-2B76-4AEE-B7F9-B3C90DB078D4}"/>
              </a:ext>
            </a:extLst>
          </p:cNvPr>
          <p:cNvSpPr>
            <a:spLocks noGrp="1"/>
          </p:cNvSpPr>
          <p:nvPr/>
        </p:nvSpPr>
        <p:spPr>
          <a:xfrm>
            <a:off x="4419600" y="5610225"/>
            <a:ext cx="3143250" cy="352425"/>
          </a:xfrm>
          <a:prstGeom prst="rect">
            <a:avLst/>
          </a:prstGeom>
          <a:noFill/>
          <a:ln w="0">
            <a:noFill/>
            <a:prstDash val="solid"/>
          </a:ln>
        </p:spPr>
        <p:txBody>
          <a:bodyPr wrap="square" lIns="28575" tIns="19050" rIns="28575" bIns="19050" anchor="t">
            <a:normAutofit/>
          </a:bodyPr>
          <a:lstStyle/>
          <a:p>
            <a:pPr algn="l">
              <a:lnSpc>
                <a:spcPct val="107000"/>
              </a:lnSpc>
              <a:buNone/>
              <a:defRPr sz="863" b="0" i="0">
                <a:solidFill>
                  <a:srgbClr val="5B5B5B"/>
                </a:solidFill>
                <a:latin typeface="Yu Gothic"/>
                <a:ea typeface="Yu Gothic"/>
                <a:cs typeface="Yu Gothic"/>
              </a:defRPr>
            </a:pPr>
            <a:r>
              <a:rPr sz="863" b="0" i="0">
                <a:solidFill>
                  <a:srgbClr val="5B5B5B"/>
                </a:solidFill>
                <a:latin typeface="Yu Gothic"/>
                <a:ea typeface="Yu Gothic"/>
                <a:cs typeface="Yu Gothic"/>
              </a:rPr>
              <a:t>同じ状態定義をforecastとmonitorで共有し、handoffを削減</a:t>
            </a:r>
          </a:p>
        </p:txBody>
      </p:sp>
      <p:sp>
        <p:nvSpPr>
          <p:cNvPr id="16" name="正方形/長方形 15">
            <a:extLst>
              <a:ext uri="{FF2B5EF4-FFF2-40B4-BE49-F238E27FC236}">
                <a16:creationId xmlns:a16="http://schemas.microsoft.com/office/drawing/2014/main" id="{5F134F51-3B16-4A23-A74C-CA854434CCB7}"/>
              </a:ext>
            </a:extLst>
          </p:cNvPr>
          <p:cNvSpPr>
            <a:spLocks noGrp="1"/>
          </p:cNvSpPr>
          <p:nvPr/>
        </p:nvSpPr>
        <p:spPr>
          <a:xfrm>
            <a:off x="7943850" y="5229225"/>
            <a:ext cx="3505200" cy="885825"/>
          </a:xfrm>
          <a:prstGeom prst="rect">
            <a:avLst/>
          </a:prstGeom>
          <a:solidFill>
            <a:srgbClr val="F8F8F8"/>
          </a:solidFill>
          <a:ln w="9525">
            <a:solidFill>
              <a:srgbClr val="D6D6D6"/>
            </a:solidFill>
            <a:prstDash val="solid"/>
          </a:ln>
        </p:spPr>
      </p:sp>
      <p:sp>
        <p:nvSpPr>
          <p:cNvPr id="17" name="正方形/長方形 16">
            <a:extLst>
              <a:ext uri="{FF2B5EF4-FFF2-40B4-BE49-F238E27FC236}">
                <a16:creationId xmlns:a16="http://schemas.microsoft.com/office/drawing/2014/main" id="{C1E1E2E8-F129-4DB8-98AF-BCA04A85D9FA}"/>
              </a:ext>
            </a:extLst>
          </p:cNvPr>
          <p:cNvSpPr>
            <a:spLocks noGrp="1"/>
          </p:cNvSpPr>
          <p:nvPr/>
        </p:nvSpPr>
        <p:spPr>
          <a:xfrm>
            <a:off x="8115300" y="5343525"/>
            <a:ext cx="762000" cy="228600"/>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7B2DAF"/>
                </a:solidFill>
                <a:latin typeface="Yu Gothic"/>
                <a:ea typeface="Yu Gothic"/>
                <a:cs typeface="Yu Gothic"/>
              </a:defRPr>
            </a:pPr>
            <a:r>
              <a:rPr sz="975" b="1" i="0">
                <a:solidFill>
                  <a:srgbClr val="7B2DAF"/>
                </a:solidFill>
                <a:latin typeface="Yu Gothic"/>
                <a:ea typeface="Yu Gothic"/>
                <a:cs typeface="Yu Gothic"/>
              </a:rPr>
              <a:t>FMEA</a:t>
            </a:r>
          </a:p>
        </p:txBody>
      </p:sp>
      <p:sp>
        <p:nvSpPr>
          <p:cNvPr id="18" name="正方形/長方形 17">
            <a:extLst>
              <a:ext uri="{FF2B5EF4-FFF2-40B4-BE49-F238E27FC236}">
                <a16:creationId xmlns:a16="http://schemas.microsoft.com/office/drawing/2014/main" id="{C506F01F-E8E1-4DB3-BBE1-FAA414F0C3F2}"/>
              </a:ext>
            </a:extLst>
          </p:cNvPr>
          <p:cNvSpPr>
            <a:spLocks noGrp="1"/>
          </p:cNvSpPr>
          <p:nvPr/>
        </p:nvSpPr>
        <p:spPr>
          <a:xfrm>
            <a:off x="8115300" y="5610225"/>
            <a:ext cx="3143250" cy="352425"/>
          </a:xfrm>
          <a:prstGeom prst="rect">
            <a:avLst/>
          </a:prstGeom>
          <a:noFill/>
          <a:ln w="0">
            <a:noFill/>
            <a:prstDash val="solid"/>
          </a:ln>
        </p:spPr>
        <p:txBody>
          <a:bodyPr wrap="square" lIns="28575" tIns="19050" rIns="28575" bIns="19050" anchor="t">
            <a:normAutofit/>
          </a:bodyPr>
          <a:lstStyle/>
          <a:p>
            <a:pPr algn="l">
              <a:lnSpc>
                <a:spcPct val="107000"/>
              </a:lnSpc>
              <a:buNone/>
              <a:defRPr sz="863" b="0" i="0">
                <a:solidFill>
                  <a:srgbClr val="5B5B5B"/>
                </a:solidFill>
                <a:latin typeface="Yu Gothic"/>
                <a:ea typeface="Yu Gothic"/>
                <a:cs typeface="Yu Gothic"/>
              </a:defRPr>
            </a:pPr>
            <a:r>
              <a:rPr sz="863" b="0" i="0">
                <a:solidFill>
                  <a:srgbClr val="5B5B5B"/>
                </a:solidFill>
                <a:latin typeface="Yu Gothic"/>
                <a:ea typeface="Yu Gothic"/>
                <a:cs typeface="Yu Gothic"/>
              </a:rPr>
              <a:t>hidden heat / bias / model gapを別channelで記録</a:t>
            </a:r>
          </a:p>
        </p:txBody>
      </p:sp>
      <p:sp>
        <p:nvSpPr>
          <p:cNvPr id="19" name="正方形/長方形 18">
            <a:extLst>
              <a:ext uri="{FF2B5EF4-FFF2-40B4-BE49-F238E27FC236}">
                <a16:creationId xmlns:a16="http://schemas.microsoft.com/office/drawing/2014/main" id="{8E470406-2BF1-4BF7-A262-08650CB01EC9}"/>
              </a:ext>
            </a:extLst>
          </p:cNvPr>
          <p:cNvSpPr>
            <a:spLocks noGrp="1"/>
          </p:cNvSpPr>
          <p:nvPr/>
        </p:nvSpPr>
        <p:spPr>
          <a:xfrm>
            <a:off x="552450" y="6200775"/>
            <a:ext cx="11087100" cy="171450"/>
          </a:xfrm>
          <a:prstGeom prst="rect">
            <a:avLst/>
          </a:prstGeom>
          <a:noFill/>
          <a:ln w="0">
            <a:noFill/>
            <a:prstDash val="solid"/>
          </a:ln>
        </p:spPr>
        <p:txBody>
          <a:bodyPr wrap="square" lIns="28575" tIns="19050" rIns="28575" bIns="19050" anchor="ctr">
            <a:normAutofit/>
          </a:bodyPr>
          <a:lstStyle/>
          <a:p>
            <a:pPr algn="ctr">
              <a:lnSpc>
                <a:spcPct val="100000"/>
              </a:lnSpc>
              <a:buNone/>
              <a:defRPr sz="735" b="0" i="0">
                <a:solidFill>
                  <a:srgbClr val="777777"/>
                </a:solidFill>
                <a:latin typeface="Yu Gothic"/>
                <a:ea typeface="Yu Gothic"/>
                <a:cs typeface="Yu Gothic"/>
              </a:defRPr>
            </a:pPr>
            <a:r>
              <a:rPr sz="735" b="0" i="0">
                <a:solidFill>
                  <a:srgbClr val="777777"/>
                </a:solidFill>
                <a:latin typeface="Yu Gothic"/>
                <a:ea typeface="Yu Gothic"/>
                <a:cs typeface="Yu Gothic"/>
              </a:rPr>
              <a:t>注：計算時間短縮率は本benchmarkでは計測していない。価値は実装後にCAE回数・DOE回数・alarm対応時間で定量化する。</a:t>
            </a:r>
          </a:p>
        </p:txBody>
      </p:sp>
    </p:spTree>
    <p:extLst>
      <p:ext uri="{BB962C8B-B14F-4D97-AF65-F5344CB8AC3E}">
        <p14:creationId xmlns:p14="http://schemas.microsoft.com/office/powerpoint/2010/main" val="19901764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1" name="正方形/長方形 50">
            <a:extLst>
              <a:ext uri="{FF2B5EF4-FFF2-40B4-BE49-F238E27FC236}">
                <a16:creationId xmlns:a16="http://schemas.microsoft.com/office/drawing/2014/main" id="{D325B0BF-9CB0-4944-A2D4-991FE8C6979C}"/>
              </a:ext>
            </a:extLst>
          </p:cNvPr>
          <p:cNvSpPr>
            <a:spLocks noGrp="1"/>
          </p:cNvSpPr>
          <p:nvPr/>
        </p:nvSpPr>
        <p:spPr>
          <a:xfrm>
            <a:off x="552450" y="190500"/>
            <a:ext cx="76200" cy="142875"/>
          </a:xfrm>
          <a:prstGeom prst="rect">
            <a:avLst/>
          </a:prstGeom>
          <a:solidFill>
            <a:srgbClr val="76BE18"/>
          </a:solidFill>
          <a:ln w="0">
            <a:noFill/>
            <a:prstDash val="solid"/>
          </a:ln>
        </p:spPr>
      </p:sp>
      <p:sp>
        <p:nvSpPr>
          <p:cNvPr id="2" name="正方形/長方形 1">
            <a:extLst>
              <a:ext uri="{FF2B5EF4-FFF2-40B4-BE49-F238E27FC236}">
                <a16:creationId xmlns:a16="http://schemas.microsoft.com/office/drawing/2014/main" id="{AF3B46D2-94A6-45B6-956B-843A7AF356FF}"/>
              </a:ext>
            </a:extLst>
          </p:cNvPr>
          <p:cNvSpPr>
            <a:spLocks noGrp="1"/>
          </p:cNvSpPr>
          <p:nvPr/>
        </p:nvSpPr>
        <p:spPr>
          <a:xfrm>
            <a:off x="704850" y="161925"/>
            <a:ext cx="3429000" cy="190500"/>
          </a:xfrm>
          <a:prstGeom prst="rect">
            <a:avLst/>
          </a:prstGeom>
          <a:noFill/>
          <a:ln w="0">
            <a:noFill/>
            <a:prstDash val="solid"/>
          </a:ln>
        </p:spPr>
        <p:txBody>
          <a:bodyPr wrap="none" lIns="28575" tIns="19050" rIns="28575" bIns="19050" anchor="ctr">
            <a:noAutofit/>
          </a:bodyPr>
          <a:lstStyle/>
          <a:p>
            <a:pPr algn="l">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VALIDATION PLAN</a:t>
            </a:r>
          </a:p>
        </p:txBody>
      </p:sp>
      <p:sp>
        <p:nvSpPr>
          <p:cNvPr id="3" name="正方形/長方形 2">
            <a:extLst>
              <a:ext uri="{FF2B5EF4-FFF2-40B4-BE49-F238E27FC236}">
                <a16:creationId xmlns:a16="http://schemas.microsoft.com/office/drawing/2014/main" id="{7F3A4BA4-FA56-4CD0-880B-ACC08A1FCDC7}"/>
              </a:ext>
            </a:extLst>
          </p:cNvPr>
          <p:cNvSpPr>
            <a:spLocks noGrp="1"/>
          </p:cNvSpPr>
          <p:nvPr/>
        </p:nvSpPr>
        <p:spPr>
          <a:xfrm>
            <a:off x="552450" y="400050"/>
            <a:ext cx="11001375" cy="400050"/>
          </a:xfrm>
          <a:prstGeom prst="rect">
            <a:avLst/>
          </a:prstGeom>
          <a:noFill/>
          <a:ln w="0">
            <a:noFill/>
            <a:prstDash val="solid"/>
          </a:ln>
        </p:spPr>
        <p:txBody>
          <a:bodyPr wrap="none" lIns="19050" tIns="0" rIns="19050" bIns="0" anchor="ctr">
            <a:normAutofit/>
          </a:bodyPr>
          <a:lstStyle/>
          <a:p>
            <a:pPr algn="l">
              <a:lnSpc>
                <a:spcPct val="100000"/>
              </a:lnSpc>
              <a:buNone/>
              <a:defRPr sz="2175" b="1" i="0">
                <a:solidFill>
                  <a:srgbClr val="00A5D8"/>
                </a:solidFill>
                <a:latin typeface="Yu Gothic"/>
                <a:ea typeface="Yu Gothic"/>
                <a:cs typeface="Yu Gothic"/>
              </a:defRPr>
            </a:pPr>
            <a:r>
              <a:rPr sz="2175" b="1" i="0">
                <a:solidFill>
                  <a:srgbClr val="00A5D8"/>
                </a:solidFill>
                <a:latin typeface="Yu Gothic"/>
                <a:ea typeface="Yu Gothic"/>
                <a:cs typeface="Yu Gothic"/>
              </a:rPr>
              <a:t>装置採用は4段階のgateで進め、各段階の不確かさと再評価条件を残す</a:t>
            </a:r>
          </a:p>
        </p:txBody>
      </p:sp>
      <p:sp>
        <p:nvSpPr>
          <p:cNvPr id="4" name="正方形/長方形 3">
            <a:extLst>
              <a:ext uri="{FF2B5EF4-FFF2-40B4-BE49-F238E27FC236}">
                <a16:creationId xmlns:a16="http://schemas.microsoft.com/office/drawing/2014/main" id="{C4BA6A44-6EE0-4DD5-81EE-44CF3E0B2F79}"/>
              </a:ext>
            </a:extLst>
          </p:cNvPr>
          <p:cNvSpPr>
            <a:spLocks noGrp="1"/>
          </p:cNvSpPr>
          <p:nvPr/>
        </p:nvSpPr>
        <p:spPr>
          <a:xfrm>
            <a:off x="571500" y="838200"/>
            <a:ext cx="10906125" cy="228600"/>
          </a:xfrm>
          <a:prstGeom prst="rect">
            <a:avLst/>
          </a:prstGeom>
          <a:noFill/>
          <a:ln w="0">
            <a:noFill/>
            <a:prstDash val="solid"/>
          </a:ln>
        </p:spPr>
        <p:txBody>
          <a:bodyPr wrap="none" lIns="28575" tIns="19050" rIns="28575" bIns="19050" anchor="ctr">
            <a:noAutofit/>
          </a:bodyPr>
          <a:lstStyle/>
          <a:p>
            <a:pPr algn="l">
              <a:lnSpc>
                <a:spcPct val="100000"/>
              </a:lnSpc>
              <a:buNone/>
              <a:defRPr sz="975" b="0" i="0">
                <a:solidFill>
                  <a:srgbClr val="5B5B5B"/>
                </a:solidFill>
                <a:latin typeface="Yu Gothic"/>
                <a:ea typeface="Yu Gothic"/>
                <a:cs typeface="Yu Gothic"/>
              </a:defRPr>
            </a:pPr>
            <a:r>
              <a:rPr sz="975" b="0" i="0">
                <a:solidFill>
                  <a:srgbClr val="5B5B5B"/>
                </a:solidFill>
                <a:latin typeface="Yu Gothic"/>
                <a:ea typeface="Yu Gothic"/>
                <a:cs typeface="Yu Gothic"/>
              </a:rPr>
              <a:t>合格基準はFMEA・制御仕様・thermal budgetと結び付けて事前に固定する</a:t>
            </a:r>
          </a:p>
        </p:txBody>
      </p:sp>
      <p:sp>
        <p:nvSpPr>
          <p:cNvPr id="5" name="直線コネクタ 4">
            <a:extLst>
              <a:ext uri="{FF2B5EF4-FFF2-40B4-BE49-F238E27FC236}">
                <a16:creationId xmlns:a16="http://schemas.microsoft.com/office/drawing/2014/main" id="{BE34751D-63C1-4E50-8226-BE33480DA6CE}"/>
              </a:ext>
            </a:extLst>
          </p:cNvPr>
          <p:cNvSpPr>
            <a:spLocks noGrp="1"/>
          </p:cNvSpPr>
          <p:nvPr/>
        </p:nvSpPr>
        <p:spPr>
          <a:xfrm>
            <a:off x="552450" y="1152525"/>
            <a:ext cx="11087100" cy="0"/>
          </a:xfrm>
          <a:prstGeom prst="line">
            <a:avLst/>
          </a:prstGeom>
          <a:noFill/>
          <a:ln w="9525">
            <a:solidFill>
              <a:srgbClr val="D6D6D6"/>
            </a:solidFill>
            <a:prstDash val="solid"/>
          </a:ln>
        </p:spPr>
      </p:sp>
      <p:sp>
        <p:nvSpPr>
          <p:cNvPr id="6" name="直線コネクタ 5">
            <a:extLst>
              <a:ext uri="{FF2B5EF4-FFF2-40B4-BE49-F238E27FC236}">
                <a16:creationId xmlns:a16="http://schemas.microsoft.com/office/drawing/2014/main" id="{072AA7B2-6BA8-4145-9D19-B93DE9681CD1}"/>
              </a:ext>
            </a:extLst>
          </p:cNvPr>
          <p:cNvSpPr>
            <a:spLocks noGrp="1"/>
          </p:cNvSpPr>
          <p:nvPr/>
        </p:nvSpPr>
        <p:spPr>
          <a:xfrm>
            <a:off x="552450" y="6438900"/>
            <a:ext cx="11087100" cy="0"/>
          </a:xfrm>
          <a:prstGeom prst="line">
            <a:avLst/>
          </a:prstGeom>
          <a:noFill/>
          <a:ln w="9525">
            <a:solidFill>
              <a:srgbClr val="D6D6D6"/>
            </a:solidFill>
            <a:prstDash val="solid"/>
          </a:ln>
        </p:spPr>
      </p:sp>
      <p:sp>
        <p:nvSpPr>
          <p:cNvPr id="7" name="正方形/長方形 6">
            <a:extLst>
              <a:ext uri="{FF2B5EF4-FFF2-40B4-BE49-F238E27FC236}">
                <a16:creationId xmlns:a16="http://schemas.microsoft.com/office/drawing/2014/main" id="{F4FF191E-0626-4132-90B5-7737588DF62E}"/>
              </a:ext>
            </a:extLst>
          </p:cNvPr>
          <p:cNvSpPr>
            <a:spLocks noGrp="1"/>
          </p:cNvSpPr>
          <p:nvPr/>
        </p:nvSpPr>
        <p:spPr>
          <a:xfrm>
            <a:off x="571500" y="6505575"/>
            <a:ext cx="5334000" cy="171450"/>
          </a:xfrm>
          <a:prstGeom prst="rect">
            <a:avLst/>
          </a:prstGeom>
          <a:noFill/>
          <a:ln w="0">
            <a:noFill/>
            <a:prstDash val="solid"/>
          </a:ln>
        </p:spPr>
        <p:txBody>
          <a:bodyPr wrap="none" lIns="28575" tIns="19050" rIns="28575" bIns="19050" anchor="ctr">
            <a:noAutofit/>
          </a:bodyPr>
          <a:lstStyle/>
          <a:p>
            <a:pPr algn="l">
              <a:lnSpc>
                <a:spcPct val="100000"/>
              </a:lnSpc>
              <a:buNone/>
              <a:defRPr sz="713" b="0" i="0">
                <a:solidFill>
                  <a:srgbClr val="777777"/>
                </a:solidFill>
                <a:latin typeface="Yu Gothic"/>
                <a:ea typeface="Yu Gothic"/>
                <a:cs typeface="Yu Gothic"/>
              </a:defRPr>
            </a:pPr>
            <a:r>
              <a:rPr sz="713" b="0" i="0">
                <a:solidFill>
                  <a:srgbClr val="777777"/>
                </a:solidFill>
                <a:latin typeface="Yu Gothic"/>
                <a:ea typeface="Yu Gothic"/>
                <a:cs typeface="Yu Gothic"/>
              </a:rPr>
              <a:t>THERMAL RC / EQUIPMENT ENGINEERING REVIEW  ·  2026-09-17</a:t>
            </a:r>
          </a:p>
        </p:txBody>
      </p:sp>
      <p:sp>
        <p:nvSpPr>
          <p:cNvPr id="8" name="正方形/長方形 7">
            <a:extLst>
              <a:ext uri="{FF2B5EF4-FFF2-40B4-BE49-F238E27FC236}">
                <a16:creationId xmlns:a16="http://schemas.microsoft.com/office/drawing/2014/main" id="{279D006C-6174-4C94-9A34-7D80ED9B7498}"/>
              </a:ext>
            </a:extLst>
          </p:cNvPr>
          <p:cNvSpPr>
            <a:spLocks noGrp="1"/>
          </p:cNvSpPr>
          <p:nvPr/>
        </p:nvSpPr>
        <p:spPr>
          <a:xfrm>
            <a:off x="11125200" y="6496050"/>
            <a:ext cx="476250" cy="171450"/>
          </a:xfrm>
          <a:prstGeom prst="rect">
            <a:avLst/>
          </a:prstGeom>
          <a:noFill/>
          <a:ln w="0">
            <a:noFill/>
            <a:prstDash val="solid"/>
          </a:ln>
        </p:spPr>
        <p:txBody>
          <a:bodyPr wrap="square" lIns="28575" tIns="19050" rIns="28575" bIns="19050" anchor="ctr">
            <a:noAutofit/>
          </a:bodyPr>
          <a:lstStyle/>
          <a:p>
            <a:pPr algn="r">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28</a:t>
            </a:r>
          </a:p>
        </p:txBody>
      </p:sp>
      <p:sp>
        <p:nvSpPr>
          <p:cNvPr id="9" name="正方形/長方形 8">
            <a:extLst>
              <a:ext uri="{FF2B5EF4-FFF2-40B4-BE49-F238E27FC236}">
                <a16:creationId xmlns:a16="http://schemas.microsoft.com/office/drawing/2014/main" id="{D0B16AE2-93B2-49D2-9285-CCDBA09B920C}"/>
              </a:ext>
            </a:extLst>
          </p:cNvPr>
          <p:cNvSpPr>
            <a:spLocks noGrp="1"/>
          </p:cNvSpPr>
          <p:nvPr/>
        </p:nvSpPr>
        <p:spPr>
          <a:xfrm>
            <a:off x="552450" y="1628775"/>
            <a:ext cx="2571750" cy="2162175"/>
          </a:xfrm>
          <a:prstGeom prst="rect">
            <a:avLst/>
          </a:prstGeom>
          <a:solidFill>
            <a:srgbClr val="FFFFFF"/>
          </a:solidFill>
          <a:ln w="9525">
            <a:solidFill>
              <a:srgbClr val="D6D6D6"/>
            </a:solidFill>
            <a:prstDash val="solid"/>
          </a:ln>
        </p:spPr>
      </p:sp>
      <p:sp>
        <p:nvSpPr>
          <p:cNvPr id="10" name="正方形/長方形 9">
            <a:extLst>
              <a:ext uri="{FF2B5EF4-FFF2-40B4-BE49-F238E27FC236}">
                <a16:creationId xmlns:a16="http://schemas.microsoft.com/office/drawing/2014/main" id="{04A77985-3AC0-4214-8E49-DC0498C32E77}"/>
              </a:ext>
            </a:extLst>
          </p:cNvPr>
          <p:cNvSpPr>
            <a:spLocks noGrp="1"/>
          </p:cNvSpPr>
          <p:nvPr/>
        </p:nvSpPr>
        <p:spPr>
          <a:xfrm>
            <a:off x="552450" y="1628775"/>
            <a:ext cx="2571750" cy="76200"/>
          </a:xfrm>
          <a:prstGeom prst="rect">
            <a:avLst/>
          </a:prstGeom>
          <a:solidFill>
            <a:srgbClr val="00A5D8"/>
          </a:solidFill>
          <a:ln w="0">
            <a:noFill/>
            <a:prstDash val="solid"/>
          </a:ln>
        </p:spPr>
      </p:sp>
      <p:sp>
        <p:nvSpPr>
          <p:cNvPr id="11" name="正方形/長方形 10">
            <a:extLst>
              <a:ext uri="{FF2B5EF4-FFF2-40B4-BE49-F238E27FC236}">
                <a16:creationId xmlns:a16="http://schemas.microsoft.com/office/drawing/2014/main" id="{77E1DC8E-C618-48F2-83E5-B227D464D764}"/>
              </a:ext>
            </a:extLst>
          </p:cNvPr>
          <p:cNvSpPr>
            <a:spLocks noGrp="1"/>
          </p:cNvSpPr>
          <p:nvPr/>
        </p:nvSpPr>
        <p:spPr>
          <a:xfrm>
            <a:off x="723900" y="1819275"/>
            <a:ext cx="476250" cy="247650"/>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00A5D8"/>
                </a:solidFill>
                <a:latin typeface="Yu Gothic"/>
                <a:ea typeface="Yu Gothic"/>
                <a:cs typeface="Yu Gothic"/>
              </a:defRPr>
            </a:pPr>
            <a:r>
              <a:rPr sz="975" b="1" i="0">
                <a:solidFill>
                  <a:srgbClr val="00A5D8"/>
                </a:solidFill>
                <a:latin typeface="Yu Gothic"/>
                <a:ea typeface="Yu Gothic"/>
                <a:cs typeface="Yu Gothic"/>
              </a:rPr>
              <a:t>01</a:t>
            </a:r>
          </a:p>
        </p:txBody>
      </p:sp>
      <p:sp>
        <p:nvSpPr>
          <p:cNvPr id="12" name="正方形/長方形 11">
            <a:extLst>
              <a:ext uri="{FF2B5EF4-FFF2-40B4-BE49-F238E27FC236}">
                <a16:creationId xmlns:a16="http://schemas.microsoft.com/office/drawing/2014/main" id="{D5CC3ACB-FA43-4938-8F48-270CA5631F63}"/>
              </a:ext>
            </a:extLst>
          </p:cNvPr>
          <p:cNvSpPr>
            <a:spLocks noGrp="1"/>
          </p:cNvSpPr>
          <p:nvPr/>
        </p:nvSpPr>
        <p:spPr>
          <a:xfrm>
            <a:off x="723900" y="2133600"/>
            <a:ext cx="2228850" cy="295275"/>
          </a:xfrm>
          <a:prstGeom prst="rect">
            <a:avLst/>
          </a:prstGeom>
          <a:noFill/>
          <a:ln w="0">
            <a:noFill/>
            <a:prstDash val="solid"/>
          </a:ln>
        </p:spPr>
        <p:txBody>
          <a:bodyPr wrap="square" lIns="28575" tIns="19050" rIns="28575" bIns="19050" anchor="ctr">
            <a:normAutofit/>
          </a:bodyPr>
          <a:lstStyle/>
          <a:p>
            <a:pPr algn="l">
              <a:lnSpc>
                <a:spcPct val="100000"/>
              </a:lnSpc>
              <a:buNone/>
              <a:defRPr sz="1425" b="1" i="0">
                <a:solidFill>
                  <a:srgbClr val="3F3F3F"/>
                </a:solidFill>
                <a:latin typeface="Yu Gothic"/>
                <a:ea typeface="Yu Gothic"/>
                <a:cs typeface="Yu Gothic"/>
              </a:defRPr>
            </a:pPr>
            <a:r>
              <a:rPr sz="1425" b="1" i="0">
                <a:solidFill>
                  <a:srgbClr val="3F3F3F"/>
                </a:solidFill>
                <a:latin typeface="Yu Gothic"/>
                <a:ea typeface="Yu Gothic"/>
                <a:cs typeface="Yu Gothic"/>
              </a:rPr>
              <a:t>計測契約</a:t>
            </a:r>
          </a:p>
        </p:txBody>
      </p:sp>
      <p:sp>
        <p:nvSpPr>
          <p:cNvPr id="13" name="直線コネクタ 12">
            <a:extLst>
              <a:ext uri="{FF2B5EF4-FFF2-40B4-BE49-F238E27FC236}">
                <a16:creationId xmlns:a16="http://schemas.microsoft.com/office/drawing/2014/main" id="{A1A989FA-A9F9-4167-B6A0-3FACC8C1C7B4}"/>
              </a:ext>
            </a:extLst>
          </p:cNvPr>
          <p:cNvSpPr>
            <a:spLocks noGrp="1"/>
          </p:cNvSpPr>
          <p:nvPr/>
        </p:nvSpPr>
        <p:spPr>
          <a:xfrm>
            <a:off x="723900" y="2543175"/>
            <a:ext cx="2228850" cy="0"/>
          </a:xfrm>
          <a:prstGeom prst="line">
            <a:avLst/>
          </a:prstGeom>
          <a:noFill/>
          <a:ln w="9525">
            <a:solidFill>
              <a:srgbClr val="D6D6D6"/>
            </a:solidFill>
            <a:prstDash val="solid"/>
          </a:ln>
        </p:spPr>
      </p:sp>
      <p:sp>
        <p:nvSpPr>
          <p:cNvPr id="14" name="正方形/長方形 13">
            <a:extLst>
              <a:ext uri="{FF2B5EF4-FFF2-40B4-BE49-F238E27FC236}">
                <a16:creationId xmlns:a16="http://schemas.microsoft.com/office/drawing/2014/main" id="{58807DC8-AEAD-47D4-A145-D0017066C2A5}"/>
              </a:ext>
            </a:extLst>
          </p:cNvPr>
          <p:cNvSpPr>
            <a:spLocks noGrp="1"/>
          </p:cNvSpPr>
          <p:nvPr/>
        </p:nvSpPr>
        <p:spPr>
          <a:xfrm>
            <a:off x="723900" y="2695575"/>
            <a:ext cx="2228850" cy="838200"/>
          </a:xfrm>
          <a:prstGeom prst="rect">
            <a:avLst/>
          </a:prstGeom>
          <a:noFill/>
          <a:ln w="0">
            <a:noFill/>
            <a:prstDash val="solid"/>
          </a:ln>
        </p:spPr>
        <p:txBody>
          <a:bodyPr wrap="square" lIns="28575" tIns="19050" rIns="28575" bIns="19050" anchor="t">
            <a:normAutofit/>
          </a:bodyPr>
          <a:lstStyle/>
          <a:p>
            <a:pPr algn="l">
              <a:lnSpc>
                <a:spcPct val="135000"/>
              </a:lnSpc>
              <a:buNone/>
              <a:defRPr sz="938" b="0" i="0">
                <a:solidFill>
                  <a:srgbClr val="5B5B5B"/>
                </a:solidFill>
                <a:latin typeface="Yu Gothic"/>
                <a:ea typeface="Yu Gothic"/>
                <a:cs typeface="Yu Gothic"/>
              </a:defRPr>
            </a:pPr>
            <a:r>
              <a:rPr sz="938" b="0" i="0">
                <a:solidFill>
                  <a:srgbClr val="5B5B5B"/>
                </a:solidFill>
                <a:latin typeface="Yu Gothic"/>
                <a:ea typeface="Yu Gothic"/>
                <a:cs typeface="Yu Gothic"/>
              </a:rPr>
              <a:t>• sensor位置・応答・校正</a:t>
            </a:r>
          </a:p>
          <a:p>
            <a:pPr algn="l">
              <a:lnSpc>
                <a:spcPct val="135000"/>
              </a:lnSpc>
              <a:buNone/>
              <a:defRPr sz="938" b="0" i="0">
                <a:solidFill>
                  <a:srgbClr val="5B5B5B"/>
                </a:solidFill>
                <a:latin typeface="Yu Gothic"/>
                <a:ea typeface="Yu Gothic"/>
                <a:cs typeface="Yu Gothic"/>
              </a:defRPr>
            </a:pPr>
            <a:r>
              <a:rPr sz="938" b="0" i="0">
                <a:solidFill>
                  <a:srgbClr val="5B5B5B"/>
                </a:solidFill>
                <a:latin typeface="Yu Gothic"/>
                <a:ea typeface="Yu Gothic"/>
                <a:cs typeface="Yu Gothic"/>
              </a:rPr>
              <a:t>• 時刻同期 / ZOH / 欠測</a:t>
            </a:r>
          </a:p>
          <a:p>
            <a:pPr algn="l">
              <a:lnSpc>
                <a:spcPct val="135000"/>
              </a:lnSpc>
              <a:buNone/>
              <a:defRPr sz="938" b="0" i="0">
                <a:solidFill>
                  <a:srgbClr val="5B5B5B"/>
                </a:solidFill>
                <a:latin typeface="Yu Gothic"/>
                <a:ea typeface="Yu Gothic"/>
                <a:cs typeface="Yu Gothic"/>
              </a:defRPr>
            </a:pPr>
            <a:r>
              <a:rPr sz="938" b="0" i="0">
                <a:solidFill>
                  <a:srgbClr val="5B5B5B"/>
                </a:solidFill>
                <a:latin typeface="Yu Gothic"/>
                <a:ea typeface="Yu Gothic"/>
                <a:cs typeface="Yu Gothic"/>
              </a:rPr>
              <a:t>• 単位・heat input accounting</a:t>
            </a:r>
          </a:p>
        </p:txBody>
      </p:sp>
      <p:sp>
        <p:nvSpPr>
          <p:cNvPr id="15" name="正方形/長方形 14">
            <a:extLst>
              <a:ext uri="{FF2B5EF4-FFF2-40B4-BE49-F238E27FC236}">
                <a16:creationId xmlns:a16="http://schemas.microsoft.com/office/drawing/2014/main" id="{F9668DA0-906D-43C4-965B-21B60EAB0F38}"/>
              </a:ext>
            </a:extLst>
          </p:cNvPr>
          <p:cNvSpPr>
            <a:spLocks noGrp="1"/>
          </p:cNvSpPr>
          <p:nvPr/>
        </p:nvSpPr>
        <p:spPr>
          <a:xfrm>
            <a:off x="3390900" y="1628775"/>
            <a:ext cx="2571750" cy="2162175"/>
          </a:xfrm>
          <a:prstGeom prst="rect">
            <a:avLst/>
          </a:prstGeom>
          <a:solidFill>
            <a:srgbClr val="FFFFFF"/>
          </a:solidFill>
          <a:ln w="9525">
            <a:solidFill>
              <a:srgbClr val="D6D6D6"/>
            </a:solidFill>
            <a:prstDash val="solid"/>
          </a:ln>
        </p:spPr>
      </p:sp>
      <p:sp>
        <p:nvSpPr>
          <p:cNvPr id="16" name="正方形/長方形 15">
            <a:extLst>
              <a:ext uri="{FF2B5EF4-FFF2-40B4-BE49-F238E27FC236}">
                <a16:creationId xmlns:a16="http://schemas.microsoft.com/office/drawing/2014/main" id="{9CED618F-93A9-416A-829B-94D3809D3569}"/>
              </a:ext>
            </a:extLst>
          </p:cNvPr>
          <p:cNvSpPr>
            <a:spLocks noGrp="1"/>
          </p:cNvSpPr>
          <p:nvPr/>
        </p:nvSpPr>
        <p:spPr>
          <a:xfrm>
            <a:off x="3390900" y="1628775"/>
            <a:ext cx="2571750" cy="76200"/>
          </a:xfrm>
          <a:prstGeom prst="rect">
            <a:avLst/>
          </a:prstGeom>
          <a:solidFill>
            <a:srgbClr val="76BE18"/>
          </a:solidFill>
          <a:ln w="0">
            <a:noFill/>
            <a:prstDash val="solid"/>
          </a:ln>
        </p:spPr>
      </p:sp>
      <p:sp>
        <p:nvSpPr>
          <p:cNvPr id="17" name="正方形/長方形 16">
            <a:extLst>
              <a:ext uri="{FF2B5EF4-FFF2-40B4-BE49-F238E27FC236}">
                <a16:creationId xmlns:a16="http://schemas.microsoft.com/office/drawing/2014/main" id="{A26D9397-979B-4C6B-B625-C74F6411F16F}"/>
              </a:ext>
            </a:extLst>
          </p:cNvPr>
          <p:cNvSpPr>
            <a:spLocks noGrp="1"/>
          </p:cNvSpPr>
          <p:nvPr/>
        </p:nvSpPr>
        <p:spPr>
          <a:xfrm>
            <a:off x="3562350" y="1819275"/>
            <a:ext cx="476250" cy="247650"/>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76BE18"/>
                </a:solidFill>
                <a:latin typeface="Yu Gothic"/>
                <a:ea typeface="Yu Gothic"/>
                <a:cs typeface="Yu Gothic"/>
              </a:defRPr>
            </a:pPr>
            <a:r>
              <a:rPr sz="975" b="1" i="0">
                <a:solidFill>
                  <a:srgbClr val="76BE18"/>
                </a:solidFill>
                <a:latin typeface="Yu Gothic"/>
                <a:ea typeface="Yu Gothic"/>
                <a:cs typeface="Yu Gothic"/>
              </a:rPr>
              <a:t>02</a:t>
            </a:r>
          </a:p>
        </p:txBody>
      </p:sp>
      <p:sp>
        <p:nvSpPr>
          <p:cNvPr id="18" name="正方形/長方形 17">
            <a:extLst>
              <a:ext uri="{FF2B5EF4-FFF2-40B4-BE49-F238E27FC236}">
                <a16:creationId xmlns:a16="http://schemas.microsoft.com/office/drawing/2014/main" id="{28212A6B-6393-4567-A835-6375C60FA50A}"/>
              </a:ext>
            </a:extLst>
          </p:cNvPr>
          <p:cNvSpPr>
            <a:spLocks noGrp="1"/>
          </p:cNvSpPr>
          <p:nvPr/>
        </p:nvSpPr>
        <p:spPr>
          <a:xfrm>
            <a:off x="3562350" y="2133600"/>
            <a:ext cx="2228850" cy="295275"/>
          </a:xfrm>
          <a:prstGeom prst="rect">
            <a:avLst/>
          </a:prstGeom>
          <a:noFill/>
          <a:ln w="0">
            <a:noFill/>
            <a:prstDash val="solid"/>
          </a:ln>
        </p:spPr>
        <p:txBody>
          <a:bodyPr wrap="square" lIns="28575" tIns="19050" rIns="28575" bIns="19050" anchor="ctr">
            <a:normAutofit/>
          </a:bodyPr>
          <a:lstStyle/>
          <a:p>
            <a:pPr algn="l">
              <a:lnSpc>
                <a:spcPct val="100000"/>
              </a:lnSpc>
              <a:buNone/>
              <a:defRPr sz="1425" b="1" i="0">
                <a:solidFill>
                  <a:srgbClr val="3F3F3F"/>
                </a:solidFill>
                <a:latin typeface="Yu Gothic"/>
                <a:ea typeface="Yu Gothic"/>
                <a:cs typeface="Yu Gothic"/>
              </a:defRPr>
            </a:pPr>
            <a:r>
              <a:rPr sz="1425" b="1" i="0">
                <a:solidFill>
                  <a:srgbClr val="3F3F3F"/>
                </a:solidFill>
                <a:latin typeface="Yu Gothic"/>
                <a:ea typeface="Yu Gothic"/>
                <a:cs typeface="Yu Gothic"/>
              </a:rPr>
              <a:t>識別DOE</a:t>
            </a:r>
          </a:p>
        </p:txBody>
      </p:sp>
      <p:sp>
        <p:nvSpPr>
          <p:cNvPr id="19" name="直線コネクタ 18">
            <a:extLst>
              <a:ext uri="{FF2B5EF4-FFF2-40B4-BE49-F238E27FC236}">
                <a16:creationId xmlns:a16="http://schemas.microsoft.com/office/drawing/2014/main" id="{796B8089-31B8-4295-8F7E-91A341C5066C}"/>
              </a:ext>
            </a:extLst>
          </p:cNvPr>
          <p:cNvSpPr>
            <a:spLocks noGrp="1"/>
          </p:cNvSpPr>
          <p:nvPr/>
        </p:nvSpPr>
        <p:spPr>
          <a:xfrm>
            <a:off x="3562350" y="2543175"/>
            <a:ext cx="2228850" cy="0"/>
          </a:xfrm>
          <a:prstGeom prst="line">
            <a:avLst/>
          </a:prstGeom>
          <a:noFill/>
          <a:ln w="9525">
            <a:solidFill>
              <a:srgbClr val="D6D6D6"/>
            </a:solidFill>
            <a:prstDash val="solid"/>
          </a:ln>
        </p:spPr>
      </p:sp>
      <p:sp>
        <p:nvSpPr>
          <p:cNvPr id="20" name="正方形/長方形 19">
            <a:extLst>
              <a:ext uri="{FF2B5EF4-FFF2-40B4-BE49-F238E27FC236}">
                <a16:creationId xmlns:a16="http://schemas.microsoft.com/office/drawing/2014/main" id="{0B824128-6ACA-499F-9A90-5DA24A43BBD6}"/>
              </a:ext>
            </a:extLst>
          </p:cNvPr>
          <p:cNvSpPr>
            <a:spLocks noGrp="1"/>
          </p:cNvSpPr>
          <p:nvPr/>
        </p:nvSpPr>
        <p:spPr>
          <a:xfrm>
            <a:off x="3562350" y="2695575"/>
            <a:ext cx="2228850" cy="838200"/>
          </a:xfrm>
          <a:prstGeom prst="rect">
            <a:avLst/>
          </a:prstGeom>
          <a:noFill/>
          <a:ln w="0">
            <a:noFill/>
            <a:prstDash val="solid"/>
          </a:ln>
        </p:spPr>
        <p:txBody>
          <a:bodyPr wrap="square" lIns="28575" tIns="19050" rIns="28575" bIns="19050" anchor="t">
            <a:normAutofit/>
          </a:bodyPr>
          <a:lstStyle/>
          <a:p>
            <a:pPr algn="l">
              <a:lnSpc>
                <a:spcPct val="135000"/>
              </a:lnSpc>
              <a:buNone/>
              <a:defRPr sz="938" b="0" i="0">
                <a:solidFill>
                  <a:srgbClr val="5B5B5B"/>
                </a:solidFill>
                <a:latin typeface="Yu Gothic"/>
                <a:ea typeface="Yu Gothic"/>
                <a:cs typeface="Yu Gothic"/>
              </a:defRPr>
            </a:pPr>
            <a:r>
              <a:rPr sz="938" b="0" i="0">
                <a:solidFill>
                  <a:srgbClr val="5B5B5B"/>
                </a:solidFill>
                <a:latin typeface="Yu Gothic"/>
                <a:ea typeface="Yu Gothic"/>
                <a:cs typeface="Yu Gothic"/>
              </a:rPr>
              <a:t>• 短・中・長pulse</a:t>
            </a:r>
          </a:p>
          <a:p>
            <a:pPr algn="l">
              <a:lnSpc>
                <a:spcPct val="135000"/>
              </a:lnSpc>
              <a:buNone/>
              <a:defRPr sz="938" b="0" i="0">
                <a:solidFill>
                  <a:srgbClr val="5B5B5B"/>
                </a:solidFill>
                <a:latin typeface="Yu Gothic"/>
                <a:ea typeface="Yu Gothic"/>
                <a:cs typeface="Yu Gothic"/>
              </a:defRPr>
            </a:pPr>
            <a:r>
              <a:rPr sz="938" b="0" i="0">
                <a:solidFill>
                  <a:srgbClr val="5B5B5B"/>
                </a:solidFill>
                <a:latin typeface="Yu Gothic"/>
                <a:ea typeface="Yu Gothic"/>
                <a:cs typeface="Yu Gothic"/>
              </a:rPr>
              <a:t>• heater / coolantを分離励振</a:t>
            </a:r>
          </a:p>
          <a:p>
            <a:pPr algn="l">
              <a:lnSpc>
                <a:spcPct val="135000"/>
              </a:lnSpc>
              <a:buNone/>
              <a:defRPr sz="938" b="0" i="0">
                <a:solidFill>
                  <a:srgbClr val="5B5B5B"/>
                </a:solidFill>
                <a:latin typeface="Yu Gothic"/>
                <a:ea typeface="Yu Gothic"/>
                <a:cs typeface="Yu Gothic"/>
              </a:defRPr>
            </a:pPr>
            <a:r>
              <a:rPr sz="938" b="0" i="0">
                <a:solidFill>
                  <a:srgbClr val="5B5B5B"/>
                </a:solidFill>
                <a:latin typeface="Yu Gothic"/>
                <a:ea typeface="Yu Gothic"/>
                <a:cs typeface="Yu Gothic"/>
              </a:rPr>
              <a:t>• rank・profile・seed安定性</a:t>
            </a:r>
          </a:p>
        </p:txBody>
      </p:sp>
      <p:sp>
        <p:nvSpPr>
          <p:cNvPr id="21" name="正方形/長方形 20">
            <a:extLst>
              <a:ext uri="{FF2B5EF4-FFF2-40B4-BE49-F238E27FC236}">
                <a16:creationId xmlns:a16="http://schemas.microsoft.com/office/drawing/2014/main" id="{6D566017-E2C0-4FB9-A165-E0DA40E84FAC}"/>
              </a:ext>
            </a:extLst>
          </p:cNvPr>
          <p:cNvSpPr>
            <a:spLocks noGrp="1"/>
          </p:cNvSpPr>
          <p:nvPr/>
        </p:nvSpPr>
        <p:spPr>
          <a:xfrm>
            <a:off x="6229350" y="1628775"/>
            <a:ext cx="2571750" cy="2162175"/>
          </a:xfrm>
          <a:prstGeom prst="rect">
            <a:avLst/>
          </a:prstGeom>
          <a:solidFill>
            <a:srgbClr val="FFFFFF"/>
          </a:solidFill>
          <a:ln w="9525">
            <a:solidFill>
              <a:srgbClr val="D6D6D6"/>
            </a:solidFill>
            <a:prstDash val="solid"/>
          </a:ln>
        </p:spPr>
      </p:sp>
      <p:sp>
        <p:nvSpPr>
          <p:cNvPr id="22" name="正方形/長方形 21">
            <a:extLst>
              <a:ext uri="{FF2B5EF4-FFF2-40B4-BE49-F238E27FC236}">
                <a16:creationId xmlns:a16="http://schemas.microsoft.com/office/drawing/2014/main" id="{EC647300-B9AE-4932-9B11-361A4728CE93}"/>
              </a:ext>
            </a:extLst>
          </p:cNvPr>
          <p:cNvSpPr>
            <a:spLocks noGrp="1"/>
          </p:cNvSpPr>
          <p:nvPr/>
        </p:nvSpPr>
        <p:spPr>
          <a:xfrm>
            <a:off x="6229350" y="1628775"/>
            <a:ext cx="2571750" cy="76200"/>
          </a:xfrm>
          <a:prstGeom prst="rect">
            <a:avLst/>
          </a:prstGeom>
          <a:solidFill>
            <a:srgbClr val="7B2DAF"/>
          </a:solidFill>
          <a:ln w="0">
            <a:noFill/>
            <a:prstDash val="solid"/>
          </a:ln>
        </p:spPr>
      </p:sp>
      <p:sp>
        <p:nvSpPr>
          <p:cNvPr id="23" name="正方形/長方形 22">
            <a:extLst>
              <a:ext uri="{FF2B5EF4-FFF2-40B4-BE49-F238E27FC236}">
                <a16:creationId xmlns:a16="http://schemas.microsoft.com/office/drawing/2014/main" id="{DA7909D3-40E4-4975-88DE-6C2E4267F588}"/>
              </a:ext>
            </a:extLst>
          </p:cNvPr>
          <p:cNvSpPr>
            <a:spLocks noGrp="1"/>
          </p:cNvSpPr>
          <p:nvPr/>
        </p:nvSpPr>
        <p:spPr>
          <a:xfrm>
            <a:off x="6400800" y="1819275"/>
            <a:ext cx="476250" cy="247650"/>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7B2DAF"/>
                </a:solidFill>
                <a:latin typeface="Yu Gothic"/>
                <a:ea typeface="Yu Gothic"/>
                <a:cs typeface="Yu Gothic"/>
              </a:defRPr>
            </a:pPr>
            <a:r>
              <a:rPr sz="975" b="1" i="0">
                <a:solidFill>
                  <a:srgbClr val="7B2DAF"/>
                </a:solidFill>
                <a:latin typeface="Yu Gothic"/>
                <a:ea typeface="Yu Gothic"/>
                <a:cs typeface="Yu Gothic"/>
              </a:rPr>
              <a:t>03</a:t>
            </a:r>
          </a:p>
        </p:txBody>
      </p:sp>
      <p:sp>
        <p:nvSpPr>
          <p:cNvPr id="24" name="正方形/長方形 23">
            <a:extLst>
              <a:ext uri="{FF2B5EF4-FFF2-40B4-BE49-F238E27FC236}">
                <a16:creationId xmlns:a16="http://schemas.microsoft.com/office/drawing/2014/main" id="{D5CB4CCB-166C-4E71-B030-EA3A203497A8}"/>
              </a:ext>
            </a:extLst>
          </p:cNvPr>
          <p:cNvSpPr>
            <a:spLocks noGrp="1"/>
          </p:cNvSpPr>
          <p:nvPr/>
        </p:nvSpPr>
        <p:spPr>
          <a:xfrm>
            <a:off x="6400800" y="2133600"/>
            <a:ext cx="2228850" cy="295275"/>
          </a:xfrm>
          <a:prstGeom prst="rect">
            <a:avLst/>
          </a:prstGeom>
          <a:noFill/>
          <a:ln w="0">
            <a:noFill/>
            <a:prstDash val="solid"/>
          </a:ln>
        </p:spPr>
        <p:txBody>
          <a:bodyPr wrap="square" lIns="28575" tIns="19050" rIns="28575" bIns="19050" anchor="ctr">
            <a:normAutofit/>
          </a:bodyPr>
          <a:lstStyle/>
          <a:p>
            <a:pPr algn="l">
              <a:lnSpc>
                <a:spcPct val="100000"/>
              </a:lnSpc>
              <a:buNone/>
              <a:defRPr sz="1425" b="1" i="0">
                <a:solidFill>
                  <a:srgbClr val="3F3F3F"/>
                </a:solidFill>
                <a:latin typeface="Yu Gothic"/>
                <a:ea typeface="Yu Gothic"/>
                <a:cs typeface="Yu Gothic"/>
              </a:defRPr>
            </a:pPr>
            <a:r>
              <a:rPr sz="1425" b="1" i="0">
                <a:solidFill>
                  <a:srgbClr val="3F3F3F"/>
                </a:solidFill>
                <a:latin typeface="Yu Gothic"/>
                <a:ea typeface="Yu Gothic"/>
                <a:cs typeface="Yu Gothic"/>
              </a:rPr>
              <a:t>CAE / 実験V&amp;V</a:t>
            </a:r>
          </a:p>
        </p:txBody>
      </p:sp>
      <p:sp>
        <p:nvSpPr>
          <p:cNvPr id="25" name="直線コネクタ 24">
            <a:extLst>
              <a:ext uri="{FF2B5EF4-FFF2-40B4-BE49-F238E27FC236}">
                <a16:creationId xmlns:a16="http://schemas.microsoft.com/office/drawing/2014/main" id="{FEA0C20C-B0AE-47CB-B80B-689F1D760DCC}"/>
              </a:ext>
            </a:extLst>
          </p:cNvPr>
          <p:cNvSpPr>
            <a:spLocks noGrp="1"/>
          </p:cNvSpPr>
          <p:nvPr/>
        </p:nvSpPr>
        <p:spPr>
          <a:xfrm>
            <a:off x="6400800" y="2543175"/>
            <a:ext cx="2228850" cy="0"/>
          </a:xfrm>
          <a:prstGeom prst="line">
            <a:avLst/>
          </a:prstGeom>
          <a:noFill/>
          <a:ln w="9525">
            <a:solidFill>
              <a:srgbClr val="D6D6D6"/>
            </a:solidFill>
            <a:prstDash val="solid"/>
          </a:ln>
        </p:spPr>
      </p:sp>
      <p:sp>
        <p:nvSpPr>
          <p:cNvPr id="26" name="正方形/長方形 25">
            <a:extLst>
              <a:ext uri="{FF2B5EF4-FFF2-40B4-BE49-F238E27FC236}">
                <a16:creationId xmlns:a16="http://schemas.microsoft.com/office/drawing/2014/main" id="{9E91870F-A036-41E8-9E44-86D0818A9142}"/>
              </a:ext>
            </a:extLst>
          </p:cNvPr>
          <p:cNvSpPr>
            <a:spLocks noGrp="1"/>
          </p:cNvSpPr>
          <p:nvPr/>
        </p:nvSpPr>
        <p:spPr>
          <a:xfrm>
            <a:off x="6400800" y="2695575"/>
            <a:ext cx="2228850" cy="838200"/>
          </a:xfrm>
          <a:prstGeom prst="rect">
            <a:avLst/>
          </a:prstGeom>
          <a:noFill/>
          <a:ln w="0">
            <a:noFill/>
            <a:prstDash val="solid"/>
          </a:ln>
        </p:spPr>
        <p:txBody>
          <a:bodyPr wrap="square" lIns="28575" tIns="19050" rIns="28575" bIns="19050" anchor="t">
            <a:normAutofit/>
          </a:bodyPr>
          <a:lstStyle/>
          <a:p>
            <a:pPr algn="l">
              <a:lnSpc>
                <a:spcPct val="135000"/>
              </a:lnSpc>
              <a:buNone/>
              <a:defRPr sz="938" b="0" i="0">
                <a:solidFill>
                  <a:srgbClr val="5B5B5B"/>
                </a:solidFill>
                <a:latin typeface="Yu Gothic"/>
                <a:ea typeface="Yu Gothic"/>
                <a:cs typeface="Yu Gothic"/>
              </a:defRPr>
            </a:pPr>
            <a:r>
              <a:rPr sz="938" b="0" i="0">
                <a:solidFill>
                  <a:srgbClr val="5B5B5B"/>
                </a:solidFill>
                <a:latin typeface="Yu Gothic"/>
                <a:ea typeface="Yu Gothic"/>
                <a:cs typeface="Yu Gothic"/>
              </a:rPr>
              <a:t>• mesh / time convergence</a:t>
            </a:r>
          </a:p>
          <a:p>
            <a:pPr algn="l">
              <a:lnSpc>
                <a:spcPct val="135000"/>
              </a:lnSpc>
              <a:buNone/>
              <a:defRPr sz="938" b="0" i="0">
                <a:solidFill>
                  <a:srgbClr val="5B5B5B"/>
                </a:solidFill>
                <a:latin typeface="Yu Gothic"/>
                <a:ea typeface="Yu Gothic"/>
                <a:cs typeface="Yu Gothic"/>
              </a:defRPr>
            </a:pPr>
            <a:r>
              <a:rPr sz="938" b="0" i="0">
                <a:solidFill>
                  <a:srgbClr val="5B5B5B"/>
                </a:solidFill>
                <a:latin typeface="Yu Gothic"/>
                <a:ea typeface="Yu Gothic"/>
                <a:cs typeface="Yu Gothic"/>
              </a:rPr>
              <a:t>• hotspot・放射・contact</a:t>
            </a:r>
          </a:p>
          <a:p>
            <a:pPr algn="l">
              <a:lnSpc>
                <a:spcPct val="135000"/>
              </a:lnSpc>
              <a:buNone/>
              <a:defRPr sz="938" b="0" i="0">
                <a:solidFill>
                  <a:srgbClr val="5B5B5B"/>
                </a:solidFill>
                <a:latin typeface="Yu Gothic"/>
                <a:ea typeface="Yu Gothic"/>
                <a:cs typeface="Yu Gothic"/>
              </a:defRPr>
            </a:pPr>
            <a:r>
              <a:rPr sz="938" b="0" i="0">
                <a:solidFill>
                  <a:srgbClr val="5B5B5B"/>
                </a:solidFill>
                <a:latin typeface="Yu Gothic"/>
                <a:ea typeface="Yu Gothic"/>
                <a:cs typeface="Yu Gothic"/>
              </a:rPr>
              <a:t>• 独立recipe / hardware holdout</a:t>
            </a:r>
          </a:p>
        </p:txBody>
      </p:sp>
      <p:sp>
        <p:nvSpPr>
          <p:cNvPr id="27" name="正方形/長方形 26">
            <a:extLst>
              <a:ext uri="{FF2B5EF4-FFF2-40B4-BE49-F238E27FC236}">
                <a16:creationId xmlns:a16="http://schemas.microsoft.com/office/drawing/2014/main" id="{DFDA0779-1501-46C4-AEB6-BA46743214A6}"/>
              </a:ext>
            </a:extLst>
          </p:cNvPr>
          <p:cNvSpPr>
            <a:spLocks noGrp="1"/>
          </p:cNvSpPr>
          <p:nvPr/>
        </p:nvSpPr>
        <p:spPr>
          <a:xfrm>
            <a:off x="9067800" y="1628775"/>
            <a:ext cx="2571750" cy="2162175"/>
          </a:xfrm>
          <a:prstGeom prst="rect">
            <a:avLst/>
          </a:prstGeom>
          <a:solidFill>
            <a:srgbClr val="FFFFFF"/>
          </a:solidFill>
          <a:ln w="9525">
            <a:solidFill>
              <a:srgbClr val="D6D6D6"/>
            </a:solidFill>
            <a:prstDash val="solid"/>
          </a:ln>
        </p:spPr>
      </p:sp>
      <p:sp>
        <p:nvSpPr>
          <p:cNvPr id="28" name="正方形/長方形 27">
            <a:extLst>
              <a:ext uri="{FF2B5EF4-FFF2-40B4-BE49-F238E27FC236}">
                <a16:creationId xmlns:a16="http://schemas.microsoft.com/office/drawing/2014/main" id="{12BDFEAF-C0BC-45E5-AED9-2725389431CB}"/>
              </a:ext>
            </a:extLst>
          </p:cNvPr>
          <p:cNvSpPr>
            <a:spLocks noGrp="1"/>
          </p:cNvSpPr>
          <p:nvPr/>
        </p:nvSpPr>
        <p:spPr>
          <a:xfrm>
            <a:off x="9067800" y="1628775"/>
            <a:ext cx="2571750" cy="76200"/>
          </a:xfrm>
          <a:prstGeom prst="rect">
            <a:avLst/>
          </a:prstGeom>
          <a:solidFill>
            <a:srgbClr val="E5A900"/>
          </a:solidFill>
          <a:ln w="0">
            <a:noFill/>
            <a:prstDash val="solid"/>
          </a:ln>
        </p:spPr>
      </p:sp>
      <p:sp>
        <p:nvSpPr>
          <p:cNvPr id="29" name="正方形/長方形 28">
            <a:extLst>
              <a:ext uri="{FF2B5EF4-FFF2-40B4-BE49-F238E27FC236}">
                <a16:creationId xmlns:a16="http://schemas.microsoft.com/office/drawing/2014/main" id="{1A526771-C59C-4C4B-88F2-63EF478AB41F}"/>
              </a:ext>
            </a:extLst>
          </p:cNvPr>
          <p:cNvSpPr>
            <a:spLocks noGrp="1"/>
          </p:cNvSpPr>
          <p:nvPr/>
        </p:nvSpPr>
        <p:spPr>
          <a:xfrm>
            <a:off x="9239250" y="1819275"/>
            <a:ext cx="476250" cy="247650"/>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E5A900"/>
                </a:solidFill>
                <a:latin typeface="Yu Gothic"/>
                <a:ea typeface="Yu Gothic"/>
                <a:cs typeface="Yu Gothic"/>
              </a:defRPr>
            </a:pPr>
            <a:r>
              <a:rPr sz="975" b="1" i="0">
                <a:solidFill>
                  <a:srgbClr val="E5A900"/>
                </a:solidFill>
                <a:latin typeface="Yu Gothic"/>
                <a:ea typeface="Yu Gothic"/>
                <a:cs typeface="Yu Gothic"/>
              </a:rPr>
              <a:t>04</a:t>
            </a:r>
          </a:p>
        </p:txBody>
      </p:sp>
      <p:sp>
        <p:nvSpPr>
          <p:cNvPr id="30" name="正方形/長方形 29">
            <a:extLst>
              <a:ext uri="{FF2B5EF4-FFF2-40B4-BE49-F238E27FC236}">
                <a16:creationId xmlns:a16="http://schemas.microsoft.com/office/drawing/2014/main" id="{AA27D3F3-497D-449B-8EA6-12AEE529F8F2}"/>
              </a:ext>
            </a:extLst>
          </p:cNvPr>
          <p:cNvSpPr>
            <a:spLocks noGrp="1"/>
          </p:cNvSpPr>
          <p:nvPr/>
        </p:nvSpPr>
        <p:spPr>
          <a:xfrm>
            <a:off x="9239250" y="2133600"/>
            <a:ext cx="2228850" cy="295275"/>
          </a:xfrm>
          <a:prstGeom prst="rect">
            <a:avLst/>
          </a:prstGeom>
          <a:noFill/>
          <a:ln w="0">
            <a:noFill/>
            <a:prstDash val="solid"/>
          </a:ln>
        </p:spPr>
        <p:txBody>
          <a:bodyPr wrap="square" lIns="28575" tIns="19050" rIns="28575" bIns="19050" anchor="ctr">
            <a:normAutofit/>
          </a:bodyPr>
          <a:lstStyle/>
          <a:p>
            <a:pPr algn="l">
              <a:lnSpc>
                <a:spcPct val="100000"/>
              </a:lnSpc>
              <a:buNone/>
              <a:defRPr sz="1425" b="1" i="0">
                <a:solidFill>
                  <a:srgbClr val="3F3F3F"/>
                </a:solidFill>
                <a:latin typeface="Yu Gothic"/>
                <a:ea typeface="Yu Gothic"/>
                <a:cs typeface="Yu Gothic"/>
              </a:defRPr>
            </a:pPr>
            <a:r>
              <a:rPr sz="1425" b="1" i="0">
                <a:solidFill>
                  <a:srgbClr val="3F3F3F"/>
                </a:solidFill>
                <a:latin typeface="Yu Gothic"/>
                <a:ea typeface="Yu Gothic"/>
                <a:cs typeface="Yu Gothic"/>
              </a:rPr>
              <a:t>shadow operation</a:t>
            </a:r>
          </a:p>
        </p:txBody>
      </p:sp>
      <p:sp>
        <p:nvSpPr>
          <p:cNvPr id="31" name="直線コネクタ 30">
            <a:extLst>
              <a:ext uri="{FF2B5EF4-FFF2-40B4-BE49-F238E27FC236}">
                <a16:creationId xmlns:a16="http://schemas.microsoft.com/office/drawing/2014/main" id="{3B1887A0-E23A-4F54-839A-03E1CA8E5282}"/>
              </a:ext>
            </a:extLst>
          </p:cNvPr>
          <p:cNvSpPr>
            <a:spLocks noGrp="1"/>
          </p:cNvSpPr>
          <p:nvPr/>
        </p:nvSpPr>
        <p:spPr>
          <a:xfrm>
            <a:off x="9239250" y="2543175"/>
            <a:ext cx="2228850" cy="0"/>
          </a:xfrm>
          <a:prstGeom prst="line">
            <a:avLst/>
          </a:prstGeom>
          <a:noFill/>
          <a:ln w="9525">
            <a:solidFill>
              <a:srgbClr val="D6D6D6"/>
            </a:solidFill>
            <a:prstDash val="solid"/>
          </a:ln>
        </p:spPr>
      </p:sp>
      <p:sp>
        <p:nvSpPr>
          <p:cNvPr id="32" name="正方形/長方形 31">
            <a:extLst>
              <a:ext uri="{FF2B5EF4-FFF2-40B4-BE49-F238E27FC236}">
                <a16:creationId xmlns:a16="http://schemas.microsoft.com/office/drawing/2014/main" id="{92F4DA34-1A72-4DF5-8636-31FF28F94385}"/>
              </a:ext>
            </a:extLst>
          </p:cNvPr>
          <p:cNvSpPr>
            <a:spLocks noGrp="1"/>
          </p:cNvSpPr>
          <p:nvPr/>
        </p:nvSpPr>
        <p:spPr>
          <a:xfrm>
            <a:off x="9239250" y="2695575"/>
            <a:ext cx="2228850" cy="838200"/>
          </a:xfrm>
          <a:prstGeom prst="rect">
            <a:avLst/>
          </a:prstGeom>
          <a:noFill/>
          <a:ln w="0">
            <a:noFill/>
            <a:prstDash val="solid"/>
          </a:ln>
        </p:spPr>
        <p:txBody>
          <a:bodyPr wrap="square" lIns="28575" tIns="19050" rIns="28575" bIns="19050" anchor="t">
            <a:normAutofit/>
          </a:bodyPr>
          <a:lstStyle/>
          <a:p>
            <a:pPr algn="l">
              <a:lnSpc>
                <a:spcPct val="135000"/>
              </a:lnSpc>
              <a:buNone/>
              <a:defRPr sz="938" b="0" i="0">
                <a:solidFill>
                  <a:srgbClr val="5B5B5B"/>
                </a:solidFill>
                <a:latin typeface="Yu Gothic"/>
                <a:ea typeface="Yu Gothic"/>
                <a:cs typeface="Yu Gothic"/>
              </a:defRPr>
            </a:pPr>
            <a:r>
              <a:rPr sz="938" b="0" i="0">
                <a:solidFill>
                  <a:srgbClr val="5B5B5B"/>
                </a:solidFill>
                <a:latin typeface="Yu Gothic"/>
                <a:ea typeface="Yu Gothic"/>
                <a:cs typeface="Yu Gothic"/>
              </a:rPr>
              <a:t>• alarm校正・false rate</a:t>
            </a:r>
          </a:p>
          <a:p>
            <a:pPr algn="l">
              <a:lnSpc>
                <a:spcPct val="135000"/>
              </a:lnSpc>
              <a:buNone/>
              <a:defRPr sz="938" b="0" i="0">
                <a:solidFill>
                  <a:srgbClr val="5B5B5B"/>
                </a:solidFill>
                <a:latin typeface="Yu Gothic"/>
                <a:ea typeface="Yu Gothic"/>
                <a:cs typeface="Yu Gothic"/>
              </a:defRPr>
            </a:pPr>
            <a:r>
              <a:rPr sz="938" b="0" i="0">
                <a:solidFill>
                  <a:srgbClr val="5B5B5B"/>
                </a:solidFill>
                <a:latin typeface="Yu Gothic"/>
                <a:ea typeface="Yu Gothic"/>
                <a:cs typeface="Yu Gothic"/>
              </a:rPr>
              <a:t>• drift / retrain条件</a:t>
            </a:r>
          </a:p>
          <a:p>
            <a:pPr algn="l">
              <a:lnSpc>
                <a:spcPct val="135000"/>
              </a:lnSpc>
              <a:buNone/>
              <a:defRPr sz="938" b="0" i="0">
                <a:solidFill>
                  <a:srgbClr val="5B5B5B"/>
                </a:solidFill>
                <a:latin typeface="Yu Gothic"/>
                <a:ea typeface="Yu Gothic"/>
                <a:cs typeface="Yu Gothic"/>
              </a:defRPr>
            </a:pPr>
            <a:r>
              <a:rPr sz="938" b="0" i="0">
                <a:solidFill>
                  <a:srgbClr val="5B5B5B"/>
                </a:solidFill>
                <a:latin typeface="Yu Gothic"/>
                <a:ea typeface="Yu Gothic"/>
                <a:cs typeface="Yu Gothic"/>
              </a:rPr>
              <a:t>• interlockとは独立運用</a:t>
            </a:r>
          </a:p>
        </p:txBody>
      </p:sp>
      <p:cxnSp>
        <p:nvCxnSpPr>
          <p:cNvPr id="83" name="直線矢印コネクタ 82"/>
          <p:cNvCxnSpPr>
            <a:stCxn id="9" idx="3"/>
            <a:endCxn id="15" idx="1"/>
          </p:cNvCxnSpPr>
          <p:nvPr/>
        </p:nvCxnSpPr>
        <p:spPr>
          <a:xfrm>
            <a:off x="3124200" y="2709863"/>
            <a:ext cx="266700" cy="0"/>
          </a:xfrm>
          <a:prstGeom prst="straightConnector1">
            <a:avLst/>
          </a:prstGeom>
          <a:ln w="19050">
            <a:solidFill>
              <a:srgbClr val="007FA8"/>
            </a:solidFill>
            <a:prstDash val="solid"/>
            <a:tailEnd type="triangle" w="sm" len="sm"/>
          </a:ln>
        </p:spPr>
      </p:cxnSp>
      <p:cxnSp>
        <p:nvCxnSpPr>
          <p:cNvPr id="84" name="直線矢印コネクタ 83"/>
          <p:cNvCxnSpPr>
            <a:stCxn id="15" idx="3"/>
            <a:endCxn id="21" idx="1"/>
          </p:cNvCxnSpPr>
          <p:nvPr/>
        </p:nvCxnSpPr>
        <p:spPr>
          <a:xfrm>
            <a:off x="5962650" y="2709863"/>
            <a:ext cx="266700" cy="0"/>
          </a:xfrm>
          <a:prstGeom prst="straightConnector1">
            <a:avLst/>
          </a:prstGeom>
          <a:ln w="19050">
            <a:solidFill>
              <a:srgbClr val="007FA8"/>
            </a:solidFill>
            <a:prstDash val="solid"/>
            <a:tailEnd type="triangle" w="sm" len="sm"/>
          </a:ln>
        </p:spPr>
      </p:cxnSp>
      <p:cxnSp>
        <p:nvCxnSpPr>
          <p:cNvPr id="85" name="直線矢印コネクタ 84"/>
          <p:cNvCxnSpPr>
            <a:stCxn id="21" idx="3"/>
            <a:endCxn id="27" idx="1"/>
          </p:cNvCxnSpPr>
          <p:nvPr/>
        </p:nvCxnSpPr>
        <p:spPr>
          <a:xfrm>
            <a:off x="8801100" y="2709863"/>
            <a:ext cx="266700" cy="0"/>
          </a:xfrm>
          <a:prstGeom prst="straightConnector1">
            <a:avLst/>
          </a:prstGeom>
          <a:ln w="19050">
            <a:solidFill>
              <a:srgbClr val="007FA8"/>
            </a:solidFill>
            <a:prstDash val="solid"/>
            <a:tailEnd type="triangle" w="sm" len="sm"/>
          </a:ln>
        </p:spPr>
      </p:cxnSp>
      <p:sp>
        <p:nvSpPr>
          <p:cNvPr id="36" name="正方形/長方形 35">
            <a:extLst>
              <a:ext uri="{FF2B5EF4-FFF2-40B4-BE49-F238E27FC236}">
                <a16:creationId xmlns:a16="http://schemas.microsoft.com/office/drawing/2014/main" id="{FF65B341-2DBB-429E-9F12-C42F6B9E2DAE}"/>
              </a:ext>
            </a:extLst>
          </p:cNvPr>
          <p:cNvSpPr>
            <a:spLocks noGrp="1"/>
          </p:cNvSpPr>
          <p:nvPr/>
        </p:nvSpPr>
        <p:spPr>
          <a:xfrm>
            <a:off x="552450" y="4114800"/>
            <a:ext cx="11087100" cy="276225"/>
          </a:xfrm>
          <a:prstGeom prst="rect">
            <a:avLst/>
          </a:prstGeom>
          <a:noFill/>
          <a:ln w="0">
            <a:noFill/>
            <a:prstDash val="solid"/>
          </a:ln>
        </p:spPr>
        <p:txBody>
          <a:bodyPr wrap="square" lIns="28575" tIns="19050" rIns="28575" bIns="19050" anchor="ctr">
            <a:normAutofit/>
          </a:bodyPr>
          <a:lstStyle/>
          <a:p>
            <a:pPr algn="l">
              <a:lnSpc>
                <a:spcPct val="100000"/>
              </a:lnSpc>
              <a:buNone/>
              <a:defRPr sz="1350" b="1" i="0">
                <a:solidFill>
                  <a:srgbClr val="3F3F3F"/>
                </a:solidFill>
                <a:latin typeface="Yu Gothic"/>
                <a:ea typeface="Yu Gothic"/>
                <a:cs typeface="Yu Gothic"/>
              </a:defRPr>
            </a:pPr>
            <a:r>
              <a:rPr sz="1350" b="1" i="0">
                <a:solidFill>
                  <a:srgbClr val="3F3F3F"/>
                </a:solidFill>
                <a:latin typeface="Yu Gothic"/>
                <a:ea typeface="Yu Gothic"/>
                <a:cs typeface="Yu Gothic"/>
              </a:rPr>
              <a:t>release gateで固定する指標</a:t>
            </a:r>
          </a:p>
        </p:txBody>
      </p:sp>
      <p:sp>
        <p:nvSpPr>
          <p:cNvPr id="37" name="正方形/長方形 36">
            <a:extLst>
              <a:ext uri="{FF2B5EF4-FFF2-40B4-BE49-F238E27FC236}">
                <a16:creationId xmlns:a16="http://schemas.microsoft.com/office/drawing/2014/main" id="{CC3F3083-9D1E-478E-B83B-2B42B137F97B}"/>
              </a:ext>
            </a:extLst>
          </p:cNvPr>
          <p:cNvSpPr>
            <a:spLocks noGrp="1"/>
          </p:cNvSpPr>
          <p:nvPr/>
        </p:nvSpPr>
        <p:spPr>
          <a:xfrm>
            <a:off x="552450" y="4495800"/>
            <a:ext cx="1333500" cy="266700"/>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00A5D8"/>
                </a:solidFill>
                <a:latin typeface="Yu Gothic"/>
                <a:ea typeface="Yu Gothic"/>
                <a:cs typeface="Yu Gothic"/>
              </a:defRPr>
            </a:pPr>
            <a:r>
              <a:rPr sz="975" b="1" i="0">
                <a:solidFill>
                  <a:srgbClr val="00A5D8"/>
                </a:solidFill>
                <a:latin typeface="Yu Gothic"/>
                <a:ea typeface="Yu Gothic"/>
                <a:cs typeface="Yu Gothic"/>
              </a:rPr>
              <a:t>Prediction</a:t>
            </a:r>
          </a:p>
        </p:txBody>
      </p:sp>
      <p:sp>
        <p:nvSpPr>
          <p:cNvPr id="38" name="直線コネクタ 37">
            <a:extLst>
              <a:ext uri="{FF2B5EF4-FFF2-40B4-BE49-F238E27FC236}">
                <a16:creationId xmlns:a16="http://schemas.microsoft.com/office/drawing/2014/main" id="{977F2E21-7A51-48D6-9E2F-F3E7DD42D27E}"/>
              </a:ext>
            </a:extLst>
          </p:cNvPr>
          <p:cNvSpPr>
            <a:spLocks noGrp="1"/>
          </p:cNvSpPr>
          <p:nvPr/>
        </p:nvSpPr>
        <p:spPr>
          <a:xfrm>
            <a:off x="1952625" y="4629150"/>
            <a:ext cx="523875" cy="0"/>
          </a:xfrm>
          <a:prstGeom prst="line">
            <a:avLst/>
          </a:prstGeom>
          <a:noFill/>
          <a:ln w="28575">
            <a:solidFill>
              <a:srgbClr val="00A5D8"/>
            </a:solidFill>
            <a:prstDash val="solid"/>
          </a:ln>
        </p:spPr>
      </p:sp>
      <p:sp>
        <p:nvSpPr>
          <p:cNvPr id="39" name="正方形/長方形 38">
            <a:extLst>
              <a:ext uri="{FF2B5EF4-FFF2-40B4-BE49-F238E27FC236}">
                <a16:creationId xmlns:a16="http://schemas.microsoft.com/office/drawing/2014/main" id="{742C86F7-6ACD-4E98-9B55-103A7C306C8B}"/>
              </a:ext>
            </a:extLst>
          </p:cNvPr>
          <p:cNvSpPr>
            <a:spLocks noGrp="1"/>
          </p:cNvSpPr>
          <p:nvPr/>
        </p:nvSpPr>
        <p:spPr>
          <a:xfrm>
            <a:off x="2647950" y="4495800"/>
            <a:ext cx="8991600" cy="266700"/>
          </a:xfrm>
          <a:prstGeom prst="rect">
            <a:avLst/>
          </a:prstGeom>
          <a:noFill/>
          <a:ln w="0">
            <a:noFill/>
            <a:prstDash val="solid"/>
          </a:ln>
        </p:spPr>
        <p:txBody>
          <a:bodyPr wrap="square" lIns="28575" tIns="19050" rIns="28575" bIns="19050" anchor="ctr">
            <a:normAutofit/>
          </a:bodyPr>
          <a:lstStyle/>
          <a:p>
            <a:pPr algn="l">
              <a:lnSpc>
                <a:spcPct val="100000"/>
              </a:lnSpc>
              <a:buNone/>
              <a:defRPr sz="938" b="0" i="0">
                <a:solidFill>
                  <a:srgbClr val="5B5B5B"/>
                </a:solidFill>
                <a:latin typeface="Yu Gothic"/>
                <a:ea typeface="Yu Gothic"/>
                <a:cs typeface="Yu Gothic"/>
              </a:defRPr>
            </a:pPr>
            <a:r>
              <a:rPr sz="938" b="0" i="0">
                <a:solidFill>
                  <a:srgbClr val="5B5B5B"/>
                </a:solidFill>
                <a:latin typeface="Yu Gothic"/>
                <a:ea typeface="Yu Gothic"/>
                <a:cs typeface="Yu Gothic"/>
              </a:rPr>
              <a:t>mean / P95 / worst RMSE, phase lag, operating-envelope coverage</a:t>
            </a:r>
          </a:p>
        </p:txBody>
      </p:sp>
      <p:sp>
        <p:nvSpPr>
          <p:cNvPr id="40" name="正方形/長方形 39">
            <a:extLst>
              <a:ext uri="{FF2B5EF4-FFF2-40B4-BE49-F238E27FC236}">
                <a16:creationId xmlns:a16="http://schemas.microsoft.com/office/drawing/2014/main" id="{70286CA3-3502-4F8B-B2CF-1616EE751A53}"/>
              </a:ext>
            </a:extLst>
          </p:cNvPr>
          <p:cNvSpPr>
            <a:spLocks noGrp="1"/>
          </p:cNvSpPr>
          <p:nvPr/>
        </p:nvSpPr>
        <p:spPr>
          <a:xfrm>
            <a:off x="552450" y="4886325"/>
            <a:ext cx="1333500" cy="266700"/>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C4493D"/>
                </a:solidFill>
                <a:latin typeface="Yu Gothic"/>
                <a:ea typeface="Yu Gothic"/>
                <a:cs typeface="Yu Gothic"/>
              </a:defRPr>
            </a:pPr>
            <a:r>
              <a:rPr sz="975" b="1" i="0">
                <a:solidFill>
                  <a:srgbClr val="C4493D"/>
                </a:solidFill>
                <a:latin typeface="Yu Gothic"/>
                <a:ea typeface="Yu Gothic"/>
                <a:cs typeface="Yu Gothic"/>
              </a:rPr>
              <a:t>Safety</a:t>
            </a:r>
          </a:p>
        </p:txBody>
      </p:sp>
      <p:sp>
        <p:nvSpPr>
          <p:cNvPr id="41" name="直線コネクタ 40">
            <a:extLst>
              <a:ext uri="{FF2B5EF4-FFF2-40B4-BE49-F238E27FC236}">
                <a16:creationId xmlns:a16="http://schemas.microsoft.com/office/drawing/2014/main" id="{6FFA5AB5-950B-4FFA-8BD9-55784634BC8C}"/>
              </a:ext>
            </a:extLst>
          </p:cNvPr>
          <p:cNvSpPr>
            <a:spLocks noGrp="1"/>
          </p:cNvSpPr>
          <p:nvPr/>
        </p:nvSpPr>
        <p:spPr>
          <a:xfrm>
            <a:off x="1952625" y="5019675"/>
            <a:ext cx="523875" cy="0"/>
          </a:xfrm>
          <a:prstGeom prst="line">
            <a:avLst/>
          </a:prstGeom>
          <a:noFill/>
          <a:ln w="28575">
            <a:solidFill>
              <a:srgbClr val="C4493D"/>
            </a:solidFill>
            <a:prstDash val="solid"/>
          </a:ln>
        </p:spPr>
      </p:sp>
      <p:sp>
        <p:nvSpPr>
          <p:cNvPr id="42" name="正方形/長方形 41">
            <a:extLst>
              <a:ext uri="{FF2B5EF4-FFF2-40B4-BE49-F238E27FC236}">
                <a16:creationId xmlns:a16="http://schemas.microsoft.com/office/drawing/2014/main" id="{5143C083-E3CE-4D25-89DC-6AF07FB7B482}"/>
              </a:ext>
            </a:extLst>
          </p:cNvPr>
          <p:cNvSpPr>
            <a:spLocks noGrp="1"/>
          </p:cNvSpPr>
          <p:nvPr/>
        </p:nvSpPr>
        <p:spPr>
          <a:xfrm>
            <a:off x="2647950" y="4886325"/>
            <a:ext cx="8991600" cy="266700"/>
          </a:xfrm>
          <a:prstGeom prst="rect">
            <a:avLst/>
          </a:prstGeom>
          <a:noFill/>
          <a:ln w="0">
            <a:noFill/>
            <a:prstDash val="solid"/>
          </a:ln>
        </p:spPr>
        <p:txBody>
          <a:bodyPr wrap="square" lIns="28575" tIns="19050" rIns="28575" bIns="19050" anchor="ctr">
            <a:normAutofit/>
          </a:bodyPr>
          <a:lstStyle/>
          <a:p>
            <a:pPr algn="l">
              <a:lnSpc>
                <a:spcPct val="100000"/>
              </a:lnSpc>
              <a:buNone/>
              <a:defRPr sz="938" b="0" i="0">
                <a:solidFill>
                  <a:srgbClr val="5B5B5B"/>
                </a:solidFill>
                <a:latin typeface="Yu Gothic"/>
                <a:ea typeface="Yu Gothic"/>
                <a:cs typeface="Yu Gothic"/>
              </a:defRPr>
            </a:pPr>
            <a:r>
              <a:rPr sz="938" b="0" i="0">
                <a:solidFill>
                  <a:srgbClr val="5B5B5B"/>
                </a:solidFill>
                <a:latin typeface="Yu Gothic"/>
                <a:ea typeface="Yu Gothic"/>
                <a:cs typeface="Yu Gothic"/>
              </a:rPr>
              <a:t>hotspot conservative bound, mesh/time uncertainty, thermal margin</a:t>
            </a:r>
          </a:p>
        </p:txBody>
      </p:sp>
      <p:sp>
        <p:nvSpPr>
          <p:cNvPr id="43" name="正方形/長方形 42">
            <a:extLst>
              <a:ext uri="{FF2B5EF4-FFF2-40B4-BE49-F238E27FC236}">
                <a16:creationId xmlns:a16="http://schemas.microsoft.com/office/drawing/2014/main" id="{5E9972F6-FE38-4ACA-A5FB-478B3E699F08}"/>
              </a:ext>
            </a:extLst>
          </p:cNvPr>
          <p:cNvSpPr>
            <a:spLocks noGrp="1"/>
          </p:cNvSpPr>
          <p:nvPr/>
        </p:nvSpPr>
        <p:spPr>
          <a:xfrm>
            <a:off x="552450" y="5276850"/>
            <a:ext cx="1333500" cy="266700"/>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7B2DAF"/>
                </a:solidFill>
                <a:latin typeface="Yu Gothic"/>
                <a:ea typeface="Yu Gothic"/>
                <a:cs typeface="Yu Gothic"/>
              </a:defRPr>
            </a:pPr>
            <a:r>
              <a:rPr sz="975" b="1" i="0">
                <a:solidFill>
                  <a:srgbClr val="7B2DAF"/>
                </a:solidFill>
                <a:latin typeface="Yu Gothic"/>
                <a:ea typeface="Yu Gothic"/>
                <a:cs typeface="Yu Gothic"/>
              </a:rPr>
              <a:t>Monitoring</a:t>
            </a:r>
          </a:p>
        </p:txBody>
      </p:sp>
      <p:sp>
        <p:nvSpPr>
          <p:cNvPr id="44" name="直線コネクタ 43">
            <a:extLst>
              <a:ext uri="{FF2B5EF4-FFF2-40B4-BE49-F238E27FC236}">
                <a16:creationId xmlns:a16="http://schemas.microsoft.com/office/drawing/2014/main" id="{7F811D99-FBC4-4047-8293-4515B6B44492}"/>
              </a:ext>
            </a:extLst>
          </p:cNvPr>
          <p:cNvSpPr>
            <a:spLocks noGrp="1"/>
          </p:cNvSpPr>
          <p:nvPr/>
        </p:nvSpPr>
        <p:spPr>
          <a:xfrm>
            <a:off x="1952625" y="5410200"/>
            <a:ext cx="523875" cy="0"/>
          </a:xfrm>
          <a:prstGeom prst="line">
            <a:avLst/>
          </a:prstGeom>
          <a:noFill/>
          <a:ln w="28575">
            <a:solidFill>
              <a:srgbClr val="7B2DAF"/>
            </a:solidFill>
            <a:prstDash val="solid"/>
          </a:ln>
        </p:spPr>
      </p:sp>
      <p:sp>
        <p:nvSpPr>
          <p:cNvPr id="45" name="正方形/長方形 44">
            <a:extLst>
              <a:ext uri="{FF2B5EF4-FFF2-40B4-BE49-F238E27FC236}">
                <a16:creationId xmlns:a16="http://schemas.microsoft.com/office/drawing/2014/main" id="{C78D2D2D-705D-47F4-8B79-DEB95F595271}"/>
              </a:ext>
            </a:extLst>
          </p:cNvPr>
          <p:cNvSpPr>
            <a:spLocks noGrp="1"/>
          </p:cNvSpPr>
          <p:nvPr/>
        </p:nvSpPr>
        <p:spPr>
          <a:xfrm>
            <a:off x="2647950" y="5276850"/>
            <a:ext cx="8991600" cy="266700"/>
          </a:xfrm>
          <a:prstGeom prst="rect">
            <a:avLst/>
          </a:prstGeom>
          <a:noFill/>
          <a:ln w="0">
            <a:noFill/>
            <a:prstDash val="solid"/>
          </a:ln>
        </p:spPr>
        <p:txBody>
          <a:bodyPr wrap="square" lIns="28575" tIns="19050" rIns="28575" bIns="19050" anchor="ctr">
            <a:normAutofit/>
          </a:bodyPr>
          <a:lstStyle/>
          <a:p>
            <a:pPr algn="l">
              <a:lnSpc>
                <a:spcPct val="100000"/>
              </a:lnSpc>
              <a:buNone/>
              <a:defRPr sz="938" b="0" i="0">
                <a:solidFill>
                  <a:srgbClr val="5B5B5B"/>
                </a:solidFill>
                <a:latin typeface="Yu Gothic"/>
                <a:ea typeface="Yu Gothic"/>
                <a:cs typeface="Yu Gothic"/>
              </a:defRPr>
            </a:pPr>
            <a:r>
              <a:rPr sz="938" b="0" i="0">
                <a:solidFill>
                  <a:srgbClr val="5B5B5B"/>
                </a:solidFill>
                <a:latin typeface="Yu Gothic"/>
                <a:ea typeface="Yu Gothic"/>
                <a:cs typeface="Yu Gothic"/>
              </a:rPr>
              <a:t>detection delay, false alerts/hour, missed faults, attribution error</a:t>
            </a:r>
          </a:p>
        </p:txBody>
      </p:sp>
      <p:sp>
        <p:nvSpPr>
          <p:cNvPr id="46" name="正方形/長方形 45">
            <a:extLst>
              <a:ext uri="{FF2B5EF4-FFF2-40B4-BE49-F238E27FC236}">
                <a16:creationId xmlns:a16="http://schemas.microsoft.com/office/drawing/2014/main" id="{2C06FAC5-C2F6-4600-8C96-F89A098D7BF5}"/>
              </a:ext>
            </a:extLst>
          </p:cNvPr>
          <p:cNvSpPr>
            <a:spLocks noGrp="1"/>
          </p:cNvSpPr>
          <p:nvPr/>
        </p:nvSpPr>
        <p:spPr>
          <a:xfrm>
            <a:off x="552450" y="5667375"/>
            <a:ext cx="1333500" cy="266700"/>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76BE18"/>
                </a:solidFill>
                <a:latin typeface="Yu Gothic"/>
                <a:ea typeface="Yu Gothic"/>
                <a:cs typeface="Yu Gothic"/>
              </a:defRPr>
            </a:pPr>
            <a:r>
              <a:rPr sz="975" b="1" i="0">
                <a:solidFill>
                  <a:srgbClr val="76BE18"/>
                </a:solidFill>
                <a:latin typeface="Yu Gothic"/>
                <a:ea typeface="Yu Gothic"/>
                <a:cs typeface="Yu Gothic"/>
              </a:rPr>
              <a:t>Lifecycle</a:t>
            </a:r>
          </a:p>
        </p:txBody>
      </p:sp>
      <p:sp>
        <p:nvSpPr>
          <p:cNvPr id="47" name="直線コネクタ 46">
            <a:extLst>
              <a:ext uri="{FF2B5EF4-FFF2-40B4-BE49-F238E27FC236}">
                <a16:creationId xmlns:a16="http://schemas.microsoft.com/office/drawing/2014/main" id="{730307C8-C0DA-46C7-9E76-ADA4F5D638FA}"/>
              </a:ext>
            </a:extLst>
          </p:cNvPr>
          <p:cNvSpPr>
            <a:spLocks noGrp="1"/>
          </p:cNvSpPr>
          <p:nvPr/>
        </p:nvSpPr>
        <p:spPr>
          <a:xfrm>
            <a:off x="1952625" y="5800725"/>
            <a:ext cx="523875" cy="0"/>
          </a:xfrm>
          <a:prstGeom prst="line">
            <a:avLst/>
          </a:prstGeom>
          <a:noFill/>
          <a:ln w="28575">
            <a:solidFill>
              <a:srgbClr val="76BE18"/>
            </a:solidFill>
            <a:prstDash val="solid"/>
          </a:ln>
        </p:spPr>
      </p:sp>
      <p:sp>
        <p:nvSpPr>
          <p:cNvPr id="48" name="正方形/長方形 47">
            <a:extLst>
              <a:ext uri="{FF2B5EF4-FFF2-40B4-BE49-F238E27FC236}">
                <a16:creationId xmlns:a16="http://schemas.microsoft.com/office/drawing/2014/main" id="{31A19ADB-55D3-42CA-9035-4B03E1589BFE}"/>
              </a:ext>
            </a:extLst>
          </p:cNvPr>
          <p:cNvSpPr>
            <a:spLocks noGrp="1"/>
          </p:cNvSpPr>
          <p:nvPr/>
        </p:nvSpPr>
        <p:spPr>
          <a:xfrm>
            <a:off x="2647950" y="5667375"/>
            <a:ext cx="8991600" cy="266700"/>
          </a:xfrm>
          <a:prstGeom prst="rect">
            <a:avLst/>
          </a:prstGeom>
          <a:noFill/>
          <a:ln w="0">
            <a:noFill/>
            <a:prstDash val="solid"/>
          </a:ln>
        </p:spPr>
        <p:txBody>
          <a:bodyPr wrap="square" lIns="28575" tIns="19050" rIns="28575" bIns="19050" anchor="ctr">
            <a:normAutofit/>
          </a:bodyPr>
          <a:lstStyle/>
          <a:p>
            <a:pPr algn="l">
              <a:lnSpc>
                <a:spcPct val="100000"/>
              </a:lnSpc>
              <a:buNone/>
              <a:defRPr sz="938" b="0" i="0">
                <a:solidFill>
                  <a:srgbClr val="5B5B5B"/>
                </a:solidFill>
                <a:latin typeface="Yu Gothic"/>
                <a:ea typeface="Yu Gothic"/>
                <a:cs typeface="Yu Gothic"/>
              </a:defRPr>
            </a:pPr>
            <a:r>
              <a:rPr sz="938" b="0" i="0">
                <a:solidFill>
                  <a:srgbClr val="5B5B5B"/>
                </a:solidFill>
                <a:latin typeface="Yu Gothic"/>
                <a:ea typeface="Yu Gothic"/>
                <a:cs typeface="Yu Gothic"/>
              </a:rPr>
              <a:t>drift threshold, retrain trigger, configuration &amp; data lineage</a:t>
            </a:r>
          </a:p>
        </p:txBody>
      </p:sp>
      <p:sp>
        <p:nvSpPr>
          <p:cNvPr id="49" name="正方形/長方形 48">
            <a:extLst>
              <a:ext uri="{FF2B5EF4-FFF2-40B4-BE49-F238E27FC236}">
                <a16:creationId xmlns:a16="http://schemas.microsoft.com/office/drawing/2014/main" id="{FBCC5ACE-37DB-454B-B43F-9978AE0C2AD5}"/>
              </a:ext>
            </a:extLst>
          </p:cNvPr>
          <p:cNvSpPr>
            <a:spLocks noGrp="1"/>
          </p:cNvSpPr>
          <p:nvPr/>
        </p:nvSpPr>
        <p:spPr>
          <a:xfrm>
            <a:off x="552450" y="6105525"/>
            <a:ext cx="11087100" cy="238125"/>
          </a:xfrm>
          <a:prstGeom prst="rect">
            <a:avLst/>
          </a:prstGeom>
          <a:solidFill>
            <a:srgbClr val="201445"/>
          </a:solidFill>
          <a:ln w="0">
            <a:noFill/>
            <a:prstDash val="solid"/>
          </a:ln>
        </p:spPr>
      </p:sp>
      <p:sp>
        <p:nvSpPr>
          <p:cNvPr id="50" name="正方形/長方形 49">
            <a:extLst>
              <a:ext uri="{FF2B5EF4-FFF2-40B4-BE49-F238E27FC236}">
                <a16:creationId xmlns:a16="http://schemas.microsoft.com/office/drawing/2014/main" id="{67B40E39-48B4-4695-9390-84C0D72C6573}"/>
              </a:ext>
            </a:extLst>
          </p:cNvPr>
          <p:cNvSpPr>
            <a:spLocks noGrp="1"/>
          </p:cNvSpPr>
          <p:nvPr/>
        </p:nvSpPr>
        <p:spPr>
          <a:xfrm>
            <a:off x="666750" y="6115050"/>
            <a:ext cx="10858500" cy="209550"/>
          </a:xfrm>
          <a:prstGeom prst="rect">
            <a:avLst/>
          </a:prstGeom>
          <a:noFill/>
          <a:ln w="0">
            <a:noFill/>
            <a:prstDash val="solid"/>
          </a:ln>
        </p:spPr>
        <p:txBody>
          <a:bodyPr wrap="square" lIns="28575" tIns="19050" rIns="28575" bIns="19050" anchor="ctr">
            <a:normAutofit/>
          </a:bodyPr>
          <a:lstStyle/>
          <a:p>
            <a:pPr algn="ctr">
              <a:lnSpc>
                <a:spcPct val="100000"/>
              </a:lnSpc>
              <a:buNone/>
              <a:defRPr sz="863" b="1" i="0">
                <a:solidFill>
                  <a:srgbClr val="FFFFFF"/>
                </a:solidFill>
                <a:latin typeface="Yu Gothic"/>
                <a:ea typeface="Yu Gothic"/>
                <a:cs typeface="Yu Gothic"/>
              </a:defRPr>
            </a:pPr>
            <a:r>
              <a:rPr sz="863" b="1" i="0">
                <a:solidFill>
                  <a:srgbClr val="FFFFFF"/>
                </a:solidFill>
                <a:latin typeface="Yu Gothic"/>
                <a:ea typeface="Yu Gothic"/>
                <a:cs typeface="Yu Gothic"/>
              </a:rPr>
              <a:t>完了条件：適用運転域・性能限界・再評価条件・責任分界が同一release recordに記録されていること。</a:t>
            </a:r>
          </a:p>
        </p:txBody>
      </p:sp>
    </p:spTree>
    <p:extLst>
      <p:ext uri="{BB962C8B-B14F-4D97-AF65-F5344CB8AC3E}">
        <p14:creationId xmlns:p14="http://schemas.microsoft.com/office/powerpoint/2010/main" val="6916576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6" name="正方形/長方形 55">
            <a:extLst>
              <a:ext uri="{FF2B5EF4-FFF2-40B4-BE49-F238E27FC236}">
                <a16:creationId xmlns:a16="http://schemas.microsoft.com/office/drawing/2014/main" id="{9EF7B269-2C6B-40C5-93FC-59882EB1432B}"/>
              </a:ext>
            </a:extLst>
          </p:cNvPr>
          <p:cNvSpPr>
            <a:spLocks noGrp="1"/>
          </p:cNvSpPr>
          <p:nvPr/>
        </p:nvSpPr>
        <p:spPr>
          <a:xfrm>
            <a:off x="552450" y="190500"/>
            <a:ext cx="76200" cy="142875"/>
          </a:xfrm>
          <a:prstGeom prst="rect">
            <a:avLst/>
          </a:prstGeom>
          <a:solidFill>
            <a:srgbClr val="76BE18"/>
          </a:solidFill>
          <a:ln w="0">
            <a:noFill/>
            <a:prstDash val="solid"/>
          </a:ln>
        </p:spPr>
      </p:sp>
      <p:sp>
        <p:nvSpPr>
          <p:cNvPr id="2" name="正方形/長方形 1">
            <a:extLst>
              <a:ext uri="{FF2B5EF4-FFF2-40B4-BE49-F238E27FC236}">
                <a16:creationId xmlns:a16="http://schemas.microsoft.com/office/drawing/2014/main" id="{9E9178C9-185C-4323-AA43-01327DB450AF}"/>
              </a:ext>
            </a:extLst>
          </p:cNvPr>
          <p:cNvSpPr>
            <a:spLocks noGrp="1"/>
          </p:cNvSpPr>
          <p:nvPr/>
        </p:nvSpPr>
        <p:spPr>
          <a:xfrm>
            <a:off x="704850" y="161925"/>
            <a:ext cx="3429000" cy="190500"/>
          </a:xfrm>
          <a:prstGeom prst="rect">
            <a:avLst/>
          </a:prstGeom>
          <a:noFill/>
          <a:ln w="0">
            <a:noFill/>
            <a:prstDash val="solid"/>
          </a:ln>
        </p:spPr>
        <p:txBody>
          <a:bodyPr wrap="none" lIns="28575" tIns="19050" rIns="28575" bIns="19050" anchor="ctr">
            <a:noAutofit/>
          </a:bodyPr>
          <a:lstStyle/>
          <a:p>
            <a:pPr algn="l">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REFERENCES</a:t>
            </a:r>
          </a:p>
        </p:txBody>
      </p:sp>
      <p:sp>
        <p:nvSpPr>
          <p:cNvPr id="3" name="正方形/長方形 2">
            <a:extLst>
              <a:ext uri="{FF2B5EF4-FFF2-40B4-BE49-F238E27FC236}">
                <a16:creationId xmlns:a16="http://schemas.microsoft.com/office/drawing/2014/main" id="{422C53F3-B218-400A-A317-51C37BB36BF5}"/>
              </a:ext>
            </a:extLst>
          </p:cNvPr>
          <p:cNvSpPr>
            <a:spLocks noGrp="1"/>
          </p:cNvSpPr>
          <p:nvPr/>
        </p:nvSpPr>
        <p:spPr>
          <a:xfrm>
            <a:off x="552450" y="400050"/>
            <a:ext cx="11001375" cy="400050"/>
          </a:xfrm>
          <a:prstGeom prst="rect">
            <a:avLst/>
          </a:prstGeom>
          <a:noFill/>
          <a:ln w="0">
            <a:noFill/>
            <a:prstDash val="solid"/>
          </a:ln>
        </p:spPr>
        <p:txBody>
          <a:bodyPr wrap="none" lIns="19050" tIns="0" rIns="19050" bIns="0" anchor="ctr">
            <a:normAutofit/>
          </a:bodyPr>
          <a:lstStyle/>
          <a:p>
            <a:pPr algn="l">
              <a:lnSpc>
                <a:spcPct val="100000"/>
              </a:lnSpc>
              <a:buNone/>
              <a:defRPr sz="2175" b="1" i="0">
                <a:solidFill>
                  <a:srgbClr val="00A5D8"/>
                </a:solidFill>
                <a:latin typeface="Yu Gothic"/>
                <a:ea typeface="Yu Gothic"/>
                <a:cs typeface="Yu Gothic"/>
              </a:defRPr>
            </a:pPr>
            <a:r>
              <a:rPr sz="2175" b="1" i="0">
                <a:solidFill>
                  <a:srgbClr val="00A5D8"/>
                </a:solidFill>
                <a:latin typeface="Yu Gothic"/>
                <a:ea typeface="Yu Gothic"/>
                <a:cs typeface="Yu Gothic"/>
              </a:rPr>
              <a:t>理論、実装、CAE評価の根拠</a:t>
            </a:r>
          </a:p>
        </p:txBody>
      </p:sp>
      <p:sp>
        <p:nvSpPr>
          <p:cNvPr id="4" name="正方形/長方形 3">
            <a:extLst>
              <a:ext uri="{FF2B5EF4-FFF2-40B4-BE49-F238E27FC236}">
                <a16:creationId xmlns:a16="http://schemas.microsoft.com/office/drawing/2014/main" id="{DE12A924-F59A-469B-B91F-C067D0AA94D5}"/>
              </a:ext>
            </a:extLst>
          </p:cNvPr>
          <p:cNvSpPr>
            <a:spLocks noGrp="1"/>
          </p:cNvSpPr>
          <p:nvPr/>
        </p:nvSpPr>
        <p:spPr>
          <a:xfrm>
            <a:off x="571500" y="838200"/>
            <a:ext cx="10906125" cy="228600"/>
          </a:xfrm>
          <a:prstGeom prst="rect">
            <a:avLst/>
          </a:prstGeom>
          <a:noFill/>
          <a:ln w="0">
            <a:noFill/>
            <a:prstDash val="solid"/>
          </a:ln>
        </p:spPr>
        <p:txBody>
          <a:bodyPr wrap="none" lIns="28575" tIns="19050" rIns="28575" bIns="19050" anchor="ctr">
            <a:noAutofit/>
          </a:bodyPr>
          <a:lstStyle/>
          <a:p>
            <a:pPr algn="l">
              <a:lnSpc>
                <a:spcPct val="100000"/>
              </a:lnSpc>
              <a:buNone/>
              <a:defRPr sz="975" b="0" i="0">
                <a:solidFill>
                  <a:srgbClr val="5B5B5B"/>
                </a:solidFill>
                <a:latin typeface="Yu Gothic"/>
                <a:ea typeface="Yu Gothic"/>
                <a:cs typeface="Yu Gothic"/>
              </a:defRPr>
            </a:pPr>
            <a:r>
              <a:rPr sz="975" b="0" i="0">
                <a:solidFill>
                  <a:srgbClr val="5B5B5B"/>
                </a:solidFill>
                <a:latin typeface="Yu Gothic"/>
                <a:ea typeface="Yu Gothic"/>
                <a:cs typeface="Yu Gothic"/>
              </a:rPr>
              <a:t>各グラフの完全な出典パスと数値条件はspeaker notesに記載</a:t>
            </a:r>
          </a:p>
        </p:txBody>
      </p:sp>
      <p:sp>
        <p:nvSpPr>
          <p:cNvPr id="5" name="直線コネクタ 4">
            <a:extLst>
              <a:ext uri="{FF2B5EF4-FFF2-40B4-BE49-F238E27FC236}">
                <a16:creationId xmlns:a16="http://schemas.microsoft.com/office/drawing/2014/main" id="{0D8AB1A8-4FC6-4526-A8C0-1C876047F451}"/>
              </a:ext>
            </a:extLst>
          </p:cNvPr>
          <p:cNvSpPr>
            <a:spLocks noGrp="1"/>
          </p:cNvSpPr>
          <p:nvPr/>
        </p:nvSpPr>
        <p:spPr>
          <a:xfrm>
            <a:off x="552450" y="1152525"/>
            <a:ext cx="11087100" cy="0"/>
          </a:xfrm>
          <a:prstGeom prst="line">
            <a:avLst/>
          </a:prstGeom>
          <a:noFill/>
          <a:ln w="9525">
            <a:solidFill>
              <a:srgbClr val="D6D6D6"/>
            </a:solidFill>
            <a:prstDash val="solid"/>
          </a:ln>
        </p:spPr>
      </p:sp>
      <p:sp>
        <p:nvSpPr>
          <p:cNvPr id="6" name="直線コネクタ 5">
            <a:extLst>
              <a:ext uri="{FF2B5EF4-FFF2-40B4-BE49-F238E27FC236}">
                <a16:creationId xmlns:a16="http://schemas.microsoft.com/office/drawing/2014/main" id="{7263E113-0B00-4D52-9B46-372464D80CB8}"/>
              </a:ext>
            </a:extLst>
          </p:cNvPr>
          <p:cNvSpPr>
            <a:spLocks noGrp="1"/>
          </p:cNvSpPr>
          <p:nvPr/>
        </p:nvSpPr>
        <p:spPr>
          <a:xfrm>
            <a:off x="552450" y="6438900"/>
            <a:ext cx="11087100" cy="0"/>
          </a:xfrm>
          <a:prstGeom prst="line">
            <a:avLst/>
          </a:prstGeom>
          <a:noFill/>
          <a:ln w="9525">
            <a:solidFill>
              <a:srgbClr val="D6D6D6"/>
            </a:solidFill>
            <a:prstDash val="solid"/>
          </a:ln>
        </p:spPr>
      </p:sp>
      <p:sp>
        <p:nvSpPr>
          <p:cNvPr id="7" name="正方形/長方形 6">
            <a:extLst>
              <a:ext uri="{FF2B5EF4-FFF2-40B4-BE49-F238E27FC236}">
                <a16:creationId xmlns:a16="http://schemas.microsoft.com/office/drawing/2014/main" id="{F454E1F9-2E2C-4179-A772-33119E134E71}"/>
              </a:ext>
            </a:extLst>
          </p:cNvPr>
          <p:cNvSpPr>
            <a:spLocks noGrp="1"/>
          </p:cNvSpPr>
          <p:nvPr/>
        </p:nvSpPr>
        <p:spPr>
          <a:xfrm>
            <a:off x="571500" y="6505575"/>
            <a:ext cx="5334000" cy="171450"/>
          </a:xfrm>
          <a:prstGeom prst="rect">
            <a:avLst/>
          </a:prstGeom>
          <a:noFill/>
          <a:ln w="0">
            <a:noFill/>
            <a:prstDash val="solid"/>
          </a:ln>
        </p:spPr>
        <p:txBody>
          <a:bodyPr wrap="none" lIns="28575" tIns="19050" rIns="28575" bIns="19050" anchor="ctr">
            <a:noAutofit/>
          </a:bodyPr>
          <a:lstStyle/>
          <a:p>
            <a:pPr algn="l">
              <a:lnSpc>
                <a:spcPct val="100000"/>
              </a:lnSpc>
              <a:buNone/>
              <a:defRPr sz="713" b="0" i="0">
                <a:solidFill>
                  <a:srgbClr val="777777"/>
                </a:solidFill>
                <a:latin typeface="Yu Gothic"/>
                <a:ea typeface="Yu Gothic"/>
                <a:cs typeface="Yu Gothic"/>
              </a:defRPr>
            </a:pPr>
            <a:r>
              <a:rPr sz="713" b="0" i="0">
                <a:solidFill>
                  <a:srgbClr val="777777"/>
                </a:solidFill>
                <a:latin typeface="Yu Gothic"/>
                <a:ea typeface="Yu Gothic"/>
                <a:cs typeface="Yu Gothic"/>
              </a:rPr>
              <a:t>THERMAL RC / EQUIPMENT ENGINEERING REVIEW  ·  2026-09-17</a:t>
            </a:r>
          </a:p>
        </p:txBody>
      </p:sp>
      <p:sp>
        <p:nvSpPr>
          <p:cNvPr id="8" name="正方形/長方形 7">
            <a:extLst>
              <a:ext uri="{FF2B5EF4-FFF2-40B4-BE49-F238E27FC236}">
                <a16:creationId xmlns:a16="http://schemas.microsoft.com/office/drawing/2014/main" id="{466340FB-B15E-4E0F-B0FE-0D1B26C2D1D6}"/>
              </a:ext>
            </a:extLst>
          </p:cNvPr>
          <p:cNvSpPr>
            <a:spLocks noGrp="1"/>
          </p:cNvSpPr>
          <p:nvPr/>
        </p:nvSpPr>
        <p:spPr>
          <a:xfrm>
            <a:off x="11125200" y="6496050"/>
            <a:ext cx="476250" cy="171450"/>
          </a:xfrm>
          <a:prstGeom prst="rect">
            <a:avLst/>
          </a:prstGeom>
          <a:noFill/>
          <a:ln w="0">
            <a:noFill/>
            <a:prstDash val="solid"/>
          </a:ln>
        </p:spPr>
        <p:txBody>
          <a:bodyPr wrap="square" lIns="28575" tIns="19050" rIns="28575" bIns="19050" anchor="ctr">
            <a:noAutofit/>
          </a:bodyPr>
          <a:lstStyle/>
          <a:p>
            <a:pPr algn="r">
              <a:lnSpc>
                <a:spcPct val="100000"/>
              </a:lnSpc>
              <a:buNone/>
              <a:defRPr sz="750" b="1" i="0">
                <a:solidFill>
                  <a:srgbClr val="777777"/>
                </a:solidFill>
                <a:latin typeface="Yu Gothic"/>
                <a:ea typeface="Yu Gothic"/>
                <a:cs typeface="Yu Gothic"/>
              </a:defRPr>
            </a:pPr>
            <a:r>
              <a:rPr sz="750" b="1" i="0">
                <a:solidFill>
                  <a:srgbClr val="777777"/>
                </a:solidFill>
                <a:latin typeface="Yu Gothic"/>
                <a:ea typeface="Yu Gothic"/>
                <a:cs typeface="Yu Gothic"/>
              </a:rPr>
              <a:t>29</a:t>
            </a:r>
          </a:p>
        </p:txBody>
      </p:sp>
      <p:sp>
        <p:nvSpPr>
          <p:cNvPr id="9" name="正方形/長方形 8">
            <a:extLst>
              <a:ext uri="{FF2B5EF4-FFF2-40B4-BE49-F238E27FC236}">
                <a16:creationId xmlns:a16="http://schemas.microsoft.com/office/drawing/2014/main" id="{A27498BE-3FCA-44DA-A274-6A48A9621854}"/>
              </a:ext>
            </a:extLst>
          </p:cNvPr>
          <p:cNvSpPr>
            <a:spLocks noGrp="1"/>
          </p:cNvSpPr>
          <p:nvPr/>
        </p:nvSpPr>
        <p:spPr>
          <a:xfrm>
            <a:off x="552450" y="1381125"/>
            <a:ext cx="5257800" cy="266700"/>
          </a:xfrm>
          <a:prstGeom prst="rect">
            <a:avLst/>
          </a:prstGeom>
          <a:noFill/>
          <a:ln w="0">
            <a:noFill/>
            <a:prstDash val="solid"/>
          </a:ln>
        </p:spPr>
        <p:txBody>
          <a:bodyPr wrap="square" lIns="28575" tIns="19050" rIns="28575" bIns="19050" anchor="ctr">
            <a:normAutofit/>
          </a:bodyPr>
          <a:lstStyle/>
          <a:p>
            <a:pPr algn="l">
              <a:lnSpc>
                <a:spcPct val="100000"/>
              </a:lnSpc>
              <a:buNone/>
              <a:defRPr sz="1350" b="1" i="0">
                <a:solidFill>
                  <a:srgbClr val="3F3F3F"/>
                </a:solidFill>
                <a:latin typeface="Yu Gothic"/>
                <a:ea typeface="Yu Gothic"/>
                <a:cs typeface="Yu Gothic"/>
              </a:defRPr>
            </a:pPr>
            <a:r>
              <a:rPr sz="1350" b="1" i="0">
                <a:solidFill>
                  <a:srgbClr val="3F3F3F"/>
                </a:solidFill>
                <a:latin typeface="Yu Gothic"/>
                <a:ea typeface="Yu Gothic"/>
                <a:cs typeface="Yu Gothic"/>
              </a:rPr>
              <a:t>Repository evidence</a:t>
            </a:r>
          </a:p>
        </p:txBody>
      </p:sp>
      <p:sp>
        <p:nvSpPr>
          <p:cNvPr id="10" name="正方形/長方形 9">
            <a:extLst>
              <a:ext uri="{FF2B5EF4-FFF2-40B4-BE49-F238E27FC236}">
                <a16:creationId xmlns:a16="http://schemas.microsoft.com/office/drawing/2014/main" id="{FA7EFC5D-6FBD-4042-9F77-E5E8880F9BD0}"/>
              </a:ext>
            </a:extLst>
          </p:cNvPr>
          <p:cNvSpPr>
            <a:spLocks noGrp="1"/>
          </p:cNvSpPr>
          <p:nvPr/>
        </p:nvSpPr>
        <p:spPr>
          <a:xfrm>
            <a:off x="552450" y="1771650"/>
            <a:ext cx="647700" cy="209550"/>
          </a:xfrm>
          <a:prstGeom prst="rect">
            <a:avLst/>
          </a:prstGeom>
          <a:noFill/>
          <a:ln w="0">
            <a:noFill/>
            <a:prstDash val="solid"/>
          </a:ln>
        </p:spPr>
        <p:txBody>
          <a:bodyPr wrap="square" lIns="28575" tIns="19050" rIns="28575" bIns="19050" anchor="ctr">
            <a:normAutofit/>
          </a:bodyPr>
          <a:lstStyle/>
          <a:p>
            <a:pPr algn="l">
              <a:lnSpc>
                <a:spcPct val="100000"/>
              </a:lnSpc>
              <a:buNone/>
              <a:defRPr sz="825" b="1" i="0">
                <a:solidFill>
                  <a:srgbClr val="007FA8"/>
                </a:solidFill>
                <a:latin typeface="Yu Gothic"/>
                <a:ea typeface="Yu Gothic"/>
                <a:cs typeface="Yu Gothic"/>
              </a:defRPr>
            </a:pPr>
            <a:r>
              <a:rPr sz="825" b="1" i="0">
                <a:solidFill>
                  <a:srgbClr val="007FA8"/>
                </a:solidFill>
                <a:latin typeface="Yu Gothic"/>
                <a:ea typeface="Yu Gothic"/>
                <a:cs typeface="Yu Gothic"/>
              </a:rPr>
              <a:t>[E1]</a:t>
            </a:r>
          </a:p>
        </p:txBody>
      </p:sp>
      <p:sp>
        <p:nvSpPr>
          <p:cNvPr id="11" name="正方形/長方形 10">
            <a:extLst>
              <a:ext uri="{FF2B5EF4-FFF2-40B4-BE49-F238E27FC236}">
                <a16:creationId xmlns:a16="http://schemas.microsoft.com/office/drawing/2014/main" id="{0BC565F9-0B9A-4C8C-9914-E32DC90D0A99}"/>
              </a:ext>
            </a:extLst>
          </p:cNvPr>
          <p:cNvSpPr>
            <a:spLocks noGrp="1"/>
          </p:cNvSpPr>
          <p:nvPr/>
        </p:nvSpPr>
        <p:spPr>
          <a:xfrm>
            <a:off x="1200150" y="1771650"/>
            <a:ext cx="4333875" cy="209550"/>
          </a:xfrm>
          <a:prstGeom prst="rect">
            <a:avLst/>
          </a:prstGeom>
          <a:noFill/>
          <a:ln w="0">
            <a:noFill/>
            <a:prstDash val="solid"/>
          </a:ln>
        </p:spPr>
        <p:txBody>
          <a:bodyPr wrap="square" lIns="28575" tIns="19050" rIns="28575" bIns="19050" anchor="ctr">
            <a:normAutofit/>
          </a:bodyPr>
          <a:lstStyle/>
          <a:p>
            <a:pPr algn="l">
              <a:lnSpc>
                <a:spcPct val="100000"/>
              </a:lnSpc>
              <a:buNone/>
              <a:defRPr sz="1013" b="1" i="0">
                <a:solidFill>
                  <a:srgbClr val="5B5B5B"/>
                </a:solidFill>
                <a:latin typeface="Yu Gothic"/>
                <a:ea typeface="Yu Gothic"/>
                <a:cs typeface="Yu Gothic"/>
              </a:defRPr>
            </a:pPr>
            <a:r>
              <a:rPr sz="1013" b="1" i="0">
                <a:solidFill>
                  <a:srgbClr val="5B5B5B"/>
                </a:solidFill>
                <a:latin typeface="Yu Gothic"/>
                <a:ea typeface="Yu Gothic"/>
                <a:cs typeface="Yu Gothic"/>
              </a:rPr>
              <a:t>Technical specification</a:t>
            </a:r>
          </a:p>
        </p:txBody>
      </p:sp>
      <p:sp>
        <p:nvSpPr>
          <p:cNvPr id="12" name="正方形/長方形 11">
            <a:extLst>
              <a:ext uri="{FF2B5EF4-FFF2-40B4-BE49-F238E27FC236}">
                <a16:creationId xmlns:a16="http://schemas.microsoft.com/office/drawing/2014/main" id="{DE158788-8761-478E-9CB1-9767CA52F2F6}"/>
              </a:ext>
            </a:extLst>
          </p:cNvPr>
          <p:cNvSpPr>
            <a:spLocks noGrp="1"/>
          </p:cNvSpPr>
          <p:nvPr/>
        </p:nvSpPr>
        <p:spPr>
          <a:xfrm>
            <a:off x="1200150" y="2009775"/>
            <a:ext cx="4333875" cy="200025"/>
          </a:xfrm>
          <a:prstGeom prst="rect">
            <a:avLst/>
          </a:prstGeom>
          <a:noFill/>
          <a:ln w="0">
            <a:noFill/>
            <a:prstDash val="solid"/>
          </a:ln>
        </p:spPr>
        <p:txBody>
          <a:bodyPr wrap="square" lIns="28575" tIns="19050" rIns="28575" bIns="19050" anchor="ctr">
            <a:normAutofit/>
          </a:bodyPr>
          <a:lstStyle/>
          <a:p>
            <a:pPr algn="l">
              <a:lnSpc>
                <a:spcPct val="100000"/>
              </a:lnSpc>
              <a:buNone/>
              <a:defRPr sz="735" b="0" i="0">
                <a:solidFill>
                  <a:srgbClr val="777777"/>
                </a:solidFill>
                <a:latin typeface="Yu Gothic"/>
                <a:ea typeface="Yu Gothic"/>
                <a:cs typeface="Yu Gothic"/>
              </a:defRPr>
            </a:pPr>
            <a:r>
              <a:rPr sz="735" b="0" i="0">
                <a:solidFill>
                  <a:srgbClr val="777777"/>
                </a:solidFill>
                <a:latin typeface="Yu Gothic"/>
                <a:ea typeface="Yu Gothic"/>
                <a:cs typeface="Yu Gothic"/>
              </a:rPr>
              <a:t>docs/technical_specification.md</a:t>
            </a:r>
          </a:p>
        </p:txBody>
      </p:sp>
      <p:sp>
        <p:nvSpPr>
          <p:cNvPr id="13" name="正方形/長方形 12">
            <a:extLst>
              <a:ext uri="{FF2B5EF4-FFF2-40B4-BE49-F238E27FC236}">
                <a16:creationId xmlns:a16="http://schemas.microsoft.com/office/drawing/2014/main" id="{65689097-0A51-43B9-884B-E8D56E4A0308}"/>
              </a:ext>
            </a:extLst>
          </p:cNvPr>
          <p:cNvSpPr>
            <a:spLocks noGrp="1"/>
          </p:cNvSpPr>
          <p:nvPr/>
        </p:nvSpPr>
        <p:spPr>
          <a:xfrm>
            <a:off x="552450" y="2381250"/>
            <a:ext cx="647700" cy="209550"/>
          </a:xfrm>
          <a:prstGeom prst="rect">
            <a:avLst/>
          </a:prstGeom>
          <a:noFill/>
          <a:ln w="0">
            <a:noFill/>
            <a:prstDash val="solid"/>
          </a:ln>
        </p:spPr>
        <p:txBody>
          <a:bodyPr wrap="square" lIns="28575" tIns="19050" rIns="28575" bIns="19050" anchor="ctr">
            <a:normAutofit/>
          </a:bodyPr>
          <a:lstStyle/>
          <a:p>
            <a:pPr algn="l">
              <a:lnSpc>
                <a:spcPct val="100000"/>
              </a:lnSpc>
              <a:buNone/>
              <a:defRPr sz="825" b="1" i="0">
                <a:solidFill>
                  <a:srgbClr val="007FA8"/>
                </a:solidFill>
                <a:latin typeface="Yu Gothic"/>
                <a:ea typeface="Yu Gothic"/>
                <a:cs typeface="Yu Gothic"/>
              </a:defRPr>
            </a:pPr>
            <a:r>
              <a:rPr sz="825" b="1" i="0">
                <a:solidFill>
                  <a:srgbClr val="007FA8"/>
                </a:solidFill>
                <a:latin typeface="Yu Gothic"/>
                <a:ea typeface="Yu Gothic"/>
                <a:cs typeface="Yu Gothic"/>
              </a:rPr>
              <a:t>[E2]</a:t>
            </a:r>
          </a:p>
        </p:txBody>
      </p:sp>
      <p:sp>
        <p:nvSpPr>
          <p:cNvPr id="14" name="正方形/長方形 13">
            <a:extLst>
              <a:ext uri="{FF2B5EF4-FFF2-40B4-BE49-F238E27FC236}">
                <a16:creationId xmlns:a16="http://schemas.microsoft.com/office/drawing/2014/main" id="{CE45DBD5-DE18-4C12-86FC-EC31DD428377}"/>
              </a:ext>
            </a:extLst>
          </p:cNvPr>
          <p:cNvSpPr>
            <a:spLocks noGrp="1"/>
          </p:cNvSpPr>
          <p:nvPr/>
        </p:nvSpPr>
        <p:spPr>
          <a:xfrm>
            <a:off x="1200150" y="2381250"/>
            <a:ext cx="4333875" cy="209550"/>
          </a:xfrm>
          <a:prstGeom prst="rect">
            <a:avLst/>
          </a:prstGeom>
          <a:noFill/>
          <a:ln w="0">
            <a:noFill/>
            <a:prstDash val="solid"/>
          </a:ln>
        </p:spPr>
        <p:txBody>
          <a:bodyPr wrap="square" lIns="28575" tIns="19050" rIns="28575" bIns="19050" anchor="ctr">
            <a:normAutofit/>
          </a:bodyPr>
          <a:lstStyle/>
          <a:p>
            <a:pPr algn="l">
              <a:lnSpc>
                <a:spcPct val="100000"/>
              </a:lnSpc>
              <a:buNone/>
              <a:defRPr sz="1013" b="1" i="0">
                <a:solidFill>
                  <a:srgbClr val="5B5B5B"/>
                </a:solidFill>
                <a:latin typeface="Yu Gothic"/>
                <a:ea typeface="Yu Gothic"/>
                <a:cs typeface="Yu Gothic"/>
              </a:defRPr>
            </a:pPr>
            <a:r>
              <a:rPr sz="1013" b="1" i="0">
                <a:solidFill>
                  <a:srgbClr val="5B5B5B"/>
                </a:solidFill>
                <a:latin typeface="Yu Gothic"/>
                <a:ea typeface="Yu Gothic"/>
                <a:cs typeface="Yu Gothic"/>
              </a:rPr>
              <a:t>TopCell benchmark</a:t>
            </a:r>
          </a:p>
        </p:txBody>
      </p:sp>
      <p:sp>
        <p:nvSpPr>
          <p:cNvPr id="15" name="正方形/長方形 14">
            <a:extLst>
              <a:ext uri="{FF2B5EF4-FFF2-40B4-BE49-F238E27FC236}">
                <a16:creationId xmlns:a16="http://schemas.microsoft.com/office/drawing/2014/main" id="{509272E2-2B11-4115-9F88-A6B7F804A3B2}"/>
              </a:ext>
            </a:extLst>
          </p:cNvPr>
          <p:cNvSpPr>
            <a:spLocks noGrp="1"/>
          </p:cNvSpPr>
          <p:nvPr/>
        </p:nvSpPr>
        <p:spPr>
          <a:xfrm>
            <a:off x="1200150" y="2619375"/>
            <a:ext cx="4333875" cy="200025"/>
          </a:xfrm>
          <a:prstGeom prst="rect">
            <a:avLst/>
          </a:prstGeom>
          <a:noFill/>
          <a:ln w="0">
            <a:noFill/>
            <a:prstDash val="solid"/>
          </a:ln>
        </p:spPr>
        <p:txBody>
          <a:bodyPr wrap="square" lIns="28575" tIns="19050" rIns="28575" bIns="19050" anchor="ctr">
            <a:normAutofit/>
          </a:bodyPr>
          <a:lstStyle/>
          <a:p>
            <a:pPr algn="l">
              <a:lnSpc>
                <a:spcPct val="100000"/>
              </a:lnSpc>
              <a:buNone/>
              <a:defRPr sz="735" b="0" i="0">
                <a:solidFill>
                  <a:srgbClr val="777777"/>
                </a:solidFill>
                <a:latin typeface="Yu Gothic"/>
                <a:ea typeface="Yu Gothic"/>
                <a:cs typeface="Yu Gothic"/>
              </a:defRPr>
            </a:pPr>
            <a:r>
              <a:rPr sz="735" b="0" i="0">
                <a:solidFill>
                  <a:srgbClr val="777777"/>
                </a:solidFill>
                <a:latin typeface="Yu Gothic"/>
                <a:ea typeface="Yu Gothic"/>
                <a:cs typeface="Yu Gothic"/>
              </a:rPr>
              <a:t>benchmarks/topcell/work/outputs/benchmark/</a:t>
            </a:r>
          </a:p>
        </p:txBody>
      </p:sp>
      <p:sp>
        <p:nvSpPr>
          <p:cNvPr id="16" name="正方形/長方形 15">
            <a:extLst>
              <a:ext uri="{FF2B5EF4-FFF2-40B4-BE49-F238E27FC236}">
                <a16:creationId xmlns:a16="http://schemas.microsoft.com/office/drawing/2014/main" id="{953ABDCA-BCEC-4FBE-8EDE-13073A22578C}"/>
              </a:ext>
            </a:extLst>
          </p:cNvPr>
          <p:cNvSpPr>
            <a:spLocks noGrp="1"/>
          </p:cNvSpPr>
          <p:nvPr/>
        </p:nvSpPr>
        <p:spPr>
          <a:xfrm>
            <a:off x="552450" y="2990850"/>
            <a:ext cx="647700" cy="209550"/>
          </a:xfrm>
          <a:prstGeom prst="rect">
            <a:avLst/>
          </a:prstGeom>
          <a:noFill/>
          <a:ln w="0">
            <a:noFill/>
            <a:prstDash val="solid"/>
          </a:ln>
        </p:spPr>
        <p:txBody>
          <a:bodyPr wrap="square" lIns="28575" tIns="19050" rIns="28575" bIns="19050" anchor="ctr">
            <a:normAutofit/>
          </a:bodyPr>
          <a:lstStyle/>
          <a:p>
            <a:pPr algn="l">
              <a:lnSpc>
                <a:spcPct val="100000"/>
              </a:lnSpc>
              <a:buNone/>
              <a:defRPr sz="825" b="1" i="0">
                <a:solidFill>
                  <a:srgbClr val="007FA8"/>
                </a:solidFill>
                <a:latin typeface="Yu Gothic"/>
                <a:ea typeface="Yu Gothic"/>
                <a:cs typeface="Yu Gothic"/>
              </a:defRPr>
            </a:pPr>
            <a:r>
              <a:rPr sz="825" b="1" i="0">
                <a:solidFill>
                  <a:srgbClr val="007FA8"/>
                </a:solidFill>
                <a:latin typeface="Yu Gothic"/>
                <a:ea typeface="Yu Gothic"/>
                <a:cs typeface="Yu Gothic"/>
              </a:rPr>
              <a:t>[E3]</a:t>
            </a:r>
          </a:p>
        </p:txBody>
      </p:sp>
      <p:sp>
        <p:nvSpPr>
          <p:cNvPr id="17" name="正方形/長方形 16">
            <a:extLst>
              <a:ext uri="{FF2B5EF4-FFF2-40B4-BE49-F238E27FC236}">
                <a16:creationId xmlns:a16="http://schemas.microsoft.com/office/drawing/2014/main" id="{D1F2E429-EF89-47AE-BCA8-016921AC913E}"/>
              </a:ext>
            </a:extLst>
          </p:cNvPr>
          <p:cNvSpPr>
            <a:spLocks noGrp="1"/>
          </p:cNvSpPr>
          <p:nvPr/>
        </p:nvSpPr>
        <p:spPr>
          <a:xfrm>
            <a:off x="1200150" y="2990850"/>
            <a:ext cx="4333875" cy="209550"/>
          </a:xfrm>
          <a:prstGeom prst="rect">
            <a:avLst/>
          </a:prstGeom>
          <a:noFill/>
          <a:ln w="0">
            <a:noFill/>
            <a:prstDash val="solid"/>
          </a:ln>
        </p:spPr>
        <p:txBody>
          <a:bodyPr wrap="square" lIns="28575" tIns="19050" rIns="28575" bIns="19050" anchor="ctr">
            <a:normAutofit/>
          </a:bodyPr>
          <a:lstStyle/>
          <a:p>
            <a:pPr algn="l">
              <a:lnSpc>
                <a:spcPct val="100000"/>
              </a:lnSpc>
              <a:buNone/>
              <a:defRPr sz="1013" b="1" i="0">
                <a:solidFill>
                  <a:srgbClr val="5B5B5B"/>
                </a:solidFill>
                <a:latin typeface="Yu Gothic"/>
                <a:ea typeface="Yu Gothic"/>
                <a:cs typeface="Yu Gothic"/>
              </a:defRPr>
            </a:pPr>
            <a:r>
              <a:rPr sz="1013" b="1" i="0">
                <a:solidFill>
                  <a:srgbClr val="5B5B5B"/>
                </a:solidFill>
                <a:latin typeface="Yu Gothic"/>
                <a:ea typeface="Yu Gothic"/>
                <a:cs typeface="Yu Gothic"/>
              </a:rPr>
              <a:t>Linear COMSOL evaluation</a:t>
            </a:r>
          </a:p>
        </p:txBody>
      </p:sp>
      <p:sp>
        <p:nvSpPr>
          <p:cNvPr id="18" name="正方形/長方形 17">
            <a:extLst>
              <a:ext uri="{FF2B5EF4-FFF2-40B4-BE49-F238E27FC236}">
                <a16:creationId xmlns:a16="http://schemas.microsoft.com/office/drawing/2014/main" id="{896B601A-2437-49BB-A24D-90325D57ECEF}"/>
              </a:ext>
            </a:extLst>
          </p:cNvPr>
          <p:cNvSpPr>
            <a:spLocks noGrp="1"/>
          </p:cNvSpPr>
          <p:nvPr/>
        </p:nvSpPr>
        <p:spPr>
          <a:xfrm>
            <a:off x="1200150" y="3228975"/>
            <a:ext cx="4333875" cy="200025"/>
          </a:xfrm>
          <a:prstGeom prst="rect">
            <a:avLst/>
          </a:prstGeom>
          <a:noFill/>
          <a:ln w="0">
            <a:noFill/>
            <a:prstDash val="solid"/>
          </a:ln>
        </p:spPr>
        <p:txBody>
          <a:bodyPr wrap="square" lIns="28575" tIns="19050" rIns="28575" bIns="19050" anchor="ctr">
            <a:normAutofit/>
          </a:bodyPr>
          <a:lstStyle/>
          <a:p>
            <a:pPr algn="l">
              <a:lnSpc>
                <a:spcPct val="100000"/>
              </a:lnSpc>
              <a:buNone/>
              <a:defRPr sz="735" b="0" i="0">
                <a:solidFill>
                  <a:srgbClr val="777777"/>
                </a:solidFill>
                <a:latin typeface="Yu Gothic"/>
                <a:ea typeface="Yu Gothic"/>
                <a:cs typeface="Yu Gothic"/>
              </a:defRPr>
            </a:pPr>
            <a:r>
              <a:rPr sz="735" b="0" i="0">
                <a:solidFill>
                  <a:srgbClr val="777777"/>
                </a:solidFill>
                <a:latin typeface="Yu Gothic"/>
                <a:ea typeface="Yu Gothic"/>
                <a:cs typeface="Yu Gothic"/>
              </a:rPr>
              <a:t>external_tools/comsol_chip_cooling/work/evaluation/</a:t>
            </a:r>
          </a:p>
        </p:txBody>
      </p:sp>
      <p:sp>
        <p:nvSpPr>
          <p:cNvPr id="19" name="正方形/長方形 18">
            <a:extLst>
              <a:ext uri="{FF2B5EF4-FFF2-40B4-BE49-F238E27FC236}">
                <a16:creationId xmlns:a16="http://schemas.microsoft.com/office/drawing/2014/main" id="{8EFC71A0-2E54-493E-92B7-8FB819D792C1}"/>
              </a:ext>
            </a:extLst>
          </p:cNvPr>
          <p:cNvSpPr>
            <a:spLocks noGrp="1"/>
          </p:cNvSpPr>
          <p:nvPr/>
        </p:nvSpPr>
        <p:spPr>
          <a:xfrm>
            <a:off x="552450" y="3600450"/>
            <a:ext cx="647700" cy="209550"/>
          </a:xfrm>
          <a:prstGeom prst="rect">
            <a:avLst/>
          </a:prstGeom>
          <a:noFill/>
          <a:ln w="0">
            <a:noFill/>
            <a:prstDash val="solid"/>
          </a:ln>
        </p:spPr>
        <p:txBody>
          <a:bodyPr wrap="square" lIns="28575" tIns="19050" rIns="28575" bIns="19050" anchor="ctr">
            <a:normAutofit/>
          </a:bodyPr>
          <a:lstStyle/>
          <a:p>
            <a:pPr algn="l">
              <a:lnSpc>
                <a:spcPct val="100000"/>
              </a:lnSpc>
              <a:buNone/>
              <a:defRPr sz="825" b="1" i="0">
                <a:solidFill>
                  <a:srgbClr val="007FA8"/>
                </a:solidFill>
                <a:latin typeface="Yu Gothic"/>
                <a:ea typeface="Yu Gothic"/>
                <a:cs typeface="Yu Gothic"/>
              </a:defRPr>
            </a:pPr>
            <a:r>
              <a:rPr sz="825" b="1" i="0">
                <a:solidFill>
                  <a:srgbClr val="007FA8"/>
                </a:solidFill>
                <a:latin typeface="Yu Gothic"/>
                <a:ea typeface="Yu Gothic"/>
                <a:cs typeface="Yu Gothic"/>
              </a:rPr>
              <a:t>[E4]</a:t>
            </a:r>
          </a:p>
        </p:txBody>
      </p:sp>
      <p:sp>
        <p:nvSpPr>
          <p:cNvPr id="20" name="正方形/長方形 19">
            <a:extLst>
              <a:ext uri="{FF2B5EF4-FFF2-40B4-BE49-F238E27FC236}">
                <a16:creationId xmlns:a16="http://schemas.microsoft.com/office/drawing/2014/main" id="{539735FF-627C-4A2D-A2E1-51CA6F9DCF62}"/>
              </a:ext>
            </a:extLst>
          </p:cNvPr>
          <p:cNvSpPr>
            <a:spLocks noGrp="1"/>
          </p:cNvSpPr>
          <p:nvPr/>
        </p:nvSpPr>
        <p:spPr>
          <a:xfrm>
            <a:off x="1200150" y="3600450"/>
            <a:ext cx="4333875" cy="209550"/>
          </a:xfrm>
          <a:prstGeom prst="rect">
            <a:avLst/>
          </a:prstGeom>
          <a:noFill/>
          <a:ln w="0">
            <a:noFill/>
            <a:prstDash val="solid"/>
          </a:ln>
        </p:spPr>
        <p:txBody>
          <a:bodyPr wrap="square" lIns="28575" tIns="19050" rIns="28575" bIns="19050" anchor="ctr">
            <a:normAutofit/>
          </a:bodyPr>
          <a:lstStyle/>
          <a:p>
            <a:pPr algn="l">
              <a:lnSpc>
                <a:spcPct val="100000"/>
              </a:lnSpc>
              <a:buNone/>
              <a:defRPr sz="1013" b="1" i="0">
                <a:solidFill>
                  <a:srgbClr val="5B5B5B"/>
                </a:solidFill>
                <a:latin typeface="Yu Gothic"/>
                <a:ea typeface="Yu Gothic"/>
                <a:cs typeface="Yu Gothic"/>
              </a:defRPr>
            </a:pPr>
            <a:r>
              <a:rPr sz="1013" b="1" i="0">
                <a:solidFill>
                  <a:srgbClr val="5B5B5B"/>
                </a:solidFill>
                <a:latin typeface="Yu Gothic"/>
                <a:ea typeface="Yu Gothic"/>
                <a:cs typeface="Yu Gothic"/>
              </a:rPr>
              <a:t>Monitor traces</a:t>
            </a:r>
          </a:p>
        </p:txBody>
      </p:sp>
      <p:sp>
        <p:nvSpPr>
          <p:cNvPr id="21" name="正方形/長方形 20">
            <a:extLst>
              <a:ext uri="{FF2B5EF4-FFF2-40B4-BE49-F238E27FC236}">
                <a16:creationId xmlns:a16="http://schemas.microsoft.com/office/drawing/2014/main" id="{67A53B95-8687-43B6-9D93-997078EB058E}"/>
              </a:ext>
            </a:extLst>
          </p:cNvPr>
          <p:cNvSpPr>
            <a:spLocks noGrp="1"/>
          </p:cNvSpPr>
          <p:nvPr/>
        </p:nvSpPr>
        <p:spPr>
          <a:xfrm>
            <a:off x="1200150" y="3838575"/>
            <a:ext cx="4333875" cy="200025"/>
          </a:xfrm>
          <a:prstGeom prst="rect">
            <a:avLst/>
          </a:prstGeom>
          <a:noFill/>
          <a:ln w="0">
            <a:noFill/>
            <a:prstDash val="solid"/>
          </a:ln>
        </p:spPr>
        <p:txBody>
          <a:bodyPr wrap="square" lIns="28575" tIns="19050" rIns="28575" bIns="19050" anchor="ctr">
            <a:normAutofit/>
          </a:bodyPr>
          <a:lstStyle/>
          <a:p>
            <a:pPr algn="l">
              <a:lnSpc>
                <a:spcPct val="100000"/>
              </a:lnSpc>
              <a:buNone/>
              <a:defRPr sz="735" b="0" i="0">
                <a:solidFill>
                  <a:srgbClr val="777777"/>
                </a:solidFill>
                <a:latin typeface="Yu Gothic"/>
                <a:ea typeface="Yu Gothic"/>
                <a:cs typeface="Yu Gothic"/>
              </a:defRPr>
            </a:pPr>
            <a:r>
              <a:rPr sz="735" b="0" i="0">
                <a:solidFill>
                  <a:srgbClr val="777777"/>
                </a:solidFill>
                <a:latin typeface="Yu Gothic"/>
                <a:ea typeface="Yu Gothic"/>
                <a:cs typeface="Yu Gothic"/>
              </a:rPr>
              <a:t>external_tools/comsol_chip_cooling/work/outputs/monitor/</a:t>
            </a:r>
          </a:p>
        </p:txBody>
      </p:sp>
      <p:sp>
        <p:nvSpPr>
          <p:cNvPr id="22" name="正方形/長方形 21">
            <a:extLst>
              <a:ext uri="{FF2B5EF4-FFF2-40B4-BE49-F238E27FC236}">
                <a16:creationId xmlns:a16="http://schemas.microsoft.com/office/drawing/2014/main" id="{F4EFFE81-50AA-47D1-B666-BA90583BF344}"/>
              </a:ext>
            </a:extLst>
          </p:cNvPr>
          <p:cNvSpPr>
            <a:spLocks noGrp="1"/>
          </p:cNvSpPr>
          <p:nvPr/>
        </p:nvSpPr>
        <p:spPr>
          <a:xfrm>
            <a:off x="552450" y="4210050"/>
            <a:ext cx="647700" cy="209550"/>
          </a:xfrm>
          <a:prstGeom prst="rect">
            <a:avLst/>
          </a:prstGeom>
          <a:noFill/>
          <a:ln w="0">
            <a:noFill/>
            <a:prstDash val="solid"/>
          </a:ln>
        </p:spPr>
        <p:txBody>
          <a:bodyPr wrap="square" lIns="28575" tIns="19050" rIns="28575" bIns="19050" anchor="ctr">
            <a:normAutofit/>
          </a:bodyPr>
          <a:lstStyle/>
          <a:p>
            <a:pPr algn="l">
              <a:lnSpc>
                <a:spcPct val="100000"/>
              </a:lnSpc>
              <a:buNone/>
              <a:defRPr sz="825" b="1" i="0">
                <a:solidFill>
                  <a:srgbClr val="007FA8"/>
                </a:solidFill>
                <a:latin typeface="Yu Gothic"/>
                <a:ea typeface="Yu Gothic"/>
                <a:cs typeface="Yu Gothic"/>
              </a:defRPr>
            </a:pPr>
            <a:r>
              <a:rPr sz="825" b="1" i="0">
                <a:solidFill>
                  <a:srgbClr val="007FA8"/>
                </a:solidFill>
                <a:latin typeface="Yu Gothic"/>
                <a:ea typeface="Yu Gothic"/>
                <a:cs typeface="Yu Gothic"/>
              </a:rPr>
              <a:t>[E5]</a:t>
            </a:r>
          </a:p>
        </p:txBody>
      </p:sp>
      <p:sp>
        <p:nvSpPr>
          <p:cNvPr id="23" name="正方形/長方形 22">
            <a:extLst>
              <a:ext uri="{FF2B5EF4-FFF2-40B4-BE49-F238E27FC236}">
                <a16:creationId xmlns:a16="http://schemas.microsoft.com/office/drawing/2014/main" id="{C2D707E3-9BF1-444B-8C59-C863959DD285}"/>
              </a:ext>
            </a:extLst>
          </p:cNvPr>
          <p:cNvSpPr>
            <a:spLocks noGrp="1"/>
          </p:cNvSpPr>
          <p:nvPr/>
        </p:nvSpPr>
        <p:spPr>
          <a:xfrm>
            <a:off x="1200150" y="4210050"/>
            <a:ext cx="4333875" cy="209550"/>
          </a:xfrm>
          <a:prstGeom prst="rect">
            <a:avLst/>
          </a:prstGeom>
          <a:noFill/>
          <a:ln w="0">
            <a:noFill/>
            <a:prstDash val="solid"/>
          </a:ln>
        </p:spPr>
        <p:txBody>
          <a:bodyPr wrap="square" lIns="28575" tIns="19050" rIns="28575" bIns="19050" anchor="ctr">
            <a:normAutofit/>
          </a:bodyPr>
          <a:lstStyle/>
          <a:p>
            <a:pPr algn="l">
              <a:lnSpc>
                <a:spcPct val="100000"/>
              </a:lnSpc>
              <a:buNone/>
              <a:defRPr sz="1013" b="1" i="0">
                <a:solidFill>
                  <a:srgbClr val="5B5B5B"/>
                </a:solidFill>
                <a:latin typeface="Yu Gothic"/>
                <a:ea typeface="Yu Gothic"/>
                <a:cs typeface="Yu Gothic"/>
              </a:defRPr>
            </a:pPr>
            <a:r>
              <a:rPr sz="1013" b="1" i="0">
                <a:solidFill>
                  <a:srgbClr val="5B5B5B"/>
                </a:solidFill>
                <a:latin typeface="Yu Gothic"/>
                <a:ea typeface="Yu Gothic"/>
                <a:cs typeface="Yu Gothic"/>
              </a:rPr>
              <a:t>CAE report source data</a:t>
            </a:r>
          </a:p>
        </p:txBody>
      </p:sp>
      <p:sp>
        <p:nvSpPr>
          <p:cNvPr id="24" name="正方形/長方形 23">
            <a:extLst>
              <a:ext uri="{FF2B5EF4-FFF2-40B4-BE49-F238E27FC236}">
                <a16:creationId xmlns:a16="http://schemas.microsoft.com/office/drawing/2014/main" id="{C654D989-7985-43A9-8009-79EBCE67FD48}"/>
              </a:ext>
            </a:extLst>
          </p:cNvPr>
          <p:cNvSpPr>
            <a:spLocks noGrp="1"/>
          </p:cNvSpPr>
          <p:nvPr/>
        </p:nvSpPr>
        <p:spPr>
          <a:xfrm>
            <a:off x="1200150" y="4448175"/>
            <a:ext cx="4333875" cy="200025"/>
          </a:xfrm>
          <a:prstGeom prst="rect">
            <a:avLst/>
          </a:prstGeom>
          <a:noFill/>
          <a:ln w="0">
            <a:noFill/>
            <a:prstDash val="solid"/>
          </a:ln>
        </p:spPr>
        <p:txBody>
          <a:bodyPr wrap="square" lIns="28575" tIns="19050" rIns="28575" bIns="19050" anchor="ctr">
            <a:normAutofit/>
          </a:bodyPr>
          <a:lstStyle/>
          <a:p>
            <a:pPr algn="l">
              <a:lnSpc>
                <a:spcPct val="100000"/>
              </a:lnSpc>
              <a:buNone/>
              <a:defRPr sz="735" b="0" i="0">
                <a:solidFill>
                  <a:srgbClr val="777777"/>
                </a:solidFill>
                <a:latin typeface="Yu Gothic"/>
                <a:ea typeface="Yu Gothic"/>
                <a:cs typeface="Yu Gothic"/>
              </a:defRPr>
            </a:pPr>
            <a:r>
              <a:rPr sz="735" b="0" i="0">
                <a:solidFill>
                  <a:srgbClr val="777777"/>
                </a:solidFill>
                <a:latin typeface="Yu Gothic"/>
                <a:ea typeface="Yu Gothic"/>
                <a:cs typeface="Yu Gothic"/>
              </a:rPr>
              <a:t>external_tools/.../reports/cae_benchmark_report/source_data/</a:t>
            </a:r>
          </a:p>
        </p:txBody>
      </p:sp>
      <p:sp>
        <p:nvSpPr>
          <p:cNvPr id="25" name="正方形/長方形 24">
            <a:extLst>
              <a:ext uri="{FF2B5EF4-FFF2-40B4-BE49-F238E27FC236}">
                <a16:creationId xmlns:a16="http://schemas.microsoft.com/office/drawing/2014/main" id="{53E0353B-ABC0-40D5-9811-CE8674E655F0}"/>
              </a:ext>
            </a:extLst>
          </p:cNvPr>
          <p:cNvSpPr>
            <a:spLocks noGrp="1"/>
          </p:cNvSpPr>
          <p:nvPr/>
        </p:nvSpPr>
        <p:spPr>
          <a:xfrm>
            <a:off x="552450" y="4819650"/>
            <a:ext cx="647700" cy="209550"/>
          </a:xfrm>
          <a:prstGeom prst="rect">
            <a:avLst/>
          </a:prstGeom>
          <a:noFill/>
          <a:ln w="0">
            <a:noFill/>
            <a:prstDash val="solid"/>
          </a:ln>
        </p:spPr>
        <p:txBody>
          <a:bodyPr wrap="square" lIns="28575" tIns="19050" rIns="28575" bIns="19050" anchor="ctr">
            <a:normAutofit/>
          </a:bodyPr>
          <a:lstStyle/>
          <a:p>
            <a:pPr algn="l">
              <a:lnSpc>
                <a:spcPct val="100000"/>
              </a:lnSpc>
              <a:buNone/>
              <a:defRPr sz="825" b="1" i="0">
                <a:solidFill>
                  <a:srgbClr val="007FA8"/>
                </a:solidFill>
                <a:latin typeface="Yu Gothic"/>
                <a:ea typeface="Yu Gothic"/>
                <a:cs typeface="Yu Gothic"/>
              </a:defRPr>
            </a:pPr>
            <a:r>
              <a:rPr sz="825" b="1" i="0">
                <a:solidFill>
                  <a:srgbClr val="007FA8"/>
                </a:solidFill>
                <a:latin typeface="Yu Gothic"/>
                <a:ea typeface="Yu Gothic"/>
                <a:cs typeface="Yu Gothic"/>
              </a:rPr>
              <a:t>[E6]</a:t>
            </a:r>
          </a:p>
        </p:txBody>
      </p:sp>
      <p:sp>
        <p:nvSpPr>
          <p:cNvPr id="26" name="正方形/長方形 25">
            <a:extLst>
              <a:ext uri="{FF2B5EF4-FFF2-40B4-BE49-F238E27FC236}">
                <a16:creationId xmlns:a16="http://schemas.microsoft.com/office/drawing/2014/main" id="{B930DFD0-2FD7-4302-904D-400FEBEEB8A2}"/>
              </a:ext>
            </a:extLst>
          </p:cNvPr>
          <p:cNvSpPr>
            <a:spLocks noGrp="1"/>
          </p:cNvSpPr>
          <p:nvPr/>
        </p:nvSpPr>
        <p:spPr>
          <a:xfrm>
            <a:off x="1200150" y="4819650"/>
            <a:ext cx="4333875" cy="209550"/>
          </a:xfrm>
          <a:prstGeom prst="rect">
            <a:avLst/>
          </a:prstGeom>
          <a:noFill/>
          <a:ln w="0">
            <a:noFill/>
            <a:prstDash val="solid"/>
          </a:ln>
        </p:spPr>
        <p:txBody>
          <a:bodyPr wrap="square" lIns="28575" tIns="19050" rIns="28575" bIns="19050" anchor="ctr">
            <a:normAutofit/>
          </a:bodyPr>
          <a:lstStyle/>
          <a:p>
            <a:pPr algn="l">
              <a:lnSpc>
                <a:spcPct val="100000"/>
              </a:lnSpc>
              <a:buNone/>
              <a:defRPr sz="1013" b="1" i="0">
                <a:solidFill>
                  <a:srgbClr val="5B5B5B"/>
                </a:solidFill>
                <a:latin typeface="Yu Gothic"/>
                <a:ea typeface="Yu Gothic"/>
                <a:cs typeface="Yu Gothic"/>
              </a:defRPr>
            </a:pPr>
            <a:r>
              <a:rPr sz="1013" b="1" i="0">
                <a:solidFill>
                  <a:srgbClr val="5B5B5B"/>
                </a:solidFill>
                <a:latin typeface="Yu Gothic"/>
                <a:ea typeface="Yu Gothic"/>
                <a:cs typeface="Yu Gothic"/>
              </a:rPr>
              <a:t>High-fidelity validation</a:t>
            </a:r>
          </a:p>
        </p:txBody>
      </p:sp>
      <p:sp>
        <p:nvSpPr>
          <p:cNvPr id="27" name="正方形/長方形 26">
            <a:extLst>
              <a:ext uri="{FF2B5EF4-FFF2-40B4-BE49-F238E27FC236}">
                <a16:creationId xmlns:a16="http://schemas.microsoft.com/office/drawing/2014/main" id="{37DD6AFD-CD29-4E1C-A08B-566A7344D5D4}"/>
              </a:ext>
            </a:extLst>
          </p:cNvPr>
          <p:cNvSpPr>
            <a:spLocks noGrp="1"/>
          </p:cNvSpPr>
          <p:nvPr/>
        </p:nvSpPr>
        <p:spPr>
          <a:xfrm>
            <a:off x="1200150" y="5057775"/>
            <a:ext cx="4333875" cy="200025"/>
          </a:xfrm>
          <a:prstGeom prst="rect">
            <a:avLst/>
          </a:prstGeom>
          <a:noFill/>
          <a:ln w="0">
            <a:noFill/>
            <a:prstDash val="solid"/>
          </a:ln>
        </p:spPr>
        <p:txBody>
          <a:bodyPr wrap="square" lIns="28575" tIns="19050" rIns="28575" bIns="19050" anchor="ctr">
            <a:normAutofit/>
          </a:bodyPr>
          <a:lstStyle/>
          <a:p>
            <a:pPr algn="l">
              <a:lnSpc>
                <a:spcPct val="100000"/>
              </a:lnSpc>
              <a:buNone/>
              <a:defRPr sz="735" b="0" i="0">
                <a:solidFill>
                  <a:srgbClr val="777777"/>
                </a:solidFill>
                <a:latin typeface="Yu Gothic"/>
                <a:ea typeface="Yu Gothic"/>
                <a:cs typeface="Yu Gothic"/>
              </a:defRPr>
            </a:pPr>
            <a:r>
              <a:rPr sz="735" b="0" i="0">
                <a:solidFill>
                  <a:srgbClr val="777777"/>
                </a:solidFill>
                <a:latin typeface="Yu Gothic"/>
                <a:ea typeface="Yu Gothic"/>
                <a:cs typeface="Yu Gothic"/>
              </a:rPr>
              <a:t>external_tools/comsol_chip_cooling/docs/high_fidelity_validation.md</a:t>
            </a:r>
          </a:p>
        </p:txBody>
      </p:sp>
      <p:sp>
        <p:nvSpPr>
          <p:cNvPr id="28" name="正方形/長方形 27">
            <a:extLst>
              <a:ext uri="{FF2B5EF4-FFF2-40B4-BE49-F238E27FC236}">
                <a16:creationId xmlns:a16="http://schemas.microsoft.com/office/drawing/2014/main" id="{B56B28A6-7468-4C3F-8CE5-1CE56DEAAFE3}"/>
              </a:ext>
            </a:extLst>
          </p:cNvPr>
          <p:cNvSpPr>
            <a:spLocks noGrp="1"/>
          </p:cNvSpPr>
          <p:nvPr/>
        </p:nvSpPr>
        <p:spPr>
          <a:xfrm>
            <a:off x="6381750" y="1381125"/>
            <a:ext cx="5257800" cy="266700"/>
          </a:xfrm>
          <a:prstGeom prst="rect">
            <a:avLst/>
          </a:prstGeom>
          <a:noFill/>
          <a:ln w="0">
            <a:noFill/>
            <a:prstDash val="solid"/>
          </a:ln>
        </p:spPr>
        <p:txBody>
          <a:bodyPr wrap="square" lIns="28575" tIns="19050" rIns="28575" bIns="19050" anchor="ctr">
            <a:normAutofit/>
          </a:bodyPr>
          <a:lstStyle/>
          <a:p>
            <a:pPr algn="l">
              <a:lnSpc>
                <a:spcPct val="100000"/>
              </a:lnSpc>
              <a:buNone/>
              <a:defRPr sz="1350" b="1" i="0">
                <a:solidFill>
                  <a:srgbClr val="3F3F3F"/>
                </a:solidFill>
                <a:latin typeface="Yu Gothic"/>
                <a:ea typeface="Yu Gothic"/>
                <a:cs typeface="Yu Gothic"/>
              </a:defRPr>
            </a:pPr>
            <a:r>
              <a:rPr sz="1350" b="1" i="0">
                <a:solidFill>
                  <a:srgbClr val="3F3F3F"/>
                </a:solidFill>
                <a:latin typeface="Yu Gothic"/>
                <a:ea typeface="Yu Gothic"/>
                <a:cs typeface="Yu Gothic"/>
              </a:rPr>
              <a:t>Theory and methods</a:t>
            </a:r>
          </a:p>
        </p:txBody>
      </p:sp>
      <p:sp>
        <p:nvSpPr>
          <p:cNvPr id="29" name="正方形/長方形 28">
            <a:extLst>
              <a:ext uri="{FF2B5EF4-FFF2-40B4-BE49-F238E27FC236}">
                <a16:creationId xmlns:a16="http://schemas.microsoft.com/office/drawing/2014/main" id="{C7B54153-5823-4D57-800F-78E55A840B35}"/>
              </a:ext>
            </a:extLst>
          </p:cNvPr>
          <p:cNvSpPr>
            <a:spLocks noGrp="1"/>
          </p:cNvSpPr>
          <p:nvPr/>
        </p:nvSpPr>
        <p:spPr>
          <a:xfrm>
            <a:off x="6381750" y="1743075"/>
            <a:ext cx="647700" cy="209550"/>
          </a:xfrm>
          <a:prstGeom prst="rect">
            <a:avLst/>
          </a:prstGeom>
          <a:noFill/>
          <a:ln w="0">
            <a:noFill/>
            <a:prstDash val="solid"/>
          </a:ln>
        </p:spPr>
        <p:txBody>
          <a:bodyPr wrap="square" lIns="28575" tIns="19050" rIns="28575" bIns="19050" anchor="ctr">
            <a:normAutofit/>
          </a:bodyPr>
          <a:lstStyle/>
          <a:p>
            <a:pPr algn="l">
              <a:lnSpc>
                <a:spcPct val="100000"/>
              </a:lnSpc>
              <a:buNone/>
              <a:defRPr sz="825" b="1" i="0">
                <a:solidFill>
                  <a:srgbClr val="4D8710"/>
                </a:solidFill>
                <a:latin typeface="Yu Gothic"/>
                <a:ea typeface="Yu Gothic"/>
                <a:cs typeface="Yu Gothic"/>
              </a:defRPr>
            </a:pPr>
            <a:r>
              <a:rPr sz="825" b="1" i="0">
                <a:solidFill>
                  <a:srgbClr val="4D8710"/>
                </a:solidFill>
                <a:latin typeface="Yu Gothic"/>
                <a:ea typeface="Yu Gothic"/>
                <a:cs typeface="Yu Gothic"/>
              </a:rPr>
              <a:t>[R1]</a:t>
            </a:r>
          </a:p>
        </p:txBody>
      </p:sp>
      <p:sp>
        <p:nvSpPr>
          <p:cNvPr id="30" name="正方形/長方形 29">
            <a:extLst>
              <a:ext uri="{FF2B5EF4-FFF2-40B4-BE49-F238E27FC236}">
                <a16:creationId xmlns:a16="http://schemas.microsoft.com/office/drawing/2014/main" id="{0F81B5A2-03CE-4579-9BEA-A95717FD1395}"/>
              </a:ext>
            </a:extLst>
          </p:cNvPr>
          <p:cNvSpPr>
            <a:spLocks noGrp="1"/>
          </p:cNvSpPr>
          <p:nvPr/>
        </p:nvSpPr>
        <p:spPr>
          <a:xfrm>
            <a:off x="7029450" y="1743075"/>
            <a:ext cx="4286250" cy="209550"/>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5B5B5B"/>
                </a:solidFill>
                <a:latin typeface="Yu Gothic"/>
                <a:ea typeface="Yu Gothic"/>
                <a:cs typeface="Yu Gothic"/>
              </a:defRPr>
            </a:pPr>
            <a:r>
              <a:rPr sz="975" b="1" i="0">
                <a:solidFill>
                  <a:srgbClr val="5B5B5B"/>
                </a:solidFill>
                <a:latin typeface="Yu Gothic"/>
                <a:ea typeface="Yu Gothic"/>
                <a:cs typeface="Yu Gothic"/>
              </a:rPr>
              <a:t>Huang et al. (2006)</a:t>
            </a:r>
          </a:p>
        </p:txBody>
      </p:sp>
      <p:sp>
        <p:nvSpPr>
          <p:cNvPr id="31" name="正方形/長方形 30">
            <a:extLst>
              <a:ext uri="{FF2B5EF4-FFF2-40B4-BE49-F238E27FC236}">
                <a16:creationId xmlns:a16="http://schemas.microsoft.com/office/drawing/2014/main" id="{973398D6-2680-4644-8074-D787EDF937AA}"/>
              </a:ext>
            </a:extLst>
          </p:cNvPr>
          <p:cNvSpPr>
            <a:spLocks noGrp="1"/>
          </p:cNvSpPr>
          <p:nvPr/>
        </p:nvSpPr>
        <p:spPr>
          <a:xfrm>
            <a:off x="7029450" y="1962150"/>
            <a:ext cx="4286250" cy="200025"/>
          </a:xfrm>
          <a:prstGeom prst="rect">
            <a:avLst/>
          </a:prstGeom>
          <a:noFill/>
          <a:ln w="0">
            <a:noFill/>
            <a:prstDash val="solid"/>
          </a:ln>
        </p:spPr>
        <p:txBody>
          <a:bodyPr wrap="square" lIns="28575" tIns="19050" rIns="28575" bIns="19050" anchor="ctr">
            <a:normAutofit/>
          </a:bodyPr>
          <a:lstStyle/>
          <a:p>
            <a:pPr algn="l">
              <a:lnSpc>
                <a:spcPct val="100000"/>
              </a:lnSpc>
              <a:buNone/>
              <a:defRPr sz="788" b="0" i="0">
                <a:solidFill>
                  <a:srgbClr val="777777"/>
                </a:solidFill>
                <a:latin typeface="Yu Gothic"/>
                <a:ea typeface="Yu Gothic"/>
                <a:cs typeface="Yu Gothic"/>
              </a:defRPr>
            </a:pPr>
            <a:r>
              <a:rPr sz="788" b="0" i="0">
                <a:solidFill>
                  <a:srgbClr val="777777"/>
                </a:solidFill>
                <a:latin typeface="Yu Gothic"/>
                <a:ea typeface="Yu Gothic"/>
                <a:cs typeface="Yu Gothic"/>
              </a:rPr>
              <a:t>HotSpot compact thermal modeling, IEEE TVLSI</a:t>
            </a:r>
          </a:p>
        </p:txBody>
      </p:sp>
      <p:sp>
        <p:nvSpPr>
          <p:cNvPr id="32" name="正方形/長方形 31">
            <a:extLst>
              <a:ext uri="{FF2B5EF4-FFF2-40B4-BE49-F238E27FC236}">
                <a16:creationId xmlns:a16="http://schemas.microsoft.com/office/drawing/2014/main" id="{A7CADF13-25EE-44FB-BD44-341172D88738}"/>
              </a:ext>
            </a:extLst>
          </p:cNvPr>
          <p:cNvSpPr>
            <a:spLocks noGrp="1"/>
          </p:cNvSpPr>
          <p:nvPr/>
        </p:nvSpPr>
        <p:spPr>
          <a:xfrm>
            <a:off x="6381750" y="2238375"/>
            <a:ext cx="647700" cy="209550"/>
          </a:xfrm>
          <a:prstGeom prst="rect">
            <a:avLst/>
          </a:prstGeom>
          <a:noFill/>
          <a:ln w="0">
            <a:noFill/>
            <a:prstDash val="solid"/>
          </a:ln>
        </p:spPr>
        <p:txBody>
          <a:bodyPr wrap="square" lIns="28575" tIns="19050" rIns="28575" bIns="19050" anchor="ctr">
            <a:normAutofit/>
          </a:bodyPr>
          <a:lstStyle/>
          <a:p>
            <a:pPr algn="l">
              <a:lnSpc>
                <a:spcPct val="100000"/>
              </a:lnSpc>
              <a:buNone/>
              <a:defRPr sz="825" b="1" i="0">
                <a:solidFill>
                  <a:srgbClr val="4D8710"/>
                </a:solidFill>
                <a:latin typeface="Yu Gothic"/>
                <a:ea typeface="Yu Gothic"/>
                <a:cs typeface="Yu Gothic"/>
              </a:defRPr>
            </a:pPr>
            <a:r>
              <a:rPr sz="825" b="1" i="0">
                <a:solidFill>
                  <a:srgbClr val="4D8710"/>
                </a:solidFill>
                <a:latin typeface="Yu Gothic"/>
                <a:ea typeface="Yu Gothic"/>
                <a:cs typeface="Yu Gothic"/>
              </a:rPr>
              <a:t>[R2]</a:t>
            </a:r>
          </a:p>
        </p:txBody>
      </p:sp>
      <p:sp>
        <p:nvSpPr>
          <p:cNvPr id="33" name="正方形/長方形 32">
            <a:extLst>
              <a:ext uri="{FF2B5EF4-FFF2-40B4-BE49-F238E27FC236}">
                <a16:creationId xmlns:a16="http://schemas.microsoft.com/office/drawing/2014/main" id="{347B4FF7-D0B3-4482-AE85-AE805879AEB2}"/>
              </a:ext>
            </a:extLst>
          </p:cNvPr>
          <p:cNvSpPr>
            <a:spLocks noGrp="1"/>
          </p:cNvSpPr>
          <p:nvPr/>
        </p:nvSpPr>
        <p:spPr>
          <a:xfrm>
            <a:off x="7029450" y="2238375"/>
            <a:ext cx="4286250" cy="209550"/>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5B5B5B"/>
                </a:solidFill>
                <a:latin typeface="Yu Gothic"/>
                <a:ea typeface="Yu Gothic"/>
                <a:cs typeface="Yu Gothic"/>
              </a:defRPr>
            </a:pPr>
            <a:r>
              <a:rPr sz="975" b="1" i="0">
                <a:solidFill>
                  <a:srgbClr val="5B5B5B"/>
                </a:solidFill>
                <a:latin typeface="Yu Gothic"/>
                <a:ea typeface="Yu Gothic"/>
                <a:cs typeface="Yu Gothic"/>
              </a:rPr>
              <a:t>Farina &amp; Rinaldi (2000)</a:t>
            </a:r>
          </a:p>
        </p:txBody>
      </p:sp>
      <p:sp>
        <p:nvSpPr>
          <p:cNvPr id="34" name="正方形/長方形 33">
            <a:extLst>
              <a:ext uri="{FF2B5EF4-FFF2-40B4-BE49-F238E27FC236}">
                <a16:creationId xmlns:a16="http://schemas.microsoft.com/office/drawing/2014/main" id="{195951A7-E9DE-4AE7-B34E-54D4F553629F}"/>
              </a:ext>
            </a:extLst>
          </p:cNvPr>
          <p:cNvSpPr>
            <a:spLocks noGrp="1"/>
          </p:cNvSpPr>
          <p:nvPr/>
        </p:nvSpPr>
        <p:spPr>
          <a:xfrm>
            <a:off x="7029450" y="2457450"/>
            <a:ext cx="4286250" cy="200025"/>
          </a:xfrm>
          <a:prstGeom prst="rect">
            <a:avLst/>
          </a:prstGeom>
          <a:noFill/>
          <a:ln w="0">
            <a:noFill/>
            <a:prstDash val="solid"/>
          </a:ln>
        </p:spPr>
        <p:txBody>
          <a:bodyPr wrap="square" lIns="28575" tIns="19050" rIns="28575" bIns="19050" anchor="ctr">
            <a:normAutofit/>
          </a:bodyPr>
          <a:lstStyle/>
          <a:p>
            <a:pPr algn="l">
              <a:lnSpc>
                <a:spcPct val="100000"/>
              </a:lnSpc>
              <a:buNone/>
              <a:defRPr sz="788" b="0" i="0">
                <a:solidFill>
                  <a:srgbClr val="777777"/>
                </a:solidFill>
                <a:latin typeface="Yu Gothic"/>
                <a:ea typeface="Yu Gothic"/>
                <a:cs typeface="Yu Gothic"/>
              </a:defRPr>
            </a:pPr>
            <a:r>
              <a:rPr sz="788" b="0" i="0">
                <a:solidFill>
                  <a:srgbClr val="777777"/>
                </a:solidFill>
                <a:latin typeface="Yu Gothic"/>
                <a:ea typeface="Yu Gothic"/>
                <a:cs typeface="Yu Gothic"/>
              </a:rPr>
              <a:t>Positive Linear Systems</a:t>
            </a:r>
          </a:p>
        </p:txBody>
      </p:sp>
      <p:sp>
        <p:nvSpPr>
          <p:cNvPr id="35" name="正方形/長方形 34">
            <a:extLst>
              <a:ext uri="{FF2B5EF4-FFF2-40B4-BE49-F238E27FC236}">
                <a16:creationId xmlns:a16="http://schemas.microsoft.com/office/drawing/2014/main" id="{D4229203-2C77-4971-9EBD-8EE0E085E898}"/>
              </a:ext>
            </a:extLst>
          </p:cNvPr>
          <p:cNvSpPr>
            <a:spLocks noGrp="1"/>
          </p:cNvSpPr>
          <p:nvPr/>
        </p:nvSpPr>
        <p:spPr>
          <a:xfrm>
            <a:off x="6381750" y="2733675"/>
            <a:ext cx="647700" cy="209550"/>
          </a:xfrm>
          <a:prstGeom prst="rect">
            <a:avLst/>
          </a:prstGeom>
          <a:noFill/>
          <a:ln w="0">
            <a:noFill/>
            <a:prstDash val="solid"/>
          </a:ln>
        </p:spPr>
        <p:txBody>
          <a:bodyPr wrap="square" lIns="28575" tIns="19050" rIns="28575" bIns="19050" anchor="ctr">
            <a:normAutofit/>
          </a:bodyPr>
          <a:lstStyle/>
          <a:p>
            <a:pPr algn="l">
              <a:lnSpc>
                <a:spcPct val="100000"/>
              </a:lnSpc>
              <a:buNone/>
              <a:defRPr sz="825" b="1" i="0">
                <a:solidFill>
                  <a:srgbClr val="4D8710"/>
                </a:solidFill>
                <a:latin typeface="Yu Gothic"/>
                <a:ea typeface="Yu Gothic"/>
                <a:cs typeface="Yu Gothic"/>
              </a:defRPr>
            </a:pPr>
            <a:r>
              <a:rPr sz="825" b="1" i="0">
                <a:solidFill>
                  <a:srgbClr val="4D8710"/>
                </a:solidFill>
                <a:latin typeface="Yu Gothic"/>
                <a:ea typeface="Yu Gothic"/>
                <a:cs typeface="Yu Gothic"/>
              </a:rPr>
              <a:t>[R3]</a:t>
            </a:r>
          </a:p>
        </p:txBody>
      </p:sp>
      <p:sp>
        <p:nvSpPr>
          <p:cNvPr id="36" name="正方形/長方形 35">
            <a:extLst>
              <a:ext uri="{FF2B5EF4-FFF2-40B4-BE49-F238E27FC236}">
                <a16:creationId xmlns:a16="http://schemas.microsoft.com/office/drawing/2014/main" id="{621A2382-B770-4AD8-9012-C678F50FAC7E}"/>
              </a:ext>
            </a:extLst>
          </p:cNvPr>
          <p:cNvSpPr>
            <a:spLocks noGrp="1"/>
          </p:cNvSpPr>
          <p:nvPr/>
        </p:nvSpPr>
        <p:spPr>
          <a:xfrm>
            <a:off x="7029450" y="2733675"/>
            <a:ext cx="4286250" cy="209550"/>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5B5B5B"/>
                </a:solidFill>
                <a:latin typeface="Yu Gothic"/>
                <a:ea typeface="Yu Gothic"/>
                <a:cs typeface="Yu Gothic"/>
              </a:defRPr>
            </a:pPr>
            <a:r>
              <a:rPr sz="975" b="1" i="0">
                <a:solidFill>
                  <a:srgbClr val="5B5B5B"/>
                </a:solidFill>
                <a:latin typeface="Yu Gothic"/>
                <a:ea typeface="Yu Gothic"/>
                <a:cs typeface="Yu Gothic"/>
              </a:rPr>
              <a:t>Kalman (1960)</a:t>
            </a:r>
          </a:p>
        </p:txBody>
      </p:sp>
      <p:sp>
        <p:nvSpPr>
          <p:cNvPr id="37" name="正方形/長方形 36">
            <a:extLst>
              <a:ext uri="{FF2B5EF4-FFF2-40B4-BE49-F238E27FC236}">
                <a16:creationId xmlns:a16="http://schemas.microsoft.com/office/drawing/2014/main" id="{224A22B7-2006-4A98-8A5E-C066CB14F86E}"/>
              </a:ext>
            </a:extLst>
          </p:cNvPr>
          <p:cNvSpPr>
            <a:spLocks noGrp="1"/>
          </p:cNvSpPr>
          <p:nvPr/>
        </p:nvSpPr>
        <p:spPr>
          <a:xfrm>
            <a:off x="7029450" y="2952750"/>
            <a:ext cx="4286250" cy="200025"/>
          </a:xfrm>
          <a:prstGeom prst="rect">
            <a:avLst/>
          </a:prstGeom>
          <a:noFill/>
          <a:ln w="0">
            <a:noFill/>
            <a:prstDash val="solid"/>
          </a:ln>
        </p:spPr>
        <p:txBody>
          <a:bodyPr wrap="square" lIns="28575" tIns="19050" rIns="28575" bIns="19050" anchor="ctr">
            <a:normAutofit/>
          </a:bodyPr>
          <a:lstStyle/>
          <a:p>
            <a:pPr algn="l">
              <a:lnSpc>
                <a:spcPct val="100000"/>
              </a:lnSpc>
              <a:buNone/>
              <a:defRPr sz="788" b="0" i="0">
                <a:solidFill>
                  <a:srgbClr val="777777"/>
                </a:solidFill>
                <a:latin typeface="Yu Gothic"/>
                <a:ea typeface="Yu Gothic"/>
                <a:cs typeface="Yu Gothic"/>
              </a:defRPr>
            </a:pPr>
            <a:r>
              <a:rPr sz="788" b="0" i="0">
                <a:solidFill>
                  <a:srgbClr val="777777"/>
                </a:solidFill>
                <a:latin typeface="Yu Gothic"/>
                <a:ea typeface="Yu Gothic"/>
                <a:cs typeface="Yu Gothic"/>
              </a:rPr>
              <a:t>Linear filtering and prediction</a:t>
            </a:r>
          </a:p>
        </p:txBody>
      </p:sp>
      <p:sp>
        <p:nvSpPr>
          <p:cNvPr id="38" name="正方形/長方形 37">
            <a:extLst>
              <a:ext uri="{FF2B5EF4-FFF2-40B4-BE49-F238E27FC236}">
                <a16:creationId xmlns:a16="http://schemas.microsoft.com/office/drawing/2014/main" id="{9C9BABF0-69C6-428B-AF0A-48A1CDE1FE99}"/>
              </a:ext>
            </a:extLst>
          </p:cNvPr>
          <p:cNvSpPr>
            <a:spLocks noGrp="1"/>
          </p:cNvSpPr>
          <p:nvPr/>
        </p:nvSpPr>
        <p:spPr>
          <a:xfrm>
            <a:off x="6381750" y="3228975"/>
            <a:ext cx="647700" cy="209550"/>
          </a:xfrm>
          <a:prstGeom prst="rect">
            <a:avLst/>
          </a:prstGeom>
          <a:noFill/>
          <a:ln w="0">
            <a:noFill/>
            <a:prstDash val="solid"/>
          </a:ln>
        </p:spPr>
        <p:txBody>
          <a:bodyPr wrap="square" lIns="28575" tIns="19050" rIns="28575" bIns="19050" anchor="ctr">
            <a:normAutofit/>
          </a:bodyPr>
          <a:lstStyle/>
          <a:p>
            <a:pPr algn="l">
              <a:lnSpc>
                <a:spcPct val="100000"/>
              </a:lnSpc>
              <a:buNone/>
              <a:defRPr sz="825" b="1" i="0">
                <a:solidFill>
                  <a:srgbClr val="4D8710"/>
                </a:solidFill>
                <a:latin typeface="Yu Gothic"/>
                <a:ea typeface="Yu Gothic"/>
                <a:cs typeface="Yu Gothic"/>
              </a:defRPr>
            </a:pPr>
            <a:r>
              <a:rPr sz="825" b="1" i="0">
                <a:solidFill>
                  <a:srgbClr val="4D8710"/>
                </a:solidFill>
                <a:latin typeface="Yu Gothic"/>
                <a:ea typeface="Yu Gothic"/>
                <a:cs typeface="Yu Gothic"/>
              </a:rPr>
              <a:t>[R4]</a:t>
            </a:r>
          </a:p>
        </p:txBody>
      </p:sp>
      <p:sp>
        <p:nvSpPr>
          <p:cNvPr id="39" name="正方形/長方形 38">
            <a:extLst>
              <a:ext uri="{FF2B5EF4-FFF2-40B4-BE49-F238E27FC236}">
                <a16:creationId xmlns:a16="http://schemas.microsoft.com/office/drawing/2014/main" id="{20825F24-2225-4303-AD27-FE0321C1A0A6}"/>
              </a:ext>
            </a:extLst>
          </p:cNvPr>
          <p:cNvSpPr>
            <a:spLocks noGrp="1"/>
          </p:cNvSpPr>
          <p:nvPr/>
        </p:nvSpPr>
        <p:spPr>
          <a:xfrm>
            <a:off x="7029450" y="3228975"/>
            <a:ext cx="4286250" cy="209550"/>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5B5B5B"/>
                </a:solidFill>
                <a:latin typeface="Yu Gothic"/>
                <a:ea typeface="Yu Gothic"/>
                <a:cs typeface="Yu Gothic"/>
              </a:defRPr>
            </a:pPr>
            <a:r>
              <a:rPr sz="975" b="1" i="0">
                <a:solidFill>
                  <a:srgbClr val="5B5B5B"/>
                </a:solidFill>
                <a:latin typeface="Yu Gothic"/>
                <a:ea typeface="Yu Gothic"/>
                <a:cs typeface="Yu Gothic"/>
              </a:rPr>
              <a:t>Van Loan (1978)</a:t>
            </a:r>
          </a:p>
        </p:txBody>
      </p:sp>
      <p:sp>
        <p:nvSpPr>
          <p:cNvPr id="40" name="正方形/長方形 39">
            <a:extLst>
              <a:ext uri="{FF2B5EF4-FFF2-40B4-BE49-F238E27FC236}">
                <a16:creationId xmlns:a16="http://schemas.microsoft.com/office/drawing/2014/main" id="{FCD49329-7B9E-4677-AC9C-42C8EEEAE530}"/>
              </a:ext>
            </a:extLst>
          </p:cNvPr>
          <p:cNvSpPr>
            <a:spLocks noGrp="1"/>
          </p:cNvSpPr>
          <p:nvPr/>
        </p:nvSpPr>
        <p:spPr>
          <a:xfrm>
            <a:off x="7029450" y="3448050"/>
            <a:ext cx="4286250" cy="200025"/>
          </a:xfrm>
          <a:prstGeom prst="rect">
            <a:avLst/>
          </a:prstGeom>
          <a:noFill/>
          <a:ln w="0">
            <a:noFill/>
            <a:prstDash val="solid"/>
          </a:ln>
        </p:spPr>
        <p:txBody>
          <a:bodyPr wrap="square" lIns="28575" tIns="19050" rIns="28575" bIns="19050" anchor="ctr">
            <a:normAutofit/>
          </a:bodyPr>
          <a:lstStyle/>
          <a:p>
            <a:pPr algn="l">
              <a:lnSpc>
                <a:spcPct val="100000"/>
              </a:lnSpc>
              <a:buNone/>
              <a:defRPr sz="788" b="0" i="0">
                <a:solidFill>
                  <a:srgbClr val="777777"/>
                </a:solidFill>
                <a:latin typeface="Yu Gothic"/>
                <a:ea typeface="Yu Gothic"/>
                <a:cs typeface="Yu Gothic"/>
              </a:defRPr>
            </a:pPr>
            <a:r>
              <a:rPr sz="788" b="0" i="0">
                <a:solidFill>
                  <a:srgbClr val="777777"/>
                </a:solidFill>
                <a:latin typeface="Yu Gothic"/>
                <a:ea typeface="Yu Gothic"/>
                <a:cs typeface="Yu Gothic"/>
              </a:rPr>
              <a:t>Computing integrals involving the matrix exponential</a:t>
            </a:r>
          </a:p>
        </p:txBody>
      </p:sp>
      <p:sp>
        <p:nvSpPr>
          <p:cNvPr id="41" name="正方形/長方形 40">
            <a:extLst>
              <a:ext uri="{FF2B5EF4-FFF2-40B4-BE49-F238E27FC236}">
                <a16:creationId xmlns:a16="http://schemas.microsoft.com/office/drawing/2014/main" id="{608B4E38-DCCC-4B44-BA31-7C7C47F3C216}"/>
              </a:ext>
            </a:extLst>
          </p:cNvPr>
          <p:cNvSpPr>
            <a:spLocks noGrp="1"/>
          </p:cNvSpPr>
          <p:nvPr/>
        </p:nvSpPr>
        <p:spPr>
          <a:xfrm>
            <a:off x="6381750" y="3724275"/>
            <a:ext cx="647700" cy="209550"/>
          </a:xfrm>
          <a:prstGeom prst="rect">
            <a:avLst/>
          </a:prstGeom>
          <a:noFill/>
          <a:ln w="0">
            <a:noFill/>
            <a:prstDash val="solid"/>
          </a:ln>
        </p:spPr>
        <p:txBody>
          <a:bodyPr wrap="square" lIns="28575" tIns="19050" rIns="28575" bIns="19050" anchor="ctr">
            <a:normAutofit/>
          </a:bodyPr>
          <a:lstStyle/>
          <a:p>
            <a:pPr algn="l">
              <a:lnSpc>
                <a:spcPct val="100000"/>
              </a:lnSpc>
              <a:buNone/>
              <a:defRPr sz="825" b="1" i="0">
                <a:solidFill>
                  <a:srgbClr val="4D8710"/>
                </a:solidFill>
                <a:latin typeface="Yu Gothic"/>
                <a:ea typeface="Yu Gothic"/>
                <a:cs typeface="Yu Gothic"/>
              </a:defRPr>
            </a:pPr>
            <a:r>
              <a:rPr sz="825" b="1" i="0">
                <a:solidFill>
                  <a:srgbClr val="4D8710"/>
                </a:solidFill>
                <a:latin typeface="Yu Gothic"/>
                <a:ea typeface="Yu Gothic"/>
                <a:cs typeface="Yu Gothic"/>
              </a:rPr>
              <a:t>[R5]</a:t>
            </a:r>
          </a:p>
        </p:txBody>
      </p:sp>
      <p:sp>
        <p:nvSpPr>
          <p:cNvPr id="42" name="正方形/長方形 41">
            <a:extLst>
              <a:ext uri="{FF2B5EF4-FFF2-40B4-BE49-F238E27FC236}">
                <a16:creationId xmlns:a16="http://schemas.microsoft.com/office/drawing/2014/main" id="{AD04B078-586D-446E-8221-0201DAE24D93}"/>
              </a:ext>
            </a:extLst>
          </p:cNvPr>
          <p:cNvSpPr>
            <a:spLocks noGrp="1"/>
          </p:cNvSpPr>
          <p:nvPr/>
        </p:nvSpPr>
        <p:spPr>
          <a:xfrm>
            <a:off x="7029450" y="3724275"/>
            <a:ext cx="4286250" cy="209550"/>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5B5B5B"/>
                </a:solidFill>
                <a:latin typeface="Yu Gothic"/>
                <a:ea typeface="Yu Gothic"/>
                <a:cs typeface="Yu Gothic"/>
              </a:defRPr>
            </a:pPr>
            <a:r>
              <a:rPr sz="975" b="1" i="0">
                <a:solidFill>
                  <a:srgbClr val="5B5B5B"/>
                </a:solidFill>
                <a:latin typeface="Yu Gothic"/>
                <a:ea typeface="Yu Gothic"/>
                <a:cs typeface="Yu Gothic"/>
              </a:rPr>
              <a:t>Higham (2005)</a:t>
            </a:r>
          </a:p>
        </p:txBody>
      </p:sp>
      <p:sp>
        <p:nvSpPr>
          <p:cNvPr id="43" name="正方形/長方形 42">
            <a:extLst>
              <a:ext uri="{FF2B5EF4-FFF2-40B4-BE49-F238E27FC236}">
                <a16:creationId xmlns:a16="http://schemas.microsoft.com/office/drawing/2014/main" id="{8EDBA775-1311-435B-A8FC-1476516906C0}"/>
              </a:ext>
            </a:extLst>
          </p:cNvPr>
          <p:cNvSpPr>
            <a:spLocks noGrp="1"/>
          </p:cNvSpPr>
          <p:nvPr/>
        </p:nvSpPr>
        <p:spPr>
          <a:xfrm>
            <a:off x="7029450" y="3943350"/>
            <a:ext cx="4286250" cy="200025"/>
          </a:xfrm>
          <a:prstGeom prst="rect">
            <a:avLst/>
          </a:prstGeom>
          <a:noFill/>
          <a:ln w="0">
            <a:noFill/>
            <a:prstDash val="solid"/>
          </a:ln>
        </p:spPr>
        <p:txBody>
          <a:bodyPr wrap="square" lIns="28575" tIns="19050" rIns="28575" bIns="19050" anchor="ctr">
            <a:normAutofit/>
          </a:bodyPr>
          <a:lstStyle/>
          <a:p>
            <a:pPr algn="l">
              <a:lnSpc>
                <a:spcPct val="100000"/>
              </a:lnSpc>
              <a:buNone/>
              <a:defRPr sz="788" b="0" i="0">
                <a:solidFill>
                  <a:srgbClr val="777777"/>
                </a:solidFill>
                <a:latin typeface="Yu Gothic"/>
                <a:ea typeface="Yu Gothic"/>
                <a:cs typeface="Yu Gothic"/>
              </a:defRPr>
            </a:pPr>
            <a:r>
              <a:rPr sz="788" b="0" i="0">
                <a:solidFill>
                  <a:srgbClr val="777777"/>
                </a:solidFill>
                <a:latin typeface="Yu Gothic"/>
                <a:ea typeface="Yu Gothic"/>
                <a:cs typeface="Yu Gothic"/>
              </a:rPr>
              <a:t>Scaling and squaring for the matrix exponential</a:t>
            </a:r>
          </a:p>
        </p:txBody>
      </p:sp>
      <p:sp>
        <p:nvSpPr>
          <p:cNvPr id="44" name="正方形/長方形 43">
            <a:extLst>
              <a:ext uri="{FF2B5EF4-FFF2-40B4-BE49-F238E27FC236}">
                <a16:creationId xmlns:a16="http://schemas.microsoft.com/office/drawing/2014/main" id="{D1689CCD-50E1-4194-BFC7-E7C84064CE16}"/>
              </a:ext>
            </a:extLst>
          </p:cNvPr>
          <p:cNvSpPr>
            <a:spLocks noGrp="1"/>
          </p:cNvSpPr>
          <p:nvPr/>
        </p:nvSpPr>
        <p:spPr>
          <a:xfrm>
            <a:off x="6381750" y="4219575"/>
            <a:ext cx="647700" cy="209550"/>
          </a:xfrm>
          <a:prstGeom prst="rect">
            <a:avLst/>
          </a:prstGeom>
          <a:noFill/>
          <a:ln w="0">
            <a:noFill/>
            <a:prstDash val="solid"/>
          </a:ln>
        </p:spPr>
        <p:txBody>
          <a:bodyPr wrap="square" lIns="28575" tIns="19050" rIns="28575" bIns="19050" anchor="ctr">
            <a:normAutofit/>
          </a:bodyPr>
          <a:lstStyle/>
          <a:p>
            <a:pPr algn="l">
              <a:lnSpc>
                <a:spcPct val="100000"/>
              </a:lnSpc>
              <a:buNone/>
              <a:defRPr sz="825" b="1" i="0">
                <a:solidFill>
                  <a:srgbClr val="4D8710"/>
                </a:solidFill>
                <a:latin typeface="Yu Gothic"/>
                <a:ea typeface="Yu Gothic"/>
                <a:cs typeface="Yu Gothic"/>
              </a:defRPr>
            </a:pPr>
            <a:r>
              <a:rPr sz="825" b="1" i="0">
                <a:solidFill>
                  <a:srgbClr val="4D8710"/>
                </a:solidFill>
                <a:latin typeface="Yu Gothic"/>
                <a:ea typeface="Yu Gothic"/>
                <a:cs typeface="Yu Gothic"/>
              </a:rPr>
              <a:t>[R6]</a:t>
            </a:r>
          </a:p>
        </p:txBody>
      </p:sp>
      <p:sp>
        <p:nvSpPr>
          <p:cNvPr id="45" name="正方形/長方形 44">
            <a:extLst>
              <a:ext uri="{FF2B5EF4-FFF2-40B4-BE49-F238E27FC236}">
                <a16:creationId xmlns:a16="http://schemas.microsoft.com/office/drawing/2014/main" id="{36D6C66C-1319-4A37-9863-589EBCD3DF48}"/>
              </a:ext>
            </a:extLst>
          </p:cNvPr>
          <p:cNvSpPr>
            <a:spLocks noGrp="1"/>
          </p:cNvSpPr>
          <p:nvPr/>
        </p:nvSpPr>
        <p:spPr>
          <a:xfrm>
            <a:off x="7029450" y="4219575"/>
            <a:ext cx="4286250" cy="209550"/>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5B5B5B"/>
                </a:solidFill>
                <a:latin typeface="Yu Gothic"/>
                <a:ea typeface="Yu Gothic"/>
                <a:cs typeface="Yu Gothic"/>
              </a:defRPr>
            </a:pPr>
            <a:r>
              <a:rPr sz="975" b="1" i="0">
                <a:solidFill>
                  <a:srgbClr val="5B5B5B"/>
                </a:solidFill>
                <a:latin typeface="Yu Gothic"/>
                <a:ea typeface="Yu Gothic"/>
                <a:cs typeface="Yu Gothic"/>
              </a:rPr>
              <a:t>Huber (1964)</a:t>
            </a:r>
          </a:p>
        </p:txBody>
      </p:sp>
      <p:sp>
        <p:nvSpPr>
          <p:cNvPr id="46" name="正方形/長方形 45">
            <a:extLst>
              <a:ext uri="{FF2B5EF4-FFF2-40B4-BE49-F238E27FC236}">
                <a16:creationId xmlns:a16="http://schemas.microsoft.com/office/drawing/2014/main" id="{A86784C3-E91C-46E8-B629-D85BC44829AC}"/>
              </a:ext>
            </a:extLst>
          </p:cNvPr>
          <p:cNvSpPr>
            <a:spLocks noGrp="1"/>
          </p:cNvSpPr>
          <p:nvPr/>
        </p:nvSpPr>
        <p:spPr>
          <a:xfrm>
            <a:off x="7029450" y="4438650"/>
            <a:ext cx="4286250" cy="200025"/>
          </a:xfrm>
          <a:prstGeom prst="rect">
            <a:avLst/>
          </a:prstGeom>
          <a:noFill/>
          <a:ln w="0">
            <a:noFill/>
            <a:prstDash val="solid"/>
          </a:ln>
        </p:spPr>
        <p:txBody>
          <a:bodyPr wrap="square" lIns="28575" tIns="19050" rIns="28575" bIns="19050" anchor="ctr">
            <a:normAutofit/>
          </a:bodyPr>
          <a:lstStyle/>
          <a:p>
            <a:pPr algn="l">
              <a:lnSpc>
                <a:spcPct val="100000"/>
              </a:lnSpc>
              <a:buNone/>
              <a:defRPr sz="788" b="0" i="0">
                <a:solidFill>
                  <a:srgbClr val="777777"/>
                </a:solidFill>
                <a:latin typeface="Yu Gothic"/>
                <a:ea typeface="Yu Gothic"/>
                <a:cs typeface="Yu Gothic"/>
              </a:defRPr>
            </a:pPr>
            <a:r>
              <a:rPr sz="788" b="0" i="0">
                <a:solidFill>
                  <a:srgbClr val="777777"/>
                </a:solidFill>
                <a:latin typeface="Yu Gothic"/>
                <a:ea typeface="Yu Gothic"/>
                <a:cs typeface="Yu Gothic"/>
              </a:rPr>
              <a:t>Robust estimation of a location parameter</a:t>
            </a:r>
          </a:p>
        </p:txBody>
      </p:sp>
      <p:sp>
        <p:nvSpPr>
          <p:cNvPr id="47" name="正方形/長方形 46">
            <a:extLst>
              <a:ext uri="{FF2B5EF4-FFF2-40B4-BE49-F238E27FC236}">
                <a16:creationId xmlns:a16="http://schemas.microsoft.com/office/drawing/2014/main" id="{8019D0B0-68A3-4387-AAFA-61A13506D596}"/>
              </a:ext>
            </a:extLst>
          </p:cNvPr>
          <p:cNvSpPr>
            <a:spLocks noGrp="1"/>
          </p:cNvSpPr>
          <p:nvPr/>
        </p:nvSpPr>
        <p:spPr>
          <a:xfrm>
            <a:off x="6381750" y="4714875"/>
            <a:ext cx="647700" cy="209550"/>
          </a:xfrm>
          <a:prstGeom prst="rect">
            <a:avLst/>
          </a:prstGeom>
          <a:noFill/>
          <a:ln w="0">
            <a:noFill/>
            <a:prstDash val="solid"/>
          </a:ln>
        </p:spPr>
        <p:txBody>
          <a:bodyPr wrap="square" lIns="28575" tIns="19050" rIns="28575" bIns="19050" anchor="ctr">
            <a:normAutofit/>
          </a:bodyPr>
          <a:lstStyle/>
          <a:p>
            <a:pPr algn="l">
              <a:lnSpc>
                <a:spcPct val="100000"/>
              </a:lnSpc>
              <a:buNone/>
              <a:defRPr sz="825" b="1" i="0">
                <a:solidFill>
                  <a:srgbClr val="4D8710"/>
                </a:solidFill>
                <a:latin typeface="Yu Gothic"/>
                <a:ea typeface="Yu Gothic"/>
                <a:cs typeface="Yu Gothic"/>
              </a:defRPr>
            </a:pPr>
            <a:r>
              <a:rPr sz="825" b="1" i="0">
                <a:solidFill>
                  <a:srgbClr val="4D8710"/>
                </a:solidFill>
                <a:latin typeface="Yu Gothic"/>
                <a:ea typeface="Yu Gothic"/>
                <a:cs typeface="Yu Gothic"/>
              </a:rPr>
              <a:t>[R7]</a:t>
            </a:r>
          </a:p>
        </p:txBody>
      </p:sp>
      <p:sp>
        <p:nvSpPr>
          <p:cNvPr id="48" name="正方形/長方形 47">
            <a:extLst>
              <a:ext uri="{FF2B5EF4-FFF2-40B4-BE49-F238E27FC236}">
                <a16:creationId xmlns:a16="http://schemas.microsoft.com/office/drawing/2014/main" id="{2E2828A4-5C68-4D4E-BA9F-F076193474CF}"/>
              </a:ext>
            </a:extLst>
          </p:cNvPr>
          <p:cNvSpPr>
            <a:spLocks noGrp="1"/>
          </p:cNvSpPr>
          <p:nvPr/>
        </p:nvSpPr>
        <p:spPr>
          <a:xfrm>
            <a:off x="7029450" y="4714875"/>
            <a:ext cx="4286250" cy="209550"/>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5B5B5B"/>
                </a:solidFill>
                <a:latin typeface="Yu Gothic"/>
                <a:ea typeface="Yu Gothic"/>
                <a:cs typeface="Yu Gothic"/>
              </a:defRPr>
            </a:pPr>
            <a:r>
              <a:rPr sz="975" b="1" i="0">
                <a:solidFill>
                  <a:srgbClr val="5B5B5B"/>
                </a:solidFill>
                <a:latin typeface="Yu Gothic"/>
                <a:ea typeface="Yu Gothic"/>
                <a:cs typeface="Yu Gothic"/>
              </a:rPr>
              <a:t>Kingma &amp; Ba (2014)</a:t>
            </a:r>
          </a:p>
        </p:txBody>
      </p:sp>
      <p:sp>
        <p:nvSpPr>
          <p:cNvPr id="49" name="正方形/長方形 48">
            <a:extLst>
              <a:ext uri="{FF2B5EF4-FFF2-40B4-BE49-F238E27FC236}">
                <a16:creationId xmlns:a16="http://schemas.microsoft.com/office/drawing/2014/main" id="{1C65738C-AD52-493B-BED6-E36402D60592}"/>
              </a:ext>
            </a:extLst>
          </p:cNvPr>
          <p:cNvSpPr>
            <a:spLocks noGrp="1"/>
          </p:cNvSpPr>
          <p:nvPr/>
        </p:nvSpPr>
        <p:spPr>
          <a:xfrm>
            <a:off x="7029450" y="4933950"/>
            <a:ext cx="4286250" cy="200025"/>
          </a:xfrm>
          <a:prstGeom prst="rect">
            <a:avLst/>
          </a:prstGeom>
          <a:noFill/>
          <a:ln w="0">
            <a:noFill/>
            <a:prstDash val="solid"/>
          </a:ln>
        </p:spPr>
        <p:txBody>
          <a:bodyPr wrap="square" lIns="28575" tIns="19050" rIns="28575" bIns="19050" anchor="ctr">
            <a:normAutofit/>
          </a:bodyPr>
          <a:lstStyle/>
          <a:p>
            <a:pPr algn="l">
              <a:lnSpc>
                <a:spcPct val="100000"/>
              </a:lnSpc>
              <a:buNone/>
              <a:defRPr sz="788" b="0" i="0">
                <a:solidFill>
                  <a:srgbClr val="777777"/>
                </a:solidFill>
                <a:latin typeface="Yu Gothic"/>
                <a:ea typeface="Yu Gothic"/>
                <a:cs typeface="Yu Gothic"/>
              </a:defRPr>
            </a:pPr>
            <a:r>
              <a:rPr sz="788" b="0" i="0">
                <a:solidFill>
                  <a:srgbClr val="777777"/>
                </a:solidFill>
                <a:latin typeface="Yu Gothic"/>
                <a:ea typeface="Yu Gothic"/>
                <a:cs typeface="Yu Gothic"/>
              </a:rPr>
              <a:t>Adam: A Method for Stochastic Optimization</a:t>
            </a:r>
          </a:p>
        </p:txBody>
      </p:sp>
      <p:sp>
        <p:nvSpPr>
          <p:cNvPr id="50" name="正方形/長方形 49">
            <a:extLst>
              <a:ext uri="{FF2B5EF4-FFF2-40B4-BE49-F238E27FC236}">
                <a16:creationId xmlns:a16="http://schemas.microsoft.com/office/drawing/2014/main" id="{E4190F0F-277D-466A-B8FC-285967FD589C}"/>
              </a:ext>
            </a:extLst>
          </p:cNvPr>
          <p:cNvSpPr>
            <a:spLocks noGrp="1"/>
          </p:cNvSpPr>
          <p:nvPr/>
        </p:nvSpPr>
        <p:spPr>
          <a:xfrm>
            <a:off x="6381750" y="5210175"/>
            <a:ext cx="647700" cy="209550"/>
          </a:xfrm>
          <a:prstGeom prst="rect">
            <a:avLst/>
          </a:prstGeom>
          <a:noFill/>
          <a:ln w="0">
            <a:noFill/>
            <a:prstDash val="solid"/>
          </a:ln>
        </p:spPr>
        <p:txBody>
          <a:bodyPr wrap="square" lIns="28575" tIns="19050" rIns="28575" bIns="19050" anchor="ctr">
            <a:normAutofit/>
          </a:bodyPr>
          <a:lstStyle/>
          <a:p>
            <a:pPr algn="l">
              <a:lnSpc>
                <a:spcPct val="100000"/>
              </a:lnSpc>
              <a:buNone/>
              <a:defRPr sz="825" b="1" i="0">
                <a:solidFill>
                  <a:srgbClr val="4D8710"/>
                </a:solidFill>
                <a:latin typeface="Yu Gothic"/>
                <a:ea typeface="Yu Gothic"/>
                <a:cs typeface="Yu Gothic"/>
              </a:defRPr>
            </a:pPr>
            <a:r>
              <a:rPr sz="825" b="1" i="0">
                <a:solidFill>
                  <a:srgbClr val="4D8710"/>
                </a:solidFill>
                <a:latin typeface="Yu Gothic"/>
                <a:ea typeface="Yu Gothic"/>
                <a:cs typeface="Yu Gothic"/>
              </a:rPr>
              <a:t>[R8]</a:t>
            </a:r>
          </a:p>
        </p:txBody>
      </p:sp>
      <p:sp>
        <p:nvSpPr>
          <p:cNvPr id="51" name="正方形/長方形 50">
            <a:extLst>
              <a:ext uri="{FF2B5EF4-FFF2-40B4-BE49-F238E27FC236}">
                <a16:creationId xmlns:a16="http://schemas.microsoft.com/office/drawing/2014/main" id="{7F75C42A-97F8-4370-8BB6-70AE6FDF6236}"/>
              </a:ext>
            </a:extLst>
          </p:cNvPr>
          <p:cNvSpPr>
            <a:spLocks noGrp="1"/>
          </p:cNvSpPr>
          <p:nvPr/>
        </p:nvSpPr>
        <p:spPr>
          <a:xfrm>
            <a:off x="7029450" y="5210175"/>
            <a:ext cx="4286250" cy="209550"/>
          </a:xfrm>
          <a:prstGeom prst="rect">
            <a:avLst/>
          </a:prstGeom>
          <a:noFill/>
          <a:ln w="0">
            <a:noFill/>
            <a:prstDash val="solid"/>
          </a:ln>
        </p:spPr>
        <p:txBody>
          <a:bodyPr wrap="square" lIns="28575" tIns="19050" rIns="28575" bIns="19050" anchor="ctr">
            <a:normAutofit/>
          </a:bodyPr>
          <a:lstStyle/>
          <a:p>
            <a:pPr algn="l">
              <a:lnSpc>
                <a:spcPct val="100000"/>
              </a:lnSpc>
              <a:buNone/>
              <a:defRPr sz="975" b="1" i="0">
                <a:solidFill>
                  <a:srgbClr val="5B5B5B"/>
                </a:solidFill>
                <a:latin typeface="Yu Gothic"/>
                <a:ea typeface="Yu Gothic"/>
                <a:cs typeface="Yu Gothic"/>
              </a:defRPr>
            </a:pPr>
            <a:r>
              <a:rPr sz="975" b="1" i="0">
                <a:solidFill>
                  <a:srgbClr val="5B5B5B"/>
                </a:solidFill>
                <a:latin typeface="Yu Gothic"/>
                <a:ea typeface="Yu Gothic"/>
                <a:cs typeface="Yu Gothic"/>
              </a:rPr>
              <a:t>COMSOL documentation</a:t>
            </a:r>
          </a:p>
        </p:txBody>
      </p:sp>
      <p:sp>
        <p:nvSpPr>
          <p:cNvPr id="52" name="正方形/長方形 51">
            <a:extLst>
              <a:ext uri="{FF2B5EF4-FFF2-40B4-BE49-F238E27FC236}">
                <a16:creationId xmlns:a16="http://schemas.microsoft.com/office/drawing/2014/main" id="{8A6456BB-6862-42A0-BEAC-53A38438627A}"/>
              </a:ext>
            </a:extLst>
          </p:cNvPr>
          <p:cNvSpPr>
            <a:spLocks noGrp="1"/>
          </p:cNvSpPr>
          <p:nvPr/>
        </p:nvSpPr>
        <p:spPr>
          <a:xfrm>
            <a:off x="7029450" y="5429250"/>
            <a:ext cx="4286250" cy="200025"/>
          </a:xfrm>
          <a:prstGeom prst="rect">
            <a:avLst/>
          </a:prstGeom>
          <a:noFill/>
          <a:ln w="0">
            <a:noFill/>
            <a:prstDash val="solid"/>
          </a:ln>
        </p:spPr>
        <p:txBody>
          <a:bodyPr wrap="square" lIns="28575" tIns="19050" rIns="28575" bIns="19050" anchor="ctr">
            <a:normAutofit/>
          </a:bodyPr>
          <a:lstStyle/>
          <a:p>
            <a:pPr algn="l">
              <a:lnSpc>
                <a:spcPct val="100000"/>
              </a:lnSpc>
              <a:buNone/>
              <a:defRPr sz="788" b="0" i="0">
                <a:solidFill>
                  <a:srgbClr val="777777"/>
                </a:solidFill>
                <a:latin typeface="Yu Gothic"/>
                <a:ea typeface="Yu Gothic"/>
                <a:cs typeface="Yu Gothic"/>
              </a:defRPr>
            </a:pPr>
            <a:r>
              <a:rPr sz="788" b="0" i="0">
                <a:solidFill>
                  <a:srgbClr val="777777"/>
                </a:solidFill>
                <a:latin typeface="Yu Gothic"/>
                <a:ea typeface="Yu Gothic"/>
                <a:cs typeface="Yu Gothic"/>
              </a:rPr>
              <a:t>Electronic Chip Cooling / Nonisothermal Flow</a:t>
            </a:r>
          </a:p>
        </p:txBody>
      </p:sp>
      <p:sp>
        <p:nvSpPr>
          <p:cNvPr id="53" name="正方形/長方形 52">
            <a:extLst>
              <a:ext uri="{FF2B5EF4-FFF2-40B4-BE49-F238E27FC236}">
                <a16:creationId xmlns:a16="http://schemas.microsoft.com/office/drawing/2014/main" id="{64EE9CD1-AA87-4498-97D2-E620650B4D17}"/>
              </a:ext>
            </a:extLst>
          </p:cNvPr>
          <p:cNvSpPr>
            <a:spLocks noGrp="1"/>
          </p:cNvSpPr>
          <p:nvPr/>
        </p:nvSpPr>
        <p:spPr>
          <a:xfrm>
            <a:off x="552450" y="5695950"/>
            <a:ext cx="11087100" cy="523875"/>
          </a:xfrm>
          <a:prstGeom prst="rect">
            <a:avLst/>
          </a:prstGeom>
          <a:solidFill>
            <a:srgbClr val="F8F8F8"/>
          </a:solidFill>
          <a:ln w="9525">
            <a:solidFill>
              <a:srgbClr val="D6D6D6"/>
            </a:solidFill>
            <a:prstDash val="solid"/>
          </a:ln>
        </p:spPr>
      </p:sp>
      <p:sp>
        <p:nvSpPr>
          <p:cNvPr id="54" name="正方形/長方形 53">
            <a:extLst>
              <a:ext uri="{FF2B5EF4-FFF2-40B4-BE49-F238E27FC236}">
                <a16:creationId xmlns:a16="http://schemas.microsoft.com/office/drawing/2014/main" id="{6DDFB097-DC09-4D83-A2F9-380956C38018}"/>
              </a:ext>
            </a:extLst>
          </p:cNvPr>
          <p:cNvSpPr>
            <a:spLocks noGrp="1"/>
          </p:cNvSpPr>
          <p:nvPr/>
        </p:nvSpPr>
        <p:spPr>
          <a:xfrm>
            <a:off x="723900" y="5810250"/>
            <a:ext cx="1257300" cy="209550"/>
          </a:xfrm>
          <a:prstGeom prst="rect">
            <a:avLst/>
          </a:prstGeom>
          <a:noFill/>
          <a:ln w="0">
            <a:noFill/>
            <a:prstDash val="solid"/>
          </a:ln>
        </p:spPr>
        <p:txBody>
          <a:bodyPr wrap="square" lIns="28575" tIns="19050" rIns="28575" bIns="19050" anchor="ctr">
            <a:normAutofit/>
          </a:bodyPr>
          <a:lstStyle/>
          <a:p>
            <a:pPr algn="l">
              <a:lnSpc>
                <a:spcPct val="100000"/>
              </a:lnSpc>
              <a:buNone/>
              <a:defRPr sz="863" b="1" i="0">
                <a:solidFill>
                  <a:srgbClr val="7B2DAF"/>
                </a:solidFill>
                <a:latin typeface="Yu Gothic"/>
                <a:ea typeface="Yu Gothic"/>
                <a:cs typeface="Yu Gothic"/>
              </a:defRPr>
            </a:pPr>
            <a:r>
              <a:rPr sz="863" b="1" i="0">
                <a:solidFill>
                  <a:srgbClr val="7B2DAF"/>
                </a:solidFill>
                <a:latin typeface="Yu Gothic"/>
                <a:ea typeface="Yu Gothic"/>
                <a:cs typeface="Yu Gothic"/>
              </a:rPr>
              <a:t>Design reference</a:t>
            </a:r>
          </a:p>
        </p:txBody>
      </p:sp>
      <p:sp>
        <p:nvSpPr>
          <p:cNvPr id="55" name="正方形/長方形 54">
            <a:extLst>
              <a:ext uri="{FF2B5EF4-FFF2-40B4-BE49-F238E27FC236}">
                <a16:creationId xmlns:a16="http://schemas.microsoft.com/office/drawing/2014/main" id="{8F525109-221F-44BC-ABBB-92BF60AC1040}"/>
              </a:ext>
            </a:extLst>
          </p:cNvPr>
          <p:cNvSpPr>
            <a:spLocks noGrp="1"/>
          </p:cNvSpPr>
          <p:nvPr/>
        </p:nvSpPr>
        <p:spPr>
          <a:xfrm>
            <a:off x="2038350" y="5791200"/>
            <a:ext cx="9334500" cy="247650"/>
          </a:xfrm>
          <a:prstGeom prst="rect">
            <a:avLst/>
          </a:prstGeom>
          <a:noFill/>
          <a:ln w="0">
            <a:noFill/>
            <a:prstDash val="solid"/>
          </a:ln>
        </p:spPr>
        <p:txBody>
          <a:bodyPr wrap="square" lIns="28575" tIns="19050" rIns="28575" bIns="19050" anchor="ctr">
            <a:normAutofit/>
          </a:bodyPr>
          <a:lstStyle/>
          <a:p>
            <a:pPr algn="l">
              <a:lnSpc>
                <a:spcPct val="100000"/>
              </a:lnSpc>
              <a:buNone/>
              <a:defRPr sz="863" b="0" i="0">
                <a:solidFill>
                  <a:srgbClr val="5B5B5B"/>
                </a:solidFill>
                <a:latin typeface="Yu Gothic"/>
                <a:ea typeface="Yu Gothic"/>
                <a:cs typeface="Yu Gothic"/>
              </a:defRPr>
            </a:pPr>
            <a:r>
              <a:rPr sz="863" b="0" i="0">
                <a:solidFill>
                  <a:srgbClr val="5B5B5B"/>
                </a:solidFill>
                <a:latin typeface="Yu Gothic"/>
                <a:ea typeface="Yu Gothic"/>
                <a:cs typeface="Yu Gothic"/>
              </a:rPr>
              <a:t>Tokyo Electron public IR presentation (visual language only; no logo/template reuse)</a:t>
            </a:r>
          </a:p>
        </p:txBody>
      </p:sp>
    </p:spTree>
    <p:extLst>
      <p:ext uri="{BB962C8B-B14F-4D97-AF65-F5344CB8AC3E}">
        <p14:creationId xmlns:p14="http://schemas.microsoft.com/office/powerpoint/2010/main" val="172865451"/>
      </p:ext>
    </p:extLst>
  </p:cSld>
  <p:clrMapOvr>
    <a:masterClrMapping/>
  </p:clrMapOvr>
</p:sld>
</file>

<file path=ppt/theme/theme1.xml><?xml version="1.0" encoding="utf-8"?>
<a:theme xmlns:a="http://schemas.openxmlformats.org/drawingml/2006/main" name="ChatGPT">
  <a:themeElements>
    <a:clrScheme name="Equipment Engineering Review">
      <a:dk1>
        <a:srgbClr val="1B1B1B"/>
      </a:dk1>
      <a:lt1>
        <a:srgbClr val="FFFFFF"/>
      </a:lt1>
      <a:dk2>
        <a:srgbClr val="201445"/>
      </a:dk2>
      <a:lt2>
        <a:srgbClr val="D6D6D6"/>
      </a:lt2>
      <a:accent1>
        <a:srgbClr val="00A5D8"/>
      </a:accent1>
      <a:accent2>
        <a:srgbClr val="76BE18"/>
      </a:accent2>
      <a:accent3>
        <a:srgbClr val="7B2DAF"/>
      </a:accent3>
      <a:accent4>
        <a:srgbClr val="00A89D"/>
      </a:accent4>
      <a:accent5>
        <a:srgbClr val="E5A900"/>
      </a:accent5>
      <a:accent6>
        <a:srgbClr val="C4493D"/>
      </a:accent6>
      <a:hlink>
        <a:srgbClr val="007FA8"/>
      </a:hlink>
      <a:folHlink>
        <a:srgbClr val="7B2DAF"/>
      </a:folHlink>
    </a:clrScheme>
    <a:fontScheme name="Office">
      <a:majorFont>
        <a:latin typeface="Calibri Light"/>
        <a:ea typeface="Calibri Light"/>
        <a:cs typeface="Calibri Light"/>
      </a:majorFont>
      <a:minorFont>
        <a:latin typeface="Calibri"/>
        <a:ea typeface="Calibri"/>
        <a:cs typeface="Calibri"/>
      </a:minorFont>
    </a:fontScheme>
    <a:fmtScheme name="Equipment Engineering Review">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Equipment Engineering Review">
      <a:dk1>
        <a:srgbClr val="1B1B1B"/>
      </a:dk1>
      <a:lt1>
        <a:srgbClr val="FFFFFF"/>
      </a:lt1>
      <a:dk2>
        <a:srgbClr val="201445"/>
      </a:dk2>
      <a:lt2>
        <a:srgbClr val="D6D6D6"/>
      </a:lt2>
      <a:accent1>
        <a:srgbClr val="00A5D8"/>
      </a:accent1>
      <a:accent2>
        <a:srgbClr val="76BE18"/>
      </a:accent2>
      <a:accent3>
        <a:srgbClr val="7B2DAF"/>
      </a:accent3>
      <a:accent4>
        <a:srgbClr val="00A89D"/>
      </a:accent4>
      <a:accent5>
        <a:srgbClr val="E5A900"/>
      </a:accent5>
      <a:accent6>
        <a:srgbClr val="C4493D"/>
      </a:accent6>
      <a:hlink>
        <a:srgbClr val="007FA8"/>
      </a:hlink>
      <a:folHlink>
        <a:srgbClr val="7B2DAF"/>
      </a:folHlink>
    </a:clrScheme>
    <a:fontScheme name="Office">
      <a:majorFont>
        <a:latin typeface="Calibri Light"/>
        <a:ea typeface="Calibri Light"/>
        <a:cs typeface="Calibri Light"/>
      </a:majorFont>
      <a:minorFont>
        <a:latin typeface="Calibri"/>
        <a:ea typeface="Calibri"/>
        <a:cs typeface="Calibri"/>
      </a:minorFont>
    </a:fontScheme>
    <a:fmtScheme name="Equipment Engineering Review">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6325</Words>
  <Application>Microsoft Office PowerPoint</Application>
  <DocSecurity>0</DocSecurity>
  <PresentationFormat>ワイド画面</PresentationFormat>
  <Paragraphs>1149</Paragraphs>
  <Slides>29</Slides>
  <Notes>29</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29</vt:i4>
      </vt:variant>
    </vt:vector>
  </HeadingPairs>
  <TitlesOfParts>
    <vt:vector size="33" baseType="lpstr">
      <vt:lpstr>Yu Gothic</vt:lpstr>
      <vt:lpstr>Calibri</vt:lpstr>
      <vt:lpstr>Cambria Math</vt:lpstr>
      <vt:lpstr>ChatGPT</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大希 川人</cp:lastModifiedBy>
  <cp:revision>1</cp:revision>
  <dcterms:created xsi:type="dcterms:W3CDTF">2026-09-17T04:19:06Z</dcterms:created>
  <dcterms:modified xsi:type="dcterms:W3CDTF">2026-09-27T23:56:11Z</dcterms:modified>
</cp:coreProperties>
</file>