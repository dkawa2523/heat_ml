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result</c:v>
          </c:tx>
          <c:spPr>
            <a:solidFill>
              <a:srgbClr val="00A5D8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78-4C7D-910B-07D37DEFE19F}"/>
              </c:ext>
            </c:extLst>
          </c:dPt>
          <c:dPt>
            <c:idx val="1"/>
            <c:invertIfNegative val="0"/>
            <c:bubble3D val="0"/>
            <c:spPr>
              <a:solidFill>
                <a:srgbClr val="7B2DAF"/>
              </a:solidFill>
            </c:spPr>
            <c:extLst>
              <c:ext xmlns:c16="http://schemas.microsoft.com/office/drawing/2014/chart" uri="{C3380CC4-5D6E-409C-BE32-E72D297353CC}">
                <c16:uniqueId val="{00000003-6D78-4C7D-910B-07D37DEFE1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11-case mean</c:v>
              </c:pt>
              <c:pt idx="1">
                <c:v>worst case
F09 sparse init</c:v>
              </c:pt>
            </c:strLit>
          </c:cat>
          <c:val>
            <c:numLit>
              <c:formatCode>0.000</c:formatCode>
              <c:ptCount val="2"/>
              <c:pt idx="0">
                <c:v>0.14291188741464964</c:v>
              </c:pt>
              <c:pt idx="1">
                <c:v>1.3026765542304839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6D78-4C7D-910B-07D37DEFE19F}"/>
            </c:ext>
          </c:extLst>
        </c:ser>
        <c:ser>
          <c:idx val="1"/>
          <c:order val="1"/>
          <c:tx>
            <c:v>acceptance limit</c:v>
          </c:tx>
          <c:spPr>
            <a:solidFill>
              <a:srgbClr val="D3D3D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11-case mean</c:v>
              </c:pt>
              <c:pt idx="1">
                <c:v>worst case
F09 sparse init</c:v>
              </c:pt>
            </c:strLit>
          </c:cat>
          <c:val>
            <c:numLit>
              <c:formatCode>0.000</c:formatCode>
              <c:ptCount val="2"/>
              <c:pt idx="0">
                <c:v>1</c:v>
              </c:pt>
              <c:pt idx="1">
                <c:v>1.5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6D78-4C7D-910B-07D37DEFE1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RMSE [K]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13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88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555555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RMSE</c:v>
          </c:tx>
          <c:spPr>
            <a:solidFill>
              <a:srgbClr val="00A5D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D3D3D3"/>
              </a:solidFill>
            </c:spPr>
            <c:extLst>
              <c:ext xmlns:c16="http://schemas.microsoft.com/office/drawing/2014/chart" uri="{C3380CC4-5D6E-409C-BE32-E72D297353CC}">
                <c16:uniqueId val="{00000001-A50A-4C98-B108-E5D89CF9340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50A-4C98-B108-E5D89CF93401}"/>
              </c:ext>
            </c:extLst>
          </c:dPt>
          <c:dPt>
            <c:idx val="2"/>
            <c:invertIfNegative val="0"/>
            <c:bubble3D val="0"/>
            <c:spPr>
              <a:solidFill>
                <a:srgbClr val="D3D3D3"/>
              </a:solidFill>
            </c:spPr>
            <c:extLst>
              <c:ext xmlns:c16="http://schemas.microsoft.com/office/drawing/2014/chart" uri="{C3380CC4-5D6E-409C-BE32-E72D297353CC}">
                <c16:uniqueId val="{00000005-A50A-4C98-B108-E5D89CF93401}"/>
              </c:ext>
            </c:extLst>
          </c:dPt>
          <c:dPt>
            <c:idx val="3"/>
            <c:invertIfNegative val="0"/>
            <c:bubble3D val="0"/>
            <c:spPr>
              <a:solidFill>
                <a:srgbClr val="C4493D"/>
              </a:solidFill>
            </c:spPr>
            <c:extLst>
              <c:ext xmlns:c16="http://schemas.microsoft.com/office/drawing/2014/chart" uri="{C3380CC4-5D6E-409C-BE32-E72D297353CC}">
                <c16:uniqueId val="{00000007-A50A-4C98-B108-E5D89CF9340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engineering
prior</c:v>
              </c:pt>
              <c:pt idx="1">
                <c:v>fitted
core mean</c:v>
              </c:pt>
              <c:pt idx="2">
                <c:v>gap detection
floor</c:v>
              </c:pt>
              <c:pt idx="3">
                <c:v>F11 model
gap</c:v>
              </c:pt>
            </c:strLit>
          </c:cat>
          <c:val>
            <c:numLit>
              <c:formatCode>0.000</c:formatCode>
              <c:ptCount val="4"/>
              <c:pt idx="0">
                <c:v>7.1850140684763479</c:v>
              </c:pt>
              <c:pt idx="1">
                <c:v>0.14291188741464964</c:v>
              </c:pt>
              <c:pt idx="2">
                <c:v>0.5</c:v>
              </c:pt>
              <c:pt idx="3">
                <c:v>9.8234057479115275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A50A-4C98-B108-E5D89CF9340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13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"/>
          <c:min val="0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RMSE [K]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13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F09  t=0 sparse initialization</c:v>
          </c:tx>
          <c:spPr>
            <a:ln w="28575">
              <a:solidFill>
                <a:srgbClr val="7B2DAF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3"/>
              <c:pt idx="0">
                <c:v>20</c:v>
              </c:pt>
              <c:pt idx="1">
                <c:v>25</c:v>
              </c:pt>
              <c:pt idx="2">
                <c:v>30</c:v>
              </c:pt>
              <c:pt idx="3">
                <c:v>35</c:v>
              </c:pt>
              <c:pt idx="4">
                <c:v>40</c:v>
              </c:pt>
              <c:pt idx="5">
                <c:v>45</c:v>
              </c:pt>
              <c:pt idx="6">
                <c:v>50</c:v>
              </c:pt>
              <c:pt idx="7">
                <c:v>55</c:v>
              </c:pt>
              <c:pt idx="8">
                <c:v>60</c:v>
              </c:pt>
              <c:pt idx="9">
                <c:v>65</c:v>
              </c:pt>
              <c:pt idx="10">
                <c:v>70</c:v>
              </c:pt>
              <c:pt idx="11">
                <c:v>75</c:v>
              </c:pt>
              <c:pt idx="12">
                <c:v>80</c:v>
              </c:pt>
              <c:pt idx="13">
                <c:v>85</c:v>
              </c:pt>
              <c:pt idx="14">
                <c:v>90</c:v>
              </c:pt>
              <c:pt idx="15">
                <c:v>95</c:v>
              </c:pt>
              <c:pt idx="16">
                <c:v>100</c:v>
              </c:pt>
              <c:pt idx="17">
                <c:v>105</c:v>
              </c:pt>
              <c:pt idx="18">
                <c:v>110</c:v>
              </c:pt>
              <c:pt idx="19">
                <c:v>115</c:v>
              </c:pt>
              <c:pt idx="20">
                <c:v>120</c:v>
              </c:pt>
              <c:pt idx="21">
                <c:v>125</c:v>
              </c:pt>
              <c:pt idx="22">
                <c:v>130</c:v>
              </c:pt>
              <c:pt idx="23">
                <c:v>135</c:v>
              </c:pt>
              <c:pt idx="24">
                <c:v>140</c:v>
              </c:pt>
              <c:pt idx="25">
                <c:v>145</c:v>
              </c:pt>
              <c:pt idx="26">
                <c:v>150</c:v>
              </c:pt>
              <c:pt idx="27">
                <c:v>155</c:v>
              </c:pt>
              <c:pt idx="28">
                <c:v>160</c:v>
              </c:pt>
              <c:pt idx="29">
                <c:v>165</c:v>
              </c:pt>
              <c:pt idx="30">
                <c:v>170</c:v>
              </c:pt>
              <c:pt idx="31">
                <c:v>175</c:v>
              </c:pt>
              <c:pt idx="32">
                <c:v>180</c:v>
              </c:pt>
            </c:numLit>
          </c:cat>
          <c:val>
            <c:numLit>
              <c:formatCode>0.0</c:formatCode>
              <c:ptCount val="33"/>
              <c:pt idx="0">
                <c:v>1.5937486305157733</c:v>
              </c:pt>
              <c:pt idx="1">
                <c:v>1.1370046818339798</c:v>
              </c:pt>
              <c:pt idx="2">
                <c:v>0.82205535990427125</c:v>
              </c:pt>
              <c:pt idx="3">
                <c:v>0.60827950822441212</c:v>
              </c:pt>
              <c:pt idx="4">
                <c:v>0.46591905386124838</c:v>
              </c:pt>
              <c:pt idx="5">
                <c:v>0.37289039595107754</c:v>
              </c:pt>
              <c:pt idx="6">
                <c:v>0.31254888703229156</c:v>
              </c:pt>
              <c:pt idx="7">
                <c:v>0.272680443944113</c:v>
              </c:pt>
              <c:pt idx="8">
                <c:v>0.25769422300093042</c:v>
              </c:pt>
              <c:pt idx="9">
                <c:v>0.23888946385740598</c:v>
              </c:pt>
              <c:pt idx="10">
                <c:v>0.2216285925554087</c:v>
              </c:pt>
              <c:pt idx="11">
                <c:v>0.20623483392957434</c:v>
              </c:pt>
              <c:pt idx="12">
                <c:v>0.19240536471354305</c:v>
              </c:pt>
              <c:pt idx="13">
                <c:v>0.17984255543410216</c:v>
              </c:pt>
              <c:pt idx="14">
                <c:v>0.16830662700151278</c:v>
              </c:pt>
              <c:pt idx="15">
                <c:v>0.1391744164205779</c:v>
              </c:pt>
              <c:pt idx="16">
                <c:v>0.12944875255073807</c:v>
              </c:pt>
              <c:pt idx="17">
                <c:v>0.12120192655124722</c:v>
              </c:pt>
              <c:pt idx="18">
                <c:v>0.11295938855833193</c:v>
              </c:pt>
              <c:pt idx="19">
                <c:v>0.10499485463692369</c:v>
              </c:pt>
              <c:pt idx="20">
                <c:v>9.7512804475000339E-2</c:v>
              </c:pt>
              <c:pt idx="21">
                <c:v>9.0590497071441595E-2</c:v>
              </c:pt>
              <c:pt idx="22">
                <c:v>8.4233845776113911E-2</c:v>
              </c:pt>
              <c:pt idx="23">
                <c:v>7.8419049831045223E-2</c:v>
              </c:pt>
              <c:pt idx="24">
                <c:v>0.10453174547219164</c:v>
              </c:pt>
              <c:pt idx="25">
                <c:v>0.10526591041116259</c:v>
              </c:pt>
              <c:pt idx="26">
                <c:v>0.10137787428457434</c:v>
              </c:pt>
              <c:pt idx="27">
                <c:v>9.5108196250832264E-2</c:v>
              </c:pt>
              <c:pt idx="28">
                <c:v>8.8537131552016257E-2</c:v>
              </c:pt>
              <c:pt idx="29">
                <c:v>8.26012458216413E-2</c:v>
              </c:pt>
              <c:pt idx="30">
                <c:v>7.7453951166135737E-2</c:v>
              </c:pt>
              <c:pt idx="31">
                <c:v>7.296622851762799E-2</c:v>
              </c:pt>
              <c:pt idx="32">
                <c:v>6.8970542359361245E-2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BC57-4335-BEEF-3C1CB2099088}"/>
            </c:ext>
          </c:extLst>
        </c:ser>
        <c:ser>
          <c:idx val="1"/>
          <c:order val="1"/>
          <c:tx>
            <c:v>F12  20 s causal history</c:v>
          </c:tx>
          <c:spPr>
            <a:ln w="28575">
              <a:solidFill>
                <a:srgbClr val="76BE1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33"/>
              <c:pt idx="0">
                <c:v>20</c:v>
              </c:pt>
              <c:pt idx="1">
                <c:v>25</c:v>
              </c:pt>
              <c:pt idx="2">
                <c:v>30</c:v>
              </c:pt>
              <c:pt idx="3">
                <c:v>35</c:v>
              </c:pt>
              <c:pt idx="4">
                <c:v>40</c:v>
              </c:pt>
              <c:pt idx="5">
                <c:v>45</c:v>
              </c:pt>
              <c:pt idx="6">
                <c:v>50</c:v>
              </c:pt>
              <c:pt idx="7">
                <c:v>55</c:v>
              </c:pt>
              <c:pt idx="8">
                <c:v>60</c:v>
              </c:pt>
              <c:pt idx="9">
                <c:v>65</c:v>
              </c:pt>
              <c:pt idx="10">
                <c:v>70</c:v>
              </c:pt>
              <c:pt idx="11">
                <c:v>75</c:v>
              </c:pt>
              <c:pt idx="12">
                <c:v>80</c:v>
              </c:pt>
              <c:pt idx="13">
                <c:v>85</c:v>
              </c:pt>
              <c:pt idx="14">
                <c:v>90</c:v>
              </c:pt>
              <c:pt idx="15">
                <c:v>95</c:v>
              </c:pt>
              <c:pt idx="16">
                <c:v>100</c:v>
              </c:pt>
              <c:pt idx="17">
                <c:v>105</c:v>
              </c:pt>
              <c:pt idx="18">
                <c:v>110</c:v>
              </c:pt>
              <c:pt idx="19">
                <c:v>115</c:v>
              </c:pt>
              <c:pt idx="20">
                <c:v>120</c:v>
              </c:pt>
              <c:pt idx="21">
                <c:v>125</c:v>
              </c:pt>
              <c:pt idx="22">
                <c:v>130</c:v>
              </c:pt>
              <c:pt idx="23">
                <c:v>135</c:v>
              </c:pt>
              <c:pt idx="24">
                <c:v>140</c:v>
              </c:pt>
              <c:pt idx="25">
                <c:v>145</c:v>
              </c:pt>
              <c:pt idx="26">
                <c:v>150</c:v>
              </c:pt>
              <c:pt idx="27">
                <c:v>155</c:v>
              </c:pt>
              <c:pt idx="28">
                <c:v>160</c:v>
              </c:pt>
              <c:pt idx="29">
                <c:v>165</c:v>
              </c:pt>
              <c:pt idx="30">
                <c:v>170</c:v>
              </c:pt>
              <c:pt idx="31">
                <c:v>175</c:v>
              </c:pt>
              <c:pt idx="32">
                <c:v>180</c:v>
              </c:pt>
            </c:numLit>
          </c:cat>
          <c:val>
            <c:numLit>
              <c:formatCode>0.0</c:formatCode>
              <c:ptCount val="33"/>
              <c:pt idx="0">
                <c:v>7.6629138298386246E-2</c:v>
              </c:pt>
              <c:pt idx="1">
                <c:v>6.337377801555602E-2</c:v>
              </c:pt>
              <c:pt idx="2">
                <c:v>6.4226442562384828E-2</c:v>
              </c:pt>
              <c:pt idx="3">
                <c:v>6.379863516409702E-2</c:v>
              </c:pt>
              <c:pt idx="4">
                <c:v>6.0306869978768302E-2</c:v>
              </c:pt>
              <c:pt idx="5">
                <c:v>5.5040370370306166E-2</c:v>
              </c:pt>
              <c:pt idx="6">
                <c:v>4.9248832108285762E-2</c:v>
              </c:pt>
              <c:pt idx="7">
                <c:v>4.3716951885515026E-2</c:v>
              </c:pt>
              <c:pt idx="8">
                <c:v>2.7785503818636165E-2</c:v>
              </c:pt>
              <c:pt idx="9">
                <c:v>2.2862476075125086E-2</c:v>
              </c:pt>
              <c:pt idx="10">
                <c:v>2.1070567281924985E-2</c:v>
              </c:pt>
              <c:pt idx="11">
                <c:v>1.9280261325351943E-2</c:v>
              </c:pt>
              <c:pt idx="12">
                <c:v>1.742992992775572E-2</c:v>
              </c:pt>
              <c:pt idx="13">
                <c:v>1.5691788044851676E-2</c:v>
              </c:pt>
              <c:pt idx="14">
                <c:v>1.4117985749166185E-2</c:v>
              </c:pt>
              <c:pt idx="15">
                <c:v>2.9458605078144968E-2</c:v>
              </c:pt>
              <c:pt idx="16">
                <c:v>3.1730490543077396E-2</c:v>
              </c:pt>
              <c:pt idx="17">
                <c:v>3.1100764452797552E-2</c:v>
              </c:pt>
              <c:pt idx="18">
                <c:v>2.8564960130963893E-2</c:v>
              </c:pt>
              <c:pt idx="19">
                <c:v>2.5624082953941842E-2</c:v>
              </c:pt>
              <c:pt idx="20">
                <c:v>2.3028869722969626E-2</c:v>
              </c:pt>
              <c:pt idx="21">
                <c:v>2.0959168871581772E-2</c:v>
              </c:pt>
              <c:pt idx="22">
                <c:v>1.9344149627342426E-2</c:v>
              </c:pt>
              <c:pt idx="23">
                <c:v>1.805171820805412E-2</c:v>
              </c:pt>
              <c:pt idx="24">
                <c:v>2.6005090424714487E-2</c:v>
              </c:pt>
              <c:pt idx="25">
                <c:v>4.5015120663958796E-2</c:v>
              </c:pt>
              <c:pt idx="26">
                <c:v>4.8619667324280552E-2</c:v>
              </c:pt>
              <c:pt idx="27">
                <c:v>4.4946192166563204E-2</c:v>
              </c:pt>
              <c:pt idx="28">
                <c:v>3.918646039972732E-2</c:v>
              </c:pt>
              <c:pt idx="29">
                <c:v>3.3656110796300882E-2</c:v>
              </c:pt>
              <c:pt idx="30">
                <c:v>2.9123809955426943E-2</c:v>
              </c:pt>
              <c:pt idx="31">
                <c:v>2.5675213799824011E-2</c:v>
              </c:pt>
              <c:pt idx="32">
                <c:v>2.315079649516456E-2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BC57-4335-BEEF-3C1CB20990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time [s]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38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8"/>
          <c:min val="0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instantaneous RMSE [K]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3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555555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F12 / F09</c:v>
          </c:tx>
          <c:spPr>
            <a:solidFill>
              <a:srgbClr val="76BE18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04-4105-BEEC-BA2C40AE8245}"/>
              </c:ext>
            </c:extLst>
          </c:dPt>
          <c:dPt>
            <c:idx val="1"/>
            <c:invertIfNegative val="0"/>
            <c:bubble3D val="0"/>
            <c:spPr>
              <a:solidFill>
                <a:srgbClr val="D3D3D3"/>
              </a:solidFill>
            </c:spPr>
            <c:extLst>
              <c:ext xmlns:c16="http://schemas.microsoft.com/office/drawing/2014/chart" uri="{C3380CC4-5D6E-409C-BE32-E72D297353CC}">
                <c16:uniqueId val="{00000003-4904-4105-BEEC-BA2C40AE824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actual</c:v>
              </c:pt>
              <c:pt idx="1">
                <c:v>acceptance
maximum</c:v>
              </c:pt>
            </c:strLit>
          </c:cat>
          <c:val>
            <c:numLit>
              <c:formatCode>0.0</c:formatCode>
              <c:ptCount val="2"/>
              <c:pt idx="0">
                <c:v>2.924315229330487</c:v>
              </c:pt>
              <c:pt idx="1">
                <c:v>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904-4105-BEEC-BA2C40AE82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ratio [%]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5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actual / limit</c:v>
          </c:tx>
          <c:spPr>
            <a:solidFill>
              <a:srgbClr val="00A5D8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84-4C0A-8A5C-7721E2F0ECA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84-4C0A-8A5C-7721E2F0ECA3}"/>
              </c:ext>
            </c:extLst>
          </c:dPt>
          <c:dPt>
            <c:idx val="2"/>
            <c:invertIfNegative val="0"/>
            <c:bubble3D val="0"/>
            <c:spPr>
              <a:solidFill>
                <a:srgbClr val="76BE18"/>
              </a:solidFill>
            </c:spPr>
            <c:extLst>
              <c:ext xmlns:c16="http://schemas.microsoft.com/office/drawing/2014/chart" uri="{C3380CC4-5D6E-409C-BE32-E72D297353CC}">
                <c16:uniqueId val="{00000005-0284-4C0A-8A5C-7721E2F0ECA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284-4C0A-8A5C-7721E2F0ECA3}"/>
              </c:ext>
            </c:extLst>
          </c:dPt>
          <c:dPt>
            <c:idx val="4"/>
            <c:invertIfNegative val="0"/>
            <c:bubble3D val="0"/>
            <c:spPr>
              <a:solidFill>
                <a:srgbClr val="76BE18"/>
              </a:solidFill>
            </c:spPr>
            <c:extLst>
              <c:ext xmlns:c16="http://schemas.microsoft.com/office/drawing/2014/chart" uri="{C3380CC4-5D6E-409C-BE32-E72D297353CC}">
                <c16:uniqueId val="{00000009-0284-4C0A-8A5C-7721E2F0ECA3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284-4C0A-8A5C-7721E2F0EC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M01 innovation
0.168 / 0.350 K</c:v>
              </c:pt>
              <c:pt idx="1">
                <c:v>M02 bias RMSE
0.104 / 0.150 K</c:v>
              </c:pt>
              <c:pt idx="2">
                <c:v>M03 detection
0.0 / 2.0 s</c:v>
              </c:pt>
              <c:pt idx="3">
                <c:v>M04 missing RMSE
0.084 / 0.250 K</c:v>
              </c:pt>
              <c:pt idx="4">
                <c:v>M05 detection
1.0 / 5.0 s</c:v>
              </c:pt>
              <c:pt idx="5">
                <c:v>M05 heat RMSE
0.135 / 0.250 W</c:v>
              </c:pt>
            </c:strLit>
          </c:cat>
          <c:val>
            <c:numLit>
              <c:formatCode>0</c:formatCode>
              <c:ptCount val="6"/>
              <c:pt idx="0">
                <c:v>47.863982371725555</c:v>
              </c:pt>
              <c:pt idx="1">
                <c:v>69.202564166836808</c:v>
              </c:pt>
              <c:pt idx="2">
                <c:v>0</c:v>
              </c:pt>
              <c:pt idx="3">
                <c:v>33.685508219760635</c:v>
              </c:pt>
              <c:pt idx="4">
                <c:v>20</c:v>
              </c:pt>
              <c:pt idx="5">
                <c:v>54.099680520756756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C-0284-4C0A-8A5C-7721E2F0ECA3}"/>
            </c:ext>
          </c:extLst>
        </c:ser>
        <c:ser>
          <c:idx val="1"/>
          <c:order val="1"/>
          <c:tx>
            <c:v>acceptance boundary</c:v>
          </c:tx>
          <c:spPr>
            <a:solidFill>
              <a:srgbClr val="D3D3D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13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M01 innovation
0.168 / 0.350 K</c:v>
              </c:pt>
              <c:pt idx="1">
                <c:v>M02 bias RMSE
0.104 / 0.150 K</c:v>
              </c:pt>
              <c:pt idx="2">
                <c:v>M03 detection
0.0 / 2.0 s</c:v>
              </c:pt>
              <c:pt idx="3">
                <c:v>M04 missing RMSE
0.084 / 0.250 K</c:v>
              </c:pt>
              <c:pt idx="4">
                <c:v>M05 detection
1.0 / 5.0 s</c:v>
              </c:pt>
              <c:pt idx="5">
                <c:v>M05 heat RMSE
0.135 / 0.250 W</c:v>
              </c:pt>
            </c:strLit>
          </c:cat>
          <c:val>
            <c:numLit>
              <c:formatCode>0</c:formatCode>
              <c:ptCount val="6"/>
              <c:pt idx="0">
                <c:v>100</c:v>
              </c:pt>
              <c:pt idx="1">
                <c:v>100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D-0284-4C0A-8A5C-7721E2F0ECA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acceptance-limit utilization [%]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13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88">
              <a:solidFill>
                <a:srgbClr val="555555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actual |ΔT|</c:v>
          </c:tx>
          <c:spPr>
            <a:solidFill>
              <a:srgbClr val="E5A9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MC01
nominal</c:v>
              </c:pt>
              <c:pt idx="1">
                <c:v>MC02
hot + radiation</c:v>
              </c:pt>
            </c:strLit>
          </c:cat>
          <c:val>
            <c:numLit>
              <c:formatCode>0.000</c:formatCode>
              <c:ptCount val="2"/>
              <c:pt idx="0">
                <c:v>0.49620860000000278</c:v>
              </c:pt>
              <c:pt idx="1">
                <c:v>0.15442749999999705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9FE-4BA8-B519-75A48DB40260}"/>
            </c:ext>
          </c:extLst>
        </c:ser>
        <c:ser>
          <c:idx val="1"/>
          <c:order val="1"/>
          <c:tx>
            <c:v>strict max</c:v>
          </c:tx>
          <c:spPr>
            <a:solidFill>
              <a:srgbClr val="FBE9E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MC01
nominal</c:v>
              </c:pt>
              <c:pt idx="1">
                <c:v>MC02
hot + radiation</c:v>
              </c:pt>
            </c:strLit>
          </c:cat>
          <c:val>
            <c:numLit>
              <c:formatCode>0.000</c:formatCode>
              <c:ptCount val="2"/>
              <c:pt idx="0">
                <c:v>0.25</c:v>
              </c:pt>
              <c:pt idx="1">
                <c:v>0.25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9FE-4BA8-B519-75A48DB40260}"/>
            </c:ext>
          </c:extLst>
        </c:ser>
        <c:ser>
          <c:idx val="2"/>
          <c:order val="2"/>
          <c:tx>
            <c:v>benchmark max</c:v>
          </c:tx>
          <c:spPr>
            <a:solidFill>
              <a:srgbClr val="D3D3D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MC01
nominal</c:v>
              </c:pt>
              <c:pt idx="1">
                <c:v>MC02
hot + radiation</c:v>
              </c:pt>
            </c:strLit>
          </c:cat>
          <c:val>
            <c:numLit>
              <c:formatCode>0.000</c:formatCode>
              <c:ptCount val="2"/>
              <c:pt idx="0">
                <c:v>0.5</c:v>
              </c:pt>
              <c:pt idx="1">
                <c:v>0.5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9FE-4BA8-B519-75A48DB402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chip-average |ΔT| [K]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1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713">
              <a:solidFill>
                <a:srgbClr val="555555"/>
              </a:solidFill>
              <a:latin typeface="Yu Gothic"/>
              <a:ea typeface="Yu Gothic"/>
              <a:cs typeface="Yu Gothic"/>
            </a:defRPr>
          </a:pPr>
          <a:endParaRPr lang="ja-JP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|HV02 − HV01|</c:v>
          </c:tx>
          <c:spPr>
            <a:solidFill>
              <a:srgbClr val="7B2DAF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6B7-4DEB-B61E-61E3B955CF98}"/>
              </c:ext>
            </c:extLst>
          </c:dPt>
          <c:dPt>
            <c:idx val="1"/>
            <c:invertIfNegative val="0"/>
            <c:bubble3D val="0"/>
            <c:spPr>
              <a:solidFill>
                <a:srgbClr val="00A5D8"/>
              </a:solidFill>
            </c:spPr>
            <c:extLst>
              <c:ext xmlns:c16="http://schemas.microsoft.com/office/drawing/2014/chart" uri="{C3380CC4-5D6E-409C-BE32-E72D297353CC}">
                <c16:uniqueId val="{00000003-46B7-4DEB-B61E-61E3B955CF9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825" b="1">
                    <a:solidFill>
                      <a:srgbClr val="555555"/>
                    </a:solidFill>
                    <a:latin typeface="Yu Gothic"/>
                    <a:ea typeface="Yu Gothic"/>
                    <a:cs typeface="Yu 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CAE truth</c:v>
              </c:pt>
              <c:pt idx="1">
                <c:v>RC model</c:v>
              </c:pt>
            </c:strLit>
          </c:cat>
          <c:val>
            <c:numLit>
              <c:formatCode>0.000</c:formatCode>
              <c:ptCount val="2"/>
              <c:pt idx="0">
                <c:v>0.38133367000000362</c:v>
              </c:pt>
              <c:pt idx="1">
                <c:v>1.2223400000053175E-3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6B7-4DEB-B61E-61E3B955CF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5"/>
          <c:min val="0"/>
        </c:scaling>
        <c:delete val="0"/>
        <c:axPos val="l"/>
        <c:majorGridlines>
          <c:spPr>
            <a:ln w="9525">
              <a:solidFill>
                <a:srgbClr val="EFEF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>
                    <a:latin typeface="Yu Gothic"/>
                    <a:ea typeface="Yu Gothic"/>
                    <a:cs typeface="Yu Gothic"/>
                  </a:rPr>
                  <a:t>chip |ΔT| [K]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3D3D3"/>
            </a:solidFill>
            <a:prstDash val="solid"/>
          </a:ln>
        </c:spPr>
        <c:txPr>
          <a:bodyPr anchorCtr="1"/>
          <a:lstStyle/>
          <a:p>
            <a:pPr>
              <a:defRPr sz="675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endParaRPr lang="ja-JP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sources: docs/technical_specification.md; benchmarks/topcell/README.md.</a:t>
            </a:r>
          </a:p>
          <a:p>
            <a:r>
              <a:t>The visual language follows the prior project deck. Tokyo Electron public IR material was used only as a color and layout reference. No logo or official template is included.</a:t>
            </a:r>
          </a:p>
          <a:p>
            <a:r>
              <a:t>All benchmark values in this deck come from repository outputs regenerated or recorded on 2026-09-28.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docs/product_architecture.md sections 1 and 10; docs/technical_specification.md sections 1, 4, and 9.</a:t>
            </a:r>
          </a:p>
          <a:p>
            <a:r>
              <a:t>Monitor and benchmark sampling intervals are taken from TopCell and COMSOL published datasets.</a:t>
            </a:r>
          </a:p>
          <a:p>
            <a:r>
              <a:t>Local-mesh solver times are from external_tools/comsol_chip_cooling/reports/cae_benchmark_report/source_data/mesh_convergence.csv.</a:t>
            </a:r>
          </a:p>
          <a:p>
            <a:r>
              <a:t>The thermal-path diagram is a generic responsibility schematic, not a proprietary chamber cross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docs/product_architecture.md sections 2–10; docs/technical_specification.md sections 2, 6, 7, 8, and 10.</a:t>
            </a:r>
          </a:p>
          <a:p>
            <a:r>
              <a:t>Implementation paths: src/celltemp/domain, engine, learning, workflows, artifact.py, inference.py, config.py.</a:t>
            </a:r>
          </a:p>
          <a:p>
            <a:r>
              <a:t>The diagram follows the repository dependency direction: cli -&gt; workflows -&gt; learning/inference -&gt; engine -&gt; domain/io/config.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benchmarks/topcell/docs/topcell_benchmark_problem.md; benchmarks/topcell/README.md; docs/units_and_conventions.md.</a:t>
            </a:r>
          </a:p>
          <a:p>
            <a:r>
              <a:t>Training data comprises 192 steady trajectories and 36 independent step/ramp trajectories.</a:t>
            </a:r>
          </a:p>
          <a:p>
            <a:r>
              <a:t>External evaluation contains 12 forecast cases and 5 monitor cases. F11 is the intentional model-gap case.</a:t>
            </a:r>
          </a:p>
          <a:p>
            <a:r>
              <a:t>Synthetic criteria are software and workflow sanity thresholds, not product thermal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benchmarks/topcell/work/outputs/benchmark/benchmark_summary.json.</a:t>
            </a:r>
          </a:p>
          <a:p>
            <a:r>
              <a:t>Source: benchmarks/topcell/work/outputs/benchmark/forecast_by_group.csv and forecast_by_case.csv.</a:t>
            </a:r>
          </a:p>
          <a:p>
            <a:r>
              <a:t>The benchmark was rerun on 2026-09-28 with: uv run --locked --with-editable . python benchmarks/topcell/run.py.</a:t>
            </a:r>
          </a:p>
          <a:p>
            <a:r>
              <a:t>Status=pass; core mean=0.142912 K; worst=1.302677 K; prior mean=7.185014 K.</a:t>
            </a:r>
          </a:p>
          <a:p>
            <a:r>
              <a:t>F11 is intentionally excluded from the 11-case core mean. Its large error is the expected evidence that the linear RC structure does not represent temperature-dependent heat loss.</a:t>
            </a:r>
          </a:p>
          <a:p>
            <a:r>
              <a:t>No confidence intervals are shown because each bar is a deterministic case or case-group aggregate from one fixed benchmark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Predictions: benchmarks/topcell/work/outputs/forecast/F09_sparse_initial_observation.csv and F12_history_initialized_sparse.csv.</a:t>
            </a:r>
          </a:p>
          <a:p>
            <a:r>
              <a:t>Truth: benchmarks/topcell/work/data/eval/forecast/F09_sparse_initial_observation.csv and F12_history_initialized_sparse.csv.</a:t>
            </a:r>
          </a:p>
          <a:p>
            <a:r>
              <a:t>Common-window RMSE from t=20 s through 180 s: F09=0.383745 K, F12=0.038094 K, reduction=90.073%.</a:t>
            </a:r>
          </a:p>
          <a:p>
            <a:r>
              <a:t>Benchmark primary ratio F12/F09=2.924%; acceptance maximum=25.0%.</a:t>
            </a:r>
          </a:p>
          <a:p>
            <a:r>
              <a:t>The benchmark primary metric compares the published F09 full-horizon score with the F12 origin-after-history score. The common-window calculation is added to make the comparison conservative and time-aligned.</a:t>
            </a:r>
          </a:p>
          <a:p>
            <a:r>
              <a:t>The line plot is downsampled every 5 s for display only. RMSE values use all forecast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benchmarks/topcell/work/outputs/benchmark/monitor_by_case.csv.</a:t>
            </a:r>
          </a:p>
          <a:p>
            <a:r>
              <a:t>Source: benchmarks/topcell/work/outputs/benchmark/benchmark_summary.json.</a:t>
            </a:r>
          </a:p>
          <a:p>
            <a:r>
              <a:t>Acceptance-limit utilization equals the measured metric divided by its benchmark acceptance maximum. Lower is better and 100% is the boundary.</a:t>
            </a:r>
          </a:p>
          <a:p>
            <a:r>
              <a:t>M03 localization is checked separately because first-alert sensor identity is categorical. M04 posterior finite-state behavior is also checked separately.</a:t>
            </a:r>
          </a:p>
          <a:p>
            <a:r>
              <a:t>Monitor checks passed: 8/8.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Mesh source: external_tools/comsol_chip_cooling/reports/cae_benchmark_report/source_data/mesh_convergence.csv.</a:t>
            </a:r>
          </a:p>
          <a:p>
            <a:r>
              <a:t>High-fidelity metrics: external_tools/comsol_chip_cooling/reports/cae_benchmark_report/source_data/high_fidelity_case_metrics.csv.</a:t>
            </a:r>
          </a:p>
          <a:p>
            <a:r>
              <a:t>Radiation trace: external_tools/comsol_chip_cooling/reports/cae_benchmark_report/source_data/high_fidelity_radiation_trace.csv.</a:t>
            </a:r>
          </a:p>
          <a:p>
            <a:r>
              <a:t>Validation boundary: external_tools/comsol_chip_cooling/docs/high_fidelity_validation.md.</a:t>
            </a:r>
          </a:p>
          <a:p>
            <a:r>
              <a:t>Computed medium-to-fine chip-average differences: MC01=0.4962086 K, MC02=0.1544275 K.</a:t>
            </a:r>
          </a:p>
          <a:p>
            <a:r>
              <a:t>At 220 s, CAE radiation-pair chip delta magnitude is 0.38133367 K and the RC-model magnitude is 0.00122234 K.</a:t>
            </a:r>
          </a:p>
          <a:p>
            <a:r>
              <a:t>High-fidelity mean RMSE=0.09561862 K; worst=0.14358424 K; scalar predictions=66.</a:t>
            </a:r>
          </a:p>
          <a:p>
            <a:r>
              <a:t>Interpretation: absolute average-temperature screening improved, but the magnitude of the radiation sensitivity is not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benchmarks/topcell/work/outputs/benchmark/benchmark_summary.json; external_tools/comsol_chip_cooling/work/evaluation/summary.json.</a:t>
            </a:r>
          </a:p>
          <a:p>
            <a:r>
              <a:t>Sources: external_tools/comsol_chip_cooling/docs/high_fidelity_validation.md; docs/technical_specification.md sections 11 and 12.</a:t>
            </a:r>
          </a:p>
          <a:p>
            <a:r>
              <a:t>Linear COMSOL external forecast mean RMSE is 0.036276 K and all 10 screening checks pass. This is volume-average screening evidence, not hotspot product acceptance.</a:t>
            </a:r>
          </a:p>
          <a:p>
            <a:r>
              <a:t>Recommended product gates follow the repository validation boundary and should be tied to the equipment FMEA, control period, and thermal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14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B4CD0F4-FA09-4EFD-A57D-4F90FF785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90281BC-16D6-4C69-9FBF-7694D99C16F9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THERMAL CELL / BENCHMARK REVIEW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B685BBF-10C5-46E0-9867-852AF569F5F0}"/>
              </a:ext>
            </a:extLst>
          </p:cNvPr>
          <p:cNvSpPr>
            <a:spLocks noGrp="1"/>
          </p:cNvSpPr>
          <p:nvPr/>
        </p:nvSpPr>
        <p:spPr>
          <a:xfrm>
            <a:off x="628650" y="1257300"/>
            <a:ext cx="971550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0" rIns="28575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熱RCモデル基盤</a:t>
            </a:r>
          </a:p>
          <a:p>
            <a:pPr algn="l"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9枚で読む設計・実装・検証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E9F438F-FD35-45C9-877B-7EE0ABD8FB66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000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00" b="0" i="0">
                <a:solidFill>
                  <a:srgbClr val="D9D2EA"/>
                </a:solidFill>
                <a:latin typeface="Yu Gothic"/>
                <a:ea typeface="Yu Gothic"/>
                <a:cs typeface="Yu Gothic"/>
              </a:defRPr>
            </a:pPr>
            <a:r>
              <a:rPr sz="1500" b="0" i="0">
                <a:solidFill>
                  <a:srgbClr val="D9D2EA"/>
                </a:solidFill>
                <a:latin typeface="Yu Gothic"/>
                <a:ea typeface="Yu Gothic"/>
                <a:cs typeface="Yu Gothic"/>
              </a:rPr>
              <a:t>半導体装置の温度予測と状態監視を、保存則と外部ベンチマークで評価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A5572F-08B1-4C7A-A2A6-8CD7CE9CDB4D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BFB7D2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BFB7D2"/>
                </a:solidFill>
                <a:latin typeface="Yu Gothic"/>
                <a:ea typeface="Yu Gothic"/>
                <a:cs typeface="Yu Gothic"/>
              </a:rPr>
              <a:t>thermal-cell-practical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F888389-6512-4329-93D2-52A38F6F9626}"/>
              </a:ext>
            </a:extLst>
          </p:cNvPr>
          <p:cNvSpPr>
            <a:spLocks noGrp="1"/>
          </p:cNvSpPr>
          <p:nvPr/>
        </p:nvSpPr>
        <p:spPr>
          <a:xfrm>
            <a:off x="0" y="4619625"/>
            <a:ext cx="12192000" cy="2238375"/>
          </a:xfrm>
          <a:prstGeom prst="rect">
            <a:avLst/>
          </a:prstGeom>
          <a:solidFill>
            <a:srgbClr val="3B1F68"/>
          </a:solidFill>
          <a:ln w="0">
            <a:noFill/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FA8857E-B1E9-4275-95FE-21225FF02EB3}"/>
              </a:ext>
            </a:extLst>
          </p:cNvPr>
          <p:cNvSpPr>
            <a:spLocks noGrp="1"/>
          </p:cNvSpPr>
          <p:nvPr/>
        </p:nvSpPr>
        <p:spPr>
          <a:xfrm>
            <a:off x="0" y="4619625"/>
            <a:ext cx="3048000" cy="22383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5C1BDCF-EA53-4A29-AF7F-F6334720FF04}"/>
              </a:ext>
            </a:extLst>
          </p:cNvPr>
          <p:cNvSpPr>
            <a:spLocks noGrp="1"/>
          </p:cNvSpPr>
          <p:nvPr/>
        </p:nvSpPr>
        <p:spPr>
          <a:xfrm>
            <a:off x="3048000" y="4619625"/>
            <a:ext cx="3429000" cy="2238375"/>
          </a:xfrm>
          <a:prstGeom prst="rect">
            <a:avLst/>
          </a:prstGeom>
          <a:solidFill>
            <a:srgbClr val="007FA8"/>
          </a:solidFill>
          <a:ln w="0">
            <a:noFill/>
            <a:prstDash val="solid"/>
          </a:ln>
        </p:spPr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72CDB6C-1F25-4265-B9A5-6877927FAB9F}"/>
              </a:ext>
            </a:extLst>
          </p:cNvPr>
          <p:cNvSpPr>
            <a:spLocks noGrp="1"/>
          </p:cNvSpPr>
          <p:nvPr/>
        </p:nvSpPr>
        <p:spPr>
          <a:xfrm>
            <a:off x="6477000" y="4619625"/>
            <a:ext cx="2000250" cy="2238375"/>
          </a:xfrm>
          <a:prstGeom prst="rect">
            <a:avLst/>
          </a:prstGeom>
          <a:solidFill>
            <a:srgbClr val="4D8710"/>
          </a:solidFill>
          <a:ln w="0">
            <a:noFill/>
            <a:prstDash val="solid"/>
          </a:ln>
        </p:spPr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E20F237-DF41-4AE1-9167-ACDFA374ADF0}"/>
              </a:ext>
            </a:extLst>
          </p:cNvPr>
          <p:cNvSpPr>
            <a:spLocks noGrp="1"/>
          </p:cNvSpPr>
          <p:nvPr/>
        </p:nvSpPr>
        <p:spPr>
          <a:xfrm>
            <a:off x="8477250" y="4619625"/>
            <a:ext cx="3714750" cy="2238375"/>
          </a:xfrm>
          <a:prstGeom prst="rect">
            <a:avLst/>
          </a:prstGeom>
          <a:solidFill>
            <a:srgbClr val="2A2050"/>
          </a:solidFill>
          <a:ln w="0">
            <a:noFill/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8CD771A-D6BF-4AD9-A641-43109671DA20}"/>
              </a:ext>
            </a:extLst>
          </p:cNvPr>
          <p:cNvSpPr>
            <a:spLocks noGrp="1"/>
          </p:cNvSpPr>
          <p:nvPr/>
        </p:nvSpPr>
        <p:spPr>
          <a:xfrm>
            <a:off x="819150" y="5153025"/>
            <a:ext cx="13525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45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45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Q̇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5D7134-99AE-4919-A2D5-BB08C5A0696F}"/>
              </a:ext>
            </a:extLst>
          </p:cNvPr>
          <p:cNvSpPr>
            <a:spLocks noGrp="1"/>
          </p:cNvSpPr>
          <p:nvPr/>
        </p:nvSpPr>
        <p:spPr>
          <a:xfrm>
            <a:off x="3371850" y="5210175"/>
            <a:ext cx="2781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Ṫ = −L T + b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3EEDEA9-C49D-4E5B-8638-F4C76E0C8648}"/>
              </a:ext>
            </a:extLst>
          </p:cNvPr>
          <p:cNvSpPr>
            <a:spLocks noGrp="1"/>
          </p:cNvSpPr>
          <p:nvPr/>
        </p:nvSpPr>
        <p:spPr>
          <a:xfrm>
            <a:off x="6629400" y="5229225"/>
            <a:ext cx="1695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y = H T + β</a:t>
            </a:r>
          </a:p>
        </p:txBody>
      </p:sp>
      <p:sp>
        <p:nvSpPr>
          <p:cNvPr id="14" name="直線コネクタ 13">
            <a:extLst>
              <a:ext uri="{FF2B5EF4-FFF2-40B4-BE49-F238E27FC236}">
                <a16:creationId xmlns:a16="http://schemas.microsoft.com/office/drawing/2014/main" id="{062DBA8E-8560-4B8C-948E-ED5BE6110D8C}"/>
              </a:ext>
            </a:extLst>
          </p:cNvPr>
          <p:cNvSpPr>
            <a:spLocks noGrp="1"/>
          </p:cNvSpPr>
          <p:nvPr/>
        </p:nvSpPr>
        <p:spPr>
          <a:xfrm>
            <a:off x="8934450" y="5019675"/>
            <a:ext cx="2238375" cy="742950"/>
          </a:xfrm>
          <a:prstGeom prst="line">
            <a:avLst/>
          </a:prstGeom>
          <a:noFill/>
          <a:ln w="19050">
            <a:solidFill>
              <a:srgbClr val="6D618E"/>
            </a:solidFill>
            <a:prstDash val="solid"/>
          </a:ln>
        </p:spPr>
      </p:sp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6CD95948-FAE6-4BD5-BE9A-5E41587A563D}"/>
              </a:ext>
            </a:extLst>
          </p:cNvPr>
          <p:cNvSpPr>
            <a:spLocks noGrp="1"/>
          </p:cNvSpPr>
          <p:nvPr/>
        </p:nvSpPr>
        <p:spPr>
          <a:xfrm>
            <a:off x="8934450" y="5524500"/>
            <a:ext cx="2238375" cy="238125"/>
          </a:xfrm>
          <a:prstGeom prst="line">
            <a:avLst/>
          </a:prstGeom>
          <a:noFill/>
          <a:ln w="28575">
            <a:solidFill>
              <a:srgbClr val="00A5D8"/>
            </a:solidFill>
            <a:prstDash val="solid"/>
          </a:ln>
        </p:spPr>
      </p:sp>
      <p:sp>
        <p:nvSpPr>
          <p:cNvPr id="16" name="直線コネクタ 15">
            <a:extLst>
              <a:ext uri="{FF2B5EF4-FFF2-40B4-BE49-F238E27FC236}">
                <a16:creationId xmlns:a16="http://schemas.microsoft.com/office/drawing/2014/main" id="{067447B1-E2EA-4C0C-BC3C-B2F9F779ADC6}"/>
              </a:ext>
            </a:extLst>
          </p:cNvPr>
          <p:cNvSpPr>
            <a:spLocks noGrp="1"/>
          </p:cNvSpPr>
          <p:nvPr/>
        </p:nvSpPr>
        <p:spPr>
          <a:xfrm>
            <a:off x="8934450" y="5762625"/>
            <a:ext cx="2238375" cy="266700"/>
          </a:xfrm>
          <a:prstGeom prst="line">
            <a:avLst/>
          </a:prstGeom>
          <a:noFill/>
          <a:ln w="28575">
            <a:solidFill>
              <a:srgbClr val="76BE18"/>
            </a:solidFill>
            <a:prstDash val="solid"/>
          </a:ln>
        </p:spPr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3F7507D3-2893-41B3-A06D-99370389AEDA}"/>
              </a:ext>
            </a:extLst>
          </p:cNvPr>
          <p:cNvSpPr>
            <a:spLocks noGrp="1"/>
          </p:cNvSpPr>
          <p:nvPr/>
        </p:nvSpPr>
        <p:spPr>
          <a:xfrm>
            <a:off x="8877300" y="5686425"/>
            <a:ext cx="133350" cy="1333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75C2A25D-5056-44D0-8C19-68C461A02CB7}"/>
              </a:ext>
            </a:extLst>
          </p:cNvPr>
          <p:cNvSpPr>
            <a:spLocks noGrp="1"/>
          </p:cNvSpPr>
          <p:nvPr/>
        </p:nvSpPr>
        <p:spPr>
          <a:xfrm>
            <a:off x="11106150" y="4943475"/>
            <a:ext cx="133350" cy="133350"/>
          </a:xfrm>
          <a:prstGeom prst="ellipse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11524065-6651-4D25-90BC-7B96A2350D07}"/>
              </a:ext>
            </a:extLst>
          </p:cNvPr>
          <p:cNvSpPr>
            <a:spLocks noGrp="1"/>
          </p:cNvSpPr>
          <p:nvPr/>
        </p:nvSpPr>
        <p:spPr>
          <a:xfrm>
            <a:off x="11106150" y="5448300"/>
            <a:ext cx="133350" cy="133350"/>
          </a:xfrm>
          <a:prstGeom prst="ellipse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4B188218-91FB-4A19-998D-56B9D7CA2260}"/>
              </a:ext>
            </a:extLst>
          </p:cNvPr>
          <p:cNvSpPr>
            <a:spLocks noGrp="1"/>
          </p:cNvSpPr>
          <p:nvPr/>
        </p:nvSpPr>
        <p:spPr>
          <a:xfrm>
            <a:off x="11106150" y="5953125"/>
            <a:ext cx="133350" cy="133350"/>
          </a:xfrm>
          <a:prstGeom prst="ellipse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44516E6-BFA6-47F8-AE9E-51D0CA0C1F26}"/>
              </a:ext>
            </a:extLst>
          </p:cNvPr>
          <p:cNvSpPr>
            <a:spLocks noGrp="1"/>
          </p:cNvSpPr>
          <p:nvPr/>
        </p:nvSpPr>
        <p:spPr>
          <a:xfrm>
            <a:off x="10287000" y="6438900"/>
            <a:ext cx="1352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825" b="0" i="0">
                <a:solidFill>
                  <a:srgbClr val="C6BFDA"/>
                </a:solidFill>
                <a:latin typeface="Yu Gothic"/>
                <a:ea typeface="Yu Gothic"/>
                <a:cs typeface="Yu Gothic"/>
              </a:defRPr>
            </a:pPr>
            <a:r>
              <a:rPr sz="825" b="0" i="0">
                <a:solidFill>
                  <a:srgbClr val="C6BFDA"/>
                </a:solidFill>
                <a:latin typeface="Yu Gothic"/>
                <a:ea typeface="Yu Gothic"/>
                <a:cs typeface="Yu Gothic"/>
              </a:rPr>
              <a:t>2026-09-28</a:t>
            </a:r>
          </a:p>
        </p:txBody>
      </p:sp>
    </p:spTree>
    <p:extLst>
      <p:ext uri="{BB962C8B-B14F-4D97-AF65-F5344CB8AC3E}">
        <p14:creationId xmlns:p14="http://schemas.microsoft.com/office/powerpoint/2010/main" val="1596721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DCEDD56-AA75-4DE6-815B-DA16586D9FAF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1376985-E018-4DCE-986D-DB62CE52C083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BACKGROUND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2D6AE00-8721-4143-B614-23F8BCCE8A2A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課題背景：高忠実度、疎観測、制御周期の時間差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21B0D7-9375-493F-B2CE-E7E929E6827E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温度場を保存則付きの少数状態へ圧縮し、設計と運転の判断を同じ状態定義で接続する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30F8C908-C8D6-4202-9836-A574F1DEFEC6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21BA9540-EDDE-46FE-B15C-233F3E3C832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6E803DE-02AB-4000-8FFA-778E9E0FE2CF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67AE8A6-D168-4C9C-9CCF-B4450A6D6126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4A5C31F-B3D2-4F8E-BBFE-F45B7C6EBC77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0E14C07-3029-4D83-A710-B66110D45054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503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装置内の熱経路と観測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39E0D82-E23E-468A-A8A6-8B2B5C421CC1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334000" cy="3295650"/>
          </a:xfrm>
          <a:prstGeom prst="rect">
            <a:avLst/>
          </a:prstGeom>
          <a:solidFill>
            <a:srgbClr val="F7F7F7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F444C40-06E1-4489-85B8-8466B3F49582}"/>
              </a:ext>
            </a:extLst>
          </p:cNvPr>
          <p:cNvSpPr>
            <a:spLocks noGrp="1"/>
          </p:cNvSpPr>
          <p:nvPr/>
        </p:nvSpPr>
        <p:spPr>
          <a:xfrm>
            <a:off x="885825" y="2095500"/>
            <a:ext cx="800100" cy="533400"/>
          </a:xfrm>
          <a:prstGeom prst="rect">
            <a:avLst/>
          </a:prstGeom>
          <a:solidFill>
            <a:srgbClr val="EFE5F6"/>
          </a:solidFill>
          <a:ln w="19050">
            <a:solidFill>
              <a:srgbClr val="7B2DAF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A30C924-3FBD-4575-90FB-DF951359B0B8}"/>
              </a:ext>
            </a:extLst>
          </p:cNvPr>
          <p:cNvSpPr>
            <a:spLocks noGrp="1"/>
          </p:cNvSpPr>
          <p:nvPr/>
        </p:nvSpPr>
        <p:spPr>
          <a:xfrm>
            <a:off x="981075" y="2171700"/>
            <a:ext cx="609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plasma</a:t>
            </a:r>
          </a:p>
          <a:p>
            <a:pPr algn="ctr">
              <a:lnSpc>
                <a:spcPct val="100000"/>
              </a:lnSpc>
              <a:buNone/>
              <a:def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heat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5864854-DDEA-4101-8594-EF50F9326773}"/>
              </a:ext>
            </a:extLst>
          </p:cNvPr>
          <p:cNvSpPr>
            <a:spLocks noGrp="1"/>
          </p:cNvSpPr>
          <p:nvPr/>
        </p:nvSpPr>
        <p:spPr>
          <a:xfrm>
            <a:off x="2143125" y="1962150"/>
            <a:ext cx="1190625" cy="790575"/>
          </a:xfrm>
          <a:prstGeom prst="rect">
            <a:avLst/>
          </a:prstGeom>
          <a:solidFill>
            <a:srgbClr val="FBE9E7"/>
          </a:solidFill>
          <a:ln w="19050">
            <a:solidFill>
              <a:srgbClr val="C4493D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AA4A75-C599-4808-943F-95C2934DCE6B}"/>
              </a:ext>
            </a:extLst>
          </p:cNvPr>
          <p:cNvSpPr>
            <a:spLocks noGrp="1"/>
          </p:cNvSpPr>
          <p:nvPr/>
        </p:nvSpPr>
        <p:spPr>
          <a:xfrm>
            <a:off x="2276475" y="2190750"/>
            <a:ext cx="923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5686"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chip / wafer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743F6E1-45DE-443C-BEE3-0CB66861DFEF}"/>
              </a:ext>
            </a:extLst>
          </p:cNvPr>
          <p:cNvSpPr>
            <a:spLocks noGrp="1"/>
          </p:cNvSpPr>
          <p:nvPr/>
        </p:nvSpPr>
        <p:spPr>
          <a:xfrm>
            <a:off x="2143125" y="3086100"/>
            <a:ext cx="1190625" cy="685800"/>
          </a:xfrm>
          <a:prstGeom prst="rect">
            <a:avLst/>
          </a:prstGeom>
          <a:solidFill>
            <a:srgbClr val="E5F6FB"/>
          </a:solidFill>
          <a:ln w="19050">
            <a:solidFill>
              <a:srgbClr val="007FA8"/>
            </a:solidFill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DD37855-4A04-4535-A6E0-1137826E14EC}"/>
              </a:ext>
            </a:extLst>
          </p:cNvPr>
          <p:cNvSpPr>
            <a:spLocks noGrp="1"/>
          </p:cNvSpPr>
          <p:nvPr/>
        </p:nvSpPr>
        <p:spPr>
          <a:xfrm>
            <a:off x="2276475" y="3286125"/>
            <a:ext cx="923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88544"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stage / base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F78A7AF-0744-4453-9CE2-5D13E2E0C2B4}"/>
              </a:ext>
            </a:extLst>
          </p:cNvPr>
          <p:cNvSpPr>
            <a:spLocks noGrp="1"/>
          </p:cNvSpPr>
          <p:nvPr/>
        </p:nvSpPr>
        <p:spPr>
          <a:xfrm>
            <a:off x="4267200" y="3086100"/>
            <a:ext cx="1190625" cy="685800"/>
          </a:xfrm>
          <a:prstGeom prst="rect">
            <a:avLst/>
          </a:prstGeom>
          <a:solidFill>
            <a:srgbClr val="E2F7F5"/>
          </a:solidFill>
          <a:ln w="19050">
            <a:solidFill>
              <a:srgbClr val="00A89D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AFAB26F-2F2F-4234-823B-8E2F5AF44909}"/>
              </a:ext>
            </a:extLst>
          </p:cNvPr>
          <p:cNvSpPr>
            <a:spLocks noGrp="1"/>
          </p:cNvSpPr>
          <p:nvPr/>
        </p:nvSpPr>
        <p:spPr>
          <a:xfrm>
            <a:off x="4400550" y="3286125"/>
            <a:ext cx="9239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00A89D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00A89D"/>
                </a:solidFill>
                <a:latin typeface="Yu Gothic"/>
                <a:ea typeface="Yu Gothic"/>
                <a:cs typeface="Yu Gothic"/>
              </a:rPr>
              <a:t>coolant</a:t>
            </a:r>
          </a:p>
        </p:txBody>
      </p:sp>
      <p:cxnSp>
        <p:nvCxnSpPr>
          <p:cNvPr id="85" name="直線矢印コネクタ 84"/>
          <p:cNvCxnSpPr>
            <a:stCxn id="12" idx="3"/>
            <a:endCxn id="14" idx="1"/>
          </p:cNvCxnSpPr>
          <p:nvPr/>
        </p:nvCxnSpPr>
        <p:spPr>
          <a:xfrm flipV="1">
            <a:off x="1685925" y="2357438"/>
            <a:ext cx="457200" cy="4763"/>
          </a:xfrm>
          <a:prstGeom prst="straightConnector1">
            <a:avLst/>
          </a:prstGeom>
          <a:ln w="28575">
            <a:solidFill>
              <a:srgbClr val="7B2DAF"/>
            </a:solidFill>
            <a:prstDash val="solid"/>
            <a:tailEnd type="triangle" w="sm" len="sm"/>
          </a:ln>
        </p:spPr>
      </p:cxnSp>
      <p:cxnSp>
        <p:nvCxnSpPr>
          <p:cNvPr id="86" name="直線矢印コネクタ 85"/>
          <p:cNvCxnSpPr>
            <a:stCxn id="14" idx="2"/>
            <a:endCxn id="16" idx="0"/>
          </p:cNvCxnSpPr>
          <p:nvPr/>
        </p:nvCxnSpPr>
        <p:spPr>
          <a:xfrm>
            <a:off x="2738438" y="2752725"/>
            <a:ext cx="0" cy="333375"/>
          </a:xfrm>
          <a:prstGeom prst="straightConnector1">
            <a:avLst/>
          </a:prstGeom>
          <a:ln w="28575">
            <a:solidFill>
              <a:srgbClr val="C4493D"/>
            </a:solidFill>
            <a:prstDash val="solid"/>
            <a:tailEnd type="triangle" w="sm" len="sm"/>
          </a:ln>
        </p:spPr>
      </p:cxnSp>
      <p:cxnSp>
        <p:nvCxnSpPr>
          <p:cNvPr id="87" name="直線矢印コネクタ 86"/>
          <p:cNvCxnSpPr>
            <a:stCxn id="16" idx="3"/>
            <a:endCxn id="18" idx="1"/>
          </p:cNvCxnSpPr>
          <p:nvPr/>
        </p:nvCxnSpPr>
        <p:spPr>
          <a:xfrm>
            <a:off x="3333750" y="3429000"/>
            <a:ext cx="933450" cy="0"/>
          </a:xfrm>
          <a:prstGeom prst="straightConnector1">
            <a:avLst/>
          </a:prstGeom>
          <a:ln w="28575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23" name="直線コネクタ 22">
            <a:extLst>
              <a:ext uri="{FF2B5EF4-FFF2-40B4-BE49-F238E27FC236}">
                <a16:creationId xmlns:a16="http://schemas.microsoft.com/office/drawing/2014/main" id="{A694D69A-6330-4077-A078-F757C2967F8E}"/>
              </a:ext>
            </a:extLst>
          </p:cNvPr>
          <p:cNvSpPr>
            <a:spLocks noGrp="1"/>
          </p:cNvSpPr>
          <p:nvPr/>
        </p:nvSpPr>
        <p:spPr>
          <a:xfrm>
            <a:off x="1685925" y="2362200"/>
            <a:ext cx="457200" cy="0"/>
          </a:xfrm>
          <a:prstGeom prst="line">
            <a:avLst/>
          </a:prstGeom>
          <a:noFill/>
          <a:ln w="28575">
            <a:solidFill>
              <a:srgbClr val="7B2DAF"/>
            </a:solidFill>
            <a:prstDash val="solid"/>
          </a:ln>
        </p:spPr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E4CED520-C4F6-4AC3-AA93-E0E9604BA915}"/>
              </a:ext>
            </a:extLst>
          </p:cNvPr>
          <p:cNvSpPr>
            <a:spLocks noGrp="1"/>
          </p:cNvSpPr>
          <p:nvPr/>
        </p:nvSpPr>
        <p:spPr>
          <a:xfrm>
            <a:off x="2733675" y="2752725"/>
            <a:ext cx="0" cy="333375"/>
          </a:xfrm>
          <a:prstGeom prst="line">
            <a:avLst/>
          </a:prstGeom>
          <a:noFill/>
          <a:ln w="28575">
            <a:solidFill>
              <a:srgbClr val="C4493D"/>
            </a:solidFill>
            <a:prstDash val="solid"/>
          </a:ln>
        </p:spPr>
      </p:sp>
      <p:sp>
        <p:nvSpPr>
          <p:cNvPr id="25" name="直線コネクタ 24">
            <a:extLst>
              <a:ext uri="{FF2B5EF4-FFF2-40B4-BE49-F238E27FC236}">
                <a16:creationId xmlns:a16="http://schemas.microsoft.com/office/drawing/2014/main" id="{B2F4E2E3-E38A-452C-99A4-D8D675E64F74}"/>
              </a:ext>
            </a:extLst>
          </p:cNvPr>
          <p:cNvSpPr>
            <a:spLocks noGrp="1"/>
          </p:cNvSpPr>
          <p:nvPr/>
        </p:nvSpPr>
        <p:spPr>
          <a:xfrm>
            <a:off x="3333750" y="3429000"/>
            <a:ext cx="933450" cy="0"/>
          </a:xfrm>
          <a:prstGeom prst="line">
            <a:avLst/>
          </a:prstGeom>
          <a:noFill/>
          <a:ln w="28575">
            <a:solidFill>
              <a:srgbClr val="007FA8"/>
            </a:solidFill>
            <a:prstDash val="solid"/>
          </a:ln>
        </p:spPr>
      </p:sp>
      <p:sp>
        <p:nvSpPr>
          <p:cNvPr id="26" name="直線コネクタ 25">
            <a:extLst>
              <a:ext uri="{FF2B5EF4-FFF2-40B4-BE49-F238E27FC236}">
                <a16:creationId xmlns:a16="http://schemas.microsoft.com/office/drawing/2014/main" id="{6C4EF8C7-FBEF-4BB3-8540-2D2C912E1AFB}"/>
              </a:ext>
            </a:extLst>
          </p:cNvPr>
          <p:cNvSpPr>
            <a:spLocks noGrp="1"/>
          </p:cNvSpPr>
          <p:nvPr/>
        </p:nvSpPr>
        <p:spPr>
          <a:xfrm>
            <a:off x="2743200" y="1381125"/>
            <a:ext cx="0" cy="581025"/>
          </a:xfrm>
          <a:prstGeom prst="line">
            <a:avLst/>
          </a:prstGeom>
          <a:noFill/>
          <a:ln w="28575">
            <a:solidFill>
              <a:srgbClr val="E5A900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4C038BDC-3DDB-4898-8900-C8A9B0E51355}"/>
              </a:ext>
            </a:extLst>
          </p:cNvPr>
          <p:cNvSpPr>
            <a:spLocks noGrp="1"/>
          </p:cNvSpPr>
          <p:nvPr/>
        </p:nvSpPr>
        <p:spPr>
          <a:xfrm>
            <a:off x="2895600" y="1438275"/>
            <a:ext cx="120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1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q̇rad / q̇conv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58B6FA9-23D7-4609-94ED-99F82D520ECD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D8710"/>
            </a:solidFill>
            <a:prstDash val="solid"/>
          </a:ln>
        </p:spPr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F7BA5604-71D4-4D7A-8F8D-C48CA1BE930F}"/>
              </a:ext>
            </a:extLst>
          </p:cNvPr>
          <p:cNvSpPr>
            <a:spLocks noGrp="1"/>
          </p:cNvSpPr>
          <p:nvPr/>
        </p:nvSpPr>
        <p:spPr>
          <a:xfrm>
            <a:off x="3543300" y="2181225"/>
            <a:ext cx="247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T₁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5E4C4A1-84D7-468D-AF11-0205EC93FA87}"/>
              </a:ext>
            </a:extLst>
          </p:cNvPr>
          <p:cNvSpPr>
            <a:spLocks noGrp="1"/>
          </p:cNvSpPr>
          <p:nvPr/>
        </p:nvSpPr>
        <p:spPr>
          <a:xfrm>
            <a:off x="3524250" y="327660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D8710"/>
            </a:solidFill>
            <a:prstDash val="solid"/>
          </a:ln>
        </p:spPr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9C2BA6D-F094-47FD-A30B-6F414E2A15DB}"/>
              </a:ext>
            </a:extLst>
          </p:cNvPr>
          <p:cNvSpPr>
            <a:spLocks noGrp="1"/>
          </p:cNvSpPr>
          <p:nvPr/>
        </p:nvSpPr>
        <p:spPr>
          <a:xfrm>
            <a:off x="3543300" y="3305175"/>
            <a:ext cx="247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T₂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07A6EE7-1209-4C37-AB28-5DFAAFD7FC5F}"/>
              </a:ext>
            </a:extLst>
          </p:cNvPr>
          <p:cNvSpPr>
            <a:spLocks noGrp="1"/>
          </p:cNvSpPr>
          <p:nvPr/>
        </p:nvSpPr>
        <p:spPr>
          <a:xfrm>
            <a:off x="4648200" y="3943350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D8710"/>
            </a:solidFill>
            <a:prstDash val="solid"/>
          </a:ln>
        </p:spPr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88ED27C-B4A1-4C7E-A151-19E993747845}"/>
              </a:ext>
            </a:extLst>
          </p:cNvPr>
          <p:cNvSpPr>
            <a:spLocks noGrp="1"/>
          </p:cNvSpPr>
          <p:nvPr/>
        </p:nvSpPr>
        <p:spPr>
          <a:xfrm>
            <a:off x="4667250" y="3971925"/>
            <a:ext cx="2476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T₃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11B0C99-356C-4F0D-A0A1-EF5C184F47F6}"/>
              </a:ext>
            </a:extLst>
          </p:cNvPr>
          <p:cNvSpPr>
            <a:spLocks noGrp="1"/>
          </p:cNvSpPr>
          <p:nvPr/>
        </p:nvSpPr>
        <p:spPr>
          <a:xfrm>
            <a:off x="828675" y="4371975"/>
            <a:ext cx="47815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局所センサだけでは内部温度、遅れ、未知発熱を直接観測できない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E328C600-EFE3-4B98-9163-50737642CE2D}"/>
              </a:ext>
            </a:extLst>
          </p:cNvPr>
          <p:cNvSpPr>
            <a:spLocks noGrp="1"/>
          </p:cNvSpPr>
          <p:nvPr/>
        </p:nvSpPr>
        <p:spPr>
          <a:xfrm>
            <a:off x="63436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9D0C5BB-C5CB-4EBB-BB86-95FED770F6F9}"/>
              </a:ext>
            </a:extLst>
          </p:cNvPr>
          <p:cNvSpPr>
            <a:spLocks noGrp="1"/>
          </p:cNvSpPr>
          <p:nvPr/>
        </p:nvSpPr>
        <p:spPr>
          <a:xfrm>
            <a:off x="6638925" y="1362075"/>
            <a:ext cx="5000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判断に使う時間尺度</a:t>
            </a:r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F410D2EC-49B4-4451-855D-0FC9C8219ACE}"/>
              </a:ext>
            </a:extLst>
          </p:cNvPr>
          <p:cNvSpPr>
            <a:spLocks noGrp="1"/>
          </p:cNvSpPr>
          <p:nvPr/>
        </p:nvSpPr>
        <p:spPr>
          <a:xfrm>
            <a:off x="6705600" y="2543175"/>
            <a:ext cx="440055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8" name="直線コネクタ 37">
            <a:extLst>
              <a:ext uri="{FF2B5EF4-FFF2-40B4-BE49-F238E27FC236}">
                <a16:creationId xmlns:a16="http://schemas.microsoft.com/office/drawing/2014/main" id="{5D0E46F0-3EDA-4E37-9E60-19F382D3983F}"/>
              </a:ext>
            </a:extLst>
          </p:cNvPr>
          <p:cNvSpPr>
            <a:spLocks noGrp="1"/>
          </p:cNvSpPr>
          <p:nvPr/>
        </p:nvSpPr>
        <p:spPr>
          <a:xfrm>
            <a:off x="6867525" y="2371725"/>
            <a:ext cx="0" cy="352425"/>
          </a:xfrm>
          <a:prstGeom prst="line">
            <a:avLst/>
          </a:prstGeom>
          <a:noFill/>
          <a:ln w="28575">
            <a:solidFill>
              <a:srgbClr val="76BE18"/>
            </a:solidFill>
            <a:prstDash val="solid"/>
          </a:ln>
        </p:spPr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DB69C416-60F4-4C55-8E2C-BFAECB000956}"/>
              </a:ext>
            </a:extLst>
          </p:cNvPr>
          <p:cNvSpPr>
            <a:spLocks noGrp="1"/>
          </p:cNvSpPr>
          <p:nvPr/>
        </p:nvSpPr>
        <p:spPr>
          <a:xfrm>
            <a:off x="6800850" y="2476500"/>
            <a:ext cx="133350" cy="133350"/>
          </a:xfrm>
          <a:prstGeom prst="ellipse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DBFC951-A309-41EE-8E0C-45AE4B99C126}"/>
              </a:ext>
            </a:extLst>
          </p:cNvPr>
          <p:cNvSpPr>
            <a:spLocks noGrp="1"/>
          </p:cNvSpPr>
          <p:nvPr/>
        </p:nvSpPr>
        <p:spPr>
          <a:xfrm>
            <a:off x="6200775" y="2047875"/>
            <a:ext cx="133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1–2 s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41D4B8E9-681B-4FDE-B4EA-64947E694D5C}"/>
              </a:ext>
            </a:extLst>
          </p:cNvPr>
          <p:cNvSpPr>
            <a:spLocks noGrp="1"/>
          </p:cNvSpPr>
          <p:nvPr/>
        </p:nvSpPr>
        <p:spPr>
          <a:xfrm>
            <a:off x="6067425" y="2371725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monitor更新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F5DBE7E-3434-4140-B980-AF686BC2FC8A}"/>
              </a:ext>
            </a:extLst>
          </p:cNvPr>
          <p:cNvSpPr>
            <a:spLocks noGrp="1"/>
          </p:cNvSpPr>
          <p:nvPr/>
        </p:nvSpPr>
        <p:spPr>
          <a:xfrm>
            <a:off x="6010275" y="26289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因果的な状態・bias更新</a:t>
            </a:r>
          </a:p>
        </p:txBody>
      </p:sp>
      <p:sp>
        <p:nvSpPr>
          <p:cNvPr id="43" name="直線コネクタ 42">
            <a:extLst>
              <a:ext uri="{FF2B5EF4-FFF2-40B4-BE49-F238E27FC236}">
                <a16:creationId xmlns:a16="http://schemas.microsoft.com/office/drawing/2014/main" id="{F138A907-F005-451A-99AE-51E4B25EBC72}"/>
              </a:ext>
            </a:extLst>
          </p:cNvPr>
          <p:cNvSpPr>
            <a:spLocks noGrp="1"/>
          </p:cNvSpPr>
          <p:nvPr/>
        </p:nvSpPr>
        <p:spPr>
          <a:xfrm>
            <a:off x="8429625" y="2371725"/>
            <a:ext cx="0" cy="352425"/>
          </a:xfrm>
          <a:prstGeom prst="line">
            <a:avLst/>
          </a:prstGeom>
          <a:noFill/>
          <a:ln w="28575">
            <a:solidFill>
              <a:srgbClr val="00A5D8"/>
            </a:solidFill>
            <a:prstDash val="solid"/>
          </a:ln>
        </p:spPr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CE6685D9-C90B-4A03-A5B4-EEA9A3EB6E49}"/>
              </a:ext>
            </a:extLst>
          </p:cNvPr>
          <p:cNvSpPr>
            <a:spLocks noGrp="1"/>
          </p:cNvSpPr>
          <p:nvPr/>
        </p:nvSpPr>
        <p:spPr>
          <a:xfrm>
            <a:off x="8362950" y="2476500"/>
            <a:ext cx="133350" cy="133350"/>
          </a:xfrm>
          <a:prstGeom prst="ellipse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BD726DE0-8F7D-4CFF-936A-785657DC94CE}"/>
              </a:ext>
            </a:extLst>
          </p:cNvPr>
          <p:cNvSpPr>
            <a:spLocks noGrp="1"/>
          </p:cNvSpPr>
          <p:nvPr/>
        </p:nvSpPr>
        <p:spPr>
          <a:xfrm>
            <a:off x="7762875" y="2943225"/>
            <a:ext cx="133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180–600 s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3646194-2068-4B10-A6EE-78605BDB86AC}"/>
              </a:ext>
            </a:extLst>
          </p:cNvPr>
          <p:cNvSpPr>
            <a:spLocks noGrp="1"/>
          </p:cNvSpPr>
          <p:nvPr/>
        </p:nvSpPr>
        <p:spPr>
          <a:xfrm>
            <a:off x="7629525" y="3267075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過渡recipe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7481AE8B-4E13-4ADE-9C74-1E46E6545BE0}"/>
              </a:ext>
            </a:extLst>
          </p:cNvPr>
          <p:cNvSpPr>
            <a:spLocks noGrp="1"/>
          </p:cNvSpPr>
          <p:nvPr/>
        </p:nvSpPr>
        <p:spPr>
          <a:xfrm>
            <a:off x="7572375" y="3524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forecast / fault event</a:t>
            </a:r>
          </a:p>
        </p:txBody>
      </p:sp>
      <p:sp>
        <p:nvSpPr>
          <p:cNvPr id="48" name="直線コネクタ 47">
            <a:extLst>
              <a:ext uri="{FF2B5EF4-FFF2-40B4-BE49-F238E27FC236}">
                <a16:creationId xmlns:a16="http://schemas.microsoft.com/office/drawing/2014/main" id="{91F5D624-D51A-4EA4-B3B9-AB2C142140DB}"/>
              </a:ext>
            </a:extLst>
          </p:cNvPr>
          <p:cNvSpPr>
            <a:spLocks noGrp="1"/>
          </p:cNvSpPr>
          <p:nvPr/>
        </p:nvSpPr>
        <p:spPr>
          <a:xfrm>
            <a:off x="10010775" y="2371725"/>
            <a:ext cx="0" cy="352425"/>
          </a:xfrm>
          <a:prstGeom prst="line">
            <a:avLst/>
          </a:prstGeom>
          <a:noFill/>
          <a:ln w="28575">
            <a:solidFill>
              <a:srgbClr val="7B2DAF"/>
            </a:solidFill>
            <a:prstDash val="solid"/>
          </a:ln>
        </p:spPr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61015DDC-8399-4E21-9CE1-96CB96A0F1A5}"/>
              </a:ext>
            </a:extLst>
          </p:cNvPr>
          <p:cNvSpPr>
            <a:spLocks noGrp="1"/>
          </p:cNvSpPr>
          <p:nvPr/>
        </p:nvSpPr>
        <p:spPr>
          <a:xfrm>
            <a:off x="9944100" y="2476500"/>
            <a:ext cx="133350" cy="133350"/>
          </a:xfrm>
          <a:prstGeom prst="ellipse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75C5AD12-BE0F-4AC0-883D-906B553282F2}"/>
              </a:ext>
            </a:extLst>
          </p:cNvPr>
          <p:cNvSpPr>
            <a:spLocks noGrp="1"/>
          </p:cNvSpPr>
          <p:nvPr/>
        </p:nvSpPr>
        <p:spPr>
          <a:xfrm>
            <a:off x="9344025" y="1819275"/>
            <a:ext cx="1333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492–3,950 s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87A34E1F-4178-4DE2-83CC-10E0C04F9E4E}"/>
              </a:ext>
            </a:extLst>
          </p:cNvPr>
          <p:cNvSpPr>
            <a:spLocks noGrp="1"/>
          </p:cNvSpPr>
          <p:nvPr/>
        </p:nvSpPr>
        <p:spPr>
          <a:xfrm>
            <a:off x="9210675" y="2143125"/>
            <a:ext cx="1600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局所mesh solve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32100A46-E8F5-46F7-A7B8-D127FC42CFAA}"/>
              </a:ext>
            </a:extLst>
          </p:cNvPr>
          <p:cNvSpPr>
            <a:spLocks noGrp="1"/>
          </p:cNvSpPr>
          <p:nvPr/>
        </p:nvSpPr>
        <p:spPr>
          <a:xfrm>
            <a:off x="9153525" y="24003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定常2ケースの実績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D19F0574-CA8A-4CB6-81A0-9B0AB5A2E30B}"/>
              </a:ext>
            </a:extLst>
          </p:cNvPr>
          <p:cNvSpPr>
            <a:spLocks noGrp="1"/>
          </p:cNvSpPr>
          <p:nvPr/>
        </p:nvSpPr>
        <p:spPr>
          <a:xfrm>
            <a:off x="6343650" y="4076700"/>
            <a:ext cx="5295900" cy="91440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27B53A2-8011-4883-8D54-4A9EA846EF07}"/>
              </a:ext>
            </a:extLst>
          </p:cNvPr>
          <p:cNvSpPr>
            <a:spLocks noGrp="1"/>
          </p:cNvSpPr>
          <p:nvPr/>
        </p:nvSpPr>
        <p:spPr>
          <a:xfrm>
            <a:off x="6581775" y="4248150"/>
            <a:ext cx="1714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共通の低次元状態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8235A35B-75E8-444B-92D4-0D6262C0F36C}"/>
              </a:ext>
            </a:extLst>
          </p:cNvPr>
          <p:cNvSpPr>
            <a:spLocks noGrp="1"/>
          </p:cNvSpPr>
          <p:nvPr/>
        </p:nvSpPr>
        <p:spPr>
          <a:xfrm>
            <a:off x="6581775" y="45339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CAE・実測を同じ熱収支へ写像し、予測と監視へ渡す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7ABE0983-DD8E-4307-A70F-54997F50BE18}"/>
              </a:ext>
            </a:extLst>
          </p:cNvPr>
          <p:cNvSpPr>
            <a:spLocks noGrp="1"/>
          </p:cNvSpPr>
          <p:nvPr/>
        </p:nvSpPr>
        <p:spPr>
          <a:xfrm>
            <a:off x="552450" y="524827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第三者が確認すべき問い</a:t>
            </a:r>
          </a:p>
        </p:txBody>
      </p:sp>
      <p:sp>
        <p:nvSpPr>
          <p:cNvPr id="57" name="直線コネクタ 56">
            <a:extLst>
              <a:ext uri="{FF2B5EF4-FFF2-40B4-BE49-F238E27FC236}">
                <a16:creationId xmlns:a16="http://schemas.microsoft.com/office/drawing/2014/main" id="{5D25142B-9F49-4324-9A86-5CC56524023E}"/>
              </a:ext>
            </a:extLst>
          </p:cNvPr>
          <p:cNvSpPr>
            <a:spLocks noGrp="1"/>
          </p:cNvSpPr>
          <p:nvPr/>
        </p:nvSpPr>
        <p:spPr>
          <a:xfrm>
            <a:off x="552450" y="5619750"/>
            <a:ext cx="3505200" cy="0"/>
          </a:xfrm>
          <a:prstGeom prst="line">
            <a:avLst/>
          </a:prstGeom>
          <a:noFill/>
          <a:ln w="38100">
            <a:solidFill>
              <a:srgbClr val="00A5D8"/>
            </a:solidFill>
            <a:prstDash val="solid"/>
          </a:ln>
        </p:spPr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D2A4BAB-6E28-4D7C-920D-CEADA6E65272}"/>
              </a:ext>
            </a:extLst>
          </p:cNvPr>
          <p:cNvSpPr>
            <a:spLocks noGrp="1"/>
          </p:cNvSpPr>
          <p:nvPr/>
        </p:nvSpPr>
        <p:spPr>
          <a:xfrm>
            <a:off x="552450" y="57054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温度予測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1332798B-D7AA-4420-9739-67CA845AE4A0}"/>
              </a:ext>
            </a:extLst>
          </p:cNvPr>
          <p:cNvSpPr>
            <a:spLocks noGrp="1"/>
          </p:cNvSpPr>
          <p:nvPr/>
        </p:nvSpPr>
        <p:spPr>
          <a:xfrm>
            <a:off x="1733550" y="5705475"/>
            <a:ext cx="2324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未学習recipeでも誤差が増えないか</a:t>
            </a:r>
          </a:p>
        </p:txBody>
      </p:sp>
      <p:sp>
        <p:nvSpPr>
          <p:cNvPr id="60" name="直線コネクタ 59">
            <a:extLst>
              <a:ext uri="{FF2B5EF4-FFF2-40B4-BE49-F238E27FC236}">
                <a16:creationId xmlns:a16="http://schemas.microsoft.com/office/drawing/2014/main" id="{2B7A74A5-6A80-4A3D-831A-C172F1C1AE96}"/>
              </a:ext>
            </a:extLst>
          </p:cNvPr>
          <p:cNvSpPr>
            <a:spLocks noGrp="1"/>
          </p:cNvSpPr>
          <p:nvPr/>
        </p:nvSpPr>
        <p:spPr>
          <a:xfrm>
            <a:off x="4248150" y="5619750"/>
            <a:ext cx="3505200" cy="0"/>
          </a:xfrm>
          <a:prstGeom prst="line">
            <a:avLst/>
          </a:prstGeom>
          <a:noFill/>
          <a:ln w="38100">
            <a:solidFill>
              <a:srgbClr val="76BE18"/>
            </a:solidFill>
            <a:prstDash val="solid"/>
          </a:ln>
        </p:spPr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45DDD9FB-1B7C-403E-B436-EAE4425618DE}"/>
              </a:ext>
            </a:extLst>
          </p:cNvPr>
          <p:cNvSpPr>
            <a:spLocks noGrp="1"/>
          </p:cNvSpPr>
          <p:nvPr/>
        </p:nvSpPr>
        <p:spPr>
          <a:xfrm>
            <a:off x="4248150" y="57054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異常診断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1960388-27C2-40EF-9E94-6063FB40FCA3}"/>
              </a:ext>
            </a:extLst>
          </p:cNvPr>
          <p:cNvSpPr>
            <a:spLocks noGrp="1"/>
          </p:cNvSpPr>
          <p:nvPr/>
        </p:nvSpPr>
        <p:spPr>
          <a:xfrm>
            <a:off x="5429250" y="5705475"/>
            <a:ext cx="2324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sensorずれと実発熱を分離できるか</a:t>
            </a:r>
          </a:p>
        </p:txBody>
      </p:sp>
      <p:sp>
        <p:nvSpPr>
          <p:cNvPr id="63" name="直線コネクタ 62">
            <a:extLst>
              <a:ext uri="{FF2B5EF4-FFF2-40B4-BE49-F238E27FC236}">
                <a16:creationId xmlns:a16="http://schemas.microsoft.com/office/drawing/2014/main" id="{A4F5B083-0A8D-4781-B9D2-C4FBCEB93F50}"/>
              </a:ext>
            </a:extLst>
          </p:cNvPr>
          <p:cNvSpPr>
            <a:spLocks noGrp="1"/>
          </p:cNvSpPr>
          <p:nvPr/>
        </p:nvSpPr>
        <p:spPr>
          <a:xfrm>
            <a:off x="7943850" y="5619750"/>
            <a:ext cx="3505200" cy="0"/>
          </a:xfrm>
          <a:prstGeom prst="line">
            <a:avLst/>
          </a:prstGeom>
          <a:noFill/>
          <a:ln w="38100">
            <a:solidFill>
              <a:srgbClr val="7B2DAF"/>
            </a:solidFill>
            <a:prstDash val="solid"/>
          </a:ln>
        </p:spPr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AB972A5-E294-4F30-AE77-E074A866FCF4}"/>
              </a:ext>
            </a:extLst>
          </p:cNvPr>
          <p:cNvSpPr>
            <a:spLocks noGrp="1"/>
          </p:cNvSpPr>
          <p:nvPr/>
        </p:nvSpPr>
        <p:spPr>
          <a:xfrm>
            <a:off x="7943850" y="57054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05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物理妥当性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414BD49D-BC19-450B-81EB-C3E78DF96FA7}"/>
              </a:ext>
            </a:extLst>
          </p:cNvPr>
          <p:cNvSpPr>
            <a:spLocks noGrp="1"/>
          </p:cNvSpPr>
          <p:nvPr/>
        </p:nvSpPr>
        <p:spPr>
          <a:xfrm>
            <a:off x="9124950" y="5705475"/>
            <a:ext cx="2324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6788"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mesh・放射・hotspot差を隠していないか</a:t>
            </a:r>
          </a:p>
        </p:txBody>
      </p:sp>
    </p:spTree>
    <p:extLst>
      <p:ext uri="{BB962C8B-B14F-4D97-AF65-F5344CB8AC3E}">
        <p14:creationId xmlns:p14="http://schemas.microsoft.com/office/powerpoint/2010/main" val="1547848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C8C80B79-BEC7-40A2-A6E2-4DB460E0B2E0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1BF06E-32E5-4688-9FEC-50C8CBFAF02F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CODE ARCHITECTURE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D4723E-CF3F-420B-BD6A-6130B3ABCAF0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コードの処理構成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C7DDC1E-FAC1-4FB5-95C7-BD64FD291E5E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データ契約、物理engine、学習、推論を分離し、同じartifactをforecastとmonitorで共有する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57A81267-5BC9-4CB5-8BC3-6687D5817CB9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AF2AAD9C-8886-4EBB-9DBC-BF4A61284E5D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9951BC6-C912-4526-B1B5-D5C6F27DBB4E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1706295-1D6F-4B34-989B-80C0D5E52E80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843B2E5-D7E5-4954-A3BD-3E1D289778F5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OFFLINE  同定と検証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0A857D3-1F37-47A1-8DE4-5997F672B713}"/>
              </a:ext>
            </a:extLst>
          </p:cNvPr>
          <p:cNvSpPr>
            <a:spLocks noGrp="1"/>
          </p:cNvSpPr>
          <p:nvPr/>
        </p:nvSpPr>
        <p:spPr>
          <a:xfrm>
            <a:off x="552450" y="1781175"/>
            <a:ext cx="1809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7278605-1A16-4307-AD3D-82592F6BCA53}"/>
              </a:ext>
            </a:extLst>
          </p:cNvPr>
          <p:cNvSpPr>
            <a:spLocks noGrp="1"/>
          </p:cNvSpPr>
          <p:nvPr/>
        </p:nvSpPr>
        <p:spPr>
          <a:xfrm>
            <a:off x="552450" y="1781175"/>
            <a:ext cx="1809750" cy="66675"/>
          </a:xfrm>
          <a:prstGeom prst="rect">
            <a:avLst/>
          </a:prstGeom>
          <a:solidFill>
            <a:srgbClr val="00A89D"/>
          </a:solidFill>
          <a:ln w="0">
            <a:noFill/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54D605F-2283-4D70-96F4-3AEA15B8AA4E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CSV / YAML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EF99A81-5ABF-43A5-9D00-10C9829EC6D7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00A89D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00A89D"/>
                </a:solidFill>
                <a:latin typeface="Yu Gothic"/>
                <a:ea typeface="Yu Gothic"/>
                <a:cs typeface="Yu Gothic"/>
              </a:rPr>
              <a:t>io/  config.py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ABFBCEF-0809-4F72-B543-0F6A698034D2}"/>
              </a:ext>
            </a:extLst>
          </p:cNvPr>
          <p:cNvSpPr>
            <a:spLocks noGrp="1"/>
          </p:cNvSpPr>
          <p:nvPr/>
        </p:nvSpPr>
        <p:spPr>
          <a:xfrm>
            <a:off x="2667000" y="1781175"/>
            <a:ext cx="1809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EA8CF1-2D3E-489F-AC8A-3FC9D02CB69C}"/>
              </a:ext>
            </a:extLst>
          </p:cNvPr>
          <p:cNvSpPr>
            <a:spLocks noGrp="1"/>
          </p:cNvSpPr>
          <p:nvPr/>
        </p:nvSpPr>
        <p:spPr>
          <a:xfrm>
            <a:off x="2667000" y="1781175"/>
            <a:ext cx="1809750" cy="66675"/>
          </a:xfrm>
          <a:prstGeom prst="rect">
            <a:avLst/>
          </a:prstGeom>
          <a:solidFill>
            <a:srgbClr val="007FA8"/>
          </a:solidFill>
          <a:ln w="0">
            <a:noFill/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285C7F8A-3120-415E-A570-98AEACBF26BB}"/>
              </a:ext>
            </a:extLst>
          </p:cNvPr>
          <p:cNvSpPr>
            <a:spLocks noGrp="1"/>
          </p:cNvSpPr>
          <p:nvPr/>
        </p:nvSpPr>
        <p:spPr>
          <a:xfrm>
            <a:off x="2800350" y="19716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契約検証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F8C6CEE-4C5F-42AC-8B0A-0367A432474D}"/>
              </a:ext>
            </a:extLst>
          </p:cNvPr>
          <p:cNvSpPr>
            <a:spLocks noGrp="1"/>
          </p:cNvSpPr>
          <p:nvPr/>
        </p:nvSpPr>
        <p:spPr>
          <a:xfrm>
            <a:off x="2800350" y="22860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domain/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68D6F80-EFF0-483C-984D-CBD71DAFCC4F}"/>
              </a:ext>
            </a:extLst>
          </p:cNvPr>
          <p:cNvSpPr>
            <a:spLocks noGrp="1"/>
          </p:cNvSpPr>
          <p:nvPr/>
        </p:nvSpPr>
        <p:spPr>
          <a:xfrm>
            <a:off x="4781550" y="1781175"/>
            <a:ext cx="1809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E37842F-7766-4A0D-8505-C059F38E0339}"/>
              </a:ext>
            </a:extLst>
          </p:cNvPr>
          <p:cNvSpPr>
            <a:spLocks noGrp="1"/>
          </p:cNvSpPr>
          <p:nvPr/>
        </p:nvSpPr>
        <p:spPr>
          <a:xfrm>
            <a:off x="4781550" y="1781175"/>
            <a:ext cx="1809750" cy="66675"/>
          </a:xfrm>
          <a:prstGeom prst="rect">
            <a:avLst/>
          </a:prstGeom>
          <a:solidFill>
            <a:srgbClr val="4D8710"/>
          </a:solidFill>
          <a:ln w="0">
            <a:noFill/>
            <a:prstDash val="solid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7B969FF-1C3A-43E7-99D0-47A65D89108D}"/>
              </a:ext>
            </a:extLst>
          </p:cNvPr>
          <p:cNvSpPr>
            <a:spLocks noGrp="1"/>
          </p:cNvSpPr>
          <p:nvPr/>
        </p:nvSpPr>
        <p:spPr>
          <a:xfrm>
            <a:off x="4914900" y="19716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熱RC積分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52C67BD-4B87-4965-BD1B-3FFDD5446E49}"/>
              </a:ext>
            </a:extLst>
          </p:cNvPr>
          <p:cNvSpPr>
            <a:spLocks noGrp="1"/>
          </p:cNvSpPr>
          <p:nvPr/>
        </p:nvSpPr>
        <p:spPr>
          <a:xfrm>
            <a:off x="4914900" y="22860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engine/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785FCF7-CD34-4813-8C38-5272D510025A}"/>
              </a:ext>
            </a:extLst>
          </p:cNvPr>
          <p:cNvSpPr>
            <a:spLocks noGrp="1"/>
          </p:cNvSpPr>
          <p:nvPr/>
        </p:nvSpPr>
        <p:spPr>
          <a:xfrm>
            <a:off x="6896100" y="1781175"/>
            <a:ext cx="180975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9AD05574-B413-4252-AA0B-1CF41A2F1872}"/>
              </a:ext>
            </a:extLst>
          </p:cNvPr>
          <p:cNvSpPr>
            <a:spLocks noGrp="1"/>
          </p:cNvSpPr>
          <p:nvPr/>
        </p:nvSpPr>
        <p:spPr>
          <a:xfrm>
            <a:off x="6896100" y="1781175"/>
            <a:ext cx="1809750" cy="66675"/>
          </a:xfrm>
          <a:prstGeom prst="rect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0641A17-2320-4B77-B847-9BEBC76737BF}"/>
              </a:ext>
            </a:extLst>
          </p:cNvPr>
          <p:cNvSpPr>
            <a:spLocks noGrp="1"/>
          </p:cNvSpPr>
          <p:nvPr/>
        </p:nvSpPr>
        <p:spPr>
          <a:xfrm>
            <a:off x="7029450" y="1971675"/>
            <a:ext cx="1543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robust同定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F37E18E-7D10-4F74-B607-81B2E588D735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learning/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B6CEC407-049B-421C-BFFA-012D2D66ACFF}"/>
              </a:ext>
            </a:extLst>
          </p:cNvPr>
          <p:cNvSpPr>
            <a:spLocks noGrp="1"/>
          </p:cNvSpPr>
          <p:nvPr/>
        </p:nvSpPr>
        <p:spPr>
          <a:xfrm>
            <a:off x="9010650" y="1781175"/>
            <a:ext cx="2628900" cy="895350"/>
          </a:xfrm>
          <a:prstGeom prst="rect">
            <a:avLst/>
          </a:prstGeom>
          <a:solidFill>
            <a:srgbClr val="FFFFFF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FE358F8-8849-442E-8CF3-8430D80ED554}"/>
              </a:ext>
            </a:extLst>
          </p:cNvPr>
          <p:cNvSpPr>
            <a:spLocks noGrp="1"/>
          </p:cNvSpPr>
          <p:nvPr/>
        </p:nvSpPr>
        <p:spPr>
          <a:xfrm>
            <a:off x="9010650" y="1781175"/>
            <a:ext cx="2628900" cy="66675"/>
          </a:xfrm>
          <a:prstGeom prst="rect">
            <a:avLst/>
          </a:prstGeom>
          <a:solidFill>
            <a:srgbClr val="8A6500"/>
          </a:solidFill>
          <a:ln w="0">
            <a:noFill/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7806D9E-B19C-4852-9E77-71175BEB9344}"/>
              </a:ext>
            </a:extLst>
          </p:cNvPr>
          <p:cNvSpPr>
            <a:spLocks noGrp="1"/>
          </p:cNvSpPr>
          <p:nvPr/>
        </p:nvSpPr>
        <p:spPr>
          <a:xfrm>
            <a:off x="9144000" y="1971675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配備artifact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70BEE60D-78C5-4352-B5C2-523111651EDF}"/>
              </a:ext>
            </a:extLst>
          </p:cNvPr>
          <p:cNvSpPr>
            <a:spLocks noGrp="1"/>
          </p:cNvSpPr>
          <p:nvPr/>
        </p:nvSpPr>
        <p:spPr>
          <a:xfrm>
            <a:off x="9144000" y="2286000"/>
            <a:ext cx="2362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model.pt  metadata.json</a:t>
            </a:r>
          </a:p>
        </p:txBody>
      </p:sp>
      <p:cxnSp>
        <p:nvCxnSpPr>
          <p:cNvPr id="83" name="直線矢印コネクタ 82"/>
          <p:cNvCxnSpPr>
            <a:stCxn id="10" idx="3"/>
            <a:endCxn id="14" idx="1"/>
          </p:cNvCxnSpPr>
          <p:nvPr/>
        </p:nvCxnSpPr>
        <p:spPr>
          <a:xfrm>
            <a:off x="2362200" y="2228850"/>
            <a:ext cx="3048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4" name="直線矢印コネクタ 83"/>
          <p:cNvCxnSpPr>
            <a:stCxn id="14" idx="3"/>
            <a:endCxn id="18" idx="1"/>
          </p:cNvCxnSpPr>
          <p:nvPr/>
        </p:nvCxnSpPr>
        <p:spPr>
          <a:xfrm>
            <a:off x="4476750" y="2228850"/>
            <a:ext cx="3048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5" name="直線矢印コネクタ 84"/>
          <p:cNvCxnSpPr>
            <a:stCxn id="18" idx="3"/>
            <a:endCxn id="22" idx="1"/>
          </p:cNvCxnSpPr>
          <p:nvPr/>
        </p:nvCxnSpPr>
        <p:spPr>
          <a:xfrm>
            <a:off x="6591300" y="2228850"/>
            <a:ext cx="3048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86" name="直線矢印コネクタ 85"/>
          <p:cNvCxnSpPr>
            <a:stCxn id="22" idx="3"/>
            <a:endCxn id="26" idx="1"/>
          </p:cNvCxnSpPr>
          <p:nvPr/>
        </p:nvCxnSpPr>
        <p:spPr>
          <a:xfrm>
            <a:off x="8705850" y="2228850"/>
            <a:ext cx="30480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ACBB506-4A91-4CA6-BB2A-C0CF29B18C30}"/>
              </a:ext>
            </a:extLst>
          </p:cNvPr>
          <p:cNvSpPr>
            <a:spLocks noGrp="1"/>
          </p:cNvSpPr>
          <p:nvPr/>
        </p:nvSpPr>
        <p:spPr>
          <a:xfrm>
            <a:off x="4781550" y="2943225"/>
            <a:ext cx="3924300" cy="62865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6B824F3-78A0-42D3-8C55-16FEEF78A664}"/>
              </a:ext>
            </a:extLst>
          </p:cNvPr>
          <p:cNvSpPr>
            <a:spLocks noGrp="1"/>
          </p:cNvSpPr>
          <p:nvPr/>
        </p:nvSpPr>
        <p:spPr>
          <a:xfrm>
            <a:off x="4981575" y="3057525"/>
            <a:ext cx="3524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C Ṫ = −L(u)T + q(u) + Gᵦ[T∞(u) − T]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BA6E64E6-C995-405A-A102-D6B36EC7F601}"/>
              </a:ext>
            </a:extLst>
          </p:cNvPr>
          <p:cNvSpPr>
            <a:spLocks noGrp="1"/>
          </p:cNvSpPr>
          <p:nvPr/>
        </p:nvSpPr>
        <p:spPr>
          <a:xfrm>
            <a:off x="8839200" y="3019425"/>
            <a:ext cx="2800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正値化した係数をcase-balanced Huber lossで同定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33F31D1-4A0F-4977-B4F3-5F4DE28AB6F5}"/>
              </a:ext>
            </a:extLst>
          </p:cNvPr>
          <p:cNvSpPr>
            <a:spLocks noGrp="1"/>
          </p:cNvSpPr>
          <p:nvPr/>
        </p:nvSpPr>
        <p:spPr>
          <a:xfrm>
            <a:off x="552450" y="38862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ONLINE  同じartifactを2つの因果workflowで使用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1902167-4F80-4917-A6B5-1806DFBC53FD}"/>
              </a:ext>
            </a:extLst>
          </p:cNvPr>
          <p:cNvSpPr>
            <a:spLocks noGrp="1"/>
          </p:cNvSpPr>
          <p:nvPr/>
        </p:nvSpPr>
        <p:spPr>
          <a:xfrm>
            <a:off x="552450" y="4352925"/>
            <a:ext cx="2019300" cy="1162050"/>
          </a:xfrm>
          <a:prstGeom prst="rect">
            <a:avLst/>
          </a:prstGeom>
          <a:solidFill>
            <a:srgbClr val="FFF5D7"/>
          </a:solidFill>
          <a:ln w="19050">
            <a:solidFill>
              <a:srgbClr val="E5A900"/>
            </a:solidFill>
            <a:prstDash val="solid"/>
          </a:ln>
        </p:spPr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C39DFEC1-8CEF-4029-8C71-025C196433B0}"/>
              </a:ext>
            </a:extLst>
          </p:cNvPr>
          <p:cNvSpPr>
            <a:spLocks noGrp="1"/>
          </p:cNvSpPr>
          <p:nvPr/>
        </p:nvSpPr>
        <p:spPr>
          <a:xfrm>
            <a:off x="781050" y="4505325"/>
            <a:ext cx="1562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artifact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2F1D1866-407C-4EEF-BDD3-14C3F5F212AE}"/>
              </a:ext>
            </a:extLst>
          </p:cNvPr>
          <p:cNvSpPr>
            <a:spLocks noGrp="1"/>
          </p:cNvSpPr>
          <p:nvPr/>
        </p:nvSpPr>
        <p:spPr>
          <a:xfrm>
            <a:off x="781050" y="4829175"/>
            <a:ext cx="15621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topology</a:t>
            </a:r>
          </a:p>
          <a:p>
            <a:pPr algn="ctr">
              <a:lnSpc>
                <a:spcPct val="112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係数・単位</a:t>
            </a:r>
          </a:p>
          <a:p>
            <a:pPr algn="ctr">
              <a:lnSpc>
                <a:spcPct val="112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schema / hash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DF010814-5713-41C0-A836-76B27F1084C7}"/>
              </a:ext>
            </a:extLst>
          </p:cNvPr>
          <p:cNvSpPr>
            <a:spLocks noGrp="1"/>
          </p:cNvSpPr>
          <p:nvPr/>
        </p:nvSpPr>
        <p:spPr>
          <a:xfrm>
            <a:off x="3381375" y="4219575"/>
            <a:ext cx="3429000" cy="1438275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D18A012-7E7F-4B40-8DA4-598D3665B0E8}"/>
              </a:ext>
            </a:extLst>
          </p:cNvPr>
          <p:cNvSpPr>
            <a:spLocks noGrp="1"/>
          </p:cNvSpPr>
          <p:nvPr/>
        </p:nvSpPr>
        <p:spPr>
          <a:xfrm>
            <a:off x="3619500" y="44005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forecast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9C0EF796-9631-40CB-8567-E81A1ED492EB}"/>
              </a:ext>
            </a:extLst>
          </p:cNvPr>
          <p:cNvSpPr>
            <a:spLocks noGrp="1"/>
          </p:cNvSpPr>
          <p:nvPr/>
        </p:nvSpPr>
        <p:spPr>
          <a:xfrm>
            <a:off x="3619500" y="4733925"/>
            <a:ext cx="2914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history同化  |  open-loop積分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317BAC7-0423-41C9-9946-86D8FFAAE850}"/>
              </a:ext>
            </a:extLst>
          </p:cNvPr>
          <p:cNvSpPr>
            <a:spLocks noGrp="1"/>
          </p:cNvSpPr>
          <p:nvPr/>
        </p:nvSpPr>
        <p:spPr>
          <a:xfrm>
            <a:off x="3619500" y="5095875"/>
            <a:ext cx="29146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将来温度・状態共分散・OOD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9472454F-3086-4738-A14A-81B0A27FD420}"/>
              </a:ext>
            </a:extLst>
          </p:cNvPr>
          <p:cNvSpPr>
            <a:spLocks noGrp="1"/>
          </p:cNvSpPr>
          <p:nvPr/>
        </p:nvSpPr>
        <p:spPr>
          <a:xfrm>
            <a:off x="7591425" y="4219575"/>
            <a:ext cx="4048125" cy="1438275"/>
          </a:xfrm>
          <a:prstGeom prst="rect">
            <a:avLst/>
          </a:prstGeom>
          <a:solidFill>
            <a:srgbClr val="EEF7DF"/>
          </a:solidFill>
          <a:ln w="19050">
            <a:solidFill>
              <a:srgbClr val="76BE18"/>
            </a:solidFill>
            <a:prstDash val="solid"/>
          </a:ln>
        </p:spPr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88D39284-4C5E-4E96-AEA1-C16CE7D2EE8E}"/>
              </a:ext>
            </a:extLst>
          </p:cNvPr>
          <p:cNvSpPr>
            <a:spLocks noGrp="1"/>
          </p:cNvSpPr>
          <p:nvPr/>
        </p:nvSpPr>
        <p:spPr>
          <a:xfrm>
            <a:off x="7829550" y="44005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42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monitor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26DC8C97-1400-43BB-9A32-B55BB61608C1}"/>
              </a:ext>
            </a:extLst>
          </p:cNvPr>
          <p:cNvSpPr>
            <a:spLocks noGrp="1"/>
          </p:cNvSpPr>
          <p:nvPr/>
        </p:nvSpPr>
        <p:spPr>
          <a:xfrm>
            <a:off x="7829550" y="4733925"/>
            <a:ext cx="3543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88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088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predict  |  innovation  |  update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B4DFF9DE-E676-40BF-8A3E-B9AAFE9FF3B9}"/>
              </a:ext>
            </a:extLst>
          </p:cNvPr>
          <p:cNvSpPr>
            <a:spLocks noGrp="1"/>
          </p:cNvSpPr>
          <p:nvPr/>
        </p:nvSpPr>
        <p:spPr>
          <a:xfrm>
            <a:off x="7829550" y="5095875"/>
            <a:ext cx="3543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物理状態・sensor bias・未知熱・NIS</a:t>
            </a:r>
          </a:p>
        </p:txBody>
      </p:sp>
      <p:cxnSp>
        <p:nvCxnSpPr>
          <p:cNvPr id="102" name="直線矢印コネクタ 101"/>
          <p:cNvCxnSpPr>
            <a:stCxn id="38" idx="3"/>
            <a:endCxn id="41" idx="1"/>
          </p:cNvCxnSpPr>
          <p:nvPr/>
        </p:nvCxnSpPr>
        <p:spPr>
          <a:xfrm>
            <a:off x="2571750" y="4933950"/>
            <a:ext cx="809625" cy="4763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cxnSp>
        <p:nvCxnSpPr>
          <p:cNvPr id="103" name="直線矢印コネクタ 102"/>
          <p:cNvCxnSpPr>
            <a:stCxn id="41" idx="3"/>
            <a:endCxn id="45" idx="1"/>
          </p:cNvCxnSpPr>
          <p:nvPr/>
        </p:nvCxnSpPr>
        <p:spPr>
          <a:xfrm>
            <a:off x="6810375" y="4938713"/>
            <a:ext cx="781050" cy="0"/>
          </a:xfrm>
          <a:prstGeom prst="straightConnector1">
            <a:avLst/>
          </a:prstGeom>
          <a:ln w="19050">
            <a:solidFill>
              <a:srgbClr val="4D8710"/>
            </a:solidFill>
            <a:prstDash val="solid"/>
            <a:tailEnd type="triangle" w="sm" len="sm"/>
          </a:ln>
        </p:spPr>
      </p:cxnSp>
      <p:sp>
        <p:nvSpPr>
          <p:cNvPr id="51" name="直線コネクタ 50">
            <a:extLst>
              <a:ext uri="{FF2B5EF4-FFF2-40B4-BE49-F238E27FC236}">
                <a16:creationId xmlns:a16="http://schemas.microsoft.com/office/drawing/2014/main" id="{C98F62F7-E6CB-46B1-8F30-9ABA686BB768}"/>
              </a:ext>
            </a:extLst>
          </p:cNvPr>
          <p:cNvSpPr>
            <a:spLocks noGrp="1"/>
          </p:cNvSpPr>
          <p:nvPr/>
        </p:nvSpPr>
        <p:spPr>
          <a:xfrm>
            <a:off x="552450" y="5962650"/>
            <a:ext cx="11087100" cy="0"/>
          </a:xfrm>
          <a:prstGeom prst="line">
            <a:avLst/>
          </a:prstGeom>
          <a:noFill/>
          <a:ln w="38100">
            <a:solidFill>
              <a:srgbClr val="201445"/>
            </a:solidFill>
            <a:prstDash val="solid"/>
          </a:ln>
        </p:spPr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98C7E521-364B-4899-AD9A-2183928794DA}"/>
              </a:ext>
            </a:extLst>
          </p:cNvPr>
          <p:cNvSpPr>
            <a:spLocks noGrp="1"/>
          </p:cNvSpPr>
          <p:nvPr/>
        </p:nvSpPr>
        <p:spPr>
          <a:xfrm>
            <a:off x="552450" y="603885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201445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201445"/>
                </a:solidFill>
                <a:latin typeface="Yu Gothic"/>
                <a:ea typeface="Yu Gothic"/>
                <a:cs typeface="Yu Gothic"/>
              </a:rPr>
              <a:t>責務境界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42591A7A-0234-4B2C-865A-641E4B5B6334}"/>
              </a:ext>
            </a:extLst>
          </p:cNvPr>
          <p:cNvSpPr>
            <a:spLocks noGrp="1"/>
          </p:cNvSpPr>
          <p:nvPr/>
        </p:nvSpPr>
        <p:spPr>
          <a:xfrm>
            <a:off x="1638300" y="6019800"/>
            <a:ext cx="10001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装置差は system.yaml と入力dataで表し、数値engineを装置名ごとに分岐しない</a:t>
            </a:r>
          </a:p>
        </p:txBody>
      </p:sp>
    </p:spTree>
    <p:extLst>
      <p:ext uri="{BB962C8B-B14F-4D97-AF65-F5344CB8AC3E}">
        <p14:creationId xmlns:p14="http://schemas.microsoft.com/office/powerpoint/2010/main" val="1283391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28F1196-1CA9-4224-A949-D2E6EC2D7691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8463898-C48C-4656-ABA9-B773FC00ABAA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BENCHMARK DESIGN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111B70-8C05-4A50-901B-71684850CC64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ベンチマークの問題設定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2D81498-561A-4D57-9385-9D84DF27DBE6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学習データと外部評価を物理的に分離し、汎化、観測可能性、故障帰属、model gapを別ケースで測る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A46E10C3-62F9-4719-825A-C5298025BAD6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080FEF97-F272-4B41-9FD6-194F624ECA4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F310BCE-B3E2-49D9-B75E-EC1C3A902C6F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2468BA0-6D0A-46FE-A026-ABCC4E0BAD0C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92D057C-D9F0-4EC2-BCBA-3D9B611D1C38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CA05F0B-209C-4523-881A-21D105758027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5229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4-node熱回路と観測式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88E704B-E7CC-4D97-8EC0-136393DFE3F6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5524500" cy="2562225"/>
          </a:xfrm>
          <a:prstGeom prst="rect">
            <a:avLst/>
          </a:prstGeom>
          <a:solidFill>
            <a:srgbClr val="F7F7F7"/>
          </a:solidFill>
          <a:ln w="9525">
            <a:solidFill>
              <a:srgbClr val="D3D3D3"/>
            </a:solidFill>
            <a:prstDash val="solid"/>
          </a:ln>
        </p:spPr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2EA39C6-820C-415B-88D5-2AAAA69992C5}"/>
              </a:ext>
            </a:extLst>
          </p:cNvPr>
          <p:cNvSpPr>
            <a:spLocks noGrp="1"/>
          </p:cNvSpPr>
          <p:nvPr/>
        </p:nvSpPr>
        <p:spPr>
          <a:xfrm>
            <a:off x="942975" y="2428875"/>
            <a:ext cx="704850" cy="704850"/>
          </a:xfrm>
          <a:prstGeom prst="ellipse">
            <a:avLst/>
          </a:prstGeom>
          <a:solidFill>
            <a:srgbClr val="FBE9E7"/>
          </a:solidFill>
          <a:ln w="19050">
            <a:solidFill>
              <a:srgbClr val="C4493D"/>
            </a:solidFill>
            <a:prstDash val="solid"/>
          </a:ln>
        </p:spPr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CFD68C0-D13C-418A-9F73-9D1412FD2860}"/>
              </a:ext>
            </a:extLst>
          </p:cNvPr>
          <p:cNvSpPr>
            <a:spLocks noGrp="1"/>
          </p:cNvSpPr>
          <p:nvPr/>
        </p:nvSpPr>
        <p:spPr>
          <a:xfrm>
            <a:off x="1028700" y="2505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C4493D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C4493D"/>
                </a:solidFill>
                <a:latin typeface="Cambria Math"/>
                <a:ea typeface="Cambria Math"/>
                <a:cs typeface="Cambria Math"/>
              </a:rPr>
              <a:t>T₁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668EAF0A-0672-4621-A046-EC3AEEE74D7C}"/>
              </a:ext>
            </a:extLst>
          </p:cNvPr>
          <p:cNvSpPr>
            <a:spLocks noGrp="1"/>
          </p:cNvSpPr>
          <p:nvPr/>
        </p:nvSpPr>
        <p:spPr>
          <a:xfrm>
            <a:off x="981075" y="28003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CP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7371899-775D-4195-9732-1D0B397E6830}"/>
              </a:ext>
            </a:extLst>
          </p:cNvPr>
          <p:cNvSpPr>
            <a:spLocks noGrp="1"/>
          </p:cNvSpPr>
          <p:nvPr/>
        </p:nvSpPr>
        <p:spPr>
          <a:xfrm>
            <a:off x="2247900" y="2428875"/>
            <a:ext cx="704850" cy="704850"/>
          </a:xfrm>
          <a:prstGeom prst="ellipse">
            <a:avLst/>
          </a:prstGeom>
          <a:solidFill>
            <a:srgbClr val="E5F6FB"/>
          </a:solidFill>
          <a:ln w="19050">
            <a:solidFill>
              <a:srgbClr val="007FA8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0290C32-59F3-4E25-B481-63936378346B}"/>
              </a:ext>
            </a:extLst>
          </p:cNvPr>
          <p:cNvSpPr>
            <a:spLocks noGrp="1"/>
          </p:cNvSpPr>
          <p:nvPr/>
        </p:nvSpPr>
        <p:spPr>
          <a:xfrm>
            <a:off x="2333625" y="2505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07FA8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007FA8"/>
                </a:solidFill>
                <a:latin typeface="Cambria Math"/>
                <a:ea typeface="Cambria Math"/>
                <a:cs typeface="Cambria Math"/>
              </a:rPr>
              <a:t>T₂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4D529E2-7982-4E45-8DD2-EEE2CC36AAC0}"/>
              </a:ext>
            </a:extLst>
          </p:cNvPr>
          <p:cNvSpPr>
            <a:spLocks noGrp="1"/>
          </p:cNvSpPr>
          <p:nvPr/>
        </p:nvSpPr>
        <p:spPr>
          <a:xfrm>
            <a:off x="2286000" y="28003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Center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8B417041-CFC7-44EF-A2D7-AF8C62AECDA8}"/>
              </a:ext>
            </a:extLst>
          </p:cNvPr>
          <p:cNvSpPr>
            <a:spLocks noGrp="1"/>
          </p:cNvSpPr>
          <p:nvPr/>
        </p:nvSpPr>
        <p:spPr>
          <a:xfrm>
            <a:off x="3552825" y="2428875"/>
            <a:ext cx="704850" cy="704850"/>
          </a:xfrm>
          <a:prstGeom prst="ellipse">
            <a:avLst/>
          </a:prstGeom>
          <a:solidFill>
            <a:srgbClr val="EEF7DF"/>
          </a:solidFill>
          <a:ln w="19050">
            <a:solidFill>
              <a:srgbClr val="4D8710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35388BC-05F9-4C3D-B0F4-8EA3043C3FEB}"/>
              </a:ext>
            </a:extLst>
          </p:cNvPr>
          <p:cNvSpPr>
            <a:spLocks noGrp="1"/>
          </p:cNvSpPr>
          <p:nvPr/>
        </p:nvSpPr>
        <p:spPr>
          <a:xfrm>
            <a:off x="3638550" y="2505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4D871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4D8710"/>
                </a:solidFill>
                <a:latin typeface="Cambria Math"/>
                <a:ea typeface="Cambria Math"/>
                <a:cs typeface="Cambria Math"/>
              </a:rPr>
              <a:t>T₃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E2C2320-CEFD-461D-B075-33870EAEF731}"/>
              </a:ext>
            </a:extLst>
          </p:cNvPr>
          <p:cNvSpPr>
            <a:spLocks noGrp="1"/>
          </p:cNvSpPr>
          <p:nvPr/>
        </p:nvSpPr>
        <p:spPr>
          <a:xfrm>
            <a:off x="3590925" y="28003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middle</a:t>
            </a: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6D0A604-D4F1-4390-8B55-0AF0A2087FDA}"/>
              </a:ext>
            </a:extLst>
          </p:cNvPr>
          <p:cNvSpPr>
            <a:spLocks noGrp="1"/>
          </p:cNvSpPr>
          <p:nvPr/>
        </p:nvSpPr>
        <p:spPr>
          <a:xfrm>
            <a:off x="4857750" y="2428875"/>
            <a:ext cx="704850" cy="704850"/>
          </a:xfrm>
          <a:prstGeom prst="ellipse">
            <a:avLst/>
          </a:prstGeom>
          <a:solidFill>
            <a:srgbClr val="EFE5F6"/>
          </a:solidFill>
          <a:ln w="19050">
            <a:solidFill>
              <a:srgbClr val="7B2DAF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18A8D51-C435-46E0-B168-9E3896068D30}"/>
              </a:ext>
            </a:extLst>
          </p:cNvPr>
          <p:cNvSpPr>
            <a:spLocks noGrp="1"/>
          </p:cNvSpPr>
          <p:nvPr/>
        </p:nvSpPr>
        <p:spPr>
          <a:xfrm>
            <a:off x="4943475" y="2505075"/>
            <a:ext cx="53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7B2DAF"/>
                </a:solidFill>
                <a:latin typeface="Cambria Math"/>
                <a:ea typeface="Cambria Math"/>
                <a:cs typeface="Cambria Math"/>
              </a:rPr>
              <a:t>T₄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DC8770E-AE44-4659-BC80-F93B20FB9F9C}"/>
              </a:ext>
            </a:extLst>
          </p:cNvPr>
          <p:cNvSpPr>
            <a:spLocks noGrp="1"/>
          </p:cNvSpPr>
          <p:nvPr/>
        </p:nvSpPr>
        <p:spPr>
          <a:xfrm>
            <a:off x="4895850" y="280035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788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edge</a:t>
            </a:r>
          </a:p>
        </p:txBody>
      </p:sp>
      <p:cxnSp>
        <p:nvCxnSpPr>
          <p:cNvPr id="100" name="直線矢印コネクタ 99"/>
          <p:cNvCxnSpPr>
            <a:stCxn id="12" idx="6"/>
            <a:endCxn id="15" idx="2"/>
          </p:cNvCxnSpPr>
          <p:nvPr/>
        </p:nvCxnSpPr>
        <p:spPr>
          <a:xfrm>
            <a:off x="1647825" y="2781300"/>
            <a:ext cx="600075" cy="0"/>
          </a:xfrm>
          <a:prstGeom prst="straightConnector1">
            <a:avLst/>
          </a:prstGeom>
          <a:ln w="19050">
            <a:solidFill>
              <a:srgbClr val="333333"/>
            </a:solidFill>
            <a:prstDash val="solid"/>
          </a:ln>
        </p:spPr>
      </p:cxnSp>
      <p:cxnSp>
        <p:nvCxnSpPr>
          <p:cNvPr id="101" name="直線矢印コネクタ 100"/>
          <p:cNvCxnSpPr>
            <a:stCxn id="15" idx="6"/>
            <a:endCxn id="18" idx="2"/>
          </p:cNvCxnSpPr>
          <p:nvPr/>
        </p:nvCxnSpPr>
        <p:spPr>
          <a:xfrm>
            <a:off x="2952750" y="2781300"/>
            <a:ext cx="600075" cy="0"/>
          </a:xfrm>
          <a:prstGeom prst="straightConnector1">
            <a:avLst/>
          </a:prstGeom>
          <a:ln w="19050">
            <a:solidFill>
              <a:srgbClr val="333333"/>
            </a:solidFill>
            <a:prstDash val="solid"/>
          </a:ln>
        </p:spPr>
      </p:cxnSp>
      <p:cxnSp>
        <p:nvCxnSpPr>
          <p:cNvPr id="102" name="直線矢印コネクタ 101"/>
          <p:cNvCxnSpPr>
            <a:stCxn id="18" idx="6"/>
            <a:endCxn id="21" idx="2"/>
          </p:cNvCxnSpPr>
          <p:nvPr/>
        </p:nvCxnSpPr>
        <p:spPr>
          <a:xfrm>
            <a:off x="4257675" y="2781300"/>
            <a:ext cx="600075" cy="0"/>
          </a:xfrm>
          <a:prstGeom prst="straightConnector1">
            <a:avLst/>
          </a:prstGeom>
          <a:ln w="19050">
            <a:solidFill>
              <a:srgbClr val="333333"/>
            </a:solidFill>
            <a:prstDash val="solid"/>
          </a:ln>
        </p:spPr>
      </p:cxnSp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C18035B6-10A1-43F1-B595-7BB0751989AC}"/>
              </a:ext>
            </a:extLst>
          </p:cNvPr>
          <p:cNvSpPr>
            <a:spLocks noGrp="1"/>
          </p:cNvSpPr>
          <p:nvPr/>
        </p:nvSpPr>
        <p:spPr>
          <a:xfrm>
            <a:off x="1647825" y="2781300"/>
            <a:ext cx="600075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99703E41-2B74-4DA4-B055-3FBEE7889C20}"/>
              </a:ext>
            </a:extLst>
          </p:cNvPr>
          <p:cNvSpPr>
            <a:spLocks noGrp="1"/>
          </p:cNvSpPr>
          <p:nvPr/>
        </p:nvSpPr>
        <p:spPr>
          <a:xfrm>
            <a:off x="1724025" y="2524125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defRPr>
            </a:pPr>
            <a:r>
              <a: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rPr>
              <a:t>G₁₂</a:t>
            </a:r>
          </a:p>
        </p:txBody>
      </p:sp>
      <p:sp>
        <p:nvSpPr>
          <p:cNvPr id="29" name="直線コネクタ 28">
            <a:extLst>
              <a:ext uri="{FF2B5EF4-FFF2-40B4-BE49-F238E27FC236}">
                <a16:creationId xmlns:a16="http://schemas.microsoft.com/office/drawing/2014/main" id="{AA413F48-3920-4E66-8142-3B50FFE014FE}"/>
              </a:ext>
            </a:extLst>
          </p:cNvPr>
          <p:cNvSpPr>
            <a:spLocks noGrp="1"/>
          </p:cNvSpPr>
          <p:nvPr/>
        </p:nvSpPr>
        <p:spPr>
          <a:xfrm>
            <a:off x="2952750" y="2781300"/>
            <a:ext cx="600075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5CFDAEC-EEC9-4C6F-A45A-754CDBB7671A}"/>
              </a:ext>
            </a:extLst>
          </p:cNvPr>
          <p:cNvSpPr>
            <a:spLocks noGrp="1"/>
          </p:cNvSpPr>
          <p:nvPr/>
        </p:nvSpPr>
        <p:spPr>
          <a:xfrm>
            <a:off x="3028950" y="2524125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defRPr>
            </a:pPr>
            <a:r>
              <a: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rPr>
              <a:t>G₂₃</a:t>
            </a:r>
          </a:p>
        </p:txBody>
      </p:sp>
      <p:sp>
        <p:nvSpPr>
          <p:cNvPr id="31" name="直線コネクタ 30">
            <a:extLst>
              <a:ext uri="{FF2B5EF4-FFF2-40B4-BE49-F238E27FC236}">
                <a16:creationId xmlns:a16="http://schemas.microsoft.com/office/drawing/2014/main" id="{C7C0B944-FE7E-4651-AC17-A29FBB3AFA54}"/>
              </a:ext>
            </a:extLst>
          </p:cNvPr>
          <p:cNvSpPr>
            <a:spLocks noGrp="1"/>
          </p:cNvSpPr>
          <p:nvPr/>
        </p:nvSpPr>
        <p:spPr>
          <a:xfrm>
            <a:off x="4257675" y="2781300"/>
            <a:ext cx="600075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C178F45-7C0A-479D-8BEC-360263B7ADAA}"/>
              </a:ext>
            </a:extLst>
          </p:cNvPr>
          <p:cNvSpPr>
            <a:spLocks noGrp="1"/>
          </p:cNvSpPr>
          <p:nvPr/>
        </p:nvSpPr>
        <p:spPr>
          <a:xfrm>
            <a:off x="4333875" y="2524125"/>
            <a:ext cx="4476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defRPr>
            </a:pPr>
            <a:r>
              <a:rPr sz="788" b="0" i="0">
                <a:solidFill>
                  <a:srgbClr val="777777"/>
                </a:solidFill>
                <a:latin typeface="Cambria Math"/>
                <a:ea typeface="Cambria Math"/>
                <a:cs typeface="Cambria Math"/>
              </a:rPr>
              <a:t>G₃₄</a:t>
            </a:r>
          </a:p>
        </p:txBody>
      </p:sp>
      <p:sp>
        <p:nvSpPr>
          <p:cNvPr id="33" name="直線コネクタ 32">
            <a:extLst>
              <a:ext uri="{FF2B5EF4-FFF2-40B4-BE49-F238E27FC236}">
                <a16:creationId xmlns:a16="http://schemas.microsoft.com/office/drawing/2014/main" id="{96D523D0-77C7-48BA-8C8D-642AFAB36466}"/>
              </a:ext>
            </a:extLst>
          </p:cNvPr>
          <p:cNvSpPr>
            <a:spLocks noGrp="1"/>
          </p:cNvSpPr>
          <p:nvPr/>
        </p:nvSpPr>
        <p:spPr>
          <a:xfrm>
            <a:off x="2600325" y="1943100"/>
            <a:ext cx="0" cy="485775"/>
          </a:xfrm>
          <a:prstGeom prst="line">
            <a:avLst/>
          </a:prstGeom>
          <a:noFill/>
          <a:ln w="28575">
            <a:solidFill>
              <a:srgbClr val="E5A900"/>
            </a:solidFill>
            <a:prstDash val="solid"/>
          </a:ln>
        </p:spPr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111181F-641D-4192-A68F-C5D69E82FE46}"/>
              </a:ext>
            </a:extLst>
          </p:cNvPr>
          <p:cNvSpPr>
            <a:spLocks noGrp="1"/>
          </p:cNvSpPr>
          <p:nvPr/>
        </p:nvSpPr>
        <p:spPr>
          <a:xfrm>
            <a:off x="2295525" y="1762125"/>
            <a:ext cx="609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heater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BDB3C8D9-35B5-43E1-AADD-5D3164AF89C0}"/>
              </a:ext>
            </a:extLst>
          </p:cNvPr>
          <p:cNvSpPr>
            <a:spLocks noGrp="1"/>
          </p:cNvSpPr>
          <p:nvPr/>
        </p:nvSpPr>
        <p:spPr>
          <a:xfrm>
            <a:off x="1295400" y="1943100"/>
            <a:ext cx="0" cy="485775"/>
          </a:xfrm>
          <a:prstGeom prst="line">
            <a:avLst/>
          </a:prstGeom>
          <a:noFill/>
          <a:ln w="28575">
            <a:solidFill>
              <a:srgbClr val="7B2DAF"/>
            </a:solidFill>
            <a:prstDash val="solid"/>
          </a:ln>
        </p:spPr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226F239C-5BB4-4281-8E27-DBCF7BEC96AC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68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plasma</a:t>
            </a:r>
          </a:p>
        </p:txBody>
      </p:sp>
      <p:sp>
        <p:nvSpPr>
          <p:cNvPr id="37" name="直線コネクタ 36">
            <a:extLst>
              <a:ext uri="{FF2B5EF4-FFF2-40B4-BE49-F238E27FC236}">
                <a16:creationId xmlns:a16="http://schemas.microsoft.com/office/drawing/2014/main" id="{68486C36-48F0-4796-8488-A1AAF6A62E53}"/>
              </a:ext>
            </a:extLst>
          </p:cNvPr>
          <p:cNvSpPr>
            <a:spLocks noGrp="1"/>
          </p:cNvSpPr>
          <p:nvPr/>
        </p:nvSpPr>
        <p:spPr>
          <a:xfrm>
            <a:off x="5210175" y="3133725"/>
            <a:ext cx="0" cy="457200"/>
          </a:xfrm>
          <a:prstGeom prst="line">
            <a:avLst/>
          </a:prstGeom>
          <a:noFill/>
          <a:ln w="28575">
            <a:solidFill>
              <a:srgbClr val="00A89D"/>
            </a:solidFill>
            <a:prstDash val="solid"/>
          </a:ln>
        </p:spPr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C86DF357-9A03-4696-8895-D7A722D70989}"/>
              </a:ext>
            </a:extLst>
          </p:cNvPr>
          <p:cNvSpPr>
            <a:spLocks noGrp="1"/>
          </p:cNvSpPr>
          <p:nvPr/>
        </p:nvSpPr>
        <p:spPr>
          <a:xfrm>
            <a:off x="4876800" y="3648075"/>
            <a:ext cx="66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00" b="1" i="0">
                <a:solidFill>
                  <a:srgbClr val="00A89D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A89D"/>
                </a:solidFill>
                <a:latin typeface="Yu Gothic"/>
                <a:ea typeface="Yu Gothic"/>
                <a:cs typeface="Yu Gothic"/>
              </a:rPr>
              <a:t>brine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6B1E21D-4D03-4EE0-A0F2-D7D1ABBAC054}"/>
              </a:ext>
            </a:extLst>
          </p:cNvPr>
          <p:cNvSpPr>
            <a:spLocks noGrp="1"/>
          </p:cNvSpPr>
          <p:nvPr/>
        </p:nvSpPr>
        <p:spPr>
          <a:xfrm>
            <a:off x="876300" y="3562350"/>
            <a:ext cx="2590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 i="0">
                <a:solidFill>
                  <a:srgbClr val="201445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201445"/>
                </a:solidFill>
                <a:latin typeface="Cambria Math"/>
                <a:ea typeface="Cambria Math"/>
                <a:cs typeface="Cambria Math"/>
              </a:rPr>
              <a:t>y = H T + β + v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4D276497-FABC-47B9-B9E0-C29AFDD4F5F7}"/>
              </a:ext>
            </a:extLst>
          </p:cNvPr>
          <p:cNvSpPr>
            <a:spLocks noGrp="1"/>
          </p:cNvSpPr>
          <p:nvPr/>
        </p:nvSpPr>
        <p:spPr>
          <a:xfrm>
            <a:off x="3371850" y="3552825"/>
            <a:ext cx="24193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1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unknown heat d は既知source分布上で推定</a:t>
            </a: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6BA5B43-CA39-4F76-B2E1-A1797D8B9002}"/>
              </a:ext>
            </a:extLst>
          </p:cNvPr>
          <p:cNvSpPr>
            <a:spLocks noGrp="1"/>
          </p:cNvSpPr>
          <p:nvPr/>
        </p:nvSpPr>
        <p:spPr>
          <a:xfrm>
            <a:off x="64198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A541F3C-B762-438F-8DF4-964C650BA1CA}"/>
              </a:ext>
            </a:extLst>
          </p:cNvPr>
          <p:cNvSpPr>
            <a:spLocks noGrp="1"/>
          </p:cNvSpPr>
          <p:nvPr/>
        </p:nvSpPr>
        <p:spPr>
          <a:xfrm>
            <a:off x="6715125" y="1362075"/>
            <a:ext cx="4924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学習と外部評価の境界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5B1A5C1-5495-4CAD-87E7-C3FC6BBA3DBD}"/>
              </a:ext>
            </a:extLst>
          </p:cNvPr>
          <p:cNvSpPr>
            <a:spLocks noGrp="1"/>
          </p:cNvSpPr>
          <p:nvPr/>
        </p:nvSpPr>
        <p:spPr>
          <a:xfrm>
            <a:off x="6419850" y="1781175"/>
            <a:ext cx="2381250" cy="1123950"/>
          </a:xfrm>
          <a:prstGeom prst="rect">
            <a:avLst/>
          </a:prstGeom>
          <a:solidFill>
            <a:srgbClr val="E5F6FB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8BF8E6FE-C583-4FC2-8B8C-0BCDDCE39454}"/>
              </a:ext>
            </a:extLst>
          </p:cNvPr>
          <p:cNvSpPr>
            <a:spLocks noGrp="1"/>
          </p:cNvSpPr>
          <p:nvPr/>
        </p:nvSpPr>
        <p:spPr>
          <a:xfrm>
            <a:off x="6638925" y="19716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同定 228軌道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CF1BE82-C8D3-4B90-905B-6D482D651BB2}"/>
              </a:ext>
            </a:extLst>
          </p:cNvPr>
          <p:cNvSpPr>
            <a:spLocks noGrp="1"/>
          </p:cNvSpPr>
          <p:nvPr/>
        </p:nvSpPr>
        <p:spPr>
          <a:xfrm>
            <a:off x="6638925" y="2352675"/>
            <a:ext cx="1943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192 steady  +  36 step/ramp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7DA99225-1E7D-435F-AC46-42944BD9EFA3}"/>
              </a:ext>
            </a:extLst>
          </p:cNvPr>
          <p:cNvSpPr>
            <a:spLocks noGrp="1"/>
          </p:cNvSpPr>
          <p:nvPr/>
        </p:nvSpPr>
        <p:spPr>
          <a:xfrm>
            <a:off x="9277350" y="1962150"/>
            <a:ext cx="2362200" cy="762000"/>
          </a:xfrm>
          <a:prstGeom prst="rect">
            <a:avLst/>
          </a:prstGeom>
          <a:solidFill>
            <a:srgbClr val="FFF5D7"/>
          </a:solidFill>
          <a:ln w="19050">
            <a:solidFill>
              <a:srgbClr val="E5A900"/>
            </a:solidFill>
            <a:prstDash val="solid"/>
          </a:ln>
        </p:spPr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98D5FC18-6384-472D-B2E2-756902A81DD7}"/>
              </a:ext>
            </a:extLst>
          </p:cNvPr>
          <p:cNvSpPr>
            <a:spLocks noGrp="1"/>
          </p:cNvSpPr>
          <p:nvPr/>
        </p:nvSpPr>
        <p:spPr>
          <a:xfrm>
            <a:off x="9477375" y="211455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固定artifact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3B22EBE-FADF-4696-AA3B-803C0F654D1D}"/>
              </a:ext>
            </a:extLst>
          </p:cNvPr>
          <p:cNvSpPr>
            <a:spLocks noGrp="1"/>
          </p:cNvSpPr>
          <p:nvPr/>
        </p:nvSpPr>
        <p:spPr>
          <a:xfrm>
            <a:off x="9477375" y="2390775"/>
            <a:ext cx="1962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外部caseを学習探索から除外</a:t>
            </a:r>
          </a:p>
        </p:txBody>
      </p:sp>
      <p:cxnSp>
        <p:nvCxnSpPr>
          <p:cNvPr id="125" name="直線矢印コネクタ 124"/>
          <p:cNvCxnSpPr>
            <a:stCxn id="43" idx="3"/>
            <a:endCxn id="46" idx="1"/>
          </p:cNvCxnSpPr>
          <p:nvPr/>
        </p:nvCxnSpPr>
        <p:spPr>
          <a:xfrm>
            <a:off x="8801100" y="2343150"/>
            <a:ext cx="476250" cy="0"/>
          </a:xfrm>
          <a:prstGeom prst="straightConnector1">
            <a:avLst/>
          </a:prstGeom>
          <a:ln w="19050">
            <a:solidFill>
              <a:srgbClr val="007FA8"/>
            </a:solidFill>
            <a:prstDash val="solid"/>
            <a:tailEnd type="triangle" w="sm" len="sm"/>
          </a:ln>
        </p:spPr>
      </p:cxn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FD668497-8987-40E4-A148-60C4B499F8CE}"/>
              </a:ext>
            </a:extLst>
          </p:cNvPr>
          <p:cNvSpPr>
            <a:spLocks noGrp="1"/>
          </p:cNvSpPr>
          <p:nvPr/>
        </p:nvSpPr>
        <p:spPr>
          <a:xfrm>
            <a:off x="6419850" y="3295650"/>
            <a:ext cx="1581150" cy="962025"/>
          </a:xfrm>
          <a:prstGeom prst="rect">
            <a:avLst/>
          </a:prstGeom>
          <a:solidFill>
            <a:srgbClr val="FFFFFF"/>
          </a:solidFill>
          <a:ln w="19050">
            <a:solidFill>
              <a:srgbClr val="00A5D8"/>
            </a:solidFill>
            <a:prstDash val="solid"/>
          </a:ln>
        </p:spPr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2B41DF8-DA75-4337-9B68-E199739F9EFD}"/>
              </a:ext>
            </a:extLst>
          </p:cNvPr>
          <p:cNvSpPr>
            <a:spLocks noGrp="1"/>
          </p:cNvSpPr>
          <p:nvPr/>
        </p:nvSpPr>
        <p:spPr>
          <a:xfrm>
            <a:off x="6543675" y="3419475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BD769D3B-5A5D-4BC8-A057-92107A7E322A}"/>
              </a:ext>
            </a:extLst>
          </p:cNvPr>
          <p:cNvSpPr>
            <a:spLocks noGrp="1"/>
          </p:cNvSpPr>
          <p:nvPr/>
        </p:nvSpPr>
        <p:spPr>
          <a:xfrm>
            <a:off x="7010400" y="34480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forecast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A0AE8B0-6FA3-4402-A467-09796B1A2BEB}"/>
              </a:ext>
            </a:extLst>
          </p:cNvPr>
          <p:cNvSpPr>
            <a:spLocks noGrp="1"/>
          </p:cNvSpPr>
          <p:nvPr/>
        </p:nvSpPr>
        <p:spPr>
          <a:xfrm>
            <a:off x="6562725" y="38385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未知level・波形・dt</a:t>
            </a: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8AD3701D-5142-4BE4-A732-E44A5B0CB440}"/>
              </a:ext>
            </a:extLst>
          </p:cNvPr>
          <p:cNvSpPr>
            <a:spLocks noGrp="1"/>
          </p:cNvSpPr>
          <p:nvPr/>
        </p:nvSpPr>
        <p:spPr>
          <a:xfrm>
            <a:off x="8153400" y="3295650"/>
            <a:ext cx="1581150" cy="962025"/>
          </a:xfrm>
          <a:prstGeom prst="rect">
            <a:avLst/>
          </a:prstGeom>
          <a:solidFill>
            <a:srgbClr val="FFFFFF"/>
          </a:solidFill>
          <a:ln w="19050">
            <a:solidFill>
              <a:srgbClr val="76BE18"/>
            </a:solidFill>
            <a:prstDash val="solid"/>
          </a:ln>
        </p:spPr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6C478B64-52C5-4884-93E6-1F5CE82D891D}"/>
              </a:ext>
            </a:extLst>
          </p:cNvPr>
          <p:cNvSpPr>
            <a:spLocks noGrp="1"/>
          </p:cNvSpPr>
          <p:nvPr/>
        </p:nvSpPr>
        <p:spPr>
          <a:xfrm>
            <a:off x="8277225" y="3419475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92CE0218-0F1F-4127-B5D4-58A2205DDA99}"/>
              </a:ext>
            </a:extLst>
          </p:cNvPr>
          <p:cNvSpPr>
            <a:spLocks noGrp="1"/>
          </p:cNvSpPr>
          <p:nvPr/>
        </p:nvSpPr>
        <p:spPr>
          <a:xfrm>
            <a:off x="8743950" y="34480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monitor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C32F9D1-A656-4D7A-B3F4-14BDF0EA2C60}"/>
              </a:ext>
            </a:extLst>
          </p:cNvPr>
          <p:cNvSpPr>
            <a:spLocks noGrp="1"/>
          </p:cNvSpPr>
          <p:nvPr/>
        </p:nvSpPr>
        <p:spPr>
          <a:xfrm>
            <a:off x="8296275" y="3838575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noise・fault・欠測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BA4E28F6-6B37-45CD-AAB1-4368658C1C7C}"/>
              </a:ext>
            </a:extLst>
          </p:cNvPr>
          <p:cNvSpPr>
            <a:spLocks noGrp="1"/>
          </p:cNvSpPr>
          <p:nvPr/>
        </p:nvSpPr>
        <p:spPr>
          <a:xfrm>
            <a:off x="9886950" y="3295650"/>
            <a:ext cx="1752600" cy="962025"/>
          </a:xfrm>
          <a:prstGeom prst="rect">
            <a:avLst/>
          </a:prstGeom>
          <a:solidFill>
            <a:srgbClr val="FFFFFF"/>
          </a:solidFill>
          <a:ln w="19050">
            <a:solidFill>
              <a:srgbClr val="C4493D"/>
            </a:solidFill>
            <a:prstDash val="solid"/>
          </a:ln>
        </p:spPr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731BD1B-EAE7-4E00-BF9F-63624CF87664}"/>
              </a:ext>
            </a:extLst>
          </p:cNvPr>
          <p:cNvSpPr>
            <a:spLocks noGrp="1"/>
          </p:cNvSpPr>
          <p:nvPr/>
        </p:nvSpPr>
        <p:spPr>
          <a:xfrm>
            <a:off x="10010775" y="3419475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100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2100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FE4768A6-1058-4B35-8074-D43585D2B5F3}"/>
              </a:ext>
            </a:extLst>
          </p:cNvPr>
          <p:cNvSpPr>
            <a:spLocks noGrp="1"/>
          </p:cNvSpPr>
          <p:nvPr/>
        </p:nvSpPr>
        <p:spPr>
          <a:xfrm>
            <a:off x="10477500" y="3448050"/>
            <a:ext cx="1047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model gap</a:t>
            </a: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5E93653-E664-4ECC-AC7A-63A643038A3A}"/>
              </a:ext>
            </a:extLst>
          </p:cNvPr>
          <p:cNvSpPr>
            <a:spLocks noGrp="1"/>
          </p:cNvSpPr>
          <p:nvPr/>
        </p:nvSpPr>
        <p:spPr>
          <a:xfrm>
            <a:off x="10029825" y="38385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非線形熱損失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AB4088D-FF95-4311-8C2A-61C67FE14679}"/>
              </a:ext>
            </a:extLst>
          </p:cNvPr>
          <p:cNvSpPr>
            <a:spLocks noGrp="1"/>
          </p:cNvSpPr>
          <p:nvPr/>
        </p:nvSpPr>
        <p:spPr>
          <a:xfrm>
            <a:off x="552450" y="4619625"/>
            <a:ext cx="1047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評価軸</a:t>
            </a:r>
          </a:p>
        </p:txBody>
      </p:sp>
      <p:sp>
        <p:nvSpPr>
          <p:cNvPr id="63" name="直線コネクタ 62">
            <a:extLst>
              <a:ext uri="{FF2B5EF4-FFF2-40B4-BE49-F238E27FC236}">
                <a16:creationId xmlns:a16="http://schemas.microsoft.com/office/drawing/2014/main" id="{4ECBA716-AD44-4941-9F7D-C5FFF5F24632}"/>
              </a:ext>
            </a:extLst>
          </p:cNvPr>
          <p:cNvSpPr>
            <a:spLocks noGrp="1"/>
          </p:cNvSpPr>
          <p:nvPr/>
        </p:nvSpPr>
        <p:spPr>
          <a:xfrm>
            <a:off x="552450" y="5038725"/>
            <a:ext cx="2571750" cy="0"/>
          </a:xfrm>
          <a:prstGeom prst="line">
            <a:avLst/>
          </a:prstGeom>
          <a:noFill/>
          <a:ln w="38100">
            <a:solidFill>
              <a:srgbClr val="00A5D8"/>
            </a:solidFill>
            <a:prstDash val="solid"/>
          </a:ln>
        </p:spPr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A0B20E81-5230-4DB1-A12F-1118CD1BBAA9}"/>
              </a:ext>
            </a:extLst>
          </p:cNvPr>
          <p:cNvSpPr>
            <a:spLocks noGrp="1"/>
          </p:cNvSpPr>
          <p:nvPr/>
        </p:nvSpPr>
        <p:spPr>
          <a:xfrm>
            <a:off x="552450" y="5143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Generalization</a:t>
            </a: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A12A7A1C-7710-4394-9F80-66DCD41FAB2C}"/>
              </a:ext>
            </a:extLst>
          </p:cNvPr>
          <p:cNvSpPr>
            <a:spLocks noGrp="1"/>
          </p:cNvSpPr>
          <p:nvPr/>
        </p:nvSpPr>
        <p:spPr>
          <a:xfrm>
            <a:off x="552450" y="54578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RMSE / worst case / prior比較</a:t>
            </a:r>
          </a:p>
        </p:txBody>
      </p:sp>
      <p:sp>
        <p:nvSpPr>
          <p:cNvPr id="66" name="直線コネクタ 65">
            <a:extLst>
              <a:ext uri="{FF2B5EF4-FFF2-40B4-BE49-F238E27FC236}">
                <a16:creationId xmlns:a16="http://schemas.microsoft.com/office/drawing/2014/main" id="{E7ADED6C-289E-4250-9AD6-2B21E38F46FB}"/>
              </a:ext>
            </a:extLst>
          </p:cNvPr>
          <p:cNvSpPr>
            <a:spLocks noGrp="1"/>
          </p:cNvSpPr>
          <p:nvPr/>
        </p:nvSpPr>
        <p:spPr>
          <a:xfrm>
            <a:off x="3324225" y="5038725"/>
            <a:ext cx="2571750" cy="0"/>
          </a:xfrm>
          <a:prstGeom prst="line">
            <a:avLst/>
          </a:prstGeom>
          <a:noFill/>
          <a:ln w="38100">
            <a:solidFill>
              <a:srgbClr val="76BE18"/>
            </a:solidFill>
            <a:prstDash val="solid"/>
          </a:ln>
        </p:spPr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250A84B7-2E8A-4BD2-94FB-744D00330E30}"/>
              </a:ext>
            </a:extLst>
          </p:cNvPr>
          <p:cNvSpPr>
            <a:spLocks noGrp="1"/>
          </p:cNvSpPr>
          <p:nvPr/>
        </p:nvSpPr>
        <p:spPr>
          <a:xfrm>
            <a:off x="3324225" y="5143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Causality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0C48F76B-2AFC-408A-861C-CCE9908E6DF0}"/>
              </a:ext>
            </a:extLst>
          </p:cNvPr>
          <p:cNvSpPr>
            <a:spLocks noGrp="1"/>
          </p:cNvSpPr>
          <p:nvPr/>
        </p:nvSpPr>
        <p:spPr>
          <a:xfrm>
            <a:off x="3324225" y="54578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未来観測なし / history handoff</a:t>
            </a:r>
          </a:p>
        </p:txBody>
      </p:sp>
      <p:sp>
        <p:nvSpPr>
          <p:cNvPr id="69" name="直線コネクタ 68">
            <a:extLst>
              <a:ext uri="{FF2B5EF4-FFF2-40B4-BE49-F238E27FC236}">
                <a16:creationId xmlns:a16="http://schemas.microsoft.com/office/drawing/2014/main" id="{343014F5-326A-426F-8E1D-2C909F7ACE37}"/>
              </a:ext>
            </a:extLst>
          </p:cNvPr>
          <p:cNvSpPr>
            <a:spLocks noGrp="1"/>
          </p:cNvSpPr>
          <p:nvPr/>
        </p:nvSpPr>
        <p:spPr>
          <a:xfrm>
            <a:off x="6096000" y="5038725"/>
            <a:ext cx="2571750" cy="0"/>
          </a:xfrm>
          <a:prstGeom prst="line">
            <a:avLst/>
          </a:prstGeom>
          <a:noFill/>
          <a:ln w="38100">
            <a:solidFill>
              <a:srgbClr val="7B2DAF"/>
            </a:solidFill>
            <a:prstDash val="solid"/>
          </a:ln>
        </p:spPr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DA780EE9-2752-425E-BEBB-81BFEE1451A4}"/>
              </a:ext>
            </a:extLst>
          </p:cNvPr>
          <p:cNvSpPr>
            <a:spLocks noGrp="1"/>
          </p:cNvSpPr>
          <p:nvPr/>
        </p:nvSpPr>
        <p:spPr>
          <a:xfrm>
            <a:off x="6096000" y="5143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Attribution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F4F5D7D5-6D5F-4F5B-8D48-64C7898DCD00}"/>
              </a:ext>
            </a:extLst>
          </p:cNvPr>
          <p:cNvSpPr>
            <a:spLocks noGrp="1"/>
          </p:cNvSpPr>
          <p:nvPr/>
        </p:nvSpPr>
        <p:spPr>
          <a:xfrm>
            <a:off x="6096000" y="54578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bias / unknown heat / NIS</a:t>
            </a:r>
          </a:p>
        </p:txBody>
      </p:sp>
      <p:sp>
        <p:nvSpPr>
          <p:cNvPr id="72" name="直線コネクタ 71">
            <a:extLst>
              <a:ext uri="{FF2B5EF4-FFF2-40B4-BE49-F238E27FC236}">
                <a16:creationId xmlns:a16="http://schemas.microsoft.com/office/drawing/2014/main" id="{F1A20479-2A6C-4BC0-8627-4C2BF5269C89}"/>
              </a:ext>
            </a:extLst>
          </p:cNvPr>
          <p:cNvSpPr>
            <a:spLocks noGrp="1"/>
          </p:cNvSpPr>
          <p:nvPr/>
        </p:nvSpPr>
        <p:spPr>
          <a:xfrm>
            <a:off x="8867775" y="5038725"/>
            <a:ext cx="2571750" cy="0"/>
          </a:xfrm>
          <a:prstGeom prst="line">
            <a:avLst/>
          </a:prstGeom>
          <a:noFill/>
          <a:ln w="38100">
            <a:solidFill>
              <a:srgbClr val="C4493D"/>
            </a:solidFill>
            <a:prstDash val="solid"/>
          </a:ln>
        </p:spPr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9C50040C-8DE4-4308-B6B5-D914AD635CA4}"/>
              </a:ext>
            </a:extLst>
          </p:cNvPr>
          <p:cNvSpPr>
            <a:spLocks noGrp="1"/>
          </p:cNvSpPr>
          <p:nvPr/>
        </p:nvSpPr>
        <p:spPr>
          <a:xfrm>
            <a:off x="8867775" y="5143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Adequacy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AF566CB9-28B1-4354-926E-842BC2825DDA}"/>
              </a:ext>
            </a:extLst>
          </p:cNvPr>
          <p:cNvSpPr>
            <a:spLocks noGrp="1"/>
          </p:cNvSpPr>
          <p:nvPr/>
        </p:nvSpPr>
        <p:spPr>
          <a:xfrm>
            <a:off x="8867775" y="5457825"/>
            <a:ext cx="2571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意図的model gapを露出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5B4795C1-9805-4E4D-B694-704A76EF321E}"/>
              </a:ext>
            </a:extLst>
          </p:cNvPr>
          <p:cNvSpPr>
            <a:spLocks noGrp="1"/>
          </p:cNvSpPr>
          <p:nvPr/>
        </p:nvSpPr>
        <p:spPr>
          <a:xfrm>
            <a:off x="552450" y="5934075"/>
            <a:ext cx="11087100" cy="34290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2CA66596-0BC4-4389-9FAE-0EDA996ED5C8}"/>
              </a:ext>
            </a:extLst>
          </p:cNvPr>
          <p:cNvSpPr>
            <a:spLocks noGrp="1"/>
          </p:cNvSpPr>
          <p:nvPr/>
        </p:nvSpPr>
        <p:spPr>
          <a:xfrm>
            <a:off x="695325" y="5991225"/>
            <a:ext cx="10801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単位：温度差 K、熱量 W、時間 s。forecastはopen-loop、monitorは因果更新。</a:t>
            </a:r>
          </a:p>
        </p:txBody>
      </p:sp>
    </p:spTree>
    <p:extLst>
      <p:ext uri="{BB962C8B-B14F-4D97-AF65-F5344CB8AC3E}">
        <p14:creationId xmlns:p14="http://schemas.microsoft.com/office/powerpoint/2010/main" val="92154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D3C5BE7-035B-446F-BF82-00C1CD47032C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A65AA7-D917-4D88-883E-FBC697CB0F09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RESULT 1 / GENERALIZATION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F8E7C2F-B43A-4CA9-BAE3-B8C375AC61BC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外部11ケースは精度基準内、F11は構造不一致として分離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55BFFC-B1D2-4CD0-AC6A-5DC2A53807C7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予測誤差は低いほど良い。negative controlのF11だけは高い誤差が正しい判定となる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780A3B53-669D-48CD-A005-E690DF2C1FBE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E1739F4A-749A-4E52-AA48-341D56829EC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D5647A-904F-4EE4-8476-41522E8B83B2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8A7B93-4E5B-4432-A2E2-31C20F47EF2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662A60E-C378-42C0-A97C-71E593E788CB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1C9C8EA-4981-4322-BEE6-8EAAD2F897CB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503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予測精度と合格上限（低いほど良い）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552450" y="1676400"/>
          <a:ext cx="5334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1C5602-D8E2-4026-ADC8-44D37A6FC6B1}"/>
              </a:ext>
            </a:extLst>
          </p:cNvPr>
          <p:cNvSpPr>
            <a:spLocks noGrp="1"/>
          </p:cNvSpPr>
          <p:nvPr/>
        </p:nvSpPr>
        <p:spPr>
          <a:xfrm>
            <a:off x="628650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04D8F19-1690-405F-9B09-AA0BB5CEE7F4}"/>
              </a:ext>
            </a:extLst>
          </p:cNvPr>
          <p:cNvSpPr>
            <a:spLocks noGrp="1"/>
          </p:cNvSpPr>
          <p:nvPr/>
        </p:nvSpPr>
        <p:spPr>
          <a:xfrm>
            <a:off x="6581775" y="1362075"/>
            <a:ext cx="5057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学習効果とmodel-gap検出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6286500" y="1676400"/>
          <a:ext cx="53530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直線コネクタ 14">
            <a:extLst>
              <a:ext uri="{FF2B5EF4-FFF2-40B4-BE49-F238E27FC236}">
                <a16:creationId xmlns:a16="http://schemas.microsoft.com/office/drawing/2014/main" id="{C176D175-CA0D-4BE0-8B57-4B655958F988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3143250" cy="0"/>
          </a:xfrm>
          <a:prstGeom prst="line">
            <a:avLst/>
          </a:prstGeom>
          <a:noFill/>
          <a:ln w="38100">
            <a:solidFill>
              <a:srgbClr val="4D8710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1FEEDC4-B299-464D-833E-0DAE3164BC5D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3DC0942-62CE-4F4B-8560-897ACBB5A500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平均 0.143 K / 上限 1.000 K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0FB8382C-2C5A-4BB1-AEC2-DC92C7BF8E42}"/>
              </a:ext>
            </a:extLst>
          </p:cNvPr>
          <p:cNvSpPr>
            <a:spLocks noGrp="1"/>
          </p:cNvSpPr>
          <p:nvPr/>
        </p:nvSpPr>
        <p:spPr>
          <a:xfrm>
            <a:off x="4076700" y="5314950"/>
            <a:ext cx="3143250" cy="0"/>
          </a:xfrm>
          <a:prstGeom prst="line">
            <a:avLst/>
          </a:prstGeom>
          <a:noFill/>
          <a:ln w="38100">
            <a:solidFill>
              <a:srgbClr val="4D8710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C8BB9C9-F3FC-4330-82EE-F2C33FCB3801}"/>
              </a:ext>
            </a:extLst>
          </p:cNvPr>
          <p:cNvSpPr>
            <a:spLocks noGrp="1"/>
          </p:cNvSpPr>
          <p:nvPr/>
        </p:nvSpPr>
        <p:spPr>
          <a:xfrm>
            <a:off x="4076700" y="53911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90827AF-2E9B-47A2-8E03-41E3710C4E83}"/>
              </a:ext>
            </a:extLst>
          </p:cNvPr>
          <p:cNvSpPr>
            <a:spLocks noGrp="1"/>
          </p:cNvSpPr>
          <p:nvPr/>
        </p:nvSpPr>
        <p:spPr>
          <a:xfrm>
            <a:off x="4076700" y="57150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worst 1.303 K / 上限 1.500 K</a:t>
            </a:r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338A2187-2BD3-46C5-9388-72B87898EA59}"/>
              </a:ext>
            </a:extLst>
          </p:cNvPr>
          <p:cNvSpPr>
            <a:spLocks noGrp="1"/>
          </p:cNvSpPr>
          <p:nvPr/>
        </p:nvSpPr>
        <p:spPr>
          <a:xfrm>
            <a:off x="7600950" y="5314950"/>
            <a:ext cx="4038600" cy="0"/>
          </a:xfrm>
          <a:prstGeom prst="line">
            <a:avLst/>
          </a:prstGeom>
          <a:noFill/>
          <a:ln w="38100">
            <a:solidFill>
              <a:srgbClr val="4D8710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BE231E1-FA8C-4668-8883-00EFBB2503D0}"/>
              </a:ext>
            </a:extLst>
          </p:cNvPr>
          <p:cNvSpPr>
            <a:spLocks noGrp="1"/>
          </p:cNvSpPr>
          <p:nvPr/>
        </p:nvSpPr>
        <p:spPr>
          <a:xfrm>
            <a:off x="7600950" y="5391150"/>
            <a:ext cx="4038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1CEE0D98-26C6-468C-A16F-666E23631820}"/>
              </a:ext>
            </a:extLst>
          </p:cNvPr>
          <p:cNvSpPr>
            <a:spLocks noGrp="1"/>
          </p:cNvSpPr>
          <p:nvPr/>
        </p:nvSpPr>
        <p:spPr>
          <a:xfrm>
            <a:off x="7600950" y="5715000"/>
            <a:ext cx="403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F11 9.823 K / 検出下限 0.500 K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5DF3CF9-4FA6-4539-9701-A80DCBFE5312}"/>
              </a:ext>
            </a:extLst>
          </p:cNvPr>
          <p:cNvSpPr>
            <a:spLocks noGrp="1"/>
          </p:cNvSpPr>
          <p:nvPr/>
        </p:nvSpPr>
        <p:spPr>
          <a:xfrm>
            <a:off x="6286500" y="4972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学習前から 98.0% 改善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CC8D285-345D-4069-8197-BC57B1B2357B}"/>
              </a:ext>
            </a:extLst>
          </p:cNvPr>
          <p:cNvSpPr>
            <a:spLocks noGrp="1"/>
          </p:cNvSpPr>
          <p:nvPr/>
        </p:nvSpPr>
        <p:spPr>
          <a:xfrm>
            <a:off x="8972550" y="49720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38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38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model gapは下限の 19.6倍</a:t>
            </a:r>
          </a:p>
        </p:txBody>
      </p:sp>
    </p:spTree>
    <p:extLst>
      <p:ext uri="{BB962C8B-B14F-4D97-AF65-F5344CB8AC3E}">
        <p14:creationId xmlns:p14="http://schemas.microsoft.com/office/powerpoint/2010/main" val="66102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1F29E5E-423E-4835-BAD0-F24A6391C676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AF06C4-8304-410D-B77C-0F8721923A91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RESULT 2 / INITIALIZATION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310D384-EBCD-4CC9-B2F8-71B9A96BFE19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20秒の因果履歴で同一評価窓RMSEを90.1%低減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7C9146C-C788-40FF-9DAB-727F4DA98C0A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同じ2センサでも、履歴を使うと未観測nodeの初期状態を熱結合から推定できる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C8B7953E-B210-4C90-AD7D-71E02A5738E1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DA633724-B090-46AD-BD36-B67ED6374262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5EEC64D-0576-4BBD-AFAE-0BADC6B293D9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CD49CB8-010E-42C9-ADE5-0D2B5D3CD67B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8692A18-A931-4F2A-A054-B1D6397CAD82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4A99503-FCB7-4967-9EDE-4880198942B1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107918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観測条件</a:t>
            </a:r>
          </a:p>
        </p:txBody>
      </p:sp>
      <p:sp>
        <p:nvSpPr>
          <p:cNvPr id="11" name="直線コネクタ 10">
            <a:extLst>
              <a:ext uri="{FF2B5EF4-FFF2-40B4-BE49-F238E27FC236}">
                <a16:creationId xmlns:a16="http://schemas.microsoft.com/office/drawing/2014/main" id="{F4BF2168-9D4C-4D66-A30A-FC111E57AC7D}"/>
              </a:ext>
            </a:extLst>
          </p:cNvPr>
          <p:cNvSpPr>
            <a:spLocks noGrp="1"/>
          </p:cNvSpPr>
          <p:nvPr/>
        </p:nvSpPr>
        <p:spPr>
          <a:xfrm>
            <a:off x="1200150" y="2200275"/>
            <a:ext cx="882015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EF98309-DBBE-4766-83EB-D5E00A884E2C}"/>
              </a:ext>
            </a:extLst>
          </p:cNvPr>
          <p:cNvSpPr>
            <a:spLocks noGrp="1"/>
          </p:cNvSpPr>
          <p:nvPr/>
        </p:nvSpPr>
        <p:spPr>
          <a:xfrm>
            <a:off x="962025" y="22955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0 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E6C49B-B73E-45D6-A497-1D352B505EC9}"/>
              </a:ext>
            </a:extLst>
          </p:cNvPr>
          <p:cNvSpPr>
            <a:spLocks noGrp="1"/>
          </p:cNvSpPr>
          <p:nvPr/>
        </p:nvSpPr>
        <p:spPr>
          <a:xfrm>
            <a:off x="2819400" y="22955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20 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987B7D9-F2DA-4905-BAEE-2C2D0E7F8102}"/>
              </a:ext>
            </a:extLst>
          </p:cNvPr>
          <p:cNvSpPr>
            <a:spLocks noGrp="1"/>
          </p:cNvSpPr>
          <p:nvPr/>
        </p:nvSpPr>
        <p:spPr>
          <a:xfrm>
            <a:off x="9782175" y="2295525"/>
            <a:ext cx="590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180 s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66CE9483-53E5-4830-9CAE-50B092463E4D}"/>
              </a:ext>
            </a:extLst>
          </p:cNvPr>
          <p:cNvSpPr>
            <a:spLocks noGrp="1"/>
          </p:cNvSpPr>
          <p:nvPr/>
        </p:nvSpPr>
        <p:spPr>
          <a:xfrm>
            <a:off x="1133475" y="2133600"/>
            <a:ext cx="133350" cy="133350"/>
          </a:xfrm>
          <a:prstGeom prst="ellipse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45E179D-6458-4367-94F9-F72B7592E048}"/>
              </a:ext>
            </a:extLst>
          </p:cNvPr>
          <p:cNvSpPr>
            <a:spLocks noGrp="1"/>
          </p:cNvSpPr>
          <p:nvPr/>
        </p:nvSpPr>
        <p:spPr>
          <a:xfrm>
            <a:off x="1200150" y="1971675"/>
            <a:ext cx="1847850" cy="114300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2DD2848-6236-4C0C-A530-1CAB1AB7D16B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F09: t=0で2点観測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B70437F-FAAF-4642-99F1-49BC77F8F890}"/>
              </a:ext>
            </a:extLst>
          </p:cNvPr>
          <p:cNvSpPr>
            <a:spLocks noGrp="1"/>
          </p:cNvSpPr>
          <p:nvPr/>
        </p:nvSpPr>
        <p:spPr>
          <a:xfrm>
            <a:off x="3343275" y="167640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F12: Center / middle を20 s観測</a:t>
            </a:r>
          </a:p>
        </p:txBody>
      </p:sp>
      <p:sp>
        <p:nvSpPr>
          <p:cNvPr id="19" name="直線コネクタ 18">
            <a:extLst>
              <a:ext uri="{FF2B5EF4-FFF2-40B4-BE49-F238E27FC236}">
                <a16:creationId xmlns:a16="http://schemas.microsoft.com/office/drawing/2014/main" id="{4D86396C-406A-4ED1-8342-81DEA13778CA}"/>
              </a:ext>
            </a:extLst>
          </p:cNvPr>
          <p:cNvSpPr>
            <a:spLocks noGrp="1"/>
          </p:cNvSpPr>
          <p:nvPr/>
        </p:nvSpPr>
        <p:spPr>
          <a:xfrm>
            <a:off x="3048000" y="1866900"/>
            <a:ext cx="0" cy="561975"/>
          </a:xfrm>
          <a:prstGeom prst="line">
            <a:avLst/>
          </a:prstGeom>
          <a:noFill/>
          <a:ln w="19050">
            <a:solidFill>
              <a:srgbClr val="4D8710"/>
            </a:solidFill>
            <a:prstDash val="dash"/>
          </a:ln>
        </p:spPr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A2C9A5D-4274-4773-AA17-C3DEFF1B81F3}"/>
              </a:ext>
            </a:extLst>
          </p:cNvPr>
          <p:cNvSpPr>
            <a:spLocks noGrp="1"/>
          </p:cNvSpPr>
          <p:nvPr/>
        </p:nvSpPr>
        <p:spPr>
          <a:xfrm>
            <a:off x="6819900" y="1676400"/>
            <a:ext cx="2771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013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open-loop forecast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01E1593-BDEC-4E8D-93C9-900F5918AC14}"/>
              </a:ext>
            </a:extLst>
          </p:cNvPr>
          <p:cNvSpPr>
            <a:spLocks noGrp="1"/>
          </p:cNvSpPr>
          <p:nvPr/>
        </p:nvSpPr>
        <p:spPr>
          <a:xfrm>
            <a:off x="552450" y="25717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43B9200-65FE-4B96-B749-E64349787093}"/>
              </a:ext>
            </a:extLst>
          </p:cNvPr>
          <p:cNvSpPr>
            <a:spLocks noGrp="1"/>
          </p:cNvSpPr>
          <p:nvPr/>
        </p:nvSpPr>
        <p:spPr>
          <a:xfrm>
            <a:off x="847725" y="2571750"/>
            <a:ext cx="7038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履歴後の瞬時4-node RMSE（低いほど良い）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="552450" y="2895600"/>
          <a:ext cx="73342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B8BBE04-D820-46E5-B209-0B0FE107AFA7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(c)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55121C95-3971-48D9-93E8-E66598B6FCD4}"/>
              </a:ext>
            </a:extLst>
          </p:cNvPr>
          <p:cNvSpPr>
            <a:spLocks noGrp="1"/>
          </p:cNvSpPr>
          <p:nvPr/>
        </p:nvSpPr>
        <p:spPr>
          <a:xfrm>
            <a:off x="8543925" y="2571750"/>
            <a:ext cx="3095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一次判定 F12 / F09（低いほど良い）</a:t>
            </a:r>
          </a:p>
        </p:txBody>
      </p:sp>
      <p:graphicFrame>
        <p:nvGraphicFramePr>
          <p:cNvPr id="59" name="Chart"/>
          <p:cNvGraphicFramePr/>
          <p:nvPr/>
        </p:nvGraphicFramePr>
        <p:xfrm>
          <a:off x="8248650" y="2895600"/>
          <a:ext cx="3390900" cy="226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直線コネクタ 26">
            <a:extLst>
              <a:ext uri="{FF2B5EF4-FFF2-40B4-BE49-F238E27FC236}">
                <a16:creationId xmlns:a16="http://schemas.microsoft.com/office/drawing/2014/main" id="{C806D4C9-9E84-4736-A5FA-84823507F315}"/>
              </a:ext>
            </a:extLst>
          </p:cNvPr>
          <p:cNvSpPr>
            <a:spLocks noGrp="1"/>
          </p:cNvSpPr>
          <p:nvPr/>
        </p:nvSpPr>
        <p:spPr>
          <a:xfrm>
            <a:off x="8248650" y="5334000"/>
            <a:ext cx="3390900" cy="0"/>
          </a:xfrm>
          <a:prstGeom prst="line">
            <a:avLst/>
          </a:prstGeom>
          <a:noFill/>
          <a:ln w="38100">
            <a:solidFill>
              <a:srgbClr val="4D8710"/>
            </a:solidFill>
            <a:prstDash val="solid"/>
          </a:ln>
        </p:spPr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EA1AB01C-F1A2-46CE-9377-B3E28B24E4FA}"/>
              </a:ext>
            </a:extLst>
          </p:cNvPr>
          <p:cNvSpPr>
            <a:spLocks noGrp="1"/>
          </p:cNvSpPr>
          <p:nvPr/>
        </p:nvSpPr>
        <p:spPr>
          <a:xfrm>
            <a:off x="8248650" y="5410200"/>
            <a:ext cx="3390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715ABF0-A2A8-4B0F-AD95-1C65BEF8439E}"/>
              </a:ext>
            </a:extLst>
          </p:cNvPr>
          <p:cNvSpPr>
            <a:spLocks noGrp="1"/>
          </p:cNvSpPr>
          <p:nvPr/>
        </p:nvSpPr>
        <p:spPr>
          <a:xfrm>
            <a:off x="8248650" y="5734050"/>
            <a:ext cx="33909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2.9% / 上限 25%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28910671-FB7C-457B-B067-7866A527706E}"/>
              </a:ext>
            </a:extLst>
          </p:cNvPr>
          <p:cNvSpPr>
            <a:spLocks noGrp="1"/>
          </p:cNvSpPr>
          <p:nvPr/>
        </p:nvSpPr>
        <p:spPr>
          <a:xfrm>
            <a:off x="552450" y="5867400"/>
            <a:ext cx="990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同一評価窓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1BF5C936-9D82-4084-A7DA-989020578BA9}"/>
              </a:ext>
            </a:extLst>
          </p:cNvPr>
          <p:cNvSpPr>
            <a:spLocks noGrp="1"/>
          </p:cNvSpPr>
          <p:nvPr/>
        </p:nvSpPr>
        <p:spPr>
          <a:xfrm>
            <a:off x="1581150" y="5848350"/>
            <a:ext cx="6305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F09 0.384 K　F12 0.038 K　90.1%低減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9CDB62B-B85A-40CA-9171-AA9829B3EF97}"/>
              </a:ext>
            </a:extLst>
          </p:cNvPr>
          <p:cNvSpPr>
            <a:spLocks noGrp="1"/>
          </p:cNvSpPr>
          <p:nvPr/>
        </p:nvSpPr>
        <p:spPr>
          <a:xfrm>
            <a:off x="8248650" y="5867400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一次指標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4C6DFBF-23DD-4C8A-900C-07A0C0B295C5}"/>
              </a:ext>
            </a:extLst>
          </p:cNvPr>
          <p:cNvSpPr>
            <a:spLocks noGrp="1"/>
          </p:cNvSpPr>
          <p:nvPr/>
        </p:nvSpPr>
        <p:spPr>
          <a:xfrm>
            <a:off x="9010650" y="5848350"/>
            <a:ext cx="2628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38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F09 1.303 K　F12 0.038 K</a:t>
            </a:r>
          </a:p>
        </p:txBody>
      </p:sp>
    </p:spTree>
    <p:extLst>
      <p:ext uri="{BB962C8B-B14F-4D97-AF65-F5344CB8AC3E}">
        <p14:creationId xmlns:p14="http://schemas.microsoft.com/office/powerpoint/2010/main" val="2112031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AF7BB65-6A26-4058-A2AD-E7B286B01316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654B2CF-EB4E-4B41-87C9-C40F2BD3274C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RESULT 3 / MONITORING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1E8CCC-521C-404B-BB3D-4721B792BD3D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監視5ケースは全基準内、異常種別も正しく帰属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8BBFF0B-B229-40AD-9317-6964B34C0C97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棒が100%より短ければ合格。単位の異なる指標を各受入上限で正規化して比較する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89A31D22-7B0E-4EFA-BF7D-49EAAB1054AE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1159277A-77C6-4EF7-9FFA-276DCB6FA98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589873E-9D87-40E0-9D46-BC8DE9832D97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485654-DA06-408C-9E2A-8357E7FB4B6E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41017E9-7E03-48C9-886B-05CE31783003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D95A051-346B-4005-ACDC-A79BBF7DFBF7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7229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受入上限の使用率（100%未満で合格）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552450" y="1676400"/>
          <a:ext cx="7524750" cy="3781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4C5CF23-9519-4676-9072-2EB32D5D6155}"/>
              </a:ext>
            </a:extLst>
          </p:cNvPr>
          <p:cNvSpPr>
            <a:spLocks noGrp="1"/>
          </p:cNvSpPr>
          <p:nvPr/>
        </p:nvSpPr>
        <p:spPr>
          <a:xfrm>
            <a:off x="84772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EE42821-60F5-4CBD-B509-B7FCB86BD249}"/>
              </a:ext>
            </a:extLst>
          </p:cNvPr>
          <p:cNvSpPr>
            <a:spLocks noGrp="1"/>
          </p:cNvSpPr>
          <p:nvPr/>
        </p:nvSpPr>
        <p:spPr>
          <a:xfrm>
            <a:off x="8772525" y="1362075"/>
            <a:ext cx="28670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帰属結果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EE8B1F-9215-447C-8747-9C1D1581E86F}"/>
              </a:ext>
            </a:extLst>
          </p:cNvPr>
          <p:cNvSpPr>
            <a:spLocks noGrp="1"/>
          </p:cNvSpPr>
          <p:nvPr/>
        </p:nvSpPr>
        <p:spPr>
          <a:xfrm>
            <a:off x="8477250" y="1790700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7B2DAF"/>
                </a:solidFill>
                <a:latin typeface="Yu Gothic"/>
                <a:ea typeface="Yu Gothic"/>
                <a:cs typeface="Yu Gothic"/>
              </a:rPr>
              <a:t>M03  sensor step fault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52379CE-3EFE-437C-B665-A80D66B5D863}"/>
              </a:ext>
            </a:extLst>
          </p:cNvPr>
          <p:cNvSpPr>
            <a:spLocks noGrp="1"/>
          </p:cNvSpPr>
          <p:nvPr/>
        </p:nvSpPr>
        <p:spPr>
          <a:xfrm>
            <a:off x="8477250" y="2133600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800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C34EB2C-95EF-4131-AB01-4D91B9D53FD5}"/>
              </a:ext>
            </a:extLst>
          </p:cNvPr>
          <p:cNvSpPr>
            <a:spLocks noGrp="1"/>
          </p:cNvSpPr>
          <p:nvPr/>
        </p:nvSpPr>
        <p:spPr>
          <a:xfrm>
            <a:off x="9467850" y="21145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0 sで検出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935A068-80B8-4883-9AA9-76E26BD51144}"/>
              </a:ext>
            </a:extLst>
          </p:cNvPr>
          <p:cNvSpPr>
            <a:spLocks noGrp="1"/>
          </p:cNvSpPr>
          <p:nvPr/>
        </p:nvSpPr>
        <p:spPr>
          <a:xfrm>
            <a:off x="8477250" y="2524125"/>
            <a:ext cx="3162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first alert: CP</a:t>
            </a:r>
          </a:p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peak NIS: 279.2</a:t>
            </a:r>
          </a:p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判定: sensor bias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278C8487-BE02-4CBE-938E-83EEDE920B0C}"/>
              </a:ext>
            </a:extLst>
          </p:cNvPr>
          <p:cNvSpPr>
            <a:spLocks noGrp="1"/>
          </p:cNvSpPr>
          <p:nvPr/>
        </p:nvSpPr>
        <p:spPr>
          <a:xfrm>
            <a:off x="8477250" y="3505200"/>
            <a:ext cx="31623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A4BA7A-BCC1-43AB-B07F-222FAB03849E}"/>
              </a:ext>
            </a:extLst>
          </p:cNvPr>
          <p:cNvSpPr>
            <a:spLocks noGrp="1"/>
          </p:cNvSpPr>
          <p:nvPr/>
        </p:nvSpPr>
        <p:spPr>
          <a:xfrm>
            <a:off x="8477250" y="3705225"/>
            <a:ext cx="316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M05  unmodeled heat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643F752-EB4F-4037-82A5-CDA589D845A2}"/>
              </a:ext>
            </a:extLst>
          </p:cNvPr>
          <p:cNvSpPr>
            <a:spLocks noGrp="1"/>
          </p:cNvSpPr>
          <p:nvPr/>
        </p:nvSpPr>
        <p:spPr>
          <a:xfrm>
            <a:off x="8477250" y="4048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800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770612F-6BEB-44C0-9CD9-C3EE67999471}"/>
              </a:ext>
            </a:extLst>
          </p:cNvPr>
          <p:cNvSpPr>
            <a:spLocks noGrp="1"/>
          </p:cNvSpPr>
          <p:nvPr/>
        </p:nvSpPr>
        <p:spPr>
          <a:xfrm>
            <a:off x="9467850" y="4029075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1 sで検出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DF3349D-359B-44F9-A6C5-74A0AC7AA03C}"/>
              </a:ext>
            </a:extLst>
          </p:cNvPr>
          <p:cNvSpPr>
            <a:spLocks noGrp="1"/>
          </p:cNvSpPr>
          <p:nvPr/>
        </p:nvSpPr>
        <p:spPr>
          <a:xfrm>
            <a:off x="8477250" y="4438650"/>
            <a:ext cx="3162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peak estimate: 0.757 W</a:t>
            </a:r>
          </a:p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heat RMSE: 0.135 W</a:t>
            </a:r>
          </a:p>
          <a:p>
            <a:pPr algn="l">
              <a:lnSpc>
                <a:spcPct val="108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判定: physical disturbance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DF28CCE-63B3-4520-9891-CCC791CF4E6F}"/>
              </a:ext>
            </a:extLst>
          </p:cNvPr>
          <p:cNvSpPr>
            <a:spLocks noGrp="1"/>
          </p:cNvSpPr>
          <p:nvPr/>
        </p:nvSpPr>
        <p:spPr>
          <a:xfrm>
            <a:off x="552450" y="5743575"/>
            <a:ext cx="11087100" cy="495300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4EB4AA50-721F-4B48-B349-793F9CE541CB}"/>
              </a:ext>
            </a:extLst>
          </p:cNvPr>
          <p:cNvSpPr>
            <a:spLocks noGrp="1"/>
          </p:cNvSpPr>
          <p:nvPr/>
        </p:nvSpPr>
        <p:spPr>
          <a:xfrm>
            <a:off x="762000" y="58483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MONITOR  8 / 8 CHECKS PASS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1E4A6CE-F4EF-4710-8CA1-F41F56E28B08}"/>
              </a:ext>
            </a:extLst>
          </p:cNvPr>
          <p:cNvSpPr>
            <a:spLocks noGrp="1"/>
          </p:cNvSpPr>
          <p:nvPr/>
        </p:nvSpPr>
        <p:spPr>
          <a:xfrm>
            <a:off x="4848225" y="5829300"/>
            <a:ext cx="65246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故障検出だけでなく、センサ起因か熱負荷起因かを分離</a:t>
            </a:r>
          </a:p>
        </p:txBody>
      </p:sp>
    </p:spTree>
    <p:extLst>
      <p:ext uri="{BB962C8B-B14F-4D97-AF65-F5344CB8AC3E}">
        <p14:creationId xmlns:p14="http://schemas.microsoft.com/office/powerpoint/2010/main" val="188452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79299C4-08F6-43CB-B41E-77888AB48F01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DA3D1E-B94D-4E71-A7D1-50BB6A65F2E3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RESULT 4 / HIGH FIDELITY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8F2E64B-8C32-4BC0-B8A8-41DA965C1977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平均温度はスクリーニング可能、放射感度は未再現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9398240-B80D-4E27-89ED-843035224248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mesh、絶対温度、物理差分を別々に判定し、用途をvolume-average screeningへ限定する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492CE6C7-1753-443D-A488-5F1643D27E24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FE6C2482-DF3E-4FC5-947D-003E3406D48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0232F11-4A0B-4A18-8192-90CECC7D971B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FCCF124-DA3C-4B30-BB87-71434FB31F55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DDB5B81-FC46-4C38-82BC-3448753A5F61}"/>
              </a:ext>
            </a:extLst>
          </p:cNvPr>
          <p:cNvSpPr>
            <a:spLocks noGrp="1"/>
          </p:cNvSpPr>
          <p:nvPr/>
        </p:nvSpPr>
        <p:spPr>
          <a:xfrm>
            <a:off x="55245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(a)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419DBC9-42D0-486D-B03F-D2A08974EDA8}"/>
              </a:ext>
            </a:extLst>
          </p:cNvPr>
          <p:cNvSpPr>
            <a:spLocks noGrp="1"/>
          </p:cNvSpPr>
          <p:nvPr/>
        </p:nvSpPr>
        <p:spPr>
          <a:xfrm>
            <a:off x="847725" y="1362075"/>
            <a:ext cx="5038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medium−fine差と用途別上限（低いほど良い）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="552450" y="1695450"/>
          <a:ext cx="533400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698D6DC-D334-46A1-AFE4-C413D28D3947}"/>
              </a:ext>
            </a:extLst>
          </p:cNvPr>
          <p:cNvSpPr>
            <a:spLocks noGrp="1"/>
          </p:cNvSpPr>
          <p:nvPr/>
        </p:nvSpPr>
        <p:spPr>
          <a:xfrm>
            <a:off x="552450" y="4905375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strict 1/2 pass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DF2FAD7-4831-43A7-9413-FC0C826A1A4C}"/>
              </a:ext>
            </a:extLst>
          </p:cNvPr>
          <p:cNvSpPr>
            <a:spLocks noGrp="1"/>
          </p:cNvSpPr>
          <p:nvPr/>
        </p:nvSpPr>
        <p:spPr>
          <a:xfrm>
            <a:off x="3143250" y="4905375"/>
            <a:ext cx="2743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benchmark 2/2 pass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8950C48-F136-4BA4-8DD2-ED0A1C20EE85}"/>
              </a:ext>
            </a:extLst>
          </p:cNvPr>
          <p:cNvSpPr>
            <a:spLocks noGrp="1"/>
          </p:cNvSpPr>
          <p:nvPr/>
        </p:nvSpPr>
        <p:spPr>
          <a:xfrm>
            <a:off x="6286500" y="1362075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defRPr>
            </a:pPr>
            <a:r>
              <a:rPr sz="900" b="1" i="0">
                <a:solidFill>
                  <a:srgbClr val="007FA8"/>
                </a:solidFill>
                <a:latin typeface="Yu Gothic"/>
                <a:ea typeface="Yu Gothic"/>
                <a:cs typeface="Yu Gothic"/>
              </a:rPr>
              <a:t>(b)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294E7B2-8793-4DB0-A3E0-7FD8101B3CB4}"/>
              </a:ext>
            </a:extLst>
          </p:cNvPr>
          <p:cNvSpPr>
            <a:spLocks noGrp="1"/>
          </p:cNvSpPr>
          <p:nvPr/>
        </p:nvSpPr>
        <p:spPr>
          <a:xfrm>
            <a:off x="6581775" y="1362075"/>
            <a:ext cx="50577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163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220秒時点の放射効果（絶対値）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="6286500" y="1695450"/>
          <a:ext cx="5353050" cy="317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82CB740-DFA4-456E-94AA-50D602D552E2}"/>
              </a:ext>
            </a:extLst>
          </p:cNvPr>
          <p:cNvSpPr>
            <a:spLocks noGrp="1"/>
          </p:cNvSpPr>
          <p:nvPr/>
        </p:nvSpPr>
        <p:spPr>
          <a:xfrm>
            <a:off x="6286500" y="4905375"/>
            <a:ext cx="535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975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同じ冷却方向　大きさの再現率 0.3%</a:t>
            </a:r>
          </a:p>
        </p:txBody>
      </p:sp>
      <p:sp>
        <p:nvSpPr>
          <p:cNvPr id="18" name="直線コネクタ 17">
            <a:extLst>
              <a:ext uri="{FF2B5EF4-FFF2-40B4-BE49-F238E27FC236}">
                <a16:creationId xmlns:a16="http://schemas.microsoft.com/office/drawing/2014/main" id="{0225CDE8-29CC-4DD1-91A0-C2778821D933}"/>
              </a:ext>
            </a:extLst>
          </p:cNvPr>
          <p:cNvSpPr>
            <a:spLocks noGrp="1"/>
          </p:cNvSpPr>
          <p:nvPr/>
        </p:nvSpPr>
        <p:spPr>
          <a:xfrm>
            <a:off x="552450" y="5314950"/>
            <a:ext cx="3143250" cy="0"/>
          </a:xfrm>
          <a:prstGeom prst="line">
            <a:avLst/>
          </a:prstGeom>
          <a:noFill/>
          <a:ln w="38100">
            <a:solidFill>
              <a:srgbClr val="4D8710"/>
            </a:solidFill>
            <a:prstDash val="solid"/>
          </a:ln>
        </p:spPr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60C5CC0-CDF2-468E-8794-7909949284F6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PASS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86937B4-A967-41A2-821F-6FABB458745E}"/>
              </a:ext>
            </a:extLst>
          </p:cNvPr>
          <p:cNvSpPr>
            <a:spLocks noGrp="1"/>
          </p:cNvSpPr>
          <p:nvPr/>
        </p:nvSpPr>
        <p:spPr>
          <a:xfrm>
            <a:off x="552450" y="57150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平均RMSE 0.096 K　worst 0.144 K</a:t>
            </a:r>
          </a:p>
        </p:txBody>
      </p:sp>
      <p:sp>
        <p:nvSpPr>
          <p:cNvPr id="21" name="直線コネクタ 20">
            <a:extLst>
              <a:ext uri="{FF2B5EF4-FFF2-40B4-BE49-F238E27FC236}">
                <a16:creationId xmlns:a16="http://schemas.microsoft.com/office/drawing/2014/main" id="{48B15A3E-074B-4CAE-8E2E-43D62B5B6DD1}"/>
              </a:ext>
            </a:extLst>
          </p:cNvPr>
          <p:cNvSpPr>
            <a:spLocks noGrp="1"/>
          </p:cNvSpPr>
          <p:nvPr/>
        </p:nvSpPr>
        <p:spPr>
          <a:xfrm>
            <a:off x="4076700" y="5314950"/>
            <a:ext cx="3143250" cy="0"/>
          </a:xfrm>
          <a:prstGeom prst="line">
            <a:avLst/>
          </a:prstGeom>
          <a:noFill/>
          <a:ln w="38100">
            <a:solidFill>
              <a:srgbClr val="8A6500"/>
            </a:solidFill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213045F-4479-465F-91CC-D9C0689EE9F5}"/>
              </a:ext>
            </a:extLst>
          </p:cNvPr>
          <p:cNvSpPr>
            <a:spLocks noGrp="1"/>
          </p:cNvSpPr>
          <p:nvPr/>
        </p:nvSpPr>
        <p:spPr>
          <a:xfrm>
            <a:off x="4076700" y="5391150"/>
            <a:ext cx="314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CONDITIONAL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719AEEF-5AC9-42C6-8EF4-BC59AC05E29F}"/>
              </a:ext>
            </a:extLst>
          </p:cNvPr>
          <p:cNvSpPr>
            <a:spLocks noGrp="1"/>
          </p:cNvSpPr>
          <p:nvPr/>
        </p:nvSpPr>
        <p:spPr>
          <a:xfrm>
            <a:off x="4076700" y="571500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mesh strict 1/2　benchmark 2/2</a:t>
            </a:r>
          </a:p>
        </p:txBody>
      </p:sp>
      <p:sp>
        <p:nvSpPr>
          <p:cNvPr id="24" name="直線コネクタ 23">
            <a:extLst>
              <a:ext uri="{FF2B5EF4-FFF2-40B4-BE49-F238E27FC236}">
                <a16:creationId xmlns:a16="http://schemas.microsoft.com/office/drawing/2014/main" id="{061C3B0F-DE61-44C3-AC0A-9D32CF03EC39}"/>
              </a:ext>
            </a:extLst>
          </p:cNvPr>
          <p:cNvSpPr>
            <a:spLocks noGrp="1"/>
          </p:cNvSpPr>
          <p:nvPr/>
        </p:nvSpPr>
        <p:spPr>
          <a:xfrm>
            <a:off x="7600950" y="5314950"/>
            <a:ext cx="4038600" cy="0"/>
          </a:xfrm>
          <a:prstGeom prst="line">
            <a:avLst/>
          </a:prstGeom>
          <a:noFill/>
          <a:ln w="38100">
            <a:solidFill>
              <a:srgbClr val="C4493D"/>
            </a:solidFill>
            <a:prstDash val="solid"/>
          </a:ln>
        </p:spPr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083B6EF-7FBD-48F7-8441-6989BE3A0BA2}"/>
              </a:ext>
            </a:extLst>
          </p:cNvPr>
          <p:cNvSpPr>
            <a:spLocks noGrp="1"/>
          </p:cNvSpPr>
          <p:nvPr/>
        </p:nvSpPr>
        <p:spPr>
          <a:xfrm>
            <a:off x="7600950" y="5391150"/>
            <a:ext cx="40386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8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FAIL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422E491-037A-4AD6-9597-4D997BEB3899}"/>
              </a:ext>
            </a:extLst>
          </p:cNvPr>
          <p:cNvSpPr>
            <a:spLocks noGrp="1"/>
          </p:cNvSpPr>
          <p:nvPr/>
        </p:nvSpPr>
        <p:spPr>
          <a:xfrm>
            <a:off x="7600950" y="5715000"/>
            <a:ext cx="403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86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放射効果 0.001 / 0.381 K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ADB3D88-A622-49AE-A9DD-D4ABF7E94C49}"/>
              </a:ext>
            </a:extLst>
          </p:cNvPr>
          <p:cNvSpPr>
            <a:spLocks noGrp="1"/>
          </p:cNvSpPr>
          <p:nvPr/>
        </p:nvSpPr>
        <p:spPr>
          <a:xfrm>
            <a:off x="552450" y="6115050"/>
            <a:ext cx="11087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863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863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判定境界：66点の平均温度screeningに使用可。hotspot、放射設計、interlockには使用不可。</a:t>
            </a:r>
          </a:p>
        </p:txBody>
      </p:sp>
    </p:spTree>
    <p:extLst>
      <p:ext uri="{BB962C8B-B14F-4D97-AF65-F5344CB8AC3E}">
        <p14:creationId xmlns:p14="http://schemas.microsoft.com/office/powerpoint/2010/main" val="2096571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594520C3-E1F0-49E7-AD15-28E3F93363B1}"/>
              </a:ext>
            </a:extLst>
          </p:cNvPr>
          <p:cNvSpPr>
            <a:spLocks noGrp="1"/>
          </p:cNvSpPr>
          <p:nvPr/>
        </p:nvSpPr>
        <p:spPr>
          <a:xfrm>
            <a:off x="552450" y="190500"/>
            <a:ext cx="76200" cy="142875"/>
          </a:xfrm>
          <a:prstGeom prst="rect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83BFF73-E81B-47C2-86BB-48186341096E}"/>
              </a:ext>
            </a:extLst>
          </p:cNvPr>
          <p:cNvSpPr>
            <a:spLocks noGrp="1"/>
          </p:cNvSpPr>
          <p:nvPr/>
        </p:nvSpPr>
        <p:spPr>
          <a:xfrm>
            <a:off x="704850" y="161925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CONCLUSION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35A7F1B-D428-46FB-AA80-C008D145A09F}"/>
              </a:ext>
            </a:extLst>
          </p:cNvPr>
          <p:cNvSpPr>
            <a:spLocks noGrp="1"/>
          </p:cNvSpPr>
          <p:nvPr/>
        </p:nvSpPr>
        <p:spPr>
          <a:xfrm>
            <a:off x="552450" y="400050"/>
            <a:ext cx="1108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19050" tIns="0" rIns="1905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defRPr>
            </a:pPr>
            <a:r>
              <a:rPr sz="2175" b="1" i="0">
                <a:solidFill>
                  <a:srgbClr val="00A5D8"/>
                </a:solidFill>
                <a:latin typeface="Yu Gothic"/>
                <a:ea typeface="Yu Gothic"/>
                <a:cs typeface="Yu Gothic"/>
              </a:rPr>
              <a:t>現時点の適用範囲と次の検証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37D8018-C6FD-4D14-B4E1-BB910E01291B}"/>
              </a:ext>
            </a:extLst>
          </p:cNvPr>
          <p:cNvSpPr>
            <a:spLocks noGrp="1"/>
          </p:cNvSpPr>
          <p:nvPr/>
        </p:nvSpPr>
        <p:spPr>
          <a:xfrm>
            <a:off x="571500" y="838200"/>
            <a:ext cx="10934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1013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保存則付きの高速推定層として有用。製品判断へ使う範囲は証拠の強さに合わせて限定する</a:t>
            </a:r>
          </a:p>
        </p:txBody>
      </p:sp>
      <p:sp>
        <p:nvSpPr>
          <p:cNvPr id="5" name="直線コネクタ 4">
            <a:extLst>
              <a:ext uri="{FF2B5EF4-FFF2-40B4-BE49-F238E27FC236}">
                <a16:creationId xmlns:a16="http://schemas.microsoft.com/office/drawing/2014/main" id="{DD2E3333-DDAD-4598-A951-063B142BF182}"/>
              </a:ext>
            </a:extLst>
          </p:cNvPr>
          <p:cNvSpPr>
            <a:spLocks noGrp="1"/>
          </p:cNvSpPr>
          <p:nvPr/>
        </p:nvSpPr>
        <p:spPr>
          <a:xfrm>
            <a:off x="552450" y="1152525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6" name="直線コネクタ 5">
            <a:extLst>
              <a:ext uri="{FF2B5EF4-FFF2-40B4-BE49-F238E27FC236}">
                <a16:creationId xmlns:a16="http://schemas.microsoft.com/office/drawing/2014/main" id="{46167994-341F-4243-9E05-986AACDA4B47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11087100" cy="0"/>
          </a:xfrm>
          <a:prstGeom prst="line">
            <a:avLst/>
          </a:prstGeom>
          <a:noFill/>
          <a:ln w="9525">
            <a:solidFill>
              <a:srgbClr val="D3D3D3"/>
            </a:solidFill>
            <a:prstDash val="solid"/>
          </a:ln>
        </p:spPr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481A00-2002-4ED0-824C-0F1812EDA8FD}"/>
              </a:ext>
            </a:extLst>
          </p:cNvPr>
          <p:cNvSpPr>
            <a:spLocks noGrp="1"/>
          </p:cNvSpPr>
          <p:nvPr/>
        </p:nvSpPr>
        <p:spPr>
          <a:xfrm>
            <a:off x="571500" y="6505575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28575" tIns="19050" rIns="28575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13" b="0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THERMAL CELL / BENCHMARK REVIEW  ·  2026-09-28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2BD76A6-276C-467D-BE2D-C4C06B9FFB09}"/>
              </a:ext>
            </a:extLst>
          </p:cNvPr>
          <p:cNvSpPr>
            <a:spLocks noGrp="1"/>
          </p:cNvSpPr>
          <p:nvPr/>
        </p:nvSpPr>
        <p:spPr>
          <a:xfrm>
            <a:off x="11125200" y="64960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r">
              <a:lnSpc>
                <a:spcPct val="100000"/>
              </a:lnSpc>
              <a:buNone/>
              <a:def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defRPr>
            </a:pPr>
            <a:r>
              <a:rPr sz="750" b="1" i="0">
                <a:solidFill>
                  <a:srgbClr val="777777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F12A00-1254-4A36-9E1E-5BB93A6567E9}"/>
              </a:ext>
            </a:extLst>
          </p:cNvPr>
          <p:cNvSpPr>
            <a:spLocks noGrp="1"/>
          </p:cNvSpPr>
          <p:nvPr/>
        </p:nvSpPr>
        <p:spPr>
          <a:xfrm>
            <a:off x="552450" y="1390650"/>
            <a:ext cx="643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証拠に基づく適用範囲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9D0500F-6931-4670-93F0-E724AFC1AC2E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6438900" cy="1028700"/>
          </a:xfrm>
          <a:prstGeom prst="rect">
            <a:avLst/>
          </a:prstGeom>
          <a:solidFill>
            <a:srgbClr val="EEF7DF"/>
          </a:solidFill>
          <a:ln w="9525">
            <a:solidFill>
              <a:srgbClr val="4D8710"/>
            </a:solidFill>
            <a:prstDash val="solid"/>
          </a:ln>
        </p:spPr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E645DE-B2D2-493F-B080-3A2DB876F410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104775" cy="1028700"/>
          </a:xfrm>
          <a:prstGeom prst="rect">
            <a:avLst/>
          </a:prstGeom>
          <a:solidFill>
            <a:srgbClr val="4D8710"/>
          </a:solidFill>
          <a:ln w="0">
            <a:noFill/>
            <a:prstDash val="solid"/>
          </a:ln>
        </p:spPr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A2E9744-68D4-4784-BFD6-234754C2AD06}"/>
              </a:ext>
            </a:extLst>
          </p:cNvPr>
          <p:cNvSpPr>
            <a:spLocks noGrp="1"/>
          </p:cNvSpPr>
          <p:nvPr/>
        </p:nvSpPr>
        <p:spPr>
          <a:xfrm>
            <a:off x="838200" y="193357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4D8710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4D8710"/>
                </a:solidFill>
                <a:latin typeface="Yu Gothic"/>
                <a:ea typeface="Yu Gothic"/>
                <a:cs typeface="Yu Gothic"/>
              </a:rPr>
              <a:t>使用可能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9273BCC-C772-41B6-BC56-EE65DDDEBEAD}"/>
              </a:ext>
            </a:extLst>
          </p:cNvPr>
          <p:cNvSpPr>
            <a:spLocks noGrp="1"/>
          </p:cNvSpPr>
          <p:nvPr/>
        </p:nvSpPr>
        <p:spPr>
          <a:xfrm>
            <a:off x="2638425" y="1914525"/>
            <a:ext cx="411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TopCell予測・監視と線形CAE screening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BDCB3E6-6946-4454-B641-B1F7BC6D125D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5915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外部11ケース精度基準内、monitor 8/8、線形COMSOL 10/10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7D41049-97DE-486D-AE46-3B66D1E186CE}"/>
              </a:ext>
            </a:extLst>
          </p:cNvPr>
          <p:cNvSpPr>
            <a:spLocks noGrp="1"/>
          </p:cNvSpPr>
          <p:nvPr/>
        </p:nvSpPr>
        <p:spPr>
          <a:xfrm>
            <a:off x="552450" y="3000375"/>
            <a:ext cx="6438900" cy="1028700"/>
          </a:xfrm>
          <a:prstGeom prst="rect">
            <a:avLst/>
          </a:prstGeom>
          <a:solidFill>
            <a:srgbClr val="FFF5D7"/>
          </a:solidFill>
          <a:ln w="9525">
            <a:solidFill>
              <a:srgbClr val="8A6500"/>
            </a:solidFill>
            <a:prstDash val="solid"/>
          </a:ln>
        </p:spPr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D6AFFF4-2233-4A8F-BC5C-CE4361DA871C}"/>
              </a:ext>
            </a:extLst>
          </p:cNvPr>
          <p:cNvSpPr>
            <a:spLocks noGrp="1"/>
          </p:cNvSpPr>
          <p:nvPr/>
        </p:nvSpPr>
        <p:spPr>
          <a:xfrm>
            <a:off x="552450" y="3000375"/>
            <a:ext cx="104775" cy="1028700"/>
          </a:xfrm>
          <a:prstGeom prst="rect">
            <a:avLst/>
          </a:prstGeom>
          <a:solidFill>
            <a:srgbClr val="8A6500"/>
          </a:solidFill>
          <a:ln w="0">
            <a:noFill/>
            <a:prstDash val="solid"/>
          </a:ln>
        </p:spPr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CADAE50-6EF0-4AE4-A800-58A1A83135F7}"/>
              </a:ext>
            </a:extLst>
          </p:cNvPr>
          <p:cNvSpPr>
            <a:spLocks noGrp="1"/>
          </p:cNvSpPr>
          <p:nvPr/>
        </p:nvSpPr>
        <p:spPr>
          <a:xfrm>
            <a:off x="838200" y="3143250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8A6500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8A6500"/>
                </a:solidFill>
                <a:latin typeface="Yu Gothic"/>
                <a:ea typeface="Yu Gothic"/>
                <a:cs typeface="Yu Gothic"/>
              </a:rPr>
              <a:t>条件付き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89D4606-0324-4A41-BC10-F09ACC5F20A1}"/>
              </a:ext>
            </a:extLst>
          </p:cNvPr>
          <p:cNvSpPr>
            <a:spLocks noGrp="1"/>
          </p:cNvSpPr>
          <p:nvPr/>
        </p:nvSpPr>
        <p:spPr>
          <a:xfrm>
            <a:off x="2638425" y="3124200"/>
            <a:ext cx="411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高忠実度のvolume-average screening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E00AE6D-460C-4E83-BEF3-7E340E1D80E5}"/>
              </a:ext>
            </a:extLst>
          </p:cNvPr>
          <p:cNvSpPr>
            <a:spLocks noGrp="1"/>
          </p:cNvSpPr>
          <p:nvPr/>
        </p:nvSpPr>
        <p:spPr>
          <a:xfrm>
            <a:off x="838200" y="3552825"/>
            <a:ext cx="5915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平均RMSE 0.096 K、benchmark mesh 2/2、strict mesh 1/2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F158D19-B14C-49F5-B14D-AACCDB44783E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6438900" cy="1028700"/>
          </a:xfrm>
          <a:prstGeom prst="rect">
            <a:avLst/>
          </a:prstGeom>
          <a:solidFill>
            <a:srgbClr val="FBE9E7"/>
          </a:solidFill>
          <a:ln w="9525">
            <a:solidFill>
              <a:srgbClr val="C4493D"/>
            </a:solidFill>
            <a:prstDash val="solid"/>
          </a:ln>
        </p:spPr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23AC175-B72D-424E-8A38-BEF40DDB95A7}"/>
              </a:ext>
            </a:extLst>
          </p:cNvPr>
          <p:cNvSpPr>
            <a:spLocks noGrp="1"/>
          </p:cNvSpPr>
          <p:nvPr/>
        </p:nvSpPr>
        <p:spPr>
          <a:xfrm>
            <a:off x="552450" y="4210050"/>
            <a:ext cx="104775" cy="1028700"/>
          </a:xfrm>
          <a:prstGeom prst="rect">
            <a:avLst/>
          </a:prstGeom>
          <a:solidFill>
            <a:srgbClr val="C4493D"/>
          </a:solidFill>
          <a:ln w="0">
            <a:noFill/>
            <a:prstDash val="solid"/>
          </a:ln>
        </p:spPr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0A9987A-8BF3-439D-AB78-18288BE13F64}"/>
              </a:ext>
            </a:extLst>
          </p:cNvPr>
          <p:cNvSpPr>
            <a:spLocks noGrp="1"/>
          </p:cNvSpPr>
          <p:nvPr/>
        </p:nvSpPr>
        <p:spPr>
          <a:xfrm>
            <a:off x="838200" y="435292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013" b="1" i="0">
                <a:solidFill>
                  <a:srgbClr val="C4493D"/>
                </a:solidFill>
                <a:latin typeface="Yu Gothic"/>
                <a:ea typeface="Yu Gothic"/>
                <a:cs typeface="Yu Gothic"/>
              </a:defRPr>
            </a:pPr>
            <a:r>
              <a:rPr sz="1013" b="1" i="0">
                <a:solidFill>
                  <a:srgbClr val="C4493D"/>
                </a:solidFill>
                <a:latin typeface="Yu Gothic"/>
                <a:ea typeface="Yu Gothic"/>
                <a:cs typeface="Yu Gothic"/>
              </a:rPr>
              <a:t>未検証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D42329B-B51B-409C-ABAD-4EB3B031CF0F}"/>
              </a:ext>
            </a:extLst>
          </p:cNvPr>
          <p:cNvSpPr>
            <a:spLocks noGrp="1"/>
          </p:cNvSpPr>
          <p:nvPr/>
        </p:nvSpPr>
        <p:spPr>
          <a:xfrm>
            <a:off x="2638425" y="4333875"/>
            <a:ext cx="4114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放射感度、hotspot安全、interlock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F41793C-D129-4FC9-A771-8FD4958C972F}"/>
              </a:ext>
            </a:extLst>
          </p:cNvPr>
          <p:cNvSpPr>
            <a:spLocks noGrp="1"/>
          </p:cNvSpPr>
          <p:nvPr/>
        </p:nvSpPr>
        <p:spPr>
          <a:xfrm>
            <a:off x="838200" y="4762500"/>
            <a:ext cx="59150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放射効果の再現率 0.3%、時間刻み収束と実験比較は未実施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0583A20-CC89-4720-85D5-89056BF7B11E}"/>
              </a:ext>
            </a:extLst>
          </p:cNvPr>
          <p:cNvSpPr>
            <a:spLocks noGrp="1"/>
          </p:cNvSpPr>
          <p:nvPr/>
        </p:nvSpPr>
        <p:spPr>
          <a:xfrm>
            <a:off x="7486650" y="13906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275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製品適用までのgate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9F39773-061F-4914-96E1-564C333EF982}"/>
              </a:ext>
            </a:extLst>
          </p:cNvPr>
          <p:cNvSpPr>
            <a:spLocks noGrp="1"/>
          </p:cNvSpPr>
          <p:nvPr/>
        </p:nvSpPr>
        <p:spPr>
          <a:xfrm>
            <a:off x="7486650" y="1828800"/>
            <a:ext cx="552450" cy="552450"/>
          </a:xfrm>
          <a:prstGeom prst="ellipse">
            <a:avLst/>
          </a:prstGeom>
          <a:solidFill>
            <a:srgbClr val="00A5D8"/>
          </a:solidFill>
          <a:ln w="0">
            <a:noFill/>
            <a:prstDash val="solid"/>
          </a:ln>
        </p:spPr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39D05314-0151-4A8F-B067-A07E9D7F0F89}"/>
              </a:ext>
            </a:extLst>
          </p:cNvPr>
          <p:cNvSpPr>
            <a:spLocks noGrp="1"/>
          </p:cNvSpPr>
          <p:nvPr/>
        </p:nvSpPr>
        <p:spPr>
          <a:xfrm>
            <a:off x="7534275" y="19240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A1F233CC-6BD0-493A-A16E-C6A5869CAFCD}"/>
              </a:ext>
            </a:extLst>
          </p:cNvPr>
          <p:cNvSpPr>
            <a:spLocks noGrp="1"/>
          </p:cNvSpPr>
          <p:nvPr/>
        </p:nvSpPr>
        <p:spPr>
          <a:xfrm>
            <a:off x="8277225" y="1809750"/>
            <a:ext cx="3152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離散化を収束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CF45F13-6FA0-4969-9832-56F8B8876293}"/>
              </a:ext>
            </a:extLst>
          </p:cNvPr>
          <p:cNvSpPr>
            <a:spLocks noGrp="1"/>
          </p:cNvSpPr>
          <p:nvPr/>
        </p:nvSpPr>
        <p:spPr>
          <a:xfrm>
            <a:off x="8277225" y="2152650"/>
            <a:ext cx="31527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meshと時間刻みを用途基準へ収束</a:t>
            </a:r>
          </a:p>
        </p:txBody>
      </p:sp>
      <p:sp>
        <p:nvSpPr>
          <p:cNvPr id="30" name="直線コネクタ 29">
            <a:extLst>
              <a:ext uri="{FF2B5EF4-FFF2-40B4-BE49-F238E27FC236}">
                <a16:creationId xmlns:a16="http://schemas.microsoft.com/office/drawing/2014/main" id="{C7A13A93-B819-4529-8B5F-839E36FBEA5C}"/>
              </a:ext>
            </a:extLst>
          </p:cNvPr>
          <p:cNvSpPr>
            <a:spLocks noGrp="1"/>
          </p:cNvSpPr>
          <p:nvPr/>
        </p:nvSpPr>
        <p:spPr>
          <a:xfrm>
            <a:off x="7762875" y="2390775"/>
            <a:ext cx="0" cy="609600"/>
          </a:xfrm>
          <a:prstGeom prst="line">
            <a:avLst/>
          </a:prstGeom>
          <a:noFill/>
          <a:ln w="19050">
            <a:solidFill>
              <a:srgbClr val="D3D3D3"/>
            </a:solidFill>
            <a:prstDash val="solid"/>
          </a:ln>
        </p:spPr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818CB928-B39C-4FE9-92AE-23AEE084EFCD}"/>
              </a:ext>
            </a:extLst>
          </p:cNvPr>
          <p:cNvSpPr>
            <a:spLocks noGrp="1"/>
          </p:cNvSpPr>
          <p:nvPr/>
        </p:nvSpPr>
        <p:spPr>
          <a:xfrm>
            <a:off x="7486650" y="3009900"/>
            <a:ext cx="552450" cy="552450"/>
          </a:xfrm>
          <a:prstGeom prst="ellipse">
            <a:avLst/>
          </a:prstGeom>
          <a:solidFill>
            <a:srgbClr val="7B2DAF"/>
          </a:solidFill>
          <a:ln w="0">
            <a:noFill/>
            <a:prstDash val="solid"/>
          </a:ln>
        </p:spPr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FC08A86-2CA7-415A-B831-C180379234D1}"/>
              </a:ext>
            </a:extLst>
          </p:cNvPr>
          <p:cNvSpPr>
            <a:spLocks noGrp="1"/>
          </p:cNvSpPr>
          <p:nvPr/>
        </p:nvSpPr>
        <p:spPr>
          <a:xfrm>
            <a:off x="7534275" y="31051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7AE1489-98A1-4AD8-9A65-1A1ACB4EFBB9}"/>
              </a:ext>
            </a:extLst>
          </p:cNvPr>
          <p:cNvSpPr>
            <a:spLocks noGrp="1"/>
          </p:cNvSpPr>
          <p:nvPr/>
        </p:nvSpPr>
        <p:spPr>
          <a:xfrm>
            <a:off x="8277225" y="2990850"/>
            <a:ext cx="3152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同一観測量で実験比較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890DD23D-EAE7-4248-9C59-4FC4EAD0F7AC}"/>
              </a:ext>
            </a:extLst>
          </p:cNvPr>
          <p:cNvSpPr>
            <a:spLocks noGrp="1"/>
          </p:cNvSpPr>
          <p:nvPr/>
        </p:nvSpPr>
        <p:spPr>
          <a:xfrm>
            <a:off x="8277225" y="3333750"/>
            <a:ext cx="31527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領域平均と計測不確かさを対応</a:t>
            </a:r>
          </a:p>
        </p:txBody>
      </p:sp>
      <p:sp>
        <p:nvSpPr>
          <p:cNvPr id="35" name="直線コネクタ 34">
            <a:extLst>
              <a:ext uri="{FF2B5EF4-FFF2-40B4-BE49-F238E27FC236}">
                <a16:creationId xmlns:a16="http://schemas.microsoft.com/office/drawing/2014/main" id="{425D3AED-477F-4EE4-871B-94466A59CB93}"/>
              </a:ext>
            </a:extLst>
          </p:cNvPr>
          <p:cNvSpPr>
            <a:spLocks noGrp="1"/>
          </p:cNvSpPr>
          <p:nvPr/>
        </p:nvSpPr>
        <p:spPr>
          <a:xfrm>
            <a:off x="7762875" y="3571875"/>
            <a:ext cx="0" cy="609600"/>
          </a:xfrm>
          <a:prstGeom prst="line">
            <a:avLst/>
          </a:prstGeom>
          <a:noFill/>
          <a:ln w="19050">
            <a:solidFill>
              <a:srgbClr val="D3D3D3"/>
            </a:solidFill>
            <a:prstDash val="solid"/>
          </a:ln>
        </p:spPr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590AF7E0-D3A5-4A6B-922C-118DDDD49641}"/>
              </a:ext>
            </a:extLst>
          </p:cNvPr>
          <p:cNvSpPr>
            <a:spLocks noGrp="1"/>
          </p:cNvSpPr>
          <p:nvPr/>
        </p:nvSpPr>
        <p:spPr>
          <a:xfrm>
            <a:off x="7486650" y="4191000"/>
            <a:ext cx="552450" cy="552450"/>
          </a:xfrm>
          <a:prstGeom prst="ellipse">
            <a:avLst/>
          </a:prstGeom>
          <a:solidFill>
            <a:srgbClr val="76BE18"/>
          </a:solidFill>
          <a:ln w="0">
            <a:noFill/>
            <a:prstDash val="solid"/>
          </a:ln>
        </p:spPr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15A56520-E47E-45E5-AB21-4EA0BB5B2DDD}"/>
              </a:ext>
            </a:extLst>
          </p:cNvPr>
          <p:cNvSpPr>
            <a:spLocks noGrp="1"/>
          </p:cNvSpPr>
          <p:nvPr/>
        </p:nvSpPr>
        <p:spPr>
          <a:xfrm>
            <a:off x="7534275" y="4286250"/>
            <a:ext cx="457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9B420744-6A17-4DD8-AB10-ED65DF957994}"/>
              </a:ext>
            </a:extLst>
          </p:cNvPr>
          <p:cNvSpPr>
            <a:spLocks noGrp="1"/>
          </p:cNvSpPr>
          <p:nvPr/>
        </p:nvSpPr>
        <p:spPr>
          <a:xfrm>
            <a:off x="8277225" y="4171950"/>
            <a:ext cx="31527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defRPr>
            </a:pPr>
            <a:r>
              <a:rPr sz="1350" b="1" i="0">
                <a:solidFill>
                  <a:srgbClr val="333333"/>
                </a:solidFill>
                <a:latin typeface="Yu Gothic"/>
                <a:ea typeface="Yu Gothic"/>
                <a:cs typeface="Yu Gothic"/>
              </a:rPr>
              <a:t>運用thresholdを固定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474B26AF-6559-461C-AAB3-BFDD8F2ABA80}"/>
              </a:ext>
            </a:extLst>
          </p:cNvPr>
          <p:cNvSpPr>
            <a:spLocks noGrp="1"/>
          </p:cNvSpPr>
          <p:nvPr/>
        </p:nvSpPr>
        <p:spPr>
          <a:xfrm>
            <a:off x="8277225" y="4514850"/>
            <a:ext cx="31527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defRPr>
            </a:pPr>
            <a:r>
              <a:rPr sz="975" b="0" i="0">
                <a:solidFill>
                  <a:srgbClr val="555555"/>
                </a:solidFill>
                <a:latin typeface="Yu Gothic"/>
                <a:ea typeface="Yu Gothic"/>
                <a:cs typeface="Yu Gothic"/>
              </a:rPr>
              <a:t>FMEA、誤警報率、thermal margin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CED28D63-D1BA-4EE9-BE7C-B5C7EAC8CD7B}"/>
              </a:ext>
            </a:extLst>
          </p:cNvPr>
          <p:cNvSpPr>
            <a:spLocks noGrp="1"/>
          </p:cNvSpPr>
          <p:nvPr/>
        </p:nvSpPr>
        <p:spPr>
          <a:xfrm>
            <a:off x="552450" y="5638800"/>
            <a:ext cx="11087100" cy="638175"/>
          </a:xfrm>
          <a:prstGeom prst="rect">
            <a:avLst/>
          </a:prstGeom>
          <a:solidFill>
            <a:srgbClr val="201445"/>
          </a:solidFill>
          <a:ln w="0">
            <a:noFill/>
            <a:prstDash val="solid"/>
          </a:ln>
        </p:spPr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E05033BA-B54E-4FC4-9E00-F5255BD874A2}"/>
              </a:ext>
            </a:extLst>
          </p:cNvPr>
          <p:cNvSpPr>
            <a:spLocks noGrp="1"/>
          </p:cNvSpPr>
          <p:nvPr/>
        </p:nvSpPr>
        <p:spPr>
          <a:xfrm>
            <a:off x="771525" y="5819775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defRPr>
            </a:pPr>
            <a:r>
              <a:rPr sz="1125" b="1" i="0">
                <a:solidFill>
                  <a:srgbClr val="76BE18"/>
                </a:solidFill>
                <a:latin typeface="Yu Gothic"/>
                <a:ea typeface="Yu Gothic"/>
                <a:cs typeface="Yu Gothic"/>
              </a:rPr>
              <a:t>結論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DD7F4093-2789-4C88-9EF4-20C0784840ED}"/>
              </a:ext>
            </a:extLst>
          </p:cNvPr>
          <p:cNvSpPr>
            <a:spLocks noGrp="1"/>
          </p:cNvSpPr>
          <p:nvPr/>
        </p:nvSpPr>
        <p:spPr>
          <a:xfrm>
            <a:off x="1676400" y="5753100"/>
            <a:ext cx="97059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425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高忠実度CAEと実測の間に、物理整合した高速な予測・監視層を置ける</a:t>
            </a:r>
          </a:p>
        </p:txBody>
      </p:sp>
    </p:spTree>
    <p:extLst>
      <p:ext uri="{BB962C8B-B14F-4D97-AF65-F5344CB8AC3E}">
        <p14:creationId xmlns:p14="http://schemas.microsoft.com/office/powerpoint/2010/main" val="11462332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Thermal engineering review">
      <a:dk1>
        <a:srgbClr val="161616"/>
      </a:dk1>
      <a:lt1>
        <a:srgbClr val="FFFFFF"/>
      </a:lt1>
      <a:dk2>
        <a:srgbClr val="201445"/>
      </a:dk2>
      <a:lt2>
        <a:srgbClr val="D3D3D3"/>
      </a:lt2>
      <a:accent1>
        <a:srgbClr val="00A5D8"/>
      </a:accent1>
      <a:accent2>
        <a:srgbClr val="76BE18"/>
      </a:accent2>
      <a:accent3>
        <a:srgbClr val="7B2DAF"/>
      </a:accent3>
      <a:accent4>
        <a:srgbClr val="00A89D"/>
      </a:accent4>
      <a:accent5>
        <a:srgbClr val="E5A900"/>
      </a:accent5>
      <a:accent6>
        <a:srgbClr val="C4493D"/>
      </a:accent6>
      <a:hlink>
        <a:srgbClr val="007FA8"/>
      </a:hlink>
      <a:folHlink>
        <a:srgbClr val="7B2DA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ermal engineering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Thermal engineering review">
      <a:dk1>
        <a:srgbClr val="161616"/>
      </a:dk1>
      <a:lt1>
        <a:srgbClr val="FFFFFF"/>
      </a:lt1>
      <a:dk2>
        <a:srgbClr val="201445"/>
      </a:dk2>
      <a:lt2>
        <a:srgbClr val="D3D3D3"/>
      </a:lt2>
      <a:accent1>
        <a:srgbClr val="00A5D8"/>
      </a:accent1>
      <a:accent2>
        <a:srgbClr val="76BE18"/>
      </a:accent2>
      <a:accent3>
        <a:srgbClr val="7B2DAF"/>
      </a:accent3>
      <a:accent4>
        <a:srgbClr val="00A89D"/>
      </a:accent4>
      <a:accent5>
        <a:srgbClr val="E5A900"/>
      </a:accent5>
      <a:accent6>
        <a:srgbClr val="C4493D"/>
      </a:accent6>
      <a:hlink>
        <a:srgbClr val="007FA8"/>
      </a:hlink>
      <a:folHlink>
        <a:srgbClr val="7B2DA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hermal engineering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1892</Words>
  <Application>Microsoft Office PowerPoint</Application>
  <DocSecurity>0</DocSecurity>
  <PresentationFormat>ワイド画面</PresentationFormat>
  <Paragraphs>285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Yu Gothic</vt:lpstr>
      <vt:lpstr>Calibri</vt:lpstr>
      <vt:lpstr>Cambria Math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大希 川人</cp:lastModifiedBy>
  <cp:revision>1</cp:revision>
  <dcterms:created xsi:type="dcterms:W3CDTF">2026-09-28T01:01:46Z</dcterms:created>
  <dcterms:modified xsi:type="dcterms:W3CDTF">2026-09-28T01:02:51Z</dcterms:modified>
</cp:coreProperties>
</file>