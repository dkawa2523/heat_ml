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r>
              <a:rPr sz="1200" b="1">
                <a:solidFill>
                  <a:srgbClr val="142735"/>
                </a:solidFill>
              </a:rPr>
              <a:t>外部予測ケース別 RMSE  [K]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learned RMSE</c:v>
          </c:tx>
          <c:spPr>
            <a:solidFill>
              <a:srgbClr val="4F9D9B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DC-473E-ACE5-B3B3AFF9FA9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1DC-473E-ACE5-B3B3AFF9FA9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1DC-473E-ACE5-B3B3AFF9FA9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1DC-473E-ACE5-B3B3AFF9FA9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1DC-473E-ACE5-B3B3AFF9FA9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1DC-473E-ACE5-B3B3AFF9FA9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1DC-473E-ACE5-B3B3AFF9FA9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1DC-473E-ACE5-B3B3AFF9FA9F}"/>
              </c:ext>
            </c:extLst>
          </c:dPt>
          <c:dPt>
            <c:idx val="8"/>
            <c:invertIfNegative val="0"/>
            <c:bubble3D val="0"/>
            <c:spPr>
              <a:solidFill>
                <a:srgbClr val="D97963"/>
              </a:solidFill>
            </c:spPr>
            <c:extLst>
              <c:ext xmlns:c16="http://schemas.microsoft.com/office/drawing/2014/chart" uri="{C3380CC4-5D6E-409C-BE32-E72D297353CC}">
                <c16:uniqueId val="{00000011-91DC-473E-ACE5-B3B3AFF9FA9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91DC-473E-ACE5-B3B3AFF9FA9F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91DC-473E-ACE5-B3B3AFF9FA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3F515D"/>
                    </a:solidFill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F01</c:v>
              </c:pt>
              <c:pt idx="1">
                <c:v>F02</c:v>
              </c:pt>
              <c:pt idx="2">
                <c:v>F03</c:v>
              </c:pt>
              <c:pt idx="3">
                <c:v>F04</c:v>
              </c:pt>
              <c:pt idx="4">
                <c:v>F05</c:v>
              </c:pt>
              <c:pt idx="5">
                <c:v>F06</c:v>
              </c:pt>
              <c:pt idx="6">
                <c:v>F07</c:v>
              </c:pt>
              <c:pt idx="7">
                <c:v>F08</c:v>
              </c:pt>
              <c:pt idx="8">
                <c:v>F09</c:v>
              </c:pt>
              <c:pt idx="9">
                <c:v>F10</c:v>
              </c:pt>
              <c:pt idx="10">
                <c:v>F12</c:v>
              </c:pt>
            </c:strLit>
          </c:cat>
          <c:val>
            <c:numLit>
              <c:formatCode>0.000</c:formatCode>
              <c:ptCount val="11"/>
              <c:pt idx="0">
                <c:v>3.1264E-2</c:v>
              </c:pt>
              <c:pt idx="1">
                <c:v>1.1634E-2</c:v>
              </c:pt>
              <c:pt idx="2">
                <c:v>2.7355000000000001E-2</c:v>
              </c:pt>
              <c:pt idx="3">
                <c:v>5.1260000000000003E-3</c:v>
              </c:pt>
              <c:pt idx="4">
                <c:v>2.4466999999999999E-2</c:v>
              </c:pt>
              <c:pt idx="5">
                <c:v>3.8719999999999997E-2</c:v>
              </c:pt>
              <c:pt idx="6">
                <c:v>3.1725999999999997E-2</c:v>
              </c:pt>
              <c:pt idx="7">
                <c:v>1.0843999999999999E-2</c:v>
              </c:pt>
              <c:pt idx="8">
                <c:v>1.3026770000000001</c:v>
              </c:pt>
              <c:pt idx="9">
                <c:v>5.0123000000000001E-2</c:v>
              </c:pt>
              <c:pt idx="10">
                <c:v>3.8094000000000003E-2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6-91DC-473E-ACE5-B3B3AFF9FA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6EC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F7E87"/>
                </a:solidFill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3F515D"/>
                </a:solidFill>
              </a:defRPr>
            </a:pPr>
            <a:endParaRPr lang="ja-JP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r>
              <a:rPr sz="1200" b="1">
                <a:solidFill>
                  <a:srgbClr val="142735"/>
                </a:solidFill>
              </a:rPr>
              <a:t>外部 forecast RMSE  [K]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RMSE</c:v>
          </c:tx>
          <c:spPr>
            <a:solidFill>
              <a:srgbClr val="285E8E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5C-413A-99C0-1059AD0A071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25C-413A-99C0-1059AD0A071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25C-413A-99C0-1059AD0A071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25C-413A-99C0-1059AD0A071C}"/>
              </c:ext>
            </c:extLst>
          </c:dPt>
          <c:dPt>
            <c:idx val="4"/>
            <c:invertIfNegative val="0"/>
            <c:bubble3D val="0"/>
            <c:spPr>
              <a:solidFill>
                <a:srgbClr val="D97963"/>
              </a:solidFill>
            </c:spPr>
            <c:extLst>
              <c:ext xmlns:c16="http://schemas.microsoft.com/office/drawing/2014/chart" uri="{C3380CC4-5D6E-409C-BE32-E72D297353CC}">
                <c16:uniqueId val="{00000009-325C-413A-99C0-1059AD0A071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25C-413A-99C0-1059AD0A071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325C-413A-99C0-1059AD0A071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325C-413A-99C0-1059AD0A07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3F515D"/>
                    </a:solidFill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F01</c:v>
              </c:pt>
              <c:pt idx="1">
                <c:v>F02</c:v>
              </c:pt>
              <c:pt idx="2">
                <c:v>F03</c:v>
              </c:pt>
              <c:pt idx="3">
                <c:v>F04</c:v>
              </c:pt>
              <c:pt idx="4">
                <c:v>F05</c:v>
              </c:pt>
              <c:pt idx="5">
                <c:v>F06</c:v>
              </c:pt>
              <c:pt idx="6">
                <c:v>F07</c:v>
              </c:pt>
              <c:pt idx="7">
                <c:v>F08</c:v>
              </c:pt>
            </c:strLit>
          </c:cat>
          <c:val>
            <c:numLit>
              <c:formatCode>0.000</c:formatCode>
              <c:ptCount val="8"/>
              <c:pt idx="0">
                <c:v>6.3959999999999998E-3</c:v>
              </c:pt>
              <c:pt idx="1">
                <c:v>2.4712000000000001E-2</c:v>
              </c:pt>
              <c:pt idx="2">
                <c:v>1.4253E-2</c:v>
              </c:pt>
              <c:pt idx="3">
                <c:v>2.0676E-2</c:v>
              </c:pt>
              <c:pt idx="4">
                <c:v>8.2974000000000006E-2</c:v>
              </c:pt>
              <c:pt idx="5">
                <c:v>5.8980999999999999E-2</c:v>
              </c:pt>
              <c:pt idx="6">
                <c:v>3.8589999999999999E-2</c:v>
              </c:pt>
              <c:pt idx="7">
                <c:v>4.3629000000000001E-2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325C-413A-99C0-1059AD0A07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6EC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F7E87"/>
                </a:solidFill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3F515D"/>
                </a:solidFill>
              </a:defRPr>
            </a:pPr>
            <a:endParaRPr lang="ja-JP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r>
              <a:rPr sz="1200" b="1">
                <a:solidFill>
                  <a:srgbClr val="142735"/>
                </a:solidFill>
              </a:rPr>
              <a:t>High-fidelity external RMSE  [K]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learned</c:v>
          </c:tx>
          <c:spPr>
            <a:solidFill>
              <a:srgbClr val="4F9D9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3F515D"/>
                    </a:solidFill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HV01
conjugate</c:v>
              </c:pt>
              <c:pt idx="1">
                <c:v>HV02
radiation</c:v>
              </c:pt>
            </c:strLit>
          </c:cat>
          <c:val>
            <c:numLit>
              <c:formatCode>0.000</c:formatCode>
              <c:ptCount val="2"/>
              <c:pt idx="0">
                <c:v>4.7653000000000001E-2</c:v>
              </c:pt>
              <c:pt idx="1">
                <c:v>0.14358399999999999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00-4149-9B2B-587FB31D7AB3}"/>
            </c:ext>
          </c:extLst>
        </c:ser>
        <c:ser>
          <c:idx val="1"/>
          <c:order val="1"/>
          <c:tx>
            <c:v>prior</c:v>
          </c:tx>
          <c:spPr>
            <a:solidFill>
              <a:srgbClr val="D5DEE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3F515D"/>
                    </a:solidFill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HV01
conjugate</c:v>
              </c:pt>
              <c:pt idx="1">
                <c:v>HV02
radiation</c:v>
              </c:pt>
            </c:strLit>
          </c:cat>
          <c:val>
            <c:numLit>
              <c:formatCode>0.000</c:formatCode>
              <c:ptCount val="2"/>
              <c:pt idx="0">
                <c:v>0.97693200000000002</c:v>
              </c:pt>
              <c:pt idx="1">
                <c:v>0.80090600000000001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700-4149-9B2B-587FB31D7A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3F515D"/>
                </a:solidFill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>
              <a:solidFill>
                <a:srgbClr val="E6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5DEE3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F7E87"/>
                </a:solidFill>
              </a:defRPr>
            </a:pPr>
            <a:endParaRPr lang="ja-JP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3F515D"/>
              </a:solidFill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</a:t>
            </a:r>
          </a:p>
          <a:p>
            <a:r>
              <a:t>Repository: thermal-cell-practical, commit f1b979f9b57ae2262a74cf26d6ba6b250f7698ab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sections 2, 3, 9 and 10.</a:t>
            </a:r>
          </a:p>
          <a:p>
            <a:r>
              <a:t>Implementation responsibility map: src/celltemp/domain, engine, learning and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external_tools/comsol_chip_cooling/system_nonlinear.yaml</a:t>
            </a:r>
          </a:p>
          <a:p>
            <a:r>
              <a:t>Source: docs/technical_specification.md sections 4.2 to 4.4 and 6.1.</a:t>
            </a:r>
          </a:p>
          <a:p>
            <a:r>
              <a:t>Conductance values shown are engineering priors in the system definition, not the fitted high-fidelity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sections 4.2, 4.3, 4.8 and 4.10.</a:t>
            </a:r>
          </a:p>
          <a:p>
            <a:r>
              <a:t>References: Farina and Rinaldi, Positive Linear Systems; Huang et al., HotSpot compact thermal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 5.</a:t>
            </a:r>
          </a:p>
          <a:p>
            <a:r>
              <a:t>References: Van Loan (matrix exponential integrals), Higham (scaling and squaring), Dahlquist (A-stability).</a:t>
            </a:r>
          </a:p>
          <a:p>
            <a:r>
              <a:t>Editable native table on this slide compares the two implemented integrators.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 6.</a:t>
            </a:r>
          </a:p>
          <a:p>
            <a:r>
              <a:t>References: Huber (robust loss), Kingma and Ba (Adam), PyTorch autograd documentation.</a:t>
            </a:r>
          </a:p>
          <a:p>
            <a:r>
              <a:t>The project uses PyTorch for automatic differentiation and optimization; it does not construct a neural network for the thermal state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 7.</a:t>
            </a:r>
          </a:p>
          <a:p>
            <a:r>
              <a:t>Forecast contract: the first fully unobserved row defines the future suffix; observations may not reappear after that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 8.</a:t>
            </a:r>
          </a:p>
          <a:p>
            <a:r>
              <a:t>Benchmark source: external_tools/comsol_chip_cooling/reports/cae_benchmark_report/source_data/linear_monitor_metrics.csv</a:t>
            </a:r>
          </a:p>
          <a:p>
            <a:r>
              <a:t>References: Kalman (1960), Van Loan (1978), Bar-Shalom et al. (2001).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benchmarks/topcell/work/outputs/benchmark/forecast_by_case.csv</a:t>
            </a:r>
          </a:p>
          <a:p>
            <a:r>
              <a:t>Source: benchmarks/topcell/work/outputs/benchmark/benchmark_summary.json</a:t>
            </a:r>
          </a:p>
          <a:p>
            <a:r>
              <a:t>The native chart embeds the eleven core-case RMSE values. F11 is not included in the chart because it is an intentional model-gap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external_tools/comsol_chip_cooling/reports/cae_benchmark_report/source_data/linear_forecast_metrics.csv</a:t>
            </a:r>
          </a:p>
          <a:p>
            <a:r>
              <a:t>Source: external_tools/comsol_chip_cooling/data/qa_summary.csv</a:t>
            </a:r>
          </a:p>
          <a:p>
            <a:r>
              <a:t>The native chart embeds the eight external forecast RMSE values. Reported temperatures are volume averages; hotspot metrics are separate columns in the source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external_tools/comsol_chip_cooling/data/nonlinear_high_fidelity/benchmark/summary.json</a:t>
            </a:r>
          </a:p>
          <a:p>
            <a:r>
              <a:t>Source: external_tools/comsol_chip_cooling/reports/cae_benchmark_report/source_data/high_fidelity_case_metrics.csv</a:t>
            </a:r>
          </a:p>
          <a:p>
            <a:r>
              <a:t>Source: external_tools/comsol_chip_cooling/reports/cae_benchmark_report/source_data/mesh_summary.csv</a:t>
            </a:r>
          </a:p>
          <a:p>
            <a:r>
              <a:t>The high-fidelity data are permitted for model-form screening only. Mesh, temporal and experimental qualification remain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docs/technical_specification.md sections 11 and 12.</a:t>
            </a:r>
          </a:p>
          <a:p>
            <a:r>
              <a:t>Software quality status reflects the repository fast quality gate observed for the documented revision.</a:t>
            </a:r>
          </a:p>
          <a:p>
            <a:r>
              <a:t>Editable native table on this slide separates implementation readiness from physical validation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specification: docs/technical_specification.md</a:t>
            </a:r>
          </a:p>
          <a:p>
            <a:r>
              <a:t>R2 https://doi.org/10.1109/TVLSI.2006.876103</a:t>
            </a:r>
          </a:p>
          <a:p>
            <a:r>
              <a:t>R3 https://onlinelibrary.wiley.com/doi/book/10.1002/9781118033029</a:t>
            </a:r>
          </a:p>
          <a:p>
            <a:r>
              <a:t>R4 https://doi.org/10.1115/1.3662552</a:t>
            </a:r>
          </a:p>
          <a:p>
            <a:r>
              <a:t>R5 https://ieeexplore.ieee.org/document/1101743/</a:t>
            </a:r>
          </a:p>
          <a:p>
            <a:r>
              <a:t>R6 https://epubs.siam.org/doi/10.1137/04061101X</a:t>
            </a:r>
          </a:p>
          <a:p>
            <a:r>
              <a:t>R8 https://doi.org/10.1007/BF01963532</a:t>
            </a:r>
          </a:p>
          <a:p>
            <a:r>
              <a:t>R9 https://doi.org/10.1214/aoms/1177703732</a:t>
            </a:r>
          </a:p>
          <a:p>
            <a:r>
              <a:t>R10 https://arxiv.org/abs/1412.6980</a:t>
            </a:r>
          </a:p>
          <a:p>
            <a:r>
              <a:t>R16 https://doc.comsol.com/6.4/doc/com.comsol.help.heat/heat_introduction.02.03.html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F75101-B598-4B2B-B99E-7C210D59EE5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THERMAL-CELL-PRACTICAL</a:t>
            </a:r>
          </a:p>
        </p:txBody>
      </p:sp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41681F01-D06E-4282-B995-3A3F82C9B35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28700" cy="0"/>
          </a:xfrm>
          <a:prstGeom prst="line">
            <a:avLst/>
          </a:prstGeom>
          <a:noFill/>
          <a:ln w="47625">
            <a:solidFill>
              <a:srgbClr val="4F9D9B"/>
            </a:solidFill>
            <a:prstDash val="solid"/>
          </a:ln>
        </p:spPr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533770-7492-4F24-B033-AB15BE1F9A58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9334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熱RCモデルによる</a:t>
            </a:r>
          </a:p>
          <a:p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温度同定・予測・状態監視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A35AF2-CAA8-4ED0-8BE3-55A339F48A71}"/>
              </a:ext>
            </a:extLst>
          </p:cNvPr>
          <p:cNvSpPr>
            <a:spLocks noGrp="1"/>
          </p:cNvSpPr>
          <p:nvPr/>
        </p:nvSpPr>
        <p:spPr>
          <a:xfrm>
            <a:off x="723900" y="3400425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D8E4E9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D8E4E9"/>
                </a:solidFill>
                <a:latin typeface="Noto Sans JP"/>
                <a:ea typeface="Noto Sans JP"/>
                <a:cs typeface="Noto Sans JP"/>
              </a:rPr>
              <a:t>物理モデル、数値計算、機械学習、CAEベンチマークの技術レビュー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2F6D4B-A9F2-4BC8-B41D-14163CAC3431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10820400" cy="9525"/>
          </a:xfrm>
          <a:prstGeom prst="rect">
            <a:avLst/>
          </a:prstGeom>
          <a:solidFill>
            <a:srgbClr val="42606E"/>
          </a:solidFill>
          <a:ln w="0">
            <a:noFill/>
            <a:prstDash val="solid"/>
          </a:ln>
        </p:spPr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E20BACD-E12A-498F-BDEE-039F875CD58A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対象仕様書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D31640-CEEE-41CC-9798-DC2872C5694E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docs/technical_specification.md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29CA48-7733-4B93-ACEE-CC1E25F50DB0}"/>
              </a:ext>
            </a:extLst>
          </p:cNvPr>
          <p:cNvSpPr>
            <a:spLocks noGrp="1"/>
          </p:cNvSpPr>
          <p:nvPr/>
        </p:nvSpPr>
        <p:spPr>
          <a:xfrm>
            <a:off x="9620250" y="596265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AFC2C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AFC2CB"/>
                </a:solidFill>
                <a:latin typeface="Noto Sans JP"/>
                <a:ea typeface="Noto Sans JP"/>
                <a:cs typeface="Noto Sans JP"/>
              </a:rPr>
              <a:t>2026-09-16</a:t>
            </a:r>
          </a:p>
        </p:txBody>
      </p:sp>
    </p:spTree>
    <p:extLst>
      <p:ext uri="{BB962C8B-B14F-4D97-AF65-F5344CB8AC3E}">
        <p14:creationId xmlns:p14="http://schemas.microsoft.com/office/powerpoint/2010/main" val="1569261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8C4BB957-EAF2-463E-BFD5-B45A2EE5C1C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SYSTEM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A3A4E6F-E981-4077-83D8-9D1A15DFED67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同じ物理状態定義を学習・予測・監視で共有する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0CD303D-E960-4106-952A-A49BC35F1E40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オフライン同定とオンライン推論を、データ契約と評価ゲートで接続する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0829A278-BC74-4DD4-A1CB-F25CE88CA8D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3DE0935-68E0-4DC8-840B-432B51C09D8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DCBFC19-3DC4-4990-A307-99E3E767B5F3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1866900" cy="2238375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61F2C01-E329-4948-A1ED-533852F8F2DF}"/>
              </a:ext>
            </a:extLst>
          </p:cNvPr>
          <p:cNvSpPr>
            <a:spLocks noGrp="1"/>
          </p:cNvSpPr>
          <p:nvPr/>
        </p:nvSpPr>
        <p:spPr>
          <a:xfrm>
            <a:off x="838200" y="20859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394F7FD-9F45-409C-8CD2-EB9B7531E8E3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データ契約</a:t>
            </a:r>
          </a:p>
        </p:txBody>
      </p:sp>
      <p:sp>
        <p:nvSpPr>
          <p:cNvPr id="9" name="直線コネクタ 8">
            <a:extLst>
              <a:ext uri="{FF2B5EF4-FFF2-40B4-BE49-F238E27FC236}">
                <a16:creationId xmlns:a16="http://schemas.microsoft.com/office/drawing/2014/main" id="{7E76FEA4-3264-4948-BDD0-E1A27C117527}"/>
              </a:ext>
            </a:extLst>
          </p:cNvPr>
          <p:cNvSpPr>
            <a:spLocks noGrp="1"/>
          </p:cNvSpPr>
          <p:nvPr/>
        </p:nvSpPr>
        <p:spPr>
          <a:xfrm>
            <a:off x="838200" y="2943225"/>
            <a:ext cx="1524000" cy="0"/>
          </a:xfrm>
          <a:prstGeom prst="line">
            <a:avLst/>
          </a:prstGeom>
          <a:noFill/>
          <a:ln w="28575">
            <a:solidFill>
              <a:srgbClr val="285E8E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BEF823E-A75F-47CC-B9BE-E8C373A5DB89}"/>
              </a:ext>
            </a:extLst>
          </p:cNvPr>
          <p:cNvSpPr>
            <a:spLocks noGrp="1"/>
          </p:cNvSpPr>
          <p:nvPr/>
        </p:nvSpPr>
        <p:spPr>
          <a:xfrm>
            <a:off x="838200" y="3152775"/>
            <a:ext cx="1524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CSV / YAML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単位・時刻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欠測mask・ZOH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7278D26-5833-49C1-A318-910F00275405}"/>
              </a:ext>
            </a:extLst>
          </p:cNvPr>
          <p:cNvSpPr>
            <a:spLocks noGrp="1"/>
          </p:cNvSpPr>
          <p:nvPr/>
        </p:nvSpPr>
        <p:spPr>
          <a:xfrm>
            <a:off x="2857500" y="1943100"/>
            <a:ext cx="1866900" cy="2238375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AEABCC8-F5B6-41B7-B65A-045FE420532F}"/>
              </a:ext>
            </a:extLst>
          </p:cNvPr>
          <p:cNvSpPr>
            <a:spLocks noGrp="1"/>
          </p:cNvSpPr>
          <p:nvPr/>
        </p:nvSpPr>
        <p:spPr>
          <a:xfrm>
            <a:off x="3028950" y="20859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ACA249A-C713-4D44-BA56-A441EDD7B0FA}"/>
              </a:ext>
            </a:extLst>
          </p:cNvPr>
          <p:cNvSpPr>
            <a:spLocks noGrp="1"/>
          </p:cNvSpPr>
          <p:nvPr/>
        </p:nvSpPr>
        <p:spPr>
          <a:xfrm>
            <a:off x="3028950" y="2457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物理同定</a:t>
            </a:r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05D573B5-9120-4E3E-B171-82080B45CC6E}"/>
              </a:ext>
            </a:extLst>
          </p:cNvPr>
          <p:cNvSpPr>
            <a:spLocks noGrp="1"/>
          </p:cNvSpPr>
          <p:nvPr/>
        </p:nvSpPr>
        <p:spPr>
          <a:xfrm>
            <a:off x="3028950" y="2943225"/>
            <a:ext cx="1524000" cy="0"/>
          </a:xfrm>
          <a:prstGeom prst="line">
            <a:avLst/>
          </a:prstGeom>
          <a:noFill/>
          <a:ln w="28575">
            <a:solidFill>
              <a:srgbClr val="4F9D9B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05D922E-EC01-4422-BAA7-1A66ABA9898A}"/>
              </a:ext>
            </a:extLst>
          </p:cNvPr>
          <p:cNvSpPr>
            <a:spLocks noGrp="1"/>
          </p:cNvSpPr>
          <p:nvPr/>
        </p:nvSpPr>
        <p:spPr>
          <a:xfrm>
            <a:off x="3028950" y="3152775"/>
            <a:ext cx="1524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RC rollout / Huber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Adam最適化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因果validation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40E5BF2-4A9A-442F-8AFF-32FC500B3E48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1866900" cy="2238375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814D9D-7E18-4F53-BC7E-E6614C2C8D2E}"/>
              </a:ext>
            </a:extLst>
          </p:cNvPr>
          <p:cNvSpPr>
            <a:spLocks noGrp="1"/>
          </p:cNvSpPr>
          <p:nvPr/>
        </p:nvSpPr>
        <p:spPr>
          <a:xfrm>
            <a:off x="5219700" y="20859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C8A6E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4C8A6E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AB4DCFC-86F6-48BF-9FF7-A90F00E09876}"/>
              </a:ext>
            </a:extLst>
          </p:cNvPr>
          <p:cNvSpPr>
            <a:spLocks noGrp="1"/>
          </p:cNvSpPr>
          <p:nvPr/>
        </p:nvSpPr>
        <p:spPr>
          <a:xfrm>
            <a:off x="5219700" y="2457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将来予測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95DF9D8C-463C-4C5E-8032-1553DFEC6FBB}"/>
              </a:ext>
            </a:extLst>
          </p:cNvPr>
          <p:cNvSpPr>
            <a:spLocks noGrp="1"/>
          </p:cNvSpPr>
          <p:nvPr/>
        </p:nvSpPr>
        <p:spPr>
          <a:xfrm>
            <a:off x="5219700" y="2943225"/>
            <a:ext cx="1524000" cy="0"/>
          </a:xfrm>
          <a:prstGeom prst="line">
            <a:avLst/>
          </a:prstGeom>
          <a:noFill/>
          <a:ln w="28575">
            <a:solidFill>
              <a:srgbClr val="4C8A6E"/>
            </a:solidFill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7E932E3-7250-477C-B671-7289D83A6FE6}"/>
              </a:ext>
            </a:extLst>
          </p:cNvPr>
          <p:cNvSpPr>
            <a:spLocks noGrp="1"/>
          </p:cNvSpPr>
          <p:nvPr/>
        </p:nvSpPr>
        <p:spPr>
          <a:xfrm>
            <a:off x="5219700" y="3152775"/>
            <a:ext cx="1524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履歴同化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開ループsuffix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状態共分散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5205519-1FAF-4D13-8C12-05D93D524DA5}"/>
              </a:ext>
            </a:extLst>
          </p:cNvPr>
          <p:cNvSpPr>
            <a:spLocks noGrp="1"/>
          </p:cNvSpPr>
          <p:nvPr/>
        </p:nvSpPr>
        <p:spPr>
          <a:xfrm>
            <a:off x="7239000" y="1943100"/>
            <a:ext cx="1866900" cy="2238375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5BBCB35-DC23-4B25-B7F8-8F8069CD0037}"/>
              </a:ext>
            </a:extLst>
          </p:cNvPr>
          <p:cNvSpPr>
            <a:spLocks noGrp="1"/>
          </p:cNvSpPr>
          <p:nvPr/>
        </p:nvSpPr>
        <p:spPr>
          <a:xfrm>
            <a:off x="7410450" y="20859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6A84B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D6A84B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AEDEDB9-4CF7-4A78-B86F-5380B0E9AE5A}"/>
              </a:ext>
            </a:extLst>
          </p:cNvPr>
          <p:cNvSpPr>
            <a:spLocks noGrp="1"/>
          </p:cNvSpPr>
          <p:nvPr/>
        </p:nvSpPr>
        <p:spPr>
          <a:xfrm>
            <a:off x="7410450" y="2457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状態監視</a:t>
            </a:r>
          </a:p>
        </p:txBody>
      </p:sp>
      <p:sp>
        <p:nvSpPr>
          <p:cNvPr id="24" name="直線コネクタ 23">
            <a:extLst>
              <a:ext uri="{FF2B5EF4-FFF2-40B4-BE49-F238E27FC236}">
                <a16:creationId xmlns:a16="http://schemas.microsoft.com/office/drawing/2014/main" id="{7695BD04-0D7E-414D-9A67-051838F9B72C}"/>
              </a:ext>
            </a:extLst>
          </p:cNvPr>
          <p:cNvSpPr>
            <a:spLocks noGrp="1"/>
          </p:cNvSpPr>
          <p:nvPr/>
        </p:nvSpPr>
        <p:spPr>
          <a:xfrm>
            <a:off x="7410450" y="2943225"/>
            <a:ext cx="1524000" cy="0"/>
          </a:xfrm>
          <a:prstGeom prst="line">
            <a:avLst/>
          </a:prstGeom>
          <a:noFill/>
          <a:ln w="28575">
            <a:solidFill>
              <a:srgbClr val="D6A84B"/>
            </a:solidFill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469C762-B242-43D0-8CB5-B8F7703198A4}"/>
              </a:ext>
            </a:extLst>
          </p:cNvPr>
          <p:cNvSpPr>
            <a:spLocks noGrp="1"/>
          </p:cNvSpPr>
          <p:nvPr/>
        </p:nvSpPr>
        <p:spPr>
          <a:xfrm>
            <a:off x="7410450" y="3152775"/>
            <a:ext cx="1524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Kalman update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未知熱・sensor bias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innovation・NIS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9221153-AF47-4030-AFFC-CFA10B9627B3}"/>
              </a:ext>
            </a:extLst>
          </p:cNvPr>
          <p:cNvSpPr>
            <a:spLocks noGrp="1"/>
          </p:cNvSpPr>
          <p:nvPr/>
        </p:nvSpPr>
        <p:spPr>
          <a:xfrm>
            <a:off x="9429750" y="1943100"/>
            <a:ext cx="1866900" cy="2238375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F0F0BC5-C50A-4319-B1A1-C0DD02EFA982}"/>
              </a:ext>
            </a:extLst>
          </p:cNvPr>
          <p:cNvSpPr>
            <a:spLocks noGrp="1"/>
          </p:cNvSpPr>
          <p:nvPr/>
        </p:nvSpPr>
        <p:spPr>
          <a:xfrm>
            <a:off x="9601200" y="20859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617E371-EEBA-469A-96FC-A2E7CD414265}"/>
              </a:ext>
            </a:extLst>
          </p:cNvPr>
          <p:cNvSpPr>
            <a:spLocks noGrp="1"/>
          </p:cNvSpPr>
          <p:nvPr/>
        </p:nvSpPr>
        <p:spPr>
          <a:xfrm>
            <a:off x="9601200" y="24574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適用判定</a:t>
            </a:r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3EDB42C5-5415-4465-A0E7-9FCAD9447A9B}"/>
              </a:ext>
            </a:extLst>
          </p:cNvPr>
          <p:cNvSpPr>
            <a:spLocks noGrp="1"/>
          </p:cNvSpPr>
          <p:nvPr/>
        </p:nvSpPr>
        <p:spPr>
          <a:xfrm>
            <a:off x="9601200" y="2943225"/>
            <a:ext cx="1524000" cy="0"/>
          </a:xfrm>
          <a:prstGeom prst="line">
            <a:avLst/>
          </a:prstGeom>
          <a:noFill/>
          <a:ln w="28575">
            <a:solidFill>
              <a:srgbClr val="D97963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803F522-9ABA-4BBE-9047-E689210A61EF}"/>
              </a:ext>
            </a:extLst>
          </p:cNvPr>
          <p:cNvSpPr>
            <a:spLocks noGrp="1"/>
          </p:cNvSpPr>
          <p:nvPr/>
        </p:nvSpPr>
        <p:spPr>
          <a:xfrm>
            <a:off x="9601200" y="3152775"/>
            <a:ext cx="1524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外部RMSE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model gap</a:t>
            </a: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CAE・実験</a:t>
            </a:r>
          </a:p>
        </p:txBody>
      </p:sp>
      <p:cxnSp>
        <p:nvCxnSpPr>
          <p:cNvPr id="78" name="直線矢印コネクタ 77"/>
          <p:cNvCxnSpPr>
            <a:stCxn id="6" idx="3"/>
            <a:endCxn id="11" idx="1"/>
          </p:cNvCxnSpPr>
          <p:nvPr/>
        </p:nvCxnSpPr>
        <p:spPr>
          <a:xfrm>
            <a:off x="2533650" y="3062288"/>
            <a:ext cx="32385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79" name="直線矢印コネクタ 78"/>
          <p:cNvCxnSpPr>
            <a:stCxn id="11" idx="3"/>
            <a:endCxn id="16" idx="1"/>
          </p:cNvCxnSpPr>
          <p:nvPr/>
        </p:nvCxnSpPr>
        <p:spPr>
          <a:xfrm>
            <a:off x="4724400" y="3062288"/>
            <a:ext cx="32385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80" name="直線矢印コネクタ 79"/>
          <p:cNvCxnSpPr>
            <a:stCxn id="16" idx="3"/>
            <a:endCxn id="21" idx="1"/>
          </p:cNvCxnSpPr>
          <p:nvPr/>
        </p:nvCxnSpPr>
        <p:spPr>
          <a:xfrm>
            <a:off x="6915150" y="3062288"/>
            <a:ext cx="32385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81" name="直線矢印コネクタ 80"/>
          <p:cNvCxnSpPr>
            <a:stCxn id="21" idx="3"/>
            <a:endCxn id="26" idx="1"/>
          </p:cNvCxnSpPr>
          <p:nvPr/>
        </p:nvCxnSpPr>
        <p:spPr>
          <a:xfrm>
            <a:off x="9105900" y="3062288"/>
            <a:ext cx="32385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265751C6-3A11-463C-BCD9-97DB703C57A8}"/>
              </a:ext>
            </a:extLst>
          </p:cNvPr>
          <p:cNvSpPr>
            <a:spLocks noGrp="1"/>
          </p:cNvSpPr>
          <p:nvPr/>
        </p:nvSpPr>
        <p:spPr>
          <a:xfrm>
            <a:off x="1809750" y="15240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E8F0F6"/>
          </a:solidFill>
          <a:ln w="9525">
            <a:solidFill>
              <a:srgbClr val="285E8E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C38D5F7-F1D4-4708-A5AD-44A3055805D5}"/>
              </a:ext>
            </a:extLst>
          </p:cNvPr>
          <p:cNvSpPr>
            <a:spLocks noGrp="1"/>
          </p:cNvSpPr>
          <p:nvPr/>
        </p:nvSpPr>
        <p:spPr>
          <a:xfrm>
            <a:off x="1866900" y="15335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rPr>
              <a:t>OFFLINE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35DBFE04-C7CB-4D4A-B095-32EB09F4F8D4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E0ECE6"/>
          </a:solidFill>
          <a:ln w="9525">
            <a:solidFill>
              <a:srgbClr val="4C8A6E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496C942-4687-42DD-BFF5-77C946AC4AB7}"/>
              </a:ext>
            </a:extLst>
          </p:cNvPr>
          <p:cNvSpPr>
            <a:spLocks noGrp="1"/>
          </p:cNvSpPr>
          <p:nvPr/>
        </p:nvSpPr>
        <p:spPr>
          <a:xfrm>
            <a:off x="6105525" y="15335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C8A6E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C8A6E"/>
                </a:solidFill>
                <a:latin typeface="Noto Sans JP"/>
                <a:ea typeface="Noto Sans JP"/>
                <a:cs typeface="Noto Sans JP"/>
              </a:rPr>
              <a:t>ONLINE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1EC976AA-6CA8-44C0-A3FB-14FDB374C4DA}"/>
              </a:ext>
            </a:extLst>
          </p:cNvPr>
          <p:cNvSpPr>
            <a:spLocks noGrp="1"/>
          </p:cNvSpPr>
          <p:nvPr/>
        </p:nvSpPr>
        <p:spPr>
          <a:xfrm>
            <a:off x="10001250" y="15240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F4DFDA"/>
          </a:solidFill>
          <a:ln w="9525">
            <a:solidFill>
              <a:srgbClr val="D97963"/>
            </a:solidFill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85AFAB5-EDB0-428E-9863-2B3F105F17CD}"/>
              </a:ext>
            </a:extLst>
          </p:cNvPr>
          <p:cNvSpPr>
            <a:spLocks noGrp="1"/>
          </p:cNvSpPr>
          <p:nvPr/>
        </p:nvSpPr>
        <p:spPr>
          <a:xfrm>
            <a:off x="10058400" y="15335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rPr>
              <a:t>EVIDENCE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6BBFFD7-E973-4CC9-831A-7273D2ECD90F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10629900" cy="1285875"/>
          </a:xfrm>
          <a:prstGeom prst="roundRect">
            <a:avLst>
              <a:gd name="adj" fmla="val 8889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0560B5A-707F-4881-9089-284CA85E4E8E}"/>
              </a:ext>
            </a:extLst>
          </p:cNvPr>
          <p:cNvSpPr>
            <a:spLocks noGrp="1"/>
          </p:cNvSpPr>
          <p:nvPr/>
        </p:nvSpPr>
        <p:spPr>
          <a:xfrm>
            <a:off x="895350" y="4752975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共有される中核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07CCB81-9F71-4817-97FA-120FFC4C4513}"/>
              </a:ext>
            </a:extLst>
          </p:cNvPr>
          <p:cNvSpPr>
            <a:spLocks noGrp="1"/>
          </p:cNvSpPr>
          <p:nvPr/>
        </p:nvSpPr>
        <p:spPr>
          <a:xfrm>
            <a:off x="895350" y="5153025"/>
            <a:ext cx="1762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T  ノード温度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32E1AF3-77D8-4E5C-833C-08077B89EB9A}"/>
              </a:ext>
            </a:extLst>
          </p:cNvPr>
          <p:cNvSpPr>
            <a:spLocks noGrp="1"/>
          </p:cNvSpPr>
          <p:nvPr/>
        </p:nvSpPr>
        <p:spPr>
          <a:xfrm>
            <a:off x="2895600" y="5153025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  熱容量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739B7AA-FEF9-4B8E-BD2A-6795EDB6932A}"/>
              </a:ext>
            </a:extLst>
          </p:cNvPr>
          <p:cNvSpPr>
            <a:spLocks noGrp="1"/>
          </p:cNvSpPr>
          <p:nvPr/>
        </p:nvSpPr>
        <p:spPr>
          <a:xfrm>
            <a:off x="4695825" y="5153025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G  コンダクタンス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CE147F4-2C15-464E-B596-83B3DEB56F71}"/>
              </a:ext>
            </a:extLst>
          </p:cNvPr>
          <p:cNvSpPr>
            <a:spLocks noGrp="1"/>
          </p:cNvSpPr>
          <p:nvPr/>
        </p:nvSpPr>
        <p:spPr>
          <a:xfrm>
            <a:off x="7086600" y="5153025"/>
            <a:ext cx="1762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H  観測行列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A3D0B50B-25A9-4FBC-A854-D4A1D82B8F09}"/>
              </a:ext>
            </a:extLst>
          </p:cNvPr>
          <p:cNvSpPr>
            <a:spLocks noGrp="1"/>
          </p:cNvSpPr>
          <p:nvPr/>
        </p:nvSpPr>
        <p:spPr>
          <a:xfrm>
            <a:off x="9144000" y="5153025"/>
            <a:ext cx="1857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8E4E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D8E4E9"/>
                </a:solidFill>
                <a:latin typeface="Noto Sans JP"/>
                <a:ea typeface="Noto Sans JP"/>
                <a:cs typeface="Noto Sans JP"/>
              </a:rPr>
              <a:t>system schema v3</a:t>
            </a:r>
          </a:p>
        </p:txBody>
      </p:sp>
    </p:spTree>
    <p:extLst>
      <p:ext uri="{BB962C8B-B14F-4D97-AF65-F5344CB8AC3E}">
        <p14:creationId xmlns:p14="http://schemas.microsoft.com/office/powerpoint/2010/main" val="196921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DE5EC1B-F89F-435E-A268-9C61BE9B1D3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PHYSICS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6B6C37-C459-4F75-A120-4963D85FA38C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COMSOL評価用の3ノード集中定数伝熱回路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7BCD0D8-6045-414C-9001-258119E30E76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熱容量は物性・体積から固定し、内部および境界コンダクタンスを同定する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E095268C-66D5-469B-B7E9-0E622D6C99E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3B4082-99B5-4EE6-9E42-1A1F0523421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6C02AFF-F135-472D-A537-3E41717AE1F8}"/>
              </a:ext>
            </a:extLst>
          </p:cNvPr>
          <p:cNvSpPr>
            <a:spLocks noGrp="1"/>
          </p:cNvSpPr>
          <p:nvPr/>
        </p:nvSpPr>
        <p:spPr>
          <a:xfrm>
            <a:off x="428625" y="26860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D9796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D97963"/>
                </a:solidFill>
                <a:latin typeface="Cambria Math"/>
                <a:ea typeface="Cambria Math"/>
                <a:cs typeface="Cambria Math"/>
              </a:rPr>
              <a:t>Pchip(t)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BF551A0-5C79-4B47-9E2E-79A3EAB737F3}"/>
              </a:ext>
            </a:extLst>
          </p:cNvPr>
          <p:cNvSpPr>
            <a:spLocks noGrp="1"/>
          </p:cNvSpPr>
          <p:nvPr/>
        </p:nvSpPr>
        <p:spPr>
          <a:xfrm>
            <a:off x="600075" y="3105150"/>
            <a:ext cx="933450" cy="457200"/>
          </a:xfrm>
          <a:prstGeom prst="roundRect">
            <a:avLst>
              <a:gd name="adj" fmla="val 50000"/>
            </a:avLst>
          </a:prstGeom>
          <a:solidFill>
            <a:srgbClr val="F4DFDA"/>
          </a:solidFill>
          <a:ln w="19050">
            <a:solidFill>
              <a:srgbClr val="D97963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DB77F60-7AF3-4AE7-9B19-DBBAE7153F22}"/>
              </a:ext>
            </a:extLst>
          </p:cNvPr>
          <p:cNvSpPr>
            <a:spLocks noGrp="1"/>
          </p:cNvSpPr>
          <p:nvPr/>
        </p:nvSpPr>
        <p:spPr>
          <a:xfrm>
            <a:off x="657225" y="3152775"/>
            <a:ext cx="819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B9574A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B9574A"/>
                </a:solidFill>
                <a:latin typeface="Noto Sans JP"/>
                <a:ea typeface="Noto Sans JP"/>
                <a:cs typeface="Noto Sans JP"/>
              </a:rPr>
              <a:t>発熱入力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E8492CA-2BA6-4F91-BBB7-B54A134D7F38}"/>
              </a:ext>
            </a:extLst>
          </p:cNvPr>
          <p:cNvSpPr>
            <a:spLocks noGrp="1"/>
          </p:cNvSpPr>
          <p:nvPr/>
        </p:nvSpPr>
        <p:spPr>
          <a:xfrm>
            <a:off x="2143125" y="2266950"/>
            <a:ext cx="1962150" cy="1676400"/>
          </a:xfrm>
          <a:prstGeom prst="roundRect">
            <a:avLst>
              <a:gd name="adj" fmla="val 6818"/>
            </a:avLst>
          </a:prstGeom>
          <a:solidFill>
            <a:srgbClr val="F4DFDA"/>
          </a:solidFill>
          <a:ln w="19050">
            <a:solidFill>
              <a:srgbClr val="D97963"/>
            </a:solidFill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3E4AD91-765E-4E46-8361-CEFCD187F7E2}"/>
              </a:ext>
            </a:extLst>
          </p:cNvPr>
          <p:cNvSpPr>
            <a:spLocks noGrp="1"/>
          </p:cNvSpPr>
          <p:nvPr/>
        </p:nvSpPr>
        <p:spPr>
          <a:xfrm>
            <a:off x="2333625" y="2466975"/>
            <a:ext cx="158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B9574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B9574A"/>
                </a:solidFill>
                <a:latin typeface="Noto Sans JP"/>
                <a:ea typeface="Noto Sans JP"/>
                <a:cs typeface="Noto Sans JP"/>
              </a:rPr>
              <a:t>chip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5D94871-389C-4FDD-A145-063534A73170}"/>
              </a:ext>
            </a:extLst>
          </p:cNvPr>
          <p:cNvSpPr>
            <a:spLocks noGrp="1"/>
          </p:cNvSpPr>
          <p:nvPr/>
        </p:nvSpPr>
        <p:spPr>
          <a:xfrm>
            <a:off x="2333625" y="2943225"/>
            <a:ext cx="158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Tchip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6584A06-E23B-4541-A1F9-729270479FB4}"/>
              </a:ext>
            </a:extLst>
          </p:cNvPr>
          <p:cNvSpPr>
            <a:spLocks noGrp="1"/>
          </p:cNvSpPr>
          <p:nvPr/>
        </p:nvSpPr>
        <p:spPr>
          <a:xfrm>
            <a:off x="2333625" y="34766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C = 10.43392 J/K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537C402-19FD-4528-9CCA-402AF6BF40CC}"/>
              </a:ext>
            </a:extLst>
          </p:cNvPr>
          <p:cNvSpPr>
            <a:spLocks noGrp="1"/>
          </p:cNvSpPr>
          <p:nvPr/>
        </p:nvSpPr>
        <p:spPr>
          <a:xfrm>
            <a:off x="4419600" y="2790825"/>
            <a:ext cx="12192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D6A84B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BC618C6-C6FD-43D1-87FA-F22EF5A96E66}"/>
              </a:ext>
            </a:extLst>
          </p:cNvPr>
          <p:cNvSpPr>
            <a:spLocks noGrp="1"/>
          </p:cNvSpPr>
          <p:nvPr/>
        </p:nvSpPr>
        <p:spPr>
          <a:xfrm>
            <a:off x="4562475" y="2838450"/>
            <a:ext cx="933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D6A84B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D6A84B"/>
                </a:solidFill>
                <a:latin typeface="Cambria Math"/>
                <a:ea typeface="Cambria Math"/>
                <a:cs typeface="Cambria Math"/>
              </a:rPr>
              <a:t>G₁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6F0DDDB-5D78-4128-BFE4-428E1A1416F6}"/>
              </a:ext>
            </a:extLst>
          </p:cNvPr>
          <p:cNvSpPr>
            <a:spLocks noGrp="1"/>
          </p:cNvSpPr>
          <p:nvPr/>
        </p:nvSpPr>
        <p:spPr>
          <a:xfrm>
            <a:off x="4533900" y="31051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40 W/K prior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96A2546-C228-4E30-906C-B17F58C46249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1962150" cy="1676400"/>
          </a:xfrm>
          <a:prstGeom prst="roundRect">
            <a:avLst>
              <a:gd name="adj" fmla="val 6818"/>
            </a:avLst>
          </a:prstGeom>
          <a:solidFill>
            <a:srgbClr val="F4EAD4"/>
          </a:solidFill>
          <a:ln w="19050">
            <a:solidFill>
              <a:srgbClr val="D6A84B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18A7C72-C688-4BDA-8AB9-A8828570111E}"/>
              </a:ext>
            </a:extLst>
          </p:cNvPr>
          <p:cNvSpPr>
            <a:spLocks noGrp="1"/>
          </p:cNvSpPr>
          <p:nvPr/>
        </p:nvSpPr>
        <p:spPr>
          <a:xfrm>
            <a:off x="6153150" y="2466975"/>
            <a:ext cx="158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9A732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9A7326"/>
                </a:solidFill>
                <a:latin typeface="Noto Sans JP"/>
                <a:ea typeface="Noto Sans JP"/>
                <a:cs typeface="Noto Sans JP"/>
              </a:rPr>
              <a:t>sink_base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CFC33E1-1312-4527-B781-1DF714330E3C}"/>
              </a:ext>
            </a:extLst>
          </p:cNvPr>
          <p:cNvSpPr>
            <a:spLocks noGrp="1"/>
          </p:cNvSpPr>
          <p:nvPr/>
        </p:nvSpPr>
        <p:spPr>
          <a:xfrm>
            <a:off x="6153150" y="2943225"/>
            <a:ext cx="158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Tbase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E4A5CC3-0241-46C1-8D2D-84BE29DD2C5F}"/>
              </a:ext>
            </a:extLst>
          </p:cNvPr>
          <p:cNvSpPr>
            <a:spLocks noGrp="1"/>
          </p:cNvSpPr>
          <p:nvPr/>
        </p:nvSpPr>
        <p:spPr>
          <a:xfrm>
            <a:off x="6153150" y="34766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C = 24.3 J/K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C5A1B1F-6B6F-4E4B-BB0F-59F7DF0B8F35}"/>
              </a:ext>
            </a:extLst>
          </p:cNvPr>
          <p:cNvSpPr>
            <a:spLocks noGrp="1"/>
          </p:cNvSpPr>
          <p:nvPr/>
        </p:nvSpPr>
        <p:spPr>
          <a:xfrm>
            <a:off x="8239125" y="2790825"/>
            <a:ext cx="12192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4F9D9B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3656A3E-8D50-458F-BA69-D82CA89E674B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933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4F9D9B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4F9D9B"/>
                </a:solidFill>
                <a:latin typeface="Cambria Math"/>
                <a:ea typeface="Cambria Math"/>
                <a:cs typeface="Cambria Math"/>
              </a:rPr>
              <a:t>G₂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DD56ADC-FE64-478E-B1B4-12735539F502}"/>
              </a:ext>
            </a:extLst>
          </p:cNvPr>
          <p:cNvSpPr>
            <a:spLocks noGrp="1"/>
          </p:cNvSpPr>
          <p:nvPr/>
        </p:nvSpPr>
        <p:spPr>
          <a:xfrm>
            <a:off x="8353425" y="31051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12 W/K prior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75AB3B17-E1E9-4FBE-A104-A13369C1C436}"/>
              </a:ext>
            </a:extLst>
          </p:cNvPr>
          <p:cNvSpPr>
            <a:spLocks noGrp="1"/>
          </p:cNvSpPr>
          <p:nvPr/>
        </p:nvSpPr>
        <p:spPr>
          <a:xfrm>
            <a:off x="9782175" y="2266950"/>
            <a:ext cx="1790700" cy="1676400"/>
          </a:xfrm>
          <a:prstGeom prst="roundRect">
            <a:avLst>
              <a:gd name="adj" fmla="val 6818"/>
            </a:avLst>
          </a:prstGeom>
          <a:solidFill>
            <a:srgbClr val="DCEDEC"/>
          </a:solidFill>
          <a:ln w="19050">
            <a:solidFill>
              <a:srgbClr val="4F9D9B"/>
            </a:solidFill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703C897-2767-4265-95D9-E40B423E1870}"/>
              </a:ext>
            </a:extLst>
          </p:cNvPr>
          <p:cNvSpPr>
            <a:spLocks noGrp="1"/>
          </p:cNvSpPr>
          <p:nvPr/>
        </p:nvSpPr>
        <p:spPr>
          <a:xfrm>
            <a:off x="9972675" y="2466975"/>
            <a:ext cx="14097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337B79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37B79"/>
                </a:solidFill>
                <a:latin typeface="Noto Sans JP"/>
                <a:ea typeface="Noto Sans JP"/>
                <a:cs typeface="Noto Sans JP"/>
              </a:rPr>
              <a:t>fins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C006C23-B7C0-49FD-A2E7-D63B394BD525}"/>
              </a:ext>
            </a:extLst>
          </p:cNvPr>
          <p:cNvSpPr>
            <a:spLocks noGrp="1"/>
          </p:cNvSpPr>
          <p:nvPr/>
        </p:nvSpPr>
        <p:spPr>
          <a:xfrm>
            <a:off x="9972675" y="2943225"/>
            <a:ext cx="1409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Tfins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BB6161E-8FC5-4208-8272-57BA05E9F17F}"/>
              </a:ext>
            </a:extLst>
          </p:cNvPr>
          <p:cNvSpPr>
            <a:spLocks noGrp="1"/>
          </p:cNvSpPr>
          <p:nvPr/>
        </p:nvSpPr>
        <p:spPr>
          <a:xfrm>
            <a:off x="9972675" y="347662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C = 46.17 J/K</a:t>
            </a:r>
          </a:p>
        </p:txBody>
      </p:sp>
      <p:cxnSp>
        <p:nvCxnSpPr>
          <p:cNvPr id="71" name="直線矢印コネクタ 70"/>
          <p:cNvCxnSpPr>
            <a:stCxn id="7" idx="3"/>
            <a:endCxn id="9" idx="1"/>
          </p:cNvCxnSpPr>
          <p:nvPr/>
        </p:nvCxnSpPr>
        <p:spPr>
          <a:xfrm flipV="1">
            <a:off x="1533525" y="3105150"/>
            <a:ext cx="609600" cy="228600"/>
          </a:xfrm>
          <a:prstGeom prst="straightConnector1">
            <a:avLst/>
          </a:prstGeom>
          <a:ln w="28575">
            <a:solidFill>
              <a:srgbClr val="D97963"/>
            </a:solidFill>
            <a:prstDash val="solid"/>
            <a:tailEnd type="triangle" w="sm" len="sm"/>
          </a:ln>
        </p:spPr>
      </p:cxnSp>
      <p:cxnSp>
        <p:nvCxnSpPr>
          <p:cNvPr id="72" name="直線矢印コネクタ 71"/>
          <p:cNvCxnSpPr>
            <a:stCxn id="9" idx="3"/>
            <a:endCxn id="13" idx="1"/>
          </p:cNvCxnSpPr>
          <p:nvPr/>
        </p:nvCxnSpPr>
        <p:spPr>
          <a:xfrm>
            <a:off x="4105275" y="3105150"/>
            <a:ext cx="314325" cy="0"/>
          </a:xfrm>
          <a:prstGeom prst="straightConnector1">
            <a:avLst/>
          </a:prstGeom>
          <a:ln w="28575">
            <a:solidFill>
              <a:srgbClr val="D6A84B"/>
            </a:solidFill>
            <a:prstDash val="solid"/>
          </a:ln>
        </p:spPr>
      </p:cxnSp>
      <p:cxnSp>
        <p:nvCxnSpPr>
          <p:cNvPr id="73" name="直線矢印コネクタ 72"/>
          <p:cNvCxnSpPr>
            <a:stCxn id="13" idx="3"/>
            <a:endCxn id="16" idx="1"/>
          </p:cNvCxnSpPr>
          <p:nvPr/>
        </p:nvCxnSpPr>
        <p:spPr>
          <a:xfrm>
            <a:off x="5638800" y="3105150"/>
            <a:ext cx="323850" cy="0"/>
          </a:xfrm>
          <a:prstGeom prst="straightConnector1">
            <a:avLst/>
          </a:prstGeom>
          <a:ln w="28575">
            <a:solidFill>
              <a:srgbClr val="D6A84B"/>
            </a:solidFill>
            <a:prstDash val="solid"/>
          </a:ln>
        </p:spPr>
      </p:cxnSp>
      <p:cxnSp>
        <p:nvCxnSpPr>
          <p:cNvPr id="74" name="直線矢印コネクタ 73"/>
          <p:cNvCxnSpPr>
            <a:stCxn id="16" idx="3"/>
            <a:endCxn id="20" idx="1"/>
          </p:cNvCxnSpPr>
          <p:nvPr/>
        </p:nvCxnSpPr>
        <p:spPr>
          <a:xfrm>
            <a:off x="7924800" y="3105150"/>
            <a:ext cx="314325" cy="0"/>
          </a:xfrm>
          <a:prstGeom prst="straightConnector1">
            <a:avLst/>
          </a:prstGeom>
          <a:ln w="28575">
            <a:solidFill>
              <a:srgbClr val="4F9D9B"/>
            </a:solidFill>
            <a:prstDash val="solid"/>
          </a:ln>
        </p:spPr>
      </p:cxnSp>
      <p:cxnSp>
        <p:nvCxnSpPr>
          <p:cNvPr id="75" name="直線矢印コネクタ 74"/>
          <p:cNvCxnSpPr>
            <a:stCxn id="20" idx="3"/>
            <a:endCxn id="23" idx="1"/>
          </p:cNvCxnSpPr>
          <p:nvPr/>
        </p:nvCxnSpPr>
        <p:spPr>
          <a:xfrm>
            <a:off x="9458325" y="3105150"/>
            <a:ext cx="323850" cy="0"/>
          </a:xfrm>
          <a:prstGeom prst="straightConnector1">
            <a:avLst/>
          </a:prstGeom>
          <a:ln w="28575">
            <a:solidFill>
              <a:srgbClr val="4F9D9B"/>
            </a:solidFill>
            <a:prstDash val="solid"/>
          </a:ln>
        </p:spPr>
      </p:cxn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1BA80FB-38C6-4376-AFC5-5A8A79FD6096}"/>
              </a:ext>
            </a:extLst>
          </p:cNvPr>
          <p:cNvSpPr>
            <a:spLocks noGrp="1"/>
          </p:cNvSpPr>
          <p:nvPr/>
        </p:nvSpPr>
        <p:spPr>
          <a:xfrm>
            <a:off x="6572250" y="4543425"/>
            <a:ext cx="31432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85E8E"/>
            </a:solidFill>
            <a:prstDash val="solid"/>
          </a:ln>
        </p:spPr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543A4D8-CB92-4904-B687-61D0FC6FCEEA}"/>
              </a:ext>
            </a:extLst>
          </p:cNvPr>
          <p:cNvSpPr>
            <a:spLocks noGrp="1"/>
          </p:cNvSpPr>
          <p:nvPr/>
        </p:nvSpPr>
        <p:spPr>
          <a:xfrm>
            <a:off x="6743700" y="466725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285E8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85E8E"/>
                </a:solidFill>
                <a:latin typeface="Cambria Math"/>
                <a:ea typeface="Cambria Math"/>
                <a:cs typeface="Cambria Math"/>
              </a:rPr>
              <a:t>h(v) = 0.04 + 0.40 (v / 0.1)⁰·⁸  W/K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CA65BD99-62CF-40CD-8CED-8D182B252B01}"/>
              </a:ext>
            </a:extLst>
          </p:cNvPr>
          <p:cNvSpPr>
            <a:spLocks noGrp="1"/>
          </p:cNvSpPr>
          <p:nvPr/>
        </p:nvSpPr>
        <p:spPr>
          <a:xfrm>
            <a:off x="10153650" y="4591050"/>
            <a:ext cx="1409700" cy="628650"/>
          </a:xfrm>
          <a:prstGeom prst="roundRect">
            <a:avLst>
              <a:gd name="adj" fmla="val 50000"/>
            </a:avLst>
          </a:prstGeom>
          <a:solidFill>
            <a:srgbClr val="E8F0F6"/>
          </a:solidFill>
          <a:ln w="19050">
            <a:solidFill>
              <a:srgbClr val="285E8E"/>
            </a:solidFill>
            <a:prstDash val="solid"/>
          </a:ln>
        </p:spPr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5C73B8D-18AC-4165-92FF-459DF69124F7}"/>
              </a:ext>
            </a:extLst>
          </p:cNvPr>
          <p:cNvSpPr>
            <a:spLocks noGrp="1"/>
          </p:cNvSpPr>
          <p:nvPr/>
        </p:nvSpPr>
        <p:spPr>
          <a:xfrm>
            <a:off x="10277475" y="468630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285E8E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285E8E"/>
                </a:solidFill>
                <a:latin typeface="Cambria Math"/>
                <a:ea typeface="Cambria Math"/>
                <a:cs typeface="Cambria Math"/>
              </a:rPr>
              <a:t>Tcoolant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CDD94AA-B86D-4491-9CA9-90184FAB00A9}"/>
              </a:ext>
            </a:extLst>
          </p:cNvPr>
          <p:cNvSpPr>
            <a:spLocks noGrp="1"/>
          </p:cNvSpPr>
          <p:nvPr/>
        </p:nvSpPr>
        <p:spPr>
          <a:xfrm>
            <a:off x="10277475" y="493395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reservoir</a:t>
            </a:r>
          </a:p>
        </p:txBody>
      </p:sp>
      <p:cxnSp>
        <p:nvCxnSpPr>
          <p:cNvPr id="81" name="直線矢印コネクタ 80"/>
          <p:cNvCxnSpPr>
            <a:stCxn id="16" idx="2"/>
            <a:endCxn id="32" idx="0"/>
          </p:cNvCxnSpPr>
          <p:nvPr/>
        </p:nvCxnSpPr>
        <p:spPr>
          <a:xfrm>
            <a:off x="6943725" y="3943350"/>
            <a:ext cx="1200150" cy="600075"/>
          </a:xfrm>
          <a:prstGeom prst="straightConnector1">
            <a:avLst/>
          </a:prstGeom>
          <a:ln w="19050">
            <a:solidFill>
              <a:srgbClr val="285E8E"/>
            </a:solidFill>
            <a:prstDash val="dash"/>
          </a:ln>
        </p:spPr>
      </p:cxnSp>
      <p:cxnSp>
        <p:nvCxnSpPr>
          <p:cNvPr id="82" name="直線矢印コネクタ 81"/>
          <p:cNvCxnSpPr>
            <a:stCxn id="23" idx="2"/>
            <a:endCxn id="32" idx="0"/>
          </p:cNvCxnSpPr>
          <p:nvPr/>
        </p:nvCxnSpPr>
        <p:spPr>
          <a:xfrm flipH="1">
            <a:off x="8143875" y="3943350"/>
            <a:ext cx="2533650" cy="600075"/>
          </a:xfrm>
          <a:prstGeom prst="straightConnector1">
            <a:avLst/>
          </a:prstGeom>
          <a:ln w="19050">
            <a:solidFill>
              <a:srgbClr val="285E8E"/>
            </a:solidFill>
            <a:prstDash val="dash"/>
          </a:ln>
        </p:spPr>
      </p:cxnSp>
      <p:cxnSp>
        <p:nvCxnSpPr>
          <p:cNvPr id="83" name="直線矢印コネクタ 82"/>
          <p:cNvCxnSpPr>
            <a:stCxn id="32" idx="3"/>
            <a:endCxn id="34" idx="1"/>
          </p:cNvCxnSpPr>
          <p:nvPr/>
        </p:nvCxnSpPr>
        <p:spPr>
          <a:xfrm>
            <a:off x="9715500" y="4905375"/>
            <a:ext cx="438150" cy="0"/>
          </a:xfrm>
          <a:prstGeom prst="straightConnector1">
            <a:avLst/>
          </a:prstGeom>
          <a:ln w="28575">
            <a:solidFill>
              <a:srgbClr val="285E8E"/>
            </a:solidFill>
            <a:prstDash val="solid"/>
          </a:ln>
        </p:spPr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27B2C25-CFA2-464B-B57C-176F98192C3E}"/>
              </a:ext>
            </a:extLst>
          </p:cNvPr>
          <p:cNvSpPr>
            <a:spLocks noGrp="1"/>
          </p:cNvSpPr>
          <p:nvPr/>
        </p:nvSpPr>
        <p:spPr>
          <a:xfrm>
            <a:off x="5591175" y="42005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weight 0.091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EDD79DA-96B4-4362-A9C5-6F5143EDCB30}"/>
              </a:ext>
            </a:extLst>
          </p:cNvPr>
          <p:cNvSpPr>
            <a:spLocks noGrp="1"/>
          </p:cNvSpPr>
          <p:nvPr/>
        </p:nvSpPr>
        <p:spPr>
          <a:xfrm>
            <a:off x="9372600" y="42005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weight 0.909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F6574E85-2119-44E8-BD03-AC27024DDC38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A8D921A-D053-4509-9CFE-94970F013E12}"/>
              </a:ext>
            </a:extLst>
          </p:cNvPr>
          <p:cNvSpPr>
            <a:spLocks noGrp="1"/>
          </p:cNvSpPr>
          <p:nvPr/>
        </p:nvSpPr>
        <p:spPr>
          <a:xfrm>
            <a:off x="800100" y="5667375"/>
            <a:ext cx="102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設計原則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A290592-D1AB-409F-80A9-3E09B2B828DD}"/>
              </a:ext>
            </a:extLst>
          </p:cNvPr>
          <p:cNvSpPr>
            <a:spLocks noGrp="1"/>
          </p:cNvSpPr>
          <p:nvPr/>
        </p:nvSpPr>
        <p:spPr>
          <a:xfrm>
            <a:off x="1952625" y="5648325"/>
            <a:ext cx="923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topology・熱容量・node weightは物理設計入力。学習は指定された正の係数だけを更新する。</a:t>
            </a:r>
          </a:p>
        </p:txBody>
      </p:sp>
    </p:spTree>
    <p:extLst>
      <p:ext uri="{BB962C8B-B14F-4D97-AF65-F5344CB8AC3E}">
        <p14:creationId xmlns:p14="http://schemas.microsoft.com/office/powerpoint/2010/main" val="106730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A0E9224-4E43-46A1-9915-6CAD216F1E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PHYSICS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34B2F0D-7257-4C14-86E1-4F759B86F828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第一法則から熱RC状態方程式を構成する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EDAC73F-7C0A-4213-B973-CC2EC7BC2E23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相反性、エネルギー保存、散逸性、正値性を構造として保持する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F6CD3E3E-D816-419B-A189-293F1606C44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278F44-B5B9-40F3-80B5-2D2F60AA9F3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86986A7-469A-43CC-A101-410723421FA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6858000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15AFD4B-5194-492F-BCDD-24AF5E5AC729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1409700" cy="247650"/>
          </a:xfrm>
          <a:prstGeom prst="roundRect">
            <a:avLst>
              <a:gd name="adj" fmla="val 50000"/>
            </a:avLst>
          </a:prstGeom>
          <a:solidFill>
            <a:srgbClr val="F4DFDA"/>
          </a:solidFill>
          <a:ln w="9525">
            <a:solidFill>
              <a:srgbClr val="D97963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2613AA-B8BA-49D1-AE43-68A3CA168388}"/>
              </a:ext>
            </a:extLst>
          </p:cNvPr>
          <p:cNvSpPr>
            <a:spLocks noGrp="1"/>
          </p:cNvSpPr>
          <p:nvPr/>
        </p:nvSpPr>
        <p:spPr>
          <a:xfrm>
            <a:off x="895350" y="1762125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rPr>
              <a:t>NODE BALANCE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2347E8-ACBE-472A-A11F-C4CB18FD41D5}"/>
              </a:ext>
            </a:extLst>
          </p:cNvPr>
          <p:cNvSpPr>
            <a:spLocks noGrp="1"/>
          </p:cNvSpPr>
          <p:nvPr/>
        </p:nvSpPr>
        <p:spPr>
          <a:xfrm>
            <a:off x="857250" y="2200275"/>
            <a:ext cx="6248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Cᵢ dTᵢ/dt = Σⱼ Gᵢⱼ(a)(Tⱼ − Tᵢ) + Σₛ qₛ(a)wₛ,ᵢ</a:t>
            </a:r>
          </a:p>
          <a:p>
            <a:pPr algn="l">
              <a:lnSpc>
                <a:spcPct val="118000"/>
              </a:lnSpc>
              <a:buNone/>
              <a:defRPr sz="187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                 + Σᵦ hᵦ(a)wᵦ,ᵢ(Tᵣ,ᵦ − Tᵢ) + (Wᵀd)ᵢ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0F13B36-15AC-494F-B056-8FC574BF5F2B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6858000" cy="2247900"/>
          </a:xfrm>
          <a:prstGeom prst="roundRect">
            <a:avLst>
              <a:gd name="adj" fmla="val 5085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FE87829-DB6E-4E6A-B4A6-9F293995BB67}"/>
              </a:ext>
            </a:extLst>
          </p:cNvPr>
          <p:cNvSpPr>
            <a:spLocks noGrp="1"/>
          </p:cNvSpPr>
          <p:nvPr/>
        </p:nvSpPr>
        <p:spPr>
          <a:xfrm>
            <a:off x="838200" y="3667125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203F4F"/>
          </a:solidFill>
          <a:ln w="9525">
            <a:solidFill>
              <a:srgbClr val="4F9D9B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7E514A7-69F8-42D5-9477-AD9863999617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MATRIX FORM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D4CEFA-053D-40A9-A40D-990DE8DAC637}"/>
              </a:ext>
            </a:extLst>
          </p:cNvPr>
          <p:cNvSpPr>
            <a:spLocks noGrp="1"/>
          </p:cNvSpPr>
          <p:nvPr/>
        </p:nvSpPr>
        <p:spPr>
          <a:xfrm>
            <a:off x="876300" y="4076700"/>
            <a:ext cx="609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L(a) = Bₑᵀ diag(g(a)) Bₑ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EE5FD2F-65D2-4E49-9929-29DD4AA4E41C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609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 Ṫ = −L(a)T + q(a) + h(a) ⊙ (Tᵣ(a)1 − T) + Wᵀd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C89A1B4-B747-4C68-A766-17DC55678E10}"/>
              </a:ext>
            </a:extLst>
          </p:cNvPr>
          <p:cNvSpPr>
            <a:spLocks noGrp="1"/>
          </p:cNvSpPr>
          <p:nvPr/>
        </p:nvSpPr>
        <p:spPr>
          <a:xfrm>
            <a:off x="876300" y="516255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4F9D9B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4F9D9B"/>
                </a:solidFill>
                <a:latin typeface="Cambria Math"/>
                <a:ea typeface="Cambria Math"/>
                <a:cs typeface="Cambria Math"/>
              </a:rPr>
              <a:t>Ṫ = A(a)T + b(a)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25F29A7-7835-488F-A897-4D29FAF20948}"/>
              </a:ext>
            </a:extLst>
          </p:cNvPr>
          <p:cNvSpPr>
            <a:spLocks noGrp="1"/>
          </p:cNvSpPr>
          <p:nvPr/>
        </p:nvSpPr>
        <p:spPr>
          <a:xfrm>
            <a:off x="7734300" y="1562100"/>
            <a:ext cx="3848100" cy="4162425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4D4A69E-E907-4FD2-83F8-C2709A46A945}"/>
              </a:ext>
            </a:extLst>
          </p:cNvPr>
          <p:cNvSpPr>
            <a:spLocks noGrp="1"/>
          </p:cNvSpPr>
          <p:nvPr/>
        </p:nvSpPr>
        <p:spPr>
          <a:xfrm>
            <a:off x="7981950" y="1771650"/>
            <a:ext cx="33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構造的に保証する性質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CDB67A6-8062-48EE-9CFE-D9FE43A26C3A}"/>
              </a:ext>
            </a:extLst>
          </p:cNvPr>
          <p:cNvSpPr>
            <a:spLocks noGrp="1"/>
          </p:cNvSpPr>
          <p:nvPr/>
        </p:nvSpPr>
        <p:spPr>
          <a:xfrm>
            <a:off x="7981950" y="2371725"/>
            <a:ext cx="209550" cy="209550"/>
          </a:xfrm>
          <a:prstGeom prst="ellipse">
            <a:avLst/>
          </a:prstGeom>
          <a:solidFill>
            <a:srgbClr val="D97963"/>
          </a:solidFill>
          <a:ln w="0">
            <a:noFill/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7C61316-6473-4A5A-8921-9B3A1697A07D}"/>
              </a:ext>
            </a:extLst>
          </p:cNvPr>
          <p:cNvSpPr>
            <a:spLocks noGrp="1"/>
          </p:cNvSpPr>
          <p:nvPr/>
        </p:nvSpPr>
        <p:spPr>
          <a:xfrm>
            <a:off x="8324850" y="23241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相反性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7951A96-42E3-46A9-9F50-6D2E8F1C671C}"/>
              </a:ext>
            </a:extLst>
          </p:cNvPr>
          <p:cNvSpPr>
            <a:spLocks noGrp="1"/>
          </p:cNvSpPr>
          <p:nvPr/>
        </p:nvSpPr>
        <p:spPr>
          <a:xfrm>
            <a:off x="8324850" y="26098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qᵢ←ⱼ = −qⱼ←ᵢ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677A3F18-2117-4EAE-8B6F-32E02A42849F}"/>
              </a:ext>
            </a:extLst>
          </p:cNvPr>
          <p:cNvSpPr>
            <a:spLocks noGrp="1"/>
          </p:cNvSpPr>
          <p:nvPr/>
        </p:nvSpPr>
        <p:spPr>
          <a:xfrm>
            <a:off x="7981950" y="3152775"/>
            <a:ext cx="209550" cy="209550"/>
          </a:xfrm>
          <a:prstGeom prst="ellipse">
            <a:avLst/>
          </a:prstGeom>
          <a:solidFill>
            <a:srgbClr val="285E8E"/>
          </a:solidFill>
          <a:ln w="0">
            <a:noFill/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B9F7489-A874-4C2A-9CFB-501575E17BBE}"/>
              </a:ext>
            </a:extLst>
          </p:cNvPr>
          <p:cNvSpPr>
            <a:spLocks noGrp="1"/>
          </p:cNvSpPr>
          <p:nvPr/>
        </p:nvSpPr>
        <p:spPr>
          <a:xfrm>
            <a:off x="8324850" y="31051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閉系の保存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B970D78-7878-40E7-A3C6-AB23E6359123}"/>
              </a:ext>
            </a:extLst>
          </p:cNvPr>
          <p:cNvSpPr>
            <a:spLocks noGrp="1"/>
          </p:cNvSpPr>
          <p:nvPr/>
        </p:nvSpPr>
        <p:spPr>
          <a:xfrm>
            <a:off x="8324850" y="33909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d(1ᵀCT)/dt = 0</a:t>
            </a: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BDBDC836-CDC6-4071-97CF-CB17F82750DF}"/>
              </a:ext>
            </a:extLst>
          </p:cNvPr>
          <p:cNvSpPr>
            <a:spLocks noGrp="1"/>
          </p:cNvSpPr>
          <p:nvPr/>
        </p:nvSpPr>
        <p:spPr>
          <a:xfrm>
            <a:off x="7981950" y="3933825"/>
            <a:ext cx="209550" cy="209550"/>
          </a:xfrm>
          <a:prstGeom prst="ellipse">
            <a:avLst/>
          </a:prstGeom>
          <a:solidFill>
            <a:srgbClr val="4F9D9B"/>
          </a:solidFill>
          <a:ln w="0">
            <a:noFill/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967727D-8FB7-45A3-A8C7-C896A1EFDCC1}"/>
              </a:ext>
            </a:extLst>
          </p:cNvPr>
          <p:cNvSpPr>
            <a:spLocks noGrp="1"/>
          </p:cNvSpPr>
          <p:nvPr/>
        </p:nvSpPr>
        <p:spPr>
          <a:xfrm>
            <a:off x="8324850" y="388620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温度差の散逸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9E9557D-D85A-49A7-90BB-A8E298137C21}"/>
              </a:ext>
            </a:extLst>
          </p:cNvPr>
          <p:cNvSpPr>
            <a:spLocks noGrp="1"/>
          </p:cNvSpPr>
          <p:nvPr/>
        </p:nvSpPr>
        <p:spPr>
          <a:xfrm>
            <a:off x="8324850" y="4171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TᵀLT = Σₑ Gₑ(ΔTₑ)² ≥ 0</a:t>
            </a: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B5FE0323-CD25-4E43-9476-15294DB8EB12}"/>
              </a:ext>
            </a:extLst>
          </p:cNvPr>
          <p:cNvSpPr>
            <a:spLocks noGrp="1"/>
          </p:cNvSpPr>
          <p:nvPr/>
        </p:nvSpPr>
        <p:spPr>
          <a:xfrm>
            <a:off x="7981950" y="4714875"/>
            <a:ext cx="209550" cy="209550"/>
          </a:xfrm>
          <a:prstGeom prst="ellipse">
            <a:avLst/>
          </a:prstGeom>
          <a:solidFill>
            <a:srgbClr val="4C8A6E"/>
          </a:solidFill>
          <a:ln w="0">
            <a:noFill/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DB4FAAD-D320-47F5-930C-A9E9A6F2D880}"/>
              </a:ext>
            </a:extLst>
          </p:cNvPr>
          <p:cNvSpPr>
            <a:spLocks noGrp="1"/>
          </p:cNvSpPr>
          <p:nvPr/>
        </p:nvSpPr>
        <p:spPr>
          <a:xfrm>
            <a:off x="8324850" y="46672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正値パラメータ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A48DE0C-0DBD-40CD-B2ED-6EAE31807CF7}"/>
              </a:ext>
            </a:extLst>
          </p:cNvPr>
          <p:cNvSpPr>
            <a:spLocks noGrp="1"/>
          </p:cNvSpPr>
          <p:nvPr/>
        </p:nvSpPr>
        <p:spPr>
          <a:xfrm>
            <a:off x="8324850" y="49530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p = p₀ exp(ℓ) &gt; 0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189619F5-FD7C-4D4C-8B5A-A15B2FC9648E}"/>
              </a:ext>
            </a:extLst>
          </p:cNvPr>
          <p:cNvSpPr>
            <a:spLocks noGrp="1"/>
          </p:cNvSpPr>
          <p:nvPr/>
        </p:nvSpPr>
        <p:spPr>
          <a:xfrm>
            <a:off x="7734300" y="5886450"/>
            <a:ext cx="3848100" cy="361950"/>
          </a:xfrm>
          <a:prstGeom prst="roundRect">
            <a:avLst>
              <a:gd name="adj" fmla="val 15789"/>
            </a:avLst>
          </a:prstGeom>
          <a:solidFill>
            <a:srgbClr val="F4EAD4"/>
          </a:solidFill>
          <a:ln w="9525">
            <a:solidFill>
              <a:srgbClr val="D6A84B"/>
            </a:solidFill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0339115-3F58-4D26-BD80-3B25425277B1}"/>
              </a:ext>
            </a:extLst>
          </p:cNvPr>
          <p:cNvSpPr>
            <a:spLocks noGrp="1"/>
          </p:cNvSpPr>
          <p:nvPr/>
        </p:nvSpPr>
        <p:spPr>
          <a:xfrm>
            <a:off x="7848600" y="5934075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77591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77591E"/>
                </a:solidFill>
                <a:latin typeface="Noto Sans JP"/>
                <a:ea typeface="Noto Sans JP"/>
                <a:cs typeface="Noto Sans JP"/>
              </a:rPr>
              <a:t>T⁴放射・相変化・局所hotspotは外部証拠が必要</a:t>
            </a:r>
          </a:p>
        </p:txBody>
      </p:sp>
    </p:spTree>
    <p:extLst>
      <p:ext uri="{BB962C8B-B14F-4D97-AF65-F5344CB8AC3E}">
        <p14:creationId xmlns:p14="http://schemas.microsoft.com/office/powerpoint/2010/main" val="133460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34244F1-42D5-42D6-B468-8566B757BA4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NUMERICS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4244D5-9F7C-45FF-ACCA-8E4EB5CC3B56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運転区間の構造に応じて exact と implicit を使い分ける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8558446-F131-424D-AC39-FAD854135C8F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少数ノードのため、密行列指数と密線形solveを直接用いる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DD9CE88A-1AF6-447D-ADEE-28BABFCDE1B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BCAB928-0B8E-4B32-A85D-7C7047DF27C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61C0F0E-F6F2-45EF-8E55-9F328080F3D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21970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285E8E"/>
            </a:solidFill>
            <a:prstDash val="solid"/>
          </a:ln>
        </p:spPr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B86A7AF-408F-435D-8AF4-E9193417C236}"/>
              </a:ext>
            </a:extLst>
          </p:cNvPr>
          <p:cNvSpPr>
            <a:spLocks noGrp="1"/>
          </p:cNvSpPr>
          <p:nvPr/>
        </p:nvSpPr>
        <p:spPr>
          <a:xfrm>
            <a:off x="838200" y="1724025"/>
            <a:ext cx="1352550" cy="247650"/>
          </a:xfrm>
          <a:prstGeom prst="roundRect">
            <a:avLst>
              <a:gd name="adj" fmla="val 50000"/>
            </a:avLst>
          </a:prstGeom>
          <a:solidFill>
            <a:srgbClr val="E8F0F6"/>
          </a:solidFill>
          <a:ln w="9525">
            <a:solidFill>
              <a:srgbClr val="285E8E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2B9A9B-C2B2-47EB-83BC-7A03A1114ACA}"/>
              </a:ext>
            </a:extLst>
          </p:cNvPr>
          <p:cNvSpPr>
            <a:spLocks noGrp="1"/>
          </p:cNvSpPr>
          <p:nvPr/>
        </p:nvSpPr>
        <p:spPr>
          <a:xfrm>
            <a:off x="895350" y="17335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rPr>
              <a:t>EXACT AFFINE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2F829D7-6ED8-4CC7-B4BB-6C8978B6DF8E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[xₖ₊₁; 1] = exp( [F  c; 0  0] Δtₖ ) [xₖ; 1]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F49DDA7-8062-47B8-8E84-975C6404DCF4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3683"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区間内で係数とactive setが一定なら時間離散化誤差なし。F⁻¹を作らず、閉系のゼロ固有値も扱う。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5394AB5-CF93-457B-A870-8A6A75E4F498}"/>
              </a:ext>
            </a:extLst>
          </p:cNvPr>
          <p:cNvSpPr>
            <a:spLocks noGrp="1"/>
          </p:cNvSpPr>
          <p:nvPr/>
        </p:nvSpPr>
        <p:spPr>
          <a:xfrm>
            <a:off x="6076950" y="1524000"/>
            <a:ext cx="55054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4F9D9B"/>
            </a:solidFill>
            <a:prstDash val="solid"/>
          </a:ln>
        </p:spPr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34B54A9-39E7-4A57-8E6A-32BE5C97ADBE}"/>
              </a:ext>
            </a:extLst>
          </p:cNvPr>
          <p:cNvSpPr>
            <a:spLocks noGrp="1"/>
          </p:cNvSpPr>
          <p:nvPr/>
        </p:nvSpPr>
        <p:spPr>
          <a:xfrm>
            <a:off x="6305550" y="1724025"/>
            <a:ext cx="1466850" cy="247650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 w="9525">
            <a:solidFill>
              <a:srgbClr val="4F9D9B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87C15F-A4B5-4DA6-8A16-E5D36E062614}"/>
              </a:ext>
            </a:extLst>
          </p:cNvPr>
          <p:cNvSpPr>
            <a:spLocks noGrp="1"/>
          </p:cNvSpPr>
          <p:nvPr/>
        </p:nvSpPr>
        <p:spPr>
          <a:xfrm>
            <a:off x="6362700" y="17335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IMPLICIT EULER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370EF5B-F946-4B6B-BFC0-9392B819C2C9}"/>
              </a:ext>
            </a:extLst>
          </p:cNvPr>
          <p:cNvSpPr>
            <a:spLocks noGrp="1"/>
          </p:cNvSpPr>
          <p:nvPr/>
        </p:nvSpPr>
        <p:spPr>
          <a:xfrm>
            <a:off x="6305550" y="220980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Tₖ₊₁ = (I − ΔtₖA(aₘ))⁻¹ [Tₖ + Δtₖb(aₘ)]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6B01040-2ACD-4BDB-B3E3-434B077861EC}"/>
              </a:ext>
            </a:extLst>
          </p:cNvPr>
          <p:cNvSpPr>
            <a:spLocks noGrp="1"/>
          </p:cNvSpPr>
          <p:nvPr/>
        </p:nvSpPr>
        <p:spPr>
          <a:xfrm>
            <a:off x="6324600" y="285750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操作量依存係数が区間内で変化する場合に適用。A-stableだが一次精度で、aₘは区間中央の実効操作量。</a:t>
            </a:r>
          </a:p>
        </p:txBody>
      </p:sp>
      <p:graphicFrame>
        <p:nvGraphicFramePr>
          <p:cNvPr id="33" name="表 32"/>
          <p:cNvGraphicFramePr/>
          <p:nvPr/>
        </p:nvGraphicFramePr>
        <p:xfrm>
          <a:off x="609600" y="3905250"/>
          <a:ext cx="10972800" cy="20193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判断軸</a:t>
                      </a:r>
                    </a:p>
                  </a:txBody>
                  <a:tcPr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implicit</a:t>
                      </a:r>
                    </a:p>
                  </a:txBody>
                  <a:tcPr>
                    <a:solidFill>
                      <a:srgbClr val="14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区間条件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affineを満たす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非affineも可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時間離散化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仮定内では厳密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一次精度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stiff熱系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行列指数で安定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A-stable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主演算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matrix exponential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linear solve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主な用途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ゼロ次ホールド、少数ノード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遅れた非線形係数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5D19F2-7B5D-4D27-863B-C682C5A8FB32}"/>
              </a:ext>
            </a:extLst>
          </p:cNvPr>
          <p:cNvSpPr>
            <a:spLocks noGrp="1"/>
          </p:cNvSpPr>
          <p:nvPr/>
        </p:nvSpPr>
        <p:spPr>
          <a:xfrm>
            <a:off x="647700" y="6057900"/>
            <a:ext cx="1089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threshold通過は解析的に交差時刻を求め、区間を分割してexact積分する</a:t>
            </a:r>
          </a:p>
        </p:txBody>
      </p:sp>
    </p:spTree>
    <p:extLst>
      <p:ext uri="{BB962C8B-B14F-4D97-AF65-F5344CB8AC3E}">
        <p14:creationId xmlns:p14="http://schemas.microsoft.com/office/powerpoint/2010/main" val="194279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423E92A-6E37-4170-AC75-5C03205CF92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IDENTIFICATION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99603A0-F68E-45B7-8AFB-1137D51CE000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機械学習は物理軌道の微分・最適化に使う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340A389-A405-4507-A248-B0AA7305127B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topology探索やニューラルネットワークではなく、少数の正値物理係数を同定する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6FAFA8CB-76A9-4B92-837D-7F51399B943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65D05BF-5BD4-44C3-B5EE-7A5379F26469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15675B2-4F28-47B8-96C5-003EEC820B20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16002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862C49-1843-47DB-A9D0-A6FDA90CE4FF}"/>
              </a:ext>
            </a:extLst>
          </p:cNvPr>
          <p:cNvSpPr>
            <a:spLocks noGrp="1"/>
          </p:cNvSpPr>
          <p:nvPr/>
        </p:nvSpPr>
        <p:spPr>
          <a:xfrm>
            <a:off x="819150" y="1971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FB2BD8B-7F02-485B-9839-4C110E6BE03D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軌道単位の分割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6566EDA-3C6B-4A72-9CBC-EF2753B64CE6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6429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同一recipeを同じpartitionへ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50444AF-5C94-4D8D-B52B-E6035B3B1E93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6002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0391E3E-C813-4DF9-8575-4CC1BD178277}"/>
              </a:ext>
            </a:extLst>
          </p:cNvPr>
          <p:cNvSpPr>
            <a:spLocks noGrp="1"/>
          </p:cNvSpPr>
          <p:nvPr/>
        </p:nvSpPr>
        <p:spPr>
          <a:xfrm>
            <a:off x="2724150" y="1971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FC946A6-D3E7-4B3B-AE7D-9E04AA298567}"/>
              </a:ext>
            </a:extLst>
          </p:cNvPr>
          <p:cNvSpPr>
            <a:spLocks noGrp="1"/>
          </p:cNvSpPr>
          <p:nvPr/>
        </p:nvSpPr>
        <p:spPr>
          <a:xfrm>
            <a:off x="2724150" y="226695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隠れ初期温度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097BEE5-B64C-4276-98D1-7B44CCD4F041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SVD null spaceで推定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DBE68F7-7DBB-407F-A089-CAC943BD3A9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16002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6F2F40C-EF4A-4BC5-9EE9-C607682E12EB}"/>
              </a:ext>
            </a:extLst>
          </p:cNvPr>
          <p:cNvSpPr>
            <a:spLocks noGrp="1"/>
          </p:cNvSpPr>
          <p:nvPr/>
        </p:nvSpPr>
        <p:spPr>
          <a:xfrm>
            <a:off x="4629150" y="1971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718C3B0-C01C-4E4E-8BFF-89AB3706689D}"/>
              </a:ext>
            </a:extLst>
          </p:cNvPr>
          <p:cNvSpPr>
            <a:spLocks noGrp="1"/>
          </p:cNvSpPr>
          <p:nvPr/>
        </p:nvSpPr>
        <p:spPr>
          <a:xfrm>
            <a:off x="4629150" y="226695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RC rollout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0F65883-EBDC-4CD7-9C9D-E725A659B871}"/>
              </a:ext>
            </a:extLst>
          </p:cNvPr>
          <p:cNvSpPr>
            <a:spLocks noGrp="1"/>
          </p:cNvSpPr>
          <p:nvPr/>
        </p:nvSpPr>
        <p:spPr>
          <a:xfrm>
            <a:off x="4629150" y="26479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可変Δtをbatch積分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2283EEE-A577-4D63-93AC-A3A27C6DB750}"/>
              </a:ext>
            </a:extLst>
          </p:cNvPr>
          <p:cNvSpPr>
            <a:spLocks noGrp="1"/>
          </p:cNvSpPr>
          <p:nvPr/>
        </p:nvSpPr>
        <p:spPr>
          <a:xfrm>
            <a:off x="6400800" y="1828800"/>
            <a:ext cx="16002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1F57AD4-6A99-46A5-A939-0A326C8805E9}"/>
              </a:ext>
            </a:extLst>
          </p:cNvPr>
          <p:cNvSpPr>
            <a:spLocks noGrp="1"/>
          </p:cNvSpPr>
          <p:nvPr/>
        </p:nvSpPr>
        <p:spPr>
          <a:xfrm>
            <a:off x="6534150" y="1971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073DC57-0684-4FE9-9A18-D06B3F6C6C18}"/>
              </a:ext>
            </a:extLst>
          </p:cNvPr>
          <p:cNvSpPr>
            <a:spLocks noGrp="1"/>
          </p:cNvSpPr>
          <p:nvPr/>
        </p:nvSpPr>
        <p:spPr>
          <a:xfrm>
            <a:off x="6534150" y="226695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robust目的関数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7155CA0-A807-4B47-8F6A-D7D9138AE70A}"/>
              </a:ext>
            </a:extLst>
          </p:cNvPr>
          <p:cNvSpPr>
            <a:spLocks noGrp="1"/>
          </p:cNvSpPr>
          <p:nvPr/>
        </p:nvSpPr>
        <p:spPr>
          <a:xfrm>
            <a:off x="6534150" y="26479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0504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mask付きHuber＋log prior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49E782F-410C-48BB-A062-04417F2626C7}"/>
              </a:ext>
            </a:extLst>
          </p:cNvPr>
          <p:cNvSpPr>
            <a:spLocks noGrp="1"/>
          </p:cNvSpPr>
          <p:nvPr/>
        </p:nvSpPr>
        <p:spPr>
          <a:xfrm>
            <a:off x="8305800" y="1828800"/>
            <a:ext cx="16002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5A8055E-E885-491F-91EC-C35F4F5F959B}"/>
              </a:ext>
            </a:extLst>
          </p:cNvPr>
          <p:cNvSpPr>
            <a:spLocks noGrp="1"/>
          </p:cNvSpPr>
          <p:nvPr/>
        </p:nvSpPr>
        <p:spPr>
          <a:xfrm>
            <a:off x="8439150" y="1971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48C915B-1FB9-41EC-B410-31E69EC3961A}"/>
              </a:ext>
            </a:extLst>
          </p:cNvPr>
          <p:cNvSpPr>
            <a:spLocks noGrp="1"/>
          </p:cNvSpPr>
          <p:nvPr/>
        </p:nvSpPr>
        <p:spPr>
          <a:xfrm>
            <a:off x="8439150" y="226695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Adam更新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E0F8373-3246-4572-8780-884AC417237E}"/>
              </a:ext>
            </a:extLst>
          </p:cNvPr>
          <p:cNvSpPr>
            <a:spLocks noGrp="1"/>
          </p:cNvSpPr>
          <p:nvPr/>
        </p:nvSpPr>
        <p:spPr>
          <a:xfrm>
            <a:off x="8439150" y="26479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gradient clip＋範囲制約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96FFFA2-F020-47A5-80A1-614F063214E1}"/>
              </a:ext>
            </a:extLst>
          </p:cNvPr>
          <p:cNvSpPr>
            <a:spLocks noGrp="1"/>
          </p:cNvSpPr>
          <p:nvPr/>
        </p:nvSpPr>
        <p:spPr>
          <a:xfrm>
            <a:off x="10210800" y="1828800"/>
            <a:ext cx="13716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97963"/>
            </a:solidFill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5D99A3E-7340-412C-8721-997CD238E741}"/>
              </a:ext>
            </a:extLst>
          </p:cNvPr>
          <p:cNvSpPr>
            <a:spLocks noGrp="1"/>
          </p:cNvSpPr>
          <p:nvPr/>
        </p:nvSpPr>
        <p:spPr>
          <a:xfrm>
            <a:off x="10344150" y="1971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D97963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7739F29-E60D-4C5C-9825-76F4F348D51F}"/>
              </a:ext>
            </a:extLst>
          </p:cNvPr>
          <p:cNvSpPr>
            <a:spLocks noGrp="1"/>
          </p:cNvSpPr>
          <p:nvPr/>
        </p:nvSpPr>
        <p:spPr>
          <a:xfrm>
            <a:off x="10344150" y="2266950"/>
            <a:ext cx="1104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2679"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因果validation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139F82F-BA34-4906-82D4-7E6EDE7C7CB6}"/>
              </a:ext>
            </a:extLst>
          </p:cNvPr>
          <p:cNvSpPr>
            <a:spLocks noGrp="1"/>
          </p:cNvSpPr>
          <p:nvPr/>
        </p:nvSpPr>
        <p:spPr>
          <a:xfrm>
            <a:off x="10344150" y="264795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5979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初期観測だけでmodel selection</a:t>
            </a:r>
          </a:p>
        </p:txBody>
      </p:sp>
      <p:cxnSp>
        <p:nvCxnSpPr>
          <p:cNvPr id="83" name="直線矢印コネクタ 82"/>
          <p:cNvCxnSpPr>
            <a:stCxn id="6" idx="3"/>
            <a:endCxn id="10" idx="1"/>
          </p:cNvCxnSpPr>
          <p:nvPr/>
        </p:nvCxnSpPr>
        <p:spPr>
          <a:xfrm>
            <a:off x="2286000" y="2447925"/>
            <a:ext cx="30480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84" name="直線矢印コネクタ 83"/>
          <p:cNvCxnSpPr>
            <a:stCxn id="10" idx="3"/>
            <a:endCxn id="14" idx="1"/>
          </p:cNvCxnSpPr>
          <p:nvPr/>
        </p:nvCxnSpPr>
        <p:spPr>
          <a:xfrm>
            <a:off x="4191000" y="2447925"/>
            <a:ext cx="30480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85" name="直線矢印コネクタ 84"/>
          <p:cNvCxnSpPr>
            <a:stCxn id="14" idx="3"/>
            <a:endCxn id="18" idx="1"/>
          </p:cNvCxnSpPr>
          <p:nvPr/>
        </p:nvCxnSpPr>
        <p:spPr>
          <a:xfrm>
            <a:off x="6096000" y="2447925"/>
            <a:ext cx="30480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86" name="直線矢印コネクタ 85"/>
          <p:cNvCxnSpPr>
            <a:stCxn id="18" idx="3"/>
            <a:endCxn id="22" idx="1"/>
          </p:cNvCxnSpPr>
          <p:nvPr/>
        </p:nvCxnSpPr>
        <p:spPr>
          <a:xfrm>
            <a:off x="8001000" y="2447925"/>
            <a:ext cx="30480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87" name="直線矢印コネクタ 86"/>
          <p:cNvCxnSpPr>
            <a:stCxn id="22" idx="3"/>
            <a:endCxn id="26" idx="1"/>
          </p:cNvCxnSpPr>
          <p:nvPr/>
        </p:nvCxnSpPr>
        <p:spPr>
          <a:xfrm>
            <a:off x="9906000" y="2447925"/>
            <a:ext cx="304800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C5BC4280-2A0F-47E3-913F-8E2A34A2FBAF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3429000" cy="2190750"/>
          </a:xfrm>
          <a:prstGeom prst="roundRect">
            <a:avLst>
              <a:gd name="adj" fmla="val 5217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2E618A6D-DCAC-48E7-AFCD-739EF3F7CF82}"/>
              </a:ext>
            </a:extLst>
          </p:cNvPr>
          <p:cNvSpPr>
            <a:spLocks noGrp="1"/>
          </p:cNvSpPr>
          <p:nvPr/>
        </p:nvSpPr>
        <p:spPr>
          <a:xfrm>
            <a:off x="838200" y="3686175"/>
            <a:ext cx="1695450" cy="247650"/>
          </a:xfrm>
          <a:prstGeom prst="roundRect">
            <a:avLst>
              <a:gd name="adj" fmla="val 50000"/>
            </a:avLst>
          </a:prstGeom>
          <a:solidFill>
            <a:srgbClr val="203F4F"/>
          </a:solidFill>
          <a:ln w="9525">
            <a:solidFill>
              <a:srgbClr val="4F9D9B"/>
            </a:solidFill>
            <a:prstDash val="solid"/>
          </a:ln>
        </p:spPr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1493C9-09F6-4817-B5CB-5AC517B99E78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POSITIVE PARAMETERS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BDA48FF-F5E6-4890-A05D-8C2050EFBD96}"/>
              </a:ext>
            </a:extLst>
          </p:cNvPr>
          <p:cNvSpPr>
            <a:spLocks noGrp="1"/>
          </p:cNvSpPr>
          <p:nvPr/>
        </p:nvSpPr>
        <p:spPr>
          <a:xfrm>
            <a:off x="857250" y="41529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p = p₀ exp(ℓ)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FBFBFFF-E3F2-4394-82A2-D661DE04BD1E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>
                <a:solidFill>
                  <a:srgbClr val="4F9D9B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4F9D9B"/>
                </a:solidFill>
                <a:latin typeface="Cambria Math"/>
                <a:ea typeface="Cambria Math"/>
                <a:cs typeface="Cambria Math"/>
              </a:rPr>
              <a:t>p₀e⁻⁴ ≤ p ≤ p₀e⁴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C37915B-DB91-439E-AEF3-7122DFAA6963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D8E4E9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D8E4E9"/>
                </a:solidFill>
                <a:latin typeface="Noto Sans JP"/>
                <a:ea typeface="Noto Sans JP"/>
                <a:cs typeface="Noto Sans JP"/>
              </a:rPr>
              <a:t>負の熱伝達率・時定数を生成しない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C12F9BB3-F5C2-4486-828C-350A63F6A7E3}"/>
              </a:ext>
            </a:extLst>
          </p:cNvPr>
          <p:cNvSpPr>
            <a:spLocks noGrp="1"/>
          </p:cNvSpPr>
          <p:nvPr/>
        </p:nvSpPr>
        <p:spPr>
          <a:xfrm>
            <a:off x="4267200" y="3476625"/>
            <a:ext cx="3352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260A362-E0BE-4D63-9932-76631C20BBF2}"/>
              </a:ext>
            </a:extLst>
          </p:cNvPr>
          <p:cNvSpPr>
            <a:spLocks noGrp="1"/>
          </p:cNvSpPr>
          <p:nvPr/>
        </p:nvSpPr>
        <p:spPr>
          <a:xfrm>
            <a:off x="4495800" y="3686175"/>
            <a:ext cx="1733550" cy="247650"/>
          </a:xfrm>
          <a:prstGeom prst="roundRect">
            <a:avLst>
              <a:gd name="adj" fmla="val 50000"/>
            </a:avLst>
          </a:prstGeom>
          <a:solidFill>
            <a:srgbClr val="E8F0F6"/>
          </a:solidFill>
          <a:ln w="9525">
            <a:solidFill>
              <a:srgbClr val="285E8E"/>
            </a:solidFill>
            <a:prstDash val="solid"/>
          </a:ln>
        </p:spPr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37938AD-9205-411A-8B33-BD3812706559}"/>
              </a:ext>
            </a:extLst>
          </p:cNvPr>
          <p:cNvSpPr>
            <a:spLocks noGrp="1"/>
          </p:cNvSpPr>
          <p:nvPr/>
        </p:nvSpPr>
        <p:spPr>
          <a:xfrm>
            <a:off x="4552950" y="36957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rPr>
              <a:t>HIDDEN INITIAL STATE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AF48516-D948-48D1-8B26-DC743446546F}"/>
              </a:ext>
            </a:extLst>
          </p:cNvPr>
          <p:cNvSpPr>
            <a:spLocks noGrp="1"/>
          </p:cNvSpPr>
          <p:nvPr/>
        </p:nvSpPr>
        <p:spPr>
          <a:xfrm>
            <a:off x="4514850" y="41719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H₀ = UΣVᵀ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88E328C-574A-414D-B635-8F3C9B54D661}"/>
              </a:ext>
            </a:extLst>
          </p:cNvPr>
          <p:cNvSpPr>
            <a:spLocks noGrp="1"/>
          </p:cNvSpPr>
          <p:nvPr/>
        </p:nvSpPr>
        <p:spPr>
          <a:xfrm>
            <a:off x="4514850" y="46291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0">
                <a:solidFill>
                  <a:srgbClr val="285E8E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85E8E"/>
                </a:solidFill>
                <a:latin typeface="Cambria Math"/>
                <a:ea typeface="Cambria Math"/>
                <a:cs typeface="Cambria Math"/>
              </a:rPr>
              <a:t>T₀(z) = T̄₀ + Nz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9E3A566-C78B-4FF1-B1CA-54D68A9C3044}"/>
              </a:ext>
            </a:extLst>
          </p:cNvPr>
          <p:cNvSpPr>
            <a:spLocks noGrp="1"/>
          </p:cNvSpPr>
          <p:nvPr/>
        </p:nvSpPr>
        <p:spPr>
          <a:xfrm>
            <a:off x="4514850" y="507682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0">
                <a:solidFill>
                  <a:srgbClr val="3F515D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3F515D"/>
                </a:solidFill>
                <a:latin typeface="Cambria Math"/>
                <a:ea typeface="Cambria Math"/>
                <a:cs typeface="Cambria Math"/>
              </a:rPr>
              <a:t>H₀Nz = 0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CDE8EDD4-C49C-4ABC-9206-3FB28A074095}"/>
              </a:ext>
            </a:extLst>
          </p:cNvPr>
          <p:cNvSpPr>
            <a:spLocks noGrp="1"/>
          </p:cNvSpPr>
          <p:nvPr/>
        </p:nvSpPr>
        <p:spPr>
          <a:xfrm>
            <a:off x="7848600" y="3476625"/>
            <a:ext cx="3733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1C117659-9E98-4B7F-A158-6318F2B28EDD}"/>
              </a:ext>
            </a:extLst>
          </p:cNvPr>
          <p:cNvSpPr>
            <a:spLocks noGrp="1"/>
          </p:cNvSpPr>
          <p:nvPr/>
        </p:nvSpPr>
        <p:spPr>
          <a:xfrm>
            <a:off x="8077200" y="3686175"/>
            <a:ext cx="1581150" cy="247650"/>
          </a:xfrm>
          <a:prstGeom prst="roundRect">
            <a:avLst>
              <a:gd name="adj" fmla="val 50000"/>
            </a:avLst>
          </a:prstGeom>
          <a:solidFill>
            <a:srgbClr val="E0ECE6"/>
          </a:solidFill>
          <a:ln w="9525">
            <a:solidFill>
              <a:srgbClr val="4C8A6E"/>
            </a:solidFill>
            <a:prstDash val="solid"/>
          </a:ln>
        </p:spPr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9083552-D015-418E-8125-EB7AEC514F81}"/>
              </a:ext>
            </a:extLst>
          </p:cNvPr>
          <p:cNvSpPr>
            <a:spLocks noGrp="1"/>
          </p:cNvSpPr>
          <p:nvPr/>
        </p:nvSpPr>
        <p:spPr>
          <a:xfrm>
            <a:off x="8134350" y="36957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C8A6E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C8A6E"/>
                </a:solidFill>
                <a:latin typeface="Noto Sans JP"/>
                <a:ea typeface="Noto Sans JP"/>
                <a:cs typeface="Noto Sans JP"/>
              </a:rPr>
              <a:t>ROBUST OBJECTIVE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36A6EFA-CAF7-4056-9998-D4B868B34AC7}"/>
              </a:ext>
            </a:extLst>
          </p:cNvPr>
          <p:cNvSpPr>
            <a:spLocks noGrp="1"/>
          </p:cNvSpPr>
          <p:nvPr/>
        </p:nvSpPr>
        <p:spPr>
          <a:xfrm>
            <a:off x="8096250" y="4086225"/>
            <a:ext cx="323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ρδ(e) = ½e²              |e| ≤ δ</a:t>
            </a:r>
          </a:p>
          <a:p>
            <a:pPr algn="l">
              <a:lnSpc>
                <a:spcPct val="100000"/>
              </a:lnSpc>
              <a:buNone/>
              <a:defRPr sz="172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          δ(|e| − ½δ)    |e| &gt; δ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5BCE967-4B14-467F-AA01-85A43EF260E5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9432"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4C8A6E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4C8A6E"/>
                </a:solidFill>
                <a:latin typeface="Cambria Math"/>
                <a:ea typeface="Cambria Math"/>
                <a:cs typeface="Cambria Math"/>
              </a:rPr>
              <a:t>L = mean_case[mean_obs ρδ] + λ‖ℓ‖²</a:t>
            </a: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2EAAB20E-C0BB-49FF-8536-CFD9AEABDEC5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61950"/>
          </a:xfrm>
          <a:prstGeom prst="roundRect">
            <a:avLst>
              <a:gd name="adj" fmla="val 15789"/>
            </a:avLst>
          </a:prstGeom>
          <a:solidFill>
            <a:srgbClr val="F4EAD4"/>
          </a:solidFill>
          <a:ln w="9525">
            <a:solidFill>
              <a:srgbClr val="D6A84B"/>
            </a:solidFill>
            <a:prstDash val="solid"/>
          </a:ln>
        </p:spPr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4E04704-8939-4ED2-B201-21DC85FEED75}"/>
              </a:ext>
            </a:extLst>
          </p:cNvPr>
          <p:cNvSpPr>
            <a:spLocks noGrp="1"/>
          </p:cNvSpPr>
          <p:nvPr/>
        </p:nvSpPr>
        <p:spPr>
          <a:xfrm>
            <a:off x="742950" y="5953125"/>
            <a:ext cx="10706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77591E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77591E"/>
                </a:solidFill>
                <a:latin typeface="Noto Sans JP"/>
                <a:ea typeface="Noto Sans JP"/>
                <a:cs typeface="Noto Sans JP"/>
              </a:rPr>
              <a:t>低いRMSEだけでは識別可能性を保証しない。感度SVD、profile、seed・split再学習を別途確認する。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712811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77A696A-A559-48FA-9142-54EEAC5A056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FORECAST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035F78B-4706-4822-84CE-ECA919BC471C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観測履歴を同化し、将来区間はcommandだけで開ループ計算する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9598C07-4D62-44CD-826C-DBD482A3B43C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予測器が将来真値へアクセスしない入力境界をCSV契約で強制する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73FF4B93-D068-4C73-9165-C254A217D2B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6D4C18-D974-4010-A251-D79569EC4F7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5AF3A5B-DD7F-422D-A307-7A01A129C7A0}"/>
              </a:ext>
            </a:extLst>
          </p:cNvPr>
          <p:cNvSpPr>
            <a:spLocks noGrp="1"/>
          </p:cNvSpPr>
          <p:nvPr/>
        </p:nvSpPr>
        <p:spPr>
          <a:xfrm>
            <a:off x="695325" y="189547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time</a:t>
            </a:r>
          </a:p>
        </p:txBody>
      </p:sp>
      <p:sp>
        <p:nvSpPr>
          <p:cNvPr id="7" name="直線コネクタ 6">
            <a:extLst>
              <a:ext uri="{FF2B5EF4-FFF2-40B4-BE49-F238E27FC236}">
                <a16:creationId xmlns:a16="http://schemas.microsoft.com/office/drawing/2014/main" id="{DA207147-7441-44A6-BB19-3351201BE524}"/>
              </a:ext>
            </a:extLst>
          </p:cNvPr>
          <p:cNvSpPr>
            <a:spLocks noGrp="1"/>
          </p:cNvSpPr>
          <p:nvPr/>
        </p:nvSpPr>
        <p:spPr>
          <a:xfrm>
            <a:off x="1381125" y="2019300"/>
            <a:ext cx="9906000" cy="0"/>
          </a:xfrm>
          <a:prstGeom prst="line">
            <a:avLst/>
          </a:prstGeom>
          <a:noFill/>
          <a:ln w="19050">
            <a:solidFill>
              <a:srgbClr val="6F7E87"/>
            </a:solidFill>
            <a:prstDash val="solid"/>
          </a:ln>
        </p:spPr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2C73C34-7494-41CE-9183-5EC2CF6295F3}"/>
              </a:ext>
            </a:extLst>
          </p:cNvPr>
          <p:cNvSpPr>
            <a:spLocks noGrp="1"/>
          </p:cNvSpPr>
          <p:nvPr/>
        </p:nvSpPr>
        <p:spPr>
          <a:xfrm>
            <a:off x="1428750" y="1695450"/>
            <a:ext cx="4762500" cy="666750"/>
          </a:xfrm>
          <a:prstGeom prst="roundRect">
            <a:avLst>
              <a:gd name="adj" fmla="val 11429"/>
            </a:avLst>
          </a:prstGeom>
          <a:solidFill>
            <a:srgbClr val="E8F0F6"/>
          </a:solidFill>
          <a:ln w="9525">
            <a:solidFill>
              <a:srgbClr val="285E8E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75F958-C40E-40D3-86B2-C157AB67F744}"/>
              </a:ext>
            </a:extLst>
          </p:cNvPr>
          <p:cNvSpPr>
            <a:spLocks noGrp="1"/>
          </p:cNvSpPr>
          <p:nvPr/>
        </p:nvSpPr>
        <p:spPr>
          <a:xfrm>
            <a:off x="1657350" y="18097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rPr>
              <a:t>履歴 prefix：各時刻に1つ以上の観測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5937CD-61EE-4215-B82D-22780BAD5752}"/>
              </a:ext>
            </a:extLst>
          </p:cNvPr>
          <p:cNvSpPr>
            <a:spLocks noGrp="1"/>
          </p:cNvSpPr>
          <p:nvPr/>
        </p:nvSpPr>
        <p:spPr>
          <a:xfrm>
            <a:off x="6305550" y="1695450"/>
            <a:ext cx="4933950" cy="666750"/>
          </a:xfrm>
          <a:prstGeom prst="roundRect">
            <a:avLst>
              <a:gd name="adj" fmla="val 11429"/>
            </a:avLst>
          </a:prstGeom>
          <a:solidFill>
            <a:srgbClr val="DCEDEC"/>
          </a:solidFill>
          <a:ln w="9525">
            <a:solidFill>
              <a:srgbClr val="4F9D9B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D4FFDE4-08F2-4E23-8E33-0BEC32D3F5F3}"/>
              </a:ext>
            </a:extLst>
          </p:cNvPr>
          <p:cNvSpPr>
            <a:spLocks noGrp="1"/>
          </p:cNvSpPr>
          <p:nvPr/>
        </p:nvSpPr>
        <p:spPr>
          <a:xfrm>
            <a:off x="6515100" y="1809750"/>
            <a:ext cx="451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337B7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337B79"/>
                </a:solidFill>
                <a:latin typeface="Noto Sans JP"/>
                <a:ea typeface="Noto Sans JP"/>
                <a:cs typeface="Noto Sans JP"/>
              </a:rPr>
              <a:t>将来 suffix：全温度列を欠測、commandのみ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F3756E6-DE15-4844-B89C-AC9787DBF1F9}"/>
              </a:ext>
            </a:extLst>
          </p:cNvPr>
          <p:cNvSpPr>
            <a:spLocks noGrp="1"/>
          </p:cNvSpPr>
          <p:nvPr/>
        </p:nvSpPr>
        <p:spPr>
          <a:xfrm>
            <a:off x="5953125" y="2419350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kₒ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66323B3-975E-42BE-A693-7A39A736B69C}"/>
              </a:ext>
            </a:extLst>
          </p:cNvPr>
          <p:cNvSpPr>
            <a:spLocks noGrp="1"/>
          </p:cNvSpPr>
          <p:nvPr/>
        </p:nvSpPr>
        <p:spPr>
          <a:xfrm>
            <a:off x="6219825" y="2419350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kƒ</a:t>
            </a:r>
          </a:p>
        </p:txBody>
      </p:sp>
      <p:cxnSp>
        <p:nvCxnSpPr>
          <p:cNvPr id="54" name="直線矢印コネクタ 53"/>
          <p:cNvCxnSpPr>
            <a:stCxn id="8" idx="3"/>
            <a:endCxn id="10" idx="1"/>
          </p:cNvCxnSpPr>
          <p:nvPr/>
        </p:nvCxnSpPr>
        <p:spPr>
          <a:xfrm>
            <a:off x="6191250" y="2028825"/>
            <a:ext cx="114300" cy="0"/>
          </a:xfrm>
          <a:prstGeom prst="straightConnector1">
            <a:avLst/>
          </a:prstGeom>
          <a:ln w="19050">
            <a:solidFill>
              <a:srgbClr val="142735"/>
            </a:solidFill>
            <a:prstDash val="solid"/>
            <a:tailEnd type="triangle" w="sm" len="sm"/>
          </a:ln>
        </p:spPr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317020A-BBF7-4FB5-BC19-9456E2FF2F21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5238750" cy="2743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881DF4D-3D3D-4962-A080-3379864E7835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1809750" cy="247650"/>
          </a:xfrm>
          <a:prstGeom prst="roundRect">
            <a:avLst>
              <a:gd name="adj" fmla="val 50000"/>
            </a:avLst>
          </a:prstGeom>
          <a:solidFill>
            <a:srgbClr val="E8F0F6"/>
          </a:solidFill>
          <a:ln w="9525">
            <a:solidFill>
              <a:srgbClr val="285E8E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17FD5AD-52E5-45AB-A816-0A68AE8FCC63}"/>
              </a:ext>
            </a:extLst>
          </p:cNvPr>
          <p:cNvSpPr>
            <a:spLocks noGrp="1"/>
          </p:cNvSpPr>
          <p:nvPr/>
        </p:nvSpPr>
        <p:spPr>
          <a:xfrm>
            <a:off x="895350" y="3114675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285E8E"/>
                </a:solidFill>
                <a:latin typeface="Noto Sans JP"/>
                <a:ea typeface="Noto Sans JP"/>
                <a:cs typeface="Noto Sans JP"/>
              </a:rPr>
              <a:t>CAUSAL ASSIMILATION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B5DD3EF9-F698-4D70-BFAE-50A3CC5DA8FC}"/>
              </a:ext>
            </a:extLst>
          </p:cNvPr>
          <p:cNvSpPr>
            <a:spLocks noGrp="1"/>
          </p:cNvSpPr>
          <p:nvPr/>
        </p:nvSpPr>
        <p:spPr>
          <a:xfrm>
            <a:off x="857250" y="3590925"/>
            <a:ext cx="266700" cy="266700"/>
          </a:xfrm>
          <a:prstGeom prst="ellipse">
            <a:avLst/>
          </a:prstGeom>
          <a:solidFill>
            <a:srgbClr val="285E8E"/>
          </a:solidFill>
          <a:ln w="0">
            <a:noFill/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16F8170-BFC6-42B4-A627-77326B670FF0}"/>
              </a:ext>
            </a:extLst>
          </p:cNvPr>
          <p:cNvSpPr>
            <a:spLocks noGrp="1"/>
          </p:cNvSpPr>
          <p:nvPr/>
        </p:nvSpPr>
        <p:spPr>
          <a:xfrm>
            <a:off x="857250" y="35909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5348465-A9B2-4232-9218-AA6F35DC97A9}"/>
              </a:ext>
            </a:extLst>
          </p:cNvPr>
          <p:cNvSpPr>
            <a:spLocks noGrp="1"/>
          </p:cNvSpPr>
          <p:nvPr/>
        </p:nvSpPr>
        <p:spPr>
          <a:xfrm>
            <a:off x="1257300" y="35814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初回観測を一度だけposteriorへ反映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D5EA8503-49EF-4478-849D-51E6DA97CFB4}"/>
              </a:ext>
            </a:extLst>
          </p:cNvPr>
          <p:cNvSpPr>
            <a:spLocks noGrp="1"/>
          </p:cNvSpPr>
          <p:nvPr/>
        </p:nvSpPr>
        <p:spPr>
          <a:xfrm>
            <a:off x="857250" y="4067175"/>
            <a:ext cx="266700" cy="266700"/>
          </a:xfrm>
          <a:prstGeom prst="ellipse">
            <a:avLst/>
          </a:prstGeom>
          <a:solidFill>
            <a:srgbClr val="285E8E"/>
          </a:solidFill>
          <a:ln w="0">
            <a:noFill/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785400E-4644-497C-AE04-7264F8BC7551}"/>
              </a:ext>
            </a:extLst>
          </p:cNvPr>
          <p:cNvSpPr>
            <a:spLocks noGrp="1"/>
          </p:cNvSpPr>
          <p:nvPr/>
        </p:nvSpPr>
        <p:spPr>
          <a:xfrm>
            <a:off x="857250" y="4067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CDEA9FC-E346-4752-83AE-50F5868F1950}"/>
              </a:ext>
            </a:extLst>
          </p:cNvPr>
          <p:cNvSpPr>
            <a:spLocks noGrp="1"/>
          </p:cNvSpPr>
          <p:nvPr/>
        </p:nvSpPr>
        <p:spPr>
          <a:xfrm>
            <a:off x="1257300" y="40576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履歴端 kₒ までpredict/updateを時系列実行</a:t>
            </a: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8A8A746-B0B4-4C21-BA49-79A6C74CB5BA}"/>
              </a:ext>
            </a:extLst>
          </p:cNvPr>
          <p:cNvSpPr>
            <a:spLocks noGrp="1"/>
          </p:cNvSpPr>
          <p:nvPr/>
        </p:nvSpPr>
        <p:spPr>
          <a:xfrm>
            <a:off x="857250" y="4543425"/>
            <a:ext cx="266700" cy="266700"/>
          </a:xfrm>
          <a:prstGeom prst="ellipse">
            <a:avLst/>
          </a:prstGeom>
          <a:solidFill>
            <a:srgbClr val="285E8E"/>
          </a:solidFill>
          <a:ln w="0">
            <a:noFill/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8873296-645B-4E80-A363-A86F9F9A217B}"/>
              </a:ext>
            </a:extLst>
          </p:cNvPr>
          <p:cNvSpPr>
            <a:spLocks noGrp="1"/>
          </p:cNvSpPr>
          <p:nvPr/>
        </p:nvSpPr>
        <p:spPr>
          <a:xfrm>
            <a:off x="857250" y="45434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4BCDF86-DD27-4F4F-AFA4-E8882EA20C37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未知熱・biasの平均を0へ戻し、共分散は保持</a:t>
            </a: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630DD4BA-FDB8-494B-94E5-53AC00E8BF85}"/>
              </a:ext>
            </a:extLst>
          </p:cNvPr>
          <p:cNvSpPr>
            <a:spLocks noGrp="1"/>
          </p:cNvSpPr>
          <p:nvPr/>
        </p:nvSpPr>
        <p:spPr>
          <a:xfrm>
            <a:off x="857250" y="5019675"/>
            <a:ext cx="266700" cy="266700"/>
          </a:xfrm>
          <a:prstGeom prst="ellipse">
            <a:avLst/>
          </a:prstGeom>
          <a:solidFill>
            <a:srgbClr val="285E8E"/>
          </a:solidFill>
          <a:ln w="0">
            <a:noFill/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F5DB767-DF31-4E2C-A038-0D590A672E9B}"/>
              </a:ext>
            </a:extLst>
          </p:cNvPr>
          <p:cNvSpPr>
            <a:spLocks noGrp="1"/>
          </p:cNvSpPr>
          <p:nvPr/>
        </p:nvSpPr>
        <p:spPr>
          <a:xfrm>
            <a:off x="857250" y="50196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25AB11D-2968-4E25-9E1A-41EDBF0C2115}"/>
              </a:ext>
            </a:extLst>
          </p:cNvPr>
          <p:cNvSpPr>
            <a:spLocks noGrp="1"/>
          </p:cNvSpPr>
          <p:nvPr/>
        </p:nvSpPr>
        <p:spPr>
          <a:xfrm>
            <a:off x="1257300" y="50101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将来はRC状態と共分散だけを伝播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89C7F203-6BA6-4396-BCFF-A0B4707241B3}"/>
              </a:ext>
            </a:extLst>
          </p:cNvPr>
          <p:cNvSpPr>
            <a:spLocks noGrp="1"/>
          </p:cNvSpPr>
          <p:nvPr/>
        </p:nvSpPr>
        <p:spPr>
          <a:xfrm>
            <a:off x="6076950" y="2895600"/>
            <a:ext cx="5505450" cy="2743200"/>
          </a:xfrm>
          <a:prstGeom prst="roundRect">
            <a:avLst>
              <a:gd name="adj" fmla="val 4167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7DAFFE2-06B5-4EB6-A777-01003C2883D6}"/>
              </a:ext>
            </a:extLst>
          </p:cNvPr>
          <p:cNvSpPr>
            <a:spLocks noGrp="1"/>
          </p:cNvSpPr>
          <p:nvPr/>
        </p:nvSpPr>
        <p:spPr>
          <a:xfrm>
            <a:off x="6305550" y="3105150"/>
            <a:ext cx="1238250" cy="247650"/>
          </a:xfrm>
          <a:prstGeom prst="roundRect">
            <a:avLst>
              <a:gd name="adj" fmla="val 50000"/>
            </a:avLst>
          </a:prstGeom>
          <a:solidFill>
            <a:srgbClr val="203F4F"/>
          </a:solidFill>
          <a:ln w="9525">
            <a:solidFill>
              <a:srgbClr val="4F9D9B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748825D-D7E3-4E24-B7C8-B4048829AA8F}"/>
              </a:ext>
            </a:extLst>
          </p:cNvPr>
          <p:cNvSpPr>
            <a:spLocks noGrp="1"/>
          </p:cNvSpPr>
          <p:nvPr/>
        </p:nvSpPr>
        <p:spPr>
          <a:xfrm>
            <a:off x="6362700" y="311467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UNCERTAINTY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D349B29-277A-4630-9C27-D127983CD649}"/>
              </a:ext>
            </a:extLst>
          </p:cNvPr>
          <p:cNvSpPr>
            <a:spLocks noGrp="1"/>
          </p:cNvSpPr>
          <p:nvPr/>
        </p:nvSpPr>
        <p:spPr>
          <a:xfrm>
            <a:off x="6343650" y="3552825"/>
            <a:ext cx="493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ŷⱼ,ₖ ± 1.95996 √(H Pᵀ,ₖ Hᵀ)ⱼⱼ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467B657-CF4C-4B54-B338-679A53FE7FE6}"/>
              </a:ext>
            </a:extLst>
          </p:cNvPr>
          <p:cNvSpPr>
            <a:spLocks noGrp="1"/>
          </p:cNvSpPr>
          <p:nvPr/>
        </p:nvSpPr>
        <p:spPr>
          <a:xfrm>
            <a:off x="6362700" y="42100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95%区間に含む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8293977-71A4-4864-8200-8F78E8FF39AA}"/>
              </a:ext>
            </a:extLst>
          </p:cNvPr>
          <p:cNvSpPr>
            <a:spLocks noGrp="1"/>
          </p:cNvSpPr>
          <p:nvPr/>
        </p:nvSpPr>
        <p:spPr>
          <a:xfrm>
            <a:off x="6362700" y="450532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初期状態・process noise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47AD0D0-817E-491E-9581-22836E48A2A4}"/>
              </a:ext>
            </a:extLst>
          </p:cNvPr>
          <p:cNvSpPr>
            <a:spLocks noGrp="1"/>
          </p:cNvSpPr>
          <p:nvPr/>
        </p:nvSpPr>
        <p:spPr>
          <a:xfrm>
            <a:off x="8810625" y="42100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6A84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D6A84B"/>
                </a:solidFill>
                <a:latin typeface="Noto Sans JP"/>
                <a:ea typeface="Noto Sans JP"/>
                <a:cs typeface="Noto Sans JP"/>
              </a:rPr>
              <a:t>95%区間に含まない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63FE2BB-80DA-4094-9C43-09EF037C687F}"/>
              </a:ext>
            </a:extLst>
          </p:cNvPr>
          <p:cNvSpPr>
            <a:spLocks noGrp="1"/>
          </p:cNvSpPr>
          <p:nvPr/>
        </p:nvSpPr>
        <p:spPr>
          <a:xfrm>
            <a:off x="8810625" y="450532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parameter・future input</a:t>
            </a:r>
          </a:p>
          <a:p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model form・measurement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C26B9DE-855A-404D-999B-8CF44E6888CD}"/>
              </a:ext>
            </a:extLst>
          </p:cNvPr>
          <p:cNvSpPr>
            <a:spLocks noGrp="1"/>
          </p:cNvSpPr>
          <p:nvPr/>
        </p:nvSpPr>
        <p:spPr>
          <a:xfrm>
            <a:off x="6343650" y="52578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5D4D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5D4DB"/>
                </a:solidFill>
                <a:latin typeface="Noto Sans JP"/>
                <a:ea typeface="Noto Sans JP"/>
                <a:cs typeface="Noto Sans JP"/>
              </a:rPr>
              <a:t>区間は将来測定値ではなく、潜在物理温度の不確かさを表す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7B8A0F64-7F55-46A4-B4D9-345F8F5CBA7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400050"/>
          </a:xfrm>
          <a:prstGeom prst="roundRect">
            <a:avLst>
              <a:gd name="adj" fmla="val 14286"/>
            </a:avLst>
          </a:prstGeom>
          <a:solidFill>
            <a:srgbClr val="E0ECE6"/>
          </a:solidFill>
          <a:ln w="9525">
            <a:solidFill>
              <a:srgbClr val="4C8A6E"/>
            </a:solidFill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036F455-4AF5-4DF9-AE3B-2210B9E34144}"/>
              </a:ext>
            </a:extLst>
          </p:cNvPr>
          <p:cNvSpPr>
            <a:spLocks noGrp="1"/>
          </p:cNvSpPr>
          <p:nvPr/>
        </p:nvSpPr>
        <p:spPr>
          <a:xfrm>
            <a:off x="762000" y="59245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356650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56650"/>
                </a:solidFill>
                <a:latin typeface="Noto Sans JP"/>
                <a:ea typeface="Noto Sans JP"/>
                <a:cs typeface="Noto Sans JP"/>
              </a:rPr>
              <a:t>範囲内判定は各軸のmin/max照合であり、内挿の保証ではない。外挿警告は停止条件と分けて運用する。</a:t>
            </a:r>
          </a:p>
        </p:txBody>
      </p:sp>
    </p:spTree>
    <p:extLst>
      <p:ext uri="{BB962C8B-B14F-4D97-AF65-F5344CB8AC3E}">
        <p14:creationId xmlns:p14="http://schemas.microsoft.com/office/powerpoint/2010/main" val="77119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2D004E2-74D6-4E7B-B58D-7EF3EDCBD83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MONITORING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BCAEF1E-49B6-4391-A5E7-D27B58F72C63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温度・未知熱・biasを因果的に同時推定する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38101B-F95A-4D8B-BC21-396C9FDECA53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NISは異常の統計量を提供するが、alarm閾値と継続条件は配備側で校正する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E14A046D-0D5D-4CFA-B493-E28B88D76F7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F495EEB-8B49-45D8-917A-32E3D7A6B0A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A91102D-2DB2-4BDC-965E-0CD8DF9DE9A4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3333750" cy="2238375"/>
          </a:xfrm>
          <a:prstGeom prst="roundRect">
            <a:avLst>
              <a:gd name="adj" fmla="val 5106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07E0F24-B5FB-4168-B940-765A7E559A24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203F4F"/>
          </a:solidFill>
          <a:ln w="9525">
            <a:solidFill>
              <a:srgbClr val="4F9D9B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421F209-D475-43F1-861D-75C5A5210AAB}"/>
              </a:ext>
            </a:extLst>
          </p:cNvPr>
          <p:cNvSpPr>
            <a:spLocks noGrp="1"/>
          </p:cNvSpPr>
          <p:nvPr/>
        </p:nvSpPr>
        <p:spPr>
          <a:xfrm>
            <a:off x="895350" y="1762125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AUGMENTED STATE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C38220-F718-459E-B093-805ABCB62118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z = [ T ; d ; β ]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2307057-EE1B-48F0-95A6-A4712495A89C}"/>
              </a:ext>
            </a:extLst>
          </p:cNvPr>
          <p:cNvSpPr>
            <a:spLocks noGrp="1"/>
          </p:cNvSpPr>
          <p:nvPr/>
        </p:nvSpPr>
        <p:spPr>
          <a:xfrm>
            <a:off x="1028700" y="285750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D8E4E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D8E4E9"/>
                </a:solidFill>
                <a:latin typeface="Noto Sans JP"/>
                <a:ea typeface="Noto Sans JP"/>
                <a:cs typeface="Noto Sans JP"/>
              </a:rPr>
              <a:t>T  物理温度</a:t>
            </a:r>
          </a:p>
          <a:p>
            <a:pPr algn="l">
              <a:lnSpc>
                <a:spcPct val="114000"/>
              </a:lnSpc>
              <a:buNone/>
              <a:defRPr sz="1275" b="0">
                <a:solidFill>
                  <a:srgbClr val="D8E4E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D8E4E9"/>
                </a:solidFill>
                <a:latin typeface="Noto Sans JP"/>
                <a:ea typeface="Noto Sans JP"/>
                <a:cs typeface="Noto Sans JP"/>
              </a:rPr>
              <a:t>d  未知熱流</a:t>
            </a:r>
          </a:p>
          <a:p>
            <a:pPr algn="l">
              <a:lnSpc>
                <a:spcPct val="114000"/>
              </a:lnSpc>
              <a:buNone/>
              <a:defRPr sz="1275" b="0">
                <a:solidFill>
                  <a:srgbClr val="D8E4E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D8E4E9"/>
                </a:solidFill>
                <a:latin typeface="Noto Sans JP"/>
                <a:ea typeface="Noto Sans JP"/>
                <a:cs typeface="Noto Sans JP"/>
              </a:rPr>
              <a:t>β  識別可能な相対bias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96B46B7-DA81-4908-BF55-5278A137DDDE}"/>
              </a:ext>
            </a:extLst>
          </p:cNvPr>
          <p:cNvSpPr>
            <a:spLocks noGrp="1"/>
          </p:cNvSpPr>
          <p:nvPr/>
        </p:nvSpPr>
        <p:spPr>
          <a:xfrm>
            <a:off x="4362450" y="1695450"/>
            <a:ext cx="1847850" cy="819150"/>
          </a:xfrm>
          <a:prstGeom prst="roundRect">
            <a:avLst>
              <a:gd name="adj" fmla="val 9302"/>
            </a:avLst>
          </a:prstGeom>
          <a:solidFill>
            <a:srgbClr val="E8F0F6"/>
          </a:solidFill>
          <a:ln w="19050">
            <a:solidFill>
              <a:srgbClr val="285E8E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60CC32-0025-43D5-AAE7-4A8686A4BF96}"/>
              </a:ext>
            </a:extLst>
          </p:cNvPr>
          <p:cNvSpPr>
            <a:spLocks noGrp="1"/>
          </p:cNvSpPr>
          <p:nvPr/>
        </p:nvSpPr>
        <p:spPr>
          <a:xfrm>
            <a:off x="4514850" y="18097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285E8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85E8E"/>
                </a:solidFill>
                <a:latin typeface="Noto Sans JP"/>
                <a:ea typeface="Noto Sans JP"/>
                <a:cs typeface="Noto Sans JP"/>
              </a:rPr>
              <a:t>predict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3514707-0649-4D1B-A707-9DF7C701A2D2}"/>
              </a:ext>
            </a:extLst>
          </p:cNvPr>
          <p:cNvSpPr>
            <a:spLocks noGrp="1"/>
          </p:cNvSpPr>
          <p:nvPr/>
        </p:nvSpPr>
        <p:spPr>
          <a:xfrm>
            <a:off x="4514850" y="2105025"/>
            <a:ext cx="154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4697"/>
          </a:bodyPr>
          <a:lstStyle/>
          <a:p>
            <a:pPr algn="ctr">
              <a:lnSpc>
                <a:spcPct val="100000"/>
              </a:lnSpc>
              <a:buNone/>
              <a:defRPr sz="16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z⁻, P⁻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D40113E-3B30-4D39-80A9-314517602288}"/>
              </a:ext>
            </a:extLst>
          </p:cNvPr>
          <p:cNvSpPr>
            <a:spLocks noGrp="1"/>
          </p:cNvSpPr>
          <p:nvPr/>
        </p:nvSpPr>
        <p:spPr>
          <a:xfrm>
            <a:off x="6619875" y="1695450"/>
            <a:ext cx="1847850" cy="819150"/>
          </a:xfrm>
          <a:prstGeom prst="roundRect">
            <a:avLst>
              <a:gd name="adj" fmla="val 9302"/>
            </a:avLst>
          </a:prstGeom>
          <a:solidFill>
            <a:srgbClr val="F4EAD4"/>
          </a:solidFill>
          <a:ln w="19050">
            <a:solidFill>
              <a:srgbClr val="D6A84B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FE67966-642B-4F09-967F-31A0F0C61B00}"/>
              </a:ext>
            </a:extLst>
          </p:cNvPr>
          <p:cNvSpPr>
            <a:spLocks noGrp="1"/>
          </p:cNvSpPr>
          <p:nvPr/>
        </p:nvSpPr>
        <p:spPr>
          <a:xfrm>
            <a:off x="6772275" y="18097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9A732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9A7326"/>
                </a:solidFill>
                <a:latin typeface="Noto Sans JP"/>
                <a:ea typeface="Noto Sans JP"/>
                <a:cs typeface="Noto Sans JP"/>
              </a:rPr>
              <a:t>innovation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338AF24-9307-445E-B2A4-78D29828B4B4}"/>
              </a:ext>
            </a:extLst>
          </p:cNvPr>
          <p:cNvSpPr>
            <a:spLocks noGrp="1"/>
          </p:cNvSpPr>
          <p:nvPr/>
        </p:nvSpPr>
        <p:spPr>
          <a:xfrm>
            <a:off x="6772275" y="2105025"/>
            <a:ext cx="154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ν = y − Hz⁻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85A528C-C8EE-4ED7-884C-90ACEE900918}"/>
              </a:ext>
            </a:extLst>
          </p:cNvPr>
          <p:cNvSpPr>
            <a:spLocks noGrp="1"/>
          </p:cNvSpPr>
          <p:nvPr/>
        </p:nvSpPr>
        <p:spPr>
          <a:xfrm>
            <a:off x="8877300" y="1695450"/>
            <a:ext cx="1847850" cy="819150"/>
          </a:xfrm>
          <a:prstGeom prst="roundRect">
            <a:avLst>
              <a:gd name="adj" fmla="val 9302"/>
            </a:avLst>
          </a:prstGeom>
          <a:solidFill>
            <a:srgbClr val="E0ECE6"/>
          </a:solidFill>
          <a:ln w="19050">
            <a:solidFill>
              <a:srgbClr val="4C8A6E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13A22BB-E834-49B7-A549-91C1CD16936B}"/>
              </a:ext>
            </a:extLst>
          </p:cNvPr>
          <p:cNvSpPr>
            <a:spLocks noGrp="1"/>
          </p:cNvSpPr>
          <p:nvPr/>
        </p:nvSpPr>
        <p:spPr>
          <a:xfrm>
            <a:off x="9029700" y="18097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4C8A6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4C8A6E"/>
                </a:solidFill>
                <a:latin typeface="Noto Sans JP"/>
                <a:ea typeface="Noto Sans JP"/>
                <a:cs typeface="Noto Sans JP"/>
              </a:rPr>
              <a:t>robust update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8754CCF-D9D5-43E3-8426-FBDBF11504D3}"/>
              </a:ext>
            </a:extLst>
          </p:cNvPr>
          <p:cNvSpPr>
            <a:spLocks noGrp="1"/>
          </p:cNvSpPr>
          <p:nvPr/>
        </p:nvSpPr>
        <p:spPr>
          <a:xfrm>
            <a:off x="9029700" y="2105025"/>
            <a:ext cx="1543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4697"/>
          </a:bodyPr>
          <a:lstStyle/>
          <a:p>
            <a:pPr algn="ctr">
              <a:lnSpc>
                <a:spcPct val="100000"/>
              </a:lnSpc>
              <a:buNone/>
              <a:defRPr sz="16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z⁺, P⁺</a:t>
            </a:r>
          </a:p>
        </p:txBody>
      </p:sp>
      <p:cxnSp>
        <p:nvCxnSpPr>
          <p:cNvPr id="63" name="直線矢印コネクタ 62"/>
          <p:cNvCxnSpPr>
            <a:stCxn id="11" idx="3"/>
            <a:endCxn id="14" idx="1"/>
          </p:cNvCxnSpPr>
          <p:nvPr/>
        </p:nvCxnSpPr>
        <p:spPr>
          <a:xfrm>
            <a:off x="6210300" y="2105025"/>
            <a:ext cx="409575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cxnSp>
        <p:nvCxnSpPr>
          <p:cNvPr id="64" name="直線矢印コネクタ 63"/>
          <p:cNvCxnSpPr>
            <a:stCxn id="14" idx="3"/>
            <a:endCxn id="17" idx="1"/>
          </p:cNvCxnSpPr>
          <p:nvPr/>
        </p:nvCxnSpPr>
        <p:spPr>
          <a:xfrm>
            <a:off x="8467725" y="2105025"/>
            <a:ext cx="409575" cy="0"/>
          </a:xfrm>
          <a:prstGeom prst="straightConnector1">
            <a:avLst/>
          </a:prstGeom>
          <a:ln w="19050">
            <a:solidFill>
              <a:srgbClr val="6F7E87"/>
            </a:solidFill>
            <a:prstDash val="solid"/>
            <a:tailEnd type="triangle" w="sm" len="sm"/>
          </a:ln>
        </p:spPr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22D29E5-537E-40B0-9888-7602E51F894B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Van Loan / implicit Qd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3DF8642-3124-4F10-89C5-4F6ADF28794D}"/>
              </a:ext>
            </a:extLst>
          </p:cNvPr>
          <p:cNvSpPr>
            <a:spLocks noGrp="1"/>
          </p:cNvSpPr>
          <p:nvPr/>
        </p:nvSpPr>
        <p:spPr>
          <a:xfrm>
            <a:off x="6648450" y="26860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missing sensorは観測行を縮約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527FEF4-2167-4681-B837-25F5E7F01AE5}"/>
              </a:ext>
            </a:extLst>
          </p:cNvPr>
          <p:cNvSpPr>
            <a:spLocks noGrp="1"/>
          </p:cNvSpPr>
          <p:nvPr/>
        </p:nvSpPr>
        <p:spPr>
          <a:xfrm>
            <a:off x="9029700" y="268605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Joseph form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BD78518C-19D0-425E-AAF6-A2267A60452F}"/>
              </a:ext>
            </a:extLst>
          </p:cNvPr>
          <p:cNvSpPr>
            <a:spLocks noGrp="1"/>
          </p:cNvSpPr>
          <p:nvPr/>
        </p:nvSpPr>
        <p:spPr>
          <a:xfrm>
            <a:off x="4362450" y="3105150"/>
            <a:ext cx="63627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BBAD134-A4C4-44C2-A988-5D268E44B1F4}"/>
              </a:ext>
            </a:extLst>
          </p:cNvPr>
          <p:cNvSpPr>
            <a:spLocks noGrp="1"/>
          </p:cNvSpPr>
          <p:nvPr/>
        </p:nvSpPr>
        <p:spPr>
          <a:xfrm>
            <a:off x="4552950" y="3219450"/>
            <a:ext cx="285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142735"/>
                </a:solidFill>
                <a:latin typeface="Cambria Math"/>
                <a:ea typeface="Cambria Math"/>
                <a:cs typeface="Cambria Math"/>
              </a:rPr>
              <a:t>NISₖ = νₖᵀ Sₖ⁻¹ νₖ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22B1735-8921-48A5-9B56-181967CB580B}"/>
              </a:ext>
            </a:extLst>
          </p:cNvPr>
          <p:cNvSpPr>
            <a:spLocks noGrp="1"/>
          </p:cNvSpPr>
          <p:nvPr/>
        </p:nvSpPr>
        <p:spPr>
          <a:xfrm>
            <a:off x="7524750" y="3190875"/>
            <a:ext cx="2971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1575"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理想条件では χ²(dof) を基準にできる。</a:t>
            </a:r>
          </a:p>
          <a:p>
            <a:pPr algn="l">
              <a:lnSpc>
                <a:spcPct val="105000"/>
              </a:lnSpc>
              <a:buNone/>
              <a:def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自己相関・model error・多重比較を正常保持データで校正する。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A571933-5D68-4184-8442-BE80C769B843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線形COMSOL monitor evidence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8852F20C-C7EC-4722-943F-18C5B595ACEE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33337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28D4545-9E4C-47F2-A58F-FF894D04A9D0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6675" cy="1371600"/>
          </a:xfrm>
          <a:prstGeom prst="rect">
            <a:avLst/>
          </a:prstGeom>
          <a:solidFill>
            <a:srgbClr val="D97963"/>
          </a:solidFill>
          <a:ln w="0">
            <a:noFill/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554BBA4-839F-46A7-AE62-C01529A93FE8}"/>
              </a:ext>
            </a:extLst>
          </p:cNvPr>
          <p:cNvSpPr>
            <a:spLocks noGrp="1"/>
          </p:cNvSpPr>
          <p:nvPr/>
        </p:nvSpPr>
        <p:spPr>
          <a:xfrm>
            <a:off x="800100" y="46863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0 s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8A897D6-F7BD-4C79-8ED6-76A5192CB9C8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M03  +3 K sensor offset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52EE078-6464-4032-91A4-023D9A68EC91}"/>
              </a:ext>
            </a:extLst>
          </p:cNvPr>
          <p:cNvSpPr>
            <a:spLocks noGrp="1"/>
          </p:cNvSpPr>
          <p:nvPr/>
        </p:nvSpPr>
        <p:spPr>
          <a:xfrm>
            <a:off x="800100" y="539115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最大NIS 403.305。検知前のfalse alert 0。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CCC19E4-0D6D-4B50-A0CD-9790E6406F27}"/>
              </a:ext>
            </a:extLst>
          </p:cNvPr>
          <p:cNvSpPr>
            <a:spLocks noGrp="1"/>
          </p:cNvSpPr>
          <p:nvPr/>
        </p:nvSpPr>
        <p:spPr>
          <a:xfrm>
            <a:off x="4171950" y="4552950"/>
            <a:ext cx="33337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ED68584-F037-4E54-8119-6CB43F1DAD45}"/>
              </a:ext>
            </a:extLst>
          </p:cNvPr>
          <p:cNvSpPr>
            <a:spLocks noGrp="1"/>
          </p:cNvSpPr>
          <p:nvPr/>
        </p:nvSpPr>
        <p:spPr>
          <a:xfrm>
            <a:off x="4171950" y="4552950"/>
            <a:ext cx="66675" cy="1371600"/>
          </a:xfrm>
          <a:prstGeom prst="rect">
            <a:avLst/>
          </a:prstGeom>
          <a:solidFill>
            <a:srgbClr val="285E8E"/>
          </a:solidFill>
          <a:ln w="0">
            <a:noFill/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8A51E57E-A1AD-4669-8372-05E5F2405B55}"/>
              </a:ext>
            </a:extLst>
          </p:cNvPr>
          <p:cNvSpPr>
            <a:spLocks noGrp="1"/>
          </p:cNvSpPr>
          <p:nvPr/>
        </p:nvSpPr>
        <p:spPr>
          <a:xfrm>
            <a:off x="4362450" y="46863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0.040 K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1A26204-1752-4EC3-AEC9-9FB8D43A2DCB}"/>
              </a:ext>
            </a:extLst>
          </p:cNvPr>
          <p:cNvSpPr>
            <a:spLocks noGrp="1"/>
          </p:cNvSpPr>
          <p:nvPr/>
        </p:nvSpPr>
        <p:spPr>
          <a:xfrm>
            <a:off x="4362450" y="51054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M04  欠測区間posterior RMSE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BB4BAB5-6593-4C4F-9CD4-BFC270A1FCAF}"/>
              </a:ext>
            </a:extLst>
          </p:cNvPr>
          <p:cNvSpPr>
            <a:spLocks noGrp="1"/>
          </p:cNvSpPr>
          <p:nvPr/>
        </p:nvSpPr>
        <p:spPr>
          <a:xfrm>
            <a:off x="4362450" y="539115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132点の欠測後もposteriorは有限。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A5E83C27-2FB4-42EB-A4BB-BA3EC315B29B}"/>
              </a:ext>
            </a:extLst>
          </p:cNvPr>
          <p:cNvSpPr>
            <a:spLocks noGrp="1"/>
          </p:cNvSpPr>
          <p:nvPr/>
        </p:nvSpPr>
        <p:spPr>
          <a:xfrm>
            <a:off x="7734300" y="4552950"/>
            <a:ext cx="38481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6F0B60A-3D68-486E-88C3-F316F3DA88CC}"/>
              </a:ext>
            </a:extLst>
          </p:cNvPr>
          <p:cNvSpPr>
            <a:spLocks noGrp="1"/>
          </p:cNvSpPr>
          <p:nvPr/>
        </p:nvSpPr>
        <p:spPr>
          <a:xfrm>
            <a:off x="7734300" y="4552950"/>
            <a:ext cx="66675" cy="1371600"/>
          </a:xfrm>
          <a:prstGeom prst="rect">
            <a:avLst/>
          </a:prstGeom>
          <a:solidFill>
            <a:srgbClr val="4C8A6E"/>
          </a:solidFill>
          <a:ln w="0">
            <a:noFill/>
            <a:prstDash val="solid"/>
          </a:ln>
        </p:spPr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2627EE9-2AEF-4B47-8358-C25BF5526A0E}"/>
              </a:ext>
            </a:extLst>
          </p:cNvPr>
          <p:cNvSpPr>
            <a:spLocks noGrp="1"/>
          </p:cNvSpPr>
          <p:nvPr/>
        </p:nvSpPr>
        <p:spPr>
          <a:xfrm>
            <a:off x="7924800" y="4686300"/>
            <a:ext cx="3562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10 s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8340CBF-9C3D-4343-A8DA-855C57E5823D}"/>
              </a:ext>
            </a:extLst>
          </p:cNvPr>
          <p:cNvSpPr>
            <a:spLocks noGrp="1"/>
          </p:cNvSpPr>
          <p:nvPr/>
        </p:nvSpPr>
        <p:spPr>
          <a:xfrm>
            <a:off x="7924800" y="5105400"/>
            <a:ext cx="3562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M05  3 W hidden heat detection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1C65CBA-EAB2-44EA-9234-6248913D930B}"/>
              </a:ext>
            </a:extLst>
          </p:cNvPr>
          <p:cNvSpPr>
            <a:spLocks noGrp="1"/>
          </p:cNvSpPr>
          <p:nvPr/>
        </p:nvSpPr>
        <p:spPr>
          <a:xfrm>
            <a:off x="7924800" y="5391150"/>
            <a:ext cx="3562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推定peak 3.182 W。event中bias ≤ 0.061 K。</a:t>
            </a:r>
          </a:p>
        </p:txBody>
      </p:sp>
    </p:spTree>
    <p:extLst>
      <p:ext uri="{BB962C8B-B14F-4D97-AF65-F5344CB8AC3E}">
        <p14:creationId xmlns:p14="http://schemas.microsoft.com/office/powerpoint/2010/main" val="149875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C8083EE-2ACB-45E8-914C-05209CD7764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BENCHMARK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AE17CC5-3B80-46C7-8E4D-8A55C9E73125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TopCell合成benchmarkはcore予測11ケースを通過した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711AE12-6BC7-41A2-8160-EB4A239EB3DB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既知真値に対する回帰試験。F11 model gapはcore集計から分離して表示する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CC4ECB0E-0468-4099-A701-93BD457D34E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DB7F20-07EE-44C9-9594-A945CB1EB19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8A01191-3024-45BC-9125-5B03A88DB05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7562850" cy="449580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="800100" y="1676400"/>
          <a:ext cx="71818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D2F62A9-9863-4A68-BF3D-6DF78EFEF4FE}"/>
              </a:ext>
            </a:extLst>
          </p:cNvPr>
          <p:cNvSpPr>
            <a:spLocks noGrp="1"/>
          </p:cNvSpPr>
          <p:nvPr/>
        </p:nvSpPr>
        <p:spPr>
          <a:xfrm>
            <a:off x="8420100" y="1524000"/>
            <a:ext cx="31623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B09F1D1-68F9-4A7C-91DA-A6BB5D637D72}"/>
              </a:ext>
            </a:extLst>
          </p:cNvPr>
          <p:cNvSpPr>
            <a:spLocks noGrp="1"/>
          </p:cNvSpPr>
          <p:nvPr/>
        </p:nvSpPr>
        <p:spPr>
          <a:xfrm>
            <a:off x="8420100" y="1524000"/>
            <a:ext cx="66675" cy="990600"/>
          </a:xfrm>
          <a:prstGeom prst="rect">
            <a:avLst/>
          </a:prstGeom>
          <a:solidFill>
            <a:srgbClr val="4F9D9B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01B90DE-755B-4275-A077-4ED11D74984A}"/>
              </a:ext>
            </a:extLst>
          </p:cNvPr>
          <p:cNvSpPr>
            <a:spLocks noGrp="1"/>
          </p:cNvSpPr>
          <p:nvPr/>
        </p:nvSpPr>
        <p:spPr>
          <a:xfrm>
            <a:off x="8610600" y="1657350"/>
            <a:ext cx="2876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0.143 K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79016C3-7BAB-4D6E-87DC-F11B7E8E02FA}"/>
              </a:ext>
            </a:extLst>
          </p:cNvPr>
          <p:cNvSpPr>
            <a:spLocks noGrp="1"/>
          </p:cNvSpPr>
          <p:nvPr/>
        </p:nvSpPr>
        <p:spPr>
          <a:xfrm>
            <a:off x="8610600" y="207645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core平均RMSE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9A7D28A-F2CE-4B3C-A420-8FE3DF949A68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31623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A89112C-F156-4831-9946-2D412A879261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66675" cy="990600"/>
          </a:xfrm>
          <a:prstGeom prst="rect">
            <a:avLst/>
          </a:prstGeom>
          <a:solidFill>
            <a:srgbClr val="D97963"/>
          </a:solidFill>
          <a:ln w="0">
            <a:noFill/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E20A66F-A035-44B0-A9BC-426710F6045D}"/>
              </a:ext>
            </a:extLst>
          </p:cNvPr>
          <p:cNvSpPr>
            <a:spLocks noGrp="1"/>
          </p:cNvSpPr>
          <p:nvPr/>
        </p:nvSpPr>
        <p:spPr>
          <a:xfrm>
            <a:off x="8610600" y="2800350"/>
            <a:ext cx="2876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1.303 K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B6D8704-3DEE-4798-8813-DD3156F995E4}"/>
              </a:ext>
            </a:extLst>
          </p:cNvPr>
          <p:cNvSpPr>
            <a:spLocks noGrp="1"/>
          </p:cNvSpPr>
          <p:nvPr/>
        </p:nvSpPr>
        <p:spPr>
          <a:xfrm>
            <a:off x="8610600" y="321945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core最大RMSE  F09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D6670B2-0AD6-4BF7-94E2-D3E62F875E57}"/>
              </a:ext>
            </a:extLst>
          </p:cNvPr>
          <p:cNvSpPr>
            <a:spLocks noGrp="1"/>
          </p:cNvSpPr>
          <p:nvPr/>
        </p:nvSpPr>
        <p:spPr>
          <a:xfrm>
            <a:off x="8610600" y="3505200"/>
            <a:ext cx="28765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45455"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初期観測が4点中2点のみ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4365D06-4C8B-4DF1-A803-F5DDFE1E1D6E}"/>
              </a:ext>
            </a:extLst>
          </p:cNvPr>
          <p:cNvSpPr>
            <a:spLocks noGrp="1"/>
          </p:cNvSpPr>
          <p:nvPr/>
        </p:nvSpPr>
        <p:spPr>
          <a:xfrm>
            <a:off x="8420100" y="3810000"/>
            <a:ext cx="31623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B729D7-E5E7-4F74-ACD8-9B41DAAB7826}"/>
              </a:ext>
            </a:extLst>
          </p:cNvPr>
          <p:cNvSpPr>
            <a:spLocks noGrp="1"/>
          </p:cNvSpPr>
          <p:nvPr/>
        </p:nvSpPr>
        <p:spPr>
          <a:xfrm>
            <a:off x="8420100" y="3810000"/>
            <a:ext cx="66675" cy="990600"/>
          </a:xfrm>
          <a:prstGeom prst="rect">
            <a:avLst/>
          </a:prstGeom>
          <a:solidFill>
            <a:srgbClr val="285E8E"/>
          </a:solidFill>
          <a:ln w="0">
            <a:noFill/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39DDB5B-1E19-432F-8323-F50356430D68}"/>
              </a:ext>
            </a:extLst>
          </p:cNvPr>
          <p:cNvSpPr>
            <a:spLocks noGrp="1"/>
          </p:cNvSpPr>
          <p:nvPr/>
        </p:nvSpPr>
        <p:spPr>
          <a:xfrm>
            <a:off x="8610600" y="3943350"/>
            <a:ext cx="2876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7.185 K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B524B2F-9018-4C66-BE1D-97107E0C06F9}"/>
              </a:ext>
            </a:extLst>
          </p:cNvPr>
          <p:cNvSpPr>
            <a:spLocks noGrp="1"/>
          </p:cNvSpPr>
          <p:nvPr/>
        </p:nvSpPr>
        <p:spPr>
          <a:xfrm>
            <a:off x="8610600" y="436245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事前モデル平均RMSE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AD8E5B92-599D-4A2E-8194-A52FB48663D1}"/>
              </a:ext>
            </a:extLst>
          </p:cNvPr>
          <p:cNvSpPr>
            <a:spLocks noGrp="1"/>
          </p:cNvSpPr>
          <p:nvPr/>
        </p:nvSpPr>
        <p:spPr>
          <a:xfrm>
            <a:off x="8420100" y="4953000"/>
            <a:ext cx="3162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C29A9DC-3705-45F3-8F3A-CCA770F8C28A}"/>
              </a:ext>
            </a:extLst>
          </p:cNvPr>
          <p:cNvSpPr>
            <a:spLocks noGrp="1"/>
          </p:cNvSpPr>
          <p:nvPr/>
        </p:nvSpPr>
        <p:spPr>
          <a:xfrm>
            <a:off x="8420100" y="4953000"/>
            <a:ext cx="66675" cy="1066800"/>
          </a:xfrm>
          <a:prstGeom prst="rect">
            <a:avLst/>
          </a:prstGeom>
          <a:solidFill>
            <a:srgbClr val="D6A84B"/>
          </a:solidFill>
          <a:ln w="0">
            <a:noFill/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B50AEF3-024A-431C-AB58-6F258E0582C1}"/>
              </a:ext>
            </a:extLst>
          </p:cNvPr>
          <p:cNvSpPr>
            <a:spLocks noGrp="1"/>
          </p:cNvSpPr>
          <p:nvPr/>
        </p:nvSpPr>
        <p:spPr>
          <a:xfrm>
            <a:off x="8610600" y="5086350"/>
            <a:ext cx="2876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9.823 K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DE6CFC8-E356-4490-89BA-C41491475FC9}"/>
              </a:ext>
            </a:extLst>
          </p:cNvPr>
          <p:cNvSpPr>
            <a:spLocks noGrp="1"/>
          </p:cNvSpPr>
          <p:nvPr/>
        </p:nvSpPr>
        <p:spPr>
          <a:xfrm>
            <a:off x="8610600" y="5505450"/>
            <a:ext cx="287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意図的model gap  F11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674E4D2-662C-4834-B0E6-94173AC6BF67}"/>
              </a:ext>
            </a:extLst>
          </p:cNvPr>
          <p:cNvSpPr>
            <a:spLocks noGrp="1"/>
          </p:cNvSpPr>
          <p:nvPr/>
        </p:nvSpPr>
        <p:spPr>
          <a:xfrm>
            <a:off x="8610600" y="5791200"/>
            <a:ext cx="2876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温度依存heat lossを未表現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2536786-33E3-474D-8346-B1FC0E7D5136}"/>
              </a:ext>
            </a:extLst>
          </p:cNvPr>
          <p:cNvSpPr>
            <a:spLocks noGrp="1"/>
          </p:cNvSpPr>
          <p:nvPr/>
        </p:nvSpPr>
        <p:spPr>
          <a:xfrm>
            <a:off x="628650" y="6115050"/>
            <a:ext cx="1095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F01–F10, F12をcore集計。F11は仕様上のmodel-form failureを可視化する独立ケース。</a:t>
            </a:r>
          </a:p>
        </p:txBody>
      </p:sp>
    </p:spTree>
    <p:extLst>
      <p:ext uri="{BB962C8B-B14F-4D97-AF65-F5344CB8AC3E}">
        <p14:creationId xmlns:p14="http://schemas.microsoft.com/office/powerpoint/2010/main" val="63901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873E09C-E28F-4084-850A-BAFCE59E3BE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BENCHMARK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5C0563-DD3B-40D5-8498-18E380DBF40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線形COMSOL外部8ケースで平均RMSE 0.036 K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466B937-D0B4-409C-B45D-C9F59F61DD88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体積平均3温度に対する評価。局所hotspot誤差は別指標として扱う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59334797-32E1-459F-A908-501DDA3CBB9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E771DD-B2A6-4E3B-ADFF-30BBA77C287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2E1037B-85C6-418D-BC4A-FFEE91E3774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7239000" cy="449580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="800100" y="1676400"/>
          <a:ext cx="6858000" cy="4076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48C2338-08D4-49DA-8DDA-B32F0F7072CC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486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C708363-4DB9-4450-94A5-2DF7C32EFC89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66675" cy="990600"/>
          </a:xfrm>
          <a:prstGeom prst="rect">
            <a:avLst/>
          </a:prstGeom>
          <a:solidFill>
            <a:srgbClr val="4F9D9B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7A3434B-0134-4AC1-BA40-521ADA4EA7B3}"/>
              </a:ext>
            </a:extLst>
          </p:cNvPr>
          <p:cNvSpPr>
            <a:spLocks noGrp="1"/>
          </p:cNvSpPr>
          <p:nvPr/>
        </p:nvSpPr>
        <p:spPr>
          <a:xfrm>
            <a:off x="8286750" y="16573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0.036 K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D79E015-C0CD-46EC-BB17-11E5BDD44988}"/>
              </a:ext>
            </a:extLst>
          </p:cNvPr>
          <p:cNvSpPr>
            <a:spLocks noGrp="1"/>
          </p:cNvSpPr>
          <p:nvPr/>
        </p:nvSpPr>
        <p:spPr>
          <a:xfrm>
            <a:off x="8286750" y="2076450"/>
            <a:ext cx="320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8ケース平均RMSE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892C569-BE02-4751-B827-4CC0C2BD12A1}"/>
              </a:ext>
            </a:extLst>
          </p:cNvPr>
          <p:cNvSpPr>
            <a:spLocks noGrp="1"/>
          </p:cNvSpPr>
          <p:nvPr/>
        </p:nvSpPr>
        <p:spPr>
          <a:xfrm>
            <a:off x="8286750" y="2362200"/>
            <a:ext cx="32004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45455"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screening limit 0.25 K未満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B0E0283-7464-4CC9-BE95-0A1FBDD18D5B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3486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A8A6D2A-C35B-4F21-9617-33B47539E021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66675" cy="990600"/>
          </a:xfrm>
          <a:prstGeom prst="rect">
            <a:avLst/>
          </a:prstGeom>
          <a:solidFill>
            <a:srgbClr val="D97963"/>
          </a:solidFill>
          <a:ln w="0">
            <a:noFill/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526832B-37F7-4A27-ADEA-3692DCD36E85}"/>
              </a:ext>
            </a:extLst>
          </p:cNvPr>
          <p:cNvSpPr>
            <a:spLocks noGrp="1"/>
          </p:cNvSpPr>
          <p:nvPr/>
        </p:nvSpPr>
        <p:spPr>
          <a:xfrm>
            <a:off x="8286750" y="28003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0.083 K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52DD240-BE35-48F4-8B10-D5CB7E515F3C}"/>
              </a:ext>
            </a:extLst>
          </p:cNvPr>
          <p:cNvSpPr>
            <a:spLocks noGrp="1"/>
          </p:cNvSpPr>
          <p:nvPr/>
        </p:nvSpPr>
        <p:spPr>
          <a:xfrm>
            <a:off x="8286750" y="3219450"/>
            <a:ext cx="320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最大RMSE  F05 short pulses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56E86EB-D0AE-4809-85AB-BCC8D76DCC0C}"/>
              </a:ext>
            </a:extLst>
          </p:cNvPr>
          <p:cNvSpPr>
            <a:spLocks noGrp="1"/>
          </p:cNvSpPr>
          <p:nvPr/>
        </p:nvSpPr>
        <p:spPr>
          <a:xfrm>
            <a:off x="8096250" y="3810000"/>
            <a:ext cx="3486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168163F-E99E-4D1E-97F2-35928F9FFD77}"/>
              </a:ext>
            </a:extLst>
          </p:cNvPr>
          <p:cNvSpPr>
            <a:spLocks noGrp="1"/>
          </p:cNvSpPr>
          <p:nvPr/>
        </p:nvSpPr>
        <p:spPr>
          <a:xfrm>
            <a:off x="8096250" y="3810000"/>
            <a:ext cx="66675" cy="990600"/>
          </a:xfrm>
          <a:prstGeom prst="rect">
            <a:avLst/>
          </a:prstGeom>
          <a:solidFill>
            <a:srgbClr val="4C8A6E"/>
          </a:solidFill>
          <a:ln w="0">
            <a:noFill/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40937A9-ABA7-4F3D-8079-04D3F91B9FED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99.06%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09BE2AD-D319-41FE-8460-395D479448A9}"/>
              </a:ext>
            </a:extLst>
          </p:cNvPr>
          <p:cNvSpPr>
            <a:spLocks noGrp="1"/>
          </p:cNvSpPr>
          <p:nvPr/>
        </p:nvSpPr>
        <p:spPr>
          <a:xfrm>
            <a:off x="8286750" y="4362450"/>
            <a:ext cx="320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事前モデル比 平均改善率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E831BD3-7C77-43C3-8E1E-C745BD3407A7}"/>
              </a:ext>
            </a:extLst>
          </p:cNvPr>
          <p:cNvSpPr>
            <a:spLocks noGrp="1"/>
          </p:cNvSpPr>
          <p:nvPr/>
        </p:nvSpPr>
        <p:spPr>
          <a:xfrm>
            <a:off x="8286750" y="4648200"/>
            <a:ext cx="32004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45455"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prior平均 7.362 K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A223138-3B2F-4BA8-BCDC-0564A4835B7E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34861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67A9CAC-3A50-4F2E-8A53-F1F11646C66A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66675" cy="1066800"/>
          </a:xfrm>
          <a:prstGeom prst="rect">
            <a:avLst/>
          </a:prstGeom>
          <a:solidFill>
            <a:srgbClr val="D6A84B"/>
          </a:solidFill>
          <a:ln w="0">
            <a:noFill/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F326475-1774-4235-8876-331DD515A89C}"/>
              </a:ext>
            </a:extLst>
          </p:cNvPr>
          <p:cNvSpPr>
            <a:spLocks noGrp="1"/>
          </p:cNvSpPr>
          <p:nvPr/>
        </p:nvSpPr>
        <p:spPr>
          <a:xfrm>
            <a:off x="8286750" y="5086350"/>
            <a:ext cx="320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0.328 K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0360E94-4866-4439-B4F6-DB9BD8CA8195}"/>
              </a:ext>
            </a:extLst>
          </p:cNvPr>
          <p:cNvSpPr>
            <a:spLocks noGrp="1"/>
          </p:cNvSpPr>
          <p:nvPr/>
        </p:nvSpPr>
        <p:spPr>
          <a:xfrm>
            <a:off x="8286750" y="5505450"/>
            <a:ext cx="320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最大hotspot過小評価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65E3D11-A9F1-46DB-A882-95692D1A8200}"/>
              </a:ext>
            </a:extLst>
          </p:cNvPr>
          <p:cNvSpPr>
            <a:spLocks noGrp="1"/>
          </p:cNvSpPr>
          <p:nvPr/>
        </p:nvSpPr>
        <p:spPr>
          <a:xfrm>
            <a:off x="8286750" y="5791200"/>
            <a:ext cx="320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平均温度の精度から局所安全余裕を推定しない</a:t>
            </a:r>
          </a:p>
        </p:txBody>
      </p:sp>
    </p:spTree>
    <p:extLst>
      <p:ext uri="{BB962C8B-B14F-4D97-AF65-F5344CB8AC3E}">
        <p14:creationId xmlns:p14="http://schemas.microsoft.com/office/powerpoint/2010/main" val="1607118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67F8BD2-5552-4520-B91E-EFEAA1173C3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VALIDATION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C2C6201-49CE-4F72-ACC5-52DE5AC70C71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高忠実度CAEでは誤差よりメッシュ不確かさが支配的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DE947A-4886-4CBB-B314-5FB78A25711F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数値はmodel-form screeningに使えるが、厳密妥当化は未達である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2C699C04-A5D7-4274-8A75-00EE4106102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5098ECE-B84E-4541-A62E-563C6B21744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18341C8-1D2B-4E82-AD1F-A684A914009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6572250" cy="42862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graphicFrame>
        <p:nvGraphicFramePr>
          <p:cNvPr id="38" name="Chart"/>
          <p:cNvGraphicFramePr/>
          <p:nvPr/>
        </p:nvGraphicFramePr>
        <p:xfrm>
          <a:off x="819150" y="1704975"/>
          <a:ext cx="615315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B59EB6-9210-47D6-B7C4-6B3711C124F3}"/>
              </a:ext>
            </a:extLst>
          </p:cNvPr>
          <p:cNvSpPr>
            <a:spLocks noGrp="1"/>
          </p:cNvSpPr>
          <p:nvPr/>
        </p:nvSpPr>
        <p:spPr>
          <a:xfrm>
            <a:off x="819150" y="5524500"/>
            <a:ext cx="615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2ケース平均 learned RMSE 0.0956 K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2AC2F1D-E70A-4BD8-90F9-F9E7BB4DFDC8}"/>
              </a:ext>
            </a:extLst>
          </p:cNvPr>
          <p:cNvSpPr>
            <a:spLocks noGrp="1"/>
          </p:cNvSpPr>
          <p:nvPr/>
        </p:nvSpPr>
        <p:spPr>
          <a:xfrm>
            <a:off x="7429500" y="1524000"/>
            <a:ext cx="4152900" cy="4286250"/>
          </a:xfrm>
          <a:prstGeom prst="roundRect">
            <a:avLst>
              <a:gd name="adj" fmla="val 2752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9F682A-F36F-49AE-BFBC-603A26ED137C}"/>
              </a:ext>
            </a:extLst>
          </p:cNvPr>
          <p:cNvSpPr>
            <a:spLocks noGrp="1"/>
          </p:cNvSpPr>
          <p:nvPr/>
        </p:nvSpPr>
        <p:spPr>
          <a:xfrm>
            <a:off x="7677150" y="1752600"/>
            <a:ext cx="365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証拠レベル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6BD03A9-8E25-4173-9C9A-E6CEC8B8D933}"/>
              </a:ext>
            </a:extLst>
          </p:cNvPr>
          <p:cNvSpPr>
            <a:spLocks noGrp="1"/>
          </p:cNvSpPr>
          <p:nvPr/>
        </p:nvSpPr>
        <p:spPr>
          <a:xfrm>
            <a:off x="7677150" y="2276475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scalar error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82022FA-68FE-488B-A67C-50AC51F4951C}"/>
              </a:ext>
            </a:extLst>
          </p:cNvPr>
          <p:cNvSpPr>
            <a:spLocks noGrp="1"/>
          </p:cNvSpPr>
          <p:nvPr/>
        </p:nvSpPr>
        <p:spPr>
          <a:xfrm>
            <a:off x="7677150" y="25241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全33点が隣接mesh差以内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EC95435-4E93-4B44-A24C-0BDC4763BF16}"/>
              </a:ext>
            </a:extLst>
          </p:cNvPr>
          <p:cNvSpPr>
            <a:spLocks noGrp="1"/>
          </p:cNvSpPr>
          <p:nvPr/>
        </p:nvSpPr>
        <p:spPr>
          <a:xfrm>
            <a:off x="10334625" y="2314575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4C8A6E"/>
          </a:solidFill>
          <a:ln w="0">
            <a:noFill/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6CCC36-03BC-4A21-9E67-F2877A79736C}"/>
              </a:ext>
            </a:extLst>
          </p:cNvPr>
          <p:cNvSpPr>
            <a:spLocks noGrp="1"/>
          </p:cNvSpPr>
          <p:nvPr/>
        </p:nvSpPr>
        <p:spPr>
          <a:xfrm>
            <a:off x="10391775" y="233362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PASS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BF47A70-FA74-43D3-B5DA-1BFB839FAD7A}"/>
              </a:ext>
            </a:extLst>
          </p:cNvPr>
          <p:cNvSpPr>
            <a:spLocks noGrp="1"/>
          </p:cNvSpPr>
          <p:nvPr/>
        </p:nvSpPr>
        <p:spPr>
          <a:xfrm>
            <a:off x="7677150" y="291465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mesh convergence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85C346F-1D0E-4392-99F4-42BD2CE07E8D}"/>
              </a:ext>
            </a:extLst>
          </p:cNvPr>
          <p:cNvSpPr>
            <a:spLocks noGrp="1"/>
          </p:cNvSpPr>
          <p:nvPr/>
        </p:nvSpPr>
        <p:spPr>
          <a:xfrm>
            <a:off x="7677150" y="31623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最大隣接mesh差 0.496 K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5CAA7A0-6E74-4E4B-8D4D-BA05D2D4614C}"/>
              </a:ext>
            </a:extLst>
          </p:cNvPr>
          <p:cNvSpPr>
            <a:spLocks noGrp="1"/>
          </p:cNvSpPr>
          <p:nvPr/>
        </p:nvSpPr>
        <p:spPr>
          <a:xfrm>
            <a:off x="10334625" y="2952750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0">
            <a:noFill/>
            <a:prstDash val="solid"/>
          </a:ln>
        </p:spPr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FF154D8-1B55-4753-8BCB-480D2B71D9C3}"/>
              </a:ext>
            </a:extLst>
          </p:cNvPr>
          <p:cNvSpPr>
            <a:spLocks noGrp="1"/>
          </p:cNvSpPr>
          <p:nvPr/>
        </p:nvSpPr>
        <p:spPr>
          <a:xfrm>
            <a:off x="10391775" y="29718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OPEN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CD74CD7-DFDE-47EC-8F36-5A906D17E64B}"/>
              </a:ext>
            </a:extLst>
          </p:cNvPr>
          <p:cNvSpPr>
            <a:spLocks noGrp="1"/>
          </p:cNvSpPr>
          <p:nvPr/>
        </p:nvSpPr>
        <p:spPr>
          <a:xfrm>
            <a:off x="7677150" y="3552825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8550"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temporal convergence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E087718-BF88-459D-B1EC-B15991988851}"/>
              </a:ext>
            </a:extLst>
          </p:cNvPr>
          <p:cNvSpPr>
            <a:spLocks noGrp="1"/>
          </p:cNvSpPr>
          <p:nvPr/>
        </p:nvSpPr>
        <p:spPr>
          <a:xfrm>
            <a:off x="7677150" y="38004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未qualified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3E429A6-97C1-40D7-96FF-B7A94EF167AB}"/>
              </a:ext>
            </a:extLst>
          </p:cNvPr>
          <p:cNvSpPr>
            <a:spLocks noGrp="1"/>
          </p:cNvSpPr>
          <p:nvPr/>
        </p:nvSpPr>
        <p:spPr>
          <a:xfrm>
            <a:off x="10334625" y="3590925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0">
            <a:noFill/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E69B196-B8B9-4A90-9C20-FA3D341F7D1E}"/>
              </a:ext>
            </a:extLst>
          </p:cNvPr>
          <p:cNvSpPr>
            <a:spLocks noGrp="1"/>
          </p:cNvSpPr>
          <p:nvPr/>
        </p:nvSpPr>
        <p:spPr>
          <a:xfrm>
            <a:off x="10391775" y="36099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OPEN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899B9BE-3322-4130-901B-FF76B940C95B}"/>
              </a:ext>
            </a:extLst>
          </p:cNvPr>
          <p:cNvSpPr>
            <a:spLocks noGrp="1"/>
          </p:cNvSpPr>
          <p:nvPr/>
        </p:nvSpPr>
        <p:spPr>
          <a:xfrm>
            <a:off x="7677150" y="419100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2303"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experiment comparison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F400113-3D3D-4D1F-96AE-F2592D539D78}"/>
              </a:ext>
            </a:extLst>
          </p:cNvPr>
          <p:cNvSpPr>
            <a:spLocks noGrp="1"/>
          </p:cNvSpPr>
          <p:nvPr/>
        </p:nvSpPr>
        <p:spPr>
          <a:xfrm>
            <a:off x="7677150" y="44386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未実施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215CB1D-4B1A-4198-9B13-22BF3D53BD70}"/>
              </a:ext>
            </a:extLst>
          </p:cNvPr>
          <p:cNvSpPr>
            <a:spLocks noGrp="1"/>
          </p:cNvSpPr>
          <p:nvPr/>
        </p:nvSpPr>
        <p:spPr>
          <a:xfrm>
            <a:off x="10334625" y="4229100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D97963"/>
          </a:solidFill>
          <a:ln w="0">
            <a:noFill/>
            <a:prstDash val="solid"/>
          </a:ln>
        </p:spPr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33D174-DB0C-4441-AD92-E25EE8CE98F3}"/>
              </a:ext>
            </a:extLst>
          </p:cNvPr>
          <p:cNvSpPr>
            <a:spLocks noGrp="1"/>
          </p:cNvSpPr>
          <p:nvPr/>
        </p:nvSpPr>
        <p:spPr>
          <a:xfrm>
            <a:off x="10391775" y="42481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OPEN</a:t>
            </a:r>
          </a:p>
        </p:txBody>
      </p: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035F8EA1-4AAE-487E-ADA1-DC984282A40F}"/>
              </a:ext>
            </a:extLst>
          </p:cNvPr>
          <p:cNvSpPr>
            <a:spLocks noGrp="1"/>
          </p:cNvSpPr>
          <p:nvPr/>
        </p:nvSpPr>
        <p:spPr>
          <a:xfrm>
            <a:off x="7677150" y="4895850"/>
            <a:ext cx="3657600" cy="0"/>
          </a:xfrm>
          <a:prstGeom prst="line">
            <a:avLst/>
          </a:prstGeom>
          <a:noFill/>
          <a:ln w="9525">
            <a:solidFill>
              <a:srgbClr val="496472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EBBE1AF-3042-4424-8D6D-03E523264AEB}"/>
              </a:ext>
            </a:extLst>
          </p:cNvPr>
          <p:cNvSpPr>
            <a:spLocks noGrp="1"/>
          </p:cNvSpPr>
          <p:nvPr/>
        </p:nvSpPr>
        <p:spPr>
          <a:xfrm>
            <a:off x="7677150" y="505777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放射pair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BA8D30E-1D96-420B-9093-88F44F1B00B6}"/>
              </a:ext>
            </a:extLst>
          </p:cNvPr>
          <p:cNvSpPr>
            <a:spLocks noGrp="1"/>
          </p:cNvSpPr>
          <p:nvPr/>
        </p:nvSpPr>
        <p:spPr>
          <a:xfrm>
            <a:off x="8782050" y="5038725"/>
            <a:ext cx="2552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truth効果 0.393 K / mesh差 0.492 K = 0.798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8F55D697-000C-4401-8016-B7DB28898860}"/>
              </a:ext>
            </a:extLst>
          </p:cNvPr>
          <p:cNvSpPr>
            <a:spLocks noGrp="1"/>
          </p:cNvSpPr>
          <p:nvPr/>
        </p:nvSpPr>
        <p:spPr>
          <a:xfrm>
            <a:off x="7429500" y="5953125"/>
            <a:ext cx="4152900" cy="342900"/>
          </a:xfrm>
          <a:prstGeom prst="roundRect">
            <a:avLst>
              <a:gd name="adj" fmla="val 16667"/>
            </a:avLst>
          </a:prstGeom>
          <a:solidFill>
            <a:srgbClr val="F4DFDA"/>
          </a:solidFill>
          <a:ln w="9525">
            <a:solidFill>
              <a:srgbClr val="D97963"/>
            </a:solidFill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3609B57-28C5-4AF8-B79D-A76EC83A4A38}"/>
              </a:ext>
            </a:extLst>
          </p:cNvPr>
          <p:cNvSpPr>
            <a:spLocks noGrp="1"/>
          </p:cNvSpPr>
          <p:nvPr/>
        </p:nvSpPr>
        <p:spPr>
          <a:xfrm>
            <a:off x="7543800" y="6000750"/>
            <a:ext cx="392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B9574A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B9574A"/>
                </a:solidFill>
                <a:latin typeface="Noto Sans JP"/>
                <a:ea typeface="Noto Sans JP"/>
                <a:cs typeface="Noto Sans JP"/>
              </a:rPr>
              <a:t>strict validation status: not qualified</a:t>
            </a:r>
          </a:p>
        </p:txBody>
      </p:sp>
    </p:spTree>
    <p:extLst>
      <p:ext uri="{BB962C8B-B14F-4D97-AF65-F5344CB8AC3E}">
        <p14:creationId xmlns:p14="http://schemas.microsoft.com/office/powerpoint/2010/main" val="16138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46E26F8-9EEE-4E62-BE69-AF506F0E7B8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DECISION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B8EBCD-C4C5-4ACD-B685-98836A3CDEA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精度と妥当性証拠を分離して採用判定する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E2C1137-27A9-423F-967D-18B64E9E5E11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ソフトウェア試験の合格は、装置ごとの安全性・性能妥当化を代替しない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BFAE29C2-BDB8-4FC4-9D95-CB43E3FBF3B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690D8E-75F7-4DB0-98D2-CF4C7CB9300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graphicFrame>
        <p:nvGraphicFramePr>
          <p:cNvPr id="21" name="表 20"/>
          <p:cNvGraphicFramePr/>
          <p:nvPr/>
        </p:nvGraphicFramePr>
        <p:xfrm>
          <a:off x="609600" y="1581150"/>
          <a:ext cx="10972800" cy="34290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確認対象</a:t>
                      </a:r>
                    </a:p>
                  </a:txBody>
                  <a:tcPr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現時点の証拠</a:t>
                      </a:r>
                    </a:p>
                  </a:txBody>
                  <a:tcPr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>
                    <a:solidFill>
                      <a:srgbClr val="1427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format / lint / types / unit / property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fast quality gate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356650"/>
                          </a:solidFill>
                        </a:rPr>
                        <a:t>利用可</a:t>
                      </a:r>
                    </a:p>
                  </a:txBody>
                  <a:tcPr>
                    <a:solidFill>
                      <a:srgbClr val="E0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Physics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単位、熱容量、境界、受動性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schema v3・正値制約・CAE回路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77591E"/>
                          </a:solidFill>
                        </a:rPr>
                        <a:t>要装置確認</a:t>
                      </a:r>
                    </a:p>
                  </a:txBody>
                  <a:tcPr>
                    <a:solidFill>
                      <a:srgbClr val="F4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独立case RMSE、worst、phase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TopCell / linear COMSOL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356650"/>
                          </a:solidFill>
                        </a:rPr>
                        <a:t>screening可</a:t>
                      </a:r>
                    </a:p>
                  </a:txBody>
                  <a:tcPr>
                    <a:solidFill>
                      <a:srgbClr val="E0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Monitoring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検知遅れ、false alert、誤帰属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offset・欠測・hidden heat cases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77591E"/>
                          </a:solidFill>
                        </a:rPr>
                        <a:t>現場校正要</a:t>
                      </a:r>
                    </a:p>
                  </a:txBody>
                  <a:tcPr>
                    <a:solidFill>
                      <a:srgbClr val="F4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Model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放射、物性依存、hotspot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意図的gapとnonlinear CAEで可視化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77591E"/>
                          </a:solidFill>
                        </a:rPr>
                        <a:t>範囲制限</a:t>
                      </a:r>
                    </a:p>
                  </a:txBody>
                  <a:tcPr>
                    <a:solidFill>
                      <a:srgbClr val="F4E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mesh・time・実験との比較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3F515D"/>
                          </a:solidFill>
                        </a:rPr>
                        <a:t>high-fidelity strict status not qualified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B9574A"/>
                          </a:solidFill>
                        </a:rPr>
                        <a:t>未完了</a:t>
                      </a:r>
                    </a:p>
                  </a:txBody>
                  <a:tcPr>
                    <a:solidFill>
                      <a:srgbClr val="F4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872F784-1F9B-4E2F-A5AB-8B422E5E06B0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34099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032959F-9FDA-4A57-AD53-EEAF74F49DFA}"/>
              </a:ext>
            </a:extLst>
          </p:cNvPr>
          <p:cNvSpPr>
            <a:spLocks noGrp="1"/>
          </p:cNvSpPr>
          <p:nvPr/>
        </p:nvSpPr>
        <p:spPr>
          <a:xfrm>
            <a:off x="800100" y="5438775"/>
            <a:ext cx="3028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採用前に固定するもの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7976118-0B19-4AC8-B4ED-2613A150A737}"/>
              </a:ext>
            </a:extLst>
          </p:cNvPr>
          <p:cNvSpPr>
            <a:spLocks noGrp="1"/>
          </p:cNvSpPr>
          <p:nvPr/>
        </p:nvSpPr>
        <p:spPr>
          <a:xfrm>
            <a:off x="800100" y="574357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運転域、許容誤差、安全余裕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023C02-D7BB-41F4-A312-F22A340EC3CC}"/>
              </a:ext>
            </a:extLst>
          </p:cNvPr>
          <p:cNvSpPr>
            <a:spLocks noGrp="1"/>
          </p:cNvSpPr>
          <p:nvPr/>
        </p:nvSpPr>
        <p:spPr>
          <a:xfrm>
            <a:off x="4267200" y="5286375"/>
            <a:ext cx="34099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49C934B-34A9-47D2-BF08-E8D4EE072949}"/>
              </a:ext>
            </a:extLst>
          </p:cNvPr>
          <p:cNvSpPr>
            <a:spLocks noGrp="1"/>
          </p:cNvSpPr>
          <p:nvPr/>
        </p:nvSpPr>
        <p:spPr>
          <a:xfrm>
            <a:off x="4457700" y="5438775"/>
            <a:ext cx="3028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再評価を起動する変更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EB00D9C-2E87-45D5-AA15-6A39FC475462}"/>
              </a:ext>
            </a:extLst>
          </p:cNvPr>
          <p:cNvSpPr>
            <a:spLocks noGrp="1"/>
          </p:cNvSpPr>
          <p:nvPr/>
        </p:nvSpPr>
        <p:spPr>
          <a:xfrm>
            <a:off x="4457700" y="574357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材質、geometry、sensor、境界条件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26F23A6-B9F3-4EEE-8EF7-4ABFE0096D0D}"/>
              </a:ext>
            </a:extLst>
          </p:cNvPr>
          <p:cNvSpPr>
            <a:spLocks noGrp="1"/>
          </p:cNvSpPr>
          <p:nvPr/>
        </p:nvSpPr>
        <p:spPr>
          <a:xfrm>
            <a:off x="7924800" y="5286375"/>
            <a:ext cx="3657600" cy="876300"/>
          </a:xfrm>
          <a:prstGeom prst="roundRect">
            <a:avLst>
              <a:gd name="adj" fmla="val 13043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B5FD37C-4303-4D4D-89CB-F8B0378CE3AF}"/>
              </a:ext>
            </a:extLst>
          </p:cNvPr>
          <p:cNvSpPr>
            <a:spLocks noGrp="1"/>
          </p:cNvSpPr>
          <p:nvPr/>
        </p:nvSpPr>
        <p:spPr>
          <a:xfrm>
            <a:off x="8115300" y="5438775"/>
            <a:ext cx="685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結論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D6057CA-0227-4690-B8BD-1CAF0527A1CE}"/>
              </a:ext>
            </a:extLst>
          </p:cNvPr>
          <p:cNvSpPr>
            <a:spLocks noGrp="1"/>
          </p:cNvSpPr>
          <p:nvPr/>
        </p:nvSpPr>
        <p:spPr>
          <a:xfrm>
            <a:off x="8810625" y="5400675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予測・監視の基盤として有効。</a:t>
            </a:r>
          </a:p>
          <a:p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製品保証には装置別V&amp;Vが必要。</a:t>
            </a:r>
          </a:p>
        </p:txBody>
      </p:sp>
    </p:spTree>
    <p:extLst>
      <p:ext uri="{BB962C8B-B14F-4D97-AF65-F5344CB8AC3E}">
        <p14:creationId xmlns:p14="http://schemas.microsoft.com/office/powerpoint/2010/main" val="185466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43ED7BB-1165-4D3D-AACB-A7B5EB988C6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REFERENCES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E6AA24E-9D19-4F64-B663-C23B55B7E5C0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0" rIns="28575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2735"/>
                </a:solidFill>
                <a:latin typeface="Yu Gothic"/>
                <a:ea typeface="Yu Gothic"/>
                <a:cs typeface="Yu Gothic"/>
              </a:rPr>
              <a:t>理論、実装、評価成果物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9C14FB0-3310-4755-BA81-EA14A7A7A15A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57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数値の完全な出典パスと補足条件は各スライドのspeaker notesに記載</a:t>
            </a:r>
          </a:p>
        </p:txBody>
      </p:sp>
      <p:sp>
        <p:nvSpPr>
          <p:cNvPr id="4" name="直線コネクタ 3">
            <a:extLst>
              <a:ext uri="{FF2B5EF4-FFF2-40B4-BE49-F238E27FC236}">
                <a16:creationId xmlns:a16="http://schemas.microsoft.com/office/drawing/2014/main" id="{34D983B3-B6F6-42DF-A455-A77640F058E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0"/>
          </a:xfrm>
          <a:prstGeom prst="line">
            <a:avLst/>
          </a:prstGeom>
          <a:noFill/>
          <a:ln w="9525">
            <a:solidFill>
              <a:srgbClr val="D5DEE3"/>
            </a:solidFill>
            <a:prstDash val="solid"/>
          </a:ln>
        </p:spPr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17AF9C2-CB9D-4474-9BAF-F34F6135DD2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81E2298-141C-4AE5-8A15-6CFD77D6C3CB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5314950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5DEE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737181F-8856-413D-AB3F-88E5007500BA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42735"/>
                </a:solidFill>
                <a:latin typeface="Noto Sans JP"/>
                <a:ea typeface="Noto Sans JP"/>
                <a:cs typeface="Noto Sans JP"/>
              </a:rPr>
              <a:t>Repository evidence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4694CD-C51A-421D-ABC2-F89EC68F701A}"/>
              </a:ext>
            </a:extLst>
          </p:cNvPr>
          <p:cNvSpPr>
            <a:spLocks noGrp="1"/>
          </p:cNvSpPr>
          <p:nvPr/>
        </p:nvSpPr>
        <p:spPr>
          <a:xfrm>
            <a:off x="857250" y="22764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[E1]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41C6BC4-1647-4EAE-BB54-134DB4208B9E}"/>
              </a:ext>
            </a:extLst>
          </p:cNvPr>
          <p:cNvSpPr>
            <a:spLocks noGrp="1"/>
          </p:cNvSpPr>
          <p:nvPr/>
        </p:nvSpPr>
        <p:spPr>
          <a:xfrm>
            <a:off x="1638300" y="2276475"/>
            <a:ext cx="394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TopCell benchmark summary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9C88412-A3D5-4CE2-846C-18EAD8DFBB61}"/>
              </a:ext>
            </a:extLst>
          </p:cNvPr>
          <p:cNvSpPr>
            <a:spLocks noGrp="1"/>
          </p:cNvSpPr>
          <p:nvPr/>
        </p:nvSpPr>
        <p:spPr>
          <a:xfrm>
            <a:off x="1638300" y="2524125"/>
            <a:ext cx="3943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benchmarks/topcell/.../benchmark_summary.json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8E74544-F8F1-4EF3-A473-C67F24AB4755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[E2]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E521943-6975-4CCA-9A3C-0D589BE910AF}"/>
              </a:ext>
            </a:extLst>
          </p:cNvPr>
          <p:cNvSpPr>
            <a:spLocks noGrp="1"/>
          </p:cNvSpPr>
          <p:nvPr/>
        </p:nvSpPr>
        <p:spPr>
          <a:xfrm>
            <a:off x="1638300" y="2857500"/>
            <a:ext cx="394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Linear COMSOL forecast metrics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D82A53B-5875-4654-8C6C-CA04BE94E0A8}"/>
              </a:ext>
            </a:extLst>
          </p:cNvPr>
          <p:cNvSpPr>
            <a:spLocks noGrp="1"/>
          </p:cNvSpPr>
          <p:nvPr/>
        </p:nvSpPr>
        <p:spPr>
          <a:xfrm>
            <a:off x="1638300" y="3105150"/>
            <a:ext cx="3943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.../source_data/linear_forecast_metrics.csv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F795DDC-DC1A-4A41-A704-3D72B4A14320}"/>
              </a:ext>
            </a:extLst>
          </p:cNvPr>
          <p:cNvSpPr>
            <a:spLocks noGrp="1"/>
          </p:cNvSpPr>
          <p:nvPr/>
        </p:nvSpPr>
        <p:spPr>
          <a:xfrm>
            <a:off x="857250" y="343852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[E8]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27025B8-5715-46FA-BB97-ADA7B0E19981}"/>
              </a:ext>
            </a:extLst>
          </p:cNvPr>
          <p:cNvSpPr>
            <a:spLocks noGrp="1"/>
          </p:cNvSpPr>
          <p:nvPr/>
        </p:nvSpPr>
        <p:spPr>
          <a:xfrm>
            <a:off x="1638300" y="3438525"/>
            <a:ext cx="394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Linear COMSOL monitor metrics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687EF9C-2F18-48CC-90CC-840782006D79}"/>
              </a:ext>
            </a:extLst>
          </p:cNvPr>
          <p:cNvSpPr>
            <a:spLocks noGrp="1"/>
          </p:cNvSpPr>
          <p:nvPr/>
        </p:nvSpPr>
        <p:spPr>
          <a:xfrm>
            <a:off x="1638300" y="3686175"/>
            <a:ext cx="3943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.../source_data/linear_monitor_metrics.csv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F5F31EB-8A1D-469E-BBEF-A44E9C67E80F}"/>
              </a:ext>
            </a:extLst>
          </p:cNvPr>
          <p:cNvSpPr>
            <a:spLocks noGrp="1"/>
          </p:cNvSpPr>
          <p:nvPr/>
        </p:nvSpPr>
        <p:spPr>
          <a:xfrm>
            <a:off x="857250" y="40195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[E4]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6A2A1F-C07C-4717-B97B-65D43FD6ECF3}"/>
              </a:ext>
            </a:extLst>
          </p:cNvPr>
          <p:cNvSpPr>
            <a:spLocks noGrp="1"/>
          </p:cNvSpPr>
          <p:nvPr/>
        </p:nvSpPr>
        <p:spPr>
          <a:xfrm>
            <a:off x="1638300" y="4019550"/>
            <a:ext cx="394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High-fidelity benchmark summary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8E41FB-A75D-4822-9F8C-DC632AE9B59E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3943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.../nonlinear_high_fidelity/benchmark/summary.json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BBCDFE6-0651-41A2-A7B1-A6BCBA751AA9}"/>
              </a:ext>
            </a:extLst>
          </p:cNvPr>
          <p:cNvSpPr>
            <a:spLocks noGrp="1"/>
          </p:cNvSpPr>
          <p:nvPr/>
        </p:nvSpPr>
        <p:spPr>
          <a:xfrm>
            <a:off x="857250" y="46005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[C3–C5]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6016FD2-4855-4A10-A160-6CC598735C66}"/>
              </a:ext>
            </a:extLst>
          </p:cNvPr>
          <p:cNvSpPr>
            <a:spLocks noGrp="1"/>
          </p:cNvSpPr>
          <p:nvPr/>
        </p:nvSpPr>
        <p:spPr>
          <a:xfrm>
            <a:off x="1638300" y="4600575"/>
            <a:ext cx="394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RC engine, integrator, observer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69FE6E3-2EA4-4301-BD54-315C67130790}"/>
              </a:ext>
            </a:extLst>
          </p:cNvPr>
          <p:cNvSpPr>
            <a:spLocks noGrp="1"/>
          </p:cNvSpPr>
          <p:nvPr/>
        </p:nvSpPr>
        <p:spPr>
          <a:xfrm>
            <a:off x="1638300" y="4848225"/>
            <a:ext cx="3943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src/celltemp/engine/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3EFA1D6-38BB-4ADB-B669-9F272E188AAD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[C7–C10]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C0B94DD-6E69-4B13-AFB3-E3A947066614}"/>
              </a:ext>
            </a:extLst>
          </p:cNvPr>
          <p:cNvSpPr>
            <a:spLocks noGrp="1"/>
          </p:cNvSpPr>
          <p:nvPr/>
        </p:nvSpPr>
        <p:spPr>
          <a:xfrm>
            <a:off x="1638300" y="5181600"/>
            <a:ext cx="3943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3F515D"/>
                </a:solidFill>
                <a:latin typeface="Noto Sans JP"/>
                <a:ea typeface="Noto Sans JP"/>
                <a:cs typeface="Noto Sans JP"/>
              </a:rPr>
              <a:t>objective, trainer, forecast, monitor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ECBE226-046C-450B-852F-595D7771DC7E}"/>
              </a:ext>
            </a:extLst>
          </p:cNvPr>
          <p:cNvSpPr>
            <a:spLocks noGrp="1"/>
          </p:cNvSpPr>
          <p:nvPr/>
        </p:nvSpPr>
        <p:spPr>
          <a:xfrm>
            <a:off x="1638300" y="5429250"/>
            <a:ext cx="3943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0">
                <a:solidFill>
                  <a:srgbClr val="6F7E87"/>
                </a:solidFill>
                <a:latin typeface="Noto Sans JP"/>
                <a:ea typeface="Noto Sans JP"/>
                <a:cs typeface="Noto Sans JP"/>
              </a:rPr>
              <a:t>src/celltemp/learning/  ·  workflows/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C099C9B-ABB1-4C95-973B-548CBDE958A1}"/>
              </a:ext>
            </a:extLst>
          </p:cNvPr>
          <p:cNvSpPr>
            <a:spLocks noGrp="1"/>
          </p:cNvSpPr>
          <p:nvPr/>
        </p:nvSpPr>
        <p:spPr>
          <a:xfrm>
            <a:off x="6172200" y="1543050"/>
            <a:ext cx="5410200" cy="4514850"/>
          </a:xfrm>
          <a:prstGeom prst="roundRect">
            <a:avLst>
              <a:gd name="adj" fmla="val 2532"/>
            </a:avLst>
          </a:prstGeom>
          <a:solidFill>
            <a:srgbClr val="142735"/>
          </a:solidFill>
          <a:ln w="0">
            <a:noFill/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6EBCBBD-2EFE-483B-B2D3-06363B18206F}"/>
              </a:ext>
            </a:extLst>
          </p:cNvPr>
          <p:cNvSpPr>
            <a:spLocks noGrp="1"/>
          </p:cNvSpPr>
          <p:nvPr/>
        </p:nvSpPr>
        <p:spPr>
          <a:xfrm>
            <a:off x="6419850" y="1752600"/>
            <a:ext cx="491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Theory and methods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DAA177C-C106-4914-98C8-242F091BFDDB}"/>
              </a:ext>
            </a:extLst>
          </p:cNvPr>
          <p:cNvSpPr>
            <a:spLocks noGrp="1"/>
          </p:cNvSpPr>
          <p:nvPr/>
        </p:nvSpPr>
        <p:spPr>
          <a:xfrm>
            <a:off x="6438900" y="22098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[R2]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84A407D-9617-4BD5-80D0-C1BE85203B16}"/>
              </a:ext>
            </a:extLst>
          </p:cNvPr>
          <p:cNvSpPr>
            <a:spLocks noGrp="1"/>
          </p:cNvSpPr>
          <p:nvPr/>
        </p:nvSpPr>
        <p:spPr>
          <a:xfrm>
            <a:off x="7334250" y="22098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Huang et al.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CED766A-2675-49C7-B03D-F225E51F975A}"/>
              </a:ext>
            </a:extLst>
          </p:cNvPr>
          <p:cNvSpPr>
            <a:spLocks noGrp="1"/>
          </p:cNvSpPr>
          <p:nvPr/>
        </p:nvSpPr>
        <p:spPr>
          <a:xfrm>
            <a:off x="7334250" y="2428875"/>
            <a:ext cx="3790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HotSpot compact thermal modeling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CC08BFA-6C8C-4789-8E3B-A6D2E1473C64}"/>
              </a:ext>
            </a:extLst>
          </p:cNvPr>
          <p:cNvSpPr>
            <a:spLocks noGrp="1"/>
          </p:cNvSpPr>
          <p:nvPr/>
        </p:nvSpPr>
        <p:spPr>
          <a:xfrm>
            <a:off x="6438900" y="2705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[R3]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29EFCE1-4780-4451-BE85-E6D32AB2D98E}"/>
              </a:ext>
            </a:extLst>
          </p:cNvPr>
          <p:cNvSpPr>
            <a:spLocks noGrp="1"/>
          </p:cNvSpPr>
          <p:nvPr/>
        </p:nvSpPr>
        <p:spPr>
          <a:xfrm>
            <a:off x="7334250" y="27051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Farina &amp; Rinaldi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901FA28-2F6F-4F75-9568-A816E7A9728C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3790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Positive Linear Systems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ECBA911-2FE5-4CBC-99DE-E7269DE897AC}"/>
              </a:ext>
            </a:extLst>
          </p:cNvPr>
          <p:cNvSpPr>
            <a:spLocks noGrp="1"/>
          </p:cNvSpPr>
          <p:nvPr/>
        </p:nvSpPr>
        <p:spPr>
          <a:xfrm>
            <a:off x="6438900" y="32004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[R4]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F2BD66B-B61B-4008-820A-1E1BED846225}"/>
              </a:ext>
            </a:extLst>
          </p:cNvPr>
          <p:cNvSpPr>
            <a:spLocks noGrp="1"/>
          </p:cNvSpPr>
          <p:nvPr/>
        </p:nvSpPr>
        <p:spPr>
          <a:xfrm>
            <a:off x="7334250" y="32004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Kalman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95876E5-1E3C-46DA-90FE-3BB80A8E78E8}"/>
              </a:ext>
            </a:extLst>
          </p:cNvPr>
          <p:cNvSpPr>
            <a:spLocks noGrp="1"/>
          </p:cNvSpPr>
          <p:nvPr/>
        </p:nvSpPr>
        <p:spPr>
          <a:xfrm>
            <a:off x="7334250" y="3419475"/>
            <a:ext cx="3790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Linear filtering and prediction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1A06176-062A-405E-8805-C60217D4C4BA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[R5–R8]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884DFFD-1C1C-42D9-8594-5F1B35C326F5}"/>
              </a:ext>
            </a:extLst>
          </p:cNvPr>
          <p:cNvSpPr>
            <a:spLocks noGrp="1"/>
          </p:cNvSpPr>
          <p:nvPr/>
        </p:nvSpPr>
        <p:spPr>
          <a:xfrm>
            <a:off x="7334250" y="36957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Van Loan, Higham, Dahlquist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8212681-02B9-43EB-B227-2A3CCEA81E79}"/>
              </a:ext>
            </a:extLst>
          </p:cNvPr>
          <p:cNvSpPr>
            <a:spLocks noGrp="1"/>
          </p:cNvSpPr>
          <p:nvPr/>
        </p:nvSpPr>
        <p:spPr>
          <a:xfrm>
            <a:off x="7334250" y="3914775"/>
            <a:ext cx="3790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Matrix exponential and A-stability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C518B96-AE1A-4D6F-9E19-46C0B0ED99C3}"/>
              </a:ext>
            </a:extLst>
          </p:cNvPr>
          <p:cNvSpPr>
            <a:spLocks noGrp="1"/>
          </p:cNvSpPr>
          <p:nvPr/>
        </p:nvSpPr>
        <p:spPr>
          <a:xfrm>
            <a:off x="6438900" y="41910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[R9]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08CBC3C-32C8-4571-A906-32363236137F}"/>
              </a:ext>
            </a:extLst>
          </p:cNvPr>
          <p:cNvSpPr>
            <a:spLocks noGrp="1"/>
          </p:cNvSpPr>
          <p:nvPr/>
        </p:nvSpPr>
        <p:spPr>
          <a:xfrm>
            <a:off x="7334250" y="41910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Huber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96862C2-3CC0-4540-9F1E-B5D37BB87B16}"/>
              </a:ext>
            </a:extLst>
          </p:cNvPr>
          <p:cNvSpPr>
            <a:spLocks noGrp="1"/>
          </p:cNvSpPr>
          <p:nvPr/>
        </p:nvSpPr>
        <p:spPr>
          <a:xfrm>
            <a:off x="7334250" y="4410075"/>
            <a:ext cx="3790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Robust estimation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C0D226A-3808-4855-B6E5-4AC64E16E0BE}"/>
              </a:ext>
            </a:extLst>
          </p:cNvPr>
          <p:cNvSpPr>
            <a:spLocks noGrp="1"/>
          </p:cNvSpPr>
          <p:nvPr/>
        </p:nvSpPr>
        <p:spPr>
          <a:xfrm>
            <a:off x="6438900" y="46863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[R10–R13]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4E307B7-F1B0-407D-83FB-250505342DD8}"/>
              </a:ext>
            </a:extLst>
          </p:cNvPr>
          <p:cNvSpPr>
            <a:spLocks noGrp="1"/>
          </p:cNvSpPr>
          <p:nvPr/>
        </p:nvSpPr>
        <p:spPr>
          <a:xfrm>
            <a:off x="7334250" y="46863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Kingma &amp; Ba, PyTorch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B4397FA-D252-48D7-BE5F-426F4D8498E4}"/>
              </a:ext>
            </a:extLst>
          </p:cNvPr>
          <p:cNvSpPr>
            <a:spLocks noGrp="1"/>
          </p:cNvSpPr>
          <p:nvPr/>
        </p:nvSpPr>
        <p:spPr>
          <a:xfrm>
            <a:off x="7334250" y="4905375"/>
            <a:ext cx="3790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Adam, autograd, matrix exponential, Huber loss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FD8A3409-C70C-4AD6-94AD-AF863A7BFDDB}"/>
              </a:ext>
            </a:extLst>
          </p:cNvPr>
          <p:cNvSpPr>
            <a:spLocks noGrp="1"/>
          </p:cNvSpPr>
          <p:nvPr/>
        </p:nvSpPr>
        <p:spPr>
          <a:xfrm>
            <a:off x="6438900" y="51816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4F9D9B"/>
                </a:solidFill>
                <a:latin typeface="Noto Sans JP"/>
                <a:ea typeface="Noto Sans JP"/>
                <a:cs typeface="Noto Sans JP"/>
              </a:rPr>
              <a:t>[R16–R18]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FB9F2AA-6FB0-41BC-A273-B13FCEFE8BC3}"/>
              </a:ext>
            </a:extLst>
          </p:cNvPr>
          <p:cNvSpPr>
            <a:spLocks noGrp="1"/>
          </p:cNvSpPr>
          <p:nvPr/>
        </p:nvSpPr>
        <p:spPr>
          <a:xfrm>
            <a:off x="7334250" y="51816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COMSOL documentation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210D2A5-4137-4E44-904C-54A681CC2BFB}"/>
              </a:ext>
            </a:extLst>
          </p:cNvPr>
          <p:cNvSpPr>
            <a:spLocks noGrp="1"/>
          </p:cNvSpPr>
          <p:nvPr/>
        </p:nvSpPr>
        <p:spPr>
          <a:xfrm>
            <a:off x="7334250" y="5400675"/>
            <a:ext cx="3790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C9D8DE"/>
                </a:solidFill>
                <a:latin typeface="Noto Sans JP"/>
                <a:ea typeface="Noto Sans JP"/>
                <a:cs typeface="Noto Sans JP"/>
              </a:rPr>
              <a:t>Chip cooling and nonisothermal flow</a:t>
            </a:r>
          </a:p>
        </p:txBody>
      </p:sp>
    </p:spTree>
    <p:extLst>
      <p:ext uri="{BB962C8B-B14F-4D97-AF65-F5344CB8AC3E}">
        <p14:creationId xmlns:p14="http://schemas.microsoft.com/office/powerpoint/2010/main" val="707005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Thermal Cell Technical">
      <a:dk1>
        <a:srgbClr val="000000"/>
      </a:dk1>
      <a:lt1>
        <a:srgbClr val="FFFFFF"/>
      </a:lt1>
      <a:dk2>
        <a:srgbClr val="142735"/>
      </a:dk2>
      <a:lt2>
        <a:srgbClr val="D5DEE3"/>
      </a:lt2>
      <a:accent1>
        <a:srgbClr val="285E8E"/>
      </a:accent1>
      <a:accent2>
        <a:srgbClr val="4F9D9B"/>
      </a:accent2>
      <a:accent3>
        <a:srgbClr val="D6A84B"/>
      </a:accent3>
      <a:accent4>
        <a:srgbClr val="D97963"/>
      </a:accent4>
      <a:accent5>
        <a:srgbClr val="4C8A6E"/>
      </a:accent5>
      <a:accent6>
        <a:srgbClr val="7E6BA8"/>
      </a:accent6>
      <a:hlink>
        <a:srgbClr val="285E8E"/>
      </a:hlink>
      <a:folHlink>
        <a:srgbClr val="7E6B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ermal Cell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Thermal Cell Technical">
      <a:dk1>
        <a:srgbClr val="000000"/>
      </a:dk1>
      <a:lt1>
        <a:srgbClr val="FFFFFF"/>
      </a:lt1>
      <a:dk2>
        <a:srgbClr val="142735"/>
      </a:dk2>
      <a:lt2>
        <a:srgbClr val="D5DEE3"/>
      </a:lt2>
      <a:accent1>
        <a:srgbClr val="285E8E"/>
      </a:accent1>
      <a:accent2>
        <a:srgbClr val="4F9D9B"/>
      </a:accent2>
      <a:accent3>
        <a:srgbClr val="D6A84B"/>
      </a:accent3>
      <a:accent4>
        <a:srgbClr val="D97963"/>
      </a:accent4>
      <a:accent5>
        <a:srgbClr val="4C8A6E"/>
      </a:accent5>
      <a:accent6>
        <a:srgbClr val="7E6BA8"/>
      </a:accent6>
      <a:hlink>
        <a:srgbClr val="285E8E"/>
      </a:hlink>
      <a:folHlink>
        <a:srgbClr val="7E6B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ermal Cell Technic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Microsoft Office PowerPoint</Application>
  <DocSecurity>0</DocSecurity>
  <PresentationFormat>ワイド画面</PresentationFormat>
  <Paragraphs>395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Noto Sans JP</vt:lpstr>
      <vt:lpstr>Yu Gothic</vt:lpstr>
      <vt:lpstr>Calibri</vt:lpstr>
      <vt:lpstr>Cambria Math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大希 川人</cp:lastModifiedBy>
  <cp:revision>1</cp:revision>
  <dcterms:created xsi:type="dcterms:W3CDTF">2026-09-16T14:00:54Z</dcterms:created>
  <dcterms:modified xsi:type="dcterms:W3CDTF">2026-09-27T23:56:11Z</dcterms:modified>
</cp:coreProperties>
</file>