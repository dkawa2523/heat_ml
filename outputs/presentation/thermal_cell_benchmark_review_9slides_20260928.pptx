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8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ja-JP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mean RMSE</c:v>
          </c:tx>
          <c:spPr>
            <a:solidFill>
              <a:srgbClr val="00A5D8"/>
            </a:solidFill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5C6-478E-A80B-66AD045CA98D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E5C6-478E-A80B-66AD045CA98D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E5C6-478E-A80B-66AD045CA98D}"/>
              </c:ext>
            </c:extLst>
          </c:dPt>
          <c:dPt>
            <c:idx val="3"/>
            <c:invertIfNegative val="0"/>
            <c:bubble3D val="0"/>
            <c:spPr>
              <a:solidFill>
                <a:srgbClr val="7B2DAF"/>
              </a:solidFill>
            </c:spPr>
            <c:extLst>
              <c:ext xmlns:c16="http://schemas.microsoft.com/office/drawing/2014/chart" uri="{C3380CC4-5D6E-409C-BE32-E72D297353CC}">
                <c16:uniqueId val="{00000007-E5C6-478E-A80B-66AD045CA98D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E5C6-478E-A80B-66AD045CA98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788" b="1">
                    <a:solidFill>
                      <a:srgbClr val="555555"/>
                    </a:solidFill>
                    <a:latin typeface="Yu Gothic"/>
                    <a:ea typeface="Yu Gothic"/>
                    <a:cs typeface="Yu Gothic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interpolation
n=2</c:v>
              </c:pt>
              <c:pt idx="1">
                <c:v>extrapolation
n=2</c:v>
              </c:pt>
              <c:pt idx="2">
                <c:v>dynamics
n=3</c:v>
              </c:pt>
              <c:pt idx="3">
                <c:v>initialization
n=3</c:v>
              </c:pt>
              <c:pt idx="4">
                <c:v>sampling
n=1</c:v>
              </c:pt>
            </c:strLit>
          </c:cat>
          <c:val>
            <c:numLit>
              <c:formatCode>0.000</c:formatCode>
              <c:ptCount val="5"/>
              <c:pt idx="0">
                <c:v>2.1449288887062573E-2</c:v>
              </c:pt>
              <c:pt idx="1">
                <c:v>1.6240458498950963E-2</c:v>
              </c:pt>
              <c:pt idx="2">
                <c:v>3.1637711283009677E-2</c:v>
              </c:pt>
              <c:pt idx="3">
                <c:v>0.4505382897125047</c:v>
              </c:pt>
              <c:pt idx="4">
                <c:v>5.0123263802575826E-2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A-E5C6-478E-A80B-66AD045CA9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FEFEF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>
                    <a:latin typeface="Yu Gothic"/>
                    <a:ea typeface="Yu Gothic"/>
                    <a:cs typeface="Yu Gothic"/>
                  </a:rPr>
                  <a:t>RMSE [K]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3D3D3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endParaRPr lang="ja-JP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0.000" sourceLinked="1"/>
        <c:majorTickMark val="none"/>
        <c:minorTickMark val="none"/>
        <c:tickLblPos val="nextTo"/>
        <c:spPr>
          <a:ln w="9525">
            <a:solidFill>
              <a:srgbClr val="D3D3D3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endParaRPr lang="ja-JP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  <a:prstDash val="solid"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ja-JP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RMSE</c:v>
          </c:tx>
          <c:spPr>
            <a:solidFill>
              <a:srgbClr val="00A5D8"/>
            </a:solidFill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59A-4F81-A82F-8CF363905414}"/>
              </c:ext>
            </c:extLst>
          </c:dPt>
          <c:dPt>
            <c:idx val="1"/>
            <c:invertIfNegative val="0"/>
            <c:bubble3D val="0"/>
            <c:spPr>
              <a:solidFill>
                <a:srgbClr val="D3D3D3"/>
              </a:solidFill>
            </c:spPr>
            <c:extLst>
              <c:ext xmlns:c16="http://schemas.microsoft.com/office/drawing/2014/chart" uri="{C3380CC4-5D6E-409C-BE32-E72D297353CC}">
                <c16:uniqueId val="{00000003-059A-4F81-A82F-8CF363905414}"/>
              </c:ext>
            </c:extLst>
          </c:dPt>
          <c:dPt>
            <c:idx val="2"/>
            <c:invertIfNegative val="0"/>
            <c:bubble3D val="0"/>
            <c:spPr>
              <a:solidFill>
                <a:srgbClr val="C4493D"/>
              </a:solidFill>
            </c:spPr>
            <c:extLst>
              <c:ext xmlns:c16="http://schemas.microsoft.com/office/drawing/2014/chart" uri="{C3380CC4-5D6E-409C-BE32-E72D297353CC}">
                <c16:uniqueId val="{00000005-059A-4F81-A82F-8CF36390541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788" b="1">
                    <a:solidFill>
                      <a:srgbClr val="555555"/>
                    </a:solidFill>
                    <a:latin typeface="Yu Gothic"/>
                    <a:ea typeface="Yu Gothic"/>
                    <a:cs typeface="Yu Gothic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core mean
11 cases</c:v>
              </c:pt>
              <c:pt idx="1">
                <c:v>engineering
prior</c:v>
              </c:pt>
              <c:pt idx="2">
                <c:v>F11 model gap
negative control</c:v>
              </c:pt>
            </c:strLit>
          </c:cat>
          <c:val>
            <c:numLit>
              <c:formatCode>0.000</c:formatCode>
              <c:ptCount val="3"/>
              <c:pt idx="0">
                <c:v>0.14291188739999999</c:v>
              </c:pt>
              <c:pt idx="1">
                <c:v>7.1850140685000001</c:v>
              </c:pt>
              <c:pt idx="2">
                <c:v>9.8234057479000008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6-059A-4F81-A82F-8CF36390541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3D3D3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endParaRPr lang="ja-JP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1"/>
          <c:min val="0"/>
        </c:scaling>
        <c:delete val="0"/>
        <c:axPos val="l"/>
        <c:majorGridlines>
          <c:spPr>
            <a:ln w="9525">
              <a:solidFill>
                <a:srgbClr val="EFEFEF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>
                    <a:latin typeface="Yu Gothic"/>
                    <a:ea typeface="Yu Gothic"/>
                    <a:cs typeface="Yu Gothic"/>
                  </a:rPr>
                  <a:t>RMSE [K]</a:t>
                </a:r>
              </a:p>
            </c:rich>
          </c:tx>
          <c:overlay val="0"/>
        </c:title>
        <c:numFmt formatCode="0.000" sourceLinked="1"/>
        <c:majorTickMark val="none"/>
        <c:minorTickMark val="none"/>
        <c:tickLblPos val="nextTo"/>
        <c:spPr>
          <a:ln w="9525">
            <a:solidFill>
              <a:srgbClr val="D3D3D3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endParaRPr lang="ja-JP"/>
          </a:p>
        </c:txPr>
        <c:crossAx val="48650112"/>
        <c:crosses val="autoZero"/>
        <c:crossBetween val="between"/>
        <c:majorUnit val="2"/>
      </c:valAx>
      <c:spPr>
        <a:solidFill>
          <a:srgbClr val="FFFFFF"/>
        </a:solidFill>
        <a:ln w="0">
          <a:noFill/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  <a:prstDash val="solid"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ja-JP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F09  t=0 sparse initialization</c:v>
          </c:tx>
          <c:spPr>
            <a:ln w="28575">
              <a:solidFill>
                <a:srgbClr val="7B2DAF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3"/>
              <c:pt idx="0">
                <c:v>20</c:v>
              </c:pt>
              <c:pt idx="1">
                <c:v>25</c:v>
              </c:pt>
              <c:pt idx="2">
                <c:v>30</c:v>
              </c:pt>
              <c:pt idx="3">
                <c:v>35</c:v>
              </c:pt>
              <c:pt idx="4">
                <c:v>40</c:v>
              </c:pt>
              <c:pt idx="5">
                <c:v>45</c:v>
              </c:pt>
              <c:pt idx="6">
                <c:v>50</c:v>
              </c:pt>
              <c:pt idx="7">
                <c:v>55</c:v>
              </c:pt>
              <c:pt idx="8">
                <c:v>60</c:v>
              </c:pt>
              <c:pt idx="9">
                <c:v>65</c:v>
              </c:pt>
              <c:pt idx="10">
                <c:v>70</c:v>
              </c:pt>
              <c:pt idx="11">
                <c:v>75</c:v>
              </c:pt>
              <c:pt idx="12">
                <c:v>80</c:v>
              </c:pt>
              <c:pt idx="13">
                <c:v>85</c:v>
              </c:pt>
              <c:pt idx="14">
                <c:v>90</c:v>
              </c:pt>
              <c:pt idx="15">
                <c:v>95</c:v>
              </c:pt>
              <c:pt idx="16">
                <c:v>100</c:v>
              </c:pt>
              <c:pt idx="17">
                <c:v>105</c:v>
              </c:pt>
              <c:pt idx="18">
                <c:v>110</c:v>
              </c:pt>
              <c:pt idx="19">
                <c:v>115</c:v>
              </c:pt>
              <c:pt idx="20">
                <c:v>120</c:v>
              </c:pt>
              <c:pt idx="21">
                <c:v>125</c:v>
              </c:pt>
              <c:pt idx="22">
                <c:v>130</c:v>
              </c:pt>
              <c:pt idx="23">
                <c:v>135</c:v>
              </c:pt>
              <c:pt idx="24">
                <c:v>140</c:v>
              </c:pt>
              <c:pt idx="25">
                <c:v>145</c:v>
              </c:pt>
              <c:pt idx="26">
                <c:v>150</c:v>
              </c:pt>
              <c:pt idx="27">
                <c:v>155</c:v>
              </c:pt>
              <c:pt idx="28">
                <c:v>160</c:v>
              </c:pt>
              <c:pt idx="29">
                <c:v>165</c:v>
              </c:pt>
              <c:pt idx="30">
                <c:v>170</c:v>
              </c:pt>
              <c:pt idx="31">
                <c:v>175</c:v>
              </c:pt>
              <c:pt idx="32">
                <c:v>180</c:v>
              </c:pt>
            </c:numLit>
          </c:cat>
          <c:val>
            <c:numLit>
              <c:formatCode>0.0</c:formatCode>
              <c:ptCount val="33"/>
              <c:pt idx="0">
                <c:v>1.5937486305157733</c:v>
              </c:pt>
              <c:pt idx="1">
                <c:v>1.1370046818339798</c:v>
              </c:pt>
              <c:pt idx="2">
                <c:v>0.82205535990427125</c:v>
              </c:pt>
              <c:pt idx="3">
                <c:v>0.60827950822441212</c:v>
              </c:pt>
              <c:pt idx="4">
                <c:v>0.46591905386124838</c:v>
              </c:pt>
              <c:pt idx="5">
                <c:v>0.37289039595107754</c:v>
              </c:pt>
              <c:pt idx="6">
                <c:v>0.31254888703229156</c:v>
              </c:pt>
              <c:pt idx="7">
                <c:v>0.272680443944113</c:v>
              </c:pt>
              <c:pt idx="8">
                <c:v>0.25769422300093042</c:v>
              </c:pt>
              <c:pt idx="9">
                <c:v>0.23888946385740598</c:v>
              </c:pt>
              <c:pt idx="10">
                <c:v>0.2216285925554087</c:v>
              </c:pt>
              <c:pt idx="11">
                <c:v>0.20623483392957434</c:v>
              </c:pt>
              <c:pt idx="12">
                <c:v>0.19240536471354305</c:v>
              </c:pt>
              <c:pt idx="13">
                <c:v>0.17984255543410216</c:v>
              </c:pt>
              <c:pt idx="14">
                <c:v>0.16830662700151278</c:v>
              </c:pt>
              <c:pt idx="15">
                <c:v>0.1391744164205779</c:v>
              </c:pt>
              <c:pt idx="16">
                <c:v>0.12944875255073807</c:v>
              </c:pt>
              <c:pt idx="17">
                <c:v>0.12120192655124722</c:v>
              </c:pt>
              <c:pt idx="18">
                <c:v>0.11295938855833193</c:v>
              </c:pt>
              <c:pt idx="19">
                <c:v>0.10499485463692369</c:v>
              </c:pt>
              <c:pt idx="20">
                <c:v>9.7512804475000339E-2</c:v>
              </c:pt>
              <c:pt idx="21">
                <c:v>9.0590497071441595E-2</c:v>
              </c:pt>
              <c:pt idx="22">
                <c:v>8.4233845776113911E-2</c:v>
              </c:pt>
              <c:pt idx="23">
                <c:v>7.8419049831045223E-2</c:v>
              </c:pt>
              <c:pt idx="24">
                <c:v>0.10453174547219164</c:v>
              </c:pt>
              <c:pt idx="25">
                <c:v>0.10526591041116259</c:v>
              </c:pt>
              <c:pt idx="26">
                <c:v>0.10137787428457434</c:v>
              </c:pt>
              <c:pt idx="27">
                <c:v>9.5108196250832264E-2</c:v>
              </c:pt>
              <c:pt idx="28">
                <c:v>8.8537131552016257E-2</c:v>
              </c:pt>
              <c:pt idx="29">
                <c:v>8.26012458216413E-2</c:v>
              </c:pt>
              <c:pt idx="30">
                <c:v>7.7453951166135737E-2</c:v>
              </c:pt>
              <c:pt idx="31">
                <c:v>7.296622851762799E-2</c:v>
              </c:pt>
              <c:pt idx="32">
                <c:v>6.8970542359361245E-2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3452-4678-8462-DACB2C1EEBBE}"/>
            </c:ext>
          </c:extLst>
        </c:ser>
        <c:ser>
          <c:idx val="1"/>
          <c:order val="1"/>
          <c:tx>
            <c:v>F12  20 s causal history</c:v>
          </c:tx>
          <c:spPr>
            <a:ln w="28575">
              <a:solidFill>
                <a:srgbClr val="76BE18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3"/>
              <c:pt idx="0">
                <c:v>20</c:v>
              </c:pt>
              <c:pt idx="1">
                <c:v>25</c:v>
              </c:pt>
              <c:pt idx="2">
                <c:v>30</c:v>
              </c:pt>
              <c:pt idx="3">
                <c:v>35</c:v>
              </c:pt>
              <c:pt idx="4">
                <c:v>40</c:v>
              </c:pt>
              <c:pt idx="5">
                <c:v>45</c:v>
              </c:pt>
              <c:pt idx="6">
                <c:v>50</c:v>
              </c:pt>
              <c:pt idx="7">
                <c:v>55</c:v>
              </c:pt>
              <c:pt idx="8">
                <c:v>60</c:v>
              </c:pt>
              <c:pt idx="9">
                <c:v>65</c:v>
              </c:pt>
              <c:pt idx="10">
                <c:v>70</c:v>
              </c:pt>
              <c:pt idx="11">
                <c:v>75</c:v>
              </c:pt>
              <c:pt idx="12">
                <c:v>80</c:v>
              </c:pt>
              <c:pt idx="13">
                <c:v>85</c:v>
              </c:pt>
              <c:pt idx="14">
                <c:v>90</c:v>
              </c:pt>
              <c:pt idx="15">
                <c:v>95</c:v>
              </c:pt>
              <c:pt idx="16">
                <c:v>100</c:v>
              </c:pt>
              <c:pt idx="17">
                <c:v>105</c:v>
              </c:pt>
              <c:pt idx="18">
                <c:v>110</c:v>
              </c:pt>
              <c:pt idx="19">
                <c:v>115</c:v>
              </c:pt>
              <c:pt idx="20">
                <c:v>120</c:v>
              </c:pt>
              <c:pt idx="21">
                <c:v>125</c:v>
              </c:pt>
              <c:pt idx="22">
                <c:v>130</c:v>
              </c:pt>
              <c:pt idx="23">
                <c:v>135</c:v>
              </c:pt>
              <c:pt idx="24">
                <c:v>140</c:v>
              </c:pt>
              <c:pt idx="25">
                <c:v>145</c:v>
              </c:pt>
              <c:pt idx="26">
                <c:v>150</c:v>
              </c:pt>
              <c:pt idx="27">
                <c:v>155</c:v>
              </c:pt>
              <c:pt idx="28">
                <c:v>160</c:v>
              </c:pt>
              <c:pt idx="29">
                <c:v>165</c:v>
              </c:pt>
              <c:pt idx="30">
                <c:v>170</c:v>
              </c:pt>
              <c:pt idx="31">
                <c:v>175</c:v>
              </c:pt>
              <c:pt idx="32">
                <c:v>180</c:v>
              </c:pt>
            </c:numLit>
          </c:cat>
          <c:val>
            <c:numLit>
              <c:formatCode>0.0</c:formatCode>
              <c:ptCount val="33"/>
              <c:pt idx="0">
                <c:v>7.6629138298386246E-2</c:v>
              </c:pt>
              <c:pt idx="1">
                <c:v>6.337377801555602E-2</c:v>
              </c:pt>
              <c:pt idx="2">
                <c:v>6.4226442562384828E-2</c:v>
              </c:pt>
              <c:pt idx="3">
                <c:v>6.379863516409702E-2</c:v>
              </c:pt>
              <c:pt idx="4">
                <c:v>6.0306869978768302E-2</c:v>
              </c:pt>
              <c:pt idx="5">
                <c:v>5.5040370370306166E-2</c:v>
              </c:pt>
              <c:pt idx="6">
                <c:v>4.9248832108285762E-2</c:v>
              </c:pt>
              <c:pt idx="7">
                <c:v>4.3716951885515026E-2</c:v>
              </c:pt>
              <c:pt idx="8">
                <c:v>2.7785503818636165E-2</c:v>
              </c:pt>
              <c:pt idx="9">
                <c:v>2.2862476075125086E-2</c:v>
              </c:pt>
              <c:pt idx="10">
                <c:v>2.1070567281924985E-2</c:v>
              </c:pt>
              <c:pt idx="11">
                <c:v>1.9280261325351943E-2</c:v>
              </c:pt>
              <c:pt idx="12">
                <c:v>1.742992992775572E-2</c:v>
              </c:pt>
              <c:pt idx="13">
                <c:v>1.5691788044851676E-2</c:v>
              </c:pt>
              <c:pt idx="14">
                <c:v>1.4117985749166185E-2</c:v>
              </c:pt>
              <c:pt idx="15">
                <c:v>2.9458605078144968E-2</c:v>
              </c:pt>
              <c:pt idx="16">
                <c:v>3.1730490543077396E-2</c:v>
              </c:pt>
              <c:pt idx="17">
                <c:v>3.1100764452797552E-2</c:v>
              </c:pt>
              <c:pt idx="18">
                <c:v>2.8564960130963893E-2</c:v>
              </c:pt>
              <c:pt idx="19">
                <c:v>2.5624082953941842E-2</c:v>
              </c:pt>
              <c:pt idx="20">
                <c:v>2.3028869722969626E-2</c:v>
              </c:pt>
              <c:pt idx="21">
                <c:v>2.0959168871581772E-2</c:v>
              </c:pt>
              <c:pt idx="22">
                <c:v>1.9344149627342426E-2</c:v>
              </c:pt>
              <c:pt idx="23">
                <c:v>1.805171820805412E-2</c:v>
              </c:pt>
              <c:pt idx="24">
                <c:v>2.6005090424714487E-2</c:v>
              </c:pt>
              <c:pt idx="25">
                <c:v>4.5015120663958796E-2</c:v>
              </c:pt>
              <c:pt idx="26">
                <c:v>4.8619667324280552E-2</c:v>
              </c:pt>
              <c:pt idx="27">
                <c:v>4.4946192166563204E-2</c:v>
              </c:pt>
              <c:pt idx="28">
                <c:v>3.918646039972732E-2</c:v>
              </c:pt>
              <c:pt idx="29">
                <c:v>3.3656110796300882E-2</c:v>
              </c:pt>
              <c:pt idx="30">
                <c:v>2.9123809955426943E-2</c:v>
              </c:pt>
              <c:pt idx="31">
                <c:v>2.5675213799824011E-2</c:v>
              </c:pt>
              <c:pt idx="32">
                <c:v>2.315079649516456E-2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1-3452-4678-8462-DACB2C1EEB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latin typeface="Yu Gothic"/>
                    <a:ea typeface="Yu Gothic"/>
                    <a:cs typeface="Yu Gothic"/>
                  </a:rPr>
                  <a:t>time [s]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3D3D3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endParaRPr lang="ja-JP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.8"/>
          <c:min val="0"/>
        </c:scaling>
        <c:delete val="0"/>
        <c:axPos val="l"/>
        <c:majorGridlines>
          <c:spPr>
            <a:ln w="9525">
              <a:solidFill>
                <a:srgbClr val="EFEFEF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>
                    <a:latin typeface="Yu Gothic"/>
                    <a:ea typeface="Yu Gothic"/>
                    <a:cs typeface="Yu Gothic"/>
                  </a:rPr>
                  <a:t>instantaneous RMSE [K]</a:t>
                </a:r>
              </a:p>
            </c:rich>
          </c:tx>
          <c:overlay val="0"/>
        </c:title>
        <c:numFmt formatCode="0.0" sourceLinked="1"/>
        <c:majorTickMark val="none"/>
        <c:minorTickMark val="none"/>
        <c:tickLblPos val="nextTo"/>
        <c:spPr>
          <a:ln w="9525">
            <a:solidFill>
              <a:srgbClr val="D3D3D3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endParaRPr lang="ja-JP"/>
          </a:p>
        </c:txPr>
        <c:crossAx val="48650112"/>
        <c:crosses val="autoZero"/>
        <c:crossBetween val="between"/>
        <c:majorUnit val="0.3"/>
      </c:valAx>
      <c:spPr>
        <a:solidFill>
          <a:srgbClr val="FFFFFF"/>
        </a:solidFill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555555"/>
              </a:solidFill>
              <a:latin typeface="Yu Gothic"/>
              <a:ea typeface="Yu Gothic"/>
              <a:cs typeface="Yu Gothic"/>
            </a:defRPr>
          </a:pPr>
          <a:endParaRPr lang="ja-JP"/>
        </a:p>
      </c:txPr>
    </c:legend>
    <c:plotVisOnly val="1"/>
    <c:dispBlanksAs val="zero"/>
    <c:showDLblsOverMax val="1"/>
  </c:chart>
  <c:spPr>
    <a:solidFill>
      <a:srgbClr val="FFFFFF"/>
    </a:solidFill>
    <a:ln w="0">
      <a:noFill/>
      <a:prstDash val="solid"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ja-JP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truth bias</c:v>
          </c:tx>
          <c:spPr>
            <a:ln w="28575">
              <a:solidFill>
                <a:srgbClr val="161616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1"/>
              <c:pt idx="0">
                <c:v>0</c:v>
              </c:pt>
              <c:pt idx="1">
                <c:v>20</c:v>
              </c:pt>
              <c:pt idx="2">
                <c:v>40</c:v>
              </c:pt>
              <c:pt idx="3">
                <c:v>60</c:v>
              </c:pt>
              <c:pt idx="4">
                <c:v>80</c:v>
              </c:pt>
              <c:pt idx="5">
                <c:v>100</c:v>
              </c:pt>
              <c:pt idx="6">
                <c:v>120</c:v>
              </c:pt>
              <c:pt idx="7">
                <c:v>140</c:v>
              </c:pt>
              <c:pt idx="8">
                <c:v>160</c:v>
              </c:pt>
              <c:pt idx="9">
                <c:v>180</c:v>
              </c:pt>
              <c:pt idx="10">
                <c:v>200</c:v>
              </c:pt>
              <c:pt idx="11">
                <c:v>220</c:v>
              </c:pt>
              <c:pt idx="12">
                <c:v>240</c:v>
              </c:pt>
              <c:pt idx="13">
                <c:v>260</c:v>
              </c:pt>
              <c:pt idx="14">
                <c:v>280</c:v>
              </c:pt>
              <c:pt idx="15">
                <c:v>300</c:v>
              </c:pt>
              <c:pt idx="16">
                <c:v>320</c:v>
              </c:pt>
              <c:pt idx="17">
                <c:v>340</c:v>
              </c:pt>
              <c:pt idx="18">
                <c:v>360</c:v>
              </c:pt>
              <c:pt idx="19">
                <c:v>380</c:v>
              </c:pt>
              <c:pt idx="20">
                <c:v>400</c:v>
              </c:pt>
              <c:pt idx="21">
                <c:v>420</c:v>
              </c:pt>
              <c:pt idx="22">
                <c:v>440</c:v>
              </c:pt>
              <c:pt idx="23">
                <c:v>460</c:v>
              </c:pt>
              <c:pt idx="24">
                <c:v>480</c:v>
              </c:pt>
              <c:pt idx="25">
                <c:v>500</c:v>
              </c:pt>
              <c:pt idx="26">
                <c:v>520</c:v>
              </c:pt>
              <c:pt idx="27">
                <c:v>540</c:v>
              </c:pt>
              <c:pt idx="28">
                <c:v>560</c:v>
              </c:pt>
              <c:pt idx="29">
                <c:v>580</c:v>
              </c:pt>
              <c:pt idx="30">
                <c:v>600</c:v>
              </c:pt>
            </c:numLit>
          </c:cat>
          <c:val>
            <c:numLit>
              <c:formatCode>0.0</c:formatCode>
              <c:ptCount val="31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  <c:pt idx="14">
                <c:v>0</c:v>
              </c:pt>
              <c:pt idx="15">
                <c:v>3</c:v>
              </c:pt>
              <c:pt idx="16">
                <c:v>3</c:v>
              </c:pt>
              <c:pt idx="17">
                <c:v>3</c:v>
              </c:pt>
              <c:pt idx="18">
                <c:v>3</c:v>
              </c:pt>
              <c:pt idx="19">
                <c:v>3</c:v>
              </c:pt>
              <c:pt idx="20">
                <c:v>3</c:v>
              </c:pt>
              <c:pt idx="21">
                <c:v>3</c:v>
              </c:pt>
              <c:pt idx="22">
                <c:v>3</c:v>
              </c:pt>
              <c:pt idx="23">
                <c:v>3</c:v>
              </c:pt>
              <c:pt idx="24">
                <c:v>3</c:v>
              </c:pt>
              <c:pt idx="25">
                <c:v>3</c:v>
              </c:pt>
              <c:pt idx="26">
                <c:v>3</c:v>
              </c:pt>
              <c:pt idx="27">
                <c:v>3</c:v>
              </c:pt>
              <c:pt idx="28">
                <c:v>3</c:v>
              </c:pt>
              <c:pt idx="29">
                <c:v>3</c:v>
              </c:pt>
              <c:pt idx="30">
                <c:v>3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27E9-48A4-B211-F0E07487BD87}"/>
            </c:ext>
          </c:extLst>
        </c:ser>
        <c:ser>
          <c:idx val="1"/>
          <c:order val="1"/>
          <c:tx>
            <c:v>estimated bias</c:v>
          </c:tx>
          <c:spPr>
            <a:ln w="28575">
              <a:solidFill>
                <a:srgbClr val="7B2DAF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1"/>
              <c:pt idx="0">
                <c:v>0</c:v>
              </c:pt>
              <c:pt idx="1">
                <c:v>20</c:v>
              </c:pt>
              <c:pt idx="2">
                <c:v>40</c:v>
              </c:pt>
              <c:pt idx="3">
                <c:v>60</c:v>
              </c:pt>
              <c:pt idx="4">
                <c:v>80</c:v>
              </c:pt>
              <c:pt idx="5">
                <c:v>100</c:v>
              </c:pt>
              <c:pt idx="6">
                <c:v>120</c:v>
              </c:pt>
              <c:pt idx="7">
                <c:v>140</c:v>
              </c:pt>
              <c:pt idx="8">
                <c:v>160</c:v>
              </c:pt>
              <c:pt idx="9">
                <c:v>180</c:v>
              </c:pt>
              <c:pt idx="10">
                <c:v>200</c:v>
              </c:pt>
              <c:pt idx="11">
                <c:v>220</c:v>
              </c:pt>
              <c:pt idx="12">
                <c:v>240</c:v>
              </c:pt>
              <c:pt idx="13">
                <c:v>260</c:v>
              </c:pt>
              <c:pt idx="14">
                <c:v>280</c:v>
              </c:pt>
              <c:pt idx="15">
                <c:v>300</c:v>
              </c:pt>
              <c:pt idx="16">
                <c:v>320</c:v>
              </c:pt>
              <c:pt idx="17">
                <c:v>340</c:v>
              </c:pt>
              <c:pt idx="18">
                <c:v>360</c:v>
              </c:pt>
              <c:pt idx="19">
                <c:v>380</c:v>
              </c:pt>
              <c:pt idx="20">
                <c:v>400</c:v>
              </c:pt>
              <c:pt idx="21">
                <c:v>420</c:v>
              </c:pt>
              <c:pt idx="22">
                <c:v>440</c:v>
              </c:pt>
              <c:pt idx="23">
                <c:v>460</c:v>
              </c:pt>
              <c:pt idx="24">
                <c:v>480</c:v>
              </c:pt>
              <c:pt idx="25">
                <c:v>500</c:v>
              </c:pt>
              <c:pt idx="26">
                <c:v>520</c:v>
              </c:pt>
              <c:pt idx="27">
                <c:v>540</c:v>
              </c:pt>
              <c:pt idx="28">
                <c:v>560</c:v>
              </c:pt>
              <c:pt idx="29">
                <c:v>580</c:v>
              </c:pt>
              <c:pt idx="30">
                <c:v>600</c:v>
              </c:pt>
            </c:numLit>
          </c:cat>
          <c:val>
            <c:numLit>
              <c:formatCode>0.0</c:formatCode>
              <c:ptCount val="31"/>
              <c:pt idx="0">
                <c:v>3.6483158777367106E-10</c:v>
              </c:pt>
              <c:pt idx="1">
                <c:v>-3.5995325262426145E-2</c:v>
              </c:pt>
              <c:pt idx="2">
                <c:v>-4.1134557032185756E-2</c:v>
              </c:pt>
              <c:pt idx="3">
                <c:v>-1.6305761748382514E-2</c:v>
              </c:pt>
              <c:pt idx="4">
                <c:v>-3.0393401485985145E-2</c:v>
              </c:pt>
              <c:pt idx="5">
                <c:v>-1.4587392803566652E-2</c:v>
              </c:pt>
              <c:pt idx="6">
                <c:v>-2.0111781893785333E-2</c:v>
              </c:pt>
              <c:pt idx="7">
                <c:v>-4.0923132944896148E-2</c:v>
              </c:pt>
              <c:pt idx="8">
                <c:v>-3.5595231122348754E-2</c:v>
              </c:pt>
              <c:pt idx="9">
                <c:v>-2.6865820815962067E-2</c:v>
              </c:pt>
              <c:pt idx="10">
                <c:v>-4.0842658369288964E-2</c:v>
              </c:pt>
              <c:pt idx="11">
                <c:v>-6.0944584825476905E-2</c:v>
              </c:pt>
              <c:pt idx="12">
                <c:v>-8.3868867102192147E-3</c:v>
              </c:pt>
              <c:pt idx="13">
                <c:v>-3.1355948046273736E-2</c:v>
              </c:pt>
              <c:pt idx="14">
                <c:v>-2.8832358865428669E-2</c:v>
              </c:pt>
              <c:pt idx="15">
                <c:v>-2.4019084737479945E-2</c:v>
              </c:pt>
              <c:pt idx="16">
                <c:v>6.4535326036400761E-2</c:v>
              </c:pt>
              <c:pt idx="17">
                <c:v>0.20349682716731979</c:v>
              </c:pt>
              <c:pt idx="18">
                <c:v>0.37653593295012533</c:v>
              </c:pt>
              <c:pt idx="19">
                <c:v>0.59200156127345815</c:v>
              </c:pt>
              <c:pt idx="20">
                <c:v>0.86725629483498023</c:v>
              </c:pt>
              <c:pt idx="21">
                <c:v>1.2153799841027542</c:v>
              </c:pt>
              <c:pt idx="22">
                <c:v>1.5925286294685734</c:v>
              </c:pt>
              <c:pt idx="23">
                <c:v>2.0515807868734433</c:v>
              </c:pt>
              <c:pt idx="24">
                <c:v>2.3622136047101456</c:v>
              </c:pt>
              <c:pt idx="25">
                <c:v>2.5602252944079424</c:v>
              </c:pt>
              <c:pt idx="26">
                <c:v>2.6818340264776448</c:v>
              </c:pt>
              <c:pt idx="27">
                <c:v>2.7759459656094321</c:v>
              </c:pt>
              <c:pt idx="28">
                <c:v>2.8881396505577102</c:v>
              </c:pt>
              <c:pt idx="29">
                <c:v>2.9208971440204783</c:v>
              </c:pt>
              <c:pt idx="30">
                <c:v>2.8888068634314448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1-27E9-48A4-B211-F0E07487BD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latin typeface="Yu Gothic"/>
                    <a:ea typeface="Yu Gothic"/>
                    <a:cs typeface="Yu Gothic"/>
                  </a:rPr>
                  <a:t>time [s]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3D3D3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endParaRPr lang="ja-JP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.5"/>
          <c:min val="-0.5"/>
        </c:scaling>
        <c:delete val="0"/>
        <c:axPos val="l"/>
        <c:majorGridlines>
          <c:spPr>
            <a:ln w="9525">
              <a:solidFill>
                <a:srgbClr val="EFEFEF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>
                    <a:latin typeface="Yu Gothic"/>
                    <a:ea typeface="Yu Gothic"/>
                    <a:cs typeface="Yu Gothic"/>
                  </a:rPr>
                  <a:t>chip sensor bias [K]</a:t>
                </a:r>
              </a:p>
            </c:rich>
          </c:tx>
          <c:overlay val="0"/>
        </c:title>
        <c:numFmt formatCode="0.0" sourceLinked="1"/>
        <c:majorTickMark val="none"/>
        <c:minorTickMark val="none"/>
        <c:tickLblPos val="nextTo"/>
        <c:spPr>
          <a:ln w="9525">
            <a:solidFill>
              <a:srgbClr val="D3D3D3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endParaRPr lang="ja-JP"/>
          </a:p>
        </c:txPr>
        <c:crossAx val="48650112"/>
        <c:crosses val="autoZero"/>
        <c:crossBetween val="between"/>
        <c:majorUnit val="0.5"/>
      </c:valAx>
      <c:spPr>
        <a:solidFill>
          <a:srgbClr val="FFFFFF"/>
        </a:solidFill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50">
              <a:solidFill>
                <a:srgbClr val="555555"/>
              </a:solidFill>
              <a:latin typeface="Yu Gothic"/>
              <a:ea typeface="Yu Gothic"/>
              <a:cs typeface="Yu Gothic"/>
            </a:defRPr>
          </a:pPr>
          <a:endParaRPr lang="ja-JP"/>
        </a:p>
      </c:txPr>
    </c:legend>
    <c:plotVisOnly val="1"/>
    <c:dispBlanksAs val="zero"/>
    <c:showDLblsOverMax val="1"/>
  </c:chart>
  <c:spPr>
    <a:solidFill>
      <a:srgbClr val="FFFFFF"/>
    </a:solidFill>
    <a:ln w="0">
      <a:noFill/>
      <a:prstDash val="solid"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ja-JP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truth hidden heat</c:v>
          </c:tx>
          <c:spPr>
            <a:ln w="28575">
              <a:solidFill>
                <a:srgbClr val="161616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3"/>
              <c:pt idx="0">
                <c:v>0</c:v>
              </c:pt>
              <c:pt idx="1">
                <c:v>20</c:v>
              </c:pt>
              <c:pt idx="2">
                <c:v>40</c:v>
              </c:pt>
              <c:pt idx="3">
                <c:v>60</c:v>
              </c:pt>
              <c:pt idx="4">
                <c:v>80</c:v>
              </c:pt>
              <c:pt idx="5">
                <c:v>100</c:v>
              </c:pt>
              <c:pt idx="6">
                <c:v>120</c:v>
              </c:pt>
              <c:pt idx="7">
                <c:v>140</c:v>
              </c:pt>
              <c:pt idx="8">
                <c:v>160</c:v>
              </c:pt>
              <c:pt idx="9">
                <c:v>180</c:v>
              </c:pt>
              <c:pt idx="10">
                <c:v>200</c:v>
              </c:pt>
              <c:pt idx="11">
                <c:v>220</c:v>
              </c:pt>
              <c:pt idx="12">
                <c:v>240</c:v>
              </c:pt>
              <c:pt idx="13">
                <c:v>260</c:v>
              </c:pt>
              <c:pt idx="14">
                <c:v>280</c:v>
              </c:pt>
              <c:pt idx="15">
                <c:v>282</c:v>
              </c:pt>
              <c:pt idx="16">
                <c:v>292</c:v>
              </c:pt>
              <c:pt idx="17">
                <c:v>300</c:v>
              </c:pt>
              <c:pt idx="18">
                <c:v>320</c:v>
              </c:pt>
              <c:pt idx="19">
                <c:v>340</c:v>
              </c:pt>
              <c:pt idx="20">
                <c:v>360</c:v>
              </c:pt>
              <c:pt idx="21">
                <c:v>380</c:v>
              </c:pt>
              <c:pt idx="22">
                <c:v>400</c:v>
              </c:pt>
              <c:pt idx="23">
                <c:v>420</c:v>
              </c:pt>
              <c:pt idx="24">
                <c:v>440</c:v>
              </c:pt>
              <c:pt idx="25">
                <c:v>460</c:v>
              </c:pt>
              <c:pt idx="26">
                <c:v>480</c:v>
              </c:pt>
              <c:pt idx="27">
                <c:v>500</c:v>
              </c:pt>
              <c:pt idx="28">
                <c:v>520</c:v>
              </c:pt>
              <c:pt idx="29">
                <c:v>540</c:v>
              </c:pt>
              <c:pt idx="30">
                <c:v>560</c:v>
              </c:pt>
              <c:pt idx="31">
                <c:v>580</c:v>
              </c:pt>
              <c:pt idx="32">
                <c:v>600</c:v>
              </c:pt>
            </c:numLit>
          </c:cat>
          <c:val>
            <c:numLit>
              <c:formatCode>0.0</c:formatCode>
              <c:ptCount val="33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  <c:pt idx="14">
                <c:v>0</c:v>
              </c:pt>
              <c:pt idx="15">
                <c:v>3</c:v>
              </c:pt>
              <c:pt idx="16">
                <c:v>3</c:v>
              </c:pt>
              <c:pt idx="17">
                <c:v>3</c:v>
              </c:pt>
              <c:pt idx="18">
                <c:v>3</c:v>
              </c:pt>
              <c:pt idx="19">
                <c:v>3</c:v>
              </c:pt>
              <c:pt idx="20">
                <c:v>3</c:v>
              </c:pt>
              <c:pt idx="21">
                <c:v>3</c:v>
              </c:pt>
              <c:pt idx="22">
                <c:v>0</c:v>
              </c:pt>
              <c:pt idx="23">
                <c:v>0</c:v>
              </c:pt>
              <c:pt idx="24">
                <c:v>0</c:v>
              </c:pt>
              <c:pt idx="25">
                <c:v>0</c:v>
              </c:pt>
              <c:pt idx="26">
                <c:v>0</c:v>
              </c:pt>
              <c:pt idx="27">
                <c:v>0</c:v>
              </c:pt>
              <c:pt idx="28">
                <c:v>0</c:v>
              </c:pt>
              <c:pt idx="29">
                <c:v>0</c:v>
              </c:pt>
              <c:pt idx="30">
                <c:v>0</c:v>
              </c:pt>
              <c:pt idx="31">
                <c:v>0</c:v>
              </c:pt>
              <c:pt idx="32">
                <c:v>0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D96A-4A6E-8BB9-BF4377E15536}"/>
            </c:ext>
          </c:extLst>
        </c:ser>
        <c:ser>
          <c:idx val="1"/>
          <c:order val="1"/>
          <c:tx>
            <c:v>estimated disturbance</c:v>
          </c:tx>
          <c:spPr>
            <a:ln w="28575">
              <a:solidFill>
                <a:srgbClr val="00A5D8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33"/>
              <c:pt idx="0">
                <c:v>0</c:v>
              </c:pt>
              <c:pt idx="1">
                <c:v>20</c:v>
              </c:pt>
              <c:pt idx="2">
                <c:v>40</c:v>
              </c:pt>
              <c:pt idx="3">
                <c:v>60</c:v>
              </c:pt>
              <c:pt idx="4">
                <c:v>80</c:v>
              </c:pt>
              <c:pt idx="5">
                <c:v>100</c:v>
              </c:pt>
              <c:pt idx="6">
                <c:v>120</c:v>
              </c:pt>
              <c:pt idx="7">
                <c:v>140</c:v>
              </c:pt>
              <c:pt idx="8">
                <c:v>160</c:v>
              </c:pt>
              <c:pt idx="9">
                <c:v>180</c:v>
              </c:pt>
              <c:pt idx="10">
                <c:v>200</c:v>
              </c:pt>
              <c:pt idx="11">
                <c:v>220</c:v>
              </c:pt>
              <c:pt idx="12">
                <c:v>240</c:v>
              </c:pt>
              <c:pt idx="13">
                <c:v>260</c:v>
              </c:pt>
              <c:pt idx="14">
                <c:v>280</c:v>
              </c:pt>
              <c:pt idx="15">
                <c:v>282</c:v>
              </c:pt>
              <c:pt idx="16">
                <c:v>292</c:v>
              </c:pt>
              <c:pt idx="17">
                <c:v>300</c:v>
              </c:pt>
              <c:pt idx="18">
                <c:v>320</c:v>
              </c:pt>
              <c:pt idx="19">
                <c:v>340</c:v>
              </c:pt>
              <c:pt idx="20">
                <c:v>360</c:v>
              </c:pt>
              <c:pt idx="21">
                <c:v>380</c:v>
              </c:pt>
              <c:pt idx="22">
                <c:v>400</c:v>
              </c:pt>
              <c:pt idx="23">
                <c:v>420</c:v>
              </c:pt>
              <c:pt idx="24">
                <c:v>440</c:v>
              </c:pt>
              <c:pt idx="25">
                <c:v>460</c:v>
              </c:pt>
              <c:pt idx="26">
                <c:v>480</c:v>
              </c:pt>
              <c:pt idx="27">
                <c:v>500</c:v>
              </c:pt>
              <c:pt idx="28">
                <c:v>520</c:v>
              </c:pt>
              <c:pt idx="29">
                <c:v>540</c:v>
              </c:pt>
              <c:pt idx="30">
                <c:v>560</c:v>
              </c:pt>
              <c:pt idx="31">
                <c:v>580</c:v>
              </c:pt>
              <c:pt idx="32">
                <c:v>600</c:v>
              </c:pt>
            </c:numLit>
          </c:cat>
          <c:val>
            <c:numLit>
              <c:formatCode>0.0</c:formatCode>
              <c:ptCount val="33"/>
              <c:pt idx="0">
                <c:v>0</c:v>
              </c:pt>
              <c:pt idx="1">
                <c:v>0.11405454155908504</c:v>
              </c:pt>
              <c:pt idx="2">
                <c:v>-0.3237511316769392</c:v>
              </c:pt>
              <c:pt idx="3">
                <c:v>-0.13436329701591565</c:v>
              </c:pt>
              <c:pt idx="4">
                <c:v>4.2929790326587794E-2</c:v>
              </c:pt>
              <c:pt idx="5">
                <c:v>3.7636851927696946E-2</c:v>
              </c:pt>
              <c:pt idx="6">
                <c:v>-4.8703330931933034E-2</c:v>
              </c:pt>
              <c:pt idx="7">
                <c:v>2.3309510196777884E-3</c:v>
              </c:pt>
              <c:pt idx="8">
                <c:v>5.487416485256056E-2</c:v>
              </c:pt>
              <c:pt idx="9">
                <c:v>-5.153298951683196E-2</c:v>
              </c:pt>
              <c:pt idx="10">
                <c:v>-3.0860559850656801E-2</c:v>
              </c:pt>
              <c:pt idx="11">
                <c:v>-1.8639531503134847E-2</c:v>
              </c:pt>
              <c:pt idx="12">
                <c:v>-3.4339136861510307E-2</c:v>
              </c:pt>
              <c:pt idx="13">
                <c:v>-3.5886283053816324E-2</c:v>
              </c:pt>
              <c:pt idx="14">
                <c:v>-6.1647723741180147E-2</c:v>
              </c:pt>
              <c:pt idx="15">
                <c:v>-7.1469554557021545E-2</c:v>
              </c:pt>
              <c:pt idx="16">
                <c:v>0.24686282424242165</c:v>
              </c:pt>
              <c:pt idx="17">
                <c:v>0.63656371175540905</c:v>
              </c:pt>
              <c:pt idx="18">
                <c:v>1.8948691173207985</c:v>
              </c:pt>
              <c:pt idx="19">
                <c:v>2.5700216887680107</c:v>
              </c:pt>
              <c:pt idx="20">
                <c:v>3.0754272736641157</c:v>
              </c:pt>
              <c:pt idx="21">
                <c:v>3.1324595955393257</c:v>
              </c:pt>
              <c:pt idx="22">
                <c:v>2.5002193451574688</c:v>
              </c:pt>
              <c:pt idx="23">
                <c:v>1.2955912969540631</c:v>
              </c:pt>
              <c:pt idx="24">
                <c:v>0.41039953158960191</c:v>
              </c:pt>
              <c:pt idx="25">
                <c:v>9.1521992578863787E-3</c:v>
              </c:pt>
              <c:pt idx="26">
                <c:v>-4.6182568808582999E-2</c:v>
              </c:pt>
              <c:pt idx="27">
                <c:v>-1.098919738798531E-2</c:v>
              </c:pt>
              <c:pt idx="28">
                <c:v>-0.183639930154647</c:v>
              </c:pt>
              <c:pt idx="29">
                <c:v>-0.16546984052602859</c:v>
              </c:pt>
              <c:pt idx="30">
                <c:v>1.6644616410510533E-2</c:v>
              </c:pt>
              <c:pt idx="31">
                <c:v>-3.4909348232923673E-2</c:v>
              </c:pt>
              <c:pt idx="32">
                <c:v>-9.3837855342512114E-2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1-D96A-4A6E-8BB9-BF4377E155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latin typeface="Yu Gothic"/>
                    <a:ea typeface="Yu Gothic"/>
                    <a:cs typeface="Yu Gothic"/>
                  </a:rPr>
                  <a:t>time [s]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3D3D3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endParaRPr lang="ja-JP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.8"/>
          <c:min val="-0.5"/>
        </c:scaling>
        <c:delete val="0"/>
        <c:axPos val="l"/>
        <c:majorGridlines>
          <c:spPr>
            <a:ln w="9525">
              <a:solidFill>
                <a:srgbClr val="EFEFEF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>
                    <a:latin typeface="Yu Gothic"/>
                    <a:ea typeface="Yu Gothic"/>
                    <a:cs typeface="Yu Gothic"/>
                  </a:rPr>
                  <a:t>heat rate [W]</a:t>
                </a:r>
              </a:p>
            </c:rich>
          </c:tx>
          <c:overlay val="0"/>
        </c:title>
        <c:numFmt formatCode="0.0" sourceLinked="1"/>
        <c:majorTickMark val="none"/>
        <c:minorTickMark val="none"/>
        <c:tickLblPos val="nextTo"/>
        <c:spPr>
          <a:ln w="9525">
            <a:solidFill>
              <a:srgbClr val="D3D3D3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endParaRPr lang="ja-JP"/>
          </a:p>
        </c:txPr>
        <c:crossAx val="48650112"/>
        <c:crosses val="autoZero"/>
        <c:crossBetween val="between"/>
        <c:majorUnit val="0.5"/>
      </c:valAx>
      <c:spPr>
        <a:solidFill>
          <a:srgbClr val="FFFFFF"/>
        </a:solidFill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50">
              <a:solidFill>
                <a:srgbClr val="555555"/>
              </a:solidFill>
              <a:latin typeface="Yu Gothic"/>
              <a:ea typeface="Yu Gothic"/>
              <a:cs typeface="Yu Gothic"/>
            </a:defRPr>
          </a:pPr>
          <a:endParaRPr lang="ja-JP"/>
        </a:p>
      </c:txPr>
    </c:legend>
    <c:plotVisOnly val="1"/>
    <c:dispBlanksAs val="zero"/>
    <c:showDLblsOverMax val="1"/>
  </c:chart>
  <c:spPr>
    <a:solidFill>
      <a:srgbClr val="FFFFFF"/>
    </a:solidFill>
    <a:ln w="0">
      <a:noFill/>
      <a:prstDash val="solid"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ja-JP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chip-average difference</c:v>
          </c:tx>
          <c:spPr>
            <a:solidFill>
              <a:srgbClr val="E5A900"/>
            </a:solidFill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2FA-40AA-B58F-7B7E29EE6E04}"/>
              </c:ext>
            </c:extLst>
          </c:dPt>
          <c:dPt>
            <c:idx val="1"/>
            <c:invertIfNegative val="0"/>
            <c:bubble3D val="0"/>
            <c:spPr>
              <a:solidFill>
                <a:srgbClr val="76BE18"/>
              </a:solidFill>
            </c:spPr>
            <c:extLst>
              <c:ext xmlns:c16="http://schemas.microsoft.com/office/drawing/2014/chart" uri="{C3380CC4-5D6E-409C-BE32-E72D297353CC}">
                <c16:uniqueId val="{00000003-12FA-40AA-B58F-7B7E29EE6E04}"/>
              </c:ext>
            </c:extLst>
          </c:dPt>
          <c:dPt>
            <c:idx val="2"/>
            <c:invertIfNegative val="0"/>
            <c:bubble3D val="0"/>
            <c:spPr>
              <a:solidFill>
                <a:srgbClr val="C4493D"/>
              </a:solidFill>
            </c:spPr>
            <c:extLst>
              <c:ext xmlns:c16="http://schemas.microsoft.com/office/drawing/2014/chart" uri="{C3380CC4-5D6E-409C-BE32-E72D297353CC}">
                <c16:uniqueId val="{00000005-12FA-40AA-B58F-7B7E29EE6E0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788" b="1">
                    <a:solidFill>
                      <a:srgbClr val="555555"/>
                    </a:solidFill>
                    <a:latin typeface="Yu Gothic"/>
                    <a:ea typeface="Yu Gothic"/>
                    <a:cs typeface="Yu Gothic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MC01
nominal</c:v>
              </c:pt>
              <c:pt idx="1">
                <c:v>MC02
hot + radiation</c:v>
              </c:pt>
              <c:pt idx="2">
                <c:v>strict
criterion</c:v>
              </c:pt>
            </c:strLit>
          </c:cat>
          <c:val>
            <c:numLit>
              <c:formatCode>0.000</c:formatCode>
              <c:ptCount val="3"/>
              <c:pt idx="0">
                <c:v>0.49620860000000278</c:v>
              </c:pt>
              <c:pt idx="1">
                <c:v>0.15442749999999705</c:v>
              </c:pt>
              <c:pt idx="2">
                <c:v>0.25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6-12FA-40AA-B58F-7B7E29EE6E0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3D3D3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endParaRPr lang="ja-JP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6"/>
          <c:min val="0"/>
        </c:scaling>
        <c:delete val="0"/>
        <c:axPos val="l"/>
        <c:majorGridlines>
          <c:spPr>
            <a:ln w="9525">
              <a:solidFill>
                <a:srgbClr val="EFEFEF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>
                    <a:latin typeface="Yu Gothic"/>
                    <a:ea typeface="Yu Gothic"/>
                    <a:cs typeface="Yu Gothic"/>
                  </a:rPr>
                  <a:t>chip-average |ΔT| [K]</a:t>
                </a:r>
              </a:p>
            </c:rich>
          </c:tx>
          <c:overlay val="0"/>
        </c:title>
        <c:numFmt formatCode="0.000" sourceLinked="1"/>
        <c:majorTickMark val="none"/>
        <c:minorTickMark val="none"/>
        <c:tickLblPos val="nextTo"/>
        <c:spPr>
          <a:ln w="9525">
            <a:solidFill>
              <a:srgbClr val="D3D3D3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endParaRPr lang="ja-JP"/>
          </a:p>
        </c:txPr>
        <c:crossAx val="48650112"/>
        <c:crosses val="autoZero"/>
        <c:crossBetween val="between"/>
        <c:majorUnit val="0.1"/>
      </c:valAx>
      <c:spPr>
        <a:solidFill>
          <a:srgbClr val="FFFFFF"/>
        </a:solidFill>
        <a:ln w="0">
          <a:noFill/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  <a:prstDash val="solid"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ja-JP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CAE truth ΔT</c:v>
          </c:tx>
          <c:spPr>
            <a:ln w="28575">
              <a:solidFill>
                <a:srgbClr val="7B2DAF"/>
              </a:solidFill>
              <a:prstDash val="solid"/>
            </a:ln>
          </c:spPr>
          <c:marker>
            <c:symbol val="circle"/>
            <c:size val="4"/>
            <c:spPr>
              <a:solidFill>
                <a:srgbClr val="7B2DAF"/>
              </a:solidFill>
            </c:spPr>
          </c:marker>
          <c:cat>
            <c:numLit>
              <c:formatCode>General</c:formatCode>
              <c:ptCount val="12"/>
              <c:pt idx="0">
                <c:v>0</c:v>
              </c:pt>
              <c:pt idx="1">
                <c:v>20</c:v>
              </c:pt>
              <c:pt idx="2">
                <c:v>40</c:v>
              </c:pt>
              <c:pt idx="3">
                <c:v>60</c:v>
              </c:pt>
              <c:pt idx="4">
                <c:v>80</c:v>
              </c:pt>
              <c:pt idx="5">
                <c:v>100</c:v>
              </c:pt>
              <c:pt idx="6">
                <c:v>120</c:v>
              </c:pt>
              <c:pt idx="7">
                <c:v>140</c:v>
              </c:pt>
              <c:pt idx="8">
                <c:v>160</c:v>
              </c:pt>
              <c:pt idx="9">
                <c:v>180</c:v>
              </c:pt>
              <c:pt idx="10">
                <c:v>200</c:v>
              </c:pt>
              <c:pt idx="11">
                <c:v>220</c:v>
              </c:pt>
            </c:numLit>
          </c:cat>
          <c:val>
            <c:numLit>
              <c:formatCode>0.0</c:formatCode>
              <c:ptCount val="12"/>
              <c:pt idx="0">
                <c:v>-1.8545700000025533E-3</c:v>
              </c:pt>
              <c:pt idx="1">
                <c:v>-1.8549800000009498E-3</c:v>
              </c:pt>
              <c:pt idx="2">
                <c:v>-1.8553600000004167E-3</c:v>
              </c:pt>
              <c:pt idx="3">
                <c:v>-1.8556099999997855E-3</c:v>
              </c:pt>
              <c:pt idx="4">
                <c:v>-7.4855300000002956E-3</c:v>
              </c:pt>
              <c:pt idx="5">
                <c:v>-1.1850699999982339E-3</c:v>
              </c:pt>
              <c:pt idx="6">
                <c:v>-2.2883150000001962E-2</c:v>
              </c:pt>
              <c:pt idx="7">
                <c:v>-8.4162999999996657E-2</c:v>
              </c:pt>
              <c:pt idx="8">
                <c:v>-0.16855853000000565</c:v>
              </c:pt>
              <c:pt idx="9">
                <c:v>-0.24409413000000058</c:v>
              </c:pt>
              <c:pt idx="10">
                <c:v>-0.31718865999999935</c:v>
              </c:pt>
              <c:pt idx="11">
                <c:v>-0.38133367000000362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5173-4AE4-B743-2AF6DF7E1E9F}"/>
            </c:ext>
          </c:extLst>
        </c:ser>
        <c:ser>
          <c:idx val="1"/>
          <c:order val="1"/>
          <c:tx>
            <c:v>RC model ΔT</c:v>
          </c:tx>
          <c:spPr>
            <a:ln w="28575">
              <a:solidFill>
                <a:srgbClr val="00A5D8"/>
              </a:solidFill>
              <a:prstDash val="solid"/>
            </a:ln>
          </c:spPr>
          <c:marker>
            <c:symbol val="square"/>
            <c:size val="4"/>
            <c:spPr>
              <a:solidFill>
                <a:srgbClr val="00A5D8"/>
              </a:solidFill>
            </c:spPr>
          </c:marker>
          <c:cat>
            <c:numLit>
              <c:formatCode>General</c:formatCode>
              <c:ptCount val="12"/>
              <c:pt idx="0">
                <c:v>0</c:v>
              </c:pt>
              <c:pt idx="1">
                <c:v>20</c:v>
              </c:pt>
              <c:pt idx="2">
                <c:v>40</c:v>
              </c:pt>
              <c:pt idx="3">
                <c:v>60</c:v>
              </c:pt>
              <c:pt idx="4">
                <c:v>80</c:v>
              </c:pt>
              <c:pt idx="5">
                <c:v>100</c:v>
              </c:pt>
              <c:pt idx="6">
                <c:v>120</c:v>
              </c:pt>
              <c:pt idx="7">
                <c:v>140</c:v>
              </c:pt>
              <c:pt idx="8">
                <c:v>160</c:v>
              </c:pt>
              <c:pt idx="9">
                <c:v>180</c:v>
              </c:pt>
              <c:pt idx="10">
                <c:v>200</c:v>
              </c:pt>
              <c:pt idx="11">
                <c:v>220</c:v>
              </c:pt>
            </c:numLit>
          </c:cat>
          <c:val>
            <c:numLit>
              <c:formatCode>0.0</c:formatCode>
              <c:ptCount val="12"/>
              <c:pt idx="0">
                <c:v>-1.8545700000025533E-3</c:v>
              </c:pt>
              <c:pt idx="1">
                <c:v>-1.777789999998447E-3</c:v>
              </c:pt>
              <c:pt idx="2">
                <c:v>-1.7016000000005249E-3</c:v>
              </c:pt>
              <c:pt idx="3">
                <c:v>-1.6286799999996049E-3</c:v>
              </c:pt>
              <c:pt idx="4">
                <c:v>-1.5588800000010394E-3</c:v>
              </c:pt>
              <c:pt idx="5">
                <c:v>-1.492069999997625E-3</c:v>
              </c:pt>
              <c:pt idx="6">
                <c:v>-1.4281300000007491E-3</c:v>
              </c:pt>
              <c:pt idx="7">
                <c:v>-1.3735799999992082E-3</c:v>
              </c:pt>
              <c:pt idx="8">
                <c:v>-1.3282800000027351E-3</c:v>
              </c:pt>
              <c:pt idx="9">
                <c:v>-1.2915400000039767E-3</c:v>
              </c:pt>
              <c:pt idx="10">
                <c:v>-1.2564700000012863E-3</c:v>
              </c:pt>
              <c:pt idx="11">
                <c:v>-1.2223400000053175E-3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1-5173-4AE4-B743-2AF6DF7E1E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latin typeface="Yu Gothic"/>
                    <a:ea typeface="Yu Gothic"/>
                    <a:cs typeface="Yu Gothic"/>
                  </a:rPr>
                  <a:t>time [s]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3D3D3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endParaRPr lang="ja-JP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05"/>
          <c:min val="-0.45"/>
        </c:scaling>
        <c:delete val="0"/>
        <c:axPos val="l"/>
        <c:majorGridlines>
          <c:spPr>
            <a:ln w="9525">
              <a:solidFill>
                <a:srgbClr val="EFEFEF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>
                    <a:latin typeface="Yu Gothic"/>
                    <a:ea typeface="Yu Gothic"/>
                    <a:cs typeface="Yu Gothic"/>
                  </a:rPr>
                  <a:t>HV02 − HV01 chip ΔT [K]</a:t>
                </a:r>
              </a:p>
            </c:rich>
          </c:tx>
          <c:overlay val="0"/>
        </c:title>
        <c:numFmt formatCode="0.0" sourceLinked="1"/>
        <c:majorTickMark val="none"/>
        <c:minorTickMark val="none"/>
        <c:tickLblPos val="nextTo"/>
        <c:spPr>
          <a:ln w="9525">
            <a:solidFill>
              <a:srgbClr val="D3D3D3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endParaRPr lang="ja-JP"/>
          </a:p>
        </c:txPr>
        <c:crossAx val="48650112"/>
        <c:crosses val="autoZero"/>
        <c:crossBetween val="between"/>
        <c:majorUnit val="0.1"/>
      </c:valAx>
      <c:spPr>
        <a:solidFill>
          <a:srgbClr val="FFFFFF"/>
        </a:solidFill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50">
              <a:solidFill>
                <a:srgbClr val="555555"/>
              </a:solidFill>
              <a:latin typeface="Yu Gothic"/>
              <a:ea typeface="Yu Gothic"/>
              <a:cs typeface="Yu Gothic"/>
            </a:defRPr>
          </a:pPr>
          <a:endParaRPr lang="ja-JP"/>
        </a:p>
      </c:txPr>
    </c:legend>
    <c:plotVisOnly val="1"/>
    <c:dispBlanksAs val="zero"/>
    <c:showDLblsOverMax val="1"/>
  </c:chart>
  <c:spPr>
    <a:solidFill>
      <a:srgbClr val="FFFFFF"/>
    </a:solidFill>
    <a:ln w="0">
      <a:noFill/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Primary sources: docs/technical_specification.md; benchmarks/topcell/README.md.</a:t>
            </a:r>
          </a:p>
          <a:p>
            <a:r>
              <a:t>The visual language follows the prior project deck. Tokyo Electron public IR material was used only as a color and layout reference. No logo or official template is included.</a:t>
            </a:r>
          </a:p>
          <a:p>
            <a:r>
              <a:t>All benchmark values in this deck come from repository outputs regenerated or recorded on 2026-09-28.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docs/product_architecture.md sections 1 and 10; docs/technical_specification.md sections 1, 4, and 9.</a:t>
            </a:r>
          </a:p>
          <a:p>
            <a:r>
              <a:t>Monitor and benchmark sampling intervals are taken from TopCell and COMSOL published datasets.</a:t>
            </a:r>
          </a:p>
          <a:p>
            <a:r>
              <a:t>Local-mesh solver times are from external_tools/comsol_chip_cooling/reports/cae_benchmark_report/source_data/mesh_convergence.csv.</a:t>
            </a:r>
          </a:p>
          <a:p>
            <a:r>
              <a:t>The thermal-path diagram is a generic responsibility schematic, not a proprietary chamber cross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docs/product_architecture.md sections 2–10; docs/technical_specification.md sections 2, 6, 7, 8, and 10.</a:t>
            </a:r>
          </a:p>
          <a:p>
            <a:r>
              <a:t>Implementation paths: src/celltemp/domain, engine, learning, workflows, artifact.py, inference.py, config.py.</a:t>
            </a:r>
          </a:p>
          <a:p>
            <a:r>
              <a:t>The diagram follows the repository dependency direction: cli -&gt; workflows -&gt; learning/inference -&gt; engine -&gt; domain/io/config.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benchmarks/topcell/docs/topcell_benchmark_problem.md; benchmarks/topcell/README.md; docs/units_and_conventions.md.</a:t>
            </a:r>
          </a:p>
          <a:p>
            <a:r>
              <a:t>Training data comprises 192 steady trajectories and 36 independent step/ramp trajectories.</a:t>
            </a:r>
          </a:p>
          <a:p>
            <a:r>
              <a:t>External evaluation contains 12 forecast cases and 5 monitor cases. F11 is the intentional model-gap case.</a:t>
            </a:r>
          </a:p>
          <a:p>
            <a:r>
              <a:t>Synthetic criteria are software and workflow sanity thresholds, not product thermal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benchmarks/topcell/work/outputs/benchmark/benchmark_summary.json.</a:t>
            </a:r>
          </a:p>
          <a:p>
            <a:r>
              <a:t>Source: benchmarks/topcell/work/outputs/benchmark/forecast_by_group.csv and forecast_by_case.csv.</a:t>
            </a:r>
          </a:p>
          <a:p>
            <a:r>
              <a:t>The benchmark was rerun on 2026-09-28 with: uv run --locked --with-editable . python benchmarks/topcell/run.py. Status: pass.</a:t>
            </a:r>
          </a:p>
          <a:p>
            <a:r>
              <a:t>F11 is intentionally excluded from the 11-case core mean. Its large error is the expected evidence that the linear RC structure does not represent temperature-dependent heat loss.</a:t>
            </a:r>
          </a:p>
          <a:p>
            <a:r>
              <a:t>No confidence intervals are shown because each bar is a deterministic case or case-group aggregate from one fixed benchmark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Predictions: benchmarks/topcell/work/outputs/forecast/F09_sparse_initial_observation.csv and F12_history_initialized_sparse.csv.</a:t>
            </a:r>
          </a:p>
          <a:p>
            <a:r>
              <a:t>Truth: benchmarks/topcell/work/data/eval/forecast/F09_sparse_initial_observation.csv and F12_history_initialized_sparse.csv.</a:t>
            </a:r>
          </a:p>
          <a:p>
            <a:r>
              <a:t>Common-window RMSE from t=20 s through 180 s: F09=0.383745 K, F12=0.038094 K, reduction=90.073%.</a:t>
            </a:r>
          </a:p>
          <a:p>
            <a:r>
              <a:t>The benchmark primary metric compares the published F09 full-horizon score with the F12 origin-after-history score. The common-window calculation is added here to make the comparison conservative and time-aligned.</a:t>
            </a:r>
          </a:p>
          <a:p>
            <a:r>
              <a:t>The line plot is downsampled every 5 s for display only. RMSE values use all forecast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M03 estimate: external_tools/comsol_chip_cooling/work/outputs/monitor/M03_sensor_offset.csv.</a:t>
            </a:r>
          </a:p>
          <a:p>
            <a:r>
              <a:t>M03 truth: external_tools/comsol_chip_cooling/data/eval/monitor/M03_sensor_offset.csv.</a:t>
            </a:r>
          </a:p>
          <a:p>
            <a:r>
              <a:t>M05 estimate: external_tools/comsol_chip_cooling/work/outputs/monitor/M05_uncommanded_heat.csv.</a:t>
            </a:r>
          </a:p>
          <a:p>
            <a:r>
              <a:t>M05 truth: external_tools/comsol_chip_cooling/data/eval/monitor/M05_uncommanded_heat.csv.</a:t>
            </a:r>
          </a:p>
          <a:p>
            <a:r>
              <a:t>Event metrics: external_tools/comsol_chip_cooling/work/evaluation/monitor_events.csv and summary.json.</a:t>
            </a:r>
          </a:p>
          <a:p>
            <a:r>
              <a:t>M03 event starts at 300 s and is detected immediately. M05 event starts at 282 s and is first detected at 292 s.</a:t>
            </a:r>
          </a:p>
          <a:p>
            <a:r>
              <a:t>Charts use every tenth row plus event timestamps for display. Reported metrics use the full trajectories.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Mesh source: external_tools/comsol_chip_cooling/reports/cae_benchmark_report/source_data/mesh_convergence.csv.</a:t>
            </a:r>
          </a:p>
          <a:p>
            <a:r>
              <a:t>High-fidelity metrics: external_tools/comsol_chip_cooling/reports/cae_benchmark_report/source_data/high_fidelity_case_metrics.csv.</a:t>
            </a:r>
          </a:p>
          <a:p>
            <a:r>
              <a:t>Radiation trace: external_tools/comsol_chip_cooling/reports/cae_benchmark_report/source_data/high_fidelity_radiation_trace.csv.</a:t>
            </a:r>
          </a:p>
          <a:p>
            <a:r>
              <a:t>Validation boundary: external_tools/comsol_chip_cooling/docs/high_fidelity_validation.md.</a:t>
            </a:r>
          </a:p>
          <a:p>
            <a:r>
              <a:t>Computed medium-to-fine chip-average differences: MC01=0.4962086 K, MC02=0.1544275 K.</a:t>
            </a:r>
          </a:p>
          <a:p>
            <a:r>
              <a:t>At 220 s, CAE radiation-pair chip delta is -0.38133367 K and the RC-model delta is -0.00122234 K. The conservative adjacent-mesh difference is 0.49620860 K.</a:t>
            </a:r>
          </a:p>
          <a:p>
            <a:r>
              <a:t>Interpretation: absolute average-temperature screening improved, but the magnitude of the radiation sensitivity is not validated.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benchmarks/topcell/work/outputs/benchmark/benchmark_summary.json; external_tools/comsol_chip_cooling/work/evaluation/summary.json.</a:t>
            </a:r>
          </a:p>
          <a:p>
            <a:r>
              <a:t>Sources: external_tools/comsol_chip_cooling/docs/high_fidelity_validation.md; docs/technical_specification.md sections 11 and 12.</a:t>
            </a:r>
          </a:p>
          <a:p>
            <a:r>
              <a:t>Linear COMSOL external forecast mean RMSE is 0.036276 K and all 10 screening checks pass. This is volume-average screening evidence, not hotspot product acceptance.</a:t>
            </a:r>
          </a:p>
          <a:p>
            <a:r>
              <a:t>Recommended product gates follow the repository validation boundary and should be tied to the equipment FMEA, control period, and thermal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14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29AF96F-1A69-4838-8ADE-D21C243BBF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0A5D8"/>
          </a:solidFill>
          <a:ln w="0">
            <a:noFill/>
            <a:prstDash val="solid"/>
          </a:ln>
        </p:spPr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CBEBBF7-B846-4EC2-B4BA-3992B2EFBB74}"/>
              </a:ext>
            </a:extLst>
          </p:cNvPr>
          <p:cNvSpPr>
            <a:spLocks noGrp="1"/>
          </p:cNvSpPr>
          <p:nvPr/>
        </p:nvSpPr>
        <p:spPr>
          <a:xfrm>
            <a:off x="647700" y="552450"/>
            <a:ext cx="685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THERMAL CELL / BENCHMARK REVIEW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07C5582-7EEA-4699-A19C-6B83744C3ED3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97155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3600" b="1" i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3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熱RCモデル基盤</a:t>
            </a:r>
          </a:p>
          <a:p>
            <a:pPr algn="l">
              <a:lnSpc>
                <a:spcPct val="98000"/>
              </a:lnSpc>
              <a:buNone/>
              <a:defRPr sz="3600" b="1" i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3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9枚で読む設計・実装・検証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30EC41-040F-416E-81BA-E14E06702402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10001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D9D2EA"/>
                </a:solidFill>
                <a:latin typeface="Yu Gothic"/>
                <a:ea typeface="Yu Gothic"/>
                <a:cs typeface="Yu Gothic"/>
              </a:defRPr>
            </a:pPr>
            <a:r>
              <a:rPr sz="1500" b="0" i="0">
                <a:solidFill>
                  <a:srgbClr val="D9D2EA"/>
                </a:solidFill>
                <a:latin typeface="Yu Gothic"/>
                <a:ea typeface="Yu Gothic"/>
                <a:cs typeface="Yu Gothic"/>
              </a:rPr>
              <a:t>半導体装置の温度予測と状態監視を、保存則と外部ベンチマークで評価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6C85FB4-BB5C-4BAE-8CFA-D8F6036AE972}"/>
              </a:ext>
            </a:extLst>
          </p:cNvPr>
          <p:cNvSpPr>
            <a:spLocks noGrp="1"/>
          </p:cNvSpPr>
          <p:nvPr/>
        </p:nvSpPr>
        <p:spPr>
          <a:xfrm>
            <a:off x="666750" y="3486150"/>
            <a:ext cx="5334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BFB7D2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BFB7D2"/>
                </a:solidFill>
                <a:latin typeface="Yu Gothic"/>
                <a:ea typeface="Yu Gothic"/>
                <a:cs typeface="Yu Gothic"/>
              </a:rPr>
              <a:t>thermal-cell-practical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24DCC85-1449-4FBA-A5EE-95FF06992AEE}"/>
              </a:ext>
            </a:extLst>
          </p:cNvPr>
          <p:cNvSpPr>
            <a:spLocks noGrp="1"/>
          </p:cNvSpPr>
          <p:nvPr/>
        </p:nvSpPr>
        <p:spPr>
          <a:xfrm>
            <a:off x="0" y="4619625"/>
            <a:ext cx="12192000" cy="2238375"/>
          </a:xfrm>
          <a:prstGeom prst="rect">
            <a:avLst/>
          </a:prstGeom>
          <a:solidFill>
            <a:srgbClr val="3B1F68"/>
          </a:solidFill>
          <a:ln w="0">
            <a:noFill/>
            <a:prstDash val="solid"/>
          </a:ln>
        </p:spPr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9A3B961-1E80-4B21-936A-FE2DF42BE852}"/>
              </a:ext>
            </a:extLst>
          </p:cNvPr>
          <p:cNvSpPr>
            <a:spLocks noGrp="1"/>
          </p:cNvSpPr>
          <p:nvPr/>
        </p:nvSpPr>
        <p:spPr>
          <a:xfrm>
            <a:off x="0" y="4619625"/>
            <a:ext cx="3048000" cy="2238375"/>
          </a:xfrm>
          <a:prstGeom prst="rect">
            <a:avLst/>
          </a:prstGeom>
          <a:solidFill>
            <a:srgbClr val="7B2DAF"/>
          </a:solidFill>
          <a:ln w="0">
            <a:noFill/>
            <a:prstDash val="solid"/>
          </a:ln>
        </p:spPr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0F8FCC7-B961-404B-AD15-3746E8EF7EE3}"/>
              </a:ext>
            </a:extLst>
          </p:cNvPr>
          <p:cNvSpPr>
            <a:spLocks noGrp="1"/>
          </p:cNvSpPr>
          <p:nvPr/>
        </p:nvSpPr>
        <p:spPr>
          <a:xfrm>
            <a:off x="3048000" y="4619625"/>
            <a:ext cx="3429000" cy="2238375"/>
          </a:xfrm>
          <a:prstGeom prst="rect">
            <a:avLst/>
          </a:prstGeom>
          <a:solidFill>
            <a:srgbClr val="007FA8"/>
          </a:solidFill>
          <a:ln w="0">
            <a:noFill/>
            <a:prstDash val="solid"/>
          </a:ln>
        </p:spPr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DC15602-D74D-4000-B699-2C9E7738C88D}"/>
              </a:ext>
            </a:extLst>
          </p:cNvPr>
          <p:cNvSpPr>
            <a:spLocks noGrp="1"/>
          </p:cNvSpPr>
          <p:nvPr/>
        </p:nvSpPr>
        <p:spPr>
          <a:xfrm>
            <a:off x="6477000" y="4619625"/>
            <a:ext cx="2000250" cy="2238375"/>
          </a:xfrm>
          <a:prstGeom prst="rect">
            <a:avLst/>
          </a:prstGeom>
          <a:solidFill>
            <a:srgbClr val="4D8710"/>
          </a:solidFill>
          <a:ln w="0">
            <a:noFill/>
            <a:prstDash val="solid"/>
          </a:ln>
        </p:spPr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DD2DA29-1699-4225-8C30-2470FA8671EB}"/>
              </a:ext>
            </a:extLst>
          </p:cNvPr>
          <p:cNvSpPr>
            <a:spLocks noGrp="1"/>
          </p:cNvSpPr>
          <p:nvPr/>
        </p:nvSpPr>
        <p:spPr>
          <a:xfrm>
            <a:off x="8477250" y="4619625"/>
            <a:ext cx="3714750" cy="2238375"/>
          </a:xfrm>
          <a:prstGeom prst="rect">
            <a:avLst/>
          </a:prstGeom>
          <a:solidFill>
            <a:srgbClr val="2A2050"/>
          </a:solidFill>
          <a:ln w="0">
            <a:noFill/>
            <a:prstDash val="solid"/>
          </a:ln>
        </p:spPr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451A6E2-A880-4D7C-84E1-74AEB1800143}"/>
              </a:ext>
            </a:extLst>
          </p:cNvPr>
          <p:cNvSpPr>
            <a:spLocks noGrp="1"/>
          </p:cNvSpPr>
          <p:nvPr/>
        </p:nvSpPr>
        <p:spPr>
          <a:xfrm>
            <a:off x="819150" y="5153025"/>
            <a:ext cx="13525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4500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4500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Q̇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2E07627-8308-4437-A34E-5320869DA335}"/>
              </a:ext>
            </a:extLst>
          </p:cNvPr>
          <p:cNvSpPr>
            <a:spLocks noGrp="1"/>
          </p:cNvSpPr>
          <p:nvPr/>
        </p:nvSpPr>
        <p:spPr>
          <a:xfrm>
            <a:off x="3371850" y="5210175"/>
            <a:ext cx="2781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75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C Ṫ = −L T + b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9265514-BC8C-4F81-BAA4-91588F9A4833}"/>
              </a:ext>
            </a:extLst>
          </p:cNvPr>
          <p:cNvSpPr>
            <a:spLocks noGrp="1"/>
          </p:cNvSpPr>
          <p:nvPr/>
        </p:nvSpPr>
        <p:spPr>
          <a:xfrm>
            <a:off x="6629400" y="5229225"/>
            <a:ext cx="16954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025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y = H T + β</a:t>
            </a:r>
          </a:p>
        </p:txBody>
      </p:sp>
      <p:sp>
        <p:nvSpPr>
          <p:cNvPr id="14" name="直線コネクタ 13">
            <a:extLst>
              <a:ext uri="{FF2B5EF4-FFF2-40B4-BE49-F238E27FC236}">
                <a16:creationId xmlns:a16="http://schemas.microsoft.com/office/drawing/2014/main" id="{A887C4BB-8F82-495E-9116-E6BC1E794F32}"/>
              </a:ext>
            </a:extLst>
          </p:cNvPr>
          <p:cNvSpPr>
            <a:spLocks noGrp="1"/>
          </p:cNvSpPr>
          <p:nvPr/>
        </p:nvSpPr>
        <p:spPr>
          <a:xfrm>
            <a:off x="8934450" y="5019675"/>
            <a:ext cx="2238375" cy="742950"/>
          </a:xfrm>
          <a:prstGeom prst="line">
            <a:avLst/>
          </a:prstGeom>
          <a:noFill/>
          <a:ln w="19050">
            <a:solidFill>
              <a:srgbClr val="6D618E"/>
            </a:solidFill>
            <a:prstDash val="solid"/>
          </a:ln>
        </p:spPr>
      </p:sp>
      <p:sp>
        <p:nvSpPr>
          <p:cNvPr id="15" name="直線コネクタ 14">
            <a:extLst>
              <a:ext uri="{FF2B5EF4-FFF2-40B4-BE49-F238E27FC236}">
                <a16:creationId xmlns:a16="http://schemas.microsoft.com/office/drawing/2014/main" id="{E5EFAAB7-4769-45A8-B012-3372B4BB57CB}"/>
              </a:ext>
            </a:extLst>
          </p:cNvPr>
          <p:cNvSpPr>
            <a:spLocks noGrp="1"/>
          </p:cNvSpPr>
          <p:nvPr/>
        </p:nvSpPr>
        <p:spPr>
          <a:xfrm>
            <a:off x="8934450" y="5524500"/>
            <a:ext cx="2238375" cy="238125"/>
          </a:xfrm>
          <a:prstGeom prst="line">
            <a:avLst/>
          </a:prstGeom>
          <a:noFill/>
          <a:ln w="28575">
            <a:solidFill>
              <a:srgbClr val="00A5D8"/>
            </a:solidFill>
            <a:prstDash val="solid"/>
          </a:ln>
        </p:spPr>
      </p:sp>
      <p:sp>
        <p:nvSpPr>
          <p:cNvPr id="16" name="直線コネクタ 15">
            <a:extLst>
              <a:ext uri="{FF2B5EF4-FFF2-40B4-BE49-F238E27FC236}">
                <a16:creationId xmlns:a16="http://schemas.microsoft.com/office/drawing/2014/main" id="{C8126827-E021-47FA-8BEB-1E107E4DF4BB}"/>
              </a:ext>
            </a:extLst>
          </p:cNvPr>
          <p:cNvSpPr>
            <a:spLocks noGrp="1"/>
          </p:cNvSpPr>
          <p:nvPr/>
        </p:nvSpPr>
        <p:spPr>
          <a:xfrm>
            <a:off x="8934450" y="5762625"/>
            <a:ext cx="2238375" cy="266700"/>
          </a:xfrm>
          <a:prstGeom prst="line">
            <a:avLst/>
          </a:prstGeom>
          <a:noFill/>
          <a:ln w="28575">
            <a:solidFill>
              <a:srgbClr val="76BE18"/>
            </a:solidFill>
            <a:prstDash val="solid"/>
          </a:ln>
        </p:spPr>
      </p:sp>
      <p:sp>
        <p:nvSpPr>
          <p:cNvPr id="17" name="楕円 16">
            <a:extLst>
              <a:ext uri="{FF2B5EF4-FFF2-40B4-BE49-F238E27FC236}">
                <a16:creationId xmlns:a16="http://schemas.microsoft.com/office/drawing/2014/main" id="{79D1CA1D-6951-4C50-A0D8-5C487AB9AECD}"/>
              </a:ext>
            </a:extLst>
          </p:cNvPr>
          <p:cNvSpPr>
            <a:spLocks noGrp="1"/>
          </p:cNvSpPr>
          <p:nvPr/>
        </p:nvSpPr>
        <p:spPr>
          <a:xfrm>
            <a:off x="8877300" y="5686425"/>
            <a:ext cx="133350" cy="133350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9593B49C-B972-4829-9859-7ADD16D3AFC8}"/>
              </a:ext>
            </a:extLst>
          </p:cNvPr>
          <p:cNvSpPr>
            <a:spLocks noGrp="1"/>
          </p:cNvSpPr>
          <p:nvPr/>
        </p:nvSpPr>
        <p:spPr>
          <a:xfrm>
            <a:off x="11106150" y="4943475"/>
            <a:ext cx="133350" cy="133350"/>
          </a:xfrm>
          <a:prstGeom prst="ellipse">
            <a:avLst/>
          </a:prstGeom>
          <a:solidFill>
            <a:srgbClr val="7B2DAF"/>
          </a:solidFill>
          <a:ln w="0">
            <a:noFill/>
            <a:prstDash val="solid"/>
          </a:ln>
        </p:spPr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83E4DB2A-9B19-4980-B53B-10362107C476}"/>
              </a:ext>
            </a:extLst>
          </p:cNvPr>
          <p:cNvSpPr>
            <a:spLocks noGrp="1"/>
          </p:cNvSpPr>
          <p:nvPr/>
        </p:nvSpPr>
        <p:spPr>
          <a:xfrm>
            <a:off x="11106150" y="5448300"/>
            <a:ext cx="133350" cy="133350"/>
          </a:xfrm>
          <a:prstGeom prst="ellipse">
            <a:avLst/>
          </a:prstGeom>
          <a:solidFill>
            <a:srgbClr val="00A5D8"/>
          </a:solidFill>
          <a:ln w="0">
            <a:noFill/>
            <a:prstDash val="solid"/>
          </a:ln>
        </p:spPr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A0C3AF2F-0A6D-4AB7-974B-B037E17A7C2A}"/>
              </a:ext>
            </a:extLst>
          </p:cNvPr>
          <p:cNvSpPr>
            <a:spLocks noGrp="1"/>
          </p:cNvSpPr>
          <p:nvPr/>
        </p:nvSpPr>
        <p:spPr>
          <a:xfrm>
            <a:off x="11106150" y="5953125"/>
            <a:ext cx="133350" cy="133350"/>
          </a:xfrm>
          <a:prstGeom prst="ellipse">
            <a:avLst/>
          </a:prstGeom>
          <a:solidFill>
            <a:srgbClr val="76BE18"/>
          </a:solidFill>
          <a:ln w="0">
            <a:noFill/>
            <a:prstDash val="solid"/>
          </a:ln>
        </p:spPr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62E18FED-4D4C-43D4-A892-BCF096CFC5A7}"/>
              </a:ext>
            </a:extLst>
          </p:cNvPr>
          <p:cNvSpPr>
            <a:spLocks noGrp="1"/>
          </p:cNvSpPr>
          <p:nvPr/>
        </p:nvSpPr>
        <p:spPr>
          <a:xfrm>
            <a:off x="10287000" y="6438900"/>
            <a:ext cx="13525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Autofit/>
          </a:bodyPr>
          <a:lstStyle/>
          <a:p>
            <a:pPr algn="r">
              <a:lnSpc>
                <a:spcPct val="100000"/>
              </a:lnSpc>
              <a:buNone/>
              <a:defRPr sz="825" b="0" i="0">
                <a:solidFill>
                  <a:srgbClr val="C6BFDA"/>
                </a:solidFill>
                <a:latin typeface="Yu Gothic"/>
                <a:ea typeface="Yu Gothic"/>
                <a:cs typeface="Yu Gothic"/>
              </a:defRPr>
            </a:pPr>
            <a:r>
              <a:rPr sz="825" b="0" i="0">
                <a:solidFill>
                  <a:srgbClr val="C6BFDA"/>
                </a:solidFill>
                <a:latin typeface="Yu Gothic"/>
                <a:ea typeface="Yu Gothic"/>
                <a:cs typeface="Yu Gothic"/>
              </a:rPr>
              <a:t>2026-09-28</a:t>
            </a:r>
          </a:p>
        </p:txBody>
      </p:sp>
    </p:spTree>
    <p:extLst>
      <p:ext uri="{BB962C8B-B14F-4D97-AF65-F5344CB8AC3E}">
        <p14:creationId xmlns:p14="http://schemas.microsoft.com/office/powerpoint/2010/main" val="1315572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0F640164-9D31-4015-AF22-A4544FF4976F}"/>
              </a:ext>
            </a:extLst>
          </p:cNvPr>
          <p:cNvSpPr>
            <a:spLocks noGrp="1"/>
          </p:cNvSpPr>
          <p:nvPr/>
        </p:nvSpPr>
        <p:spPr>
          <a:xfrm>
            <a:off x="552450" y="190500"/>
            <a:ext cx="76200" cy="142875"/>
          </a:xfrm>
          <a:prstGeom prst="rect">
            <a:avLst/>
          </a:prstGeom>
          <a:solidFill>
            <a:srgbClr val="76BE18"/>
          </a:solidFill>
          <a:ln w="0">
            <a:noFill/>
            <a:prstDash val="solid"/>
          </a:ln>
        </p:spPr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ACC2D3C-22F4-43EB-B93A-F8C631ECC6C8}"/>
              </a:ext>
            </a:extLst>
          </p:cNvPr>
          <p:cNvSpPr>
            <a:spLocks noGrp="1"/>
          </p:cNvSpPr>
          <p:nvPr/>
        </p:nvSpPr>
        <p:spPr>
          <a:xfrm>
            <a:off x="704850" y="161925"/>
            <a:ext cx="409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BACKGROUND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226E8AD-EBBD-49D0-824C-2D9ABE3C2A2E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1087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19050" tIns="0" rIns="1905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課題背景：高忠実度、疎観測、制御周期の時間差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E78C1D-4F78-43B0-BCD0-0BB1C8585B65}"/>
              </a:ext>
            </a:extLst>
          </p:cNvPr>
          <p:cNvSpPr>
            <a:spLocks noGrp="1"/>
          </p:cNvSpPr>
          <p:nvPr/>
        </p:nvSpPr>
        <p:spPr>
          <a:xfrm>
            <a:off x="571500" y="838200"/>
            <a:ext cx="10934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温度場を保存則付きの少数状態へ圧縮し、設計と運転の判断を同じ状態定義で接続する</a:t>
            </a:r>
          </a:p>
        </p:txBody>
      </p:sp>
      <p:sp>
        <p:nvSpPr>
          <p:cNvPr id="5" name="直線コネクタ 4">
            <a:extLst>
              <a:ext uri="{FF2B5EF4-FFF2-40B4-BE49-F238E27FC236}">
                <a16:creationId xmlns:a16="http://schemas.microsoft.com/office/drawing/2014/main" id="{8D0E7FAC-BB20-41D5-BC60-500663BC53AD}"/>
              </a:ext>
            </a:extLst>
          </p:cNvPr>
          <p:cNvSpPr>
            <a:spLocks noGrp="1"/>
          </p:cNvSpPr>
          <p:nvPr/>
        </p:nvSpPr>
        <p:spPr>
          <a:xfrm>
            <a:off x="552450" y="1152525"/>
            <a:ext cx="1108710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6" name="直線コネクタ 5">
            <a:extLst>
              <a:ext uri="{FF2B5EF4-FFF2-40B4-BE49-F238E27FC236}">
                <a16:creationId xmlns:a16="http://schemas.microsoft.com/office/drawing/2014/main" id="{7A9C53A9-3223-4933-97E3-9BE7735C1218}"/>
              </a:ext>
            </a:extLst>
          </p:cNvPr>
          <p:cNvSpPr>
            <a:spLocks noGrp="1"/>
          </p:cNvSpPr>
          <p:nvPr/>
        </p:nvSpPr>
        <p:spPr>
          <a:xfrm>
            <a:off x="552450" y="6438900"/>
            <a:ext cx="1108710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32E5316-B538-4141-AC3D-1664FE8FE0FC}"/>
              </a:ext>
            </a:extLst>
          </p:cNvPr>
          <p:cNvSpPr>
            <a:spLocks noGrp="1"/>
          </p:cNvSpPr>
          <p:nvPr/>
        </p:nvSpPr>
        <p:spPr>
          <a:xfrm>
            <a:off x="571500" y="650557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CELL / BENCHMARK REVIEW  ·  2026-09-28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BD8C33E-DFBB-47A9-B791-CEF4EB05B5FE}"/>
              </a:ext>
            </a:extLst>
          </p:cNvPr>
          <p:cNvSpPr>
            <a:spLocks noGrp="1"/>
          </p:cNvSpPr>
          <p:nvPr/>
        </p:nvSpPr>
        <p:spPr>
          <a:xfrm>
            <a:off x="11125200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Autofit/>
          </a:bodyPr>
          <a:lstStyle/>
          <a:p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7BFBF0F-6EFD-4115-808B-8E6D6908C22A}"/>
              </a:ext>
            </a:extLst>
          </p:cNvPr>
          <p:cNvSpPr>
            <a:spLocks noGrp="1"/>
          </p:cNvSpPr>
          <p:nvPr/>
        </p:nvSpPr>
        <p:spPr>
          <a:xfrm>
            <a:off x="552450" y="1362075"/>
            <a:ext cx="266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(a)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A777A21-82A6-4AD9-84CF-D37B5C8221C2}"/>
              </a:ext>
            </a:extLst>
          </p:cNvPr>
          <p:cNvSpPr>
            <a:spLocks noGrp="1"/>
          </p:cNvSpPr>
          <p:nvPr/>
        </p:nvSpPr>
        <p:spPr>
          <a:xfrm>
            <a:off x="847725" y="1362075"/>
            <a:ext cx="50387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装置内の熱経路と観測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2B26029-A01B-4A5D-8655-AE84859E21D4}"/>
              </a:ext>
            </a:extLst>
          </p:cNvPr>
          <p:cNvSpPr>
            <a:spLocks noGrp="1"/>
          </p:cNvSpPr>
          <p:nvPr/>
        </p:nvSpPr>
        <p:spPr>
          <a:xfrm>
            <a:off x="552450" y="1695450"/>
            <a:ext cx="5334000" cy="3295650"/>
          </a:xfrm>
          <a:prstGeom prst="rect">
            <a:avLst/>
          </a:prstGeom>
          <a:solidFill>
            <a:srgbClr val="F7F7F7"/>
          </a:solidFill>
          <a:ln w="9525">
            <a:solidFill>
              <a:srgbClr val="D3D3D3"/>
            </a:solidFill>
            <a:prstDash val="solid"/>
          </a:ln>
        </p:spPr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7C76446-E4DE-4401-ABE0-266B9155EE34}"/>
              </a:ext>
            </a:extLst>
          </p:cNvPr>
          <p:cNvSpPr>
            <a:spLocks noGrp="1"/>
          </p:cNvSpPr>
          <p:nvPr/>
        </p:nvSpPr>
        <p:spPr>
          <a:xfrm>
            <a:off x="885825" y="2095500"/>
            <a:ext cx="800100" cy="533400"/>
          </a:xfrm>
          <a:prstGeom prst="rect">
            <a:avLst/>
          </a:prstGeom>
          <a:solidFill>
            <a:srgbClr val="EFE5F6"/>
          </a:solidFill>
          <a:ln w="19050">
            <a:solidFill>
              <a:srgbClr val="7B2DAF"/>
            </a:solidFill>
            <a:prstDash val="solid"/>
          </a:ln>
        </p:spPr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D9AB54F-688C-4842-9ED1-1AFD635D45E4}"/>
              </a:ext>
            </a:extLst>
          </p:cNvPr>
          <p:cNvSpPr>
            <a:spLocks noGrp="1"/>
          </p:cNvSpPr>
          <p:nvPr/>
        </p:nvSpPr>
        <p:spPr>
          <a:xfrm>
            <a:off x="981075" y="2171700"/>
            <a:ext cx="6096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plasma</a:t>
            </a:r>
          </a:p>
          <a:p>
            <a:pPr algn="ctr">
              <a:lnSpc>
                <a:spcPct val="100000"/>
              </a:lnSpc>
              <a:buNone/>
              <a:defRPr sz="1050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heat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FDED3C5C-9ACA-4767-A56A-1494F5D6A909}"/>
              </a:ext>
            </a:extLst>
          </p:cNvPr>
          <p:cNvSpPr>
            <a:spLocks noGrp="1"/>
          </p:cNvSpPr>
          <p:nvPr/>
        </p:nvSpPr>
        <p:spPr>
          <a:xfrm>
            <a:off x="2143125" y="1962150"/>
            <a:ext cx="1190625" cy="790575"/>
          </a:xfrm>
          <a:prstGeom prst="rect">
            <a:avLst/>
          </a:prstGeom>
          <a:solidFill>
            <a:srgbClr val="FBE9E7"/>
          </a:solidFill>
          <a:ln w="19050">
            <a:solidFill>
              <a:srgbClr val="C4493D"/>
            </a:solidFill>
            <a:prstDash val="solid"/>
          </a:ln>
        </p:spPr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A603ECF-503F-41B7-8C99-33FCFE3D4A90}"/>
              </a:ext>
            </a:extLst>
          </p:cNvPr>
          <p:cNvSpPr>
            <a:spLocks noGrp="1"/>
          </p:cNvSpPr>
          <p:nvPr/>
        </p:nvSpPr>
        <p:spPr>
          <a:xfrm>
            <a:off x="2276475" y="2190750"/>
            <a:ext cx="9239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 fontScale="85686"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chip / wafer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56925CF-86CC-4020-B3D3-3D980B05BA29}"/>
              </a:ext>
            </a:extLst>
          </p:cNvPr>
          <p:cNvSpPr>
            <a:spLocks noGrp="1"/>
          </p:cNvSpPr>
          <p:nvPr/>
        </p:nvSpPr>
        <p:spPr>
          <a:xfrm>
            <a:off x="2143125" y="3086100"/>
            <a:ext cx="1190625" cy="685800"/>
          </a:xfrm>
          <a:prstGeom prst="rect">
            <a:avLst/>
          </a:prstGeom>
          <a:solidFill>
            <a:srgbClr val="E5F6FB"/>
          </a:solidFill>
          <a:ln w="19050">
            <a:solidFill>
              <a:srgbClr val="007FA8"/>
            </a:solidFill>
            <a:prstDash val="solid"/>
          </a:ln>
        </p:spPr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0A37025-45ED-42C1-AAC5-38342E0C15CE}"/>
              </a:ext>
            </a:extLst>
          </p:cNvPr>
          <p:cNvSpPr>
            <a:spLocks noGrp="1"/>
          </p:cNvSpPr>
          <p:nvPr/>
        </p:nvSpPr>
        <p:spPr>
          <a:xfrm>
            <a:off x="2276475" y="3286125"/>
            <a:ext cx="9239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 fontScale="88544"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stage / base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A8E20E9-41DC-4C18-85C2-EBBC32071F70}"/>
              </a:ext>
            </a:extLst>
          </p:cNvPr>
          <p:cNvSpPr>
            <a:spLocks noGrp="1"/>
          </p:cNvSpPr>
          <p:nvPr/>
        </p:nvSpPr>
        <p:spPr>
          <a:xfrm>
            <a:off x="4267200" y="3086100"/>
            <a:ext cx="1190625" cy="685800"/>
          </a:xfrm>
          <a:prstGeom prst="rect">
            <a:avLst/>
          </a:prstGeom>
          <a:solidFill>
            <a:srgbClr val="E2F7F5"/>
          </a:solidFill>
          <a:ln w="19050">
            <a:solidFill>
              <a:srgbClr val="00A89D"/>
            </a:solidFill>
            <a:prstDash val="solid"/>
          </a:ln>
        </p:spPr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2E1AA67-9E95-47D1-B9A2-FA39AB65E847}"/>
              </a:ext>
            </a:extLst>
          </p:cNvPr>
          <p:cNvSpPr>
            <a:spLocks noGrp="1"/>
          </p:cNvSpPr>
          <p:nvPr/>
        </p:nvSpPr>
        <p:spPr>
          <a:xfrm>
            <a:off x="4400550" y="3286125"/>
            <a:ext cx="9239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00A89D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00A89D"/>
                </a:solidFill>
                <a:latin typeface="Yu Gothic"/>
                <a:ea typeface="Yu Gothic"/>
                <a:cs typeface="Yu Gothic"/>
              </a:rPr>
              <a:t>coolant</a:t>
            </a:r>
          </a:p>
        </p:txBody>
      </p:sp>
      <p:cxnSp>
        <p:nvCxnSpPr>
          <p:cNvPr id="85" name="直線矢印コネクタ 84"/>
          <p:cNvCxnSpPr>
            <a:stCxn id="12" idx="3"/>
            <a:endCxn id="14" idx="1"/>
          </p:cNvCxnSpPr>
          <p:nvPr/>
        </p:nvCxnSpPr>
        <p:spPr>
          <a:xfrm flipV="1">
            <a:off x="1685925" y="2357438"/>
            <a:ext cx="457200" cy="4763"/>
          </a:xfrm>
          <a:prstGeom prst="straightConnector1">
            <a:avLst/>
          </a:prstGeom>
          <a:ln w="28575">
            <a:solidFill>
              <a:srgbClr val="7B2DAF"/>
            </a:solidFill>
            <a:prstDash val="solid"/>
            <a:tailEnd type="triangle" w="sm" len="sm"/>
          </a:ln>
        </p:spPr>
      </p:cxnSp>
      <p:cxnSp>
        <p:nvCxnSpPr>
          <p:cNvPr id="86" name="直線矢印コネクタ 85"/>
          <p:cNvCxnSpPr>
            <a:stCxn id="14" idx="2"/>
            <a:endCxn id="16" idx="0"/>
          </p:cNvCxnSpPr>
          <p:nvPr/>
        </p:nvCxnSpPr>
        <p:spPr>
          <a:xfrm>
            <a:off x="2738438" y="2752725"/>
            <a:ext cx="0" cy="333375"/>
          </a:xfrm>
          <a:prstGeom prst="straightConnector1">
            <a:avLst/>
          </a:prstGeom>
          <a:ln w="28575">
            <a:solidFill>
              <a:srgbClr val="C4493D"/>
            </a:solidFill>
            <a:prstDash val="solid"/>
            <a:tailEnd type="triangle" w="sm" len="sm"/>
          </a:ln>
        </p:spPr>
      </p:cxnSp>
      <p:cxnSp>
        <p:nvCxnSpPr>
          <p:cNvPr id="87" name="直線矢印コネクタ 86"/>
          <p:cNvCxnSpPr>
            <a:stCxn id="16" idx="3"/>
            <a:endCxn id="18" idx="1"/>
          </p:cNvCxnSpPr>
          <p:nvPr/>
        </p:nvCxnSpPr>
        <p:spPr>
          <a:xfrm>
            <a:off x="3333750" y="3429000"/>
            <a:ext cx="933450" cy="0"/>
          </a:xfrm>
          <a:prstGeom prst="straightConnector1">
            <a:avLst/>
          </a:prstGeom>
          <a:ln w="28575">
            <a:solidFill>
              <a:srgbClr val="007FA8"/>
            </a:solidFill>
            <a:prstDash val="solid"/>
            <a:tailEnd type="triangle" w="sm" len="sm"/>
          </a:ln>
        </p:spPr>
      </p:cxnSp>
      <p:sp>
        <p:nvSpPr>
          <p:cNvPr id="23" name="直線コネクタ 22">
            <a:extLst>
              <a:ext uri="{FF2B5EF4-FFF2-40B4-BE49-F238E27FC236}">
                <a16:creationId xmlns:a16="http://schemas.microsoft.com/office/drawing/2014/main" id="{06566A12-34B8-4177-8844-A732ADC2A137}"/>
              </a:ext>
            </a:extLst>
          </p:cNvPr>
          <p:cNvSpPr>
            <a:spLocks noGrp="1"/>
          </p:cNvSpPr>
          <p:nvPr/>
        </p:nvSpPr>
        <p:spPr>
          <a:xfrm>
            <a:off x="1685925" y="2362200"/>
            <a:ext cx="457200" cy="0"/>
          </a:xfrm>
          <a:prstGeom prst="line">
            <a:avLst/>
          </a:prstGeom>
          <a:noFill/>
          <a:ln w="28575">
            <a:solidFill>
              <a:srgbClr val="7B2DAF"/>
            </a:solidFill>
            <a:prstDash val="solid"/>
          </a:ln>
        </p:spPr>
      </p:sp>
      <p:sp>
        <p:nvSpPr>
          <p:cNvPr id="24" name="直線コネクタ 23">
            <a:extLst>
              <a:ext uri="{FF2B5EF4-FFF2-40B4-BE49-F238E27FC236}">
                <a16:creationId xmlns:a16="http://schemas.microsoft.com/office/drawing/2014/main" id="{10B6A900-8C6F-4E95-BBDA-30F95ABEC42A}"/>
              </a:ext>
            </a:extLst>
          </p:cNvPr>
          <p:cNvSpPr>
            <a:spLocks noGrp="1"/>
          </p:cNvSpPr>
          <p:nvPr/>
        </p:nvSpPr>
        <p:spPr>
          <a:xfrm>
            <a:off x="2733675" y="2752725"/>
            <a:ext cx="0" cy="333375"/>
          </a:xfrm>
          <a:prstGeom prst="line">
            <a:avLst/>
          </a:prstGeom>
          <a:noFill/>
          <a:ln w="28575">
            <a:solidFill>
              <a:srgbClr val="C4493D"/>
            </a:solidFill>
            <a:prstDash val="solid"/>
          </a:ln>
        </p:spPr>
      </p:sp>
      <p:sp>
        <p:nvSpPr>
          <p:cNvPr id="25" name="直線コネクタ 24">
            <a:extLst>
              <a:ext uri="{FF2B5EF4-FFF2-40B4-BE49-F238E27FC236}">
                <a16:creationId xmlns:a16="http://schemas.microsoft.com/office/drawing/2014/main" id="{82040581-83C0-4540-AEE1-0AECF61F98D4}"/>
              </a:ext>
            </a:extLst>
          </p:cNvPr>
          <p:cNvSpPr>
            <a:spLocks noGrp="1"/>
          </p:cNvSpPr>
          <p:nvPr/>
        </p:nvSpPr>
        <p:spPr>
          <a:xfrm>
            <a:off x="3333750" y="3429000"/>
            <a:ext cx="933450" cy="0"/>
          </a:xfrm>
          <a:prstGeom prst="line">
            <a:avLst/>
          </a:prstGeom>
          <a:noFill/>
          <a:ln w="28575">
            <a:solidFill>
              <a:srgbClr val="007FA8"/>
            </a:solidFill>
            <a:prstDash val="solid"/>
          </a:ln>
        </p:spPr>
      </p:sp>
      <p:sp>
        <p:nvSpPr>
          <p:cNvPr id="26" name="直線コネクタ 25">
            <a:extLst>
              <a:ext uri="{FF2B5EF4-FFF2-40B4-BE49-F238E27FC236}">
                <a16:creationId xmlns:a16="http://schemas.microsoft.com/office/drawing/2014/main" id="{24F0DDE5-607D-4AA2-8CD1-8C5F9655788A}"/>
              </a:ext>
            </a:extLst>
          </p:cNvPr>
          <p:cNvSpPr>
            <a:spLocks noGrp="1"/>
          </p:cNvSpPr>
          <p:nvPr/>
        </p:nvSpPr>
        <p:spPr>
          <a:xfrm>
            <a:off x="2743200" y="1381125"/>
            <a:ext cx="0" cy="581025"/>
          </a:xfrm>
          <a:prstGeom prst="line">
            <a:avLst/>
          </a:prstGeom>
          <a:noFill/>
          <a:ln w="28575">
            <a:solidFill>
              <a:srgbClr val="E5A900"/>
            </a:solidFill>
            <a:prstDash val="solid"/>
          </a:ln>
        </p:spPr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3D6B4B7-FD3F-4447-98B5-898C84A54C23}"/>
              </a:ext>
            </a:extLst>
          </p:cNvPr>
          <p:cNvSpPr>
            <a:spLocks noGrp="1"/>
          </p:cNvSpPr>
          <p:nvPr/>
        </p:nvSpPr>
        <p:spPr>
          <a:xfrm>
            <a:off x="2895600" y="1438275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8A6500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8A6500"/>
                </a:solidFill>
                <a:latin typeface="Yu Gothic"/>
                <a:ea typeface="Yu Gothic"/>
                <a:cs typeface="Yu Gothic"/>
              </a:rPr>
              <a:t>q̇rad / q̇conv</a:t>
            </a:r>
          </a:p>
        </p:txBody>
      </p:sp>
      <p:sp>
        <p:nvSpPr>
          <p:cNvPr id="28" name="楕円 27">
            <a:extLst>
              <a:ext uri="{FF2B5EF4-FFF2-40B4-BE49-F238E27FC236}">
                <a16:creationId xmlns:a16="http://schemas.microsoft.com/office/drawing/2014/main" id="{C5A875B9-0BBF-4C6A-B303-7B6051A75C10}"/>
              </a:ext>
            </a:extLst>
          </p:cNvPr>
          <p:cNvSpPr>
            <a:spLocks noGrp="1"/>
          </p:cNvSpPr>
          <p:nvPr/>
        </p:nvSpPr>
        <p:spPr>
          <a:xfrm>
            <a:off x="3524250" y="2152650"/>
            <a:ext cx="285750" cy="2857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D8710"/>
            </a:solidFill>
            <a:prstDash val="solid"/>
          </a:ln>
        </p:spPr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2E5BF5B-FB5D-4669-9229-AF32967DF2C1}"/>
              </a:ext>
            </a:extLst>
          </p:cNvPr>
          <p:cNvSpPr>
            <a:spLocks noGrp="1"/>
          </p:cNvSpPr>
          <p:nvPr/>
        </p:nvSpPr>
        <p:spPr>
          <a:xfrm>
            <a:off x="3543300" y="2181225"/>
            <a:ext cx="2476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38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938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T₁</a:t>
            </a:r>
          </a:p>
        </p:txBody>
      </p:sp>
      <p:sp>
        <p:nvSpPr>
          <p:cNvPr id="30" name="楕円 29">
            <a:extLst>
              <a:ext uri="{FF2B5EF4-FFF2-40B4-BE49-F238E27FC236}">
                <a16:creationId xmlns:a16="http://schemas.microsoft.com/office/drawing/2014/main" id="{F872701F-D7B5-4F58-83A6-263E61CEA9B0}"/>
              </a:ext>
            </a:extLst>
          </p:cNvPr>
          <p:cNvSpPr>
            <a:spLocks noGrp="1"/>
          </p:cNvSpPr>
          <p:nvPr/>
        </p:nvSpPr>
        <p:spPr>
          <a:xfrm>
            <a:off x="3524250" y="3276600"/>
            <a:ext cx="285750" cy="2857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D8710"/>
            </a:solidFill>
            <a:prstDash val="solid"/>
          </a:ln>
        </p:spPr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E84CB5DE-F777-4771-99B7-F12FF62B42F5}"/>
              </a:ext>
            </a:extLst>
          </p:cNvPr>
          <p:cNvSpPr>
            <a:spLocks noGrp="1"/>
          </p:cNvSpPr>
          <p:nvPr/>
        </p:nvSpPr>
        <p:spPr>
          <a:xfrm>
            <a:off x="3543300" y="3305175"/>
            <a:ext cx="2476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38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938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T₂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9C966F01-E86C-415A-B2B5-319A29C89D2B}"/>
              </a:ext>
            </a:extLst>
          </p:cNvPr>
          <p:cNvSpPr>
            <a:spLocks noGrp="1"/>
          </p:cNvSpPr>
          <p:nvPr/>
        </p:nvSpPr>
        <p:spPr>
          <a:xfrm>
            <a:off x="4648200" y="3943350"/>
            <a:ext cx="285750" cy="2857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D8710"/>
            </a:solidFill>
            <a:prstDash val="solid"/>
          </a:ln>
        </p:spPr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EA55FE91-CD75-4B54-B9A5-DBCAE07946E9}"/>
              </a:ext>
            </a:extLst>
          </p:cNvPr>
          <p:cNvSpPr>
            <a:spLocks noGrp="1"/>
          </p:cNvSpPr>
          <p:nvPr/>
        </p:nvSpPr>
        <p:spPr>
          <a:xfrm>
            <a:off x="4667250" y="3971925"/>
            <a:ext cx="2476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38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938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T₃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7A19CED0-14EF-43EC-B074-6C21123861BD}"/>
              </a:ext>
            </a:extLst>
          </p:cNvPr>
          <p:cNvSpPr>
            <a:spLocks noGrp="1"/>
          </p:cNvSpPr>
          <p:nvPr/>
        </p:nvSpPr>
        <p:spPr>
          <a:xfrm>
            <a:off x="828675" y="4371975"/>
            <a:ext cx="47815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1125" b="1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局所センサだけでは内部温度、遅れ、未知発熱を直接観測できない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651BB750-94C6-40B0-889B-9AC2B7EF0710}"/>
              </a:ext>
            </a:extLst>
          </p:cNvPr>
          <p:cNvSpPr>
            <a:spLocks noGrp="1"/>
          </p:cNvSpPr>
          <p:nvPr/>
        </p:nvSpPr>
        <p:spPr>
          <a:xfrm>
            <a:off x="6343650" y="1362075"/>
            <a:ext cx="266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(b)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8452A9D8-EB5D-422C-875D-80AFB73F0423}"/>
              </a:ext>
            </a:extLst>
          </p:cNvPr>
          <p:cNvSpPr>
            <a:spLocks noGrp="1"/>
          </p:cNvSpPr>
          <p:nvPr/>
        </p:nvSpPr>
        <p:spPr>
          <a:xfrm>
            <a:off x="6638925" y="1362075"/>
            <a:ext cx="5000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判断に使う時間尺度</a:t>
            </a:r>
          </a:p>
        </p:txBody>
      </p:sp>
      <p:sp>
        <p:nvSpPr>
          <p:cNvPr id="37" name="直線コネクタ 36">
            <a:extLst>
              <a:ext uri="{FF2B5EF4-FFF2-40B4-BE49-F238E27FC236}">
                <a16:creationId xmlns:a16="http://schemas.microsoft.com/office/drawing/2014/main" id="{D97AFD19-019C-44D3-A517-366AF56D21BD}"/>
              </a:ext>
            </a:extLst>
          </p:cNvPr>
          <p:cNvSpPr>
            <a:spLocks noGrp="1"/>
          </p:cNvSpPr>
          <p:nvPr/>
        </p:nvSpPr>
        <p:spPr>
          <a:xfrm>
            <a:off x="6705600" y="2543175"/>
            <a:ext cx="4400550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</p:sp>
      <p:sp>
        <p:nvSpPr>
          <p:cNvPr id="38" name="直線コネクタ 37">
            <a:extLst>
              <a:ext uri="{FF2B5EF4-FFF2-40B4-BE49-F238E27FC236}">
                <a16:creationId xmlns:a16="http://schemas.microsoft.com/office/drawing/2014/main" id="{3C5ADB11-673F-4D0E-BB21-49FB2EADEE93}"/>
              </a:ext>
            </a:extLst>
          </p:cNvPr>
          <p:cNvSpPr>
            <a:spLocks noGrp="1"/>
          </p:cNvSpPr>
          <p:nvPr/>
        </p:nvSpPr>
        <p:spPr>
          <a:xfrm>
            <a:off x="6867525" y="2371725"/>
            <a:ext cx="0" cy="352425"/>
          </a:xfrm>
          <a:prstGeom prst="line">
            <a:avLst/>
          </a:prstGeom>
          <a:noFill/>
          <a:ln w="28575">
            <a:solidFill>
              <a:srgbClr val="76BE18"/>
            </a:solidFill>
            <a:prstDash val="solid"/>
          </a:ln>
        </p:spPr>
      </p:sp>
      <p:sp>
        <p:nvSpPr>
          <p:cNvPr id="39" name="楕円 38">
            <a:extLst>
              <a:ext uri="{FF2B5EF4-FFF2-40B4-BE49-F238E27FC236}">
                <a16:creationId xmlns:a16="http://schemas.microsoft.com/office/drawing/2014/main" id="{2B7FA7F1-8A41-41EE-B162-3629C08CC32D}"/>
              </a:ext>
            </a:extLst>
          </p:cNvPr>
          <p:cNvSpPr>
            <a:spLocks noGrp="1"/>
          </p:cNvSpPr>
          <p:nvPr/>
        </p:nvSpPr>
        <p:spPr>
          <a:xfrm>
            <a:off x="6800850" y="2476500"/>
            <a:ext cx="133350" cy="133350"/>
          </a:xfrm>
          <a:prstGeom prst="ellipse">
            <a:avLst/>
          </a:prstGeom>
          <a:solidFill>
            <a:srgbClr val="76BE18"/>
          </a:solidFill>
          <a:ln w="0">
            <a:noFill/>
            <a:prstDash val="solid"/>
          </a:ln>
        </p:spPr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DAC9D301-0305-4B37-BBF2-BD4D7D1F49FA}"/>
              </a:ext>
            </a:extLst>
          </p:cNvPr>
          <p:cNvSpPr>
            <a:spLocks noGrp="1"/>
          </p:cNvSpPr>
          <p:nvPr/>
        </p:nvSpPr>
        <p:spPr>
          <a:xfrm>
            <a:off x="6200775" y="2047875"/>
            <a:ext cx="1333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1500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1–2 s</a:t>
            </a: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58245865-03F2-4E31-8531-8932A26CC36B}"/>
              </a:ext>
            </a:extLst>
          </p:cNvPr>
          <p:cNvSpPr>
            <a:spLocks noGrp="1"/>
          </p:cNvSpPr>
          <p:nvPr/>
        </p:nvSpPr>
        <p:spPr>
          <a:xfrm>
            <a:off x="6067425" y="2371725"/>
            <a:ext cx="16002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monitor更新</a:t>
            </a: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E4A7637C-94CE-4EEF-8F99-9CDD49C33186}"/>
              </a:ext>
            </a:extLst>
          </p:cNvPr>
          <p:cNvSpPr>
            <a:spLocks noGrp="1"/>
          </p:cNvSpPr>
          <p:nvPr/>
        </p:nvSpPr>
        <p:spPr>
          <a:xfrm>
            <a:off x="6010275" y="26289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因果的な状態・bias更新</a:t>
            </a:r>
          </a:p>
        </p:txBody>
      </p:sp>
      <p:sp>
        <p:nvSpPr>
          <p:cNvPr id="43" name="直線コネクタ 42">
            <a:extLst>
              <a:ext uri="{FF2B5EF4-FFF2-40B4-BE49-F238E27FC236}">
                <a16:creationId xmlns:a16="http://schemas.microsoft.com/office/drawing/2014/main" id="{F29FC7C6-F963-45E2-BA58-1CD555916ADC}"/>
              </a:ext>
            </a:extLst>
          </p:cNvPr>
          <p:cNvSpPr>
            <a:spLocks noGrp="1"/>
          </p:cNvSpPr>
          <p:nvPr/>
        </p:nvSpPr>
        <p:spPr>
          <a:xfrm>
            <a:off x="8429625" y="2371725"/>
            <a:ext cx="0" cy="352425"/>
          </a:xfrm>
          <a:prstGeom prst="line">
            <a:avLst/>
          </a:prstGeom>
          <a:noFill/>
          <a:ln w="28575">
            <a:solidFill>
              <a:srgbClr val="00A5D8"/>
            </a:solidFill>
            <a:prstDash val="solid"/>
          </a:ln>
        </p:spPr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98A13BD6-93A1-40B0-A90F-44DBAB7FB00F}"/>
              </a:ext>
            </a:extLst>
          </p:cNvPr>
          <p:cNvSpPr>
            <a:spLocks noGrp="1"/>
          </p:cNvSpPr>
          <p:nvPr/>
        </p:nvSpPr>
        <p:spPr>
          <a:xfrm>
            <a:off x="8362950" y="2476500"/>
            <a:ext cx="133350" cy="133350"/>
          </a:xfrm>
          <a:prstGeom prst="ellipse">
            <a:avLst/>
          </a:prstGeom>
          <a:solidFill>
            <a:srgbClr val="00A5D8"/>
          </a:solidFill>
          <a:ln w="0">
            <a:noFill/>
            <a:prstDash val="solid"/>
          </a:ln>
        </p:spPr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5FBEE4C-D55D-4F5F-B6AC-565658C5FCD6}"/>
              </a:ext>
            </a:extLst>
          </p:cNvPr>
          <p:cNvSpPr>
            <a:spLocks noGrp="1"/>
          </p:cNvSpPr>
          <p:nvPr/>
        </p:nvSpPr>
        <p:spPr>
          <a:xfrm>
            <a:off x="7762875" y="2943225"/>
            <a:ext cx="1333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1500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180–600 s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8D4C8989-8791-462D-B9DB-B8EACA49D4F3}"/>
              </a:ext>
            </a:extLst>
          </p:cNvPr>
          <p:cNvSpPr>
            <a:spLocks noGrp="1"/>
          </p:cNvSpPr>
          <p:nvPr/>
        </p:nvSpPr>
        <p:spPr>
          <a:xfrm>
            <a:off x="7629525" y="3267075"/>
            <a:ext cx="16002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過渡recipe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A00A3486-67A3-47BD-914E-6A584791FDD8}"/>
              </a:ext>
            </a:extLst>
          </p:cNvPr>
          <p:cNvSpPr>
            <a:spLocks noGrp="1"/>
          </p:cNvSpPr>
          <p:nvPr/>
        </p:nvSpPr>
        <p:spPr>
          <a:xfrm>
            <a:off x="7572375" y="35242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forecast / fault event</a:t>
            </a:r>
          </a:p>
        </p:txBody>
      </p:sp>
      <p:sp>
        <p:nvSpPr>
          <p:cNvPr id="48" name="直線コネクタ 47">
            <a:extLst>
              <a:ext uri="{FF2B5EF4-FFF2-40B4-BE49-F238E27FC236}">
                <a16:creationId xmlns:a16="http://schemas.microsoft.com/office/drawing/2014/main" id="{4D6D4ED3-3AE0-42C1-99EB-AD39006A422F}"/>
              </a:ext>
            </a:extLst>
          </p:cNvPr>
          <p:cNvSpPr>
            <a:spLocks noGrp="1"/>
          </p:cNvSpPr>
          <p:nvPr/>
        </p:nvSpPr>
        <p:spPr>
          <a:xfrm>
            <a:off x="10010775" y="2371725"/>
            <a:ext cx="0" cy="352425"/>
          </a:xfrm>
          <a:prstGeom prst="line">
            <a:avLst/>
          </a:prstGeom>
          <a:noFill/>
          <a:ln w="28575">
            <a:solidFill>
              <a:srgbClr val="7B2DAF"/>
            </a:solidFill>
            <a:prstDash val="solid"/>
          </a:ln>
        </p:spPr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044A04B4-5B0E-490D-91B0-5395B1EBBD8E}"/>
              </a:ext>
            </a:extLst>
          </p:cNvPr>
          <p:cNvSpPr>
            <a:spLocks noGrp="1"/>
          </p:cNvSpPr>
          <p:nvPr/>
        </p:nvSpPr>
        <p:spPr>
          <a:xfrm>
            <a:off x="9944100" y="2476500"/>
            <a:ext cx="133350" cy="133350"/>
          </a:xfrm>
          <a:prstGeom prst="ellipse">
            <a:avLst/>
          </a:prstGeom>
          <a:solidFill>
            <a:srgbClr val="7B2DAF"/>
          </a:solidFill>
          <a:ln w="0">
            <a:noFill/>
            <a:prstDash val="solid"/>
          </a:ln>
        </p:spPr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FD5A3DA-DDCB-407F-B053-217C3AE07F29}"/>
              </a:ext>
            </a:extLst>
          </p:cNvPr>
          <p:cNvSpPr>
            <a:spLocks noGrp="1"/>
          </p:cNvSpPr>
          <p:nvPr/>
        </p:nvSpPr>
        <p:spPr>
          <a:xfrm>
            <a:off x="9344025" y="1819275"/>
            <a:ext cx="1333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1500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492–3,950 s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FC7F0E8C-3E77-4EDF-B003-7B1D383357DE}"/>
              </a:ext>
            </a:extLst>
          </p:cNvPr>
          <p:cNvSpPr>
            <a:spLocks noGrp="1"/>
          </p:cNvSpPr>
          <p:nvPr/>
        </p:nvSpPr>
        <p:spPr>
          <a:xfrm>
            <a:off x="9210675" y="2143125"/>
            <a:ext cx="16002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局所mesh solve</a:t>
            </a: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FCCCAB48-C86F-44B8-8F08-5D8F5485D1E5}"/>
              </a:ext>
            </a:extLst>
          </p:cNvPr>
          <p:cNvSpPr>
            <a:spLocks noGrp="1"/>
          </p:cNvSpPr>
          <p:nvPr/>
        </p:nvSpPr>
        <p:spPr>
          <a:xfrm>
            <a:off x="9153525" y="24003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定常2ケースの実績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5CD87C75-04A2-4680-859C-0C29B052209E}"/>
              </a:ext>
            </a:extLst>
          </p:cNvPr>
          <p:cNvSpPr>
            <a:spLocks noGrp="1"/>
          </p:cNvSpPr>
          <p:nvPr/>
        </p:nvSpPr>
        <p:spPr>
          <a:xfrm>
            <a:off x="6343650" y="4076700"/>
            <a:ext cx="5295900" cy="914400"/>
          </a:xfrm>
          <a:prstGeom prst="rect">
            <a:avLst/>
          </a:prstGeom>
          <a:solidFill>
            <a:srgbClr val="201445"/>
          </a:solidFill>
          <a:ln w="0">
            <a:noFill/>
            <a:prstDash val="solid"/>
          </a:ln>
        </p:spPr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C6A7E302-7B66-4C2B-B3BE-9A8C1227E0D1}"/>
              </a:ext>
            </a:extLst>
          </p:cNvPr>
          <p:cNvSpPr>
            <a:spLocks noGrp="1"/>
          </p:cNvSpPr>
          <p:nvPr/>
        </p:nvSpPr>
        <p:spPr>
          <a:xfrm>
            <a:off x="6581775" y="4248150"/>
            <a:ext cx="1714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共通の低次元状態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1D6321D5-B3A2-4134-9D13-80396E4C65A3}"/>
              </a:ext>
            </a:extLst>
          </p:cNvPr>
          <p:cNvSpPr>
            <a:spLocks noGrp="1"/>
          </p:cNvSpPr>
          <p:nvPr/>
        </p:nvSpPr>
        <p:spPr>
          <a:xfrm>
            <a:off x="6581775" y="45339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CAE・実測を同じ熱収支へ写像し、予測と監視へ渡す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FD49796A-3A7D-41C6-B4A3-FB06453508ED}"/>
              </a:ext>
            </a:extLst>
          </p:cNvPr>
          <p:cNvSpPr>
            <a:spLocks noGrp="1"/>
          </p:cNvSpPr>
          <p:nvPr/>
        </p:nvSpPr>
        <p:spPr>
          <a:xfrm>
            <a:off x="552450" y="5248275"/>
            <a:ext cx="23241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第三者が確認すべき問い</a:t>
            </a:r>
          </a:p>
        </p:txBody>
      </p:sp>
      <p:sp>
        <p:nvSpPr>
          <p:cNvPr id="57" name="直線コネクタ 56">
            <a:extLst>
              <a:ext uri="{FF2B5EF4-FFF2-40B4-BE49-F238E27FC236}">
                <a16:creationId xmlns:a16="http://schemas.microsoft.com/office/drawing/2014/main" id="{A42565C8-32DD-43A1-8C34-5829D54CFF54}"/>
              </a:ext>
            </a:extLst>
          </p:cNvPr>
          <p:cNvSpPr>
            <a:spLocks noGrp="1"/>
          </p:cNvSpPr>
          <p:nvPr/>
        </p:nvSpPr>
        <p:spPr>
          <a:xfrm>
            <a:off x="552450" y="5619750"/>
            <a:ext cx="3505200" cy="0"/>
          </a:xfrm>
          <a:prstGeom prst="line">
            <a:avLst/>
          </a:prstGeom>
          <a:noFill/>
          <a:ln w="38100">
            <a:solidFill>
              <a:srgbClr val="00A5D8"/>
            </a:solidFill>
            <a:prstDash val="solid"/>
          </a:ln>
        </p:spPr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16303114-775D-4A44-84C0-53AAF48117AD}"/>
              </a:ext>
            </a:extLst>
          </p:cNvPr>
          <p:cNvSpPr>
            <a:spLocks noGrp="1"/>
          </p:cNvSpPr>
          <p:nvPr/>
        </p:nvSpPr>
        <p:spPr>
          <a:xfrm>
            <a:off x="552450" y="5705475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温度予測</a:t>
            </a: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B4111508-60CD-454C-8AD0-9839A49BD6B8}"/>
              </a:ext>
            </a:extLst>
          </p:cNvPr>
          <p:cNvSpPr>
            <a:spLocks noGrp="1"/>
          </p:cNvSpPr>
          <p:nvPr/>
        </p:nvSpPr>
        <p:spPr>
          <a:xfrm>
            <a:off x="1733550" y="5705475"/>
            <a:ext cx="23241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未学習recipeでも誤差が増えないか</a:t>
            </a:r>
          </a:p>
        </p:txBody>
      </p:sp>
      <p:sp>
        <p:nvSpPr>
          <p:cNvPr id="60" name="直線コネクタ 59">
            <a:extLst>
              <a:ext uri="{FF2B5EF4-FFF2-40B4-BE49-F238E27FC236}">
                <a16:creationId xmlns:a16="http://schemas.microsoft.com/office/drawing/2014/main" id="{A8F7EDBA-E6DC-4FF7-8A05-0801516133B6}"/>
              </a:ext>
            </a:extLst>
          </p:cNvPr>
          <p:cNvSpPr>
            <a:spLocks noGrp="1"/>
          </p:cNvSpPr>
          <p:nvPr/>
        </p:nvSpPr>
        <p:spPr>
          <a:xfrm>
            <a:off x="4248150" y="5619750"/>
            <a:ext cx="3505200" cy="0"/>
          </a:xfrm>
          <a:prstGeom prst="line">
            <a:avLst/>
          </a:prstGeom>
          <a:noFill/>
          <a:ln w="38100">
            <a:solidFill>
              <a:srgbClr val="76BE18"/>
            </a:solidFill>
            <a:prstDash val="solid"/>
          </a:ln>
        </p:spPr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E32F4877-1D3D-4566-B0F6-7FAAFC18CFDB}"/>
              </a:ext>
            </a:extLst>
          </p:cNvPr>
          <p:cNvSpPr>
            <a:spLocks noGrp="1"/>
          </p:cNvSpPr>
          <p:nvPr/>
        </p:nvSpPr>
        <p:spPr>
          <a:xfrm>
            <a:off x="4248150" y="5705475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異常診断</a:t>
            </a:r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A730AE37-072D-452D-BDFD-C660A42EA5C7}"/>
              </a:ext>
            </a:extLst>
          </p:cNvPr>
          <p:cNvSpPr>
            <a:spLocks noGrp="1"/>
          </p:cNvSpPr>
          <p:nvPr/>
        </p:nvSpPr>
        <p:spPr>
          <a:xfrm>
            <a:off x="5429250" y="5705475"/>
            <a:ext cx="23241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sensorずれと実発熱を分離できるか</a:t>
            </a:r>
          </a:p>
        </p:txBody>
      </p:sp>
      <p:sp>
        <p:nvSpPr>
          <p:cNvPr id="63" name="直線コネクタ 62">
            <a:extLst>
              <a:ext uri="{FF2B5EF4-FFF2-40B4-BE49-F238E27FC236}">
                <a16:creationId xmlns:a16="http://schemas.microsoft.com/office/drawing/2014/main" id="{B0FDDF91-9745-4F97-88C6-BFF79E7540ED}"/>
              </a:ext>
            </a:extLst>
          </p:cNvPr>
          <p:cNvSpPr>
            <a:spLocks noGrp="1"/>
          </p:cNvSpPr>
          <p:nvPr/>
        </p:nvSpPr>
        <p:spPr>
          <a:xfrm>
            <a:off x="7943850" y="5619750"/>
            <a:ext cx="3505200" cy="0"/>
          </a:xfrm>
          <a:prstGeom prst="line">
            <a:avLst/>
          </a:prstGeom>
          <a:noFill/>
          <a:ln w="38100">
            <a:solidFill>
              <a:srgbClr val="7B2DAF"/>
            </a:solidFill>
            <a:prstDash val="solid"/>
          </a:ln>
        </p:spPr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7624BCA-D9B5-480D-B7AA-80F534576001}"/>
              </a:ext>
            </a:extLst>
          </p:cNvPr>
          <p:cNvSpPr>
            <a:spLocks noGrp="1"/>
          </p:cNvSpPr>
          <p:nvPr/>
        </p:nvSpPr>
        <p:spPr>
          <a:xfrm>
            <a:off x="7943850" y="5705475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物理妥当性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E3B79174-2972-47A7-974C-3A3E0A1EE967}"/>
              </a:ext>
            </a:extLst>
          </p:cNvPr>
          <p:cNvSpPr>
            <a:spLocks noGrp="1"/>
          </p:cNvSpPr>
          <p:nvPr/>
        </p:nvSpPr>
        <p:spPr>
          <a:xfrm>
            <a:off x="9124950" y="5705475"/>
            <a:ext cx="23241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 fontScale="96788"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mesh・放射・hotspot差を隠していないか</a:t>
            </a:r>
          </a:p>
        </p:txBody>
      </p:sp>
    </p:spTree>
    <p:extLst>
      <p:ext uri="{BB962C8B-B14F-4D97-AF65-F5344CB8AC3E}">
        <p14:creationId xmlns:p14="http://schemas.microsoft.com/office/powerpoint/2010/main" val="1372020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885F4BA8-99BE-4AF3-9B07-04B014FA0D5D}"/>
              </a:ext>
            </a:extLst>
          </p:cNvPr>
          <p:cNvSpPr>
            <a:spLocks noGrp="1"/>
          </p:cNvSpPr>
          <p:nvPr/>
        </p:nvSpPr>
        <p:spPr>
          <a:xfrm>
            <a:off x="552450" y="190500"/>
            <a:ext cx="76200" cy="142875"/>
          </a:xfrm>
          <a:prstGeom prst="rect">
            <a:avLst/>
          </a:prstGeom>
          <a:solidFill>
            <a:srgbClr val="76BE18"/>
          </a:solidFill>
          <a:ln w="0">
            <a:noFill/>
            <a:prstDash val="solid"/>
          </a:ln>
        </p:spPr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DE0851C-FDD2-40BB-B1FC-17AAF1C223A2}"/>
              </a:ext>
            </a:extLst>
          </p:cNvPr>
          <p:cNvSpPr>
            <a:spLocks noGrp="1"/>
          </p:cNvSpPr>
          <p:nvPr/>
        </p:nvSpPr>
        <p:spPr>
          <a:xfrm>
            <a:off x="704850" y="161925"/>
            <a:ext cx="409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CODE ARCHITECTURE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3D40E42-46E1-49B0-B1AF-922FD6495904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1087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19050" tIns="0" rIns="1905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コードの処理構成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481E684-B00A-4633-B8C3-F16F08B94F24}"/>
              </a:ext>
            </a:extLst>
          </p:cNvPr>
          <p:cNvSpPr>
            <a:spLocks noGrp="1"/>
          </p:cNvSpPr>
          <p:nvPr/>
        </p:nvSpPr>
        <p:spPr>
          <a:xfrm>
            <a:off x="571500" y="838200"/>
            <a:ext cx="10934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データ契約、物理engine、学習、推論を分離し、同じartifactをforecastとmonitorで共有する</a:t>
            </a:r>
          </a:p>
        </p:txBody>
      </p:sp>
      <p:sp>
        <p:nvSpPr>
          <p:cNvPr id="5" name="直線コネクタ 4">
            <a:extLst>
              <a:ext uri="{FF2B5EF4-FFF2-40B4-BE49-F238E27FC236}">
                <a16:creationId xmlns:a16="http://schemas.microsoft.com/office/drawing/2014/main" id="{A3EADA99-384A-471C-A3E8-039D507E9B82}"/>
              </a:ext>
            </a:extLst>
          </p:cNvPr>
          <p:cNvSpPr>
            <a:spLocks noGrp="1"/>
          </p:cNvSpPr>
          <p:nvPr/>
        </p:nvSpPr>
        <p:spPr>
          <a:xfrm>
            <a:off x="552450" y="1152525"/>
            <a:ext cx="1108710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6" name="直線コネクタ 5">
            <a:extLst>
              <a:ext uri="{FF2B5EF4-FFF2-40B4-BE49-F238E27FC236}">
                <a16:creationId xmlns:a16="http://schemas.microsoft.com/office/drawing/2014/main" id="{DEF88BF4-6DC0-49A4-B674-5F4168DA7CC1}"/>
              </a:ext>
            </a:extLst>
          </p:cNvPr>
          <p:cNvSpPr>
            <a:spLocks noGrp="1"/>
          </p:cNvSpPr>
          <p:nvPr/>
        </p:nvSpPr>
        <p:spPr>
          <a:xfrm>
            <a:off x="552450" y="6438900"/>
            <a:ext cx="1108710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FF9D606-F44F-4A62-AA24-7FBA6B333B8D}"/>
              </a:ext>
            </a:extLst>
          </p:cNvPr>
          <p:cNvSpPr>
            <a:spLocks noGrp="1"/>
          </p:cNvSpPr>
          <p:nvPr/>
        </p:nvSpPr>
        <p:spPr>
          <a:xfrm>
            <a:off x="571500" y="650557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CELL / BENCHMARK REVIEW  ·  2026-09-28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ABDEA4A-258A-4F63-A54F-8A0DA62469CF}"/>
              </a:ext>
            </a:extLst>
          </p:cNvPr>
          <p:cNvSpPr>
            <a:spLocks noGrp="1"/>
          </p:cNvSpPr>
          <p:nvPr/>
        </p:nvSpPr>
        <p:spPr>
          <a:xfrm>
            <a:off x="11125200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Autofit/>
          </a:bodyPr>
          <a:lstStyle/>
          <a:p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2AB6C5-16B0-4144-8721-F6D28052B325}"/>
              </a:ext>
            </a:extLst>
          </p:cNvPr>
          <p:cNvSpPr>
            <a:spLocks noGrp="1"/>
          </p:cNvSpPr>
          <p:nvPr/>
        </p:nvSpPr>
        <p:spPr>
          <a:xfrm>
            <a:off x="552450" y="1381125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OFFLINE  同定と検証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5C94DB5-4D19-4F6B-BBDB-EA9CBBFE8126}"/>
              </a:ext>
            </a:extLst>
          </p:cNvPr>
          <p:cNvSpPr>
            <a:spLocks noGrp="1"/>
          </p:cNvSpPr>
          <p:nvPr/>
        </p:nvSpPr>
        <p:spPr>
          <a:xfrm>
            <a:off x="552450" y="1781175"/>
            <a:ext cx="18097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D3D3D3"/>
            </a:solidFill>
            <a:prstDash val="solid"/>
          </a:ln>
        </p:spPr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3F1585F-ECD4-4721-81FA-DC7A5047DFFB}"/>
              </a:ext>
            </a:extLst>
          </p:cNvPr>
          <p:cNvSpPr>
            <a:spLocks noGrp="1"/>
          </p:cNvSpPr>
          <p:nvPr/>
        </p:nvSpPr>
        <p:spPr>
          <a:xfrm>
            <a:off x="552450" y="1781175"/>
            <a:ext cx="1809750" cy="66675"/>
          </a:xfrm>
          <a:prstGeom prst="rect">
            <a:avLst/>
          </a:prstGeom>
          <a:solidFill>
            <a:srgbClr val="00A89D"/>
          </a:solidFill>
          <a:ln w="0">
            <a:noFill/>
            <a:prstDash val="solid"/>
          </a:ln>
        </p:spPr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C8EFB3B-8482-4DE0-9806-C6C8503EC859}"/>
              </a:ext>
            </a:extLst>
          </p:cNvPr>
          <p:cNvSpPr>
            <a:spLocks noGrp="1"/>
          </p:cNvSpPr>
          <p:nvPr/>
        </p:nvSpPr>
        <p:spPr>
          <a:xfrm>
            <a:off x="685800" y="1971675"/>
            <a:ext cx="1543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CSV / YAML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DB9CA85-B523-4F5C-A502-3048E5032A5F}"/>
              </a:ext>
            </a:extLst>
          </p:cNvPr>
          <p:cNvSpPr>
            <a:spLocks noGrp="1"/>
          </p:cNvSpPr>
          <p:nvPr/>
        </p:nvSpPr>
        <p:spPr>
          <a:xfrm>
            <a:off x="685800" y="2286000"/>
            <a:ext cx="1543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863" b="0" i="0">
                <a:solidFill>
                  <a:srgbClr val="00A89D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00A89D"/>
                </a:solidFill>
                <a:latin typeface="Yu Gothic"/>
                <a:ea typeface="Yu Gothic"/>
                <a:cs typeface="Yu Gothic"/>
              </a:rPr>
              <a:t>io/  config.py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DC8A17A-44C0-4814-A3F8-1243B98AF201}"/>
              </a:ext>
            </a:extLst>
          </p:cNvPr>
          <p:cNvSpPr>
            <a:spLocks noGrp="1"/>
          </p:cNvSpPr>
          <p:nvPr/>
        </p:nvSpPr>
        <p:spPr>
          <a:xfrm>
            <a:off x="2667000" y="1781175"/>
            <a:ext cx="18097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D3D3D3"/>
            </a:solidFill>
            <a:prstDash val="solid"/>
          </a:ln>
        </p:spPr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2E064AF-11A0-4E29-9F6A-F235F2116ADA}"/>
              </a:ext>
            </a:extLst>
          </p:cNvPr>
          <p:cNvSpPr>
            <a:spLocks noGrp="1"/>
          </p:cNvSpPr>
          <p:nvPr/>
        </p:nvSpPr>
        <p:spPr>
          <a:xfrm>
            <a:off x="2667000" y="1781175"/>
            <a:ext cx="1809750" cy="66675"/>
          </a:xfrm>
          <a:prstGeom prst="rect">
            <a:avLst/>
          </a:prstGeom>
          <a:solidFill>
            <a:srgbClr val="007FA8"/>
          </a:solidFill>
          <a:ln w="0">
            <a:noFill/>
            <a:prstDash val="solid"/>
          </a:ln>
        </p:spPr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936A061-D9C9-44A8-9B0E-FC91D3D6FDAB}"/>
              </a:ext>
            </a:extLst>
          </p:cNvPr>
          <p:cNvSpPr>
            <a:spLocks noGrp="1"/>
          </p:cNvSpPr>
          <p:nvPr/>
        </p:nvSpPr>
        <p:spPr>
          <a:xfrm>
            <a:off x="2800350" y="1971675"/>
            <a:ext cx="1543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契約検証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A8B42D9-D6CB-4197-90E1-4037A469E6E2}"/>
              </a:ext>
            </a:extLst>
          </p:cNvPr>
          <p:cNvSpPr>
            <a:spLocks noGrp="1"/>
          </p:cNvSpPr>
          <p:nvPr/>
        </p:nvSpPr>
        <p:spPr>
          <a:xfrm>
            <a:off x="2800350" y="2286000"/>
            <a:ext cx="1543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863" b="0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domain/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DD442F6-9AD0-49F5-860B-162257535310}"/>
              </a:ext>
            </a:extLst>
          </p:cNvPr>
          <p:cNvSpPr>
            <a:spLocks noGrp="1"/>
          </p:cNvSpPr>
          <p:nvPr/>
        </p:nvSpPr>
        <p:spPr>
          <a:xfrm>
            <a:off x="4781550" y="1781175"/>
            <a:ext cx="18097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D3D3D3"/>
            </a:solidFill>
            <a:prstDash val="solid"/>
          </a:ln>
        </p:spPr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210C1283-40B0-4D04-82C3-84BDFAD35A57}"/>
              </a:ext>
            </a:extLst>
          </p:cNvPr>
          <p:cNvSpPr>
            <a:spLocks noGrp="1"/>
          </p:cNvSpPr>
          <p:nvPr/>
        </p:nvSpPr>
        <p:spPr>
          <a:xfrm>
            <a:off x="4781550" y="1781175"/>
            <a:ext cx="1809750" cy="66675"/>
          </a:xfrm>
          <a:prstGeom prst="rect">
            <a:avLst/>
          </a:prstGeom>
          <a:solidFill>
            <a:srgbClr val="4D8710"/>
          </a:solidFill>
          <a:ln w="0">
            <a:noFill/>
            <a:prstDash val="solid"/>
          </a:ln>
        </p:spPr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234A7902-E4AA-41A5-9D47-546A175D1A3C}"/>
              </a:ext>
            </a:extLst>
          </p:cNvPr>
          <p:cNvSpPr>
            <a:spLocks noGrp="1"/>
          </p:cNvSpPr>
          <p:nvPr/>
        </p:nvSpPr>
        <p:spPr>
          <a:xfrm>
            <a:off x="4914900" y="1971675"/>
            <a:ext cx="1543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熱RC積分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E39E50B-7606-4433-8610-F4E49E627153}"/>
              </a:ext>
            </a:extLst>
          </p:cNvPr>
          <p:cNvSpPr>
            <a:spLocks noGrp="1"/>
          </p:cNvSpPr>
          <p:nvPr/>
        </p:nvSpPr>
        <p:spPr>
          <a:xfrm>
            <a:off x="4914900" y="2286000"/>
            <a:ext cx="1543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863" b="0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engine/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5F522E3-2E34-47C3-B9CE-9632EDD19F90}"/>
              </a:ext>
            </a:extLst>
          </p:cNvPr>
          <p:cNvSpPr>
            <a:spLocks noGrp="1"/>
          </p:cNvSpPr>
          <p:nvPr/>
        </p:nvSpPr>
        <p:spPr>
          <a:xfrm>
            <a:off x="6896100" y="1781175"/>
            <a:ext cx="18097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D3D3D3"/>
            </a:solidFill>
            <a:prstDash val="solid"/>
          </a:ln>
        </p:spPr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649B2537-9F97-4962-AD6C-146730DE5539}"/>
              </a:ext>
            </a:extLst>
          </p:cNvPr>
          <p:cNvSpPr>
            <a:spLocks noGrp="1"/>
          </p:cNvSpPr>
          <p:nvPr/>
        </p:nvSpPr>
        <p:spPr>
          <a:xfrm>
            <a:off x="6896100" y="1781175"/>
            <a:ext cx="1809750" cy="66675"/>
          </a:xfrm>
          <a:prstGeom prst="rect">
            <a:avLst/>
          </a:prstGeom>
          <a:solidFill>
            <a:srgbClr val="7B2DAF"/>
          </a:solidFill>
          <a:ln w="0">
            <a:noFill/>
            <a:prstDash val="solid"/>
          </a:ln>
        </p:spPr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1FB83B37-0B5F-418A-8B75-4794F9044E9E}"/>
              </a:ext>
            </a:extLst>
          </p:cNvPr>
          <p:cNvSpPr>
            <a:spLocks noGrp="1"/>
          </p:cNvSpPr>
          <p:nvPr/>
        </p:nvSpPr>
        <p:spPr>
          <a:xfrm>
            <a:off x="7029450" y="1971675"/>
            <a:ext cx="1543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robust同定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23074AF1-0180-40DB-808D-AC5E4C080F11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1543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863" b="0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learning/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DD459DEC-4822-4EF8-8193-AE92A711D356}"/>
              </a:ext>
            </a:extLst>
          </p:cNvPr>
          <p:cNvSpPr>
            <a:spLocks noGrp="1"/>
          </p:cNvSpPr>
          <p:nvPr/>
        </p:nvSpPr>
        <p:spPr>
          <a:xfrm>
            <a:off x="9010650" y="1781175"/>
            <a:ext cx="262890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D3D3D3"/>
            </a:solidFill>
            <a:prstDash val="solid"/>
          </a:ln>
        </p:spPr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D1F0BA40-AB44-436D-90C9-39E4CE52EAA2}"/>
              </a:ext>
            </a:extLst>
          </p:cNvPr>
          <p:cNvSpPr>
            <a:spLocks noGrp="1"/>
          </p:cNvSpPr>
          <p:nvPr/>
        </p:nvSpPr>
        <p:spPr>
          <a:xfrm>
            <a:off x="9010650" y="1781175"/>
            <a:ext cx="2628900" cy="66675"/>
          </a:xfrm>
          <a:prstGeom prst="rect">
            <a:avLst/>
          </a:prstGeom>
          <a:solidFill>
            <a:srgbClr val="8A6500"/>
          </a:solidFill>
          <a:ln w="0">
            <a:noFill/>
            <a:prstDash val="solid"/>
          </a:ln>
        </p:spPr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F630E326-E7FC-437A-BFF5-D74824B7E7EC}"/>
              </a:ext>
            </a:extLst>
          </p:cNvPr>
          <p:cNvSpPr>
            <a:spLocks noGrp="1"/>
          </p:cNvSpPr>
          <p:nvPr/>
        </p:nvSpPr>
        <p:spPr>
          <a:xfrm>
            <a:off x="9144000" y="1971675"/>
            <a:ext cx="2362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配備artifact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8C472EC-5D2B-46B7-9C81-C7EDCCC49973}"/>
              </a:ext>
            </a:extLst>
          </p:cNvPr>
          <p:cNvSpPr>
            <a:spLocks noGrp="1"/>
          </p:cNvSpPr>
          <p:nvPr/>
        </p:nvSpPr>
        <p:spPr>
          <a:xfrm>
            <a:off x="9144000" y="2286000"/>
            <a:ext cx="2362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863" b="0" i="0">
                <a:solidFill>
                  <a:srgbClr val="8A6500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8A6500"/>
                </a:solidFill>
                <a:latin typeface="Yu Gothic"/>
                <a:ea typeface="Yu Gothic"/>
                <a:cs typeface="Yu Gothic"/>
              </a:rPr>
              <a:t>model.pt  metadata.json</a:t>
            </a:r>
          </a:p>
        </p:txBody>
      </p:sp>
      <p:cxnSp>
        <p:nvCxnSpPr>
          <p:cNvPr id="83" name="直線矢印コネクタ 82"/>
          <p:cNvCxnSpPr>
            <a:stCxn id="10" idx="3"/>
            <a:endCxn id="14" idx="1"/>
          </p:cNvCxnSpPr>
          <p:nvPr/>
        </p:nvCxnSpPr>
        <p:spPr>
          <a:xfrm>
            <a:off x="2362200" y="2228850"/>
            <a:ext cx="304800" cy="0"/>
          </a:xfrm>
          <a:prstGeom prst="straightConnector1">
            <a:avLst/>
          </a:prstGeom>
          <a:ln w="19050">
            <a:solidFill>
              <a:srgbClr val="007FA8"/>
            </a:solidFill>
            <a:prstDash val="solid"/>
            <a:tailEnd type="triangle" w="sm" len="sm"/>
          </a:ln>
        </p:spPr>
      </p:cxnSp>
      <p:cxnSp>
        <p:nvCxnSpPr>
          <p:cNvPr id="84" name="直線矢印コネクタ 83"/>
          <p:cNvCxnSpPr>
            <a:stCxn id="14" idx="3"/>
            <a:endCxn id="18" idx="1"/>
          </p:cNvCxnSpPr>
          <p:nvPr/>
        </p:nvCxnSpPr>
        <p:spPr>
          <a:xfrm>
            <a:off x="4476750" y="2228850"/>
            <a:ext cx="304800" cy="0"/>
          </a:xfrm>
          <a:prstGeom prst="straightConnector1">
            <a:avLst/>
          </a:prstGeom>
          <a:ln w="19050">
            <a:solidFill>
              <a:srgbClr val="007FA8"/>
            </a:solidFill>
            <a:prstDash val="solid"/>
            <a:tailEnd type="triangle" w="sm" len="sm"/>
          </a:ln>
        </p:spPr>
      </p:cxnSp>
      <p:cxnSp>
        <p:nvCxnSpPr>
          <p:cNvPr id="85" name="直線矢印コネクタ 84"/>
          <p:cNvCxnSpPr>
            <a:stCxn id="18" idx="3"/>
            <a:endCxn id="22" idx="1"/>
          </p:cNvCxnSpPr>
          <p:nvPr/>
        </p:nvCxnSpPr>
        <p:spPr>
          <a:xfrm>
            <a:off x="6591300" y="2228850"/>
            <a:ext cx="304800" cy="0"/>
          </a:xfrm>
          <a:prstGeom prst="straightConnector1">
            <a:avLst/>
          </a:prstGeom>
          <a:ln w="19050">
            <a:solidFill>
              <a:srgbClr val="007FA8"/>
            </a:solidFill>
            <a:prstDash val="solid"/>
            <a:tailEnd type="triangle" w="sm" len="sm"/>
          </a:ln>
        </p:spPr>
      </p:cxnSp>
      <p:cxnSp>
        <p:nvCxnSpPr>
          <p:cNvPr id="86" name="直線矢印コネクタ 85"/>
          <p:cNvCxnSpPr>
            <a:stCxn id="22" idx="3"/>
            <a:endCxn id="26" idx="1"/>
          </p:cNvCxnSpPr>
          <p:nvPr/>
        </p:nvCxnSpPr>
        <p:spPr>
          <a:xfrm>
            <a:off x="8705850" y="2228850"/>
            <a:ext cx="304800" cy="0"/>
          </a:xfrm>
          <a:prstGeom prst="straightConnector1">
            <a:avLst/>
          </a:prstGeom>
          <a:ln w="19050">
            <a:solidFill>
              <a:srgbClr val="007FA8"/>
            </a:solidFill>
            <a:prstDash val="solid"/>
            <a:tailEnd type="triangle" w="sm" len="sm"/>
          </a:ln>
        </p:spPr>
      </p:cxn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5B5F49A0-9F10-4DCA-A442-EA876E848C70}"/>
              </a:ext>
            </a:extLst>
          </p:cNvPr>
          <p:cNvSpPr>
            <a:spLocks noGrp="1"/>
          </p:cNvSpPr>
          <p:nvPr/>
        </p:nvSpPr>
        <p:spPr>
          <a:xfrm>
            <a:off x="4781550" y="2943225"/>
            <a:ext cx="3924300" cy="628650"/>
          </a:xfrm>
          <a:prstGeom prst="rect">
            <a:avLst/>
          </a:prstGeom>
          <a:solidFill>
            <a:srgbClr val="201445"/>
          </a:solidFill>
          <a:ln w="0">
            <a:noFill/>
            <a:prstDash val="solid"/>
          </a:ln>
        </p:spPr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BDCFBCF2-7151-4FD2-8467-123908443641}"/>
              </a:ext>
            </a:extLst>
          </p:cNvPr>
          <p:cNvSpPr>
            <a:spLocks noGrp="1"/>
          </p:cNvSpPr>
          <p:nvPr/>
        </p:nvSpPr>
        <p:spPr>
          <a:xfrm>
            <a:off x="4981575" y="3057525"/>
            <a:ext cx="3524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1500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C Ṫ = −L(u)T + q(u) + Gᵦ[T∞(u) − T]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8797BA36-41EC-4724-B81B-2B967796ADC6}"/>
              </a:ext>
            </a:extLst>
          </p:cNvPr>
          <p:cNvSpPr>
            <a:spLocks noGrp="1"/>
          </p:cNvSpPr>
          <p:nvPr/>
        </p:nvSpPr>
        <p:spPr>
          <a:xfrm>
            <a:off x="8839200" y="3019425"/>
            <a:ext cx="2800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1013" b="1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正値化した係数をcase-balanced Huber lossで同定</a:t>
            </a: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30AF3585-5966-47EE-85CE-CC33B55ABEF2}"/>
              </a:ext>
            </a:extLst>
          </p:cNvPr>
          <p:cNvSpPr>
            <a:spLocks noGrp="1"/>
          </p:cNvSpPr>
          <p:nvPr/>
        </p:nvSpPr>
        <p:spPr>
          <a:xfrm>
            <a:off x="552450" y="38862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ONLINE  同じartifactを2つの因果workflowで使用</a:t>
            </a: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B5A618ED-A25B-4953-9C60-98E0A1B05F09}"/>
              </a:ext>
            </a:extLst>
          </p:cNvPr>
          <p:cNvSpPr>
            <a:spLocks noGrp="1"/>
          </p:cNvSpPr>
          <p:nvPr/>
        </p:nvSpPr>
        <p:spPr>
          <a:xfrm>
            <a:off x="552450" y="4352925"/>
            <a:ext cx="2019300" cy="1162050"/>
          </a:xfrm>
          <a:prstGeom prst="rect">
            <a:avLst/>
          </a:prstGeom>
          <a:solidFill>
            <a:srgbClr val="FFF5D7"/>
          </a:solidFill>
          <a:ln w="19050">
            <a:solidFill>
              <a:srgbClr val="E5A900"/>
            </a:solidFill>
            <a:prstDash val="solid"/>
          </a:ln>
        </p:spPr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ECD55F42-7F19-467B-B427-94CA7A8BAF18}"/>
              </a:ext>
            </a:extLst>
          </p:cNvPr>
          <p:cNvSpPr>
            <a:spLocks noGrp="1"/>
          </p:cNvSpPr>
          <p:nvPr/>
        </p:nvSpPr>
        <p:spPr>
          <a:xfrm>
            <a:off x="781050" y="4505325"/>
            <a:ext cx="1562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8A6500"/>
                </a:solidFill>
                <a:latin typeface="Yu Gothic"/>
                <a:ea typeface="Yu Gothic"/>
                <a:cs typeface="Yu Gothic"/>
              </a:defRPr>
            </a:pPr>
            <a:r>
              <a:rPr sz="1425" b="1" i="0">
                <a:solidFill>
                  <a:srgbClr val="8A6500"/>
                </a:solidFill>
                <a:latin typeface="Yu Gothic"/>
                <a:ea typeface="Yu Gothic"/>
                <a:cs typeface="Yu Gothic"/>
              </a:rPr>
              <a:t>artifact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24FDD533-A54E-4FA0-B83F-68288CA343E7}"/>
              </a:ext>
            </a:extLst>
          </p:cNvPr>
          <p:cNvSpPr>
            <a:spLocks noGrp="1"/>
          </p:cNvSpPr>
          <p:nvPr/>
        </p:nvSpPr>
        <p:spPr>
          <a:xfrm>
            <a:off x="781050" y="4829175"/>
            <a:ext cx="156210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12000"/>
              </a:lnSpc>
              <a:buNone/>
              <a:def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topology</a:t>
            </a:r>
          </a:p>
          <a:p>
            <a:pPr algn="ctr">
              <a:lnSpc>
                <a:spcPct val="112000"/>
              </a:lnSpc>
              <a:buNone/>
              <a:def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係数・単位</a:t>
            </a:r>
          </a:p>
          <a:p>
            <a:pPr algn="ctr">
              <a:lnSpc>
                <a:spcPct val="112000"/>
              </a:lnSpc>
              <a:buNone/>
              <a:def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schema / hash</a:t>
            </a: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15A54768-6CB0-4B54-BC64-4F07FAB438F8}"/>
              </a:ext>
            </a:extLst>
          </p:cNvPr>
          <p:cNvSpPr>
            <a:spLocks noGrp="1"/>
          </p:cNvSpPr>
          <p:nvPr/>
        </p:nvSpPr>
        <p:spPr>
          <a:xfrm>
            <a:off x="3381375" y="4219575"/>
            <a:ext cx="3429000" cy="1438275"/>
          </a:xfrm>
          <a:prstGeom prst="rect">
            <a:avLst/>
          </a:prstGeom>
          <a:solidFill>
            <a:srgbClr val="E5F6FB"/>
          </a:solidFill>
          <a:ln w="19050">
            <a:solidFill>
              <a:srgbClr val="00A5D8"/>
            </a:solidFill>
            <a:prstDash val="solid"/>
          </a:ln>
        </p:spPr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8A4AA386-1484-45F5-847F-43E27497196F}"/>
              </a:ext>
            </a:extLst>
          </p:cNvPr>
          <p:cNvSpPr>
            <a:spLocks noGrp="1"/>
          </p:cNvSpPr>
          <p:nvPr/>
        </p:nvSpPr>
        <p:spPr>
          <a:xfrm>
            <a:off x="3619500" y="440055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1425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forecast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CF535A22-E3F0-48A6-B905-FA5CEE0044F0}"/>
              </a:ext>
            </a:extLst>
          </p:cNvPr>
          <p:cNvSpPr>
            <a:spLocks noGrp="1"/>
          </p:cNvSpPr>
          <p:nvPr/>
        </p:nvSpPr>
        <p:spPr>
          <a:xfrm>
            <a:off x="3619500" y="4733925"/>
            <a:ext cx="29146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088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history同化  |  open-loop積分</a:t>
            </a: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461C1CAC-1C5E-4136-B677-06D87064D3D5}"/>
              </a:ext>
            </a:extLst>
          </p:cNvPr>
          <p:cNvSpPr>
            <a:spLocks noGrp="1"/>
          </p:cNvSpPr>
          <p:nvPr/>
        </p:nvSpPr>
        <p:spPr>
          <a:xfrm>
            <a:off x="3619500" y="5095875"/>
            <a:ext cx="29146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将来温度・状態共分散・OOD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286ACE62-F436-4CE6-8313-83BBF1E47714}"/>
              </a:ext>
            </a:extLst>
          </p:cNvPr>
          <p:cNvSpPr>
            <a:spLocks noGrp="1"/>
          </p:cNvSpPr>
          <p:nvPr/>
        </p:nvSpPr>
        <p:spPr>
          <a:xfrm>
            <a:off x="7591425" y="4219575"/>
            <a:ext cx="4048125" cy="1438275"/>
          </a:xfrm>
          <a:prstGeom prst="rect">
            <a:avLst/>
          </a:prstGeom>
          <a:solidFill>
            <a:srgbClr val="EEF7DF"/>
          </a:solidFill>
          <a:ln w="19050">
            <a:solidFill>
              <a:srgbClr val="76BE18"/>
            </a:solidFill>
            <a:prstDash val="solid"/>
          </a:ln>
        </p:spPr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C1B9223D-BC26-4A24-8FF2-A97081E1365E}"/>
              </a:ext>
            </a:extLst>
          </p:cNvPr>
          <p:cNvSpPr>
            <a:spLocks noGrp="1"/>
          </p:cNvSpPr>
          <p:nvPr/>
        </p:nvSpPr>
        <p:spPr>
          <a:xfrm>
            <a:off x="7829550" y="440055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1425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monitor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37B78822-3D7A-411A-B075-338BFD14D9F2}"/>
              </a:ext>
            </a:extLst>
          </p:cNvPr>
          <p:cNvSpPr>
            <a:spLocks noGrp="1"/>
          </p:cNvSpPr>
          <p:nvPr/>
        </p:nvSpPr>
        <p:spPr>
          <a:xfrm>
            <a:off x="7829550" y="4733925"/>
            <a:ext cx="3543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088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predict  |  innovation  |  update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CB73E6B-9BC3-43BD-89B8-9884688766E9}"/>
              </a:ext>
            </a:extLst>
          </p:cNvPr>
          <p:cNvSpPr>
            <a:spLocks noGrp="1"/>
          </p:cNvSpPr>
          <p:nvPr/>
        </p:nvSpPr>
        <p:spPr>
          <a:xfrm>
            <a:off x="7829550" y="5095875"/>
            <a:ext cx="3543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物理状態・sensor bias・未知熱・NIS</a:t>
            </a:r>
          </a:p>
        </p:txBody>
      </p:sp>
      <p:cxnSp>
        <p:nvCxnSpPr>
          <p:cNvPr id="102" name="直線矢印コネクタ 101"/>
          <p:cNvCxnSpPr>
            <a:stCxn id="38" idx="3"/>
            <a:endCxn id="41" idx="1"/>
          </p:cNvCxnSpPr>
          <p:nvPr/>
        </p:nvCxnSpPr>
        <p:spPr>
          <a:xfrm>
            <a:off x="2571750" y="4933950"/>
            <a:ext cx="809625" cy="4763"/>
          </a:xfrm>
          <a:prstGeom prst="straightConnector1">
            <a:avLst/>
          </a:prstGeom>
          <a:ln w="19050">
            <a:solidFill>
              <a:srgbClr val="007FA8"/>
            </a:solidFill>
            <a:prstDash val="solid"/>
            <a:tailEnd type="triangle" w="sm" len="sm"/>
          </a:ln>
        </p:spPr>
      </p:cxnSp>
      <p:cxnSp>
        <p:nvCxnSpPr>
          <p:cNvPr id="103" name="直線矢印コネクタ 102"/>
          <p:cNvCxnSpPr>
            <a:stCxn id="41" idx="3"/>
            <a:endCxn id="45" idx="1"/>
          </p:cNvCxnSpPr>
          <p:nvPr/>
        </p:nvCxnSpPr>
        <p:spPr>
          <a:xfrm>
            <a:off x="6810375" y="4938713"/>
            <a:ext cx="781050" cy="0"/>
          </a:xfrm>
          <a:prstGeom prst="straightConnector1">
            <a:avLst/>
          </a:prstGeom>
          <a:ln w="19050">
            <a:solidFill>
              <a:srgbClr val="4D8710"/>
            </a:solidFill>
            <a:prstDash val="solid"/>
            <a:tailEnd type="triangle" w="sm" len="sm"/>
          </a:ln>
        </p:spPr>
      </p:cxnSp>
      <p:sp>
        <p:nvSpPr>
          <p:cNvPr id="51" name="直線コネクタ 50">
            <a:extLst>
              <a:ext uri="{FF2B5EF4-FFF2-40B4-BE49-F238E27FC236}">
                <a16:creationId xmlns:a16="http://schemas.microsoft.com/office/drawing/2014/main" id="{7C016C1E-8879-459F-8C2A-EA26BDAB273A}"/>
              </a:ext>
            </a:extLst>
          </p:cNvPr>
          <p:cNvSpPr>
            <a:spLocks noGrp="1"/>
          </p:cNvSpPr>
          <p:nvPr/>
        </p:nvSpPr>
        <p:spPr>
          <a:xfrm>
            <a:off x="552450" y="5962650"/>
            <a:ext cx="11087100" cy="0"/>
          </a:xfrm>
          <a:prstGeom prst="line">
            <a:avLst/>
          </a:prstGeom>
          <a:noFill/>
          <a:ln w="38100">
            <a:solidFill>
              <a:srgbClr val="201445"/>
            </a:solidFill>
            <a:prstDash val="solid"/>
          </a:ln>
        </p:spPr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A698F147-E897-49C4-82B0-D08B5CF33CED}"/>
              </a:ext>
            </a:extLst>
          </p:cNvPr>
          <p:cNvSpPr>
            <a:spLocks noGrp="1"/>
          </p:cNvSpPr>
          <p:nvPr/>
        </p:nvSpPr>
        <p:spPr>
          <a:xfrm>
            <a:off x="552450" y="6038850"/>
            <a:ext cx="990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38" b="1" i="0">
                <a:solidFill>
                  <a:srgbClr val="201445"/>
                </a:solidFill>
                <a:latin typeface="Yu Gothic"/>
                <a:ea typeface="Yu Gothic"/>
                <a:cs typeface="Yu Gothic"/>
              </a:defRPr>
            </a:pPr>
            <a:r>
              <a:rPr sz="938" b="1" i="0">
                <a:solidFill>
                  <a:srgbClr val="201445"/>
                </a:solidFill>
                <a:latin typeface="Yu Gothic"/>
                <a:ea typeface="Yu Gothic"/>
                <a:cs typeface="Yu Gothic"/>
              </a:rPr>
              <a:t>責務境界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0E8F8019-2696-4D06-B8FD-3B42ACF8A53B}"/>
              </a:ext>
            </a:extLst>
          </p:cNvPr>
          <p:cNvSpPr>
            <a:spLocks noGrp="1"/>
          </p:cNvSpPr>
          <p:nvPr/>
        </p:nvSpPr>
        <p:spPr>
          <a:xfrm>
            <a:off x="1638300" y="6019800"/>
            <a:ext cx="10001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1013" b="1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装置差は system.yaml と入力dataで表し、数値engineを装置名ごとに分岐しない</a:t>
            </a:r>
          </a:p>
        </p:txBody>
      </p:sp>
    </p:spTree>
    <p:extLst>
      <p:ext uri="{BB962C8B-B14F-4D97-AF65-F5344CB8AC3E}">
        <p14:creationId xmlns:p14="http://schemas.microsoft.com/office/powerpoint/2010/main" val="248855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3C69B5A8-F0A2-4B94-812C-F0514B6C1412}"/>
              </a:ext>
            </a:extLst>
          </p:cNvPr>
          <p:cNvSpPr>
            <a:spLocks noGrp="1"/>
          </p:cNvSpPr>
          <p:nvPr/>
        </p:nvSpPr>
        <p:spPr>
          <a:xfrm>
            <a:off x="552450" y="190500"/>
            <a:ext cx="76200" cy="142875"/>
          </a:xfrm>
          <a:prstGeom prst="rect">
            <a:avLst/>
          </a:prstGeom>
          <a:solidFill>
            <a:srgbClr val="76BE18"/>
          </a:solidFill>
          <a:ln w="0">
            <a:noFill/>
            <a:prstDash val="solid"/>
          </a:ln>
        </p:spPr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DEE65BC-101C-4C23-9598-BE516D8D6F01}"/>
              </a:ext>
            </a:extLst>
          </p:cNvPr>
          <p:cNvSpPr>
            <a:spLocks noGrp="1"/>
          </p:cNvSpPr>
          <p:nvPr/>
        </p:nvSpPr>
        <p:spPr>
          <a:xfrm>
            <a:off x="704850" y="161925"/>
            <a:ext cx="409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BENCHMARK DESIGN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679D589-FBFF-4C7E-9959-7D32BB3E333A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1087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19050" tIns="0" rIns="1905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ベンチマークの問題設定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8623017-18AF-405A-8385-CDB1E09297E0}"/>
              </a:ext>
            </a:extLst>
          </p:cNvPr>
          <p:cNvSpPr>
            <a:spLocks noGrp="1"/>
          </p:cNvSpPr>
          <p:nvPr/>
        </p:nvSpPr>
        <p:spPr>
          <a:xfrm>
            <a:off x="571500" y="838200"/>
            <a:ext cx="10934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学習データと外部評価を物理的に分離し、汎化、観測可能性、故障帰属、model gapを別ケースで測る</a:t>
            </a:r>
          </a:p>
        </p:txBody>
      </p:sp>
      <p:sp>
        <p:nvSpPr>
          <p:cNvPr id="5" name="直線コネクタ 4">
            <a:extLst>
              <a:ext uri="{FF2B5EF4-FFF2-40B4-BE49-F238E27FC236}">
                <a16:creationId xmlns:a16="http://schemas.microsoft.com/office/drawing/2014/main" id="{6AC6B833-B631-416C-82CC-EA22CD8D7D80}"/>
              </a:ext>
            </a:extLst>
          </p:cNvPr>
          <p:cNvSpPr>
            <a:spLocks noGrp="1"/>
          </p:cNvSpPr>
          <p:nvPr/>
        </p:nvSpPr>
        <p:spPr>
          <a:xfrm>
            <a:off x="552450" y="1152525"/>
            <a:ext cx="1108710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6" name="直線コネクタ 5">
            <a:extLst>
              <a:ext uri="{FF2B5EF4-FFF2-40B4-BE49-F238E27FC236}">
                <a16:creationId xmlns:a16="http://schemas.microsoft.com/office/drawing/2014/main" id="{EE038810-DB50-456D-BEF8-362E08BAF62C}"/>
              </a:ext>
            </a:extLst>
          </p:cNvPr>
          <p:cNvSpPr>
            <a:spLocks noGrp="1"/>
          </p:cNvSpPr>
          <p:nvPr/>
        </p:nvSpPr>
        <p:spPr>
          <a:xfrm>
            <a:off x="552450" y="6438900"/>
            <a:ext cx="1108710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906295D-691D-4ED7-8BB5-96A9D5BE2605}"/>
              </a:ext>
            </a:extLst>
          </p:cNvPr>
          <p:cNvSpPr>
            <a:spLocks noGrp="1"/>
          </p:cNvSpPr>
          <p:nvPr/>
        </p:nvSpPr>
        <p:spPr>
          <a:xfrm>
            <a:off x="571500" y="650557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CELL / BENCHMARK REVIEW  ·  2026-09-28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F6D82F4-D77C-4A95-B942-E25AB92799AF}"/>
              </a:ext>
            </a:extLst>
          </p:cNvPr>
          <p:cNvSpPr>
            <a:spLocks noGrp="1"/>
          </p:cNvSpPr>
          <p:nvPr/>
        </p:nvSpPr>
        <p:spPr>
          <a:xfrm>
            <a:off x="11125200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Autofit/>
          </a:bodyPr>
          <a:lstStyle/>
          <a:p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001316D-BF0D-41C0-A480-0F4128A99093}"/>
              </a:ext>
            </a:extLst>
          </p:cNvPr>
          <p:cNvSpPr>
            <a:spLocks noGrp="1"/>
          </p:cNvSpPr>
          <p:nvPr/>
        </p:nvSpPr>
        <p:spPr>
          <a:xfrm>
            <a:off x="552450" y="1362075"/>
            <a:ext cx="266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(a)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E92F6FE-B32F-4953-BCEF-E6A36DEABA0C}"/>
              </a:ext>
            </a:extLst>
          </p:cNvPr>
          <p:cNvSpPr>
            <a:spLocks noGrp="1"/>
          </p:cNvSpPr>
          <p:nvPr/>
        </p:nvSpPr>
        <p:spPr>
          <a:xfrm>
            <a:off x="847725" y="1362075"/>
            <a:ext cx="52292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4-node熱回路と観測式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41BB32C-3942-4474-9AF8-167E1180F5FD}"/>
              </a:ext>
            </a:extLst>
          </p:cNvPr>
          <p:cNvSpPr>
            <a:spLocks noGrp="1"/>
          </p:cNvSpPr>
          <p:nvPr/>
        </p:nvSpPr>
        <p:spPr>
          <a:xfrm>
            <a:off x="552450" y="1695450"/>
            <a:ext cx="5524500" cy="2562225"/>
          </a:xfrm>
          <a:prstGeom prst="rect">
            <a:avLst/>
          </a:prstGeom>
          <a:solidFill>
            <a:srgbClr val="F7F7F7"/>
          </a:solidFill>
          <a:ln w="9525">
            <a:solidFill>
              <a:srgbClr val="D3D3D3"/>
            </a:solidFill>
            <a:prstDash val="solid"/>
          </a:ln>
        </p:spPr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1E5F1506-3EBE-429B-A028-C611AFBC4161}"/>
              </a:ext>
            </a:extLst>
          </p:cNvPr>
          <p:cNvSpPr>
            <a:spLocks noGrp="1"/>
          </p:cNvSpPr>
          <p:nvPr/>
        </p:nvSpPr>
        <p:spPr>
          <a:xfrm>
            <a:off x="942975" y="2428875"/>
            <a:ext cx="704850" cy="704850"/>
          </a:xfrm>
          <a:prstGeom prst="ellipse">
            <a:avLst/>
          </a:prstGeom>
          <a:solidFill>
            <a:srgbClr val="FBE9E7"/>
          </a:solidFill>
          <a:ln w="19050">
            <a:solidFill>
              <a:srgbClr val="C4493D"/>
            </a:solidFill>
            <a:prstDash val="solid"/>
          </a:ln>
        </p:spPr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3353F4E-D968-4935-996B-A28BF8FDDE9A}"/>
              </a:ext>
            </a:extLst>
          </p:cNvPr>
          <p:cNvSpPr>
            <a:spLocks noGrp="1"/>
          </p:cNvSpPr>
          <p:nvPr/>
        </p:nvSpPr>
        <p:spPr>
          <a:xfrm>
            <a:off x="1028700" y="2505075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C4493D"/>
                </a:solidFill>
                <a:latin typeface="Cambria Math"/>
                <a:ea typeface="Cambria Math"/>
                <a:cs typeface="Cambria Math"/>
              </a:defRPr>
            </a:pPr>
            <a:r>
              <a:rPr sz="1350" b="1" i="0">
                <a:solidFill>
                  <a:srgbClr val="C4493D"/>
                </a:solidFill>
                <a:latin typeface="Cambria Math"/>
                <a:ea typeface="Cambria Math"/>
                <a:cs typeface="Cambria Math"/>
              </a:rPr>
              <a:t>T₁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57D002D-E0D4-4542-8FFC-EA12D06FC7CE}"/>
              </a:ext>
            </a:extLst>
          </p:cNvPr>
          <p:cNvSpPr>
            <a:spLocks noGrp="1"/>
          </p:cNvSpPr>
          <p:nvPr/>
        </p:nvSpPr>
        <p:spPr>
          <a:xfrm>
            <a:off x="981075" y="2800350"/>
            <a:ext cx="628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788" b="1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788" b="1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CP</a:t>
            </a:r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F702A54E-1387-4095-9A75-AEFBAC8C0535}"/>
              </a:ext>
            </a:extLst>
          </p:cNvPr>
          <p:cNvSpPr>
            <a:spLocks noGrp="1"/>
          </p:cNvSpPr>
          <p:nvPr/>
        </p:nvSpPr>
        <p:spPr>
          <a:xfrm>
            <a:off x="2247900" y="2428875"/>
            <a:ext cx="704850" cy="704850"/>
          </a:xfrm>
          <a:prstGeom prst="ellipse">
            <a:avLst/>
          </a:prstGeom>
          <a:solidFill>
            <a:srgbClr val="E5F6FB"/>
          </a:solidFill>
          <a:ln w="19050">
            <a:solidFill>
              <a:srgbClr val="007FA8"/>
            </a:solidFill>
            <a:prstDash val="solid"/>
          </a:ln>
        </p:spPr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48D5832-8FDB-4491-B0C9-26365A7824A9}"/>
              </a:ext>
            </a:extLst>
          </p:cNvPr>
          <p:cNvSpPr>
            <a:spLocks noGrp="1"/>
          </p:cNvSpPr>
          <p:nvPr/>
        </p:nvSpPr>
        <p:spPr>
          <a:xfrm>
            <a:off x="2333625" y="2505075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007FA8"/>
                </a:solidFill>
                <a:latin typeface="Cambria Math"/>
                <a:ea typeface="Cambria Math"/>
                <a:cs typeface="Cambria Math"/>
              </a:defRPr>
            </a:pPr>
            <a:r>
              <a:rPr sz="1350" b="1" i="0">
                <a:solidFill>
                  <a:srgbClr val="007FA8"/>
                </a:solidFill>
                <a:latin typeface="Cambria Math"/>
                <a:ea typeface="Cambria Math"/>
                <a:cs typeface="Cambria Math"/>
              </a:rPr>
              <a:t>T₂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017A509-0F4E-4F61-A90A-E50F6902272A}"/>
              </a:ext>
            </a:extLst>
          </p:cNvPr>
          <p:cNvSpPr>
            <a:spLocks noGrp="1"/>
          </p:cNvSpPr>
          <p:nvPr/>
        </p:nvSpPr>
        <p:spPr>
          <a:xfrm>
            <a:off x="2286000" y="2800350"/>
            <a:ext cx="628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788" b="1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788" b="1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Center</a:t>
            </a:r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3A81CD84-A421-4F20-91BB-7CD89C59938E}"/>
              </a:ext>
            </a:extLst>
          </p:cNvPr>
          <p:cNvSpPr>
            <a:spLocks noGrp="1"/>
          </p:cNvSpPr>
          <p:nvPr/>
        </p:nvSpPr>
        <p:spPr>
          <a:xfrm>
            <a:off x="3552825" y="2428875"/>
            <a:ext cx="704850" cy="704850"/>
          </a:xfrm>
          <a:prstGeom prst="ellipse">
            <a:avLst/>
          </a:prstGeom>
          <a:solidFill>
            <a:srgbClr val="EEF7DF"/>
          </a:solidFill>
          <a:ln w="19050">
            <a:solidFill>
              <a:srgbClr val="4D8710"/>
            </a:solidFill>
            <a:prstDash val="solid"/>
          </a:ln>
        </p:spPr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3E2274E-8295-46F8-A168-9717583BA4BE}"/>
              </a:ext>
            </a:extLst>
          </p:cNvPr>
          <p:cNvSpPr>
            <a:spLocks noGrp="1"/>
          </p:cNvSpPr>
          <p:nvPr/>
        </p:nvSpPr>
        <p:spPr>
          <a:xfrm>
            <a:off x="3638550" y="2505075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4D8710"/>
                </a:solidFill>
                <a:latin typeface="Cambria Math"/>
                <a:ea typeface="Cambria Math"/>
                <a:cs typeface="Cambria Math"/>
              </a:defRPr>
            </a:pPr>
            <a:r>
              <a:rPr sz="1350" b="1" i="0">
                <a:solidFill>
                  <a:srgbClr val="4D8710"/>
                </a:solidFill>
                <a:latin typeface="Cambria Math"/>
                <a:ea typeface="Cambria Math"/>
                <a:cs typeface="Cambria Math"/>
              </a:rPr>
              <a:t>T₃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B0CD039-FC15-471E-A7BE-895F53C092C0}"/>
              </a:ext>
            </a:extLst>
          </p:cNvPr>
          <p:cNvSpPr>
            <a:spLocks noGrp="1"/>
          </p:cNvSpPr>
          <p:nvPr/>
        </p:nvSpPr>
        <p:spPr>
          <a:xfrm>
            <a:off x="3590925" y="2800350"/>
            <a:ext cx="628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788" b="1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788" b="1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middle</a:t>
            </a:r>
          </a:p>
        </p:txBody>
      </p:sp>
      <p:sp>
        <p:nvSpPr>
          <p:cNvPr id="21" name="楕円 20">
            <a:extLst>
              <a:ext uri="{FF2B5EF4-FFF2-40B4-BE49-F238E27FC236}">
                <a16:creationId xmlns:a16="http://schemas.microsoft.com/office/drawing/2014/main" id="{1097B867-3185-4592-B52D-032310B7BCF3}"/>
              </a:ext>
            </a:extLst>
          </p:cNvPr>
          <p:cNvSpPr>
            <a:spLocks noGrp="1"/>
          </p:cNvSpPr>
          <p:nvPr/>
        </p:nvSpPr>
        <p:spPr>
          <a:xfrm>
            <a:off x="4857750" y="2428875"/>
            <a:ext cx="704850" cy="704850"/>
          </a:xfrm>
          <a:prstGeom prst="ellipse">
            <a:avLst/>
          </a:prstGeom>
          <a:solidFill>
            <a:srgbClr val="EFE5F6"/>
          </a:solidFill>
          <a:ln w="19050">
            <a:solidFill>
              <a:srgbClr val="7B2DAF"/>
            </a:solidFill>
            <a:prstDash val="solid"/>
          </a:ln>
        </p:spPr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BA6AE51-DBC2-465F-80CB-B8468B464A29}"/>
              </a:ext>
            </a:extLst>
          </p:cNvPr>
          <p:cNvSpPr>
            <a:spLocks noGrp="1"/>
          </p:cNvSpPr>
          <p:nvPr/>
        </p:nvSpPr>
        <p:spPr>
          <a:xfrm>
            <a:off x="4943475" y="2505075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7B2DAF"/>
                </a:solidFill>
                <a:latin typeface="Cambria Math"/>
                <a:ea typeface="Cambria Math"/>
                <a:cs typeface="Cambria Math"/>
              </a:defRPr>
            </a:pPr>
            <a:r>
              <a:rPr sz="1350" b="1" i="0">
                <a:solidFill>
                  <a:srgbClr val="7B2DAF"/>
                </a:solidFill>
                <a:latin typeface="Cambria Math"/>
                <a:ea typeface="Cambria Math"/>
                <a:cs typeface="Cambria Math"/>
              </a:rPr>
              <a:t>T₄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DEF0109D-3468-492E-A046-F2A76A05FB21}"/>
              </a:ext>
            </a:extLst>
          </p:cNvPr>
          <p:cNvSpPr>
            <a:spLocks noGrp="1"/>
          </p:cNvSpPr>
          <p:nvPr/>
        </p:nvSpPr>
        <p:spPr>
          <a:xfrm>
            <a:off x="4895850" y="2800350"/>
            <a:ext cx="628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788" b="1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788" b="1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edge</a:t>
            </a:r>
          </a:p>
        </p:txBody>
      </p:sp>
      <p:cxnSp>
        <p:nvCxnSpPr>
          <p:cNvPr id="100" name="直線矢印コネクタ 99"/>
          <p:cNvCxnSpPr>
            <a:stCxn id="12" idx="6"/>
            <a:endCxn id="15" idx="2"/>
          </p:cNvCxnSpPr>
          <p:nvPr/>
        </p:nvCxnSpPr>
        <p:spPr>
          <a:xfrm>
            <a:off x="1647825" y="2781300"/>
            <a:ext cx="600075" cy="0"/>
          </a:xfrm>
          <a:prstGeom prst="straightConnector1">
            <a:avLst/>
          </a:prstGeom>
          <a:ln w="19050">
            <a:solidFill>
              <a:srgbClr val="333333"/>
            </a:solidFill>
            <a:prstDash val="solid"/>
          </a:ln>
        </p:spPr>
      </p:cxnSp>
      <p:cxnSp>
        <p:nvCxnSpPr>
          <p:cNvPr id="101" name="直線矢印コネクタ 100"/>
          <p:cNvCxnSpPr>
            <a:stCxn id="15" idx="6"/>
            <a:endCxn id="18" idx="2"/>
          </p:cNvCxnSpPr>
          <p:nvPr/>
        </p:nvCxnSpPr>
        <p:spPr>
          <a:xfrm>
            <a:off x="2952750" y="2781300"/>
            <a:ext cx="600075" cy="0"/>
          </a:xfrm>
          <a:prstGeom prst="straightConnector1">
            <a:avLst/>
          </a:prstGeom>
          <a:ln w="19050">
            <a:solidFill>
              <a:srgbClr val="333333"/>
            </a:solidFill>
            <a:prstDash val="solid"/>
          </a:ln>
        </p:spPr>
      </p:cxnSp>
      <p:cxnSp>
        <p:nvCxnSpPr>
          <p:cNvPr id="102" name="直線矢印コネクタ 101"/>
          <p:cNvCxnSpPr>
            <a:stCxn id="18" idx="6"/>
            <a:endCxn id="21" idx="2"/>
          </p:cNvCxnSpPr>
          <p:nvPr/>
        </p:nvCxnSpPr>
        <p:spPr>
          <a:xfrm>
            <a:off x="4257675" y="2781300"/>
            <a:ext cx="600075" cy="0"/>
          </a:xfrm>
          <a:prstGeom prst="straightConnector1">
            <a:avLst/>
          </a:prstGeom>
          <a:ln w="19050">
            <a:solidFill>
              <a:srgbClr val="333333"/>
            </a:solidFill>
            <a:prstDash val="solid"/>
          </a:ln>
        </p:spPr>
      </p:cxnSp>
      <p:sp>
        <p:nvSpPr>
          <p:cNvPr id="27" name="直線コネクタ 26">
            <a:extLst>
              <a:ext uri="{FF2B5EF4-FFF2-40B4-BE49-F238E27FC236}">
                <a16:creationId xmlns:a16="http://schemas.microsoft.com/office/drawing/2014/main" id="{1FD1A307-55FF-4667-A208-DD52FD430E8E}"/>
              </a:ext>
            </a:extLst>
          </p:cNvPr>
          <p:cNvSpPr>
            <a:spLocks noGrp="1"/>
          </p:cNvSpPr>
          <p:nvPr/>
        </p:nvSpPr>
        <p:spPr>
          <a:xfrm>
            <a:off x="1647825" y="2781300"/>
            <a:ext cx="600075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1C4CD84E-B0A4-4347-AC1F-665796168C80}"/>
              </a:ext>
            </a:extLst>
          </p:cNvPr>
          <p:cNvSpPr>
            <a:spLocks noGrp="1"/>
          </p:cNvSpPr>
          <p:nvPr/>
        </p:nvSpPr>
        <p:spPr>
          <a:xfrm>
            <a:off x="1724025" y="2524125"/>
            <a:ext cx="447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Cambria Math"/>
                <a:ea typeface="Cambria Math"/>
                <a:cs typeface="Cambria Math"/>
              </a:defRPr>
            </a:pPr>
            <a:r>
              <a:rPr sz="788" b="0" i="0">
                <a:solidFill>
                  <a:srgbClr val="777777"/>
                </a:solidFill>
                <a:latin typeface="Cambria Math"/>
                <a:ea typeface="Cambria Math"/>
                <a:cs typeface="Cambria Math"/>
              </a:rPr>
              <a:t>G₁₂</a:t>
            </a:r>
          </a:p>
        </p:txBody>
      </p:sp>
      <p:sp>
        <p:nvSpPr>
          <p:cNvPr id="29" name="直線コネクタ 28">
            <a:extLst>
              <a:ext uri="{FF2B5EF4-FFF2-40B4-BE49-F238E27FC236}">
                <a16:creationId xmlns:a16="http://schemas.microsoft.com/office/drawing/2014/main" id="{BD16258A-0258-4CCE-AE9F-7DA680C0B533}"/>
              </a:ext>
            </a:extLst>
          </p:cNvPr>
          <p:cNvSpPr>
            <a:spLocks noGrp="1"/>
          </p:cNvSpPr>
          <p:nvPr/>
        </p:nvSpPr>
        <p:spPr>
          <a:xfrm>
            <a:off x="2952750" y="2781300"/>
            <a:ext cx="600075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490F83F-E339-45F9-96E9-97CDF4C30311}"/>
              </a:ext>
            </a:extLst>
          </p:cNvPr>
          <p:cNvSpPr>
            <a:spLocks noGrp="1"/>
          </p:cNvSpPr>
          <p:nvPr/>
        </p:nvSpPr>
        <p:spPr>
          <a:xfrm>
            <a:off x="3028950" y="2524125"/>
            <a:ext cx="447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Cambria Math"/>
                <a:ea typeface="Cambria Math"/>
                <a:cs typeface="Cambria Math"/>
              </a:defRPr>
            </a:pPr>
            <a:r>
              <a:rPr sz="788" b="0" i="0">
                <a:solidFill>
                  <a:srgbClr val="777777"/>
                </a:solidFill>
                <a:latin typeface="Cambria Math"/>
                <a:ea typeface="Cambria Math"/>
                <a:cs typeface="Cambria Math"/>
              </a:rPr>
              <a:t>G₂₃</a:t>
            </a:r>
          </a:p>
        </p:txBody>
      </p:sp>
      <p:sp>
        <p:nvSpPr>
          <p:cNvPr id="31" name="直線コネクタ 30">
            <a:extLst>
              <a:ext uri="{FF2B5EF4-FFF2-40B4-BE49-F238E27FC236}">
                <a16:creationId xmlns:a16="http://schemas.microsoft.com/office/drawing/2014/main" id="{871E02AA-1247-4279-AB50-0F6A4A6816AA}"/>
              </a:ext>
            </a:extLst>
          </p:cNvPr>
          <p:cNvSpPr>
            <a:spLocks noGrp="1"/>
          </p:cNvSpPr>
          <p:nvPr/>
        </p:nvSpPr>
        <p:spPr>
          <a:xfrm>
            <a:off x="4257675" y="2781300"/>
            <a:ext cx="600075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57266126-3C43-49A5-B78B-870D891F7DD2}"/>
              </a:ext>
            </a:extLst>
          </p:cNvPr>
          <p:cNvSpPr>
            <a:spLocks noGrp="1"/>
          </p:cNvSpPr>
          <p:nvPr/>
        </p:nvSpPr>
        <p:spPr>
          <a:xfrm>
            <a:off x="4333875" y="2524125"/>
            <a:ext cx="447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Cambria Math"/>
                <a:ea typeface="Cambria Math"/>
                <a:cs typeface="Cambria Math"/>
              </a:defRPr>
            </a:pPr>
            <a:r>
              <a:rPr sz="788" b="0" i="0">
                <a:solidFill>
                  <a:srgbClr val="777777"/>
                </a:solidFill>
                <a:latin typeface="Cambria Math"/>
                <a:ea typeface="Cambria Math"/>
                <a:cs typeface="Cambria Math"/>
              </a:rPr>
              <a:t>G₃₄</a:t>
            </a:r>
          </a:p>
        </p:txBody>
      </p:sp>
      <p:sp>
        <p:nvSpPr>
          <p:cNvPr id="33" name="直線コネクタ 32">
            <a:extLst>
              <a:ext uri="{FF2B5EF4-FFF2-40B4-BE49-F238E27FC236}">
                <a16:creationId xmlns:a16="http://schemas.microsoft.com/office/drawing/2014/main" id="{BD7F40E5-B455-4DCA-9D41-207B95E49C11}"/>
              </a:ext>
            </a:extLst>
          </p:cNvPr>
          <p:cNvSpPr>
            <a:spLocks noGrp="1"/>
          </p:cNvSpPr>
          <p:nvPr/>
        </p:nvSpPr>
        <p:spPr>
          <a:xfrm>
            <a:off x="2600325" y="1943100"/>
            <a:ext cx="0" cy="485775"/>
          </a:xfrm>
          <a:prstGeom prst="line">
            <a:avLst/>
          </a:prstGeom>
          <a:noFill/>
          <a:ln w="28575">
            <a:solidFill>
              <a:srgbClr val="E5A900"/>
            </a:solidFill>
            <a:prstDash val="solid"/>
          </a:ln>
        </p:spPr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72B0B737-84C1-483E-9EFF-B4875CE88C90}"/>
              </a:ext>
            </a:extLst>
          </p:cNvPr>
          <p:cNvSpPr>
            <a:spLocks noGrp="1"/>
          </p:cNvSpPr>
          <p:nvPr/>
        </p:nvSpPr>
        <p:spPr>
          <a:xfrm>
            <a:off x="2295525" y="1762125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8A6500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8A6500"/>
                </a:solidFill>
                <a:latin typeface="Yu Gothic"/>
                <a:ea typeface="Yu Gothic"/>
                <a:cs typeface="Yu Gothic"/>
              </a:rPr>
              <a:t>heater</a:t>
            </a:r>
          </a:p>
        </p:txBody>
      </p:sp>
      <p:sp>
        <p:nvSpPr>
          <p:cNvPr id="35" name="直線コネクタ 34">
            <a:extLst>
              <a:ext uri="{FF2B5EF4-FFF2-40B4-BE49-F238E27FC236}">
                <a16:creationId xmlns:a16="http://schemas.microsoft.com/office/drawing/2014/main" id="{198337CA-3E25-4558-B34D-10D94F3543E0}"/>
              </a:ext>
            </a:extLst>
          </p:cNvPr>
          <p:cNvSpPr>
            <a:spLocks noGrp="1"/>
          </p:cNvSpPr>
          <p:nvPr/>
        </p:nvSpPr>
        <p:spPr>
          <a:xfrm>
            <a:off x="1295400" y="1943100"/>
            <a:ext cx="0" cy="485775"/>
          </a:xfrm>
          <a:prstGeom prst="line">
            <a:avLst/>
          </a:prstGeom>
          <a:noFill/>
          <a:ln w="28575">
            <a:solidFill>
              <a:srgbClr val="7B2DAF"/>
            </a:solidFill>
            <a:prstDash val="solid"/>
          </a:ln>
        </p:spPr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93DDB66E-B5F8-4B71-B955-A03CC6FFB8BD}"/>
              </a:ext>
            </a:extLst>
          </p:cNvPr>
          <p:cNvSpPr>
            <a:spLocks noGrp="1"/>
          </p:cNvSpPr>
          <p:nvPr/>
        </p:nvSpPr>
        <p:spPr>
          <a:xfrm>
            <a:off x="952500" y="1762125"/>
            <a:ext cx="685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plasma</a:t>
            </a:r>
          </a:p>
        </p:txBody>
      </p:sp>
      <p:sp>
        <p:nvSpPr>
          <p:cNvPr id="37" name="直線コネクタ 36">
            <a:extLst>
              <a:ext uri="{FF2B5EF4-FFF2-40B4-BE49-F238E27FC236}">
                <a16:creationId xmlns:a16="http://schemas.microsoft.com/office/drawing/2014/main" id="{409F9737-5186-4A0B-9207-61B400AF3608}"/>
              </a:ext>
            </a:extLst>
          </p:cNvPr>
          <p:cNvSpPr>
            <a:spLocks noGrp="1"/>
          </p:cNvSpPr>
          <p:nvPr/>
        </p:nvSpPr>
        <p:spPr>
          <a:xfrm>
            <a:off x="5210175" y="3133725"/>
            <a:ext cx="0" cy="457200"/>
          </a:xfrm>
          <a:prstGeom prst="line">
            <a:avLst/>
          </a:prstGeom>
          <a:noFill/>
          <a:ln w="28575">
            <a:solidFill>
              <a:srgbClr val="00A89D"/>
            </a:solidFill>
            <a:prstDash val="solid"/>
          </a:ln>
        </p:spPr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AE1B5F3A-D3C5-40FF-A218-88D634D392A6}"/>
              </a:ext>
            </a:extLst>
          </p:cNvPr>
          <p:cNvSpPr>
            <a:spLocks noGrp="1"/>
          </p:cNvSpPr>
          <p:nvPr/>
        </p:nvSpPr>
        <p:spPr>
          <a:xfrm>
            <a:off x="4876800" y="3648075"/>
            <a:ext cx="66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9D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00A89D"/>
                </a:solidFill>
                <a:latin typeface="Yu Gothic"/>
                <a:ea typeface="Yu Gothic"/>
                <a:cs typeface="Yu Gothic"/>
              </a:rPr>
              <a:t>brine</a:t>
            </a: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45FBC15E-7A54-4916-972E-B8C7B2E2AC11}"/>
              </a:ext>
            </a:extLst>
          </p:cNvPr>
          <p:cNvSpPr>
            <a:spLocks noGrp="1"/>
          </p:cNvSpPr>
          <p:nvPr/>
        </p:nvSpPr>
        <p:spPr>
          <a:xfrm>
            <a:off x="876300" y="3562350"/>
            <a:ext cx="2590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201445"/>
                </a:solidFill>
                <a:latin typeface="Cambria Math"/>
                <a:ea typeface="Cambria Math"/>
                <a:cs typeface="Cambria Math"/>
              </a:defRPr>
            </a:pPr>
            <a:r>
              <a:rPr sz="1575" b="1" i="0">
                <a:solidFill>
                  <a:srgbClr val="201445"/>
                </a:solidFill>
                <a:latin typeface="Cambria Math"/>
                <a:ea typeface="Cambria Math"/>
                <a:cs typeface="Cambria Math"/>
              </a:rPr>
              <a:t>y = H T + β + v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D36672C5-5613-41DC-9302-0D8AF10BCEFC}"/>
              </a:ext>
            </a:extLst>
          </p:cNvPr>
          <p:cNvSpPr>
            <a:spLocks noGrp="1"/>
          </p:cNvSpPr>
          <p:nvPr/>
        </p:nvSpPr>
        <p:spPr>
          <a:xfrm>
            <a:off x="3371850" y="3552825"/>
            <a:ext cx="24193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38" b="1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38" b="1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unknown heat d は既知source分布上で推定</a:t>
            </a: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53F883B2-0E40-4455-8075-B7F3CEE250DE}"/>
              </a:ext>
            </a:extLst>
          </p:cNvPr>
          <p:cNvSpPr>
            <a:spLocks noGrp="1"/>
          </p:cNvSpPr>
          <p:nvPr/>
        </p:nvSpPr>
        <p:spPr>
          <a:xfrm>
            <a:off x="6419850" y="1362075"/>
            <a:ext cx="266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(b)</a:t>
            </a: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611D79BF-7C4D-410C-9CE8-F3C7EBFA0F65}"/>
              </a:ext>
            </a:extLst>
          </p:cNvPr>
          <p:cNvSpPr>
            <a:spLocks noGrp="1"/>
          </p:cNvSpPr>
          <p:nvPr/>
        </p:nvSpPr>
        <p:spPr>
          <a:xfrm>
            <a:off x="6715125" y="1362075"/>
            <a:ext cx="49244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学習と外部評価の境界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C42FAB33-6848-4660-8A44-C2748FF59688}"/>
              </a:ext>
            </a:extLst>
          </p:cNvPr>
          <p:cNvSpPr>
            <a:spLocks noGrp="1"/>
          </p:cNvSpPr>
          <p:nvPr/>
        </p:nvSpPr>
        <p:spPr>
          <a:xfrm>
            <a:off x="6419850" y="1781175"/>
            <a:ext cx="2381250" cy="1123950"/>
          </a:xfrm>
          <a:prstGeom prst="rect">
            <a:avLst/>
          </a:prstGeom>
          <a:solidFill>
            <a:srgbClr val="E5F6FB"/>
          </a:solidFill>
          <a:ln w="19050">
            <a:solidFill>
              <a:srgbClr val="00A5D8"/>
            </a:solidFill>
            <a:prstDash val="solid"/>
          </a:ln>
        </p:spPr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3FC59DA4-30BB-430A-8BC9-D57378FA0695}"/>
              </a:ext>
            </a:extLst>
          </p:cNvPr>
          <p:cNvSpPr>
            <a:spLocks noGrp="1"/>
          </p:cNvSpPr>
          <p:nvPr/>
        </p:nvSpPr>
        <p:spPr>
          <a:xfrm>
            <a:off x="6638925" y="1971675"/>
            <a:ext cx="1943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1500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同定 228軌道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B62B88B2-A9EB-4D39-8855-FA43DBAC564B}"/>
              </a:ext>
            </a:extLst>
          </p:cNvPr>
          <p:cNvSpPr>
            <a:spLocks noGrp="1"/>
          </p:cNvSpPr>
          <p:nvPr/>
        </p:nvSpPr>
        <p:spPr>
          <a:xfrm>
            <a:off x="6638925" y="2352675"/>
            <a:ext cx="19431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192 steady  +  36 step/ramp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1FF32C32-F527-48C4-9D66-BF2390FB9E6F}"/>
              </a:ext>
            </a:extLst>
          </p:cNvPr>
          <p:cNvSpPr>
            <a:spLocks noGrp="1"/>
          </p:cNvSpPr>
          <p:nvPr/>
        </p:nvSpPr>
        <p:spPr>
          <a:xfrm>
            <a:off x="9277350" y="1962150"/>
            <a:ext cx="2362200" cy="762000"/>
          </a:xfrm>
          <a:prstGeom prst="rect">
            <a:avLst/>
          </a:prstGeom>
          <a:solidFill>
            <a:srgbClr val="FFF5D7"/>
          </a:solidFill>
          <a:ln w="19050">
            <a:solidFill>
              <a:srgbClr val="E5A900"/>
            </a:solidFill>
            <a:prstDash val="solid"/>
          </a:ln>
        </p:spPr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0686B735-41F2-415E-A6ED-E9CE9789A82E}"/>
              </a:ext>
            </a:extLst>
          </p:cNvPr>
          <p:cNvSpPr>
            <a:spLocks noGrp="1"/>
          </p:cNvSpPr>
          <p:nvPr/>
        </p:nvSpPr>
        <p:spPr>
          <a:xfrm>
            <a:off x="9477375" y="2114550"/>
            <a:ext cx="1962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8A6500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8A6500"/>
                </a:solidFill>
                <a:latin typeface="Yu Gothic"/>
                <a:ea typeface="Yu Gothic"/>
                <a:cs typeface="Yu Gothic"/>
              </a:rPr>
              <a:t>固定artifact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9A578C45-B276-47F6-959B-9856FE36CC07}"/>
              </a:ext>
            </a:extLst>
          </p:cNvPr>
          <p:cNvSpPr>
            <a:spLocks noGrp="1"/>
          </p:cNvSpPr>
          <p:nvPr/>
        </p:nvSpPr>
        <p:spPr>
          <a:xfrm>
            <a:off x="9477375" y="2390775"/>
            <a:ext cx="1962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外部caseを学習探索から除外</a:t>
            </a:r>
          </a:p>
        </p:txBody>
      </p:sp>
      <p:cxnSp>
        <p:nvCxnSpPr>
          <p:cNvPr id="125" name="直線矢印コネクタ 124"/>
          <p:cNvCxnSpPr>
            <a:stCxn id="43" idx="3"/>
            <a:endCxn id="46" idx="1"/>
          </p:cNvCxnSpPr>
          <p:nvPr/>
        </p:nvCxnSpPr>
        <p:spPr>
          <a:xfrm>
            <a:off x="8801100" y="2343150"/>
            <a:ext cx="476250" cy="0"/>
          </a:xfrm>
          <a:prstGeom prst="straightConnector1">
            <a:avLst/>
          </a:prstGeom>
          <a:ln w="19050">
            <a:solidFill>
              <a:srgbClr val="007FA8"/>
            </a:solidFill>
            <a:prstDash val="solid"/>
            <a:tailEnd type="triangle" w="sm" len="sm"/>
          </a:ln>
        </p:spPr>
      </p:cxn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68DA9CF9-1F3E-4591-90C3-F92B2CF3A9D6}"/>
              </a:ext>
            </a:extLst>
          </p:cNvPr>
          <p:cNvSpPr>
            <a:spLocks noGrp="1"/>
          </p:cNvSpPr>
          <p:nvPr/>
        </p:nvSpPr>
        <p:spPr>
          <a:xfrm>
            <a:off x="6419850" y="3295650"/>
            <a:ext cx="1581150" cy="962025"/>
          </a:xfrm>
          <a:prstGeom prst="rect">
            <a:avLst/>
          </a:prstGeom>
          <a:solidFill>
            <a:srgbClr val="FFFFFF"/>
          </a:solidFill>
          <a:ln w="19050">
            <a:solidFill>
              <a:srgbClr val="00A5D8"/>
            </a:solidFill>
            <a:prstDash val="solid"/>
          </a:ln>
        </p:spPr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7998324E-ECA7-42D0-AEAA-8D8B5F07F157}"/>
              </a:ext>
            </a:extLst>
          </p:cNvPr>
          <p:cNvSpPr>
            <a:spLocks noGrp="1"/>
          </p:cNvSpPr>
          <p:nvPr/>
        </p:nvSpPr>
        <p:spPr>
          <a:xfrm>
            <a:off x="6543675" y="3419475"/>
            <a:ext cx="457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00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1BDFFCCF-C7EC-4FC1-B78D-9682B58FE57E}"/>
              </a:ext>
            </a:extLst>
          </p:cNvPr>
          <p:cNvSpPr>
            <a:spLocks noGrp="1"/>
          </p:cNvSpPr>
          <p:nvPr/>
        </p:nvSpPr>
        <p:spPr>
          <a:xfrm>
            <a:off x="7010400" y="3448050"/>
            <a:ext cx="876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12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forecast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C44FEE87-8358-49B9-BCC2-888740729FCD}"/>
              </a:ext>
            </a:extLst>
          </p:cNvPr>
          <p:cNvSpPr>
            <a:spLocks noGrp="1"/>
          </p:cNvSpPr>
          <p:nvPr/>
        </p:nvSpPr>
        <p:spPr>
          <a:xfrm>
            <a:off x="6562725" y="3838575"/>
            <a:ext cx="1295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未知level・波形・dt</a:t>
            </a:r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7407CB80-B880-4076-88E1-A7099D9C4042}"/>
              </a:ext>
            </a:extLst>
          </p:cNvPr>
          <p:cNvSpPr>
            <a:spLocks noGrp="1"/>
          </p:cNvSpPr>
          <p:nvPr/>
        </p:nvSpPr>
        <p:spPr>
          <a:xfrm>
            <a:off x="8153400" y="3295650"/>
            <a:ext cx="1581150" cy="962025"/>
          </a:xfrm>
          <a:prstGeom prst="rect">
            <a:avLst/>
          </a:prstGeom>
          <a:solidFill>
            <a:srgbClr val="FFFFFF"/>
          </a:solidFill>
          <a:ln w="19050">
            <a:solidFill>
              <a:srgbClr val="76BE18"/>
            </a:solidFill>
            <a:prstDash val="solid"/>
          </a:ln>
        </p:spPr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1F01C4EA-2B15-4C64-B7DF-4083737A9096}"/>
              </a:ext>
            </a:extLst>
          </p:cNvPr>
          <p:cNvSpPr>
            <a:spLocks noGrp="1"/>
          </p:cNvSpPr>
          <p:nvPr/>
        </p:nvSpPr>
        <p:spPr>
          <a:xfrm>
            <a:off x="8277225" y="3419475"/>
            <a:ext cx="457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2100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071DBFB3-7B92-4753-A16D-2AB5F47284F4}"/>
              </a:ext>
            </a:extLst>
          </p:cNvPr>
          <p:cNvSpPr>
            <a:spLocks noGrp="1"/>
          </p:cNvSpPr>
          <p:nvPr/>
        </p:nvSpPr>
        <p:spPr>
          <a:xfrm>
            <a:off x="8743950" y="3448050"/>
            <a:ext cx="876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12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monitor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FFDD715E-C2F0-402F-BB91-3DF91D1E3527}"/>
              </a:ext>
            </a:extLst>
          </p:cNvPr>
          <p:cNvSpPr>
            <a:spLocks noGrp="1"/>
          </p:cNvSpPr>
          <p:nvPr/>
        </p:nvSpPr>
        <p:spPr>
          <a:xfrm>
            <a:off x="8296275" y="3838575"/>
            <a:ext cx="1295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noise・fault・欠測</a:t>
            </a: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AA4BD67D-BA74-4E1D-AB62-7CDCC309BE43}"/>
              </a:ext>
            </a:extLst>
          </p:cNvPr>
          <p:cNvSpPr>
            <a:spLocks noGrp="1"/>
          </p:cNvSpPr>
          <p:nvPr/>
        </p:nvSpPr>
        <p:spPr>
          <a:xfrm>
            <a:off x="9886950" y="3295650"/>
            <a:ext cx="1752600" cy="962025"/>
          </a:xfrm>
          <a:prstGeom prst="rect">
            <a:avLst/>
          </a:prstGeom>
          <a:solidFill>
            <a:srgbClr val="FFFFFF"/>
          </a:solidFill>
          <a:ln w="19050">
            <a:solidFill>
              <a:srgbClr val="C4493D"/>
            </a:solidFill>
            <a:prstDash val="solid"/>
          </a:ln>
        </p:spPr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DEA3BDA3-3DC2-488B-84F3-37B35A78A333}"/>
              </a:ext>
            </a:extLst>
          </p:cNvPr>
          <p:cNvSpPr>
            <a:spLocks noGrp="1"/>
          </p:cNvSpPr>
          <p:nvPr/>
        </p:nvSpPr>
        <p:spPr>
          <a:xfrm>
            <a:off x="10010775" y="3419475"/>
            <a:ext cx="457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2100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7C43DBA6-48E0-47F0-AA30-F96546001007}"/>
              </a:ext>
            </a:extLst>
          </p:cNvPr>
          <p:cNvSpPr>
            <a:spLocks noGrp="1"/>
          </p:cNvSpPr>
          <p:nvPr/>
        </p:nvSpPr>
        <p:spPr>
          <a:xfrm>
            <a:off x="10477500" y="3448050"/>
            <a:ext cx="1047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12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model gap</a:t>
            </a: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F88FC170-CEC5-4363-8807-0691910D5745}"/>
              </a:ext>
            </a:extLst>
          </p:cNvPr>
          <p:cNvSpPr>
            <a:spLocks noGrp="1"/>
          </p:cNvSpPr>
          <p:nvPr/>
        </p:nvSpPr>
        <p:spPr>
          <a:xfrm>
            <a:off x="10029825" y="3838575"/>
            <a:ext cx="1466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非線形熱損失</a:t>
            </a:r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32BD4123-F850-49EE-B39B-9FCCCC11241D}"/>
              </a:ext>
            </a:extLst>
          </p:cNvPr>
          <p:cNvSpPr>
            <a:spLocks noGrp="1"/>
          </p:cNvSpPr>
          <p:nvPr/>
        </p:nvSpPr>
        <p:spPr>
          <a:xfrm>
            <a:off x="552450" y="4619625"/>
            <a:ext cx="1047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63" name="直線コネクタ 62">
            <a:extLst>
              <a:ext uri="{FF2B5EF4-FFF2-40B4-BE49-F238E27FC236}">
                <a16:creationId xmlns:a16="http://schemas.microsoft.com/office/drawing/2014/main" id="{ACDD31E3-801D-477C-8A68-886A55EF88BD}"/>
              </a:ext>
            </a:extLst>
          </p:cNvPr>
          <p:cNvSpPr>
            <a:spLocks noGrp="1"/>
          </p:cNvSpPr>
          <p:nvPr/>
        </p:nvSpPr>
        <p:spPr>
          <a:xfrm>
            <a:off x="552450" y="5038725"/>
            <a:ext cx="2571750" cy="0"/>
          </a:xfrm>
          <a:prstGeom prst="line">
            <a:avLst/>
          </a:prstGeom>
          <a:noFill/>
          <a:ln w="38100">
            <a:solidFill>
              <a:srgbClr val="00A5D8"/>
            </a:solidFill>
            <a:prstDash val="solid"/>
          </a:ln>
        </p:spPr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905F4AB7-9210-439B-99EF-56516025E904}"/>
              </a:ext>
            </a:extLst>
          </p:cNvPr>
          <p:cNvSpPr>
            <a:spLocks noGrp="1"/>
          </p:cNvSpPr>
          <p:nvPr/>
        </p:nvSpPr>
        <p:spPr>
          <a:xfrm>
            <a:off x="552450" y="514350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112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Generalization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E56AB03D-91EF-4DC8-A63D-6752D2CFC779}"/>
              </a:ext>
            </a:extLst>
          </p:cNvPr>
          <p:cNvSpPr>
            <a:spLocks noGrp="1"/>
          </p:cNvSpPr>
          <p:nvPr/>
        </p:nvSpPr>
        <p:spPr>
          <a:xfrm>
            <a:off x="552450" y="5457825"/>
            <a:ext cx="2571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RMSE / worst case / prior比較</a:t>
            </a:r>
          </a:p>
        </p:txBody>
      </p:sp>
      <p:sp>
        <p:nvSpPr>
          <p:cNvPr id="66" name="直線コネクタ 65">
            <a:extLst>
              <a:ext uri="{FF2B5EF4-FFF2-40B4-BE49-F238E27FC236}">
                <a16:creationId xmlns:a16="http://schemas.microsoft.com/office/drawing/2014/main" id="{62EB3659-B27F-4BC9-B449-4A49FFDFC6DB}"/>
              </a:ext>
            </a:extLst>
          </p:cNvPr>
          <p:cNvSpPr>
            <a:spLocks noGrp="1"/>
          </p:cNvSpPr>
          <p:nvPr/>
        </p:nvSpPr>
        <p:spPr>
          <a:xfrm>
            <a:off x="3324225" y="5038725"/>
            <a:ext cx="2571750" cy="0"/>
          </a:xfrm>
          <a:prstGeom prst="line">
            <a:avLst/>
          </a:prstGeom>
          <a:noFill/>
          <a:ln w="38100">
            <a:solidFill>
              <a:srgbClr val="76BE18"/>
            </a:solidFill>
            <a:prstDash val="solid"/>
          </a:ln>
        </p:spPr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288040E-2BB2-4D8C-A878-8FC5D15F036F}"/>
              </a:ext>
            </a:extLst>
          </p:cNvPr>
          <p:cNvSpPr>
            <a:spLocks noGrp="1"/>
          </p:cNvSpPr>
          <p:nvPr/>
        </p:nvSpPr>
        <p:spPr>
          <a:xfrm>
            <a:off x="3324225" y="514350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1125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Causality</a:t>
            </a:r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57177105-7BD0-4C53-9CF7-62EFDF37D8F4}"/>
              </a:ext>
            </a:extLst>
          </p:cNvPr>
          <p:cNvSpPr>
            <a:spLocks noGrp="1"/>
          </p:cNvSpPr>
          <p:nvPr/>
        </p:nvSpPr>
        <p:spPr>
          <a:xfrm>
            <a:off x="3324225" y="5457825"/>
            <a:ext cx="2571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未来観測なし / history handoff</a:t>
            </a:r>
          </a:p>
        </p:txBody>
      </p:sp>
      <p:sp>
        <p:nvSpPr>
          <p:cNvPr id="69" name="直線コネクタ 68">
            <a:extLst>
              <a:ext uri="{FF2B5EF4-FFF2-40B4-BE49-F238E27FC236}">
                <a16:creationId xmlns:a16="http://schemas.microsoft.com/office/drawing/2014/main" id="{74C6A4CB-1EDE-4412-90AF-FDACE93A53E9}"/>
              </a:ext>
            </a:extLst>
          </p:cNvPr>
          <p:cNvSpPr>
            <a:spLocks noGrp="1"/>
          </p:cNvSpPr>
          <p:nvPr/>
        </p:nvSpPr>
        <p:spPr>
          <a:xfrm>
            <a:off x="6096000" y="5038725"/>
            <a:ext cx="2571750" cy="0"/>
          </a:xfrm>
          <a:prstGeom prst="line">
            <a:avLst/>
          </a:prstGeom>
          <a:noFill/>
          <a:ln w="38100">
            <a:solidFill>
              <a:srgbClr val="7B2DAF"/>
            </a:solidFill>
            <a:prstDash val="solid"/>
          </a:ln>
        </p:spPr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1D649BCC-D549-4243-B8AA-9A2912388E11}"/>
              </a:ext>
            </a:extLst>
          </p:cNvPr>
          <p:cNvSpPr>
            <a:spLocks noGrp="1"/>
          </p:cNvSpPr>
          <p:nvPr/>
        </p:nvSpPr>
        <p:spPr>
          <a:xfrm>
            <a:off x="6096000" y="514350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1125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Attribution</a:t>
            </a:r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DB36FC93-CA44-4630-8B4C-F1F8F5F3D938}"/>
              </a:ext>
            </a:extLst>
          </p:cNvPr>
          <p:cNvSpPr>
            <a:spLocks noGrp="1"/>
          </p:cNvSpPr>
          <p:nvPr/>
        </p:nvSpPr>
        <p:spPr>
          <a:xfrm>
            <a:off x="6096000" y="5457825"/>
            <a:ext cx="2571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bias / unknown heat / NIS</a:t>
            </a:r>
          </a:p>
        </p:txBody>
      </p:sp>
      <p:sp>
        <p:nvSpPr>
          <p:cNvPr id="72" name="直線コネクタ 71">
            <a:extLst>
              <a:ext uri="{FF2B5EF4-FFF2-40B4-BE49-F238E27FC236}">
                <a16:creationId xmlns:a16="http://schemas.microsoft.com/office/drawing/2014/main" id="{1576E52D-965A-4671-B7BE-A67B3515038B}"/>
              </a:ext>
            </a:extLst>
          </p:cNvPr>
          <p:cNvSpPr>
            <a:spLocks noGrp="1"/>
          </p:cNvSpPr>
          <p:nvPr/>
        </p:nvSpPr>
        <p:spPr>
          <a:xfrm>
            <a:off x="8867775" y="5038725"/>
            <a:ext cx="2571750" cy="0"/>
          </a:xfrm>
          <a:prstGeom prst="line">
            <a:avLst/>
          </a:prstGeom>
          <a:noFill/>
          <a:ln w="38100">
            <a:solidFill>
              <a:srgbClr val="C4493D"/>
            </a:solidFill>
            <a:prstDash val="solid"/>
          </a:ln>
        </p:spPr>
      </p:sp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5C56E3D0-446E-4F19-B917-B5A43C284C3C}"/>
              </a:ext>
            </a:extLst>
          </p:cNvPr>
          <p:cNvSpPr>
            <a:spLocks noGrp="1"/>
          </p:cNvSpPr>
          <p:nvPr/>
        </p:nvSpPr>
        <p:spPr>
          <a:xfrm>
            <a:off x="8867775" y="514350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1125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Adequacy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CB9C84F1-6E32-48FC-A73E-E715AB473A22}"/>
              </a:ext>
            </a:extLst>
          </p:cNvPr>
          <p:cNvSpPr>
            <a:spLocks noGrp="1"/>
          </p:cNvSpPr>
          <p:nvPr/>
        </p:nvSpPr>
        <p:spPr>
          <a:xfrm>
            <a:off x="8867775" y="5457825"/>
            <a:ext cx="2571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意図的model gapを露出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38467D18-32EE-40CF-BB14-039F2199A704}"/>
              </a:ext>
            </a:extLst>
          </p:cNvPr>
          <p:cNvSpPr>
            <a:spLocks noGrp="1"/>
          </p:cNvSpPr>
          <p:nvPr/>
        </p:nvSpPr>
        <p:spPr>
          <a:xfrm>
            <a:off x="552450" y="5934075"/>
            <a:ext cx="11087100" cy="342900"/>
          </a:xfrm>
          <a:prstGeom prst="rect">
            <a:avLst/>
          </a:prstGeom>
          <a:solidFill>
            <a:srgbClr val="201445"/>
          </a:solidFill>
          <a:ln w="0">
            <a:noFill/>
            <a:prstDash val="solid"/>
          </a:ln>
        </p:spPr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A779788B-98D2-4062-B259-90C5E6C172B4}"/>
              </a:ext>
            </a:extLst>
          </p:cNvPr>
          <p:cNvSpPr>
            <a:spLocks noGrp="1"/>
          </p:cNvSpPr>
          <p:nvPr/>
        </p:nvSpPr>
        <p:spPr>
          <a:xfrm>
            <a:off x="695325" y="5991225"/>
            <a:ext cx="10801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38" b="1" i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938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単位：温度差 K、熱量 W、時間 s。forecastはopen-loop、monitorは因果更新。</a:t>
            </a:r>
          </a:p>
        </p:txBody>
      </p:sp>
    </p:spTree>
    <p:extLst>
      <p:ext uri="{BB962C8B-B14F-4D97-AF65-F5344CB8AC3E}">
        <p14:creationId xmlns:p14="http://schemas.microsoft.com/office/powerpoint/2010/main" val="128511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8A3EA2E4-4F52-4112-B996-BBB4DD23B789}"/>
              </a:ext>
            </a:extLst>
          </p:cNvPr>
          <p:cNvSpPr>
            <a:spLocks noGrp="1"/>
          </p:cNvSpPr>
          <p:nvPr/>
        </p:nvSpPr>
        <p:spPr>
          <a:xfrm>
            <a:off x="552450" y="190500"/>
            <a:ext cx="76200" cy="142875"/>
          </a:xfrm>
          <a:prstGeom prst="rect">
            <a:avLst/>
          </a:prstGeom>
          <a:solidFill>
            <a:srgbClr val="76BE18"/>
          </a:solidFill>
          <a:ln w="0">
            <a:noFill/>
            <a:prstDash val="solid"/>
          </a:ln>
        </p:spPr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3BF37A8-FB44-4198-BE6A-589C79B2D56F}"/>
              </a:ext>
            </a:extLst>
          </p:cNvPr>
          <p:cNvSpPr>
            <a:spLocks noGrp="1"/>
          </p:cNvSpPr>
          <p:nvPr/>
        </p:nvSpPr>
        <p:spPr>
          <a:xfrm>
            <a:off x="704850" y="161925"/>
            <a:ext cx="409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RESULT 1 / GENERALIZATION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2AB5F38-BC8F-4B24-8FC9-F7EE41D40447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1087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19050" tIns="0" rIns="1905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11の外部caseは平均0.143 K、意図したmodel gapは9.823 K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724D335-6F75-42AF-97F6-8D23E217954A}"/>
              </a:ext>
            </a:extLst>
          </p:cNvPr>
          <p:cNvSpPr>
            <a:spLocks noGrp="1"/>
          </p:cNvSpPr>
          <p:nvPr/>
        </p:nvSpPr>
        <p:spPr>
          <a:xfrm>
            <a:off x="571500" y="838200"/>
            <a:ext cx="10934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低い平均誤差だけでなく、観測不足と構造不一致をworst caseとして残す</a:t>
            </a:r>
          </a:p>
        </p:txBody>
      </p:sp>
      <p:sp>
        <p:nvSpPr>
          <p:cNvPr id="5" name="直線コネクタ 4">
            <a:extLst>
              <a:ext uri="{FF2B5EF4-FFF2-40B4-BE49-F238E27FC236}">
                <a16:creationId xmlns:a16="http://schemas.microsoft.com/office/drawing/2014/main" id="{049F368E-4487-4DDA-B6F2-46FF100C5A9B}"/>
              </a:ext>
            </a:extLst>
          </p:cNvPr>
          <p:cNvSpPr>
            <a:spLocks noGrp="1"/>
          </p:cNvSpPr>
          <p:nvPr/>
        </p:nvSpPr>
        <p:spPr>
          <a:xfrm>
            <a:off x="552450" y="1152525"/>
            <a:ext cx="1108710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6" name="直線コネクタ 5">
            <a:extLst>
              <a:ext uri="{FF2B5EF4-FFF2-40B4-BE49-F238E27FC236}">
                <a16:creationId xmlns:a16="http://schemas.microsoft.com/office/drawing/2014/main" id="{2C838D46-4F74-4550-AE61-6AA922BBA93A}"/>
              </a:ext>
            </a:extLst>
          </p:cNvPr>
          <p:cNvSpPr>
            <a:spLocks noGrp="1"/>
          </p:cNvSpPr>
          <p:nvPr/>
        </p:nvSpPr>
        <p:spPr>
          <a:xfrm>
            <a:off x="552450" y="6438900"/>
            <a:ext cx="1108710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CA646B0-6EDD-468F-BBBD-27D58E0B02DC}"/>
              </a:ext>
            </a:extLst>
          </p:cNvPr>
          <p:cNvSpPr>
            <a:spLocks noGrp="1"/>
          </p:cNvSpPr>
          <p:nvPr/>
        </p:nvSpPr>
        <p:spPr>
          <a:xfrm>
            <a:off x="571500" y="650557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CELL / BENCHMARK REVIEW  ·  2026-09-28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7DB74F1-8718-450E-B730-7B51A4DD3673}"/>
              </a:ext>
            </a:extLst>
          </p:cNvPr>
          <p:cNvSpPr>
            <a:spLocks noGrp="1"/>
          </p:cNvSpPr>
          <p:nvPr/>
        </p:nvSpPr>
        <p:spPr>
          <a:xfrm>
            <a:off x="11125200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Autofit/>
          </a:bodyPr>
          <a:lstStyle/>
          <a:p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2AD14B4-22AE-441C-B7AA-CE75A13B3248}"/>
              </a:ext>
            </a:extLst>
          </p:cNvPr>
          <p:cNvSpPr>
            <a:spLocks noGrp="1"/>
          </p:cNvSpPr>
          <p:nvPr/>
        </p:nvSpPr>
        <p:spPr>
          <a:xfrm>
            <a:off x="552450" y="1362075"/>
            <a:ext cx="266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(a)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193A069-69E3-449E-9050-5BC34E84251C}"/>
              </a:ext>
            </a:extLst>
          </p:cNvPr>
          <p:cNvSpPr>
            <a:spLocks noGrp="1"/>
          </p:cNvSpPr>
          <p:nvPr/>
        </p:nvSpPr>
        <p:spPr>
          <a:xfrm>
            <a:off x="847725" y="1362075"/>
            <a:ext cx="62579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core group mean RMSE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="552450" y="1676400"/>
          <a:ext cx="6553200" cy="3486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27B4028-E760-4B37-B0C2-E40BD8E1E4BA}"/>
              </a:ext>
            </a:extLst>
          </p:cNvPr>
          <p:cNvSpPr>
            <a:spLocks noGrp="1"/>
          </p:cNvSpPr>
          <p:nvPr/>
        </p:nvSpPr>
        <p:spPr>
          <a:xfrm>
            <a:off x="7524750" y="1362075"/>
            <a:ext cx="266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(b)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3999D71A-46DB-4D42-802E-56EF320336F9}"/>
              </a:ext>
            </a:extLst>
          </p:cNvPr>
          <p:cNvSpPr>
            <a:spLocks noGrp="1"/>
          </p:cNvSpPr>
          <p:nvPr/>
        </p:nvSpPr>
        <p:spPr>
          <a:xfrm>
            <a:off x="7820025" y="1362075"/>
            <a:ext cx="38195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adequacy separation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="7524750" y="1676400"/>
          <a:ext cx="4114800" cy="3486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直線コネクタ 14">
            <a:extLst>
              <a:ext uri="{FF2B5EF4-FFF2-40B4-BE49-F238E27FC236}">
                <a16:creationId xmlns:a16="http://schemas.microsoft.com/office/drawing/2014/main" id="{82DA45EB-79EF-421C-AC13-19983C964753}"/>
              </a:ext>
            </a:extLst>
          </p:cNvPr>
          <p:cNvSpPr>
            <a:spLocks noGrp="1"/>
          </p:cNvSpPr>
          <p:nvPr/>
        </p:nvSpPr>
        <p:spPr>
          <a:xfrm>
            <a:off x="552450" y="5448300"/>
            <a:ext cx="2457450" cy="0"/>
          </a:xfrm>
          <a:prstGeom prst="line">
            <a:avLst/>
          </a:prstGeom>
          <a:noFill/>
          <a:ln w="38100">
            <a:solidFill>
              <a:srgbClr val="00A5D8"/>
            </a:solidFill>
            <a:prstDash val="solid"/>
          </a:ln>
        </p:spPr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1F8B98A-143F-4636-9D63-9CE73470AA63}"/>
              </a:ext>
            </a:extLst>
          </p:cNvPr>
          <p:cNvSpPr>
            <a:spLocks noGrp="1"/>
          </p:cNvSpPr>
          <p:nvPr/>
        </p:nvSpPr>
        <p:spPr>
          <a:xfrm>
            <a:off x="552450" y="5524500"/>
            <a:ext cx="2457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0.143 K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676E669-A057-4FA8-BAB2-51AFC904E5FC}"/>
              </a:ext>
            </a:extLst>
          </p:cNvPr>
          <p:cNvSpPr>
            <a:spLocks noGrp="1"/>
          </p:cNvSpPr>
          <p:nvPr/>
        </p:nvSpPr>
        <p:spPr>
          <a:xfrm>
            <a:off x="552450" y="5848350"/>
            <a:ext cx="2457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core 11ケース平均</a:t>
            </a:r>
          </a:p>
        </p:txBody>
      </p:sp>
      <p:sp>
        <p:nvSpPr>
          <p:cNvPr id="18" name="直線コネクタ 17">
            <a:extLst>
              <a:ext uri="{FF2B5EF4-FFF2-40B4-BE49-F238E27FC236}">
                <a16:creationId xmlns:a16="http://schemas.microsoft.com/office/drawing/2014/main" id="{4FF102E9-E955-4A7A-9FDE-E962C7DF08D4}"/>
              </a:ext>
            </a:extLst>
          </p:cNvPr>
          <p:cNvSpPr>
            <a:spLocks noGrp="1"/>
          </p:cNvSpPr>
          <p:nvPr/>
        </p:nvSpPr>
        <p:spPr>
          <a:xfrm>
            <a:off x="3352800" y="5448300"/>
            <a:ext cx="2457450" cy="0"/>
          </a:xfrm>
          <a:prstGeom prst="line">
            <a:avLst/>
          </a:prstGeom>
          <a:noFill/>
          <a:ln w="38100">
            <a:solidFill>
              <a:srgbClr val="7B2DAF"/>
            </a:solidFill>
            <a:prstDash val="solid"/>
          </a:ln>
        </p:spPr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11699EA7-7B4A-4982-A5DC-18838B9A8F3B}"/>
              </a:ext>
            </a:extLst>
          </p:cNvPr>
          <p:cNvSpPr>
            <a:spLocks noGrp="1"/>
          </p:cNvSpPr>
          <p:nvPr/>
        </p:nvSpPr>
        <p:spPr>
          <a:xfrm>
            <a:off x="3352800" y="5524500"/>
            <a:ext cx="2457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1.303 K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3BC57F4E-531D-4EBA-83F2-2DAD9F6E8A17}"/>
              </a:ext>
            </a:extLst>
          </p:cNvPr>
          <p:cNvSpPr>
            <a:spLocks noGrp="1"/>
          </p:cNvSpPr>
          <p:nvPr/>
        </p:nvSpPr>
        <p:spPr>
          <a:xfrm>
            <a:off x="3352800" y="5848350"/>
            <a:ext cx="2457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worst F09：初期観測2/4</a:t>
            </a:r>
          </a:p>
        </p:txBody>
      </p:sp>
      <p:sp>
        <p:nvSpPr>
          <p:cNvPr id="21" name="直線コネクタ 20">
            <a:extLst>
              <a:ext uri="{FF2B5EF4-FFF2-40B4-BE49-F238E27FC236}">
                <a16:creationId xmlns:a16="http://schemas.microsoft.com/office/drawing/2014/main" id="{2DCB468C-7F16-4ABD-8167-141624BA7CE9}"/>
              </a:ext>
            </a:extLst>
          </p:cNvPr>
          <p:cNvSpPr>
            <a:spLocks noGrp="1"/>
          </p:cNvSpPr>
          <p:nvPr/>
        </p:nvSpPr>
        <p:spPr>
          <a:xfrm>
            <a:off x="6153150" y="5448300"/>
            <a:ext cx="2457450" cy="0"/>
          </a:xfrm>
          <a:prstGeom prst="line">
            <a:avLst/>
          </a:prstGeom>
          <a:noFill/>
          <a:ln w="38100">
            <a:solidFill>
              <a:srgbClr val="76BE18"/>
            </a:solidFill>
            <a:prstDash val="solid"/>
          </a:ln>
        </p:spPr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DBAEA57-EE35-4D52-B54D-05B134ABA98B}"/>
              </a:ext>
            </a:extLst>
          </p:cNvPr>
          <p:cNvSpPr>
            <a:spLocks noGrp="1"/>
          </p:cNvSpPr>
          <p:nvPr/>
        </p:nvSpPr>
        <p:spPr>
          <a:xfrm>
            <a:off x="6153150" y="5524500"/>
            <a:ext cx="2457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98.0%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0512BCC7-CAA5-424B-BD50-23A395E8480F}"/>
              </a:ext>
            </a:extLst>
          </p:cNvPr>
          <p:cNvSpPr>
            <a:spLocks noGrp="1"/>
          </p:cNvSpPr>
          <p:nvPr/>
        </p:nvSpPr>
        <p:spPr>
          <a:xfrm>
            <a:off x="6153150" y="5848350"/>
            <a:ext cx="2457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prior平均に対する改善</a:t>
            </a:r>
          </a:p>
        </p:txBody>
      </p:sp>
      <p:sp>
        <p:nvSpPr>
          <p:cNvPr id="24" name="直線コネクタ 23">
            <a:extLst>
              <a:ext uri="{FF2B5EF4-FFF2-40B4-BE49-F238E27FC236}">
                <a16:creationId xmlns:a16="http://schemas.microsoft.com/office/drawing/2014/main" id="{F80150D9-64BA-415A-8BEB-14522B492D92}"/>
              </a:ext>
            </a:extLst>
          </p:cNvPr>
          <p:cNvSpPr>
            <a:spLocks noGrp="1"/>
          </p:cNvSpPr>
          <p:nvPr/>
        </p:nvSpPr>
        <p:spPr>
          <a:xfrm>
            <a:off x="8953500" y="5448300"/>
            <a:ext cx="2686050" cy="0"/>
          </a:xfrm>
          <a:prstGeom prst="line">
            <a:avLst/>
          </a:prstGeom>
          <a:noFill/>
          <a:ln w="38100">
            <a:solidFill>
              <a:srgbClr val="C4493D"/>
            </a:solidFill>
            <a:prstDash val="solid"/>
          </a:ln>
        </p:spPr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2C1F87AF-16DB-4D0D-ABA0-2BEBE9783595}"/>
              </a:ext>
            </a:extLst>
          </p:cNvPr>
          <p:cNvSpPr>
            <a:spLocks noGrp="1"/>
          </p:cNvSpPr>
          <p:nvPr/>
        </p:nvSpPr>
        <p:spPr>
          <a:xfrm>
            <a:off x="8953500" y="5524500"/>
            <a:ext cx="26860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9.823 K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F50A6911-E494-477C-AF7F-7720868B8CB5}"/>
              </a:ext>
            </a:extLst>
          </p:cNvPr>
          <p:cNvSpPr>
            <a:spLocks noGrp="1"/>
          </p:cNvSpPr>
          <p:nvPr/>
        </p:nvSpPr>
        <p:spPr>
          <a:xfrm>
            <a:off x="8953500" y="5848350"/>
            <a:ext cx="2686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F11：温度依存損失</a:t>
            </a:r>
          </a:p>
        </p:txBody>
      </p:sp>
    </p:spTree>
    <p:extLst>
      <p:ext uri="{BB962C8B-B14F-4D97-AF65-F5344CB8AC3E}">
        <p14:creationId xmlns:p14="http://schemas.microsoft.com/office/powerpoint/2010/main" val="14306470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ED50005-3D82-484A-B544-612FA1EA8C32}"/>
              </a:ext>
            </a:extLst>
          </p:cNvPr>
          <p:cNvSpPr>
            <a:spLocks noGrp="1"/>
          </p:cNvSpPr>
          <p:nvPr/>
        </p:nvSpPr>
        <p:spPr>
          <a:xfrm>
            <a:off x="552450" y="190500"/>
            <a:ext cx="76200" cy="142875"/>
          </a:xfrm>
          <a:prstGeom prst="rect">
            <a:avLst/>
          </a:prstGeom>
          <a:solidFill>
            <a:srgbClr val="76BE18"/>
          </a:solidFill>
          <a:ln w="0">
            <a:noFill/>
            <a:prstDash val="solid"/>
          </a:ln>
        </p:spPr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A3D6889-CC01-48FB-A05E-DEB1F3AAB25E}"/>
              </a:ext>
            </a:extLst>
          </p:cNvPr>
          <p:cNvSpPr>
            <a:spLocks noGrp="1"/>
          </p:cNvSpPr>
          <p:nvPr/>
        </p:nvSpPr>
        <p:spPr>
          <a:xfrm>
            <a:off x="704850" y="161925"/>
            <a:ext cx="409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RESULT 2 / INITIALIZATION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CC8E612-026D-4959-8242-CD06662AD96B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1087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19050" tIns="0" rIns="1905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20 sの因果履歴で同一評価窓RMSEを90.1%低減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700A6D8-050B-4DDB-987D-6BC1D5AFBFF4}"/>
              </a:ext>
            </a:extLst>
          </p:cNvPr>
          <p:cNvSpPr>
            <a:spLocks noGrp="1"/>
          </p:cNvSpPr>
          <p:nvPr/>
        </p:nvSpPr>
        <p:spPr>
          <a:xfrm>
            <a:off x="571500" y="838200"/>
            <a:ext cx="10934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観測点数が同じでも、履歴が熱結合を通じて未観測nodeの初期状態を拘束する</a:t>
            </a:r>
          </a:p>
        </p:txBody>
      </p:sp>
      <p:sp>
        <p:nvSpPr>
          <p:cNvPr id="5" name="直線コネクタ 4">
            <a:extLst>
              <a:ext uri="{FF2B5EF4-FFF2-40B4-BE49-F238E27FC236}">
                <a16:creationId xmlns:a16="http://schemas.microsoft.com/office/drawing/2014/main" id="{F5A9D6CC-B9BE-44EE-A323-CE01569005B3}"/>
              </a:ext>
            </a:extLst>
          </p:cNvPr>
          <p:cNvSpPr>
            <a:spLocks noGrp="1"/>
          </p:cNvSpPr>
          <p:nvPr/>
        </p:nvSpPr>
        <p:spPr>
          <a:xfrm>
            <a:off x="552450" y="1152525"/>
            <a:ext cx="1108710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6" name="直線コネクタ 5">
            <a:extLst>
              <a:ext uri="{FF2B5EF4-FFF2-40B4-BE49-F238E27FC236}">
                <a16:creationId xmlns:a16="http://schemas.microsoft.com/office/drawing/2014/main" id="{BED48FA3-BCEB-4D71-9608-33A7DCBF479D}"/>
              </a:ext>
            </a:extLst>
          </p:cNvPr>
          <p:cNvSpPr>
            <a:spLocks noGrp="1"/>
          </p:cNvSpPr>
          <p:nvPr/>
        </p:nvSpPr>
        <p:spPr>
          <a:xfrm>
            <a:off x="552450" y="6438900"/>
            <a:ext cx="1108710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17532FA-7B12-4F8A-99B1-07CC03B2862D}"/>
              </a:ext>
            </a:extLst>
          </p:cNvPr>
          <p:cNvSpPr>
            <a:spLocks noGrp="1"/>
          </p:cNvSpPr>
          <p:nvPr/>
        </p:nvSpPr>
        <p:spPr>
          <a:xfrm>
            <a:off x="571500" y="650557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CELL / BENCHMARK REVIEW  ·  2026-09-28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D9B72CD-0D06-41D5-91D2-3BDCAA1DDC2C}"/>
              </a:ext>
            </a:extLst>
          </p:cNvPr>
          <p:cNvSpPr>
            <a:spLocks noGrp="1"/>
          </p:cNvSpPr>
          <p:nvPr/>
        </p:nvSpPr>
        <p:spPr>
          <a:xfrm>
            <a:off x="11125200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Autofit/>
          </a:bodyPr>
          <a:lstStyle/>
          <a:p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EE602E8-3735-485F-8FD1-81429636AE94}"/>
              </a:ext>
            </a:extLst>
          </p:cNvPr>
          <p:cNvSpPr>
            <a:spLocks noGrp="1"/>
          </p:cNvSpPr>
          <p:nvPr/>
        </p:nvSpPr>
        <p:spPr>
          <a:xfrm>
            <a:off x="552450" y="1362075"/>
            <a:ext cx="266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(a)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FEFBE81-D56D-473E-A943-2DE2CE367AD3}"/>
              </a:ext>
            </a:extLst>
          </p:cNvPr>
          <p:cNvSpPr>
            <a:spLocks noGrp="1"/>
          </p:cNvSpPr>
          <p:nvPr/>
        </p:nvSpPr>
        <p:spPr>
          <a:xfrm>
            <a:off x="847725" y="1362075"/>
            <a:ext cx="107918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観測条件</a:t>
            </a:r>
          </a:p>
        </p:txBody>
      </p:sp>
      <p:sp>
        <p:nvSpPr>
          <p:cNvPr id="11" name="直線コネクタ 10">
            <a:extLst>
              <a:ext uri="{FF2B5EF4-FFF2-40B4-BE49-F238E27FC236}">
                <a16:creationId xmlns:a16="http://schemas.microsoft.com/office/drawing/2014/main" id="{8BE6B3E6-CAAC-4751-9109-C2BB6F70F944}"/>
              </a:ext>
            </a:extLst>
          </p:cNvPr>
          <p:cNvSpPr>
            <a:spLocks noGrp="1"/>
          </p:cNvSpPr>
          <p:nvPr/>
        </p:nvSpPr>
        <p:spPr>
          <a:xfrm>
            <a:off x="1200150" y="2200275"/>
            <a:ext cx="8820150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D90565A-FCD9-4769-A52E-8A8D8C09CBE4}"/>
              </a:ext>
            </a:extLst>
          </p:cNvPr>
          <p:cNvSpPr>
            <a:spLocks noGrp="1"/>
          </p:cNvSpPr>
          <p:nvPr/>
        </p:nvSpPr>
        <p:spPr>
          <a:xfrm>
            <a:off x="962025" y="229552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0 s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420AFA1-C538-4CF4-8E69-1EAC243562AA}"/>
              </a:ext>
            </a:extLst>
          </p:cNvPr>
          <p:cNvSpPr>
            <a:spLocks noGrp="1"/>
          </p:cNvSpPr>
          <p:nvPr/>
        </p:nvSpPr>
        <p:spPr>
          <a:xfrm>
            <a:off x="2819400" y="229552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20 s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EAE9F1B-0506-434F-AFE0-BC3166DECEF5}"/>
              </a:ext>
            </a:extLst>
          </p:cNvPr>
          <p:cNvSpPr>
            <a:spLocks noGrp="1"/>
          </p:cNvSpPr>
          <p:nvPr/>
        </p:nvSpPr>
        <p:spPr>
          <a:xfrm>
            <a:off x="9782175" y="2295525"/>
            <a:ext cx="590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180 s</a:t>
            </a:r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3FDA395A-2449-4F11-9298-143091CCF979}"/>
              </a:ext>
            </a:extLst>
          </p:cNvPr>
          <p:cNvSpPr>
            <a:spLocks noGrp="1"/>
          </p:cNvSpPr>
          <p:nvPr/>
        </p:nvSpPr>
        <p:spPr>
          <a:xfrm>
            <a:off x="1133475" y="2133600"/>
            <a:ext cx="133350" cy="133350"/>
          </a:xfrm>
          <a:prstGeom prst="ellipse">
            <a:avLst/>
          </a:prstGeom>
          <a:solidFill>
            <a:srgbClr val="7B2DAF"/>
          </a:solidFill>
          <a:ln w="0">
            <a:noFill/>
            <a:prstDash val="solid"/>
          </a:ln>
        </p:spPr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D73E00E-BAF5-47C8-B5B4-773324F17752}"/>
              </a:ext>
            </a:extLst>
          </p:cNvPr>
          <p:cNvSpPr>
            <a:spLocks noGrp="1"/>
          </p:cNvSpPr>
          <p:nvPr/>
        </p:nvSpPr>
        <p:spPr>
          <a:xfrm>
            <a:off x="1200150" y="1971675"/>
            <a:ext cx="1847850" cy="114300"/>
          </a:xfrm>
          <a:prstGeom prst="rect">
            <a:avLst/>
          </a:prstGeom>
          <a:solidFill>
            <a:srgbClr val="76BE18"/>
          </a:solidFill>
          <a:ln w="0">
            <a:noFill/>
            <a:prstDash val="solid"/>
          </a:ln>
        </p:spPr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FCBFFF5-B4C8-46A8-B2C8-51664F0ADBFE}"/>
              </a:ext>
            </a:extLst>
          </p:cNvPr>
          <p:cNvSpPr>
            <a:spLocks noGrp="1"/>
          </p:cNvSpPr>
          <p:nvPr/>
        </p:nvSpPr>
        <p:spPr>
          <a:xfrm>
            <a:off x="552450" y="1676400"/>
            <a:ext cx="2133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1013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F09: t=0で2点観測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3ACEB12-C9D2-469A-AEC3-5AE6BC38D9C3}"/>
              </a:ext>
            </a:extLst>
          </p:cNvPr>
          <p:cNvSpPr>
            <a:spLocks noGrp="1"/>
          </p:cNvSpPr>
          <p:nvPr/>
        </p:nvSpPr>
        <p:spPr>
          <a:xfrm>
            <a:off x="3343275" y="1676400"/>
            <a:ext cx="3009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1013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F12: Center / middle を20 s観測</a:t>
            </a:r>
          </a:p>
        </p:txBody>
      </p:sp>
      <p:sp>
        <p:nvSpPr>
          <p:cNvPr id="19" name="直線コネクタ 18">
            <a:extLst>
              <a:ext uri="{FF2B5EF4-FFF2-40B4-BE49-F238E27FC236}">
                <a16:creationId xmlns:a16="http://schemas.microsoft.com/office/drawing/2014/main" id="{81CC545A-2E64-4893-A7B3-A3A8DDFB853B}"/>
              </a:ext>
            </a:extLst>
          </p:cNvPr>
          <p:cNvSpPr>
            <a:spLocks noGrp="1"/>
          </p:cNvSpPr>
          <p:nvPr/>
        </p:nvSpPr>
        <p:spPr>
          <a:xfrm>
            <a:off x="3048000" y="1866900"/>
            <a:ext cx="0" cy="561975"/>
          </a:xfrm>
          <a:prstGeom prst="line">
            <a:avLst/>
          </a:prstGeom>
          <a:noFill/>
          <a:ln w="19050">
            <a:solidFill>
              <a:srgbClr val="4D8710"/>
            </a:solidFill>
            <a:prstDash val="dash"/>
          </a:ln>
        </p:spPr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AA5D3F92-2D19-4FEA-B96E-D666EB9EDED4}"/>
              </a:ext>
            </a:extLst>
          </p:cNvPr>
          <p:cNvSpPr>
            <a:spLocks noGrp="1"/>
          </p:cNvSpPr>
          <p:nvPr/>
        </p:nvSpPr>
        <p:spPr>
          <a:xfrm>
            <a:off x="6819900" y="1676400"/>
            <a:ext cx="27717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13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1013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open-loop forecast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A1F810F-79A8-4077-9A7B-C3A419AF15F3}"/>
              </a:ext>
            </a:extLst>
          </p:cNvPr>
          <p:cNvSpPr>
            <a:spLocks noGrp="1"/>
          </p:cNvSpPr>
          <p:nvPr/>
        </p:nvSpPr>
        <p:spPr>
          <a:xfrm>
            <a:off x="552450" y="2571750"/>
            <a:ext cx="266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(b)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98E4984B-C4AF-4FDB-B9E1-CBA099D0D747}"/>
              </a:ext>
            </a:extLst>
          </p:cNvPr>
          <p:cNvSpPr>
            <a:spLocks noGrp="1"/>
          </p:cNvSpPr>
          <p:nvPr/>
        </p:nvSpPr>
        <p:spPr>
          <a:xfrm>
            <a:off x="847725" y="2571750"/>
            <a:ext cx="804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4-node instantaneous RMSE from t = 20 s</a:t>
            </a:r>
          </a:p>
        </p:txBody>
      </p:sp>
      <p:graphicFrame>
        <p:nvGraphicFramePr>
          <p:cNvPr id="56" name="Chart"/>
          <p:cNvGraphicFramePr/>
          <p:nvPr/>
        </p:nvGraphicFramePr>
        <p:xfrm>
          <a:off x="552450" y="2895600"/>
          <a:ext cx="8343900" cy="2828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C8AD055-C0EC-4CB2-8587-BD337E31E1DD}"/>
              </a:ext>
            </a:extLst>
          </p:cNvPr>
          <p:cNvSpPr>
            <a:spLocks noGrp="1"/>
          </p:cNvSpPr>
          <p:nvPr/>
        </p:nvSpPr>
        <p:spPr>
          <a:xfrm>
            <a:off x="9258300" y="2876550"/>
            <a:ext cx="2381250" cy="2847975"/>
          </a:xfrm>
          <a:prstGeom prst="rect">
            <a:avLst/>
          </a:prstGeom>
          <a:solidFill>
            <a:srgbClr val="F7F7F7"/>
          </a:solidFill>
          <a:ln w="9525">
            <a:solidFill>
              <a:srgbClr val="D3D3D3"/>
            </a:solidFill>
            <a:prstDash val="solid"/>
          </a:ln>
        </p:spPr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F11127A1-17AE-4B91-A543-A081F7EEE49C}"/>
              </a:ext>
            </a:extLst>
          </p:cNvPr>
          <p:cNvSpPr>
            <a:spLocks noGrp="1"/>
          </p:cNvSpPr>
          <p:nvPr/>
        </p:nvSpPr>
        <p:spPr>
          <a:xfrm>
            <a:off x="9467850" y="3067050"/>
            <a:ext cx="19621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同一時間窓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8F0171C2-06F4-42CA-A5CF-2923A1C44C35}"/>
              </a:ext>
            </a:extLst>
          </p:cNvPr>
          <p:cNvSpPr>
            <a:spLocks noGrp="1"/>
          </p:cNvSpPr>
          <p:nvPr/>
        </p:nvSpPr>
        <p:spPr>
          <a:xfrm>
            <a:off x="9467850" y="3448050"/>
            <a:ext cx="19621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325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2325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0.384 K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F3FE7D85-F967-4DE6-93D7-FFD9B3B09270}"/>
              </a:ext>
            </a:extLst>
          </p:cNvPr>
          <p:cNvSpPr>
            <a:spLocks noGrp="1"/>
          </p:cNvSpPr>
          <p:nvPr/>
        </p:nvSpPr>
        <p:spPr>
          <a:xfrm>
            <a:off x="9467850" y="3857625"/>
            <a:ext cx="19621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F09</a:t>
            </a:r>
          </a:p>
        </p:txBody>
      </p:sp>
      <p:sp>
        <p:nvSpPr>
          <p:cNvPr id="28" name="直線コネクタ 27">
            <a:extLst>
              <a:ext uri="{FF2B5EF4-FFF2-40B4-BE49-F238E27FC236}">
                <a16:creationId xmlns:a16="http://schemas.microsoft.com/office/drawing/2014/main" id="{F19E19C3-365D-4961-B4BE-08CE06B8E51E}"/>
              </a:ext>
            </a:extLst>
          </p:cNvPr>
          <p:cNvSpPr>
            <a:spLocks noGrp="1"/>
          </p:cNvSpPr>
          <p:nvPr/>
        </p:nvSpPr>
        <p:spPr>
          <a:xfrm>
            <a:off x="9639300" y="4276725"/>
            <a:ext cx="161925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BE90EC2D-DFD8-4543-BC96-2CF0406633FB}"/>
              </a:ext>
            </a:extLst>
          </p:cNvPr>
          <p:cNvSpPr>
            <a:spLocks noGrp="1"/>
          </p:cNvSpPr>
          <p:nvPr/>
        </p:nvSpPr>
        <p:spPr>
          <a:xfrm>
            <a:off x="9467850" y="4448175"/>
            <a:ext cx="19621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325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2325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0.038 K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23D87E4A-F386-4A37-9DFF-5138371AC781}"/>
              </a:ext>
            </a:extLst>
          </p:cNvPr>
          <p:cNvSpPr>
            <a:spLocks noGrp="1"/>
          </p:cNvSpPr>
          <p:nvPr/>
        </p:nvSpPr>
        <p:spPr>
          <a:xfrm>
            <a:off x="9467850" y="4857750"/>
            <a:ext cx="19621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F12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D8C8BCD1-A298-4966-9FB4-D7244418BCB7}"/>
              </a:ext>
            </a:extLst>
          </p:cNvPr>
          <p:cNvSpPr>
            <a:spLocks noGrp="1"/>
          </p:cNvSpPr>
          <p:nvPr/>
        </p:nvSpPr>
        <p:spPr>
          <a:xfrm>
            <a:off x="9467850" y="5267325"/>
            <a:ext cx="19621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1500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−90.1%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2C071574-70CD-4232-A244-A16A172378CA}"/>
              </a:ext>
            </a:extLst>
          </p:cNvPr>
          <p:cNvSpPr>
            <a:spLocks noGrp="1"/>
          </p:cNvSpPr>
          <p:nvPr/>
        </p:nvSpPr>
        <p:spPr>
          <a:xfrm>
            <a:off x="552450" y="59245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863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Benchmark primary score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AF5CBDC7-2EF6-494F-BD04-1613619DD1B4}"/>
              </a:ext>
            </a:extLst>
          </p:cNvPr>
          <p:cNvSpPr>
            <a:spLocks noGrp="1"/>
          </p:cNvSpPr>
          <p:nvPr/>
        </p:nvSpPr>
        <p:spPr>
          <a:xfrm>
            <a:off x="2171700" y="5905500"/>
            <a:ext cx="9467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F09 1.303 K（t=0開始） / F12 0.038 K（t=20開始） ＝ 97.1%低減</a:t>
            </a:r>
          </a:p>
        </p:txBody>
      </p:sp>
    </p:spTree>
    <p:extLst>
      <p:ext uri="{BB962C8B-B14F-4D97-AF65-F5344CB8AC3E}">
        <p14:creationId xmlns:p14="http://schemas.microsoft.com/office/powerpoint/2010/main" val="17286259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60F738E9-A0F2-476F-B800-66D32DFF21D3}"/>
              </a:ext>
            </a:extLst>
          </p:cNvPr>
          <p:cNvSpPr>
            <a:spLocks noGrp="1"/>
          </p:cNvSpPr>
          <p:nvPr/>
        </p:nvSpPr>
        <p:spPr>
          <a:xfrm>
            <a:off x="552450" y="190500"/>
            <a:ext cx="76200" cy="142875"/>
          </a:xfrm>
          <a:prstGeom prst="rect">
            <a:avLst/>
          </a:prstGeom>
          <a:solidFill>
            <a:srgbClr val="76BE18"/>
          </a:solidFill>
          <a:ln w="0">
            <a:noFill/>
            <a:prstDash val="solid"/>
          </a:ln>
        </p:spPr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5D63A3B-F0DA-43A9-BE3E-F10E732CEA3E}"/>
              </a:ext>
            </a:extLst>
          </p:cNvPr>
          <p:cNvSpPr>
            <a:spLocks noGrp="1"/>
          </p:cNvSpPr>
          <p:nvPr/>
        </p:nvSpPr>
        <p:spPr>
          <a:xfrm>
            <a:off x="704850" y="161925"/>
            <a:ext cx="409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RESULT 3 / MONITORING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4946DA7-8584-40A4-AC98-FC5271F9B118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1087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19050" tIns="0" rIns="1905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センサ異常と未指令発熱を別状態として検出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2C38860-B935-41FB-A101-3F68288DB504}"/>
              </a:ext>
            </a:extLst>
          </p:cNvPr>
          <p:cNvSpPr>
            <a:spLocks noGrp="1"/>
          </p:cNvSpPr>
          <p:nvPr/>
        </p:nvSpPr>
        <p:spPr>
          <a:xfrm>
            <a:off x="571500" y="838200"/>
            <a:ext cx="10934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innovationで異常を検出し、sensor biasと物理disturbanceのどちらが説明力を持つかを更新する</a:t>
            </a:r>
          </a:p>
        </p:txBody>
      </p:sp>
      <p:sp>
        <p:nvSpPr>
          <p:cNvPr id="5" name="直線コネクタ 4">
            <a:extLst>
              <a:ext uri="{FF2B5EF4-FFF2-40B4-BE49-F238E27FC236}">
                <a16:creationId xmlns:a16="http://schemas.microsoft.com/office/drawing/2014/main" id="{A30443A3-4820-4349-AD65-B36597D70A79}"/>
              </a:ext>
            </a:extLst>
          </p:cNvPr>
          <p:cNvSpPr>
            <a:spLocks noGrp="1"/>
          </p:cNvSpPr>
          <p:nvPr/>
        </p:nvSpPr>
        <p:spPr>
          <a:xfrm>
            <a:off x="552450" y="1152525"/>
            <a:ext cx="1108710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6" name="直線コネクタ 5">
            <a:extLst>
              <a:ext uri="{FF2B5EF4-FFF2-40B4-BE49-F238E27FC236}">
                <a16:creationId xmlns:a16="http://schemas.microsoft.com/office/drawing/2014/main" id="{47E40CA9-6E81-49B1-9054-1977B9910A9F}"/>
              </a:ext>
            </a:extLst>
          </p:cNvPr>
          <p:cNvSpPr>
            <a:spLocks noGrp="1"/>
          </p:cNvSpPr>
          <p:nvPr/>
        </p:nvSpPr>
        <p:spPr>
          <a:xfrm>
            <a:off x="552450" y="6438900"/>
            <a:ext cx="1108710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18C60ED-9D92-4B34-ADF4-654A7D4B00CC}"/>
              </a:ext>
            </a:extLst>
          </p:cNvPr>
          <p:cNvSpPr>
            <a:spLocks noGrp="1"/>
          </p:cNvSpPr>
          <p:nvPr/>
        </p:nvSpPr>
        <p:spPr>
          <a:xfrm>
            <a:off x="571500" y="650557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CELL / BENCHMARK REVIEW  ·  2026-09-28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45D2C74-5887-4302-A0E5-1C20B2467354}"/>
              </a:ext>
            </a:extLst>
          </p:cNvPr>
          <p:cNvSpPr>
            <a:spLocks noGrp="1"/>
          </p:cNvSpPr>
          <p:nvPr/>
        </p:nvSpPr>
        <p:spPr>
          <a:xfrm>
            <a:off x="11125200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Autofit/>
          </a:bodyPr>
          <a:lstStyle/>
          <a:p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DA69AEA-382C-4ACB-8AEB-BAAA0CDDA067}"/>
              </a:ext>
            </a:extLst>
          </p:cNvPr>
          <p:cNvSpPr>
            <a:spLocks noGrp="1"/>
          </p:cNvSpPr>
          <p:nvPr/>
        </p:nvSpPr>
        <p:spPr>
          <a:xfrm>
            <a:off x="552450" y="1362075"/>
            <a:ext cx="266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(a)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FD1E45D-C0E3-47C1-B8C9-30895DD13208}"/>
              </a:ext>
            </a:extLst>
          </p:cNvPr>
          <p:cNvSpPr>
            <a:spLocks noGrp="1"/>
          </p:cNvSpPr>
          <p:nvPr/>
        </p:nvSpPr>
        <p:spPr>
          <a:xfrm>
            <a:off x="847725" y="1362075"/>
            <a:ext cx="49244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M03  chip sensor offset</a:t>
            </a:r>
          </a:p>
        </p:txBody>
      </p:sp>
      <p:graphicFrame>
        <p:nvGraphicFramePr>
          <p:cNvPr id="41" name="Chart"/>
          <p:cNvGraphicFramePr/>
          <p:nvPr/>
        </p:nvGraphicFramePr>
        <p:xfrm>
          <a:off x="552450" y="1695450"/>
          <a:ext cx="5219700" cy="3209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直線コネクタ 11">
            <a:extLst>
              <a:ext uri="{FF2B5EF4-FFF2-40B4-BE49-F238E27FC236}">
                <a16:creationId xmlns:a16="http://schemas.microsoft.com/office/drawing/2014/main" id="{791474C9-7619-4AE6-86C8-9218AA7D6046}"/>
              </a:ext>
            </a:extLst>
          </p:cNvPr>
          <p:cNvSpPr>
            <a:spLocks noGrp="1"/>
          </p:cNvSpPr>
          <p:nvPr/>
        </p:nvSpPr>
        <p:spPr>
          <a:xfrm>
            <a:off x="3057525" y="1819275"/>
            <a:ext cx="0" cy="2324100"/>
          </a:xfrm>
          <a:prstGeom prst="line">
            <a:avLst/>
          </a:prstGeom>
          <a:noFill/>
          <a:ln w="14288">
            <a:solidFill>
              <a:srgbClr val="C4493D"/>
            </a:solidFill>
            <a:prstDash val="dash"/>
          </a:ln>
        </p:spPr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09F3E73-14F9-4C7F-A047-B9B16E249143}"/>
              </a:ext>
            </a:extLst>
          </p:cNvPr>
          <p:cNvSpPr>
            <a:spLocks noGrp="1"/>
          </p:cNvSpPr>
          <p:nvPr/>
        </p:nvSpPr>
        <p:spPr>
          <a:xfrm>
            <a:off x="3152775" y="1838325"/>
            <a:ext cx="10001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13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713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event 300 s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D1AD10B-A7A8-4049-B604-78C802288A83}"/>
              </a:ext>
            </a:extLst>
          </p:cNvPr>
          <p:cNvSpPr>
            <a:spLocks noGrp="1"/>
          </p:cNvSpPr>
          <p:nvPr/>
        </p:nvSpPr>
        <p:spPr>
          <a:xfrm>
            <a:off x="6419850" y="1362075"/>
            <a:ext cx="266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(b)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F07F624-116E-48AB-8531-28EC1A5DBE28}"/>
              </a:ext>
            </a:extLst>
          </p:cNvPr>
          <p:cNvSpPr>
            <a:spLocks noGrp="1"/>
          </p:cNvSpPr>
          <p:nvPr/>
        </p:nvSpPr>
        <p:spPr>
          <a:xfrm>
            <a:off x="6715125" y="1362075"/>
            <a:ext cx="49244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M05  uncommanded chip heat</a:t>
            </a:r>
          </a:p>
        </p:txBody>
      </p:sp>
      <p:graphicFrame>
        <p:nvGraphicFramePr>
          <p:cNvPr id="46" name="Chart"/>
          <p:cNvGraphicFramePr/>
          <p:nvPr/>
        </p:nvGraphicFramePr>
        <p:xfrm>
          <a:off x="6419850" y="1695450"/>
          <a:ext cx="5219700" cy="3209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直線コネクタ 16">
            <a:extLst>
              <a:ext uri="{FF2B5EF4-FFF2-40B4-BE49-F238E27FC236}">
                <a16:creationId xmlns:a16="http://schemas.microsoft.com/office/drawing/2014/main" id="{9AB8EE5F-0F0F-482E-8D5E-19EE28B91E29}"/>
              </a:ext>
            </a:extLst>
          </p:cNvPr>
          <p:cNvSpPr>
            <a:spLocks noGrp="1"/>
          </p:cNvSpPr>
          <p:nvPr/>
        </p:nvSpPr>
        <p:spPr>
          <a:xfrm>
            <a:off x="8810625" y="1819275"/>
            <a:ext cx="0" cy="2324100"/>
          </a:xfrm>
          <a:prstGeom prst="line">
            <a:avLst/>
          </a:prstGeom>
          <a:noFill/>
          <a:ln w="14288">
            <a:solidFill>
              <a:srgbClr val="C4493D"/>
            </a:solidFill>
            <a:prstDash val="dash"/>
          </a:ln>
        </p:spPr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1B93434-0385-467A-BA9E-4C75DD87894C}"/>
              </a:ext>
            </a:extLst>
          </p:cNvPr>
          <p:cNvSpPr>
            <a:spLocks noGrp="1"/>
          </p:cNvSpPr>
          <p:nvPr/>
        </p:nvSpPr>
        <p:spPr>
          <a:xfrm>
            <a:off x="8905875" y="1838325"/>
            <a:ext cx="10001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713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713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event 282 s</a:t>
            </a:r>
          </a:p>
        </p:txBody>
      </p:sp>
      <p:sp>
        <p:nvSpPr>
          <p:cNvPr id="19" name="直線コネクタ 18">
            <a:extLst>
              <a:ext uri="{FF2B5EF4-FFF2-40B4-BE49-F238E27FC236}">
                <a16:creationId xmlns:a16="http://schemas.microsoft.com/office/drawing/2014/main" id="{FC03FE95-D54D-4083-990F-1A11CD1DB010}"/>
              </a:ext>
            </a:extLst>
          </p:cNvPr>
          <p:cNvSpPr>
            <a:spLocks noGrp="1"/>
          </p:cNvSpPr>
          <p:nvPr/>
        </p:nvSpPr>
        <p:spPr>
          <a:xfrm>
            <a:off x="552450" y="5219700"/>
            <a:ext cx="2457450" cy="0"/>
          </a:xfrm>
          <a:prstGeom prst="line">
            <a:avLst/>
          </a:prstGeom>
          <a:noFill/>
          <a:ln w="38100">
            <a:solidFill>
              <a:srgbClr val="7B2DAF"/>
            </a:solidFill>
            <a:prstDash val="solid"/>
          </a:ln>
        </p:spPr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DD3D10D3-B884-49F0-9649-CF6C8E953352}"/>
              </a:ext>
            </a:extLst>
          </p:cNvPr>
          <p:cNvSpPr>
            <a:spLocks noGrp="1"/>
          </p:cNvSpPr>
          <p:nvPr/>
        </p:nvSpPr>
        <p:spPr>
          <a:xfrm>
            <a:off x="552450" y="5295900"/>
            <a:ext cx="2457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0 s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5B901F80-0A2E-4953-B0D1-FC247C9CFA9A}"/>
              </a:ext>
            </a:extLst>
          </p:cNvPr>
          <p:cNvSpPr>
            <a:spLocks noGrp="1"/>
          </p:cNvSpPr>
          <p:nvPr/>
        </p:nvSpPr>
        <p:spPr>
          <a:xfrm>
            <a:off x="552450" y="5619750"/>
            <a:ext cx="2457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M03 detection delay</a:t>
            </a:r>
          </a:p>
        </p:txBody>
      </p:sp>
      <p:sp>
        <p:nvSpPr>
          <p:cNvPr id="22" name="直線コネクタ 21">
            <a:extLst>
              <a:ext uri="{FF2B5EF4-FFF2-40B4-BE49-F238E27FC236}">
                <a16:creationId xmlns:a16="http://schemas.microsoft.com/office/drawing/2014/main" id="{B4B8290E-A99D-49EA-989F-A28074A41422}"/>
              </a:ext>
            </a:extLst>
          </p:cNvPr>
          <p:cNvSpPr>
            <a:spLocks noGrp="1"/>
          </p:cNvSpPr>
          <p:nvPr/>
        </p:nvSpPr>
        <p:spPr>
          <a:xfrm>
            <a:off x="3352800" y="5219700"/>
            <a:ext cx="2457450" cy="0"/>
          </a:xfrm>
          <a:prstGeom prst="line">
            <a:avLst/>
          </a:prstGeom>
          <a:noFill/>
          <a:ln w="38100">
            <a:solidFill>
              <a:srgbClr val="C4493D"/>
            </a:solidFill>
            <a:prstDash val="solid"/>
          </a:ln>
        </p:spPr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8FEFFB98-97F3-4768-9019-727E5C61237C}"/>
              </a:ext>
            </a:extLst>
          </p:cNvPr>
          <p:cNvSpPr>
            <a:spLocks noGrp="1"/>
          </p:cNvSpPr>
          <p:nvPr/>
        </p:nvSpPr>
        <p:spPr>
          <a:xfrm>
            <a:off x="3352800" y="5295900"/>
            <a:ext cx="2457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403.3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B82081F-752F-4339-88B3-B265F59F0B8F}"/>
              </a:ext>
            </a:extLst>
          </p:cNvPr>
          <p:cNvSpPr>
            <a:spLocks noGrp="1"/>
          </p:cNvSpPr>
          <p:nvPr/>
        </p:nvSpPr>
        <p:spPr>
          <a:xfrm>
            <a:off x="3352800" y="5619750"/>
            <a:ext cx="2457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M03 peak NIS</a:t>
            </a:r>
          </a:p>
        </p:txBody>
      </p:sp>
      <p:sp>
        <p:nvSpPr>
          <p:cNvPr id="25" name="直線コネクタ 24">
            <a:extLst>
              <a:ext uri="{FF2B5EF4-FFF2-40B4-BE49-F238E27FC236}">
                <a16:creationId xmlns:a16="http://schemas.microsoft.com/office/drawing/2014/main" id="{50493892-EA18-48ED-B370-0C6BADB85322}"/>
              </a:ext>
            </a:extLst>
          </p:cNvPr>
          <p:cNvSpPr>
            <a:spLocks noGrp="1"/>
          </p:cNvSpPr>
          <p:nvPr/>
        </p:nvSpPr>
        <p:spPr>
          <a:xfrm>
            <a:off x="6153150" y="5219700"/>
            <a:ext cx="2457450" cy="0"/>
          </a:xfrm>
          <a:prstGeom prst="line">
            <a:avLst/>
          </a:prstGeom>
          <a:noFill/>
          <a:ln w="38100">
            <a:solidFill>
              <a:srgbClr val="00A5D8"/>
            </a:solidFill>
            <a:prstDash val="solid"/>
          </a:ln>
        </p:spPr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C4E31AA-A89F-4F91-926B-A6BD49FE34F8}"/>
              </a:ext>
            </a:extLst>
          </p:cNvPr>
          <p:cNvSpPr>
            <a:spLocks noGrp="1"/>
          </p:cNvSpPr>
          <p:nvPr/>
        </p:nvSpPr>
        <p:spPr>
          <a:xfrm>
            <a:off x="6153150" y="5295900"/>
            <a:ext cx="2457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10 s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740AFD2-FA06-402E-BD33-83C4B764B8F3}"/>
              </a:ext>
            </a:extLst>
          </p:cNvPr>
          <p:cNvSpPr>
            <a:spLocks noGrp="1"/>
          </p:cNvSpPr>
          <p:nvPr/>
        </p:nvSpPr>
        <p:spPr>
          <a:xfrm>
            <a:off x="6153150" y="5619750"/>
            <a:ext cx="2457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M05 detection delay</a:t>
            </a:r>
          </a:p>
        </p:txBody>
      </p:sp>
      <p:sp>
        <p:nvSpPr>
          <p:cNvPr id="28" name="直線コネクタ 27">
            <a:extLst>
              <a:ext uri="{FF2B5EF4-FFF2-40B4-BE49-F238E27FC236}">
                <a16:creationId xmlns:a16="http://schemas.microsoft.com/office/drawing/2014/main" id="{ADD6E4BF-B905-4BD2-9DAF-8F66205A8018}"/>
              </a:ext>
            </a:extLst>
          </p:cNvPr>
          <p:cNvSpPr>
            <a:spLocks noGrp="1"/>
          </p:cNvSpPr>
          <p:nvPr/>
        </p:nvSpPr>
        <p:spPr>
          <a:xfrm>
            <a:off x="8953500" y="5219700"/>
            <a:ext cx="2686050" cy="0"/>
          </a:xfrm>
          <a:prstGeom prst="line">
            <a:avLst/>
          </a:prstGeom>
          <a:noFill/>
          <a:ln w="38100">
            <a:solidFill>
              <a:srgbClr val="76BE18"/>
            </a:solidFill>
            <a:prstDash val="solid"/>
          </a:ln>
        </p:spPr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C88A2351-EDBD-44C6-B56B-DF0ED71830B6}"/>
              </a:ext>
            </a:extLst>
          </p:cNvPr>
          <p:cNvSpPr>
            <a:spLocks noGrp="1"/>
          </p:cNvSpPr>
          <p:nvPr/>
        </p:nvSpPr>
        <p:spPr>
          <a:xfrm>
            <a:off x="8953500" y="5295900"/>
            <a:ext cx="26860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3.182 W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23561A9D-3F6B-4E2F-B074-8A600B9F3A8E}"/>
              </a:ext>
            </a:extLst>
          </p:cNvPr>
          <p:cNvSpPr>
            <a:spLocks noGrp="1"/>
          </p:cNvSpPr>
          <p:nvPr/>
        </p:nvSpPr>
        <p:spPr>
          <a:xfrm>
            <a:off x="8953500" y="5619750"/>
            <a:ext cx="2686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M05 peak estimate  |  bias ≤ 0.061 K</a:t>
            </a:r>
          </a:p>
        </p:txBody>
      </p:sp>
    </p:spTree>
    <p:extLst>
      <p:ext uri="{BB962C8B-B14F-4D97-AF65-F5344CB8AC3E}">
        <p14:creationId xmlns:p14="http://schemas.microsoft.com/office/powerpoint/2010/main" val="422696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A956D1F-B324-4BC6-964D-33F2E0CC05E3}"/>
              </a:ext>
            </a:extLst>
          </p:cNvPr>
          <p:cNvSpPr>
            <a:spLocks noGrp="1"/>
          </p:cNvSpPr>
          <p:nvPr/>
        </p:nvSpPr>
        <p:spPr>
          <a:xfrm>
            <a:off x="552450" y="190500"/>
            <a:ext cx="76200" cy="142875"/>
          </a:xfrm>
          <a:prstGeom prst="rect">
            <a:avLst/>
          </a:prstGeom>
          <a:solidFill>
            <a:srgbClr val="76BE18"/>
          </a:solidFill>
          <a:ln w="0">
            <a:noFill/>
            <a:prstDash val="solid"/>
          </a:ln>
        </p:spPr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10797E3-EC3B-452E-8E1F-A246E0EC0772}"/>
              </a:ext>
            </a:extLst>
          </p:cNvPr>
          <p:cNvSpPr>
            <a:spLocks noGrp="1"/>
          </p:cNvSpPr>
          <p:nvPr/>
        </p:nvSpPr>
        <p:spPr>
          <a:xfrm>
            <a:off x="704850" y="161925"/>
            <a:ext cx="409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RESULT 4 / HIGH FIDELITY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07279FA-15EC-4865-9081-CC492EA3B0C6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1087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19050" tIns="0" rIns="1905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平均予測は改善したが、放射感度の再現には至らない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53D72E0-1FFC-4A97-BFB3-0FC849E1C69D}"/>
              </a:ext>
            </a:extLst>
          </p:cNvPr>
          <p:cNvSpPr>
            <a:spLocks noGrp="1"/>
          </p:cNvSpPr>
          <p:nvPr/>
        </p:nvSpPr>
        <p:spPr>
          <a:xfrm>
            <a:off x="571500" y="838200"/>
            <a:ext cx="10934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mesh収束、volume-average精度、物理差分を別々に評価し、設計保証へ昇格させない</a:t>
            </a:r>
          </a:p>
        </p:txBody>
      </p:sp>
      <p:sp>
        <p:nvSpPr>
          <p:cNvPr id="5" name="直線コネクタ 4">
            <a:extLst>
              <a:ext uri="{FF2B5EF4-FFF2-40B4-BE49-F238E27FC236}">
                <a16:creationId xmlns:a16="http://schemas.microsoft.com/office/drawing/2014/main" id="{886418BE-E8D3-4010-88A6-C454911D1746}"/>
              </a:ext>
            </a:extLst>
          </p:cNvPr>
          <p:cNvSpPr>
            <a:spLocks noGrp="1"/>
          </p:cNvSpPr>
          <p:nvPr/>
        </p:nvSpPr>
        <p:spPr>
          <a:xfrm>
            <a:off x="552450" y="1152525"/>
            <a:ext cx="1108710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6" name="直線コネクタ 5">
            <a:extLst>
              <a:ext uri="{FF2B5EF4-FFF2-40B4-BE49-F238E27FC236}">
                <a16:creationId xmlns:a16="http://schemas.microsoft.com/office/drawing/2014/main" id="{6BB6B08B-D51C-4AAB-88C7-6D66071A4DB4}"/>
              </a:ext>
            </a:extLst>
          </p:cNvPr>
          <p:cNvSpPr>
            <a:spLocks noGrp="1"/>
          </p:cNvSpPr>
          <p:nvPr/>
        </p:nvSpPr>
        <p:spPr>
          <a:xfrm>
            <a:off x="552450" y="6438900"/>
            <a:ext cx="1108710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F19AA87-BBB7-4F04-B57F-8A7C86CAA8F3}"/>
              </a:ext>
            </a:extLst>
          </p:cNvPr>
          <p:cNvSpPr>
            <a:spLocks noGrp="1"/>
          </p:cNvSpPr>
          <p:nvPr/>
        </p:nvSpPr>
        <p:spPr>
          <a:xfrm>
            <a:off x="571500" y="650557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CELL / BENCHMARK REVIEW  ·  2026-09-28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0A48F57-DCBE-41A1-8E4E-B084EDBC39DD}"/>
              </a:ext>
            </a:extLst>
          </p:cNvPr>
          <p:cNvSpPr>
            <a:spLocks noGrp="1"/>
          </p:cNvSpPr>
          <p:nvPr/>
        </p:nvSpPr>
        <p:spPr>
          <a:xfrm>
            <a:off x="11125200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Autofit/>
          </a:bodyPr>
          <a:lstStyle/>
          <a:p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302007B-C31C-4A39-A075-431E7CF276FA}"/>
              </a:ext>
            </a:extLst>
          </p:cNvPr>
          <p:cNvSpPr>
            <a:spLocks noGrp="1"/>
          </p:cNvSpPr>
          <p:nvPr/>
        </p:nvSpPr>
        <p:spPr>
          <a:xfrm>
            <a:off x="552450" y="1362075"/>
            <a:ext cx="266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(a)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69F7940-7B32-4515-90ED-2FA4F6645D80}"/>
              </a:ext>
            </a:extLst>
          </p:cNvPr>
          <p:cNvSpPr>
            <a:spLocks noGrp="1"/>
          </p:cNvSpPr>
          <p:nvPr/>
        </p:nvSpPr>
        <p:spPr>
          <a:xfrm>
            <a:off x="847725" y="1362075"/>
            <a:ext cx="46767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local-medium − local-fine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="552450" y="1695450"/>
          <a:ext cx="4972050" cy="31718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2034564-E0C2-43C8-9F64-881FF38500A5}"/>
              </a:ext>
            </a:extLst>
          </p:cNvPr>
          <p:cNvSpPr>
            <a:spLocks noGrp="1"/>
          </p:cNvSpPr>
          <p:nvPr/>
        </p:nvSpPr>
        <p:spPr>
          <a:xfrm>
            <a:off x="5924550" y="1362075"/>
            <a:ext cx="266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(b)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E261721-39A9-483F-B4A8-53787E1D9755}"/>
              </a:ext>
            </a:extLst>
          </p:cNvPr>
          <p:cNvSpPr>
            <a:spLocks noGrp="1"/>
          </p:cNvSpPr>
          <p:nvPr/>
        </p:nvSpPr>
        <p:spPr>
          <a:xfrm>
            <a:off x="6219825" y="1362075"/>
            <a:ext cx="54197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163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radiation pair response</a:t>
            </a:r>
          </a:p>
        </p:txBody>
      </p:sp>
      <p:graphicFrame>
        <p:nvGraphicFramePr>
          <p:cNvPr id="41" name="Chart"/>
          <p:cNvGraphicFramePr/>
          <p:nvPr/>
        </p:nvGraphicFramePr>
        <p:xfrm>
          <a:off x="5924550" y="1695450"/>
          <a:ext cx="5715000" cy="31718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直線コネクタ 14">
            <a:extLst>
              <a:ext uri="{FF2B5EF4-FFF2-40B4-BE49-F238E27FC236}">
                <a16:creationId xmlns:a16="http://schemas.microsoft.com/office/drawing/2014/main" id="{780FD720-AFF1-428B-918F-9F15EF9471A4}"/>
              </a:ext>
            </a:extLst>
          </p:cNvPr>
          <p:cNvSpPr>
            <a:spLocks noGrp="1"/>
          </p:cNvSpPr>
          <p:nvPr/>
        </p:nvSpPr>
        <p:spPr>
          <a:xfrm>
            <a:off x="552450" y="5219700"/>
            <a:ext cx="2457450" cy="0"/>
          </a:xfrm>
          <a:prstGeom prst="line">
            <a:avLst/>
          </a:prstGeom>
          <a:noFill/>
          <a:ln w="38100">
            <a:solidFill>
              <a:srgbClr val="00A5D8"/>
            </a:solidFill>
            <a:prstDash val="solid"/>
          </a:ln>
        </p:spPr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5A76B3A-9BAF-4386-899E-A5B334EBFF1B}"/>
              </a:ext>
            </a:extLst>
          </p:cNvPr>
          <p:cNvSpPr>
            <a:spLocks noGrp="1"/>
          </p:cNvSpPr>
          <p:nvPr/>
        </p:nvSpPr>
        <p:spPr>
          <a:xfrm>
            <a:off x="552450" y="5295900"/>
            <a:ext cx="2457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0.048 K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898E294-47D3-4D53-80EC-53A02342DB2E}"/>
              </a:ext>
            </a:extLst>
          </p:cNvPr>
          <p:cNvSpPr>
            <a:spLocks noGrp="1"/>
          </p:cNvSpPr>
          <p:nvPr/>
        </p:nvSpPr>
        <p:spPr>
          <a:xfrm>
            <a:off x="552450" y="5619750"/>
            <a:ext cx="2457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HV01 external RMSE</a:t>
            </a:r>
          </a:p>
        </p:txBody>
      </p:sp>
      <p:sp>
        <p:nvSpPr>
          <p:cNvPr id="18" name="直線コネクタ 17">
            <a:extLst>
              <a:ext uri="{FF2B5EF4-FFF2-40B4-BE49-F238E27FC236}">
                <a16:creationId xmlns:a16="http://schemas.microsoft.com/office/drawing/2014/main" id="{78CA3A2C-AD5F-40D4-A5A9-D94B5BF1EF4C}"/>
              </a:ext>
            </a:extLst>
          </p:cNvPr>
          <p:cNvSpPr>
            <a:spLocks noGrp="1"/>
          </p:cNvSpPr>
          <p:nvPr/>
        </p:nvSpPr>
        <p:spPr>
          <a:xfrm>
            <a:off x="3352800" y="5219700"/>
            <a:ext cx="2457450" cy="0"/>
          </a:xfrm>
          <a:prstGeom prst="line">
            <a:avLst/>
          </a:prstGeom>
          <a:noFill/>
          <a:ln w="38100">
            <a:solidFill>
              <a:srgbClr val="00A5D8"/>
            </a:solidFill>
            <a:prstDash val="solid"/>
          </a:ln>
        </p:spPr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C41CA615-2CC0-415A-959E-F293A983A7F4}"/>
              </a:ext>
            </a:extLst>
          </p:cNvPr>
          <p:cNvSpPr>
            <a:spLocks noGrp="1"/>
          </p:cNvSpPr>
          <p:nvPr/>
        </p:nvSpPr>
        <p:spPr>
          <a:xfrm>
            <a:off x="3352800" y="5295900"/>
            <a:ext cx="2457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0.144 K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4888D7AC-1B5D-4F60-A07F-69424D86C909}"/>
              </a:ext>
            </a:extLst>
          </p:cNvPr>
          <p:cNvSpPr>
            <a:spLocks noGrp="1"/>
          </p:cNvSpPr>
          <p:nvPr/>
        </p:nvSpPr>
        <p:spPr>
          <a:xfrm>
            <a:off x="3352800" y="5619750"/>
            <a:ext cx="2457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HV02 external RMSE</a:t>
            </a:r>
          </a:p>
        </p:txBody>
      </p:sp>
      <p:sp>
        <p:nvSpPr>
          <p:cNvPr id="21" name="直線コネクタ 20">
            <a:extLst>
              <a:ext uri="{FF2B5EF4-FFF2-40B4-BE49-F238E27FC236}">
                <a16:creationId xmlns:a16="http://schemas.microsoft.com/office/drawing/2014/main" id="{00CCD4CC-E9AC-4354-A2E2-B5F4F2C367D6}"/>
              </a:ext>
            </a:extLst>
          </p:cNvPr>
          <p:cNvSpPr>
            <a:spLocks noGrp="1"/>
          </p:cNvSpPr>
          <p:nvPr/>
        </p:nvSpPr>
        <p:spPr>
          <a:xfrm>
            <a:off x="6153150" y="5219700"/>
            <a:ext cx="2457450" cy="0"/>
          </a:xfrm>
          <a:prstGeom prst="line">
            <a:avLst/>
          </a:prstGeom>
          <a:noFill/>
          <a:ln w="38100">
            <a:solidFill>
              <a:srgbClr val="7B2DAF"/>
            </a:solidFill>
            <a:prstDash val="solid"/>
          </a:ln>
        </p:spPr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90BE370-02D0-4023-BED7-8161FEDE98DA}"/>
              </a:ext>
            </a:extLst>
          </p:cNvPr>
          <p:cNvSpPr>
            <a:spLocks noGrp="1"/>
          </p:cNvSpPr>
          <p:nvPr/>
        </p:nvSpPr>
        <p:spPr>
          <a:xfrm>
            <a:off x="6153150" y="5295900"/>
            <a:ext cx="2457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−0.381 K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4DB1DFB6-CE68-4A58-858E-F4A454F06BEB}"/>
              </a:ext>
            </a:extLst>
          </p:cNvPr>
          <p:cNvSpPr>
            <a:spLocks noGrp="1"/>
          </p:cNvSpPr>
          <p:nvPr/>
        </p:nvSpPr>
        <p:spPr>
          <a:xfrm>
            <a:off x="6153150" y="5619750"/>
            <a:ext cx="2457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CAE radiation effect at 220 s</a:t>
            </a:r>
          </a:p>
        </p:txBody>
      </p:sp>
      <p:sp>
        <p:nvSpPr>
          <p:cNvPr id="24" name="直線コネクタ 23">
            <a:extLst>
              <a:ext uri="{FF2B5EF4-FFF2-40B4-BE49-F238E27FC236}">
                <a16:creationId xmlns:a16="http://schemas.microsoft.com/office/drawing/2014/main" id="{7CF8254A-6078-4925-BCBF-90B026B9A46F}"/>
              </a:ext>
            </a:extLst>
          </p:cNvPr>
          <p:cNvSpPr>
            <a:spLocks noGrp="1"/>
          </p:cNvSpPr>
          <p:nvPr/>
        </p:nvSpPr>
        <p:spPr>
          <a:xfrm>
            <a:off x="8953500" y="5219700"/>
            <a:ext cx="2686050" cy="0"/>
          </a:xfrm>
          <a:prstGeom prst="line">
            <a:avLst/>
          </a:prstGeom>
          <a:noFill/>
          <a:ln w="38100">
            <a:solidFill>
              <a:srgbClr val="C4493D"/>
            </a:solidFill>
            <a:prstDash val="solid"/>
          </a:ln>
        </p:spPr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D5F0D82-2520-4A02-9DB2-9043CCA3A113}"/>
              </a:ext>
            </a:extLst>
          </p:cNvPr>
          <p:cNvSpPr>
            <a:spLocks noGrp="1"/>
          </p:cNvSpPr>
          <p:nvPr/>
        </p:nvSpPr>
        <p:spPr>
          <a:xfrm>
            <a:off x="8953500" y="5295900"/>
            <a:ext cx="26860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8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−0.001 K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C8E3B92-E19F-4BB9-9F6F-289CBF2A2B38}"/>
              </a:ext>
            </a:extLst>
          </p:cNvPr>
          <p:cNvSpPr>
            <a:spLocks noGrp="1"/>
          </p:cNvSpPr>
          <p:nvPr/>
        </p:nvSpPr>
        <p:spPr>
          <a:xfrm>
            <a:off x="8953500" y="5619750"/>
            <a:ext cx="2686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RC predicted effect at 220 s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1C0F096E-B6A8-4F8F-B0D8-5C7D59B30A5A}"/>
              </a:ext>
            </a:extLst>
          </p:cNvPr>
          <p:cNvSpPr>
            <a:spLocks noGrp="1"/>
          </p:cNvSpPr>
          <p:nvPr/>
        </p:nvSpPr>
        <p:spPr>
          <a:xfrm>
            <a:off x="552450" y="6115050"/>
            <a:ext cx="11087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863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863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判定境界：benchmark meshは用途限定でqualified。strict mesh、時間刻み収束、実験妥当化は未完了。</a:t>
            </a:r>
          </a:p>
        </p:txBody>
      </p:sp>
    </p:spTree>
    <p:extLst>
      <p:ext uri="{BB962C8B-B14F-4D97-AF65-F5344CB8AC3E}">
        <p14:creationId xmlns:p14="http://schemas.microsoft.com/office/powerpoint/2010/main" val="2618892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381B2BF5-06DE-4D4E-9755-89E4665387A8}"/>
              </a:ext>
            </a:extLst>
          </p:cNvPr>
          <p:cNvSpPr>
            <a:spLocks noGrp="1"/>
          </p:cNvSpPr>
          <p:nvPr/>
        </p:nvSpPr>
        <p:spPr>
          <a:xfrm>
            <a:off x="552450" y="190500"/>
            <a:ext cx="76200" cy="142875"/>
          </a:xfrm>
          <a:prstGeom prst="rect">
            <a:avLst/>
          </a:prstGeom>
          <a:solidFill>
            <a:srgbClr val="76BE18"/>
          </a:solidFill>
          <a:ln w="0">
            <a:noFill/>
            <a:prstDash val="solid"/>
          </a:ln>
        </p:spPr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6874452-4D7F-4A09-8BC2-A10BD3672304}"/>
              </a:ext>
            </a:extLst>
          </p:cNvPr>
          <p:cNvSpPr>
            <a:spLocks noGrp="1"/>
          </p:cNvSpPr>
          <p:nvPr/>
        </p:nvSpPr>
        <p:spPr>
          <a:xfrm>
            <a:off x="704850" y="161925"/>
            <a:ext cx="409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CONCLUSION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4DBE9BC-8D0B-44D0-AA42-961C3CD0D1B6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1087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19050" tIns="0" rIns="1905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現時点の適用範囲と次の検証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B167E2D-C870-47DD-B36B-E8F22079D413}"/>
              </a:ext>
            </a:extLst>
          </p:cNvPr>
          <p:cNvSpPr>
            <a:spLocks noGrp="1"/>
          </p:cNvSpPr>
          <p:nvPr/>
        </p:nvSpPr>
        <p:spPr>
          <a:xfrm>
            <a:off x="571500" y="838200"/>
            <a:ext cx="10934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1013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保存則付きの高速推定層として有用。製品判断へ使う範囲は証拠の強さに合わせて限定する</a:t>
            </a:r>
          </a:p>
        </p:txBody>
      </p:sp>
      <p:sp>
        <p:nvSpPr>
          <p:cNvPr id="5" name="直線コネクタ 4">
            <a:extLst>
              <a:ext uri="{FF2B5EF4-FFF2-40B4-BE49-F238E27FC236}">
                <a16:creationId xmlns:a16="http://schemas.microsoft.com/office/drawing/2014/main" id="{7A20467A-97C4-4D0F-B162-4AE513CC8053}"/>
              </a:ext>
            </a:extLst>
          </p:cNvPr>
          <p:cNvSpPr>
            <a:spLocks noGrp="1"/>
          </p:cNvSpPr>
          <p:nvPr/>
        </p:nvSpPr>
        <p:spPr>
          <a:xfrm>
            <a:off x="552450" y="1152525"/>
            <a:ext cx="1108710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6" name="直線コネクタ 5">
            <a:extLst>
              <a:ext uri="{FF2B5EF4-FFF2-40B4-BE49-F238E27FC236}">
                <a16:creationId xmlns:a16="http://schemas.microsoft.com/office/drawing/2014/main" id="{998319AA-C1C6-4FF1-8AC2-34B2E40C2714}"/>
              </a:ext>
            </a:extLst>
          </p:cNvPr>
          <p:cNvSpPr>
            <a:spLocks noGrp="1"/>
          </p:cNvSpPr>
          <p:nvPr/>
        </p:nvSpPr>
        <p:spPr>
          <a:xfrm>
            <a:off x="552450" y="6438900"/>
            <a:ext cx="11087100" cy="0"/>
          </a:xfrm>
          <a:prstGeom prst="line">
            <a:avLst/>
          </a:prstGeom>
          <a:noFill/>
          <a:ln w="9525">
            <a:solidFill>
              <a:srgbClr val="D3D3D3"/>
            </a:solidFill>
            <a:prstDash val="solid"/>
          </a:ln>
        </p:spPr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645C8CC-07E5-4B0E-A209-DB9F6AE8D44A}"/>
              </a:ext>
            </a:extLst>
          </p:cNvPr>
          <p:cNvSpPr>
            <a:spLocks noGrp="1"/>
          </p:cNvSpPr>
          <p:nvPr/>
        </p:nvSpPr>
        <p:spPr>
          <a:xfrm>
            <a:off x="571500" y="650557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28575" tIns="19050" rIns="28575" bIns="19050" anchor="ctr">
            <a:noAutofit/>
          </a:bodyPr>
          <a:lstStyle/>
          <a:p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CELL / BENCHMARK REVIEW  ·  2026-09-28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326A547-64E9-420B-AE1E-122D17FC93C3}"/>
              </a:ext>
            </a:extLst>
          </p:cNvPr>
          <p:cNvSpPr>
            <a:spLocks noGrp="1"/>
          </p:cNvSpPr>
          <p:nvPr/>
        </p:nvSpPr>
        <p:spPr>
          <a:xfrm>
            <a:off x="11125200" y="6496050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Autofit/>
          </a:bodyPr>
          <a:lstStyle/>
          <a:p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1572AAB-81C8-436D-9C39-8A2C431C42AB}"/>
              </a:ext>
            </a:extLst>
          </p:cNvPr>
          <p:cNvSpPr>
            <a:spLocks noGrp="1"/>
          </p:cNvSpPr>
          <p:nvPr/>
        </p:nvSpPr>
        <p:spPr>
          <a:xfrm>
            <a:off x="552450" y="1390650"/>
            <a:ext cx="6438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証拠に基づく適用範囲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A5FCBE6-685D-49E5-9E1F-7A7DA7B574C6}"/>
              </a:ext>
            </a:extLst>
          </p:cNvPr>
          <p:cNvSpPr>
            <a:spLocks noGrp="1"/>
          </p:cNvSpPr>
          <p:nvPr/>
        </p:nvSpPr>
        <p:spPr>
          <a:xfrm>
            <a:off x="552450" y="1790700"/>
            <a:ext cx="6438900" cy="1028700"/>
          </a:xfrm>
          <a:prstGeom prst="rect">
            <a:avLst/>
          </a:prstGeom>
          <a:solidFill>
            <a:srgbClr val="EEF7DF"/>
          </a:solidFill>
          <a:ln w="9525">
            <a:solidFill>
              <a:srgbClr val="4D8710"/>
            </a:solidFill>
            <a:prstDash val="solid"/>
          </a:ln>
        </p:spPr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32A8E5E-B3C5-49C5-BEB8-EE623F95612A}"/>
              </a:ext>
            </a:extLst>
          </p:cNvPr>
          <p:cNvSpPr>
            <a:spLocks noGrp="1"/>
          </p:cNvSpPr>
          <p:nvPr/>
        </p:nvSpPr>
        <p:spPr>
          <a:xfrm>
            <a:off x="552450" y="1790700"/>
            <a:ext cx="104775" cy="1028700"/>
          </a:xfrm>
          <a:prstGeom prst="rect">
            <a:avLst/>
          </a:prstGeom>
          <a:solidFill>
            <a:srgbClr val="4D8710"/>
          </a:solidFill>
          <a:ln w="0">
            <a:noFill/>
            <a:prstDash val="solid"/>
          </a:ln>
        </p:spPr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00EB831-E727-4C53-95AA-FE29C77450A6}"/>
              </a:ext>
            </a:extLst>
          </p:cNvPr>
          <p:cNvSpPr>
            <a:spLocks noGrp="1"/>
          </p:cNvSpPr>
          <p:nvPr/>
        </p:nvSpPr>
        <p:spPr>
          <a:xfrm>
            <a:off x="838200" y="1933575"/>
            <a:ext cx="16573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1013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現時点で使用可能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4C954EE-FA6B-4F45-90A7-FEA79EC741DA}"/>
              </a:ext>
            </a:extLst>
          </p:cNvPr>
          <p:cNvSpPr>
            <a:spLocks noGrp="1"/>
          </p:cNvSpPr>
          <p:nvPr/>
        </p:nvSpPr>
        <p:spPr>
          <a:xfrm>
            <a:off x="2638425" y="1914525"/>
            <a:ext cx="4114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volume-average温度のscreeningと異常帰属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AF87DF2-5016-4765-AB2D-7F28DD9DF238}"/>
              </a:ext>
            </a:extLst>
          </p:cNvPr>
          <p:cNvSpPr>
            <a:spLocks noGrp="1"/>
          </p:cNvSpPr>
          <p:nvPr/>
        </p:nvSpPr>
        <p:spPr>
          <a:xfrm>
            <a:off x="838200" y="2343150"/>
            <a:ext cx="59150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TopCell pass、線形COMSOL 10/10、外部forecast平均0.036 K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AA92AC54-D65B-41FA-8B1A-6B20415D3711}"/>
              </a:ext>
            </a:extLst>
          </p:cNvPr>
          <p:cNvSpPr>
            <a:spLocks noGrp="1"/>
          </p:cNvSpPr>
          <p:nvPr/>
        </p:nvSpPr>
        <p:spPr>
          <a:xfrm>
            <a:off x="552450" y="3000375"/>
            <a:ext cx="6438900" cy="1028700"/>
          </a:xfrm>
          <a:prstGeom prst="rect">
            <a:avLst/>
          </a:prstGeom>
          <a:solidFill>
            <a:srgbClr val="FFF5D7"/>
          </a:solidFill>
          <a:ln w="9525">
            <a:solidFill>
              <a:srgbClr val="8A6500"/>
            </a:solidFill>
            <a:prstDash val="solid"/>
          </a:ln>
        </p:spPr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9A12A4D-0F3E-4167-A15A-3E5CB7671D9D}"/>
              </a:ext>
            </a:extLst>
          </p:cNvPr>
          <p:cNvSpPr>
            <a:spLocks noGrp="1"/>
          </p:cNvSpPr>
          <p:nvPr/>
        </p:nvSpPr>
        <p:spPr>
          <a:xfrm>
            <a:off x="552450" y="3000375"/>
            <a:ext cx="104775" cy="1028700"/>
          </a:xfrm>
          <a:prstGeom prst="rect">
            <a:avLst/>
          </a:prstGeom>
          <a:solidFill>
            <a:srgbClr val="8A6500"/>
          </a:solidFill>
          <a:ln w="0">
            <a:noFill/>
            <a:prstDash val="solid"/>
          </a:ln>
        </p:spPr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30C5BCD5-C055-461E-991E-CC6AABD7875E}"/>
              </a:ext>
            </a:extLst>
          </p:cNvPr>
          <p:cNvSpPr>
            <a:spLocks noGrp="1"/>
          </p:cNvSpPr>
          <p:nvPr/>
        </p:nvSpPr>
        <p:spPr>
          <a:xfrm>
            <a:off x="838200" y="3143250"/>
            <a:ext cx="16573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8A6500"/>
                </a:solidFill>
                <a:latin typeface="Yu Gothic"/>
                <a:ea typeface="Yu Gothic"/>
                <a:cs typeface="Yu Gothic"/>
              </a:defRPr>
            </a:pPr>
            <a:r>
              <a:rPr sz="1013" b="1" i="0">
                <a:solidFill>
                  <a:srgbClr val="8A6500"/>
                </a:solidFill>
                <a:latin typeface="Yu Gothic"/>
                <a:ea typeface="Yu Gothic"/>
                <a:cs typeface="Yu Gothic"/>
              </a:rPr>
              <a:t>条件付き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BB5D1B0-E210-4D29-96EC-68FDFB2BBCFF}"/>
              </a:ext>
            </a:extLst>
          </p:cNvPr>
          <p:cNvSpPr>
            <a:spLocks noGrp="1"/>
          </p:cNvSpPr>
          <p:nvPr/>
        </p:nvSpPr>
        <p:spPr>
          <a:xfrm>
            <a:off x="2638425" y="3124200"/>
            <a:ext cx="4114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shadow運用での予測・monitor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86AF04E-2C30-4C35-AB48-FF7BC0511791}"/>
              </a:ext>
            </a:extLst>
          </p:cNvPr>
          <p:cNvSpPr>
            <a:spLocks noGrp="1"/>
          </p:cNvSpPr>
          <p:nvPr/>
        </p:nvSpPr>
        <p:spPr>
          <a:xfrm>
            <a:off x="838200" y="3552825"/>
            <a:ext cx="59150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運転域照合、drift監視、装置別thresholdを併用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5211822-8C02-46B4-83EE-1DB84E608AF9}"/>
              </a:ext>
            </a:extLst>
          </p:cNvPr>
          <p:cNvSpPr>
            <a:spLocks noGrp="1"/>
          </p:cNvSpPr>
          <p:nvPr/>
        </p:nvSpPr>
        <p:spPr>
          <a:xfrm>
            <a:off x="552450" y="4210050"/>
            <a:ext cx="6438900" cy="1028700"/>
          </a:xfrm>
          <a:prstGeom prst="rect">
            <a:avLst/>
          </a:prstGeom>
          <a:solidFill>
            <a:srgbClr val="FBE9E7"/>
          </a:solidFill>
          <a:ln w="9525">
            <a:solidFill>
              <a:srgbClr val="C4493D"/>
            </a:solidFill>
            <a:prstDash val="solid"/>
          </a:ln>
        </p:spPr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5802459A-80EB-46D5-8BA2-A4DDA3D84D91}"/>
              </a:ext>
            </a:extLst>
          </p:cNvPr>
          <p:cNvSpPr>
            <a:spLocks noGrp="1"/>
          </p:cNvSpPr>
          <p:nvPr/>
        </p:nvSpPr>
        <p:spPr>
          <a:xfrm>
            <a:off x="552450" y="4210050"/>
            <a:ext cx="104775" cy="1028700"/>
          </a:xfrm>
          <a:prstGeom prst="rect">
            <a:avLst/>
          </a:prstGeom>
          <a:solidFill>
            <a:srgbClr val="C4493D"/>
          </a:solidFill>
          <a:ln w="0">
            <a:noFill/>
            <a:prstDash val="solid"/>
          </a:ln>
        </p:spPr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887CC893-92A5-4854-A5BF-E4449D3C7BA0}"/>
              </a:ext>
            </a:extLst>
          </p:cNvPr>
          <p:cNvSpPr>
            <a:spLocks noGrp="1"/>
          </p:cNvSpPr>
          <p:nvPr/>
        </p:nvSpPr>
        <p:spPr>
          <a:xfrm>
            <a:off x="838200" y="4352925"/>
            <a:ext cx="16573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1013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未検証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8CB31C66-AA0D-4228-929E-6B0AA4D1D9C0}"/>
              </a:ext>
            </a:extLst>
          </p:cNvPr>
          <p:cNvSpPr>
            <a:spLocks noGrp="1"/>
          </p:cNvSpPr>
          <p:nvPr/>
        </p:nvSpPr>
        <p:spPr>
          <a:xfrm>
            <a:off x="2638425" y="4333875"/>
            <a:ext cx="4114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hotspot安全、interlock、製品受入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34B33835-095E-426B-98B4-9D345211ECB3}"/>
              </a:ext>
            </a:extLst>
          </p:cNvPr>
          <p:cNvSpPr>
            <a:spLocks noGrp="1"/>
          </p:cNvSpPr>
          <p:nvPr/>
        </p:nvSpPr>
        <p:spPr>
          <a:xfrm>
            <a:off x="838200" y="4762500"/>
            <a:ext cx="59150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放射感度、strict mesh、時間刻み、実験比較が不足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86FA28B-5309-41D2-8D46-A6C3D22091DB}"/>
              </a:ext>
            </a:extLst>
          </p:cNvPr>
          <p:cNvSpPr>
            <a:spLocks noGrp="1"/>
          </p:cNvSpPr>
          <p:nvPr/>
        </p:nvSpPr>
        <p:spPr>
          <a:xfrm>
            <a:off x="7486650" y="1390650"/>
            <a:ext cx="4152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製品適用までのgate</a:t>
            </a:r>
          </a:p>
        </p:txBody>
      </p:sp>
      <p:sp>
        <p:nvSpPr>
          <p:cNvPr id="26" name="楕円 25">
            <a:extLst>
              <a:ext uri="{FF2B5EF4-FFF2-40B4-BE49-F238E27FC236}">
                <a16:creationId xmlns:a16="http://schemas.microsoft.com/office/drawing/2014/main" id="{E7C24C59-7339-4CB3-9EC7-D9286C7CBC2E}"/>
              </a:ext>
            </a:extLst>
          </p:cNvPr>
          <p:cNvSpPr>
            <a:spLocks noGrp="1"/>
          </p:cNvSpPr>
          <p:nvPr/>
        </p:nvSpPr>
        <p:spPr>
          <a:xfrm>
            <a:off x="7486650" y="1828800"/>
            <a:ext cx="552450" cy="552450"/>
          </a:xfrm>
          <a:prstGeom prst="ellipse">
            <a:avLst/>
          </a:prstGeom>
          <a:solidFill>
            <a:srgbClr val="00A5D8"/>
          </a:solidFill>
          <a:ln w="0">
            <a:noFill/>
            <a:prstDash val="solid"/>
          </a:ln>
        </p:spPr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5DCE479-7DA8-426E-A806-3827053DE71C}"/>
              </a:ext>
            </a:extLst>
          </p:cNvPr>
          <p:cNvSpPr>
            <a:spLocks noGrp="1"/>
          </p:cNvSpPr>
          <p:nvPr/>
        </p:nvSpPr>
        <p:spPr>
          <a:xfrm>
            <a:off x="7534275" y="1924050"/>
            <a:ext cx="457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EAA0392D-59F5-4E17-A02D-FEA49D703BF8}"/>
              </a:ext>
            </a:extLst>
          </p:cNvPr>
          <p:cNvSpPr>
            <a:spLocks noGrp="1"/>
          </p:cNvSpPr>
          <p:nvPr/>
        </p:nvSpPr>
        <p:spPr>
          <a:xfrm>
            <a:off x="8277225" y="1809750"/>
            <a:ext cx="31527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離散化を収束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293892D-DBC0-48B3-AD26-16507ED03FBD}"/>
              </a:ext>
            </a:extLst>
          </p:cNvPr>
          <p:cNvSpPr>
            <a:spLocks noGrp="1"/>
          </p:cNvSpPr>
          <p:nvPr/>
        </p:nvSpPr>
        <p:spPr>
          <a:xfrm>
            <a:off x="8277225" y="2152650"/>
            <a:ext cx="3152775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meshと時間刻みを用途基準へ収束</a:t>
            </a:r>
          </a:p>
        </p:txBody>
      </p:sp>
      <p:sp>
        <p:nvSpPr>
          <p:cNvPr id="30" name="直線コネクタ 29">
            <a:extLst>
              <a:ext uri="{FF2B5EF4-FFF2-40B4-BE49-F238E27FC236}">
                <a16:creationId xmlns:a16="http://schemas.microsoft.com/office/drawing/2014/main" id="{1105DE9D-A5A3-4005-8B0A-A88BDBCCBB44}"/>
              </a:ext>
            </a:extLst>
          </p:cNvPr>
          <p:cNvSpPr>
            <a:spLocks noGrp="1"/>
          </p:cNvSpPr>
          <p:nvPr/>
        </p:nvSpPr>
        <p:spPr>
          <a:xfrm>
            <a:off x="7762875" y="2390775"/>
            <a:ext cx="0" cy="609600"/>
          </a:xfrm>
          <a:prstGeom prst="line">
            <a:avLst/>
          </a:prstGeom>
          <a:noFill/>
          <a:ln w="19050">
            <a:solidFill>
              <a:srgbClr val="D3D3D3"/>
            </a:solidFill>
            <a:prstDash val="solid"/>
          </a:ln>
        </p:spPr>
      </p:sp>
      <p:sp>
        <p:nvSpPr>
          <p:cNvPr id="31" name="楕円 30">
            <a:extLst>
              <a:ext uri="{FF2B5EF4-FFF2-40B4-BE49-F238E27FC236}">
                <a16:creationId xmlns:a16="http://schemas.microsoft.com/office/drawing/2014/main" id="{97268DB0-6537-4C77-94D2-A94B2BE29922}"/>
              </a:ext>
            </a:extLst>
          </p:cNvPr>
          <p:cNvSpPr>
            <a:spLocks noGrp="1"/>
          </p:cNvSpPr>
          <p:nvPr/>
        </p:nvSpPr>
        <p:spPr>
          <a:xfrm>
            <a:off x="7486650" y="3009900"/>
            <a:ext cx="552450" cy="552450"/>
          </a:xfrm>
          <a:prstGeom prst="ellipse">
            <a:avLst/>
          </a:prstGeom>
          <a:solidFill>
            <a:srgbClr val="7B2DAF"/>
          </a:solidFill>
          <a:ln w="0">
            <a:noFill/>
            <a:prstDash val="solid"/>
          </a:ln>
        </p:spPr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E086B7D4-E4DC-4E61-AAC4-4F0D332406C5}"/>
              </a:ext>
            </a:extLst>
          </p:cNvPr>
          <p:cNvSpPr>
            <a:spLocks noGrp="1"/>
          </p:cNvSpPr>
          <p:nvPr/>
        </p:nvSpPr>
        <p:spPr>
          <a:xfrm>
            <a:off x="7534275" y="3105150"/>
            <a:ext cx="457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C298C3F5-25BE-456B-AEFE-E306EAEC91D3}"/>
              </a:ext>
            </a:extLst>
          </p:cNvPr>
          <p:cNvSpPr>
            <a:spLocks noGrp="1"/>
          </p:cNvSpPr>
          <p:nvPr/>
        </p:nvSpPr>
        <p:spPr>
          <a:xfrm>
            <a:off x="8277225" y="2990850"/>
            <a:ext cx="31527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同一観測量で実験比較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7EAFC76D-8BAE-421D-91E7-1EED4030132F}"/>
              </a:ext>
            </a:extLst>
          </p:cNvPr>
          <p:cNvSpPr>
            <a:spLocks noGrp="1"/>
          </p:cNvSpPr>
          <p:nvPr/>
        </p:nvSpPr>
        <p:spPr>
          <a:xfrm>
            <a:off x="8277225" y="3333750"/>
            <a:ext cx="3152775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領域平均と計測不確かさを対応</a:t>
            </a:r>
          </a:p>
        </p:txBody>
      </p:sp>
      <p:sp>
        <p:nvSpPr>
          <p:cNvPr id="35" name="直線コネクタ 34">
            <a:extLst>
              <a:ext uri="{FF2B5EF4-FFF2-40B4-BE49-F238E27FC236}">
                <a16:creationId xmlns:a16="http://schemas.microsoft.com/office/drawing/2014/main" id="{B03B7291-94E8-484D-AA42-50938F0DA0FF}"/>
              </a:ext>
            </a:extLst>
          </p:cNvPr>
          <p:cNvSpPr>
            <a:spLocks noGrp="1"/>
          </p:cNvSpPr>
          <p:nvPr/>
        </p:nvSpPr>
        <p:spPr>
          <a:xfrm>
            <a:off x="7762875" y="3571875"/>
            <a:ext cx="0" cy="609600"/>
          </a:xfrm>
          <a:prstGeom prst="line">
            <a:avLst/>
          </a:prstGeom>
          <a:noFill/>
          <a:ln w="19050">
            <a:solidFill>
              <a:srgbClr val="D3D3D3"/>
            </a:solidFill>
            <a:prstDash val="solid"/>
          </a:ln>
        </p:spPr>
      </p:sp>
      <p:sp>
        <p:nvSpPr>
          <p:cNvPr id="36" name="楕円 35">
            <a:extLst>
              <a:ext uri="{FF2B5EF4-FFF2-40B4-BE49-F238E27FC236}">
                <a16:creationId xmlns:a16="http://schemas.microsoft.com/office/drawing/2014/main" id="{D22381D9-0CD4-4CF8-BDF8-61F280681044}"/>
              </a:ext>
            </a:extLst>
          </p:cNvPr>
          <p:cNvSpPr>
            <a:spLocks noGrp="1"/>
          </p:cNvSpPr>
          <p:nvPr/>
        </p:nvSpPr>
        <p:spPr>
          <a:xfrm>
            <a:off x="7486650" y="4191000"/>
            <a:ext cx="552450" cy="552450"/>
          </a:xfrm>
          <a:prstGeom prst="ellipse">
            <a:avLst/>
          </a:prstGeom>
          <a:solidFill>
            <a:srgbClr val="76BE18"/>
          </a:solidFill>
          <a:ln w="0">
            <a:noFill/>
            <a:prstDash val="solid"/>
          </a:ln>
        </p:spPr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6679F91A-40A4-47D5-B8C0-47510DC04DD7}"/>
              </a:ext>
            </a:extLst>
          </p:cNvPr>
          <p:cNvSpPr>
            <a:spLocks noGrp="1"/>
          </p:cNvSpPr>
          <p:nvPr/>
        </p:nvSpPr>
        <p:spPr>
          <a:xfrm>
            <a:off x="7534275" y="4286250"/>
            <a:ext cx="457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573BFAAB-C301-41AA-B5C1-0472A1AF0862}"/>
              </a:ext>
            </a:extLst>
          </p:cNvPr>
          <p:cNvSpPr>
            <a:spLocks noGrp="1"/>
          </p:cNvSpPr>
          <p:nvPr/>
        </p:nvSpPr>
        <p:spPr>
          <a:xfrm>
            <a:off x="8277225" y="4171950"/>
            <a:ext cx="31527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333333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333333"/>
                </a:solidFill>
                <a:latin typeface="Yu Gothic"/>
                <a:ea typeface="Yu Gothic"/>
                <a:cs typeface="Yu Gothic"/>
              </a:rPr>
              <a:t>運用thresholdを固定</a:t>
            </a: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FC3BBC65-F4C0-4FCC-A926-3540A0011D54}"/>
              </a:ext>
            </a:extLst>
          </p:cNvPr>
          <p:cNvSpPr>
            <a:spLocks noGrp="1"/>
          </p:cNvSpPr>
          <p:nvPr/>
        </p:nvSpPr>
        <p:spPr>
          <a:xfrm>
            <a:off x="8277225" y="4514850"/>
            <a:ext cx="3152775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55555"/>
                </a:solidFill>
                <a:latin typeface="Yu Gothic"/>
                <a:ea typeface="Yu Gothic"/>
                <a:cs typeface="Yu Gothic"/>
              </a:rPr>
              <a:t>FMEA、誤警報率、thermal margin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34B27842-9749-46A0-99F6-55F09F695109}"/>
              </a:ext>
            </a:extLst>
          </p:cNvPr>
          <p:cNvSpPr>
            <a:spLocks noGrp="1"/>
          </p:cNvSpPr>
          <p:nvPr/>
        </p:nvSpPr>
        <p:spPr>
          <a:xfrm>
            <a:off x="552450" y="5638800"/>
            <a:ext cx="11087100" cy="638175"/>
          </a:xfrm>
          <a:prstGeom prst="rect">
            <a:avLst/>
          </a:prstGeom>
          <a:solidFill>
            <a:srgbClr val="201445"/>
          </a:solidFill>
          <a:ln w="0">
            <a:noFill/>
            <a:prstDash val="solid"/>
          </a:ln>
        </p:spPr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0407ECE9-D073-4E51-BC34-D1B72C54CE3B}"/>
              </a:ext>
            </a:extLst>
          </p:cNvPr>
          <p:cNvSpPr>
            <a:spLocks noGrp="1"/>
          </p:cNvSpPr>
          <p:nvPr/>
        </p:nvSpPr>
        <p:spPr>
          <a:xfrm>
            <a:off x="771525" y="5819775"/>
            <a:ext cx="876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1125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5068EDF2-BFDD-4A92-974B-34C408E33BEE}"/>
              </a:ext>
            </a:extLst>
          </p:cNvPr>
          <p:cNvSpPr>
            <a:spLocks noGrp="1"/>
          </p:cNvSpPr>
          <p:nvPr/>
        </p:nvSpPr>
        <p:spPr>
          <a:xfrm>
            <a:off x="1676400" y="5753100"/>
            <a:ext cx="9705975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425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高忠実度CAEと実測の間に、物理整合した高速な予測・監視層を置ける</a:t>
            </a:r>
          </a:p>
        </p:txBody>
      </p:sp>
    </p:spTree>
    <p:extLst>
      <p:ext uri="{BB962C8B-B14F-4D97-AF65-F5344CB8AC3E}">
        <p14:creationId xmlns:p14="http://schemas.microsoft.com/office/powerpoint/2010/main" val="124183032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Thermal engineering review">
      <a:dk1>
        <a:srgbClr val="161616"/>
      </a:dk1>
      <a:lt1>
        <a:srgbClr val="FFFFFF"/>
      </a:lt1>
      <a:dk2>
        <a:srgbClr val="201445"/>
      </a:dk2>
      <a:lt2>
        <a:srgbClr val="D3D3D3"/>
      </a:lt2>
      <a:accent1>
        <a:srgbClr val="00A5D8"/>
      </a:accent1>
      <a:accent2>
        <a:srgbClr val="76BE18"/>
      </a:accent2>
      <a:accent3>
        <a:srgbClr val="7B2DAF"/>
      </a:accent3>
      <a:accent4>
        <a:srgbClr val="00A89D"/>
      </a:accent4>
      <a:accent5>
        <a:srgbClr val="E5A900"/>
      </a:accent5>
      <a:accent6>
        <a:srgbClr val="C4493D"/>
      </a:accent6>
      <a:hlink>
        <a:srgbClr val="007FA8"/>
      </a:hlink>
      <a:folHlink>
        <a:srgbClr val="7B2DA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hermal engineering review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Thermal engineering review">
      <a:dk1>
        <a:srgbClr val="161616"/>
      </a:dk1>
      <a:lt1>
        <a:srgbClr val="FFFFFF"/>
      </a:lt1>
      <a:dk2>
        <a:srgbClr val="201445"/>
      </a:dk2>
      <a:lt2>
        <a:srgbClr val="D3D3D3"/>
      </a:lt2>
      <a:accent1>
        <a:srgbClr val="00A5D8"/>
      </a:accent1>
      <a:accent2>
        <a:srgbClr val="76BE18"/>
      </a:accent2>
      <a:accent3>
        <a:srgbClr val="7B2DAF"/>
      </a:accent3>
      <a:accent4>
        <a:srgbClr val="00A89D"/>
      </a:accent4>
      <a:accent5>
        <a:srgbClr val="E5A900"/>
      </a:accent5>
      <a:accent6>
        <a:srgbClr val="C4493D"/>
      </a:accent6>
      <a:hlink>
        <a:srgbClr val="007FA8"/>
      </a:hlink>
      <a:folHlink>
        <a:srgbClr val="7B2DA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hermal engineering review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1932</Words>
  <Application>Microsoft Office PowerPoint</Application>
  <DocSecurity>0</DocSecurity>
  <PresentationFormat>ワイド画面</PresentationFormat>
  <Paragraphs>282</Paragraphs>
  <Slides>9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Yu Gothic</vt:lpstr>
      <vt:lpstr>Calibri</vt:lpstr>
      <vt:lpstr>Cambria Math</vt:lpstr>
      <vt:lpstr>ChatGPT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大希 川人</cp:lastModifiedBy>
  <cp:revision>1</cp:revision>
  <dcterms:created xsi:type="dcterms:W3CDTF">2026-09-28T00:23:00Z</dcterms:created>
  <dcterms:modified xsi:type="dcterms:W3CDTF">2026-09-28T00:23:16Z</dcterms:modified>
</cp:coreProperties>
</file>