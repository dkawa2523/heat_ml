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slides/charts/chart1.xml" ContentType="application/vnd.openxmlformats-officedocument.drawingml.chart+xml"/>
  <Override PartName="/ppt/slides/charts/chart2.xml" ContentType="application/vnd.openxmlformats-officedocument.drawingml.chart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slides/charts/chart3.xml" ContentType="application/vnd.openxmlformats-officedocument.drawingml.chart+xml"/>
  <Override PartName="/ppt/slides/charts/chart4.xml" ContentType="application/vnd.openxmlformats-officedocument.drawingml.chart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slides/charts/chart5.xml" ContentType="application/vnd.openxmlformats-officedocument.drawingml.chart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slides/charts/chart6.xml" ContentType="application/vnd.openxmlformats-officedocument.drawingml.chart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slides/charts/chart7.xml" ContentType="application/vnd.openxmlformats-officedocument.drawingml.chart+xml"/>
  <Override PartName="/ppt/slides/charts/chart8.xml" ContentType="application/vnd.openxmlformats-officedocument.drawingml.chart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da241cdc5047cf" /><Relationship Type="http://schemas.openxmlformats.org/officeDocument/2006/relationships/extended-properties" Target="/docProps/app.xml" Id="R455ad099c9ed4566" /><Relationship Type="http://schemas.openxmlformats.org/officeDocument/2006/relationships/officeDocument" Target="/ppt/presentation.xml" Id="R30016ac9151d43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6775258117e44cd8"/>
  </p:sldMasterIdLst>
  <p:notesMasterIdLst>
    <p:notesMasterId xmlns:r="http://schemas.openxmlformats.org/officeDocument/2006/relationships" r:id="R690c8adffd1c4222"/>
  </p:notesMasterIdLst>
  <p:sldIdLst>
    <p:sldId xmlns:r="http://schemas.openxmlformats.org/officeDocument/2006/relationships" id="256" r:id="Rdb59bfe178b9452e"/>
    <p:sldId xmlns:r="http://schemas.openxmlformats.org/officeDocument/2006/relationships" id="257" r:id="R661673b47e624c13"/>
    <p:sldId xmlns:r="http://schemas.openxmlformats.org/officeDocument/2006/relationships" id="258" r:id="R24ea9d4631df4869"/>
    <p:sldId xmlns:r="http://schemas.openxmlformats.org/officeDocument/2006/relationships" id="259" r:id="R7c2f61d4c7eb47de"/>
    <p:sldId xmlns:r="http://schemas.openxmlformats.org/officeDocument/2006/relationships" id="260" r:id="R46e2c0bb746d4e7d"/>
    <p:sldId xmlns:r="http://schemas.openxmlformats.org/officeDocument/2006/relationships" id="261" r:id="Rb850c501f48048bc"/>
    <p:sldId xmlns:r="http://schemas.openxmlformats.org/officeDocument/2006/relationships" id="262" r:id="R5256efaadeb64a4c"/>
    <p:sldId xmlns:r="http://schemas.openxmlformats.org/officeDocument/2006/relationships" id="263" r:id="Raa5782bd70a64af6"/>
    <p:sldId xmlns:r="http://schemas.openxmlformats.org/officeDocument/2006/relationships" id="264" r:id="R5de8c5d46dfe431b"/>
    <p:sldId xmlns:r="http://schemas.openxmlformats.org/officeDocument/2006/relationships" id="265" r:id="R5c0c9fa019ee4fdb"/>
    <p:sldId xmlns:r="http://schemas.openxmlformats.org/officeDocument/2006/relationships" id="266" r:id="R3ab06759e5754ad7"/>
    <p:sldId xmlns:r="http://schemas.openxmlformats.org/officeDocument/2006/relationships" id="267" r:id="Rdc198c39e894434f"/>
    <p:sldId xmlns:r="http://schemas.openxmlformats.org/officeDocument/2006/relationships" id="268" r:id="R39aa8566b6834c46"/>
    <p:sldId xmlns:r="http://schemas.openxmlformats.org/officeDocument/2006/relationships" id="269" r:id="R7d9b41d8ef934e0a"/>
    <p:sldId xmlns:r="http://schemas.openxmlformats.org/officeDocument/2006/relationships" id="270" r:id="R8c4218bdbc5d4bf3"/>
    <p:sldId xmlns:r="http://schemas.openxmlformats.org/officeDocument/2006/relationships" id="271" r:id="Rafd02500a3b14f49"/>
    <p:sldId xmlns:r="http://schemas.openxmlformats.org/officeDocument/2006/relationships" id="272" r:id="R516e8454e65942e0"/>
    <p:sldId xmlns:r="http://schemas.openxmlformats.org/officeDocument/2006/relationships" id="273" r:id="Ra24325cdc80543e7"/>
    <p:sldId xmlns:r="http://schemas.openxmlformats.org/officeDocument/2006/relationships" id="274" r:id="R617ade4a50e94c5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5501763cafd472f" /><Relationship Type="http://schemas.openxmlformats.org/officeDocument/2006/relationships/slideMaster" Target="/ppt/slideMasters/slideMaster1.xml" Id="R6775258117e44cd8" /><Relationship Type="http://schemas.openxmlformats.org/officeDocument/2006/relationships/notesMaster" Target="/ppt/notesMasters/notesMaster1.xml" Id="R690c8adffd1c4222" /><Relationship Type="http://schemas.openxmlformats.org/officeDocument/2006/relationships/presProps" Target="/ppt/presProps.xml" Id="Rec93d7458564445c" /><Relationship Type="http://schemas.openxmlformats.org/officeDocument/2006/relationships/tableStyles" Target="/ppt/tableStyles.xml" Id="R2e9f2dda043d4560" /><Relationship Type="http://schemas.openxmlformats.org/officeDocument/2006/relationships/slide" Target="/ppt/slides/slide1.xml" Id="Rdb59bfe178b9452e" /><Relationship Type="http://schemas.openxmlformats.org/officeDocument/2006/relationships/slide" Target="/ppt/slides/slide2.xml" Id="R661673b47e624c13" /><Relationship Type="http://schemas.openxmlformats.org/officeDocument/2006/relationships/slide" Target="/ppt/slides/slide3.xml" Id="R24ea9d4631df4869" /><Relationship Type="http://schemas.openxmlformats.org/officeDocument/2006/relationships/slide" Target="/ppt/slides/slide4.xml" Id="R7c2f61d4c7eb47de" /><Relationship Type="http://schemas.openxmlformats.org/officeDocument/2006/relationships/slide" Target="/ppt/slides/slide5.xml" Id="R46e2c0bb746d4e7d" /><Relationship Type="http://schemas.openxmlformats.org/officeDocument/2006/relationships/slide" Target="/ppt/slides/slide6.xml" Id="Rb850c501f48048bc" /><Relationship Type="http://schemas.openxmlformats.org/officeDocument/2006/relationships/slide" Target="/ppt/slides/slide7.xml" Id="R5256efaadeb64a4c" /><Relationship Type="http://schemas.openxmlformats.org/officeDocument/2006/relationships/slide" Target="/ppt/slides/slide8.xml" Id="Raa5782bd70a64af6" /><Relationship Type="http://schemas.openxmlformats.org/officeDocument/2006/relationships/slide" Target="/ppt/slides/slide9.xml" Id="R5de8c5d46dfe431b" /><Relationship Type="http://schemas.openxmlformats.org/officeDocument/2006/relationships/slide" Target="/ppt/slides/slide10.xml" Id="R5c0c9fa019ee4fdb" /><Relationship Type="http://schemas.openxmlformats.org/officeDocument/2006/relationships/slide" Target="/ppt/slides/slide11.xml" Id="R3ab06759e5754ad7" /><Relationship Type="http://schemas.openxmlformats.org/officeDocument/2006/relationships/slide" Target="/ppt/slides/slide12.xml" Id="Rdc198c39e894434f" /><Relationship Type="http://schemas.openxmlformats.org/officeDocument/2006/relationships/slide" Target="/ppt/slides/slide13.xml" Id="R39aa8566b6834c46" /><Relationship Type="http://schemas.openxmlformats.org/officeDocument/2006/relationships/slide" Target="/ppt/slides/slide14.xml" Id="R7d9b41d8ef934e0a" /><Relationship Type="http://schemas.openxmlformats.org/officeDocument/2006/relationships/slide" Target="/ppt/slides/slide15.xml" Id="R8c4218bdbc5d4bf3" /><Relationship Type="http://schemas.openxmlformats.org/officeDocument/2006/relationships/slide" Target="/ppt/slides/slide16.xml" Id="Rafd02500a3b14f49" /><Relationship Type="http://schemas.openxmlformats.org/officeDocument/2006/relationships/slide" Target="/ppt/slides/slide17.xml" Id="R516e8454e65942e0" /><Relationship Type="http://schemas.openxmlformats.org/officeDocument/2006/relationships/slide" Target="/ppt/slides/slide18.xml" Id="Ra24325cdc80543e7" /><Relationship Type="http://schemas.openxmlformats.org/officeDocument/2006/relationships/slide" Target="/ppt/slides/slide19.xml" Id="R617ade4a50e94c5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114b86d62eb47ac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Equipment Engineering Review">
      <a:dk1>
        <a:srgbClr val="1B1B1B"/>
      </a:dk1>
      <a:lt1>
        <a:srgbClr val="FFFFFF"/>
      </a:lt1>
      <a:dk2>
        <a:srgbClr val="201445"/>
      </a:dk2>
      <a:lt2>
        <a:srgbClr val="D6D6D6"/>
      </a:lt2>
      <a:accent1>
        <a:srgbClr val="00A5D8"/>
      </a:accent1>
      <a:accent2>
        <a:srgbClr val="76BE18"/>
      </a:accent2>
      <a:accent3>
        <a:srgbClr val="7B2DAF"/>
      </a:accent3>
      <a:accent4>
        <a:srgbClr val="00A89D"/>
      </a:accent4>
      <a:accent5>
        <a:srgbClr val="E5A900"/>
      </a:accent5>
      <a:accent6>
        <a:srgbClr val="C4493D"/>
      </a:accent6>
      <a:hlink>
        <a:srgbClr val="007FA8"/>
      </a:hlink>
      <a:folHlink>
        <a:srgbClr val="7B2DA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quipment Engineering Review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cec7a7cf6af5479c" /><Relationship Type="http://schemas.openxmlformats.org/officeDocument/2006/relationships/notesMaster" Target="/ppt/notesMasters/notesMaster1.xml" Id="Rc72d9b8075374dcf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3394667926664b74" /><Relationship Type="http://schemas.openxmlformats.org/officeDocument/2006/relationships/notesMaster" Target="/ppt/notesMasters/notesMaster1.xml" Id="R39eea3e9510b4020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a19577889e2c47eb" /><Relationship Type="http://schemas.openxmlformats.org/officeDocument/2006/relationships/notesMaster" Target="/ppt/notesMasters/notesMaster1.xml" Id="R23b03076899d43c0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ad0041980ac4ea4" /><Relationship Type="http://schemas.openxmlformats.org/officeDocument/2006/relationships/notesMaster" Target="/ppt/notesMasters/notesMaster1.xml" Id="Rf022d3fe706540b5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6207b8df157e4b26" /><Relationship Type="http://schemas.openxmlformats.org/officeDocument/2006/relationships/notesMaster" Target="/ppt/notesMasters/notesMaster1.xml" Id="Rbcb478b831324818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ef126dc2abe4642" /><Relationship Type="http://schemas.openxmlformats.org/officeDocument/2006/relationships/notesMaster" Target="/ppt/notesMasters/notesMaster1.xml" Id="R5ce7566ffae548d4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67f6a9f802d4739" /><Relationship Type="http://schemas.openxmlformats.org/officeDocument/2006/relationships/notesMaster" Target="/ppt/notesMasters/notesMaster1.xml" Id="R0c1585333282441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de5ce217929846c0" /><Relationship Type="http://schemas.openxmlformats.org/officeDocument/2006/relationships/notesMaster" Target="/ppt/notesMasters/notesMaster1.xml" Id="R91c453e0211b42c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6431c9daa174b25" /><Relationship Type="http://schemas.openxmlformats.org/officeDocument/2006/relationships/notesMaster" Target="/ppt/notesMasters/notesMaster1.xml" Id="Ra2c9b2cfde5c4c1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a72d42a7344d4735" /><Relationship Type="http://schemas.openxmlformats.org/officeDocument/2006/relationships/notesMaster" Target="/ppt/notesMasters/notesMaster1.xml" Id="R0eb217297019491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0f3c15f81084b39" /><Relationship Type="http://schemas.openxmlformats.org/officeDocument/2006/relationships/notesMaster" Target="/ppt/notesMasters/notesMaster1.xml" Id="R72562dfefc504eaf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229a46aaf4a74a90" /><Relationship Type="http://schemas.openxmlformats.org/officeDocument/2006/relationships/notesMaster" Target="/ppt/notesMasters/notesMaster1.xml" Id="R21b0c28530b94954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ed1833c2084476e" /><Relationship Type="http://schemas.openxmlformats.org/officeDocument/2006/relationships/notesMaster" Target="/ppt/notesMasters/notesMaster1.xml" Id="R4752953fe3a3451e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e7e9b64d9be4cde" /><Relationship Type="http://schemas.openxmlformats.org/officeDocument/2006/relationships/notesMaster" Target="/ppt/notesMasters/notesMaster1.xml" Id="Rb974fba5dac24d46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841fa115f55948f0" /><Relationship Type="http://schemas.openxmlformats.org/officeDocument/2006/relationships/notesMaster" Target="/ppt/notesMasters/notesMaster1.xml" Id="R4f39da241c094acf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807e13f3cb7f4cfb" /><Relationship Type="http://schemas.openxmlformats.org/officeDocument/2006/relationships/notesMaster" Target="/ppt/notesMasters/notesMaster1.xml" Id="Raacfd448b13c462a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8db33e30f197411a" /><Relationship Type="http://schemas.openxmlformats.org/officeDocument/2006/relationships/notesMaster" Target="/ppt/notesMasters/notesMaster1.xml" Id="Ra0dc6acf6c554af0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74317f6d2113414b" /><Relationship Type="http://schemas.openxmlformats.org/officeDocument/2006/relationships/notesMaster" Target="/ppt/notesMasters/notesMaster1.xml" Id="Raab90127fae14fe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eaa2f9c98608455b" /><Relationship Type="http://schemas.openxmlformats.org/officeDocument/2006/relationships/notesMaster" Target="/ppt/notesMasters/notesMaster1.xml" Id="R8c0a0ff9c8a84863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Primary source: docs/technical_specification.md</a:t>
            </a:r>
          </a:p>
          <a:p xmlns:a="http://schemas.openxmlformats.org/drawingml/2006/main">
            <a:r>
              <a:t>Visual design reference only: Tokyo Electron FY2027 Q1 Financial Announcement, https://www.tel.com/ir/library/report/i242su0000000goz-att/fy27q1presentations-e.pdf</a:t>
            </a:r>
          </a:p>
          <a:p xmlns:a="http://schemas.openxmlformats.org/drawingml/2006/main">
            <a:r>
              <a:t>Tokyo Electron logo, trademark lockup, and official slide master are not used.</a:t>
            </a:r>
          </a:p>
          <a:p xmlns:a="http://schemas.openxmlformats.org/drawingml/2006/main">
            <a:r>
              <a:t>Repository: thermal-cell-practical.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benchmarks/topcell/work/outputs/benchmark/benchmark_summary.json</a:t>
            </a:r>
          </a:p>
          <a:p xmlns:a="http://schemas.openxmlformats.org/drawingml/2006/main">
            <a:r>
              <a:t>Sources: external_tools/comsol_chip_cooling/work/evaluation/forecast_cases.csv</a:t>
            </a:r>
          </a:p>
          <a:p xmlns:a="http://schemas.openxmlformats.org/drawingml/2006/main">
            <a:r>
              <a:t>Sources: external_tools/comsol_chip_cooling/reports/cae_benchmark_report/source_data/high_fidelity_case_metrics.csv</a:t>
            </a:r>
          </a:p>
          <a:p xmlns:a="http://schemas.openxmlformats.org/drawingml/2006/main">
            <a:r>
              <a:t>Hotspot gap source: external_tools/comsol_chip_cooling/data/qa_summary.csv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Conceptual semiconductor-equipment mapping; no proprietary equipment geometry is represented.</a:t>
            </a:r>
          </a:p>
          <a:p xmlns:a="http://schemas.openxmlformats.org/drawingml/2006/main">
            <a:r>
              <a:t>Physics source: docs/technical_specification.md sections 4 and 6.</a:t>
            </a:r>
          </a:p>
          <a:p xmlns:a="http://schemas.openxmlformats.org/drawingml/2006/main">
            <a:r>
              <a:t>System mapping source: external_tools/comsol_chip_cooling/system.yaml.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Sources: docs/technical_specification.md sections 11 and 12.</a:t>
            </a:r>
          </a:p>
          <a:p xmlns:a="http://schemas.openxmlformats.org/drawingml/2006/main">
            <a:r>
              <a:t>TopCell: benchmarks/topcell/work/outputs/benchmark/benchmark_summary.json.</a:t>
            </a:r>
          </a:p>
          <a:p xmlns:a="http://schemas.openxmlformats.org/drawingml/2006/main">
            <a:r>
              <a:t>Linear COMSOL: external_tools/comsol_chip_cooling/work/evaluation/forecast_cases.csv.</a:t>
            </a:r>
          </a:p>
          <a:p xmlns:a="http://schemas.openxmlformats.org/drawingml/2006/main">
            <a:r>
              <a:t>High fidelity: external_tools/comsol_chip_cooling/docs/high_fidelity_validation.md.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external_tools/comsol_chip_cooling/system.yaml.</a:t>
            </a:r>
          </a:p>
          <a:p xmlns:a="http://schemas.openxmlformats.org/drawingml/2006/main">
            <a:r>
              <a:t>Fitted values: external_tools/comsol_chip_cooling/work/evaluation/fitted_parameters.csv.</a:t>
            </a:r>
          </a:p>
          <a:p xmlns:a="http://schemas.openxmlformats.org/drawingml/2006/main">
            <a:r>
              <a:t>Boundary node weights are fixed at base 0.090909 and fins 0.909091.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docs/technical_specification.md sections 4.2, 4.3, 4.8, and 4.10.</a:t>
            </a:r>
          </a:p>
          <a:p xmlns:a="http://schemas.openxmlformats.org/drawingml/2006/main">
            <a:r>
              <a:t>Compact thermal modeling reference: Huang et al., IEEE TVLSI 2006, doi:10.1109/TVLSI.2006.876103.</a:t>
            </a:r>
          </a:p>
          <a:p xmlns:a="http://schemas.openxmlformats.org/drawingml/2006/main">
            <a:r>
              <a:t>Biot-number criterion is an engineering screening criterion for lumped-capacitance validity; node adequacy must be checked against local gradients.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Derived calculation using external_tools/comsol_chip_cooling/system.yaml and fitted_parameters.csv.</a:t>
            </a:r>
          </a:p>
          <a:p xmlns:a="http://schemas.openxmlformats.org/drawingml/2006/main">
            <a:r>
              <a:t>Generalized eigenproblem K phi = lambda C phi at the nominal fitted linear condition.</a:t>
            </a:r>
          </a:p>
          <a:p xmlns:a="http://schemas.openxmlformats.org/drawingml/2006/main">
            <a:r>
              <a:t>Derived modal time constants: 0.186 s, 2.028 s, and 425.354 s. These are model modes, not directly measured equipment constants.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docs/technical_specification.md section 5.</a:t>
            </a:r>
          </a:p>
          <a:p xmlns:a="http://schemas.openxmlformats.org/drawingml/2006/main">
            <a:r>
              <a:t>References: Van Loan (1978), Higham (2005), Dahlquist (1963).</a:t>
            </a:r>
          </a:p>
          <a:p xmlns:a="http://schemas.openxmlformats.org/drawingml/2006/main">
            <a:r>
              <a:t>The exact-affine solver removes time-discretization error only under the piecewise-constant coefficient contract.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docs/technical_specification.md sections 6 and 7.</a:t>
            </a:r>
          </a:p>
          <a:p xmlns:a="http://schemas.openxmlformats.org/drawingml/2006/main">
            <a:r>
              <a:t>Parameter-specific DOE recommendations are engineering implications of the fitted three-mode time constants shown on slide 7.</a:t>
            </a:r>
          </a:p>
          <a:p xmlns:a="http://schemas.openxmlformats.org/drawingml/2006/main">
            <a:r>
              <a:t>Robust loss reference: Huber (1964). Optimizer reference: Kingma and Ba (2014).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docs/technical_specification.md section 7.</a:t>
            </a:r>
          </a:p>
          <a:p xmlns:a="http://schemas.openxmlformats.org/drawingml/2006/main">
            <a:r>
              <a:t>The causal cutoff is a data-contract requirement, not a presentation-only convention.</a:t>
            </a:r>
          </a:p>
          <a:p xmlns:a="http://schemas.openxmlformats.org/drawingml/2006/main">
            <a:r>
              <a:t>Uncertainty scope distinguishes propagated state covariance from parameter and model-form uncertainty.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docs/technical_specification.md section 8.</a:t>
            </a:r>
          </a:p>
          <a:p xmlns:a="http://schemas.openxmlformats.org/drawingml/2006/main">
            <a:r>
              <a:t>Thresholds: chi-square quantiles at confidence 0.9999 used by external_tools/comsol_chip_cooling/evaluate.py.</a:t>
            </a:r>
          </a:p>
          <a:p xmlns:a="http://schemas.openxmlformats.org/drawingml/2006/main">
            <a:r>
              <a:t>References: Kalman (1960), Van Loan (1978), Bar-Shalom et al. (2001).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M03 trace: external_tools/comsol_chip_cooling/work/outputs/monitor/M03_sensor_offset.csv.</a:t>
            </a:r>
          </a:p>
          <a:p xmlns:a="http://schemas.openxmlformats.org/drawingml/2006/main">
            <a:r>
              <a:t>M05 estimate: external_tools/comsol_chip_cooling/work/outputs/monitor/M05_uncommanded_heat.csv.</a:t>
            </a:r>
          </a:p>
          <a:p xmlns:a="http://schemas.openxmlformats.org/drawingml/2006/main">
            <a:r>
              <a:t>M05 truth: external_tools/comsol_chip_cooling/data/eval/monitor/M05_uncommanded_heat.csv.</a:t>
            </a:r>
          </a:p>
          <a:p xmlns:a="http://schemas.openxmlformats.org/drawingml/2006/main">
            <a:r>
              <a:t>Metrics/events: external_tools/comsol_chip_cooling/work/evaluation/monitor_cases.csv and monitor_events.csv.</a:t>
            </a:r>
          </a:p>
          <a:p xmlns:a="http://schemas.openxmlformats.org/drawingml/2006/main">
            <a:r>
              <a:t>Charts use downsampled display points while preserving event start and first-detection timestamps.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benchmarks/topcell/work/outputs/benchmark/forecast_by_group.csv.</a:t>
            </a:r>
          </a:p>
          <a:p xmlns:a="http://schemas.openxmlformats.org/drawingml/2006/main">
            <a:r>
              <a:t>Source: benchmarks/topcell/work/outputs/benchmark/forecast_by_case.csv.</a:t>
            </a:r>
          </a:p>
          <a:p xmlns:a="http://schemas.openxmlformats.org/drawingml/2006/main">
            <a:r>
              <a:t>Source: benchmarks/topcell/work/outputs/benchmark/benchmark_summary.json.</a:t>
            </a:r>
          </a:p>
          <a:p xmlns:a="http://schemas.openxmlformats.org/drawingml/2006/main">
            <a:r>
              <a:t>F11 is an intentional model-form-gap case and is excluded from the core mean.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external_tools/comsol_chip_cooling/work/evaluation/forecast_cases.csv.</a:t>
            </a:r>
          </a:p>
          <a:p xmlns:a="http://schemas.openxmlformats.org/drawingml/2006/main">
            <a:r>
              <a:t>Parameters: external_tools/comsol_chip_cooling/work/evaluation/fitted_parameters.csv.</a:t>
            </a:r>
          </a:p>
          <a:p xmlns:a="http://schemas.openxmlformats.org/drawingml/2006/main">
            <a:r>
              <a:t>Hotspot metrics: external_tools/comsol_chip_cooling/data/qa_summary.csv and CAE report source data.</a:t>
            </a:r>
          </a:p>
          <a:p xmlns:a="http://schemas.openxmlformats.org/drawingml/2006/main">
            <a:r>
              <a:t>Reported model outputs are volume-average node temperatures; hotspot metrics are separate evidence.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external_tools/comsol_chip_cooling/reports/cae_benchmark_report/source_data/mesh_convergence.csv.</a:t>
            </a:r>
          </a:p>
          <a:p xmlns:a="http://schemas.openxmlformats.org/drawingml/2006/main">
            <a:r>
              <a:t>Source: external_tools/comsol_chip_cooling/docs/high_fidelity_validation.md.</a:t>
            </a:r>
          </a:p>
          <a:p xmlns:a="http://schemas.openxmlformats.org/drawingml/2006/main">
            <a:r>
              <a:t>The red dashed line is a visual guide for the documented strict-average criterion of 0.25 K.</a:t>
            </a:r>
          </a:p>
          <a:p xmlns:a="http://schemas.openxmlformats.org/drawingml/2006/main">
            <a:r>
              <a:t>Global-8 to local-coarse MC01 chip-average difference is 15.9128095 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High-fidelity metrics: external_tools/comsol_chip_cooling/reports/cae_benchmark_report/source_data/high_fidelity_case_metrics.csv.</a:t>
            </a:r>
          </a:p>
          <a:p xmlns:a="http://schemas.openxmlformats.org/drawingml/2006/main">
            <a:r>
              <a:t>Radiation trace: external_tools/comsol_chip_cooling/reports/cae_benchmark_report/source_data/high_fidelity_radiation_trace.csv.</a:t>
            </a:r>
          </a:p>
          <a:p xmlns:a="http://schemas.openxmlformats.org/drawingml/2006/main">
            <a:r>
              <a:t>At 220 s: truth radiation delta = -0.38133367 K; model delta = -0.00122234 K; conservative mesh difference = 0.4962085957 K.</a:t>
            </a:r>
          </a:p>
          <a:p xmlns:a="http://schemas.openxmlformats.org/drawingml/2006/main">
            <a:r>
              <a:t>Interpretation: absolute forecast screening improved, but the radiation sensitivity magnitude is not validated.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cases are derived from the implemented forecast and monitor workflows documented in docs/technical_specification.md.</a:t>
            </a:r>
          </a:p>
          <a:p xmlns:a="http://schemas.openxmlformats.org/drawingml/2006/main">
            <a:r>
              <a:t>No runtime-speedup or cost-saving figure is claimed because the current benchmark does not report an end-to-end operational baseline.</a:t>
            </a:r>
          </a:p>
          <a:p xmlns:a="http://schemas.openxmlformats.org/drawingml/2006/main">
            <a:r>
              <a:t>Adoption gates are engineering recommendations for semiconductor-equipment integration.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Source: docs/technical_specification.md sections 11 and 12.</a:t>
            </a:r>
          </a:p>
          <a:p xmlns:a="http://schemas.openxmlformats.org/drawingml/2006/main">
            <a:r>
              <a:t>Validation stages are an equipment-engineering implementation plan derived from the current evidence gaps.</a:t>
            </a:r>
          </a:p>
          <a:p xmlns:a="http://schemas.openxmlformats.org/drawingml/2006/main">
            <a:r>
              <a:t>Acceptance thresholds must be agreed from FMEA, control specifications, and the product thermal budget before testing.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R1 doi:10.1109/TVLSI.2006.876103.</a:t>
            </a:r>
          </a:p>
          <a:p xmlns:a="http://schemas.openxmlformats.org/drawingml/2006/main">
            <a:r>
              <a:t>R2 Farina and Rinaldi, Positive Linear Systems, Wiley.</a:t>
            </a:r>
          </a:p>
          <a:p xmlns:a="http://schemas.openxmlformats.org/drawingml/2006/main">
            <a:r>
              <a:t>R3 doi:10.1115/1.3662552.</a:t>
            </a:r>
          </a:p>
          <a:p xmlns:a="http://schemas.openxmlformats.org/drawingml/2006/main">
            <a:r>
              <a:t>R4 IEEE Transactions on Automatic Control 23(3), 1978.</a:t>
            </a:r>
          </a:p>
          <a:p xmlns:a="http://schemas.openxmlformats.org/drawingml/2006/main">
            <a:r>
              <a:t>R5 SIAM Journal on Matrix Analysis and Applications 26(4), 2005.</a:t>
            </a:r>
          </a:p>
          <a:p xmlns:a="http://schemas.openxmlformats.org/drawingml/2006/main">
            <a:r>
              <a:t>R6 doi:10.1214/aoms/1177703732.</a:t>
            </a:r>
          </a:p>
          <a:p xmlns:a="http://schemas.openxmlformats.org/drawingml/2006/main">
            <a:r>
              <a:t>R7 https://arxiv.org/abs/1412.6980.</a:t>
            </a:r>
          </a:p>
          <a:p xmlns:a="http://schemas.openxmlformats.org/drawingml/2006/main">
            <a:r>
              <a:t>Visual reference: https://www.tel.com/ir/library/report/i242su0000000goz-att/fy27q1presentations-e.pdf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5fcc77458d04db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25115d2535a466c" /><Relationship Type="http://schemas.openxmlformats.org/officeDocument/2006/relationships/slideLayout" Target="/ppt/slideLayouts/slideLayout1.xml" Id="Rd24bd8c140bf44d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d24bd8c140bf44d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Equipment Engineering Review">
      <a:dk1>
        <a:srgbClr val="1B1B1B"/>
      </a:dk1>
      <a:lt1>
        <a:srgbClr val="FFFFFF"/>
      </a:lt1>
      <a:dk2>
        <a:srgbClr val="201445"/>
      </a:dk2>
      <a:lt2>
        <a:srgbClr val="D6D6D6"/>
      </a:lt2>
      <a:accent1>
        <a:srgbClr val="00A5D8"/>
      </a:accent1>
      <a:accent2>
        <a:srgbClr val="76BE18"/>
      </a:accent2>
      <a:accent3>
        <a:srgbClr val="7B2DAF"/>
      </a:accent3>
      <a:accent4>
        <a:srgbClr val="00A89D"/>
      </a:accent4>
      <a:accent5>
        <a:srgbClr val="E5A900"/>
      </a:accent5>
      <a:accent6>
        <a:srgbClr val="C4493D"/>
      </a:accent6>
      <a:hlink>
        <a:srgbClr val="007FA8"/>
      </a:hlink>
      <a:folHlink>
        <a:srgbClr val="7B2DA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quipment Engineering Review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306717dfec24a83" /><Relationship Type="http://schemas.openxmlformats.org/officeDocument/2006/relationships/notesSlide" Target="/ppt/notesSlides/notesSlide1.xml" Id="Re114bff88e274512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643ef1504874d5f" /><Relationship Type="http://schemas.openxmlformats.org/officeDocument/2006/relationships/notesSlide" Target="/ppt/notesSlides/notesSlide2.xml" Id="Rf210e65f20a74e8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ddcd249ace94613" /><Relationship Type="http://schemas.openxmlformats.org/officeDocument/2006/relationships/notesSlide" Target="/ppt/notesSlides/notesSlide3.xml" Id="R32e27c586ec44d8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63711f49f354f2a" /><Relationship Type="http://schemas.openxmlformats.org/officeDocument/2006/relationships/notesSlide" Target="/ppt/notesSlides/notesSlide4.xml" Id="Rc93d789daf4a403e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bdb9cf04204cc3" /><Relationship Type="http://schemas.openxmlformats.org/officeDocument/2006/relationships/notesSlide" Target="/ppt/notesSlides/notesSlide5.xml" Id="Rcc9d818a5b6946e5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846c1010a4047ea" /><Relationship Type="http://schemas.openxmlformats.org/officeDocument/2006/relationships/notesSlide" Target="/ppt/notesSlides/notesSlide6.xml" Id="R585f5340af6d46dd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fffdd5b7f7940e5" /><Relationship Type="http://schemas.openxmlformats.org/officeDocument/2006/relationships/notesSlide" Target="/ppt/notesSlides/notesSlide7.xml" Id="Raa8e454c2ea74133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1b69b19e1424899" /><Relationship Type="http://schemas.openxmlformats.org/officeDocument/2006/relationships/notesSlide" Target="/ppt/notesSlides/notesSlide8.xml" Id="Ref45585f61394d7e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8a33c65b5e4fc1" /><Relationship Type="http://schemas.openxmlformats.org/officeDocument/2006/relationships/notesSlide" Target="/ppt/notesSlides/notesSlide9.xml" Id="R84f9ab9412ff4efc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662d61e3bf4e08" /><Relationship Type="http://schemas.openxmlformats.org/officeDocument/2006/relationships/notesSlide" Target="/ppt/notesSlides/notesSlide10.xml" Id="R571bd0e1a46f4f5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f716f2dedf24e42" /><Relationship Type="http://schemas.openxmlformats.org/officeDocument/2006/relationships/notesSlide" Target="/ppt/notesSlides/notesSlide11.xml" Id="R4d9984bba7e646b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667d6fca0134afb" /><Relationship Type="http://schemas.openxmlformats.org/officeDocument/2006/relationships/chart" Target="/ppt/slides/charts/chart1.xml" Id="Rb096aa1801af41ea" /><Relationship Type="http://schemas.openxmlformats.org/officeDocument/2006/relationships/chart" Target="/ppt/slides/charts/chart2.xml" Id="R06e1008cd15f4712" /><Relationship Type="http://schemas.openxmlformats.org/officeDocument/2006/relationships/notesSlide" Target="/ppt/notesSlides/notesSlide12.xml" Id="R7b3326201059404e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0c6f84412a40ea" /><Relationship Type="http://schemas.openxmlformats.org/officeDocument/2006/relationships/chart" Target="/ppt/slides/charts/chart3.xml" Id="Rbfd4dfdd2db54ff1" /><Relationship Type="http://schemas.openxmlformats.org/officeDocument/2006/relationships/chart" Target="/ppt/slides/charts/chart4.xml" Id="R37e794be90624072" /><Relationship Type="http://schemas.openxmlformats.org/officeDocument/2006/relationships/notesSlide" Target="/ppt/notesSlides/notesSlide13.xml" Id="R5012ea2564ae4c72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b89db69060c44e4" /><Relationship Type="http://schemas.openxmlformats.org/officeDocument/2006/relationships/chart" Target="/ppt/slides/charts/chart5.xml" Id="Rdf6fa8468b8844b0" /><Relationship Type="http://schemas.openxmlformats.org/officeDocument/2006/relationships/notesSlide" Target="/ppt/notesSlides/notesSlide14.xml" Id="R387c6f2db68c4f8a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ee830ba05b49be" /><Relationship Type="http://schemas.openxmlformats.org/officeDocument/2006/relationships/chart" Target="/ppt/slides/charts/chart6.xml" Id="R5f1ac2f0efc742d7" /><Relationship Type="http://schemas.openxmlformats.org/officeDocument/2006/relationships/notesSlide" Target="/ppt/notesSlides/notesSlide15.xml" Id="Rc8428ddefcf84cf1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a97b553c31a4903" /><Relationship Type="http://schemas.openxmlformats.org/officeDocument/2006/relationships/chart" Target="/ppt/slides/charts/chart7.xml" Id="R28203beeee0247d0" /><Relationship Type="http://schemas.openxmlformats.org/officeDocument/2006/relationships/chart" Target="/ppt/slides/charts/chart8.xml" Id="R605ffb6075764f34" /><Relationship Type="http://schemas.openxmlformats.org/officeDocument/2006/relationships/notesSlide" Target="/ppt/notesSlides/notesSlide16.xml" Id="Rfe978c8b1e724ffa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abc3d2f8c8e40e8" /><Relationship Type="http://schemas.openxmlformats.org/officeDocument/2006/relationships/notesSlide" Target="/ppt/notesSlides/notesSlide17.xml" Id="R5ddc1a0ddf5240c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73ddddba6d2496b" /><Relationship Type="http://schemas.openxmlformats.org/officeDocument/2006/relationships/notesSlide" Target="/ppt/notesSlides/notesSlide18.xml" Id="R24131637296d441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7384050333e4e56" /><Relationship Type="http://schemas.openxmlformats.org/officeDocument/2006/relationships/notesSlide" Target="/ppt/notesSlides/notesSlide19.xml" Id="Rd2146c4a5903459d" /></Relationships>
</file>

<file path=ppt/slides/charts/chart1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NIS / threshold</c:v>
          </c:tx>
          <c:spPr>
            <a:ln xmlns:a="http://schemas.openxmlformats.org/drawingml/2006/main" w="28575">
              <a:solidFill>
                <a:srgbClr val="7B2DAF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7B2DAF"/>
              </a:solidFill>
            </c:spPr>
          </c:marker>
          <c:cat>
            <c:numLit>
              <c:formatCode>General</c:formatCode>
              <c:ptCount val="7"/>
              <c:pt idx="0">
                <c:v>270</c:v>
              </c:pt>
              <c:pt idx="1">
                <c:v>280</c:v>
              </c:pt>
              <c:pt idx="2">
                <c:v>290</c:v>
              </c:pt>
              <c:pt idx="3">
                <c:v>300</c:v>
              </c:pt>
              <c:pt idx="4">
                <c:v>310</c:v>
              </c:pt>
              <c:pt idx="5">
                <c:v>320</c:v>
              </c:pt>
              <c:pt idx="6">
                <c:v>330</c:v>
              </c:pt>
            </c:numLit>
          </c:cat>
          <c:val>
            <c:numLit>
              <c:formatCode>0</c:formatCode>
              <c:ptCount val="7"/>
              <c:pt idx="0">
                <c:v>0.14996139382261342</c:v>
              </c:pt>
              <c:pt idx="1">
                <c:v>0.071175750200796</c:v>
              </c:pt>
              <c:pt idx="2">
                <c:v>0.11192551014700317</c:v>
              </c:pt>
              <c:pt idx="3">
                <c:v>19.107189007272705</c:v>
              </c:pt>
              <c:pt idx="4">
                <c:v>18.749142383005655</c:v>
              </c:pt>
              <c:pt idx="5">
                <c:v>16.301546321778073</c:v>
              </c:pt>
              <c:pt idx="6">
                <c:v>12.866841582465351</c:v>
              </c:pt>
            </c:numLit>
          </c:val>
          <c:smooth val="0"/>
        </c:ser>
        <c:ser>
          <c:idx val="1"/>
          <c:order val="1"/>
          <c:tx>
            <c:v>alarm threshold</c:v>
          </c:tx>
          <c:spPr>
            <a:ln xmlns:a="http://schemas.openxmlformats.org/drawingml/2006/main" w="19050">
              <a:solidFill>
                <a:srgbClr val="C4493D"/>
              </a:solidFill>
              <a:prstDash val="dash"/>
            </a:ln>
          </c:spPr>
          <c:marker>
            <c:symbol val="none"/>
          </c:marker>
          <c:cat>
            <c:numLit>
              <c:formatCode>General</c:formatCode>
              <c:ptCount val="7"/>
              <c:pt idx="0">
                <c:v>270</c:v>
              </c:pt>
              <c:pt idx="1">
                <c:v>280</c:v>
              </c:pt>
              <c:pt idx="2">
                <c:v>290</c:v>
              </c:pt>
              <c:pt idx="3">
                <c:v>300</c:v>
              </c:pt>
              <c:pt idx="4">
                <c:v>310</c:v>
              </c:pt>
              <c:pt idx="5">
                <c:v>320</c:v>
              </c:pt>
              <c:pt idx="6">
                <c:v>330</c:v>
              </c:pt>
            </c:numLit>
          </c:cat>
          <c:val>
            <c:numLit>
              <c:formatCode>0</c:formatCode>
              <c:ptCount val="7"/>
              <c:pt idx="0">
                <c:v>1</c:v>
              </c:pt>
              <c:pt idx="1">
                <c:v>1</c:v>
              </c:pt>
              <c:pt idx="2">
                <c:v>1</c:v>
              </c:pt>
              <c:pt idx="3">
                <c:v>1</c:v>
              </c:pt>
              <c:pt idx="4">
                <c:v>1</c:v>
              </c:pt>
              <c:pt idx="5">
                <c:v>1</c:v>
              </c:pt>
              <c:pt idx="6">
                <c:v>1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Yu Gothic"/>
                    <a:ea typeface="Yu Gothic"/>
                    <a:cs typeface="Yu Gothic"/>
                  </a:rPr>
                  <a:t>time [s]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</c:catAx>
      <c:valAx>
        <c:axId val="48672768"/>
        <c:scaling>
          <c:orientation val="minMax"/>
          <c:max val="20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F2F2F2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Yu Gothic"/>
                    <a:ea typeface="Yu Gothic"/>
                    <a:cs typeface="Yu Gothic"/>
                  </a:rPr>
                  <a:t>normalized NIS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0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crossBetween val="between"/>
        <c:majorUnit val="5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5B5B5B"/>
              </a:solidFill>
              <a:latin typeface="Yu Gothic"/>
              <a:ea typeface="Yu Gothic"/>
              <a:cs typeface="Yu Gothi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2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truth hidden heat</c:v>
          </c:tx>
          <c:spPr>
            <a:ln xmlns:a="http://schemas.openxmlformats.org/drawingml/2006/main" w="28575">
              <a:solidFill>
                <a:srgbClr val="3F3F3F"/>
              </a:solidFill>
              <a:prstDash val="solid"/>
            </a:ln>
          </c:spPr>
          <c:marker>
            <c:symbol val="none"/>
          </c:marker>
          <c:cat>
            <c:numLit>
              <c:formatCode>General</c:formatCode>
              <c:ptCount val="21"/>
              <c:pt idx="0">
                <c:v>250</c:v>
              </c:pt>
              <c:pt idx="1">
                <c:v>260</c:v>
              </c:pt>
              <c:pt idx="2">
                <c:v>270</c:v>
              </c:pt>
              <c:pt idx="3">
                <c:v>280</c:v>
              </c:pt>
              <c:pt idx="4">
                <c:v>282</c:v>
              </c:pt>
              <c:pt idx="5">
                <c:v>290</c:v>
              </c:pt>
              <c:pt idx="6">
                <c:v>292</c:v>
              </c:pt>
              <c:pt idx="7">
                <c:v>300</c:v>
              </c:pt>
              <c:pt idx="8">
                <c:v>310</c:v>
              </c:pt>
              <c:pt idx="9">
                <c:v>320</c:v>
              </c:pt>
              <c:pt idx="10">
                <c:v>330</c:v>
              </c:pt>
              <c:pt idx="11">
                <c:v>340</c:v>
              </c:pt>
              <c:pt idx="12">
                <c:v>350</c:v>
              </c:pt>
              <c:pt idx="13">
                <c:v>360</c:v>
              </c:pt>
              <c:pt idx="14">
                <c:v>370</c:v>
              </c:pt>
              <c:pt idx="15">
                <c:v>380</c:v>
              </c:pt>
              <c:pt idx="16">
                <c:v>382</c:v>
              </c:pt>
              <c:pt idx="17">
                <c:v>390</c:v>
              </c:pt>
              <c:pt idx="18">
                <c:v>400</c:v>
              </c:pt>
              <c:pt idx="19">
                <c:v>410</c:v>
              </c:pt>
              <c:pt idx="20">
                <c:v>420</c:v>
              </c:pt>
            </c:numLit>
          </c:cat>
          <c:val>
            <c:numLit>
              <c:formatCode>0.0</c:formatCode>
              <c:ptCount val="21"/>
              <c:pt idx="0">
                <c:v>0</c:v>
              </c:pt>
              <c:pt idx="1">
                <c:v>0</c:v>
              </c:pt>
              <c:pt idx="2">
                <c:v>0</c:v>
              </c:pt>
              <c:pt idx="3">
                <c:v>0</c:v>
              </c:pt>
              <c:pt idx="4">
                <c:v>3</c:v>
              </c:pt>
              <c:pt idx="5">
                <c:v>3</c:v>
              </c:pt>
              <c:pt idx="6">
                <c:v>3</c:v>
              </c:pt>
              <c:pt idx="7">
                <c:v>3</c:v>
              </c:pt>
              <c:pt idx="8">
                <c:v>3</c:v>
              </c:pt>
              <c:pt idx="9">
                <c:v>3</c:v>
              </c:pt>
              <c:pt idx="10">
                <c:v>3</c:v>
              </c:pt>
              <c:pt idx="11">
                <c:v>3</c:v>
              </c:pt>
              <c:pt idx="12">
                <c:v>3</c:v>
              </c:pt>
              <c:pt idx="13">
                <c:v>3</c:v>
              </c:pt>
              <c:pt idx="14">
                <c:v>3</c:v>
              </c:pt>
              <c:pt idx="15">
                <c:v>3</c:v>
              </c:pt>
              <c:pt idx="16">
                <c:v>0</c:v>
              </c:pt>
              <c:pt idx="17">
                <c:v>0</c:v>
              </c:pt>
              <c:pt idx="18">
                <c:v>0</c:v>
              </c:pt>
              <c:pt idx="19">
                <c:v>0</c:v>
              </c:pt>
              <c:pt idx="20">
                <c:v>0</c:v>
              </c:pt>
            </c:numLit>
          </c:val>
          <c:smooth val="0"/>
        </c:ser>
        <c:ser>
          <c:idx val="1"/>
          <c:order val="1"/>
          <c:tx>
            <c:v>estimated disturbance</c:v>
          </c:tx>
          <c:spPr>
            <a:ln xmlns:a="http://schemas.openxmlformats.org/drawingml/2006/main" w="28575">
              <a:solidFill>
                <a:srgbClr val="00A5D8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00A5D8"/>
              </a:solidFill>
            </c:spPr>
          </c:marker>
          <c:cat>
            <c:numLit>
              <c:formatCode>General</c:formatCode>
              <c:ptCount val="21"/>
              <c:pt idx="0">
                <c:v>250</c:v>
              </c:pt>
              <c:pt idx="1">
                <c:v>260</c:v>
              </c:pt>
              <c:pt idx="2">
                <c:v>270</c:v>
              </c:pt>
              <c:pt idx="3">
                <c:v>280</c:v>
              </c:pt>
              <c:pt idx="4">
                <c:v>282</c:v>
              </c:pt>
              <c:pt idx="5">
                <c:v>290</c:v>
              </c:pt>
              <c:pt idx="6">
                <c:v>292</c:v>
              </c:pt>
              <c:pt idx="7">
                <c:v>300</c:v>
              </c:pt>
              <c:pt idx="8">
                <c:v>310</c:v>
              </c:pt>
              <c:pt idx="9">
                <c:v>320</c:v>
              </c:pt>
              <c:pt idx="10">
                <c:v>330</c:v>
              </c:pt>
              <c:pt idx="11">
                <c:v>340</c:v>
              </c:pt>
              <c:pt idx="12">
                <c:v>350</c:v>
              </c:pt>
              <c:pt idx="13">
                <c:v>360</c:v>
              </c:pt>
              <c:pt idx="14">
                <c:v>370</c:v>
              </c:pt>
              <c:pt idx="15">
                <c:v>380</c:v>
              </c:pt>
              <c:pt idx="16">
                <c:v>382</c:v>
              </c:pt>
              <c:pt idx="17">
                <c:v>390</c:v>
              </c:pt>
              <c:pt idx="18">
                <c:v>400</c:v>
              </c:pt>
              <c:pt idx="19">
                <c:v>410</c:v>
              </c:pt>
              <c:pt idx="20">
                <c:v>420</c:v>
              </c:pt>
            </c:numLit>
          </c:cat>
          <c:val>
            <c:numLit>
              <c:formatCode>0.0</c:formatCode>
              <c:ptCount val="21"/>
              <c:pt idx="0">
                <c:v>0.03360968147193544</c:v>
              </c:pt>
              <c:pt idx="1">
                <c:v>-0.035886283053816324</c:v>
              </c:pt>
              <c:pt idx="2">
                <c:v>-0.03741949195587052</c:v>
              </c:pt>
              <c:pt idx="3">
                <c:v>-0.061647723741180147</c:v>
              </c:pt>
              <c:pt idx="4">
                <c:v>-0.07146955455702154</c:v>
              </c:pt>
              <c:pt idx="5">
                <c:v>0.11469420860490795</c:v>
              </c:pt>
              <c:pt idx="6">
                <c:v>0.24686282424242165</c:v>
              </c:pt>
              <c:pt idx="7">
                <c:v>0.636563711755409</c:v>
              </c:pt>
              <c:pt idx="8">
                <c:v>1.284475744891174</c:v>
              </c:pt>
              <c:pt idx="9">
                <c:v>1.8948691173207985</c:v>
              </c:pt>
              <c:pt idx="10">
                <c:v>2.2668685000112023</c:v>
              </c:pt>
              <c:pt idx="11">
                <c:v>2.5700216887680107</c:v>
              </c:pt>
              <c:pt idx="12">
                <c:v>2.7862118092493575</c:v>
              </c:pt>
              <c:pt idx="13">
                <c:v>3.0754272736641157</c:v>
              </c:pt>
              <c:pt idx="14">
                <c:v>3.1695509773601676</c:v>
              </c:pt>
              <c:pt idx="15">
                <c:v>3.1324595955393257</c:v>
              </c:pt>
              <c:pt idx="16">
                <c:v>3.1212384113914857</c:v>
              </c:pt>
              <c:pt idx="17">
                <c:v>2.982580359018794</c:v>
              </c:pt>
              <c:pt idx="18">
                <c:v>2.500219345157469</c:v>
              </c:pt>
              <c:pt idx="19">
                <c:v>1.876142783364904</c:v>
              </c:pt>
              <c:pt idx="20">
                <c:v>1.295591296954063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Yu Gothic"/>
                    <a:ea typeface="Yu Gothic"/>
                    <a:cs typeface="Yu Gothic"/>
                  </a:rPr>
                  <a:t>time [s]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</c:catAx>
      <c:valAx>
        <c:axId val="48672768"/>
        <c:scaling>
          <c:orientation val="minMax"/>
          <c:max val="4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F2F2F2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Yu Gothic"/>
                    <a:ea typeface="Yu Gothic"/>
                    <a:cs typeface="Yu Gothic"/>
                  </a:rPr>
                  <a:t>heat [W]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crossBetween val="between"/>
        <c:majorUnit val="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5B5B5B"/>
              </a:solidFill>
              <a:latin typeface="Yu Gothic"/>
              <a:ea typeface="Yu Gothic"/>
              <a:cs typeface="Yu Gothi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3.xml><?xml version="1.0" encoding="utf-8"?>
<c:chartSpace xmlns:c="http://schemas.openxmlformats.org/drawingml/2006/chart">
  <c:lang val="en-US"/>
  <c:chart>
    <c:plotArea>
      <c:barChart>
        <c:barDir val="bar"/>
        <c:grouping val="clustered"/>
        <c:varyColors val="0"/>
        <c:ser>
          <c:idx val="0"/>
          <c:order val="0"/>
          <c:tx>
            <c:v>mean RMSE</c:v>
          </c:tx>
          <c:spPr>
            <a:solidFill xmlns:a="http://schemas.openxmlformats.org/drawingml/2006/main">
              <a:srgbClr val="00A5D8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00A5D8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00A5D8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00A5D8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7B2DAF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00A5D8"/>
              </a:solidFill>
            </c:spPr>
          </c:dPt>
          <c:cat>
            <c:strLit>
              <c:ptCount val="5"/>
              <c:pt idx="0">
                <c:v>interpolation</c:v>
              </c:pt>
              <c:pt idx="1">
                <c:v>extrapolation</c:v>
              </c:pt>
              <c:pt idx="2">
                <c:v>dynamics</c:v>
              </c:pt>
              <c:pt idx="3">
                <c:v>initialization</c:v>
              </c:pt>
              <c:pt idx="4">
                <c:v>sampling</c:v>
              </c:pt>
            </c:strLit>
          </c:cat>
          <c:val>
            <c:numLit>
              <c:formatCode>0.000</c:formatCode>
              <c:ptCount val="5"/>
              <c:pt idx="0">
                <c:v>0.0214493</c:v>
              </c:pt>
              <c:pt idx="1">
                <c:v>0.0162405</c:v>
              </c:pt>
              <c:pt idx="2">
                <c:v>0.0316377</c:v>
              </c:pt>
              <c:pt idx="3">
                <c:v>0.4505383</c:v>
              </c:pt>
              <c:pt idx="4">
                <c:v>0.0501233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50" b="1">
                  <a:solidFill>
                    <a:srgbClr val="5B5B5B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2"/>
        <c:axId val="48650112"/>
        <c:axId val="48672768"/>
      </c:barChart>
      <c:catAx>
        <c:axId val="48650112"/>
        <c:scaling>
          <c:orientation val="minMax"/>
        </c:scaling>
        <c:delete val="0"/>
        <c:axPos val="l"/>
        <c:majorGridlines>
          <c:spPr>
            <a:ln xmlns:a="http://schemas.openxmlformats.org/drawingml/2006/main" w="9525">
              <a:solidFill>
                <a:srgbClr val="F2F2F2"/>
              </a:solidFill>
              <a:prstDash val="solid"/>
            </a:ln>
          </c:spPr>
        </c:majorGridlines>
        <c:numFmt formatCode="0.0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</c:catAx>
      <c:valAx>
        <c:axId val="48672768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crossBetween val="between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4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RMSE</c:v>
          </c:tx>
          <c:spPr>
            <a:solidFill xmlns:a="http://schemas.openxmlformats.org/drawingml/2006/main">
              <a:srgbClr val="7B2DAF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7B2DAF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6BE18"/>
              </a:solidFill>
            </c:spPr>
          </c:dPt>
          <c:cat>
            <c:strLit>
              <c:ptCount val="2"/>
              <c:pt idx="0">
                <c:v>F09
sparse initial</c:v>
              </c:pt>
              <c:pt idx="1">
                <c:v>F12
history initialized</c:v>
              </c:pt>
            </c:strLit>
          </c:cat>
          <c:val>
            <c:numLit>
              <c:formatCode>0.000</c:formatCode>
              <c:ptCount val="2"/>
              <c:pt idx="0">
                <c:v>1.3026766</c:v>
              </c:pt>
              <c:pt idx="1">
                <c:v>0.0380944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5B5B5B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88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</c:catAx>
      <c:valAx>
        <c:axId val="48672768"/>
        <c:scaling>
          <c:orientation val="minMax"/>
          <c:max val="1.5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F2F2F2"/>
              </a:solidFill>
              <a:prstDash val="solid"/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crossBetween val="between"/>
        <c:majorUnit val="0.25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5.xml><?xml version="1.0" encoding="utf-8"?>
<c:chartSpace xmlns:c="http://schemas.openxmlformats.org/drawingml/2006/chart">
  <c:lang val="en-US"/>
  <c:chart>
    <c:title>
      <c:tx>
        <c:rich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rPr sz="1050" b="1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external forecast RMSE [K]</a:t>
            </a:r>
          </a:p>
        </c:rich>
      </c:tx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1050" b="1">
              <a:solidFill>
                <a:srgbClr val="3F3F3F"/>
              </a:solidFill>
              <a:latin typeface="Yu Gothic"/>
              <a:ea typeface="Yu Gothic"/>
              <a:cs typeface="Yu Gothic"/>
            </a:defRPr>
          </a:pPr>
        </a:p>
      </c:txPr>
    </c:title>
    <c:plotArea>
      <c:barChart>
        <c:barDir val="col"/>
        <c:grouping val="clustered"/>
        <c:varyColors val="0"/>
        <c:ser>
          <c:idx val="0"/>
          <c:order val="0"/>
          <c:tx>
            <c:v>RMSE</c:v>
          </c:tx>
          <c:spPr>
            <a:solidFill xmlns:a="http://schemas.openxmlformats.org/drawingml/2006/main">
              <a:srgbClr val="00A5D8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00A5D8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00A5D8"/>
              </a:solidFill>
            </c:spPr>
          </c:dPt>
          <c:dPt>
            <c:idx val="2"/>
            <c:invertIfNegative val="0"/>
            <c:spPr>
              <a:solidFill xmlns:a="http://schemas.openxmlformats.org/drawingml/2006/main">
                <a:srgbClr val="00A5D8"/>
              </a:solidFill>
            </c:spPr>
          </c:dPt>
          <c:dPt>
            <c:idx val="3"/>
            <c:invertIfNegative val="0"/>
            <c:spPr>
              <a:solidFill xmlns:a="http://schemas.openxmlformats.org/drawingml/2006/main">
                <a:srgbClr val="00A5D8"/>
              </a:solidFill>
            </c:spPr>
          </c:dPt>
          <c:dPt>
            <c:idx val="4"/>
            <c:invertIfNegative val="0"/>
            <c:spPr>
              <a:solidFill xmlns:a="http://schemas.openxmlformats.org/drawingml/2006/main">
                <a:srgbClr val="7B2DAF"/>
              </a:solidFill>
            </c:spPr>
          </c:dPt>
          <c:dPt>
            <c:idx val="5"/>
            <c:invertIfNegative val="0"/>
            <c:spPr>
              <a:solidFill xmlns:a="http://schemas.openxmlformats.org/drawingml/2006/main">
                <a:srgbClr val="00A5D8"/>
              </a:solidFill>
            </c:spPr>
          </c:dPt>
          <c:dPt>
            <c:idx val="6"/>
            <c:invertIfNegative val="0"/>
            <c:spPr>
              <a:solidFill xmlns:a="http://schemas.openxmlformats.org/drawingml/2006/main">
                <a:srgbClr val="00A5D8"/>
              </a:solidFill>
            </c:spPr>
          </c:dPt>
          <c:dPt>
            <c:idx val="7"/>
            <c:invertIfNegative val="0"/>
            <c:spPr>
              <a:solidFill xmlns:a="http://schemas.openxmlformats.org/drawingml/2006/main">
                <a:srgbClr val="00A5D8"/>
              </a:solidFill>
            </c:spPr>
          </c:dPt>
          <c:cat>
            <c:strLit>
              <c:ptCount val="8"/>
              <c:pt idx="0">
                <c:v>F01</c:v>
              </c:pt>
              <c:pt idx="1">
                <c:v>F02</c:v>
              </c:pt>
              <c:pt idx="2">
                <c:v>F03</c:v>
              </c:pt>
              <c:pt idx="3">
                <c:v>F04</c:v>
              </c:pt>
              <c:pt idx="4">
                <c:v>F05</c:v>
              </c:pt>
              <c:pt idx="5">
                <c:v>F06</c:v>
              </c:pt>
              <c:pt idx="6">
                <c:v>F07</c:v>
              </c:pt>
              <c:pt idx="7">
                <c:v>F08</c:v>
              </c:pt>
            </c:strLit>
          </c:cat>
          <c:val>
            <c:numLit>
              <c:formatCode>0.000</c:formatCode>
              <c:ptCount val="8"/>
              <c:pt idx="0">
                <c:v>0.006395705</c:v>
              </c:pt>
              <c:pt idx="1">
                <c:v>0.024712004</c:v>
              </c:pt>
              <c:pt idx="2">
                <c:v>0.014252666</c:v>
              </c:pt>
              <c:pt idx="3">
                <c:v>0.020676293</c:v>
              </c:pt>
              <c:pt idx="4">
                <c:v>0.0829737</c:v>
              </c:pt>
              <c:pt idx="5">
                <c:v>0.058981351</c:v>
              </c:pt>
              <c:pt idx="6">
                <c:v>0.038589825</c:v>
              </c:pt>
              <c:pt idx="7">
                <c:v>0.04362931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5B5B5B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8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</c:catAx>
      <c:valAx>
        <c:axId val="48672768"/>
        <c:scaling>
          <c:orientation val="minMax"/>
          <c:max val="0.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F2F2F2"/>
              </a:solidFill>
              <a:prstDash val="solid"/>
            </a:ln>
          </c:spPr>
        </c:majorGridlines>
        <c:numFmt formatCode="0.00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crossBetween val="between"/>
        <c:majorUnit val="0.0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6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|medium − fine|</c:v>
          </c:tx>
          <c:spPr>
            <a:solidFill xmlns:a="http://schemas.openxmlformats.org/drawingml/2006/main">
              <a:srgbClr val="E5A900"/>
            </a:solidFill>
          </c:spPr>
          <c:dPt>
            <c:idx val="0"/>
            <c:invertIfNegative val="0"/>
            <c:spPr>
              <a:solidFill xmlns:a="http://schemas.openxmlformats.org/drawingml/2006/main">
                <a:srgbClr val="E5A900"/>
              </a:solidFill>
            </c:spPr>
          </c:dPt>
          <c:dPt>
            <c:idx val="1"/>
            <c:invertIfNegative val="0"/>
            <c:spPr>
              <a:solidFill xmlns:a="http://schemas.openxmlformats.org/drawingml/2006/main">
                <a:srgbClr val="76BE18"/>
              </a:solidFill>
            </c:spPr>
          </c:dPt>
          <c:cat>
            <c:strLit>
              <c:ptCount val="2"/>
              <c:pt idx="0">
                <c:v>MC01</c:v>
              </c:pt>
              <c:pt idx="1">
                <c:v>MC02</c:v>
              </c:pt>
            </c:strLit>
          </c:cat>
          <c:val>
            <c:numLit>
              <c:formatCode>0.000</c:formatCode>
              <c:ptCount val="2"/>
              <c:pt idx="0">
                <c:v>0.4962086</c:v>
              </c:pt>
              <c:pt idx="1">
                <c:v>0.1544275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825" b="1">
                  <a:solidFill>
                    <a:srgbClr val="5B5B5B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7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825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</c:catAx>
      <c:valAx>
        <c:axId val="48672768"/>
        <c:scaling>
          <c:orientation val="minMax"/>
          <c:max val="0.6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F2F2F2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Yu Gothic"/>
                    <a:ea typeface="Yu Gothic"/>
                    <a:cs typeface="Yu Gothic"/>
                  </a:rPr>
                  <a:t>chip-average ΔT [K]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7.xml><?xml version="1.0" encoding="utf-8"?>
<c:chartSpace xmlns:c="http://schemas.openxmlformats.org/drawingml/2006/chart">
  <c:lang val="en-US"/>
  <c:chart>
    <c:plotArea>
      <c:barChart>
        <c:barDir val="col"/>
        <c:grouping val="clustered"/>
        <c:varyColors val="0"/>
        <c:ser>
          <c:idx val="0"/>
          <c:order val="0"/>
          <c:tx>
            <c:v>learned</c:v>
          </c:tx>
          <c:spPr>
            <a:solidFill xmlns:a="http://schemas.openxmlformats.org/drawingml/2006/main">
              <a:srgbClr val="00A5D8"/>
            </a:solidFill>
          </c:spPr>
          <c:cat>
            <c:strLit>
              <c:ptCount val="2"/>
              <c:pt idx="0">
                <c:v>HV01
conjugate</c:v>
              </c:pt>
              <c:pt idx="1">
                <c:v>HV02
radiation</c:v>
              </c:pt>
            </c:strLit>
          </c:cat>
          <c:val>
            <c:numLit>
              <c:formatCode>0.000</c:formatCode>
              <c:ptCount val="2"/>
              <c:pt idx="0">
                <c:v>0.047653</c:v>
              </c:pt>
              <c:pt idx="1">
                <c:v>0.143584</c:v>
              </c:pt>
            </c:numLit>
          </c:val>
        </c:ser>
        <c:ser>
          <c:idx val="1"/>
          <c:order val="1"/>
          <c:tx>
            <c:v>prior</c:v>
          </c:tx>
          <c:spPr>
            <a:solidFill xmlns:a="http://schemas.openxmlformats.org/drawingml/2006/main">
              <a:srgbClr val="D6D6D6"/>
            </a:solidFill>
          </c:spPr>
          <c:cat>
            <c:strLit>
              <c:ptCount val="2"/>
              <c:pt idx="0">
                <c:v>HV01
conjugate</c:v>
              </c:pt>
              <c:pt idx="1">
                <c:v>HV02
radiation</c:v>
              </c:pt>
            </c:strLit>
          </c:cat>
          <c:val>
            <c:numLit>
              <c:formatCode>0.000</c:formatCode>
              <c:ptCount val="2"/>
              <c:pt idx="0">
                <c:v>0.976932</c:v>
              </c:pt>
              <c:pt idx="1">
                <c:v>0.800906</c:v>
              </c:pt>
            </c:numLit>
          </c:val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 sz="713" b="1">
                  <a:solidFill>
                    <a:srgbClr val="5B5B5B"/>
                  </a:solidFill>
                  <a:latin typeface="Yu Gothic"/>
                  <a:ea typeface="Yu Gothic"/>
                  <a:cs typeface="Yu Gothic"/>
                </a:defRPr>
              </a:pPr>
            </a:p>
          </c:txPr>
          <c:dLblPos val="out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8"/>
        <c:overlap val="0"/>
        <c:axId val="48650112"/>
        <c:axId val="48672768"/>
      </c:barChart>
      <c:catAx>
        <c:axId val="48650112"/>
        <c:scaling>
          <c:orientation val="minMax"/>
        </c:scaling>
        <c:delete val="0"/>
        <c:axPos val="b"/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75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</c:catAx>
      <c:valAx>
        <c:axId val="48672768"/>
        <c:scaling>
          <c:orientation val="minMax"/>
          <c:max val="1.1"/>
          <c:min val="0"/>
        </c:scaling>
        <c:delete val="0"/>
        <c:axPos val="l"/>
        <c:majorGridlines>
          <c:spPr>
            <a:ln xmlns:a="http://schemas.openxmlformats.org/drawingml/2006/main" w="9525">
              <a:solidFill>
                <a:srgbClr val="F2F2F2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Yu Gothic"/>
                    <a:ea typeface="Yu Gothic"/>
                    <a:cs typeface="Yu Gothic"/>
                  </a:rPr>
                  <a:t>RMSE [K]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crossBetween val="between"/>
        <c:majorUnit val="0.2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50">
              <a:solidFill>
                <a:srgbClr val="5B5B5B"/>
              </a:solidFill>
              <a:latin typeface="Yu Gothic"/>
              <a:ea typeface="Yu Gothic"/>
              <a:cs typeface="Yu Gothi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charts/chart8.xml><?xml version="1.0" encoding="utf-8"?>
<c:chartSpace xmlns:c="http://schemas.openxmlformats.org/drawingml/2006/chart">
  <c:lang val="en-US"/>
  <c:chart>
    <c:plotArea>
      <c:lineChart>
        <c:grouping val="standard"/>
        <c:varyColors val="0"/>
        <c:ser>
          <c:idx val="0"/>
          <c:order val="0"/>
          <c:tx>
            <c:v>truth ΔT with radiation</c:v>
          </c:tx>
          <c:spPr>
            <a:ln xmlns:a="http://schemas.openxmlformats.org/drawingml/2006/main" w="28575">
              <a:solidFill>
                <a:srgbClr val="7B2DAF"/>
              </a:solidFill>
              <a:prstDash val="solid"/>
            </a:ln>
          </c:spPr>
          <c:marker>
            <c:symbol val="circle"/>
            <c:size val="4"/>
            <c:spPr>
              <a:solidFill xmlns:a="http://schemas.openxmlformats.org/drawingml/2006/main">
                <a:srgbClr val="7B2DAF"/>
              </a:solidFill>
            </c:spPr>
          </c:marker>
          <c:cat>
            <c:numLit>
              <c:formatCode>General</c:formatCode>
              <c:ptCount val="12"/>
              <c:pt idx="0">
                <c:v>0</c:v>
              </c:pt>
              <c:pt idx="1">
                <c:v>20</c:v>
              </c:pt>
              <c:pt idx="2">
                <c:v>40</c:v>
              </c:pt>
              <c:pt idx="3">
                <c:v>60</c:v>
              </c:pt>
              <c:pt idx="4">
                <c:v>80</c:v>
              </c:pt>
              <c:pt idx="5">
                <c:v>100</c:v>
              </c:pt>
              <c:pt idx="6">
                <c:v>120</c:v>
              </c:pt>
              <c:pt idx="7">
                <c:v>140</c:v>
              </c:pt>
              <c:pt idx="8">
                <c:v>160</c:v>
              </c:pt>
              <c:pt idx="9">
                <c:v>180</c:v>
              </c:pt>
              <c:pt idx="10">
                <c:v>200</c:v>
              </c:pt>
              <c:pt idx="11">
                <c:v>220</c:v>
              </c:pt>
            </c:numLit>
          </c:cat>
          <c:val>
            <c:numLit>
              <c:formatCode>0.0</c:formatCode>
              <c:ptCount val="12"/>
              <c:pt idx="0">
                <c:v>-0.0018545700000025533</c:v>
              </c:pt>
              <c:pt idx="1">
                <c:v>-0.0018549800000009498</c:v>
              </c:pt>
              <c:pt idx="2">
                <c:v>-0.0018553600000004167</c:v>
              </c:pt>
              <c:pt idx="3">
                <c:v>-0.0018556099999997855</c:v>
              </c:pt>
              <c:pt idx="4">
                <c:v>-0.0074855300000002956</c:v>
              </c:pt>
              <c:pt idx="5">
                <c:v>-0.001185069999998234</c:v>
              </c:pt>
              <c:pt idx="6">
                <c:v>-0.02288315000000196</c:v>
              </c:pt>
              <c:pt idx="7">
                <c:v>-0.08416299999999666</c:v>
              </c:pt>
              <c:pt idx="8">
                <c:v>-0.16855853000000565</c:v>
              </c:pt>
              <c:pt idx="9">
                <c:v>-0.24409413000000058</c:v>
              </c:pt>
              <c:pt idx="10">
                <c:v>-0.31718865999999935</c:v>
              </c:pt>
              <c:pt idx="11">
                <c:v>-0.3813336700000036</c:v>
              </c:pt>
            </c:numLit>
          </c:val>
          <c:smooth val="0"/>
        </c:ser>
        <c:ser>
          <c:idx val="1"/>
          <c:order val="1"/>
          <c:tx>
            <c:v>model predicted ΔT</c:v>
          </c:tx>
          <c:spPr>
            <a:ln xmlns:a="http://schemas.openxmlformats.org/drawingml/2006/main" w="28575">
              <a:solidFill>
                <a:srgbClr val="00A5D8"/>
              </a:solidFill>
              <a:prstDash val="solid"/>
            </a:ln>
          </c:spPr>
          <c:marker>
            <c:symbol val="square"/>
            <c:size val="4"/>
            <c:spPr>
              <a:solidFill xmlns:a="http://schemas.openxmlformats.org/drawingml/2006/main">
                <a:srgbClr val="00A5D8"/>
              </a:solidFill>
            </c:spPr>
          </c:marker>
          <c:cat>
            <c:numLit>
              <c:formatCode>General</c:formatCode>
              <c:ptCount val="12"/>
              <c:pt idx="0">
                <c:v>0</c:v>
              </c:pt>
              <c:pt idx="1">
                <c:v>20</c:v>
              </c:pt>
              <c:pt idx="2">
                <c:v>40</c:v>
              </c:pt>
              <c:pt idx="3">
                <c:v>60</c:v>
              </c:pt>
              <c:pt idx="4">
                <c:v>80</c:v>
              </c:pt>
              <c:pt idx="5">
                <c:v>100</c:v>
              </c:pt>
              <c:pt idx="6">
                <c:v>120</c:v>
              </c:pt>
              <c:pt idx="7">
                <c:v>140</c:v>
              </c:pt>
              <c:pt idx="8">
                <c:v>160</c:v>
              </c:pt>
              <c:pt idx="9">
                <c:v>180</c:v>
              </c:pt>
              <c:pt idx="10">
                <c:v>200</c:v>
              </c:pt>
              <c:pt idx="11">
                <c:v>220</c:v>
              </c:pt>
            </c:numLit>
          </c:cat>
          <c:val>
            <c:numLit>
              <c:formatCode>0.0</c:formatCode>
              <c:ptCount val="12"/>
              <c:pt idx="0">
                <c:v>-0.0018545700000025533</c:v>
              </c:pt>
              <c:pt idx="1">
                <c:v>-0.001777789999998447</c:v>
              </c:pt>
              <c:pt idx="2">
                <c:v>-0.001701600000000525</c:v>
              </c:pt>
              <c:pt idx="3">
                <c:v>-0.0016286799999996049</c:v>
              </c:pt>
              <c:pt idx="4">
                <c:v>-0.0015588800000010394</c:v>
              </c:pt>
              <c:pt idx="5">
                <c:v>-0.001492069999997625</c:v>
              </c:pt>
              <c:pt idx="6">
                <c:v>-0.001428130000000749</c:v>
              </c:pt>
              <c:pt idx="7">
                <c:v>-0.0013735799999992082</c:v>
              </c:pt>
              <c:pt idx="8">
                <c:v>-0.001328280000002735</c:v>
              </c:pt>
              <c:pt idx="9">
                <c:v>-0.0012915400000039767</c:v>
              </c:pt>
              <c:pt idx="10">
                <c:v>-0.0012564700000012863</c:v>
              </c:pt>
              <c:pt idx="11">
                <c:v>-0.0012223400000053175</c:v>
              </c:pt>
            </c:numLit>
          </c:val>
          <c:smooth val="0"/>
        </c:ser>
        <c:dLbls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Yu Gothic"/>
                  <a:ea typeface="Yu Gothic"/>
                  <a:cs typeface="Yu Gothic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smooth val="0"/>
        <c:axId val="48650112"/>
        <c:axId val="48672768"/>
      </c:lineChart>
      <c:catAx>
        <c:axId val="48650112"/>
        <c:scaling>
          <c:orientation val="minMax"/>
        </c:scaling>
        <c:delete val="0"/>
        <c:axPos val="b"/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Yu Gothic"/>
                    <a:ea typeface="Yu Gothic"/>
                    <a:cs typeface="Yu Gothic"/>
                  </a:rPr>
                  <a:t>time [s]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General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38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72768"/>
      </c:catAx>
      <c:valAx>
        <c:axId val="48672768"/>
        <c:scaling>
          <c:orientation val="minMax"/>
          <c:max val="0.05"/>
          <c:min val="-0.45"/>
        </c:scaling>
        <c:delete val="0"/>
        <c:axPos val="l"/>
        <c:majorGridlines>
          <c:spPr>
            <a:ln xmlns:a="http://schemas.openxmlformats.org/drawingml/2006/main" w="9525">
              <a:solidFill>
                <a:srgbClr val="F2F2F2"/>
              </a:solidFill>
              <a:prstDash val="solid"/>
            </a:ln>
          </c:spPr>
        </c:majorGridlines>
        <c:title>
          <c:tx>
            <c:rich>
              <a:bodyPr xmlns:a="http://schemas.openxmlformats.org/drawingml/2006/main"/>
              <a:lstStyle xmlns:a="http://schemas.openxmlformats.org/drawingml/2006/main"/>
              <a:p xmlns:a="http://schemas.openxmlformats.org/drawingml/2006/main">
                <a:r>
                  <a:rPr>
                    <a:latin typeface="Yu Gothic"/>
                    <a:ea typeface="Yu Gothic"/>
                    <a:cs typeface="Yu Gothic"/>
                  </a:rPr>
                  <a:t>ΔT chip [K]</a:t>
                </a:r>
              </a:p>
            </c:rich>
          </c:tx>
          <c:overlay val="0"/>
          <c:txPr>
            <a:bodyPr xmlns:a="http://schemas.openxmlformats.org/drawingml/2006/main" anchorCtr="1"/>
            <a:lstStyle xmlns:a="http://schemas.openxmlformats.org/drawingml/2006/main"/>
            <a:p xmlns:a="http://schemas.openxmlformats.org/drawingml/2006/main">
              <a:pPr>
                <a:defRPr>
                  <a:latin typeface="Yu Gothic"/>
                  <a:ea typeface="Yu Gothic"/>
                  <a:cs typeface="Yu Gothic"/>
                </a:defRPr>
              </a:pPr>
            </a:p>
          </c:txPr>
        </c:title>
        <c:numFmt formatCode="0.0"/>
        <c:majorTickMark val="none"/>
        <c:minorTickMark val="none"/>
        <c:spPr>
          <a:ln xmlns:a="http://schemas.openxmlformats.org/drawingml/2006/main" w="9525">
            <a:solidFill>
              <a:srgbClr val="D6D6D6"/>
            </a:solidFill>
            <a:prstDash val="solid"/>
          </a:ln>
        </c:spPr>
        <c:txPr>
          <a:bodyPr xmlns:a="http://schemas.openxmlformats.org/drawingml/2006/main" anchorCtr="1"/>
          <a:lstStyle xmlns:a="http://schemas.openxmlformats.org/drawingml/2006/main"/>
          <a:p xmlns:a="http://schemas.openxmlformats.org/drawingml/2006/main">
            <a:pPr>
              <a:defRPr sz="675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</a:p>
        </c:txPr>
        <c:crossAx val="48650112"/>
        <c:crossBetween val="between"/>
        <c:majorUnit val="0.1"/>
      </c:valAx>
      <c:spPr>
        <a:solidFill xmlns:a="http://schemas.openxmlformats.org/drawingml/2006/main">
          <a:srgbClr val="FFFFFF"/>
        </a:solidFill>
        <a:ln xmlns:a="http://schemas.openxmlformats.org/drawingml/2006/main" w="0">
          <a:noFill/>
          <a:prstDash val="solid"/>
        </a:ln>
      </c:spPr>
    </c:plotArea>
    <c:legend>
      <c:legendPos val="b"/>
      <c:overlay val="0"/>
      <c:txPr>
        <a:bodyPr xmlns:a="http://schemas.openxmlformats.org/drawingml/2006/main" anchorCtr="1"/>
        <a:lstStyle xmlns:a="http://schemas.openxmlformats.org/drawingml/2006/main"/>
        <a:p xmlns:a="http://schemas.openxmlformats.org/drawingml/2006/main">
          <a:pPr>
            <a:defRPr sz="713">
              <a:solidFill>
                <a:srgbClr val="5B5B5B"/>
              </a:solidFill>
              <a:latin typeface="Yu Gothic"/>
              <a:ea typeface="Yu Gothic"/>
              <a:cs typeface="Yu Gothic"/>
            </a:defRPr>
          </a:pPr>
        </a:p>
      </c:txPr>
    </c:legend>
    <c:plotVisOnly val="1"/>
  </c:chart>
  <c:spPr>
    <a:solidFill xmlns:a="http://schemas.openxmlformats.org/drawingml/2006/main">
      <a:srgbClr val="FFFFFF"/>
    </a:solidFill>
    <a:ln xmlns:a="http://schemas.openxmlformats.org/drawingml/2006/main" w="0">
      <a:noFill/>
      <a:prstDash val="solid"/>
    </a:ln>
  </c:spPr>
</c:chartSpace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20144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4CD145A-4C37-4740-A254-377B62B9E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714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08B032C-AC0F-44BC-92A6-2DEAEFF4CC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52450"/>
            <a:ext cx="561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THERMAL MODEL / EQUIPMENT ENGINEERING REVIEW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14732A-0055-4AD0-AB1E-3DBD17881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219200"/>
            <a:ext cx="9525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0" rIns="28575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8000"/>
              </a:lnSpc>
              <a:buNone/>
              <a:defRPr sz="3450" b="1" i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34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熱RCモデルによる</a:t>
            </a:r>
          </a:p>
          <a:p xmlns:a="http://schemas.openxmlformats.org/drawingml/2006/main">
            <a:pPr algn="l">
              <a:lnSpc>
                <a:spcPct val="98000"/>
              </a:lnSpc>
              <a:buNone/>
              <a:defRPr sz="3450" b="1" i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345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半導体装置の温度予測・状態監視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253300D-126C-41A4-96FE-7F888FCC0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05125"/>
            <a:ext cx="8667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0" i="0">
                <a:solidFill>
                  <a:srgbClr val="D9D2EA"/>
                </a:solidFill>
                <a:latin typeface="Yu Gothic"/>
                <a:ea typeface="Yu Gothic"/>
                <a:cs typeface="Yu Gothic"/>
              </a:defRPr>
            </a:pPr>
            <a:r>
              <a:rPr sz="1500" b="0" i="0">
                <a:solidFill>
                  <a:srgbClr val="D9D2EA"/>
                </a:solidFill>
                <a:latin typeface="Yu Gothic"/>
                <a:ea typeface="Yu Gothic"/>
                <a:cs typeface="Yu Gothic"/>
              </a:rPr>
              <a:t>物理妥当性、同定可能性、数値安定性、CAEベンチマークを一体で評価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FDDC70-AF28-432D-A30B-E0C082F81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571875"/>
            <a:ext cx="5334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BFB7D2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BFB7D2"/>
                </a:solidFill>
                <a:latin typeface="Yu Gothic"/>
                <a:ea typeface="Yu Gothic"/>
                <a:cs typeface="Yu Gothic"/>
              </a:rPr>
              <a:t>Technical review  /  thermal-cell-practical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8C47BC-CE82-4045-89FF-3D007443FF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9625"/>
            <a:ext cx="1219200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B1F6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B25ED9-3701-4D2E-8A49-95C92CCD14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4619625"/>
            <a:ext cx="3476625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47CC6EF-FD06-42B1-B5EE-E0518B8B4F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4619625"/>
            <a:ext cx="29527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51A3538-050C-45CF-95F7-08B4F36BE5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29375" y="4619625"/>
            <a:ext cx="171450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4D871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D1DC40F-4C31-40C6-B41B-13D955F5D9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3875" y="4619625"/>
            <a:ext cx="4048125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A205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39B30C-8FF7-4CDA-9F92-0B5106400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1075" y="5124450"/>
            <a:ext cx="104775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4650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4650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Q̇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A0185EA-01D2-4612-8EA4-639AFB498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24275" y="52197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C Ṫ = −L T + b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2465D8C-729E-491D-BF29-C5F9B0BE48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24650" y="5219700"/>
            <a:ext cx="11620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925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925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ΔT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64BC84-55DA-453C-BF7B-91D03E4C2D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67750" y="5057775"/>
            <a:ext cx="0" cy="1123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5A8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CC17BDB-E362-4C0B-B373-CC48979DE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20200" y="5057775"/>
            <a:ext cx="0" cy="1123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5A8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DF17E24-2C6C-416F-8B40-C7F5E7368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72650" y="5057775"/>
            <a:ext cx="0" cy="1123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5A8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A885004-5EBE-48BB-A100-3439FE9D2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25100" y="5057775"/>
            <a:ext cx="0" cy="1123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5A86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BF761A4-B7DB-4793-BD61-B833EDEE9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5057775"/>
            <a:ext cx="0" cy="11239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5A8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0AC089A-6005-4202-8525-504335CF1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2197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5A8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635D4C2-FA56-456A-B606-7C991E9412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56197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5A8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ADEC339-35C2-4BB1-8813-7BFCE9B23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96300" y="60198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665A8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7D45007-BD54-4F91-98B7-CFF3E05CA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5381625"/>
            <a:ext cx="552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51BFC6D-236A-4713-A771-315F3F7F6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0" y="4981575"/>
            <a:ext cx="5524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6C51816-295C-41D3-8291-2DF0FC4F1E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5781675"/>
            <a:ext cx="5524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5ACF4A8-7284-4A93-93FC-98FE735196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6438900"/>
            <a:ext cx="13525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825" b="0" i="0">
                <a:solidFill>
                  <a:srgbClr val="C6BFDA"/>
                </a:solidFill>
                <a:latin typeface="Yu Gothic"/>
                <a:ea typeface="Yu Gothic"/>
                <a:cs typeface="Yu Gothic"/>
              </a:defRPr>
            </a:pPr>
            <a:r>
              <a:rPr sz="825" b="0" i="0">
                <a:solidFill>
                  <a:srgbClr val="C6BFDA"/>
                </a:solidFill>
                <a:latin typeface="Yu Gothic"/>
                <a:ea typeface="Yu Gothic"/>
                <a:cs typeface="Yu Gothic"/>
              </a:rPr>
              <a:t>2026-09-17</a:t>
            </a:r>
          </a:p>
        </p:txBody>
      </p:sp>
    </p:spTree>
    <p:extLst>
      <p:ext uri="{BB962C8B-B14F-4D97-AF65-F5344CB8AC3E}">
        <p14:creationId xmlns:p14="http://schemas.microsoft.com/office/powerpoint/2010/main" val="1011796837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C48A3396-5C97-4C07-86FC-66A8BCFFA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656F12-DDA5-45C3-83C4-48EC502D0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EXECUTIVE VIEW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FA9CBDD-CD4C-4F63-996B-9EC2D04792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装置適用の価値は高いが、平均温度精度と局所安全性は分けて判定する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968F564-8A35-46E6-8398-E7F924F98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結論は「screeningに有効、製品保証には装置別V&amp;Vが必要」である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821950-643D-43AA-8933-A5FA6DFD6A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919E514-0260-4257-BA55-A4CC979C8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E28523-0BF3-4519-950B-319AAE8D9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A0A45AD-8E71-4ED9-9BA2-CC944F6425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4F7A61-52AE-4469-B085-44F1F21CB6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57325"/>
            <a:ext cx="340995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00FAB7B-743A-415C-9493-4DD92F42E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57325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7701C89-DF54-42F4-91FB-F8A1D10DFA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9545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57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物理モデル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215124-8776-4238-91B9-A960FB73FF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133600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小自由度でも、保存則と散逸性を構造として保持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7B84E0-B524-4841-BB9D-03956A8242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876550"/>
            <a:ext cx="30289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1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01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熱容量 C、コンダクタンス G、境界熱伝達 h を正値化して同定。exact/implicit積分により運転条件に応じた安定計算を行う。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7D68BD6-93C5-46DF-8062-279F9D73A7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57325"/>
            <a:ext cx="340995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1190AA8E-5BA2-4AEA-9F3B-6402D07B4C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457325"/>
            <a:ext cx="34099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0629B11-DC55-4DCC-AB86-3E3B3FB08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1695450"/>
            <a:ext cx="30289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57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検証エビデンス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ABC43D7-F66F-4B8C-B9B0-70C42769C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133600"/>
            <a:ext cx="30289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合成 → 線形CAE → 高忠実度CAEの段階評価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83B1D5D-D511-47C5-8580-7EE7E8958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00550" y="2876550"/>
            <a:ext cx="302895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1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01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TopCell core平均 0.143 K、線形COMSOL平均 0.036 K、高忠実度2ケース平均 0.0956 K。model gapとmesh未収束を別枠で保持。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90AF17B-DE1C-49CC-B1FC-8F3AF08C3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3771900" cy="26098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DF49DAD-8054-43DF-81F6-2A938C921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457325"/>
            <a:ext cx="37719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FD5B2E8-FB88-4F97-9CE2-5A4A0BD2A3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695450"/>
            <a:ext cx="33909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57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装置実装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69051EC-9919-4E7D-97F3-5BCA23167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133600"/>
            <a:ext cx="33909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00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予測・virtual sensor・異常検知を同じ状態定義で接続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AC2414E-11A3-4E14-B92E-8416129FE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2876550"/>
            <a:ext cx="3390900" cy="971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01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01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warm-up/cool-down予測、欠測補完、未知発熱とsensor biasの推定に利用可能。運転域、sensor帯域、hotspot marginは装置ごとに固定する。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13F6D3-03A5-4277-AB48-3CEFFA485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33875"/>
            <a:ext cx="25908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63E8DAE-5B02-4684-BB7E-22C539AAF5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33875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EC60BB86-5D7C-4CD6-BF74-FD9728FB0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429125"/>
            <a:ext cx="23050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0.036 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315462F6-7D59-423C-B3F4-BF2F675F02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810125"/>
            <a:ext cx="2305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線形COMSOL平均RMSE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80905C-0E7A-42CF-A783-B941BAF3C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095875"/>
            <a:ext cx="2305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外部forecast 8ケース。最大0.083 K。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15A94FC9-CD46-4B22-A3CE-40774D1A60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33875"/>
            <a:ext cx="25908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14417927-5D8C-4916-9279-1D8F2F130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4333875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4822BF8-A00B-454D-B309-84AF8D39A9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429125"/>
            <a:ext cx="23050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0.143 K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2FC38A4-6617-4280-BCE2-28EAFAADF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10125"/>
            <a:ext cx="2305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TopCell core平均RMSE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0B5DE73-46CA-4F24-BD66-89FC686E27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5095875"/>
            <a:ext cx="2305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初期観測が疎なF09がworst 1.303 K。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36C332D-8BEC-4B74-8B5B-C447ED150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33875"/>
            <a:ext cx="25908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CEBEFDFC-8F2D-4960-B1AF-E83F2DE63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4333875"/>
            <a:ext cx="66675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4AE8F11-6DF1-4A26-BAAE-A1DC8CE66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429125"/>
            <a:ext cx="230505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0.0956 K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B9FCEA1-50DC-45C7-9DF6-86EC8146BF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4810125"/>
            <a:ext cx="23050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高忠実度2ケース平均RMSE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29E0FE52-D061-46CD-8D46-A8933A928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5095875"/>
            <a:ext cx="2305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mesh/time/experiment strict validationは未完了。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CADA515-6AB4-4E81-90DB-4F639F36E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333875"/>
            <a:ext cx="2743200" cy="133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1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855B90B9-C125-46CD-9217-60E932A0E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476750"/>
            <a:ext cx="23812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工学判断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2221D9A8-0ACE-40A1-8B8B-ECB6F267B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791075"/>
            <a:ext cx="23812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体積平均の高精度を</a:t>
            </a:r>
          </a:p>
          <a:p xmlns:a="http://schemas.openxmlformats.org/drawingml/2006/main">
            <a:pPr algn="l">
              <a:lnSpc>
                <a:spcPct val="104000"/>
              </a:lnSpc>
              <a:buNone/>
              <a:def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hotspot保証へ外挿しない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06D5A25-2C1B-47E5-BBCF-86395E136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5410200"/>
            <a:ext cx="2381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D8D0E8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D8D0E8"/>
                </a:solidFill>
                <a:latin typeface="Yu Gothic"/>
                <a:ea typeface="Yu Gothic"/>
                <a:cs typeface="Yu Gothic"/>
              </a:rPr>
              <a:t>最大hotspot過小評価 0.328 K</a:t>
            </a:r>
          </a:p>
        </p:txBody>
      </p:sp>
    </p:spTree>
    <p:extLst>
      <p:ext uri="{BB962C8B-B14F-4D97-AF65-F5344CB8AC3E}">
        <p14:creationId xmlns:p14="http://schemas.microsoft.com/office/powerpoint/2010/main" val="17848474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8BA38F67-4383-49B1-B58F-65A0457F7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2E6947-9DE2-4B30-8FA6-5E06D0203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EQUIPMENT CONTEXT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A866739-A978-4E1D-BAAE-74F372B94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半導体装置では、熱源・熱経路・計測点を装置構成に対応付けて使う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C97993B-D204-46EB-8924-109735F0AB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モデルはCAEの代替ではなく、制御周期で扱える状態推定・予測層として配置する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01F06D-EC98-4276-9AA4-AF8008E3B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4E65042-6AEA-4D07-9948-026E77A8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7A38BA-5A6C-414A-85C0-2CF875EB6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BB3CA3-4F65-4BF6-9491-D5B537ABE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F4C89E-0C01-4547-B3EC-0500EC3C6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装置断面の概念対応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984E251-B659-4AA7-A518-027F4BCD03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809750"/>
            <a:ext cx="5143500" cy="3476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19050">
            <a:solidFill>
              <a:srgbClr val="3F3F3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AD0FA44-7EF4-4C3C-A8E1-42995A2D9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933575"/>
            <a:ext cx="18097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process chamber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CE1FFC1-BBF2-4D18-8CA0-10B5F28F47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71775" y="1438275"/>
            <a:ext cx="114300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6FB"/>
          </a:solidFill>
          <a:ln xmlns:a="http://schemas.openxmlformats.org/drawingml/2006/main" w="19050">
            <a:solidFill>
              <a:srgbClr val="00A5D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D5D0441-65BB-428B-96DF-13AA853AFD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57500" y="1514475"/>
            <a:ext cx="9715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gas / plasma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B96009D-09B3-4BA9-B8A4-406A838A4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43275" y="1838325"/>
            <a:ext cx="0" cy="5905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5D8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8562A6C7-584B-4E5D-9FFE-FEF14375E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2571750"/>
            <a:ext cx="3124200" cy="3619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BDDE7"/>
          </a:solidFill>
          <a:ln xmlns:a="http://schemas.openxmlformats.org/drawingml/2006/main" w="19050">
            <a:solidFill>
              <a:srgbClr val="007FA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3F9DC48-B82A-4B69-A2B2-8074F31BEF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00300" y="2609850"/>
            <a:ext cx="1905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wafer / workpiece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18A328-DF09-4232-8C81-A91F9B1A91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19250" y="2971800"/>
            <a:ext cx="3467100" cy="1000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F6"/>
          </a:solidFill>
          <a:ln xmlns:a="http://schemas.openxmlformats.org/drawingml/2006/main" w="19050">
            <a:solidFill>
              <a:srgbClr val="7B2DAF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05F291B-FF91-4E1C-9DB7-217496DF08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81200" y="3095625"/>
            <a:ext cx="27432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stage / ESC / heater body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5DFBC2B-A093-4B62-A7D0-72A17C8BE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495675"/>
            <a:ext cx="30099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B95C126-3482-450B-9BA1-0D08CC398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66975" y="3667125"/>
            <a:ext cx="1790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0" i="0">
                <a:solidFill>
                  <a:srgbClr val="806000"/>
                </a:solidFill>
                <a:latin typeface="Yu Gothic"/>
                <a:ea typeface="Yu Gothic"/>
                <a:cs typeface="Yu Gothic"/>
              </a:defRPr>
            </a:pPr>
            <a:r>
              <a:rPr sz="825" b="0" i="0">
                <a:solidFill>
                  <a:srgbClr val="806000"/>
                </a:solidFill>
                <a:latin typeface="Yu Gothic"/>
                <a:ea typeface="Yu Gothic"/>
                <a:cs typeface="Yu Gothic"/>
              </a:rPr>
              <a:t>heater zones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447F1B7-B326-4C21-980B-7CFC530B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0225" y="4133850"/>
            <a:ext cx="3105150" cy="400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6FB"/>
          </a:solidFill>
          <a:ln xmlns:a="http://schemas.openxmlformats.org/drawingml/2006/main" w="19050">
            <a:solidFill>
              <a:srgbClr val="00A5D8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84E9E7-C69D-48FB-B849-18916A5A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238625"/>
            <a:ext cx="3238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3C66088-4C5C-4872-9408-74A3F95D29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38400" y="4238625"/>
            <a:ext cx="3238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C656A0-ED05-423F-929E-01B0CE624E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4238625"/>
            <a:ext cx="3238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C5A39D-3278-439D-9F4D-32CC8EAEE6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4238625"/>
            <a:ext cx="3238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481CA52-C919-439B-8EF6-FBA4E4622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67150" y="4238625"/>
            <a:ext cx="3238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E7509B8-E174-4002-8F01-B11D752A69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238625"/>
            <a:ext cx="323850" cy="1714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A3E338B-C321-41AD-8171-3066DAF0E1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33625" y="4562475"/>
            <a:ext cx="2047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0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825" b="0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coolant channel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57ADE66-8FE5-4889-9843-256A54FF1F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2847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9525">
            <a:solidFill>
              <a:srgbClr val="4D8710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054E127-1F8E-4152-BF86-25549D205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3228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9525">
            <a:solidFill>
              <a:srgbClr val="4D871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8CEA47A-F250-43FC-8728-3B7B8E9A3C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609975"/>
            <a:ext cx="171450" cy="171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9525">
            <a:solidFill>
              <a:srgbClr val="4D8710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48A38BE-62F1-490A-81F6-36194D45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953000"/>
            <a:ext cx="1619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0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825" b="0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temperature sensors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F887D913-AE95-48AC-A0C6-511AADEC5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4029075"/>
            <a:ext cx="266700" cy="1000125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6BE18"/>
            </a:solidFill>
            <a:prstDash val="dash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46A2598-6A81-4140-9DC3-34CD583A13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578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状態モデルへの写像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8C66E27E-F04A-4267-AA66-8B37C663C4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90700"/>
            <a:ext cx="5257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D71FF75-A539-4A10-8B8F-FE55844B8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907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6D571DF4-07CE-4274-87CB-458C110FCD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1876425"/>
            <a:ext cx="1352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E5A900"/>
                </a:solidFill>
                <a:latin typeface="Cambria Math"/>
                <a:ea typeface="Cambria Math"/>
                <a:cs typeface="Cambria Math"/>
              </a:defRPr>
            </a:pPr>
            <a:r>
              <a:rPr sz="1200" b="1" i="0">
                <a:solidFill>
                  <a:srgbClr val="E5A900"/>
                </a:solidFill>
                <a:latin typeface="Cambria Math"/>
                <a:ea typeface="Cambria Math"/>
                <a:cs typeface="Cambria Math"/>
              </a:rPr>
              <a:t>熱源 q(t)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3B2AAF1-54F5-4E53-8E92-7FEBA5A36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876425"/>
            <a:ext cx="3371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heater / plasma / chuck loss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C16F97DF-3834-4B13-BA50-9F01EBEE5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162175"/>
            <a:ext cx="47339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recipe変化の過渡温度を予測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C3757C-D45C-4648-B27D-12247AFCF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28900"/>
            <a:ext cx="5257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C290686C-1926-4ABF-BC5A-D871DE98E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6289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91ECD12-3D4A-440A-8F81-3E4989AEFA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2714625"/>
            <a:ext cx="1352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00A5D8"/>
                </a:solidFill>
                <a:latin typeface="Cambria Math"/>
                <a:ea typeface="Cambria Math"/>
                <a:cs typeface="Cambria Math"/>
              </a:defRPr>
            </a:pPr>
            <a:r>
              <a:rPr sz="1200" b="1" i="0">
                <a:solidFill>
                  <a:srgbClr val="00A5D8"/>
                </a:solidFill>
                <a:latin typeface="Cambria Math"/>
                <a:ea typeface="Cambria Math"/>
                <a:cs typeface="Cambria Math"/>
              </a:rPr>
              <a:t>熱経路 G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05F0218-F9AE-4D81-B9FC-327BB1BF3A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2714625"/>
            <a:ext cx="3371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contact / interface / cooling path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0F8608C9-C0FB-4C44-B287-DC58A94306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000375"/>
            <a:ext cx="47339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接触劣化・冷却能力変化を識別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8551CBDA-9B35-4618-87FC-05D0BDAD2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67100"/>
            <a:ext cx="5257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DFAEA80-72C6-474C-B372-2881142CD6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4671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AC74DA9-D08D-401F-9FCA-05A43D69D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552825"/>
            <a:ext cx="1352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7B2DAF"/>
                </a:solidFill>
                <a:latin typeface="Cambria Math"/>
                <a:ea typeface="Cambria Math"/>
                <a:cs typeface="Cambria Math"/>
              </a:defRPr>
            </a:pPr>
            <a:r>
              <a:rPr sz="1200" b="1" i="0">
                <a:solidFill>
                  <a:srgbClr val="7B2DAF"/>
                </a:solidFill>
                <a:latin typeface="Cambria Math"/>
                <a:ea typeface="Cambria Math"/>
                <a:cs typeface="Cambria Math"/>
              </a:rPr>
              <a:t>状態 T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44447743-452A-48C4-99A3-47D45BE71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3552825"/>
            <a:ext cx="3371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wafer近傍 / stage / wall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AED7A57-4B4C-425C-AA84-FA075E170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3838575"/>
            <a:ext cx="47339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virtual sensor・warm-up判定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A983D94B-AA33-4593-94F9-4918E341A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05300"/>
            <a:ext cx="52578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7A63130B-7203-41D1-BEC7-B39EB59575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05300"/>
            <a:ext cx="762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71802C0-78F3-4B7A-991B-D406D48EC8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391025"/>
            <a:ext cx="13525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76BE18"/>
                </a:solidFill>
                <a:latin typeface="Cambria Math"/>
                <a:ea typeface="Cambria Math"/>
                <a:cs typeface="Cambria Math"/>
              </a:defRPr>
            </a:pPr>
            <a:r>
              <a:rPr sz="1200" b="1" i="0">
                <a:solidFill>
                  <a:srgbClr val="76BE18"/>
                </a:solidFill>
                <a:latin typeface="Cambria Math"/>
                <a:ea typeface="Cambria Math"/>
                <a:cs typeface="Cambria Math"/>
              </a:rPr>
              <a:t>観測 H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51E8C8D1-36EE-44A9-8060-01E832C67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4391025"/>
            <a:ext cx="33718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TC / RTD / pyrometer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91F6015-BBE4-437E-B9E1-8EC4B8DFA1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00825" y="4676775"/>
            <a:ext cx="4733925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欠測補完・sensor bias監視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A3D47B5-5A07-4ADE-B9A1-5BDE476C84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314950"/>
            <a:ext cx="5257800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7"/>
          </a:solidFill>
          <a:ln xmlns:a="http://schemas.openxmlformats.org/drawingml/2006/main" w="9525">
            <a:solidFill>
              <a:srgbClr val="C4493D"/>
            </a:solidFill>
            <a:prstDash val="solid"/>
          </a:ln>
        </p:spPr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E245822-38C7-4D20-ACD0-38FF97B02D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5438775"/>
            <a:ext cx="876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適用境界</a:t>
            </a:r>
          </a:p>
        </p:txBody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33AA758E-E651-4B6E-B63C-32A6A005D9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410200"/>
            <a:ext cx="3962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node温度は領域代表値。wafer面内分布、局所hotspot、放射view factorはCAE/実測で別途拘束する。</a:t>
            </a:r>
          </a:p>
        </p:txBody>
      </p:sp>
    </p:spTree>
    <p:extLst>
      <p:ext uri="{BB962C8B-B14F-4D97-AF65-F5344CB8AC3E}">
        <p14:creationId xmlns:p14="http://schemas.microsoft.com/office/powerpoint/2010/main" val="11702774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257A209-7F27-4DA2-8FE4-01204EABD6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FE675AA-4626-4FAE-B76D-EA2523C7E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EVIDENCE STRATEGY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37A83C6-748B-41EB-8F99-47FAB3900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証拠の階層を上げるたびに、主張できる範囲と未解決事項を更新する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8AB85A8-852B-4A84-B52B-02F7BDA19F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RMSE単独ではなく、model form・mesh・time・experimentの不確かさを分離する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8F74CBE-EE92-45B1-89FF-E7040C3AF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F6CAD07-7A49-409E-896A-11E9EDDF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C63B1A-D315-4C63-9335-2AC96D2212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DE8BC01-5153-4F97-95F9-FECDCE4B1C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4</a:t>
            </a:r>
          </a:p>
        </p:txBody>
      </p:sp>
      <p:graphicFrame>
        <p:nvGraphicFramePr>
          <p:cNvPr id="29" name=""/>
          <p:cNvGraphicFramePr/>
          <p:nvPr/>
        </p:nvGraphicFramePr>
        <p:xfrm>
          <a:off xmlns:a="http://schemas.openxmlformats.org/drawingml/2006/main" x="552450" y="1457325"/>
          <a:ext xmlns:a="http://schemas.openxmlformats.org/drawingml/2006/main" cx="11087100" cy="36957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428750"/>
                <a:gridCol w="2038350"/>
                <a:gridCol w="2686050"/>
                <a:gridCol w="2324100"/>
                <a:gridCol w="2609850"/>
              </a:tblGrid>
              <a:tr h="615950"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Level</a:t>
                      </a:r>
                    </a:p>
                  </a:txBody>
                  <a:tcPr marL="91440" marR="91440" marT="45720" marB="45720">
                    <a:solidFill>
                      <a:srgbClr val="00A5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目的</a:t>
                      </a:r>
                    </a:p>
                  </a:txBody>
                  <a:tcPr marL="91440" marR="91440" marT="45720" marB="45720">
                    <a:solidFill>
                      <a:srgbClr val="00A5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確認済みの証拠</a:t>
                      </a:r>
                    </a:p>
                  </a:txBody>
                  <a:tcPr marL="91440" marR="91440" marT="45720" marB="45720">
                    <a:solidFill>
                      <a:srgbClr val="00A5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主張できる範囲</a:t>
                      </a:r>
                    </a:p>
                  </a:txBody>
                  <a:tcPr marL="91440" marR="91440" marT="45720" marB="45720">
                    <a:solidFill>
                      <a:srgbClr val="00A5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残課題</a:t>
                      </a:r>
                    </a:p>
                  </a:txBody>
                  <a:tcPr marL="91440" marR="91440" marT="45720" marB="45720">
                    <a:solidFill>
                      <a:srgbClr val="00A5D8"/>
                    </a:solidFill>
                  </a:tcPr>
                </a:tc>
              </a:tr>
              <a:tr h="615950">
                <a:tc>
                  <a:txBody>
                    <a:bodyPr/>
                    <a:lstStyle/>
                    <a:p>
                      <a:r>
                        <a:rPr sz="878" b="1">
                          <a:solidFill>
                            <a:srgbClr val="007FA8"/>
                          </a:solidFill>
                          <a:latin typeface="Yu Gothic"/>
                          <a:ea typeface="Yu Gothic"/>
                          <a:cs typeface="Yu Gothic"/>
                        </a:rPr>
                        <a:t>A  数理・実装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保存則、正値性、数値安定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unit / property / quality gate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実装整合性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装置物理は未証明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5950">
                <a:tc>
                  <a:txBody>
                    <a:bodyPr/>
                    <a:lstStyle/>
                    <a:p>
                      <a:r>
                        <a:rPr sz="878" b="1">
                          <a:solidFill>
                            <a:srgbClr val="007FA8"/>
                          </a:solidFill>
                          <a:latin typeface="Yu Gothic"/>
                          <a:ea typeface="Yu Gothic"/>
                          <a:cs typeface="Yu Gothic"/>
                        </a:rPr>
                        <a:t>B  TopCell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真値既知で回帰試験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core 11ケース平均 0.143 K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同一model class内の性能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F11 model gap 9.823 K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615950">
                <a:tc>
                  <a:txBody>
                    <a:bodyPr/>
                    <a:lstStyle/>
                    <a:p>
                      <a:r>
                        <a:rPr sz="878" b="1">
                          <a:solidFill>
                            <a:srgbClr val="007FA8"/>
                          </a:solidFill>
                          <a:latin typeface="Yu Gothic"/>
                          <a:ea typeface="Yu Gothic"/>
                          <a:cs typeface="Yu Gothic"/>
                        </a:rPr>
                        <a:t>C  線形COMSOL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外部CAEへの転移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8ケース平均 0.036 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体積平均・線形境界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hotspot最大過小 0.328 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615950">
                <a:tc>
                  <a:txBody>
                    <a:bodyPr/>
                    <a:lstStyle/>
                    <a:p>
                      <a:r>
                        <a:rPr sz="878" b="1">
                          <a:solidFill>
                            <a:srgbClr val="7B2DAF"/>
                          </a:solidFill>
                          <a:latin typeface="Yu Gothic"/>
                          <a:ea typeface="Yu Gothic"/>
                          <a:cs typeface="Yu Gothic"/>
                        </a:rPr>
                        <a:t>D  高忠実度CAE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非線形・放射のscreening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2ケース平均 0.0956 K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model-form screening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mesh/time strict未qualified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615950">
                <a:tc>
                  <a:txBody>
                    <a:bodyPr/>
                    <a:lstStyle/>
                    <a:p>
                      <a:r>
                        <a:rPr sz="878" b="1">
                          <a:solidFill>
                            <a:srgbClr val="C4493D"/>
                          </a:solidFill>
                          <a:latin typeface="Yu Gothic"/>
                          <a:ea typeface="Yu Gothic"/>
                          <a:cs typeface="Yu Gothic"/>
                        </a:rPr>
                        <a:t>E  装置データ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製品運転域で妥当化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 b="1">
                          <a:solidFill>
                            <a:srgbClr val="C4493D"/>
                          </a:solidFill>
                          <a:latin typeface="Yu Gothic"/>
                          <a:ea typeface="Yu Gothic"/>
                          <a:cs typeface="Yu Gothic"/>
                        </a:rPr>
                        <a:t>未実施</a:t>
                      </a:r>
                    </a:p>
                  </a:txBody>
                  <a:tcPr marL="91440" marR="91440" marT="45720" marB="45720">
                    <a:solidFill>
                      <a:srgbClr val="FBE9E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7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DOE、sensor校正、holdout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DCE5E8-D860-41CD-9F5E-356033A3D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81625"/>
            <a:ext cx="142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主張の境界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63313D9-4E25-4642-AEBC-C63F033A32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724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CEEFD05-F375-4A87-B9EB-DA5B29DCB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48350"/>
            <a:ext cx="6858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EF7DF"/>
          </a:solidFill>
          <a:ln xmlns:a="http://schemas.openxmlformats.org/drawingml/2006/main" w="9525">
            <a:solidFill>
              <a:srgbClr val="76BE18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F49A98-5231-434B-BFA7-7A87446D4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0075" y="58578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788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可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84D5889-99DA-4137-B205-FCC9C8DE3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5819775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集中定数モデルとしての因果予測・状態監視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391C04C-1CDF-41EB-9DA8-E1C4CF249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848350"/>
            <a:ext cx="6858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5D7"/>
          </a:solidFill>
          <a:ln xmlns:a="http://schemas.openxmlformats.org/drawingml/2006/main" w="9525">
            <a:solidFill>
              <a:srgbClr val="E5A90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FA6DB33-7D88-4C94-91CE-4E73C578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95775" y="58578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 i="0">
                <a:solidFill>
                  <a:srgbClr val="E5A900"/>
                </a:solidFill>
                <a:latin typeface="Yu Gothic"/>
                <a:ea typeface="Yu Gothic"/>
                <a:cs typeface="Yu Gothic"/>
              </a:defRPr>
            </a:pPr>
            <a:r>
              <a:rPr sz="788" b="1" i="0">
                <a:solidFill>
                  <a:srgbClr val="E5A900"/>
                </a:solidFill>
                <a:latin typeface="Yu Gothic"/>
                <a:ea typeface="Yu Gothic"/>
                <a:cs typeface="Yu Gothic"/>
              </a:rPr>
              <a:t>条件付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636312E-54F8-4822-AC97-FB055E02DD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29200" y="5819775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体積平均温度のscreening精度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8EA211A-5C0A-4C36-98F5-F0CB2DCE5A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848350"/>
            <a:ext cx="68580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BE9E7"/>
          </a:solidFill>
          <a:ln xmlns:a="http://schemas.openxmlformats.org/drawingml/2006/main" w="9525">
            <a:solidFill>
              <a:srgbClr val="C4493D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09329D4-07B7-4CDB-A1CF-AB87C12226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91475" y="5857875"/>
            <a:ext cx="5905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788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不可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BE3171B-0FD0-4E7F-8AC4-2B9AA37385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5819775"/>
            <a:ext cx="27432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9947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局所hotspot・wafer面内均一性・製品保証への直接外挿</a:t>
            </a:r>
          </a:p>
        </p:txBody>
      </p:sp>
    </p:spTree>
    <p:extLst>
      <p:ext uri="{BB962C8B-B14F-4D97-AF65-F5344CB8AC3E}">
        <p14:creationId xmlns:p14="http://schemas.microsoft.com/office/powerpoint/2010/main" val="1767928587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FBFE963-F33D-44F0-9F2E-312CB124E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6F0326A-91FA-4241-9E61-23F8F51FB4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PHYSICAL MODEL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FFB039-A156-4EC5-B815-1F6F11DD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3ノード伝熱回路は、熱容量を固定し3つの熱伝達係数を同定する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67EB8C7-8927-48C2-A20B-97BF67645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線形COMSOL評価モデル：chip → sink base → fins → coolant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342692-0C5E-4E3E-B554-E6C5FA93E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1D9DD4-4338-4E29-B34F-5A7370ED60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F24249F-4108-4D53-9688-D0BC618C60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EBE24C8-CA71-4FF3-BE17-083F02FE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19F059A-998C-4299-B82A-0388A761AA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6477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伝熱回路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247A06-B0F1-4514-A5A8-28A1C1A9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600325"/>
            <a:ext cx="1009650" cy="5334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FF5D7"/>
          </a:solidFill>
          <a:ln xmlns:a="http://schemas.openxmlformats.org/drawingml/2006/main" w="19050">
            <a:solidFill>
              <a:srgbClr val="E5A90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22475EC-113A-4C39-B5E6-AB7EA3CEA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686050"/>
            <a:ext cx="819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806000"/>
                </a:solidFill>
                <a:latin typeface="Cambria Math"/>
                <a:ea typeface="Cambria Math"/>
                <a:cs typeface="Cambria Math"/>
              </a:defRPr>
            </a:pPr>
            <a:r>
              <a:rPr sz="1275" b="1" i="0">
                <a:solidFill>
                  <a:srgbClr val="806000"/>
                </a:solidFill>
                <a:latin typeface="Cambria Math"/>
                <a:ea typeface="Cambria Math"/>
                <a:cs typeface="Cambria Math"/>
              </a:rPr>
              <a:t>Pchip(t)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84C246F-95A1-4F93-AEDC-BFE1CD9A4C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2076450"/>
            <a:ext cx="15430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F6"/>
          </a:solidFill>
          <a:ln xmlns:a="http://schemas.openxmlformats.org/drawingml/2006/main" w="19050">
            <a:solidFill>
              <a:srgbClr val="7B2DA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29F73ED-7055-4E87-94BF-E776344CC6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257425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chip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4B293B3-64E8-4AF8-BEB5-BACE57172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33600" y="262890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770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T₁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1942FB8-5AEC-43B8-A208-C22E39A9D7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7875" y="3143250"/>
            <a:ext cx="1352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00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C₁ = 10.43392 J/K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8B7C8BC-855B-4B9B-9255-6E76B13C0F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52850" y="2600325"/>
            <a:ext cx="1066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5D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08263952-BC17-4E42-A0C3-79B51C1B4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66700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007FA8"/>
                </a:solidFill>
                <a:latin typeface="Cambria Math"/>
                <a:ea typeface="Cambria Math"/>
                <a:cs typeface="Cambria Math"/>
              </a:defRPr>
            </a:pPr>
            <a:r>
              <a:rPr sz="1050" b="1" i="0">
                <a:solidFill>
                  <a:srgbClr val="007FA8"/>
                </a:solidFill>
                <a:latin typeface="Cambria Math"/>
                <a:ea typeface="Cambria Math"/>
                <a:cs typeface="Cambria Math"/>
              </a:rPr>
              <a:t>G₁ = 38.220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2E25D82-9023-46AC-9E92-E9B0E8FD51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765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W/K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DDE21A9-F47D-40F7-94CD-CB4E19681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86350" y="2076450"/>
            <a:ext cx="15430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6FB"/>
          </a:solidFill>
          <a:ln xmlns:a="http://schemas.openxmlformats.org/drawingml/2006/main" w="19050">
            <a:solidFill>
              <a:srgbClr val="00A5D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CD998D0-D0C5-427A-8B1B-19D33E9A1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257425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sink base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854E900-27B1-4AC9-ABDB-30E78871C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67325" y="262890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770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T₂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887B3C0-7D11-4D6A-8713-4D44CE7A0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3143250"/>
            <a:ext cx="1352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00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C₂ = 24.3 J/K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256F643-7364-4BCF-AD56-8AE0FB76E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86575" y="2600325"/>
            <a:ext cx="1066800" cy="533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89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89FCBA7-81C4-4C39-B3F3-5A07E93BE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667000"/>
            <a:ext cx="952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523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050" b="1" i="0">
                <a:solidFill>
                  <a:srgbClr val="00A89D"/>
                </a:solidFill>
                <a:latin typeface="Cambria Math"/>
                <a:ea typeface="Cambria Math"/>
                <a:cs typeface="Cambria Math"/>
              </a:defRPr>
            </a:pPr>
            <a:r>
              <a:rPr sz="1050" b="1" i="0">
                <a:solidFill>
                  <a:srgbClr val="00A89D"/>
                </a:solidFill>
                <a:latin typeface="Cambria Math"/>
                <a:ea typeface="Cambria Math"/>
                <a:cs typeface="Cambria Math"/>
              </a:rPr>
              <a:t>G₂ = 9.992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9739644-5EB6-4463-AF93-B0CBCCEDCA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43725" y="2876550"/>
            <a:ext cx="952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W/K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176FEE4-F722-48C0-8F65-322ACBED6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0075" y="2076450"/>
            <a:ext cx="1543050" cy="1581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7DF"/>
          </a:solidFill>
          <a:ln xmlns:a="http://schemas.openxmlformats.org/drawingml/2006/main" w="19050">
            <a:solidFill>
              <a:srgbClr val="76BE18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156CCDF-0312-4A7C-8F0D-B467057FB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257425"/>
            <a:ext cx="1181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fins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115EB64-BDD2-45E0-AAF8-5C84DE511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01050" y="2628900"/>
            <a:ext cx="11811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7701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75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2175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T₃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18FAAE0-B01A-4B9D-B1AD-B741EA4690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15325" y="3143250"/>
            <a:ext cx="13525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00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00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C₃ = 46.17 J/K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A84731A-BAD0-4968-8D4F-D2B600861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82200" y="3419475"/>
            <a:ext cx="952500" cy="476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76BE1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0F03DA49-B147-41F8-9CAC-76CBB1477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3476625"/>
            <a:ext cx="857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994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 i="0">
                <a:solidFill>
                  <a:srgbClr val="4D8710"/>
                </a:solidFill>
                <a:latin typeface="Cambria Math"/>
                <a:ea typeface="Cambria Math"/>
                <a:cs typeface="Cambria Math"/>
              </a:defRPr>
            </a:pPr>
            <a:r>
              <a:rPr sz="938" b="1" i="0">
                <a:solidFill>
                  <a:srgbClr val="4D8710"/>
                </a:solidFill>
                <a:latin typeface="Cambria Math"/>
                <a:ea typeface="Cambria Math"/>
                <a:cs typeface="Cambria Math"/>
              </a:rPr>
              <a:t>hA = 0.1906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043C834F-B809-4AFA-A2C3-D46AF35E4E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9825" y="3667125"/>
            <a:ext cx="85725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W/K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40FEA11D-E125-497F-B54C-3EF2C95933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06150" y="3276600"/>
            <a:ext cx="533400" cy="762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7FA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D295FAB-5034-4616-84E2-DBE8BBC548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352800"/>
            <a:ext cx="4381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75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975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Tcool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1490E13-C1DE-4177-A06C-85F828A97A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53775" y="3667125"/>
            <a:ext cx="4381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638" b="0" i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638" b="0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reservoir</a:t>
            </a:r>
          </a:p>
        </p:txBody>
      </p:sp>
      <p:cxnSp>
        <p:nvCxnSpPr>
          <p:cNvPr id="84" name=""/>
          <p:cNvCxnSpPr>
            <a:stCxn xmlns:a="http://schemas.openxmlformats.org/drawingml/2006/main" id="10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1562100" y="2867025"/>
            <a:ext cx="39052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E5A900"/>
            </a:solidFill>
            <a:prstDash val="solid"/>
            <a:tailEnd type="triangle" w="sm" len="sm"/>
          </a:ln>
        </p:spPr>
      </p:cxnSp>
      <p:cxnSp>
        <p:nvCxnSpPr>
          <p:cNvPr id="85" name=""/>
          <p:cNvCxnSpPr>
            <a:stCxn xmlns:a="http://schemas.openxmlformats.org/drawingml/2006/main" id="12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3495675" y="2867025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5D8"/>
            </a:solidFill>
            <a:prstDash val="solid"/>
          </a:ln>
        </p:spPr>
      </p:cxnSp>
      <p:cxnSp>
        <p:nvCxnSpPr>
          <p:cNvPr id="86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4819650" y="28670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5D8"/>
            </a:solidFill>
            <a:prstDash val="solid"/>
          </a:ln>
        </p:spPr>
      </p:cxnSp>
      <p:cxnSp>
        <p:nvCxnSpPr>
          <p:cNvPr id="87" name=""/>
          <p:cNvCxnSpPr>
            <a:stCxn xmlns:a="http://schemas.openxmlformats.org/drawingml/2006/main" id="19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6629400" y="2867025"/>
            <a:ext cx="257175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89D"/>
            </a:solidFill>
            <a:prstDash val="solid"/>
          </a:ln>
        </p:spPr>
      </p:cxnSp>
      <p:cxnSp>
        <p:nvCxnSpPr>
          <p:cNvPr id="88" name=""/>
          <p:cNvCxnSpPr>
            <a:stCxn xmlns:a="http://schemas.openxmlformats.org/drawingml/2006/main" id="23" idx="3"/>
            <a:endCxn xmlns:a="http://schemas.openxmlformats.org/drawingml/2006/main" id="26" idx="1"/>
          </p:cNvCxnSpPr>
          <p:nvPr/>
        </p:nvCxnSpPr>
        <p:spPr>
          <a:xfrm xmlns:a="http://schemas.openxmlformats.org/drawingml/2006/main">
            <a:off x="7953375" y="2867025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00A89D"/>
            </a:solidFill>
            <a:prstDash val="solid"/>
          </a:ln>
        </p:spPr>
      </p:cxnSp>
      <p:cxnSp>
        <p:nvCxnSpPr>
          <p:cNvPr id="89" name=""/>
          <p:cNvCxnSpPr>
            <a:stCxn xmlns:a="http://schemas.openxmlformats.org/drawingml/2006/main" id="19" idx="2"/>
            <a:endCxn xmlns:a="http://schemas.openxmlformats.org/drawingml/2006/main" id="30" idx="1"/>
          </p:cNvCxnSpPr>
          <p:nvPr/>
        </p:nvCxnSpPr>
        <p:spPr>
          <a:xfrm xmlns:a="http://schemas.openxmlformats.org/drawingml/2006/main">
            <a:off x="5857875" y="3657600"/>
            <a:ext cx="41243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6BE18"/>
            </a:solidFill>
            <a:prstDash val="dash"/>
          </a:ln>
        </p:spPr>
      </p:cxnSp>
      <p:cxnSp>
        <p:nvCxnSpPr>
          <p:cNvPr id="90" name=""/>
          <p:cNvCxnSpPr>
            <a:stCxn xmlns:a="http://schemas.openxmlformats.org/drawingml/2006/main" id="26" idx="2"/>
            <a:endCxn xmlns:a="http://schemas.openxmlformats.org/drawingml/2006/main" id="30" idx="0"/>
          </p:cNvCxnSpPr>
          <p:nvPr/>
        </p:nvCxnSpPr>
        <p:spPr>
          <a:xfrm xmlns:a="http://schemas.openxmlformats.org/drawingml/2006/main" flipV="1">
            <a:off x="8991600" y="3419475"/>
            <a:ext cx="1466850" cy="238125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76BE18"/>
            </a:solidFill>
            <a:prstDash val="dash"/>
          </a:ln>
        </p:spPr>
      </p:cxnSp>
      <p:cxnSp>
        <p:nvCxnSpPr>
          <p:cNvPr id="91" name=""/>
          <p:cNvCxnSpPr>
            <a:stCxn xmlns:a="http://schemas.openxmlformats.org/drawingml/2006/main" id="30" idx="3"/>
            <a:endCxn xmlns:a="http://schemas.openxmlformats.org/drawingml/2006/main" id="33" idx="1"/>
          </p:cNvCxnSpPr>
          <p:nvPr/>
        </p:nvCxnSpPr>
        <p:spPr>
          <a:xfrm xmlns:a="http://schemas.openxmlformats.org/drawingml/2006/main">
            <a:off x="10934700" y="3657600"/>
            <a:ext cx="17145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76BE18"/>
            </a:solidFill>
            <a:prstDash val="solid"/>
          </a:ln>
        </p:spPr>
      </p:cxn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93DC6B3-7210-446C-A034-9B9E72388F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19975" y="3990975"/>
            <a:ext cx="35623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共有境界weight: base 0.091 / fins 0.909</a:t>
            </a:r>
          </a:p>
        </p:txBody>
      </p:sp>
      <p:graphicFrame>
        <p:nvGraphicFramePr>
          <p:cNvPr id="93" name=""/>
          <p:cNvGraphicFramePr/>
          <p:nvPr/>
        </p:nvGraphicFramePr>
        <p:xfrm>
          <a:off xmlns:a="http://schemas.openxmlformats.org/drawingml/2006/main" x="552450" y="4276725"/>
          <a:ext xmlns:a="http://schemas.openxmlformats.org/drawingml/2006/main" cx="11087100" cy="13906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1381125"/>
                <a:gridCol w="1714500"/>
                <a:gridCol w="1381125"/>
                <a:gridCol w="4514850"/>
              </a:tblGrid>
              <a:tr h="347663"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learnable係数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prior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fitted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変化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物理解釈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</a:tr>
              <a:tr h="347663"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G chip–base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40.000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38.220 W/K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−4.45%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interfaceを含む有効熱伝達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47663"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G base–fins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12.000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9.992 W/K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−16.74%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拡散・接触を含む中間経路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347663"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hA coolant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0.440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0.1906 W/K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−56.67%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長時間応答を支配する境界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E4024B0-C89D-42EF-A10B-6E29DEFCE6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38825"/>
            <a:ext cx="11087100" cy="409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7"/>
          </a:solidFill>
          <a:ln xmlns:a="http://schemas.openxmlformats.org/drawingml/2006/main" w="9525">
            <a:solidFill>
              <a:srgbClr val="C4493D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7C7EA5E1-4727-40D5-AE28-02C4FAD3D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924550"/>
            <a:ext cx="5524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注意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B574B40-9191-4519-89D9-4837CCF8C2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23975" y="5895975"/>
            <a:ext cx="1014412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T₁–T₃は領域平均。chip hotspot・wafer面内分布は同じ状態量ではない。</a:t>
            </a:r>
          </a:p>
        </p:txBody>
      </p:sp>
    </p:spTree>
    <p:extLst>
      <p:ext uri="{BB962C8B-B14F-4D97-AF65-F5344CB8AC3E}">
        <p14:creationId xmlns:p14="http://schemas.microsoft.com/office/powerpoint/2010/main" val="177529729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6ECA239-4E29-4FFA-86C0-28B0B601D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CF06340-C59D-426F-9DFB-290132CF5C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GOVERNING EQUATIONS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F177C7-59D4-4156-A1D8-EEBBAE47D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第一法則を離散化し、保存・散逸・正値性をモデル構造で保証する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115AFD3-9233-4E09-8DD9-EA95335D0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学習器に物理を後付けするのではなく、許容する状態遷移そのものを制約する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5020341-75C6-4222-80F5-A85C3E574C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7A163E5-87F9-4A82-980E-C82D56DA2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3210BF-5862-4878-850F-8A889505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E4F0AA6-1391-4BFB-A561-C08495299D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F46E21-5CF6-4FD1-B3BE-638F2DAF8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6953250" cy="1571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9EC968-4AE9-408C-A036-90E890C601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9725"/>
            <a:ext cx="1619250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5F6FB"/>
          </a:solidFill>
          <a:ln xmlns:a="http://schemas.openxmlformats.org/drawingml/2006/main" w="9525">
            <a:solidFill>
              <a:srgbClr val="00A5D8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6D8F23-20D9-4BF9-A31E-856A6F0AF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19250"/>
            <a:ext cx="1524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788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NODE ENERGY BALANCE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14464F8-E48C-4E7C-B4FD-619865C605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85975"/>
            <a:ext cx="64389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180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Cᵢ dTᵢ/dt = Σⱼ Gᵢⱼ(Tⱼ − Tᵢ) + qᵢ + hᵢ(Tᵣ − Tᵢ) + (Wᵀd)ᵢ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F616C7-E498-4237-BB8F-75FE00E9B4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" y="2647950"/>
            <a:ext cx="64198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[J/K]·[K/s] = [W]  —  全項を熱流率で統一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6FEC15-E357-4141-8CAE-218D411B7C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200400"/>
            <a:ext cx="6953250" cy="19526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1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CE2C6A-5AD5-4DCF-B574-809BC3200F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371850"/>
            <a:ext cx="119062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2C2255"/>
          </a:solidFill>
          <a:ln xmlns:a="http://schemas.openxmlformats.org/drawingml/2006/main" w="9525">
            <a:solidFill>
              <a:srgbClr val="76BE18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C2EF57-CDEB-40BC-A325-84EECAB568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3381375"/>
            <a:ext cx="1095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788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MATRIX FORM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BF037F-BE7E-4787-8913-9A2131C07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00475"/>
            <a:ext cx="62865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1875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L = Bₑᵀ diag(g) Bₑ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E12E6B0-B4E4-4873-9A5C-41CBB8B7C1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29100"/>
            <a:ext cx="6286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0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1800" b="0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C Ṫ = −L T + q + h ⊙ (Tᵣ1 − T) + Wᵀd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F05E72F-AAAA-494A-813E-3D721CFF90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695825"/>
            <a:ext cx="628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00" b="1" i="0">
                <a:solidFill>
                  <a:srgbClr val="76BE18"/>
                </a:solidFill>
                <a:latin typeface="Cambria Math"/>
                <a:ea typeface="Cambria Math"/>
                <a:cs typeface="Cambria Math"/>
              </a:defRPr>
            </a:pPr>
            <a:r>
              <a:rPr sz="1800" b="1" i="0">
                <a:solidFill>
                  <a:srgbClr val="76BE18"/>
                </a:solidFill>
                <a:latin typeface="Cambria Math"/>
                <a:ea typeface="Cambria Math"/>
                <a:cs typeface="Cambria Math"/>
              </a:rPr>
              <a:t>Ṫ = A(a)T + b(a)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47B908A-7BE0-43B3-90AA-0E50896D7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438275"/>
            <a:ext cx="3848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構造的な検査項目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9618C92-EE00-44D6-93DB-794DBD625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28800"/>
            <a:ext cx="384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32390572-A8AE-4320-91B2-6F19225E75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182880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B2D21E06-F1DA-417D-BF30-B53BCD8E3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1905000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相反性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935694-FBB9-4E1D-A3F4-11F7DB8844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1895475"/>
            <a:ext cx="2533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120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qᵢ←ⱼ = −qⱼ←ᵢ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5EF89A-D726-4FA1-A973-1A5224F245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200275"/>
            <a:ext cx="3467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内部熱流の二重計上を防止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43F3C30C-7116-48ED-A675-E4A524EF1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38425"/>
            <a:ext cx="384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F0049916-8DB6-4D3A-9AE1-605674B8F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2638425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14DEB15-A7E3-497E-8039-6AC262BA1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2714625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閉系保存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89C2567-C569-4FE7-91EA-1E4DE270A0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2705100"/>
            <a:ext cx="2533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120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d(1ᵀCT)/dt = 0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D0A1FAA-8A65-40F5-85E3-CC1F522B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009900"/>
            <a:ext cx="3467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境界・熱源なしで総エネルギー一定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61002E83-AA1F-48CB-9480-0028A937C0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448050"/>
            <a:ext cx="384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D81F298-94C9-4FE1-9AF2-C8175364D3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3448050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319D8C2-28A4-4F93-B3FF-EEE2B0A3F2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524250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散逸性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8EDB5C85-9333-4EAC-A043-FE59E10EA8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3514725"/>
            <a:ext cx="2533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120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TᵀLT = Σ Gₑ(ΔTₑ)² ≥ 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8CAF395-EA35-4FF7-89C2-77F7FADE9B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3819525"/>
            <a:ext cx="3467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温度差は自発的に増幅しない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6F2ECD93-1A68-411C-A613-9EF084775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57675"/>
            <a:ext cx="3848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8C1DF679-A02F-459E-8685-94EF4A502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91450" y="4257675"/>
            <a:ext cx="66675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D3EF8EC5-D80C-499B-87D8-1C1CE9C446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333875"/>
            <a:ext cx="90487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E5A900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E5A900"/>
                </a:solidFill>
                <a:latin typeface="Yu Gothic"/>
                <a:ea typeface="Yu Gothic"/>
                <a:cs typeface="Yu Gothic"/>
              </a:rPr>
              <a:t>正値性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58E57D6-90BA-48BF-873A-E89C10069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15400" y="4324350"/>
            <a:ext cx="2533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120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p = p₀ exp(ℓ) &gt; 0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76A5305-2424-424E-88A9-5C58F2BBF0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81950" y="4629150"/>
            <a:ext cx="34671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負の熱容量・負のconductanceを排除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FC1CE982-6C51-4ECB-9D35-C60AAC4A4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391150"/>
            <a:ext cx="11087100" cy="857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6FB"/>
          </a:solidFill>
          <a:ln xmlns:a="http://schemas.openxmlformats.org/drawingml/2006/main" w="9525">
            <a:solidFill>
              <a:srgbClr val="00A5D8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371B95DD-D851-413C-BBC9-81BD26557F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24500"/>
            <a:ext cx="1809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集中定数化の妥当性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1F71520C-D404-4F9B-90F4-94BE8E35F4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86050" y="5495925"/>
            <a:ext cx="20955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165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Bi = hLᶜ/k ≪ 0.1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5BE8277B-242E-4B5F-AAC6-6C8AFD526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05375" y="5505450"/>
            <a:ext cx="6477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を目安に各node内の温度一様性を確認。成立しない領域はnode分割、局所CAE、hotspot marginで補う。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289B5CB3-393E-4DD2-884D-312E45436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67400"/>
            <a:ext cx="106394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実運用では energy residual  r_E = CΔT/Δt − (−LT + b) も監視し、入力欠落・単位不整合を検出する。</a:t>
            </a:r>
          </a:p>
        </p:txBody>
      </p:sp>
    </p:spTree>
    <p:extLst>
      <p:ext uri="{BB962C8B-B14F-4D97-AF65-F5344CB8AC3E}">
        <p14:creationId xmlns:p14="http://schemas.microsoft.com/office/powerpoint/2010/main" val="1258374038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7BC2F0E3-8128-4661-BF62-9E532A5AA0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298EAF7-BF50-4122-BA25-1EDABDC121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DYNAMIC INTERPRETATION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518E3DB-0344-427B-899D-C93439F96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99698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固有時定数は0.186 s、2.03 s、425 s — 同じデータで3モードを識別できるとは限らない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4A81153-D6C9-4460-85AA-3A2134CE0A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exact積分は数値誤差を抑えるが、samplingで失われた情報は復元しない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5DD95CE-E88B-4E71-A937-C1910756A4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06A746-937B-48F8-AB68-630FB2D6A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2FBABF0-0A83-4A13-A700-337AE47697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033CF10-228F-45E7-8040-AC1E1C78C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7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E72F84-43D9-4C6E-AED2-42B9FAB3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87100" cy="28765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1F23809-0188-4891-909B-60E41A35B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00200"/>
            <a:ext cx="1714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一般化固有値問題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6852858-C6F4-4B00-A1AE-B589CB9E9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562100"/>
            <a:ext cx="31432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165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Kφ = λCφ,    τ = 1/λ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44E9BBC-C5C5-470C-B788-16DFA5D949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1600200"/>
            <a:ext cx="32385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fitted linear model / nominal boundary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18D63E6-A421-4B2E-B513-D9F1735DC0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90850"/>
            <a:ext cx="10191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9050">
            <a:solidFill>
              <a:srgbClr val="3F3F3F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CF1D67C-EC31-45DF-ADC2-82E871151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291465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F3F3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60E3F7F-8634-4802-86CA-FFA0C5165B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1242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0.1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2E14B92-C367-4CE3-835D-8D1D006BA3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38538" y="291465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F3F3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6CFD270-7F7A-4036-A5EB-3AA97D3DAD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3738" y="31242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C3F3F33-2D90-498B-A7F9-1AFF8772A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291465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F3F3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F1B5755-B2FB-44E8-BEB9-4B82D6A89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81675" y="31242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8CC3D2A-C1D5-4AB0-9D66-A6BAED249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34413" y="291465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F3F3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8300592B-7171-4F8C-A18E-E20B5DB1F3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9613" y="31242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100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79F0016-3CFA-46CC-91C7-07B7E5650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82350" y="2914650"/>
            <a:ext cx="0" cy="1524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3F3F3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BD082F8-4E01-4612-9197-D13DA796F3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77550" y="3124200"/>
            <a:ext cx="6096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1000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D79A61C-1585-44DF-ACE9-AC269A9318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352800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time scale [s]  (log)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EAEE507-3CF8-4663-9B04-67F2FB929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7302" y="2095500"/>
            <a:ext cx="0" cy="895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B2DAF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ED74EC5-DAAE-4D98-B1E1-F30A8655C3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1102" y="2914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2B9C08DC-9A7E-4FE1-87AD-A4DC300E14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4377" y="176212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1125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0.186 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10CA6F11-B490-47D2-B7DF-E44232FD22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0552" y="19812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78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fast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78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chip ↔ base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4CFE9CB-1D28-40E6-BD55-9C2A61A6A1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0927" y="2381250"/>
            <a:ext cx="0" cy="60960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5D8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03E1D84-729F-4D0A-8F89-450DD00318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4727" y="2914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655D58A-FD5D-4858-83DB-C4640D2569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78002" y="204787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112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2.028 s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9D5E245-AA4A-4277-B946-8A3DBF1F5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54177" y="226695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78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intermediate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78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base ↔ fins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1505AF-2043-4AA0-AA58-FC86C686D7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36430" y="2095500"/>
            <a:ext cx="0" cy="8953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6BE18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F18738A6-006B-4EDD-8C3D-A92478000E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60230" y="2914650"/>
            <a:ext cx="152400" cy="1524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EC5D03B-DD0B-4988-8054-B96F7E864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93505" y="1762125"/>
            <a:ext cx="10858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125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1125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425 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5B7022E-AF9F-4726-A775-418AB07385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9680" y="1981200"/>
            <a:ext cx="133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2000"/>
              </a:lnSpc>
              <a:buNone/>
              <a:defRPr sz="78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global</a:t>
            </a:r>
          </a:p>
          <a:p xmlns:a="http://schemas.openxmlformats.org/drawingml/2006/main">
            <a:pPr algn="ctr">
              <a:lnSpc>
                <a:spcPct val="102000"/>
              </a:lnSpc>
              <a:buNone/>
              <a:defRPr sz="78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coolant boundary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9FB094FE-C847-4915-A79E-A0894E4F9E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543" y="1952625"/>
            <a:ext cx="0" cy="1809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4493D"/>
            </a:solidFill>
            <a:prstDash val="dash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5C8EE25-B93D-4C2E-927F-72CDAC9EB0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72118" y="1790700"/>
            <a:ext cx="1466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713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linear data  Δt=2 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89E22CA7-531A-4A74-BF6F-AB55A8BBC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86475" y="1952625"/>
            <a:ext cx="0" cy="1809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E5A900"/>
            </a:solidFill>
            <a:prstDash val="dash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BC57B17-022B-4383-8E52-F4CAE994D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53050" y="1628775"/>
            <a:ext cx="1466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 i="0">
                <a:solidFill>
                  <a:srgbClr val="E5A900"/>
                </a:solidFill>
                <a:latin typeface="Yu Gothic"/>
                <a:ea typeface="Yu Gothic"/>
                <a:cs typeface="Yu Gothic"/>
              </a:defRPr>
            </a:pPr>
            <a:r>
              <a:rPr sz="713" b="1" i="0">
                <a:solidFill>
                  <a:srgbClr val="E5A900"/>
                </a:solidFill>
                <a:latin typeface="Yu Gothic"/>
                <a:ea typeface="Yu Gothic"/>
                <a:cs typeface="Yu Gothic"/>
              </a:rPr>
              <a:t>HF train  10 s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25C4F0C-A7F7-4484-894C-19CF62FC05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3481" y="1952625"/>
            <a:ext cx="0" cy="18097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7B2DAF"/>
            </a:solidFill>
            <a:prstDash val="dash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D142E399-82D2-48A6-94C9-A1C8C1D05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20056" y="1466850"/>
            <a:ext cx="14668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13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713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HF output  20 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A03C47F-9CC5-4EFD-9D28-158D7998CA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0"/>
            <a:ext cx="3505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9B9D6E7C-7CEF-4F73-86B4-29B685267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572000"/>
            <a:ext cx="76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0F665A1-9F7D-4103-A81D-B0C2EB4CE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724400"/>
            <a:ext cx="3105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fast 0.186 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3B7CE6DE-25EA-407D-92EE-EF58E0451F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095875"/>
            <a:ext cx="31051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2 s samplingでは独立同定困難。sensor応答・反aliasing・短周期実験が必要。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3BE91C91-A3F6-410F-BA90-2E2E6360C9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572000"/>
            <a:ext cx="3505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3E1D3EA5-FF37-41D5-B7DA-A7DEA3ADF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572000"/>
            <a:ext cx="76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27AE31B-CE34-4BB7-BC84-0312DBB17E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724400"/>
            <a:ext cx="3105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intermediate 2.03 s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20A1C11B-C4D4-49DB-A4B8-C59A8DE6DE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095875"/>
            <a:ext cx="31051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2 s samplingで限界的。step端の時刻精度とZOH契約が推定値を左右する。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10BB873-19A6-494F-843B-2958202209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572000"/>
            <a:ext cx="3505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5B250568-4339-4DA8-BC8E-55BF51AE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572000"/>
            <a:ext cx="76200" cy="1476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E8ED1218-7B9B-4F80-A1EE-2C6EE61935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724400"/>
            <a:ext cx="31051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global 425 s</a:t>
            </a:r>
          </a:p>
        </p:txBody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B6565C82-2956-4119-846C-7F4634EA2D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095875"/>
            <a:ext cx="310515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長時間holdとcoolant変調が必要。短いpulseだけではhAと初期温度が混同する。</a:t>
            </a:r>
          </a:p>
        </p:txBody>
      </p:sp>
    </p:spTree>
    <p:extLst>
      <p:ext uri="{BB962C8B-B14F-4D97-AF65-F5344CB8AC3E}">
        <p14:creationId xmlns:p14="http://schemas.microsoft.com/office/powerpoint/2010/main" val="12354516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9FFF2D7-B521-4672-9777-450AA86881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FD30FE-6962-4B56-AF1D-220C1B92BC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NUMERICAL METHODS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2C7F315-8192-4DE1-8BA1-BE7DA0DBD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係数が区間一定ならexact affine、変化するならimplicitで安定に積分する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A8CA625-D574-4786-A0E8-CBFE8AC8D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少数nodeのため、密行列指数・密線形solveを直接用いる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6B8693D-C245-43B5-ABD5-30C57E27CB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5E49634-16A7-4080-9CB2-657C7D1EB4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B876EA-2539-4A40-9E4D-C164A0931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0D1AA914-4FB2-4195-85E2-A4DCC3434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DA1739-B944-44AD-9FA4-3375CE05BE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11087100" cy="1200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1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EAA217B-F3B0-497F-8556-A0016A07B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" y="1609725"/>
            <a:ext cx="1571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exact affine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E7311C6-BCC9-4DC6-921D-84E44FCB7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1552575"/>
            <a:ext cx="881062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1875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[xₖ₊₁;1] = exp([F  c; 0  0] Δtₖ)[xₖ;1]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25243F-0A41-4BA0-92E4-87D705A846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2076450"/>
            <a:ext cx="8763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0" i="0">
                <a:solidFill>
                  <a:srgbClr val="DDD6EA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DDD6EA"/>
                </a:solidFill>
                <a:latin typeface="Yu Gothic"/>
                <a:ea typeface="Yu Gothic"/>
                <a:cs typeface="Yu Gothic"/>
              </a:rPr>
              <a:t>augmented matrixによりF⁻¹を作らず、閉系のゼロ固有値も扱う</a:t>
            </a:r>
          </a:p>
        </p:txBody>
      </p:sp>
      <p:graphicFrame>
        <p:nvGraphicFramePr>
          <p:cNvPr id="30" name=""/>
          <p:cNvGraphicFramePr/>
          <p:nvPr/>
        </p:nvGraphicFramePr>
        <p:xfrm>
          <a:off xmlns:a="http://schemas.openxmlformats.org/drawingml/2006/main" x="552450" y="2895600"/>
          <a:ext xmlns:a="http://schemas.openxmlformats.org/drawingml/2006/main" cx="11087100" cy="2381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828800"/>
                <a:gridCol w="3171825"/>
                <a:gridCol w="2476500"/>
                <a:gridCol w="3609975"/>
              </a:tblGrid>
              <a:tr h="476250"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手法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適用条件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離散化・安定性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実装上の確認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007FA8"/>
                          </a:solidFill>
                          <a:latin typeface="Yu Gothic"/>
                          <a:ea typeface="Yu Gothic"/>
                          <a:cs typeface="Yu Gothic"/>
                        </a:rPr>
                        <a:t>exact affine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係数・active setが区間一定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時間離散化誤差なし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ZOH・イベント時刻・matrix exp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7B2DAF"/>
                          </a:solidFill>
                          <a:latin typeface="Yu Gothic"/>
                          <a:ea typeface="Yu Gothic"/>
                          <a:cs typeface="Yu Gothic"/>
                        </a:rPr>
                        <a:t>implicit Euler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区間内で係数が変化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A-stable / 1次精度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midpoint操作量・step分割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4D8710"/>
                          </a:solidFill>
                          <a:latin typeface="Yu Gothic"/>
                          <a:ea typeface="Yu Gothic"/>
                          <a:cs typeface="Yu Gothic"/>
                        </a:rPr>
                        <a:t>Van Loan Qd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連続process noiseの離散化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cross-covarianceを保持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小Δt近似との整合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76250"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4D8710"/>
                          </a:solidFill>
                          <a:latin typeface="Yu Gothic"/>
                          <a:ea typeface="Yu Gothic"/>
                          <a:cs typeface="Yu Gothic"/>
                        </a:rPr>
                        <a:t>Joseph update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Kalman covariance更新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半正定値性を保ちやすい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対称化・jitter・欠測縮約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98B0D5-4F69-46B7-96CD-B1794DD8EF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514975"/>
            <a:ext cx="110871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D7"/>
          </a:solidFill>
          <a:ln xmlns:a="http://schemas.openxmlformats.org/drawingml/2006/main" w="9525">
            <a:solidFill>
              <a:srgbClr val="E5A90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42E653-AB90-4923-868E-DA4FB8E7AB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" y="5638800"/>
            <a:ext cx="10287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806000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806000"/>
                </a:solidFill>
                <a:latin typeface="Yu Gothic"/>
                <a:ea typeface="Yu Gothic"/>
                <a:cs typeface="Yu Gothic"/>
              </a:rPr>
              <a:t>数値検証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3EB3172-06D4-45A2-8CA3-F381785157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610225"/>
            <a:ext cx="96393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Δtを1/2にした解との差、energy residual、共分散の固有値、同一時刻の重複・逆順を回帰試験に含める。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FC3986-2F3E-4D0C-B3CF-81B4E3638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90700" y="5915025"/>
            <a:ext cx="96393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注意：solverが安定でも、sensor samplingがfast modeを解像するとは限らない。</a:t>
            </a:r>
          </a:p>
        </p:txBody>
      </p:sp>
    </p:spTree>
    <p:extLst>
      <p:ext uri="{BB962C8B-B14F-4D97-AF65-F5344CB8AC3E}">
        <p14:creationId xmlns:p14="http://schemas.microsoft.com/office/powerpoint/2010/main" val="482967456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574D93A0-D253-4099-843C-311660D7E4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84E0A3C-432D-43F1-A726-46853AF0E8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IDENTIFICATION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16BCDC7-B87B-4B27-A6AE-C5EF402334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物理制約付き最適化と励振設計を一体化し、識別できる係数だけを学習する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D9AA52-B609-4DB8-9343-754299261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低RMSEでも、共線性や初期値依存が残れば装置外挿には使わない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C0CC82F-B694-4F5A-B320-757929803C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0F87EAB-822F-4075-8216-DCC45C5DAF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D2F17C6-8531-4B62-898A-B509ECE82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ED237AF-1988-4EC6-B653-6BD4CB7A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BF3B61-ED5F-436E-90BE-E1534F6A7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419100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98A25EE-B5B6-4A7C-BE73-CDCB0A006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" y="1609725"/>
            <a:ext cx="1476375" cy="23812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EFE5F6"/>
          </a:solidFill>
          <a:ln xmlns:a="http://schemas.openxmlformats.org/drawingml/2006/main" w="9525">
            <a:solidFill>
              <a:srgbClr val="7B2DA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75ABCCB-5C40-4E07-99A3-C80FB08CEF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619250"/>
            <a:ext cx="13811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788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ROBUST OBJECTIVE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AD09392-4384-4FB4-B901-2FFCB7095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3733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1650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minθ  ΣₛΣₖ mₛₖ ρδ(yₛₖ − ŷₛₖ(θ))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75A046-707C-4237-AD95-0FA1F04BC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466975"/>
            <a:ext cx="373380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1500" b="0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+ λp‖log(p/p₀)‖² + λx‖x₀−x̄₀‖²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92B674F-EC78-47B8-9B0B-452730FB9B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28950"/>
            <a:ext cx="37338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863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p = p₀ exp(ℓ) &gt; 0  /  Huber loss  /  mask-aware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E5D6DD9-54F2-43F7-A669-3E54ECDD31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953000" y="1438275"/>
            <a:ext cx="6686550" cy="20574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0CDCDDF-2304-4D20-9F5B-19D3D5442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609725"/>
            <a:ext cx="2047875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同定成立の判定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2275AF0-96EE-45CE-9961-C53629A1D7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971675"/>
            <a:ext cx="1009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感度rank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ED1C821-6EE7-4BF5-9396-5917B59551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97167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J = ∂ŷ/∂log p の特異値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F67BAEB-F513-4EEA-92FC-0FA1D88A52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1971675"/>
            <a:ext cx="295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小特異値 → parameter統合/固定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7A492A7-B44B-406D-81EE-8E4314F79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324100"/>
            <a:ext cx="1009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profile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590F366-A4D4-470B-AA41-799ADA49BA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324100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1係数を走査して再最適化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C04E268-E26E-44BA-B417-A715B72AA8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324100"/>
            <a:ext cx="295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平坦 → 信頼区間を主張しない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D3D76F-946D-4782-B94D-36D0F21CF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676525"/>
            <a:ext cx="1009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seed安定性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DE99C1AF-E95B-4643-BFE4-861234A9C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2676525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複数初期値・再学習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00B18682-1C80-4254-AB98-F7C2D7D9C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2676525"/>
            <a:ext cx="295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同一RMSEで係数が分岐 → 非一意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2CA3811-01B8-46B3-BAAA-400B81926F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028950"/>
            <a:ext cx="10096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時間holdout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5D77892-A9B6-41BB-B760-1F41FDC09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3028950"/>
            <a:ext cx="2190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将来suffix・別recipe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9517BA2E-5032-4233-8DE1-3D4A61699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28950"/>
            <a:ext cx="295275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同一trajectory内補間と分離</a:t>
            </a:r>
          </a:p>
        </p:txBody>
      </p:sp>
      <p:graphicFrame>
        <p:nvGraphicFramePr>
          <p:cNvPr id="60" name=""/>
          <p:cNvGraphicFramePr/>
          <p:nvPr/>
        </p:nvGraphicFramePr>
        <p:xfrm>
          <a:off xmlns:a="http://schemas.openxmlformats.org/drawingml/2006/main" x="552450" y="3762375"/>
          <a:ext xmlns:a="http://schemas.openxmlformats.org/drawingml/2006/main" cx="11087100" cy="19716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3048000"/>
                <a:gridCol w="2667000"/>
                <a:gridCol w="3371850"/>
              </a:tblGrid>
              <a:tr h="394335"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対象係数</a:t>
                      </a:r>
                    </a:p>
                  </a:txBody>
                  <a:tcPr marL="91440" marR="91440" marT="45720" marB="45720">
                    <a:solidFill>
                      <a:srgbClr val="00A5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必要な励振</a:t>
                      </a:r>
                    </a:p>
                  </a:txBody>
                  <a:tcPr marL="91440" marR="91440" marT="45720" marB="45720">
                    <a:solidFill>
                      <a:srgbClr val="00A5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観測signature</a:t>
                      </a:r>
                    </a:p>
                  </a:txBody>
                  <a:tcPr marL="91440" marR="91440" marT="45720" marB="45720">
                    <a:solidFill>
                      <a:srgbClr val="00A5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主なconfounder</a:t>
                      </a:r>
                    </a:p>
                  </a:txBody>
                  <a:tcPr marL="91440" marR="91440" marT="45720" marB="45720">
                    <a:solidFill>
                      <a:srgbClr val="00A5D8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FA8"/>
                          </a:solidFill>
                          <a:latin typeface="Yu Gothic"/>
                          <a:ea typeface="Yu Gothic"/>
                          <a:cs typeface="Yu Gothic"/>
                        </a:rPr>
                        <a:t>G chip–base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短いpower step / edge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chip–base位相差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sensor応答、時刻ずれ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FA8"/>
                          </a:solidFill>
                          <a:latin typeface="Yu Gothic"/>
                          <a:ea typeface="Yu Gothic"/>
                          <a:cs typeface="Yu Gothic"/>
                        </a:rPr>
                        <a:t>G base–fins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中時間pulse / cooldown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base–fins減衰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G₁との相関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007FA8"/>
                          </a:solidFill>
                          <a:latin typeface="Yu Gothic"/>
                          <a:ea typeface="Yu Gothic"/>
                          <a:cs typeface="Yu Gothic"/>
                        </a:rPr>
                        <a:t>hA coolant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長時間hold / coolant sweep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定常gain・global τ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初期温度、ambient drift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394335">
                <a:tc>
                  <a:txBody>
                    <a:bodyPr/>
                    <a:lstStyle/>
                    <a:p>
                      <a:r>
                        <a:rPr sz="900" b="1">
                          <a:solidFill>
                            <a:srgbClr val="777777"/>
                          </a:solidFill>
                          <a:latin typeface="Yu Gothic"/>
                          <a:ea typeface="Yu Gothic"/>
                          <a:cs typeface="Yu Gothic"/>
                        </a:rPr>
                        <a:t>C（将来拡張）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複数pulse幅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立上り速度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Gとのscale同定性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A1B26AC7-9031-48DA-9CBC-436532F106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895975"/>
            <a:ext cx="11087100" cy="3524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7DF"/>
          </a:solidFill>
          <a:ln xmlns:a="http://schemas.openxmlformats.org/drawingml/2006/main" w="9525">
            <a:solidFill>
              <a:srgbClr val="76BE18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03E72F8-85EC-4CA3-A0DC-F570BE304C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" y="5953125"/>
            <a:ext cx="1080135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装置DOEの原則：短・中・長の時間尺度を分離して励振し、coolantとheaterを同時に動かし過ぎない。</a:t>
            </a:r>
          </a:p>
        </p:txBody>
      </p:sp>
    </p:spTree>
    <p:extLst>
      <p:ext uri="{BB962C8B-B14F-4D97-AF65-F5344CB8AC3E}">
        <p14:creationId xmlns:p14="http://schemas.microsoft.com/office/powerpoint/2010/main" val="1801140704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A7FE7ED-201C-413E-BBE3-BD8F2A469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37BD998-408C-4CC5-BA39-0E7195DDF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CAUSAL FORECAST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23DCD0B-E4F7-461F-BB73-EB490D82F0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予測開始時刻Hまでだけを同化し、その後は入力suffixで開ループ予測する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16D990A-DD6D-4480-A848-97A832F9F3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未来観測を初期状態推定へ混入させないことを、workflowのデータ契約として固定する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3953EC-A00F-43F3-A763-D9D3DE4248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6CE2CCD-B4F4-49F7-9113-AE52346224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EEA3C6A-DD21-4A42-BF4F-3BB1202497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BA7C55-0E82-44C3-9C55-21B063D0B2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8A6294D-6851-4DB4-BB29-E4D358E13B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43075"/>
            <a:ext cx="20955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18139AE-DB74-4319-9380-CE52838452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43075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94F5713-69F9-4B1A-8E77-54E4845AD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990725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history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5733D01-4094-40E9-9379-4541B9D276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32410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 ≤ H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15E12A-1FA3-455A-8B05-82887C92C3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38425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F889F61-BE08-4553-8863-C4EB89BF2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90825"/>
            <a:ext cx="1752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6618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temperature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controls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mask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6620754-BEC3-4DE9-9F77-BE676B0CEE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743075"/>
            <a:ext cx="20955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4B73280-2F73-4858-8545-2876E2623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743075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CD878EF-22F8-4E31-9ED0-239E1B534B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1990725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state assimilation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A06AA9-F6FF-44E8-A261-41DC23F01B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32410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posterior at H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B8F7299-C508-44B3-9052-26494DD796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638425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AC379921-553B-4145-B9DA-90BED4B005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790825"/>
            <a:ext cx="1752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state mean at H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covariance P(H)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73DBFCF-E78B-4AD3-AF6B-27B002729C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743075"/>
            <a:ext cx="20955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A38B570-D7B1-4DB3-8753-942B3A5DD0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657850" y="1743075"/>
            <a:ext cx="20955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FDB6093-E8F7-44EB-9DCD-264B6E680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1990725"/>
            <a:ext cx="17526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open-loop rollout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2D5B70EE-FA75-4FB3-A679-974CA8527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324100"/>
            <a:ext cx="17526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 &gt; H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C79B338-B422-4636-9B69-C7EF44EC4D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638425"/>
            <a:ext cx="17526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CCB45FF2-BDA0-4DD8-9E1E-9456D1E7B2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29300" y="2790825"/>
            <a:ext cx="17526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known/planned inputs</a:t>
            </a:r>
          </a:p>
          <a:p xmlns:a="http://schemas.openxmlformats.org/drawingml/2006/main">
            <a:pPr algn="ctr">
              <a:lnSpc>
                <a:spcPct val="115000"/>
              </a:lnSpc>
              <a:buNone/>
              <a:def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no future y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8324A2F-F48A-49F5-BC96-485EAA8321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743075"/>
            <a:ext cx="34290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09B627F5-ED60-4240-846D-CA5F0A271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743075"/>
            <a:ext cx="34290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A954611-659E-41E5-A7F8-DA48C04FA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1990725"/>
            <a:ext cx="3086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E5A900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E5A900"/>
                </a:solidFill>
                <a:latin typeface="Yu Gothic"/>
                <a:ea typeface="Yu Gothic"/>
                <a:cs typeface="Yu Gothic"/>
              </a:rPr>
              <a:t>forecast product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0F33B29-A590-4AE4-8588-DFD5282481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324100"/>
            <a:ext cx="3086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temperature + uncertainty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9A48F8E1-03A4-4612-95E2-C770B465D2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38425"/>
            <a:ext cx="3086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0B79A29-1305-4FC3-918C-800322FF9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790825"/>
            <a:ext cx="3086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5000"/>
              </a:lnSpc>
              <a:buNone/>
              <a:def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12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mean / covariance / threshold risk</a:t>
            </a:r>
          </a:p>
        </p:txBody>
      </p:sp>
      <p:cxnSp>
        <p:nvCxnSpPr>
          <p:cNvPr id="85" name=""/>
          <p:cNvCxnSpPr>
            <a:stCxn xmlns:a="http://schemas.openxmlformats.org/drawingml/2006/main" id="9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2647950" y="2676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A8"/>
            </a:solidFill>
            <a:prstDash val="solid"/>
            <a:tailEnd type="triangle" w="sm" len="sm"/>
          </a:ln>
        </p:spPr>
      </p:cxnSp>
      <p:cxnSp>
        <p:nvCxnSpPr>
          <p:cNvPr id="86" name=""/>
          <p:cNvCxnSpPr>
            <a:stCxn xmlns:a="http://schemas.openxmlformats.org/drawingml/2006/main" id="15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200650" y="2676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A8"/>
            </a:solidFill>
            <a:prstDash val="solid"/>
            <a:tailEnd type="triangle" w="sm" len="sm"/>
          </a:ln>
        </p:spPr>
      </p:cxnSp>
      <p:cxnSp>
        <p:nvCxnSpPr>
          <p:cNvPr id="87" name=""/>
          <p:cNvCxnSpPr>
            <a:stCxn xmlns:a="http://schemas.openxmlformats.org/drawingml/2006/main" id="21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7753350" y="2676525"/>
            <a:ext cx="4572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A8"/>
            </a:solidFill>
            <a:prstDash val="solid"/>
            <a:tailEnd type="triangle" w="sm" len="sm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929BA834-43E0-474D-9A57-03BA1B6E4E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8957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4C40218D-528F-46F1-AACD-346B7DA804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95750"/>
            <a:ext cx="1809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状態・観測分布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E3582C80-6017-4662-A0D7-A6784F4A07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4029075"/>
            <a:ext cx="714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1725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xₖ ∼ N(x̂ₖ, Pₖ),     ŷₖ = Hx̂ₖ,     Σy,ₖ = HPₖHᵀ + R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A2F0DC6-26C8-401E-A14E-24B6D11950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76750"/>
            <a:ext cx="11087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Pは初期状態・process noise・sensor noiseを伝播。parameter uncertaintyとmodel discrepancyは別途ensemble/校正で加える。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B87FF38-3325-4F9F-9D06-8F62BD7489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57775"/>
            <a:ext cx="25812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05C89F0-7EF3-408E-8C87-AA3E86F15B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1816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cutoff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D1D1D30-CE03-40ED-8472-3CCDB9E2D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448300"/>
            <a:ext cx="22764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各case固有のHを保存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A836C8D-4918-41EF-AD9C-56830CFC9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5057775"/>
            <a:ext cx="25812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2EC90ECA-6E2D-49FE-83D2-B5F1CEB96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1816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input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380AAC87-137D-4ED2-83AD-247CF6C37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448300"/>
            <a:ext cx="22764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left zero-order hold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5CEF6D74-130B-4187-872F-DE591CAF3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57775"/>
            <a:ext cx="25812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46719667-9CF4-4F63-B516-5BBBA6743E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1816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missing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2A7E9936-6885-4423-83DC-DAD0C1C72A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5448300"/>
            <a:ext cx="22764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maskで観測行を縮約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323F4A3C-C6F4-4F4E-838B-05A83CB158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057775"/>
            <a:ext cx="25812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92148337-B43A-44E3-A4C1-D4474CE8F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181600"/>
            <a:ext cx="7239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E5A900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E5A900"/>
                </a:solidFill>
                <a:latin typeface="Yu Gothic"/>
                <a:ea typeface="Yu Gothic"/>
                <a:cs typeface="Yu Gothic"/>
              </a:rPr>
              <a:t>report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2C3E7F13-9CBF-45BB-AD85-ECE256FE94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0175" y="5448300"/>
            <a:ext cx="2276475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mean / worst / phaseを併記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4C889F81-2334-423B-81DD-4C4B35DC39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076950"/>
            <a:ext cx="110871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863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禁止事項：全trajectoryで初期状態を最適化してからsuffix誤差を測る — 未来情報のleakageになる。</a:t>
            </a:r>
          </a:p>
        </p:txBody>
      </p:sp>
    </p:spTree>
    <p:extLst>
      <p:ext uri="{BB962C8B-B14F-4D97-AF65-F5344CB8AC3E}">
        <p14:creationId xmlns:p14="http://schemas.microsoft.com/office/powerpoint/2010/main" val="28872684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B2DD50BA-E837-4140-AC09-362F0DEF2E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46A6E7C-D208-4080-A11C-CECCD30E7F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STATE MONITORING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2F7222E-204C-4A1A-B86A-29A579397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温度・未知熱・相対sensor biasを拡張状態として推定し、innovationを診断量にする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8CBF977-21D7-4673-80F4-8BBD6500A8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故障名を直接分類するのではなく、物理的に解釈できる偏差channelへ分解する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9020C7-DA1A-4463-84BA-A3D0B731E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993356-3513-4749-99B5-EFCF58FF2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C1DFF2-FEAF-4471-9EA1-5F17E42AD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B97019-66EB-460C-9806-3DB17A26CA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11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1D97DB0-0AFE-4B5C-8F0B-4C7DEA94E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438275"/>
            <a:ext cx="3067050" cy="2238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1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61B8515-CE6D-4740-907A-2F7701F6AB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619250"/>
            <a:ext cx="2095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augmented state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C920620-7586-4504-A047-E513B45669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019300"/>
            <a:ext cx="2647950" cy="4476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250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defRPr>
            </a:pPr>
            <a:r>
              <a:rPr sz="2250" b="1" i="0">
                <a:solidFill>
                  <a:srgbClr val="FFFFFF"/>
                </a:solidFill>
                <a:latin typeface="Cambria Math"/>
                <a:ea typeface="Cambria Math"/>
                <a:cs typeface="Cambria Math"/>
              </a:rPr>
              <a:t>z = [T; d; β]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9C4729D-103E-4FE1-AD6A-9AC61FF55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" y="2647950"/>
            <a:ext cx="2476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975" b="0" i="0">
                <a:solidFill>
                  <a:srgbClr val="DCD5EA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DCD5EA"/>
                </a:solidFill>
                <a:latin typeface="Yu Gothic"/>
                <a:ea typeface="Yu Gothic"/>
                <a:cs typeface="Yu Gothic"/>
              </a:rPr>
              <a:t>T  physical temperature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975" b="0" i="0">
                <a:solidFill>
                  <a:srgbClr val="DCD5EA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DCD5EA"/>
                </a:solidFill>
                <a:latin typeface="Yu Gothic"/>
                <a:ea typeface="Yu Gothic"/>
                <a:cs typeface="Yu Gothic"/>
              </a:rPr>
              <a:t>d  unknown heat [W]</a:t>
            </a:r>
          </a:p>
          <a:p xmlns:a="http://schemas.openxmlformats.org/drawingml/2006/main">
            <a:pPr algn="l">
              <a:lnSpc>
                <a:spcPct val="118000"/>
              </a:lnSpc>
              <a:buNone/>
              <a:defRPr sz="975" b="0" i="0">
                <a:solidFill>
                  <a:srgbClr val="DCD5EA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DCD5EA"/>
                </a:solidFill>
                <a:latin typeface="Yu Gothic"/>
                <a:ea typeface="Yu Gothic"/>
                <a:cs typeface="Yu Gothic"/>
              </a:rPr>
              <a:t>β  identifiable relative bias [K]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486E9D3-2840-425D-B77F-1C012E72EC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1666875"/>
            <a:ext cx="1885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F6FB"/>
          </a:solidFill>
          <a:ln xmlns:a="http://schemas.openxmlformats.org/drawingml/2006/main" w="19050">
            <a:solidFill>
              <a:srgbClr val="00A5D8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7A8ECC0-139B-4E1B-8CE8-448546B498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781175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predict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F2079F-4427-4293-911E-747DFB0499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0764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1650" b="0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z⁻, P⁻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BB21AAB-3783-4D1C-B998-BF487BB5C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1666875"/>
            <a:ext cx="1885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D7"/>
          </a:solidFill>
          <a:ln xmlns:a="http://schemas.openxmlformats.org/drawingml/2006/main" w="19050">
            <a:solidFill>
              <a:srgbClr val="E5A900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6E61D63-FA2A-4888-8D32-36303281C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1781175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806000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806000"/>
                </a:solidFill>
                <a:latin typeface="Yu Gothic"/>
                <a:ea typeface="Yu Gothic"/>
                <a:cs typeface="Yu Gothic"/>
              </a:rPr>
              <a:t>innovation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E6CF72E-FCBB-4F59-9C56-0798CE9603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91325" y="20764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1425" b="0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ν = y − Hz⁻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3F47307-B7F9-4340-9EFE-A9AA15DC8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96375" y="1666875"/>
            <a:ext cx="1885950" cy="800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EF7DF"/>
          </a:solidFill>
          <a:ln xmlns:a="http://schemas.openxmlformats.org/drawingml/2006/main" w="19050">
            <a:solidFill>
              <a:srgbClr val="76BE18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192BE4-F8F2-4327-9EE7-F519C02780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1781175"/>
            <a:ext cx="1562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803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1275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robust update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0D950B0-F256-4104-BADE-DE0ACA51B5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58300" y="2076450"/>
            <a:ext cx="15621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0909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0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1650" b="0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z⁺, P⁺</a:t>
            </a:r>
          </a:p>
        </p:txBody>
      </p:sp>
      <p:cxnSp>
        <p:nvCxnSpPr>
          <p:cNvPr id="69" name=""/>
          <p:cNvCxnSpPr>
            <a:stCxn xmlns:a="http://schemas.openxmlformats.org/drawingml/2006/main" id="13" idx="3"/>
            <a:endCxn xmlns:a="http://schemas.openxmlformats.org/drawingml/2006/main" id="16" idx="1"/>
          </p:cNvCxnSpPr>
          <p:nvPr/>
        </p:nvCxnSpPr>
        <p:spPr>
          <a:xfrm xmlns:a="http://schemas.openxmlformats.org/drawingml/2006/main">
            <a:off x="6048375" y="2066925"/>
            <a:ext cx="581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A8"/>
            </a:solidFill>
            <a:prstDash val="solid"/>
            <a:tailEnd type="triangle" w="sm" len="sm"/>
          </a:ln>
        </p:spPr>
      </p:cxnSp>
      <p:cxnSp>
        <p:nvCxnSpPr>
          <p:cNvPr id="70" name=""/>
          <p:cNvCxnSpPr>
            <a:stCxn xmlns:a="http://schemas.openxmlformats.org/drawingml/2006/main" id="16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8515350" y="2066925"/>
            <a:ext cx="581025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A8"/>
            </a:solidFill>
            <a:prstDash val="solid"/>
            <a:tailEnd type="triangle" w="sm" len="sm"/>
          </a:ln>
        </p:spPr>
      </p:cxn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54A022A-6DF7-40E2-8490-249FFADDB2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2590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Van Loan / implicit Qd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2843BA34-1DF9-4980-8ACD-E47CC88488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15125" y="2590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missing rows removed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8CF4ABD-9E93-416B-AACD-25CC0A4350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2590800"/>
            <a:ext cx="171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50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Joseph covariance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1C1BDC1-74A5-440B-A022-EE2076A4AC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162425" y="2952750"/>
            <a:ext cx="681990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3793C0D-37B2-4EF3-BF59-C04D602C02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62450" y="31051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defRPr>
            </a:pPr>
            <a:r>
              <a:rPr sz="1875" b="1" i="0">
                <a:solidFill>
                  <a:srgbClr val="3F3F3F"/>
                </a:solidFill>
                <a:latin typeface="Cambria Math"/>
                <a:ea typeface="Cambria Math"/>
                <a:cs typeface="Cambria Math"/>
              </a:rPr>
              <a:t>NISₖ = νₖᵀ Sₖ⁻¹νₖ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ECA5FA8-1C72-427A-9B6F-020A400D8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048000"/>
            <a:ext cx="1543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χ² 99.99% threshold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F147A310-0ECC-456C-BD4E-701CFF01E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3286125"/>
            <a:ext cx="3429000" cy="2190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938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938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1 dof  15.14   /   2 dof  18.42   /   3 dof  21.11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5133801-CE3F-4EFE-B230-C144BE906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98145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偏差の解釈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E37BA10-3CDF-4425-A388-42748777AE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350520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25C36C-7547-47A8-908B-E1DC1BB49A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371975"/>
            <a:ext cx="7620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4E036AF8-F8A8-47EC-9DEA-CD81FFF4AB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51485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7B2DAF"/>
                </a:solidFill>
                <a:latin typeface="Cambria Math"/>
                <a:ea typeface="Cambria Math"/>
                <a:cs typeface="Cambria Math"/>
              </a:defRPr>
            </a:pPr>
            <a:r>
              <a:rPr sz="1125" b="1" i="0">
                <a:solidFill>
                  <a:srgbClr val="7B2DAF"/>
                </a:solidFill>
                <a:latin typeface="Cambria Math"/>
                <a:ea typeface="Cambria Math"/>
                <a:cs typeface="Cambria Math"/>
              </a:rPr>
              <a:t>β rises / d ≈ 0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2AE94762-1C0E-40E2-9DDD-5A5F5B6A14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848225"/>
            <a:ext cx="3105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sensor offset・校正ずれ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7409015-F77E-44E8-A004-54E3D9311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21970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他sensorとの相対整合、gauge固定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C145FDB-8F3C-4A92-A47A-0D2CE09326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71975"/>
            <a:ext cx="350520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F2ACF564-4F10-40C2-A78D-F12161A815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371975"/>
            <a:ext cx="7620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7E40A06-15B2-4B26-AE44-4EDBB1DB06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51485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E5A900"/>
                </a:solidFill>
                <a:latin typeface="Cambria Math"/>
                <a:ea typeface="Cambria Math"/>
                <a:cs typeface="Cambria Math"/>
              </a:defRPr>
            </a:pPr>
            <a:r>
              <a:rPr sz="1125" b="1" i="0">
                <a:solidFill>
                  <a:srgbClr val="E5A900"/>
                </a:solidFill>
                <a:latin typeface="Cambria Math"/>
                <a:ea typeface="Cambria Math"/>
                <a:cs typeface="Cambria Math"/>
              </a:rPr>
              <a:t>d rises / β small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E59EA1E3-68C9-4AC8-A3FA-25405D1843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4848225"/>
            <a:ext cx="3105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未指令発熱・冷却損失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535D8F0F-1A45-44B7-8954-79C57FFA9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521970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複数nodeの整合した温度上昇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03B91F63-C3B1-4A62-9904-1BCF03C244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71975"/>
            <a:ext cx="350520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6E93046-5D01-4DEB-A233-192F3ACB5C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4371975"/>
            <a:ext cx="76200" cy="1438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9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A1F1CCF3-3AB2-4330-9AAA-49AEF4D22E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514850"/>
            <a:ext cx="31051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125" b="1" i="0">
                <a:solidFill>
                  <a:srgbClr val="C4493D"/>
                </a:solidFill>
                <a:latin typeface="Cambria Math"/>
                <a:ea typeface="Cambria Math"/>
                <a:cs typeface="Cambria Math"/>
              </a:defRPr>
            </a:pPr>
            <a:r>
              <a:rPr sz="1125" b="1" i="0">
                <a:solidFill>
                  <a:srgbClr val="C4493D"/>
                </a:solidFill>
                <a:latin typeface="Cambria Math"/>
                <a:ea typeface="Cambria Math"/>
                <a:cs typeface="Cambria Math"/>
              </a:rPr>
              <a:t>NIS only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1EEC507-3CF2-4FC8-A17F-58B56ECFB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4848225"/>
            <a:ext cx="31051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05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model mismatch・同期ずれ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213E90C-BBAD-4B88-A26E-8F7F883466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53400" y="5219700"/>
            <a:ext cx="3105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持続性、自己相関、運転域で再校正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A7E1B833-8528-4BDE-9084-9BD6DE022A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981700"/>
            <a:ext cx="110871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運用閾値はχ²理論値を初期値とし、正常保持データの自己相関・multiple testing・model errorで校正する。</a:t>
            </a:r>
          </a:p>
        </p:txBody>
      </p:sp>
    </p:spTree>
    <p:extLst>
      <p:ext uri="{BB962C8B-B14F-4D97-AF65-F5344CB8AC3E}">
        <p14:creationId xmlns:p14="http://schemas.microsoft.com/office/powerpoint/2010/main" val="2053018144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5AFEBFA-B176-4704-9E81-F2D45519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CDA859A-10D1-4C8D-A57A-225B6B8C93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MONITORING EVIDENCE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D78EFD6-8DE4-4D66-BEEC-490541F386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sensor offsetは即時検知、3 W未指令発熱は10 sで検知した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4844AC3-44CD-4268-88E8-3D3A5C4EA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同じobserverが欠測中もposteriorを維持し、故障channelを分離する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6E2C22-72A3-4D6B-999E-646C54724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C10C873-6693-4181-82C1-2407402DF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29B70DB-81E1-4F74-9B5A-9EDB19655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A4C0DD5-494A-49F2-B08A-F2FC95284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12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F4A663C-82B1-431E-B7CA-B5DA53E139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5238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M03  +3 K chip sensor offset</a:t>
            </a:r>
          </a:p>
        </p:txBody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552450" y="1657350"/>
          <a:ext xmlns:a="http://schemas.openxmlformats.org/drawingml/2006/main" cx="5257800" cy="2971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096aa1801af41ea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E0774D8-8E85-41BF-A2BE-9B37638CC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657725"/>
            <a:ext cx="525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788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event start = first detection = 300 s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32E337A-DF57-4864-8E99-8F01790BC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57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M05  3 W hidden heat</a:t>
            </a:r>
          </a:p>
        </p:txBody>
      </p:sp>
      <p:graphicFrame>
        <p:nvGraphicFramePr>
          <p:cNvPr id="47" name="Chart"/>
          <p:cNvGraphicFramePr/>
          <p:nvPr/>
        </p:nvGraphicFramePr>
        <p:xfrm>
          <a:off xmlns:a="http://schemas.openxmlformats.org/drawingml/2006/main" x="6381750" y="1657350"/>
          <a:ext xmlns:a="http://schemas.openxmlformats.org/drawingml/2006/main" cx="5257800" cy="29718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06e1008cd15f4712"/>
          </a:graphicData>
        </a:graphic>
      </p:graphicFrame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7A54176-1006-49CC-AD77-C23DDE2444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57725"/>
            <a:ext cx="525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88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788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event 282–380 s / first detection 292 s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AAE8D1F-ECB3-4589-BABA-465D993130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67300"/>
            <a:ext cx="257175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34F23D-1369-4226-A366-3602D76325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67300"/>
            <a:ext cx="66675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3436D17-8771-4F9C-9545-0CA22AF500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62550"/>
            <a:ext cx="228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0 s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DDD27AE-25A7-4EC7-9925-4600833ED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435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M03 detection delay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1898647-DDF8-48F7-ABA6-B9EC6E4D62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2930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max NIS 403.305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FFA9854-B106-4837-9A14-BACD1714E9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5067300"/>
            <a:ext cx="257175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540E618-3D8E-4758-9254-86250D2291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5067300"/>
            <a:ext cx="66675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3AC6F0D-CB27-45D2-A75F-53E23EE6DE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5162550"/>
            <a:ext cx="228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0.040 K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A0F768E9-CD86-45C5-AB59-F8909E631C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55435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M04 missing-window RMSE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211D48E-9F42-430D-AE59-668029C25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582930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posterior remains finite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CC0E97F-970D-4BF3-94B5-A1363FB7D5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67300"/>
            <a:ext cx="2571750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536F653E-5DF9-41F8-91FA-8E294D619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67300"/>
            <a:ext cx="66675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09D00F6-0401-44F6-8950-3D8386D214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62550"/>
            <a:ext cx="228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10 s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DA808EEC-6280-4240-927D-5631D3D11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435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M05 detection delay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2816299-FFAE-4BF4-9A93-3789922B39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829300"/>
            <a:ext cx="2286000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3 W uncommanded heat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A9CC206-24B1-48C0-8F71-EAD85F0D50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067300"/>
            <a:ext cx="2771775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8ED5256D-63D7-4D49-A61D-EFBC3E1DBE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067300"/>
            <a:ext cx="66675" cy="1057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EF856D41-45EF-476B-82E3-7936600696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5162550"/>
            <a:ext cx="24860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3.182 W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BB5CB4E2-7FC0-4B0B-9C8A-0DFE1E1F4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5543550"/>
            <a:ext cx="2486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M05 estimated peak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E2D97C69-FA40-4B55-9CB0-FBA194F11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5829300"/>
            <a:ext cx="2486025" cy="238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event sensor bias ≤ 0.061 K</a:t>
            </a:r>
          </a:p>
        </p:txBody>
      </p:sp>
    </p:spTree>
    <p:extLst>
      <p:ext uri="{BB962C8B-B14F-4D97-AF65-F5344CB8AC3E}">
        <p14:creationId xmlns:p14="http://schemas.microsoft.com/office/powerpoint/2010/main" val="1302337899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9C4E75B-15CB-4227-8417-E42E1D6951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D9F901-204C-4AC3-9517-17A75DC79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SYNTHETIC BENCHMARK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29239DA-002F-421B-8A4B-A515FF6196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TopCellは通常条件で安定する一方、初期観測の疎さが最大誤差を支配した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747548C-EC90-427C-AF93-60191D7A74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意図的model gapはcore scoreから分離し、失敗を隠さない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9B184D-3DE8-445B-A351-65D2E808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3258697-1CDA-4B65-9E8D-6C37A739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E075460-830B-43C7-BBDF-50BF8F5E00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8AA3987-710C-40EC-824E-3A40CB311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7D2FC9D-7259-42AF-AD16-84F62D041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5257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core group mean RMSE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52450" y="1657350"/>
          <a:ext xmlns:a="http://schemas.openxmlformats.org/drawingml/2006/main" cx="5257800" cy="3124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bfd4dfdd2db54ff1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B7EA6E0-37BF-4B93-ACF1-3357EF96EE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57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初期化ケースの改善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6381750" y="1657350"/>
          <a:ext xmlns:a="http://schemas.openxmlformats.org/drawingml/2006/main" cx="5257800" cy="31242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37e794be90624072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9C0C6C-67E1-4A99-8281-AA444D3227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676775"/>
            <a:ext cx="52578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history同化により 97.1%低減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AC7D744-AECC-4931-A6AE-F362B2B6E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05400"/>
            <a:ext cx="2571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D01C45E-2281-4F49-9BE6-B4214CD62D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0540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95BFAF7-CDAB-4285-A2E9-183A9930D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200650"/>
            <a:ext cx="228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0.143 K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BCA510D-AF41-4710-8F22-002396B2EF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816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core 11ケース平均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D465535-3A06-495C-A842-8544FDB0A0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5105400"/>
            <a:ext cx="2571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61150D-62CE-494B-B420-1CA53E2522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510540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08B94CA-0C4D-46C1-9903-568E3CAE69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5200650"/>
            <a:ext cx="228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7.185 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8593B42-12D0-4336-8698-B7402A80A3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55816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prior平均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4642DA9-AE24-426F-8D48-56E965C36F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05400"/>
            <a:ext cx="2571750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089E94C-D9BB-4907-BDEE-E2C7EA69EE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10540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6C5DBFD-0ED1-41EC-9012-5620BE5DF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200650"/>
            <a:ext cx="228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1.303 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D1C74CF-9ED1-4DF9-8EAC-93F618B1D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81650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worst F09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47AEE0B-C3B2-423B-84B4-D23DAB92DB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105400"/>
            <a:ext cx="27717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CA48C3-87AB-470E-B199-638F2E8A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105400"/>
            <a:ext cx="66675" cy="10287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4493D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F5CE6E48-401B-4887-8E06-40BFCF3AE5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5200650"/>
            <a:ext cx="24860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9.823 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98F3A823-1028-4A7A-95C3-6DBEA8076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5581650"/>
            <a:ext cx="2486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F11 intentional gap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50D5710-93E3-419D-BD2D-DC9A844F34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5867400"/>
            <a:ext cx="248602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温度依存heat lossを未表現</a:t>
            </a:r>
          </a:p>
        </p:txBody>
      </p:sp>
    </p:spTree>
    <p:extLst>
      <p:ext uri="{BB962C8B-B14F-4D97-AF65-F5344CB8AC3E}">
        <p14:creationId xmlns:p14="http://schemas.microsoft.com/office/powerpoint/2010/main" val="1132516328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A9FEC549-8BC9-4718-B404-C7DCB26E8E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8D58883-D2C4-4594-893F-E670702882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LINEAR COMSOL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0061461-5E5D-406B-A427-D1E0B1AC91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外部8ケースの平均RMSEは0.036 K、worstはshort-pulse条件の0.083 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3BD9DAD-F3D7-4796-93CC-223F1F4D74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体積平均温度に対する結果であり、局所hotspotの安全余裕は別に設定する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E98D008-0C0B-4397-BC70-23CF0C201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1E713A3-1E90-445C-961B-906F122032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BFB4D69-4E33-4AED-94DB-3EBA087EE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219142-A3BC-4DA6-BD91-0B3E7893D1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14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552450" y="1438275"/>
          <a:ext xmlns:a="http://schemas.openxmlformats.org/drawingml/2006/main" cx="7219950" cy="3619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df6fa8468b8844b0"/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DDA854-28F6-47CE-9FBA-49A0B895C8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1438275"/>
            <a:ext cx="3581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同定パラメータ</a:t>
            </a:r>
          </a:p>
        </p:txBody>
      </p:sp>
      <p:graphicFrame>
        <p:nvGraphicFramePr>
          <p:cNvPr id="44" name=""/>
          <p:cNvGraphicFramePr/>
          <p:nvPr/>
        </p:nvGraphicFramePr>
        <p:xfrm>
          <a:off xmlns:a="http://schemas.openxmlformats.org/drawingml/2006/main" x="8058150" y="1781175"/>
          <a:ext xmlns:a="http://schemas.openxmlformats.org/drawingml/2006/main" cx="3581400" cy="16573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19250"/>
                <a:gridCol w="933450"/>
                <a:gridCol w="1028700"/>
              </a:tblGrid>
              <a:tr h="414338"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parameter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prior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fitted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</a:tr>
              <a:tr h="414338"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G chip–base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40.000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38.220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14338"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G base–fins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12.000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9.992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414338"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hA coolant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0.440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63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0.1906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13E503-1E4A-44B2-B3D3-88C760C011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58150" y="3638550"/>
            <a:ext cx="3581400" cy="14192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7"/>
          </a:solidFill>
          <a:ln xmlns:a="http://schemas.openxmlformats.org/drawingml/2006/main" w="9525">
            <a:solidFill>
              <a:srgbClr val="C4493D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FBFBF8-1B6B-4E14-9035-600FC1507B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3781425"/>
            <a:ext cx="14287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hotspot check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D4349D-DE15-4664-ADAC-B63A4645AC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114800"/>
            <a:ext cx="2476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最大 average–hotspot gap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7C2E105-6F3B-48BF-80E9-6C6699B234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038600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725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1725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0.238 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7D61FC-52E4-4724-9DC0-C0B64D802A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39125" y="4467225"/>
            <a:ext cx="247650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最大 hotspot 過小評価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20B74E-6805-434E-8775-8626F29FF7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050" y="4391025"/>
            <a:ext cx="114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725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1725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0.328 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E58ADB4-06CD-4E0C-B01A-4E79D735F4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67325"/>
            <a:ext cx="25717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CD7965C-C2AE-419D-97E9-257F25D288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67325"/>
            <a:ext cx="666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A79F012-287D-4F7A-9D80-B84DA9FF1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362575"/>
            <a:ext cx="228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0.036 K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201135E-0066-4A65-8855-2D437DDD78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7435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mean RMSE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B3103B8-0182-4870-8D89-12F6692BA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5267325"/>
            <a:ext cx="25717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C064A1A1-C38F-48C6-85F0-FDFCC65D1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5267325"/>
            <a:ext cx="666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F43DED3-4953-413D-AFDF-6C73582A6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5362575"/>
            <a:ext cx="228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0.083 K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7341CD41-7346-4C79-AC86-311C68F016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57435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worst F05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AE63330-848C-48FB-9D80-34528F49B4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67325"/>
            <a:ext cx="2571750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D40FDCA3-17FA-438C-B61D-90FAB9F27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267325"/>
            <a:ext cx="666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8F4C3DB-EFF5-49F8-9456-1F03D01A2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362575"/>
            <a:ext cx="228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7.362 K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F1687AB5-1027-48E4-95EC-DEAD2A0E8F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7435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prior mean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CE769801-4A86-4314-AEA2-A434F091B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267325"/>
            <a:ext cx="27717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30626B5-4494-4B8F-8183-ACE7419D6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267325"/>
            <a:ext cx="66675" cy="8667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A28DAF0-EDD4-478E-A448-698B93FF92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5362575"/>
            <a:ext cx="24860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99.06%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E35C19E-05AD-402F-8C2C-143A96450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5743575"/>
            <a:ext cx="2486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mean improvement</a:t>
            </a:r>
          </a:p>
        </p:txBody>
      </p:sp>
    </p:spTree>
    <p:extLst>
      <p:ext uri="{BB962C8B-B14F-4D97-AF65-F5344CB8AC3E}">
        <p14:creationId xmlns:p14="http://schemas.microsoft.com/office/powerpoint/2010/main" val="1855130816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AAE9C10-5A32-441C-AF81-0234F74F2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E842AA5-8C3D-464E-A3FA-23AFA0B3B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CAE CREDIBILITY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B6C3F3-B3CF-4A74-857E-D3D1AF2E54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0.1 K級のモデル誤差を議論する前に、同程度のメッシュ不確かさを収束させる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1A1BDA0-6E0B-4299-A53E-A1DFC6E18F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medium→fineのchip平均差はMC01で0.496 K、MC02で0.154 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BA0C9A2-AAFA-4085-B10F-4679F02E8F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3D2AB69-AB1B-4058-BD29-191C3750D4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49D0657-7E2C-452E-929A-63039E5119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C8ABAAE-3C00-4095-9226-C20DAED3E5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15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461C502-FDCB-49FF-A7D9-388EFEC433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5219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adjacent mesh difference</a:t>
            </a:r>
          </a:p>
        </p:txBody>
      </p:sp>
      <p:graphicFrame>
        <p:nvGraphicFramePr>
          <p:cNvPr id="40" name="Chart"/>
          <p:cNvGraphicFramePr/>
          <p:nvPr/>
        </p:nvGraphicFramePr>
        <p:xfrm>
          <a:off xmlns:a="http://schemas.openxmlformats.org/drawingml/2006/main" x="552450" y="1657350"/>
          <a:ext xmlns:a="http://schemas.openxmlformats.org/drawingml/2006/main" cx="5219700" cy="3238500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5f1ac2f0efc742d7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9C754B3-6A9F-4A49-B36D-667D0709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9650" y="3514725"/>
            <a:ext cx="43053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4288">
            <a:solidFill>
              <a:srgbClr val="C4493D"/>
            </a:solidFill>
            <a:prstDash val="dash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C6A87AE-F651-45D6-B27C-B9DFE361C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19500" y="3324225"/>
            <a:ext cx="1619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13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713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strict criterion 0.25 K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B1B0CDD-535A-48E5-BD26-F14ADE73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381125"/>
            <a:ext cx="54864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mesh / solve cost</a:t>
            </a:r>
          </a:p>
        </p:txBody>
      </p:sp>
      <p:graphicFrame>
        <p:nvGraphicFramePr>
          <p:cNvPr id="44" name=""/>
          <p:cNvGraphicFramePr/>
          <p:nvPr/>
        </p:nvGraphicFramePr>
        <p:xfrm>
          <a:off xmlns:a="http://schemas.openxmlformats.org/drawingml/2006/main" x="6153150" y="1724025"/>
          <a:ext xmlns:a="http://schemas.openxmlformats.org/drawingml/2006/main" cx="5486400" cy="22764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1676400"/>
                <a:gridCol w="1524000"/>
                <a:gridCol w="1143000"/>
                <a:gridCol w="1143000"/>
              </a:tblGrid>
              <a:tr h="455295"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mesh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elements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MC01 [s]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MC02 [s]</a:t>
                      </a:r>
                    </a:p>
                  </a:txBody>
                  <a:tcPr marL="91440" marR="91440" marT="45720" marB="45720">
                    <a:solidFill>
                      <a:srgbClr val="007FA8"/>
                    </a:solidFill>
                  </a:tcPr>
                </a:tc>
              </a:tr>
              <a:tr h="455295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global-8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48,870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30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62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local-coarse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837,644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223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537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  <a:tr h="455295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local-medium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1,748,906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492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1,380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</a:tr>
              <a:tr h="455295"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local-fine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3,587,721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1,169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3,950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</a:tr>
            </a:tbl>
          </a:graphicData>
        </a:graphic>
      </p:graphicFrame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BAC6E5A-9EAA-4DD2-9D0F-9B774AD2C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4210050"/>
            <a:ext cx="5486400" cy="685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7"/>
          </a:solidFill>
          <a:ln xmlns:a="http://schemas.openxmlformats.org/drawingml/2006/main" w="9525">
            <a:solidFill>
              <a:srgbClr val="C4493D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B2907DB6-D536-4783-8B78-6C1690909E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324350"/>
            <a:ext cx="22383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global-8 → local-coarse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0BE14B2-E0AA-4909-9532-F979D0D957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4276725"/>
            <a:ext cx="25527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97826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725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1725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+15.913 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D084786-4E3A-497F-89EF-EDED7386F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34125" y="4591050"/>
            <a:ext cx="5076825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MC01 chip平均。global meshは局所熱勾配を解像できない。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7492DF8-4BE9-458A-ACF6-6967E287EC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191125"/>
            <a:ext cx="3505200" cy="942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5D7"/>
          </a:solidFill>
          <a:ln xmlns:a="http://schemas.openxmlformats.org/drawingml/2006/main" w="9525">
            <a:solidFill>
              <a:srgbClr val="E5A9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399F302-B3FC-4CDF-9D7A-F3626CDB4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2959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E5A900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E5A900"/>
                </a:solidFill>
                <a:latin typeface="Yu Gothic"/>
                <a:ea typeface="Yu Gothic"/>
                <a:cs typeface="Yu Gothic"/>
              </a:rPr>
              <a:t>screening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C41CACC-2797-4DD5-9427-73344AB14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5257800"/>
            <a:ext cx="2000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≤ 0.50 K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51A07B4-E170-42F9-B7DE-768012D55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3880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MC01 ぎりぎり / MC02 pass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F3B20C0-C7E1-462D-A798-018FA240B4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191125"/>
            <a:ext cx="3505200" cy="942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BE9E7"/>
          </a:solidFill>
          <a:ln xmlns:a="http://schemas.openxmlformats.org/drawingml/2006/main" w="9525">
            <a:solidFill>
              <a:srgbClr val="C4493D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934082E0-85AE-4092-92E5-CC5A35F66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2959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strict average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605D16-591C-46EF-A0C2-94AF89A1BC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43550" y="5257800"/>
            <a:ext cx="2000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≤ 0.25 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9141895A-54F8-4159-B951-4F2150D203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63880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MC01 fail / MC02 pass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98EC431-A2BD-4FD3-A6C2-A30C5742B2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191125"/>
            <a:ext cx="3505200" cy="9429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5F6"/>
          </a:solidFill>
          <a:ln xmlns:a="http://schemas.openxmlformats.org/drawingml/2006/main" w="9525">
            <a:solidFill>
              <a:srgbClr val="7B2DAF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AE9A4775-98DC-4F9C-A05C-D804481C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295900"/>
            <a:ext cx="10668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00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900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current status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533D7CE3-2090-4E3E-A66D-E488CCD414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5257800"/>
            <a:ext cx="200025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50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50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not qualified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97E490A4-EA16-47DB-9453-AE6D9F8278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638800"/>
            <a:ext cx="3124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temporal convergence・実験比較も未完</a:t>
            </a:r>
          </a:p>
        </p:txBody>
      </p:sp>
    </p:spTree>
    <p:extLst>
      <p:ext uri="{BB962C8B-B14F-4D97-AF65-F5344CB8AC3E}">
        <p14:creationId xmlns:p14="http://schemas.microsoft.com/office/powerpoint/2010/main" val="1104602329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02C6FA5-E7AA-4C5C-B9E7-201ECDD3F4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E301CE0-7BC7-4959-8E2B-FCC737F81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HIGH-FIDELITY SCREENING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7C17857-A8E9-4E2A-8029-33B34A049C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平均RMSEは改善したが、放射感度の大きさは再現できていない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4724F3C-36C7-4689-9D25-8A634B8AF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良い総合誤差と正しい物理感度は別の検証項目である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270E6C-E479-4AC7-8483-320EC08BD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C536FDF-AD8B-4370-93F6-C4D534F71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DA20BCC-2FE5-43F3-AA21-DA5D5C01AE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D244EDF-EBBE-42C7-8EAF-3939A31C63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16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40ACDA-4ED7-4DC7-AF19-C644E192DD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5143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external RMSE</a:t>
            </a:r>
          </a:p>
        </p:txBody>
      </p:sp>
      <p:graphicFrame>
        <p:nvGraphicFramePr>
          <p:cNvPr id="42" name="Chart"/>
          <p:cNvGraphicFramePr/>
          <p:nvPr/>
        </p:nvGraphicFramePr>
        <p:xfrm>
          <a:off xmlns:a="http://schemas.openxmlformats.org/drawingml/2006/main" x="552450" y="1657350"/>
          <a:ext xmlns:a="http://schemas.openxmlformats.org/drawingml/2006/main" cx="5143500" cy="3133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28203beeee0247d0"/>
          </a:graphicData>
        </a:graphic>
      </p:graphicFrame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31714C-B997-475C-82DF-30F4F05610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76950" y="1381125"/>
            <a:ext cx="55626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20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radiation pair: chip temperature delta</a:t>
            </a:r>
          </a:p>
        </p:txBody>
      </p:sp>
      <p:graphicFrame>
        <p:nvGraphicFramePr>
          <p:cNvPr id="44" name="Chart"/>
          <p:cNvGraphicFramePr/>
          <p:nvPr/>
        </p:nvGraphicFramePr>
        <p:xfrm>
          <a:off xmlns:a="http://schemas.openxmlformats.org/drawingml/2006/main" x="6076950" y="1657350"/>
          <a:ext xmlns:a="http://schemas.openxmlformats.org/drawingml/2006/main" cx="5562600" cy="3133725"/>
        </p:xfrm>
        <a:graphic xmlns:a="http://schemas.openxmlformats.org/drawingml/2006/main">
          <a:graphicData uri="http://schemas.openxmlformats.org/drawingml/2006/chart">
            <c:chart xmlns:r="http://schemas.openxmlformats.org/officeDocument/2006/relationships" xmlns:c="http://schemas.openxmlformats.org/drawingml/2006/chart" r:id="R605ffb6075764f34"/>
          </a:graphicData>
        </a:graphic>
      </p:graphicFrame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A972E4-CD63-4059-9D45-EDEAD5511A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38725"/>
            <a:ext cx="2571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53C75DF-3941-4507-98D7-86452A7805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038725"/>
            <a:ext cx="6667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6CD96EC9-D423-4AA5-A34F-7C63C1ECA5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133975"/>
            <a:ext cx="228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0.0956 K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67D1ABD-AE05-4798-B654-C27014753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5149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learned mean RMSE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D730C19-0CFF-4E5B-8E69-C38388771F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5800725"/>
            <a:ext cx="228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prior mean 0.8889 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4CB39EC-7E8C-432C-9212-D635F1FEE8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5038725"/>
            <a:ext cx="2571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1EF424C-FB14-408B-B250-6D637A1BC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24225" y="5038725"/>
            <a:ext cx="6667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C9D44BE-6433-4CEA-938F-0C1A88AF26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5133975"/>
            <a:ext cx="228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33 / 33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3DD9764-4E1F-4232-9D2E-5ADB34840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55149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scalar errors ≤ mesh diff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BA32827-D39E-4F55-8A73-8CAE2DE57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14725" y="5800725"/>
            <a:ext cx="228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conservative adjacent-mesh bound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82E841E-F9E2-4B73-AD3E-8B510086BF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38725"/>
            <a:ext cx="2571750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07EDE-B352-4C7A-9E53-636A587135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5038725"/>
            <a:ext cx="6667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8DD3FEBC-EF16-4C2E-B2EE-E02EC21117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133975"/>
            <a:ext cx="2286000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−0.381 K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0051EA75-1403-41B9-BC7B-C78C0E81A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514975"/>
            <a:ext cx="228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truth radiation effect @220 s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4FC6D47C-2E99-41C6-BDA5-494B0A967C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5800725"/>
            <a:ext cx="22860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model prediction −0.001 K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255214D-5931-4103-890A-6EAC9BE19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038725"/>
            <a:ext cx="277177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86581AD2-FEDE-4AD5-BE73-EB14C74FA5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67775" y="5038725"/>
            <a:ext cx="66675" cy="10953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ECE11ADA-037B-47A6-B9DE-F3B2CCC002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5133975"/>
            <a:ext cx="2486025" cy="3714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20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0.496 K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C92F23C5-5F08-492A-87FF-9B13507A3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5514975"/>
            <a:ext cx="2486025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mesh difference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931AEE2D-EE69-44B8-BEEF-57185ED2C1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58275" y="5800725"/>
            <a:ext cx="2486025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6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radiation effect itself is unresolved</a:t>
            </a:r>
          </a:p>
        </p:txBody>
      </p:sp>
    </p:spTree>
    <p:extLst>
      <p:ext uri="{BB962C8B-B14F-4D97-AF65-F5344CB8AC3E}">
        <p14:creationId xmlns:p14="http://schemas.microsoft.com/office/powerpoint/2010/main" val="1240547288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D6DB04-E0BB-466C-89DE-CCDD00A5C9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9ED80DC-2560-4A91-B579-C6D969B5F6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EQUIPMENT VALUE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C64B1AB-EB12-49BC-B896-A35897D652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高速な物理surrogateとして、CAEと装置データの間の判断を短周期化する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B58780A-35CF-44FA-AF06-25F396AD66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有用性は精度だけでなく、どの意思決定を安全に支援できるかで定義する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BC8FC75-DA5B-4D7C-9DD6-8F2F2CF5CE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4CB72A9-F777-419C-90DD-7B5B7B3CA4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D08A67-CEF3-4CD2-B929-3DF4E3876F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C31A8E6-4818-40DE-8B39-88CF24EBDC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17</a:t>
            </a:r>
          </a:p>
        </p:txBody>
      </p:sp>
      <p:graphicFrame>
        <p:nvGraphicFramePr>
          <p:cNvPr id="28" name=""/>
          <p:cNvGraphicFramePr/>
          <p:nvPr/>
        </p:nvGraphicFramePr>
        <p:xfrm>
          <a:off xmlns:a="http://schemas.openxmlformats.org/drawingml/2006/main" x="552450" y="1438275"/>
          <a:ext xmlns:a="http://schemas.openxmlformats.org/drawingml/2006/main" cx="11087100" cy="353377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00250"/>
                <a:gridCol w="2190750"/>
                <a:gridCol w="2857500"/>
                <a:gridCol w="2571750"/>
                <a:gridCol w="1466850"/>
              </a:tblGrid>
              <a:tr h="588963"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装置ユースケース</a:t>
                      </a:r>
                    </a:p>
                  </a:txBody>
                  <a:tcPr marL="91440" marR="91440" marT="45720" marB="45720">
                    <a:solidFill>
                      <a:srgbClr val="00A5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モデル出力</a:t>
                      </a:r>
                    </a:p>
                  </a:txBody>
                  <a:tcPr marL="91440" marR="91440" marT="45720" marB="45720">
                    <a:solidFill>
                      <a:srgbClr val="00A5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技術的な有用性</a:t>
                      </a:r>
                    </a:p>
                  </a:txBody>
                  <a:tcPr marL="91440" marR="91440" marT="45720" marB="45720">
                    <a:solidFill>
                      <a:srgbClr val="00A5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採用gate</a:t>
                      </a:r>
                    </a:p>
                  </a:txBody>
                  <a:tcPr marL="91440" marR="91440" marT="45720" marB="45720">
                    <a:solidFill>
                      <a:srgbClr val="00A5D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38" b="1">
                          <a:solidFill>
                            <a:srgbClr val="FFFFFF"/>
                          </a:solidFill>
                          <a:latin typeface="Yu Gothic"/>
                          <a:ea typeface="Yu Gothic"/>
                          <a:cs typeface="Yu Gothic"/>
                        </a:rPr>
                        <a:t>現状</a:t>
                      </a:r>
                    </a:p>
                  </a:txBody>
                  <a:tcPr marL="91440" marR="91440" marT="45720" marB="45720">
                    <a:solidFill>
                      <a:srgbClr val="00A5D8"/>
                    </a:solidFill>
                  </a:tcPr>
                </a:tc>
              </a:tr>
              <a:tr h="588963">
                <a:tc>
                  <a:txBody>
                    <a:bodyPr/>
                    <a:lstStyle/>
                    <a:p>
                      <a:r>
                        <a:rPr sz="848" b="1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warm-up / cool-down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将来温度・到達時間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recipe待ち時間とthermal soakの比較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運転域holdout、worst error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 b="1">
                          <a:solidFill>
                            <a:srgbClr val="4D8710"/>
                          </a:solidFill>
                          <a:latin typeface="Yu Gothic"/>
                          <a:ea typeface="Yu Gothic"/>
                          <a:cs typeface="Yu Gothic"/>
                        </a:rPr>
                        <a:t>screening可</a:t>
                      </a:r>
                    </a:p>
                  </a:txBody>
                  <a:tcPr marL="91440" marR="91440" marT="45720" marB="45720">
                    <a:solidFill>
                      <a:srgbClr val="EEF7DF"/>
                    </a:solidFill>
                  </a:tcPr>
                </a:tc>
              </a:tr>
              <a:tr h="588963">
                <a:tc>
                  <a:txBody>
                    <a:bodyPr/>
                    <a:lstStyle/>
                    <a:p>
                      <a:r>
                        <a:rPr sz="848" b="1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virtual sensor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未計測node温度・共分散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sensor削減検討、欠測補完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observability、校正、bandwidth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 b="1">
                          <a:solidFill>
                            <a:srgbClr val="806000"/>
                          </a:solidFill>
                          <a:latin typeface="Yu Gothic"/>
                          <a:ea typeface="Yu Gothic"/>
                          <a:cs typeface="Yu Gothic"/>
                        </a:rPr>
                        <a:t>条件付</a:t>
                      </a:r>
                    </a:p>
                  </a:txBody>
                  <a:tcPr marL="91440" marR="91440" marT="45720" marB="45720">
                    <a:solidFill>
                      <a:srgbClr val="FFF5D7"/>
                    </a:solidFill>
                  </a:tcPr>
                </a:tc>
              </a:tr>
              <a:tr h="588963">
                <a:tc>
                  <a:txBody>
                    <a:bodyPr/>
                    <a:lstStyle/>
                    <a:p>
                      <a:r>
                        <a:rPr sz="848" b="1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異常検知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NIS、未知熱d、bias β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未指令発熱とsensorずれの切分け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false alert/hour、fault DOE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 b="1">
                          <a:solidFill>
                            <a:srgbClr val="806000"/>
                          </a:solidFill>
                          <a:latin typeface="Yu Gothic"/>
                          <a:ea typeface="Yu Gothic"/>
                          <a:cs typeface="Yu Gothic"/>
                        </a:rPr>
                        <a:t>CAE evidence有</a:t>
                      </a:r>
                    </a:p>
                  </a:txBody>
                  <a:tcPr marL="91440" marR="91440" marT="45720" marB="45720">
                    <a:solidFill>
                      <a:srgbClr val="FFF5D7"/>
                    </a:solidFill>
                  </a:tcPr>
                </a:tc>
              </a:tr>
              <a:tr h="588963">
                <a:tc>
                  <a:txBody>
                    <a:bodyPr/>
                    <a:lstStyle/>
                    <a:p>
                      <a:r>
                        <a:rPr sz="848" b="1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recipe / cooling設計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parameter sweep・感度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CAE実行前の候補絞込み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外挿禁止、parameter uncertainty</a:t>
                      </a:r>
                    </a:p>
                  </a:txBody>
                  <a:tcPr marL="91440" marR="91440" marT="45720" marB="45720">
                    <a:solidFill>
                      <a:srgbClr val="F8F8F8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 b="1">
                          <a:solidFill>
                            <a:srgbClr val="4D8710"/>
                          </a:solidFill>
                          <a:latin typeface="Yu Gothic"/>
                          <a:ea typeface="Yu Gothic"/>
                          <a:cs typeface="Yu Gothic"/>
                        </a:rPr>
                        <a:t>screening可</a:t>
                      </a:r>
                    </a:p>
                  </a:txBody>
                  <a:tcPr marL="91440" marR="91440" marT="45720" marB="45720">
                    <a:solidFill>
                      <a:srgbClr val="EEF7DF"/>
                    </a:solidFill>
                  </a:tcPr>
                </a:tc>
              </a:tr>
              <a:tr h="588963">
                <a:tc>
                  <a:txBody>
                    <a:bodyPr/>
                    <a:lstStyle/>
                    <a:p>
                      <a:r>
                        <a:rPr sz="848" b="1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hardware change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再同定係数・残差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接触・冷却経路変更の比較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>
                          <a:solidFill>
                            <a:srgbClr val="5B5B5B"/>
                          </a:solidFill>
                          <a:latin typeface="Yu Gothic"/>
                          <a:ea typeface="Yu Gothic"/>
                          <a:cs typeface="Yu Gothic"/>
                        </a:rPr>
                        <a:t>topology再確認、CAE/実験再V&amp;V</a:t>
                      </a:r>
                    </a:p>
                  </a:txBody>
                  <a:tcPr marL="91440" marR="91440" marT="45720" marB="4572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48" b="1">
                          <a:solidFill>
                            <a:srgbClr val="C4493D"/>
                          </a:solidFill>
                          <a:latin typeface="Yu Gothic"/>
                          <a:ea typeface="Yu Gothic"/>
                          <a:cs typeface="Yu Gothic"/>
                        </a:rPr>
                        <a:t>要再検証</a:t>
                      </a:r>
                    </a:p>
                  </a:txBody>
                  <a:tcPr marL="91440" marR="91440" marT="45720" marB="45720">
                    <a:solidFill>
                      <a:srgbClr val="FBE9E7"/>
                    </a:solidFill>
                  </a:tcPr>
                </a:tc>
              </a:tr>
            </a:tbl>
          </a:graphicData>
        </a:graphic>
      </p:graphicFrame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EE2A9D4-B632-4404-B5FF-888727502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29225"/>
            <a:ext cx="3505200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7D0FD30-90F8-4479-B04C-ADAE2B6195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3435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CAE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6FCB4D5-0C17-4D99-8607-3E5D49CAF3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610225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全caseを高忠実度で解く前に、感度とworst候補を選別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F7BE3F6-E983-41D8-8EC1-9D7B0B8086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5229225"/>
            <a:ext cx="3505200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B82B926-525A-498D-B961-AB5B4F46A0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3435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Control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FF8D8F-DE8C-43D7-AB82-82B4662E7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19600" y="5610225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同じ状態定義をforecastとmonitorで共有し、handoffを削減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9535E69-141F-4D21-83A8-19D05522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43850" y="5229225"/>
            <a:ext cx="3505200" cy="8858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83564D7-0651-45F3-AD5D-1AC8B4AFA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343525"/>
            <a:ext cx="762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FMEA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929AF1B-0CD0-4D89-B516-C1C3D9CC2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5610225"/>
            <a:ext cx="3143250" cy="3524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7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hidden heat / bias / model gapを別channelで記録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48B4C97-3D91-423D-809C-E4C7F2A573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00775"/>
            <a:ext cx="11087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735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35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注：計算時間短縮率は本benchmarkでは計測していない。価値は実装後にCAE回数・DOE回数・alarm対応時間で定量化する。</a:t>
            </a:r>
          </a:p>
        </p:txBody>
      </p:sp>
    </p:spTree>
    <p:extLst>
      <p:ext uri="{BB962C8B-B14F-4D97-AF65-F5344CB8AC3E}">
        <p14:creationId xmlns:p14="http://schemas.microsoft.com/office/powerpoint/2010/main" val="34105758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3EEE8DDE-56DB-4CE8-86DB-93A105AE68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8F73EE2-B67E-44DA-867A-A184025322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VALIDATION PLAN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5D8F13-0673-46D4-9AF6-F7EE7474F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装置採用は4段階のgateで進め、各段階の不確かさと再評価条件を残す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060AC59-2A10-4C91-A1C8-2CEBB3CBED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合格基準はFMEA・制御仕様・thermal budgetと結び付けて事前に固定する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42241F-4722-4B30-8684-6B0B089ED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AA7B4A6-11F2-43D9-9053-05497F531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31B240C-93AF-4096-A1BE-B0C112002F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22B2979-BB9A-4E23-B4E4-B55D63CA2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18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0037DD4-087D-417D-B2DB-BE538DAF1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2571750" cy="2162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18677A8-AB4D-4337-8685-F66F4D69C6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628775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5D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77C35A7-4FFF-4FE5-BED7-703DC137A7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8192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01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4B704C-5D87-4919-9391-9938C1D8D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133600"/>
            <a:ext cx="2228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4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計測契約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A2E1745-00FA-43A7-ACD1-79CCC4B82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543175"/>
            <a:ext cx="222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E8ACCEF-442D-420D-9009-30D0E8CA1F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695575"/>
            <a:ext cx="2228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• sensor位置・応答・校正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• 時刻同期 / ZOH / 欠測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• 単位・heat input accounting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2F0CC11-AFB4-4E40-BE77-A64A065852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628775"/>
            <a:ext cx="2571750" cy="2162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765D3C7-3635-4B3B-9833-F3BDAC3F41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1628775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FB3F173-8095-479A-A85F-E40CE08E89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192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02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FF0333CD-14FA-495F-8691-F7F473BA13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133600"/>
            <a:ext cx="2228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4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識別DOE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E54F0A1-4968-491B-88A7-4DC671A437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543175"/>
            <a:ext cx="222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C8436AD-1274-4FDC-9255-64AA66206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695575"/>
            <a:ext cx="2228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• 短・中・長pulse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• heater / coolantを分離励振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• rank・profile・seed安定性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E9ED5E8-7E49-4430-B898-413A18485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28775"/>
            <a:ext cx="2571750" cy="2162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B65DE5-2D77-4BCC-9E1C-F5F52820F6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29350" y="1628775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B2DAF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12ADB30-CE43-4840-A0AD-B55DFA3435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18192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03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5DA0233-C6BE-4A5A-8701-CFEA60D3C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133600"/>
            <a:ext cx="2228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4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CAE / 実験V&amp;V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647E3B7D-7D26-4AE8-999C-326F085CF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543175"/>
            <a:ext cx="222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645CE6E-3095-439E-A230-458E5EB36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00800" y="2695575"/>
            <a:ext cx="2228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• mesh / time convergence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• hotspot・放射・contact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• 独立recipe / hardware holdout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8BF08A86-1ED1-439D-A7E0-9D89F855CC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628775"/>
            <a:ext cx="2571750" cy="21621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2081BA5E-7F64-4049-BE7E-DD8230BAEE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628775"/>
            <a:ext cx="2571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5A90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70F0C135-7BA1-4601-B8C3-D45D51F96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1819275"/>
            <a:ext cx="4762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E5A900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E5A900"/>
                </a:solidFill>
                <a:latin typeface="Yu Gothic"/>
                <a:ea typeface="Yu Gothic"/>
                <a:cs typeface="Yu Gothic"/>
              </a:rPr>
              <a:t>04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0D63337D-03BF-4F14-B656-97445BBCF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133600"/>
            <a:ext cx="222885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425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shadow operation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2A72D6C-0FA2-42B3-964C-0B51B0213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543175"/>
            <a:ext cx="22288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B695AF8-C330-4328-A834-A0EE84C12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39250" y="2695575"/>
            <a:ext cx="22288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35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• alarm校正・false rate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• drift / retrain条件</a:t>
            </a:r>
          </a:p>
          <a:p xmlns:a="http://schemas.openxmlformats.org/drawingml/2006/main">
            <a:pPr algn="l">
              <a:lnSpc>
                <a:spcPct val="135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• interlockとは独立運用</a:t>
            </a:r>
          </a:p>
        </p:txBody>
      </p:sp>
      <p:cxnSp>
        <p:nvCxnSpPr>
          <p:cNvPr id="83" name=""/>
          <p:cNvCxnSpPr>
            <a:stCxn xmlns:a="http://schemas.openxmlformats.org/drawingml/2006/main" id="9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3124200" y="270986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A8"/>
            </a:solidFill>
            <a:prstDash val="solid"/>
            <a:tailEnd type="triangle" w="sm" len="sm"/>
          </a:ln>
        </p:spPr>
      </p:cxnSp>
      <p:cxnSp>
        <p:nvCxnSpPr>
          <p:cNvPr id="84" name=""/>
          <p:cNvCxnSpPr>
            <a:stCxn xmlns:a="http://schemas.openxmlformats.org/drawingml/2006/main" id="15" idx="3"/>
            <a:endCxn xmlns:a="http://schemas.openxmlformats.org/drawingml/2006/main" id="21" idx="1"/>
          </p:cNvCxnSpPr>
          <p:nvPr/>
        </p:nvCxnSpPr>
        <p:spPr>
          <a:xfrm xmlns:a="http://schemas.openxmlformats.org/drawingml/2006/main">
            <a:off x="5962650" y="270986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A8"/>
            </a:solidFill>
            <a:prstDash val="solid"/>
            <a:tailEnd type="triangle" w="sm" len="sm"/>
          </a:ln>
        </p:spPr>
      </p:cxnSp>
      <p:cxnSp>
        <p:nvCxnSpPr>
          <p:cNvPr id="85" name=""/>
          <p:cNvCxnSpPr>
            <a:stCxn xmlns:a="http://schemas.openxmlformats.org/drawingml/2006/main" id="21" idx="3"/>
            <a:endCxn xmlns:a="http://schemas.openxmlformats.org/drawingml/2006/main" id="27" idx="1"/>
          </p:cNvCxnSpPr>
          <p:nvPr/>
        </p:nvCxnSpPr>
        <p:spPr>
          <a:xfrm xmlns:a="http://schemas.openxmlformats.org/drawingml/2006/main">
            <a:off x="8801100" y="2709863"/>
            <a:ext cx="26670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7FA8"/>
            </a:solidFill>
            <a:prstDash val="solid"/>
            <a:tailEnd type="triangle" w="sm" len="sm"/>
          </a:ln>
        </p:spPr>
      </p:cxn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4C7780EE-6254-401F-8DCD-3D9C52D0E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114800"/>
            <a:ext cx="11087100" cy="2762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release gateで固定する指標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C371121F-3572-4028-A9B5-F8A2E6869C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49580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Prediction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6B382B44-7771-4678-836C-D09A7932D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4629150"/>
            <a:ext cx="523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00A5D8"/>
            </a:solidFill>
            <a:prstDash val="solid"/>
          </a:ln>
        </p:spPr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5FFBB76E-4F1F-4EAB-8749-D18B244FD8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495800"/>
            <a:ext cx="899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mean / P95 / worst RMSE, phase lag, operating-envelope coverage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D17AB336-180B-40C6-9A14-195CB050F0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8632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C4493D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C4493D"/>
                </a:solidFill>
                <a:latin typeface="Yu Gothic"/>
                <a:ea typeface="Yu Gothic"/>
                <a:cs typeface="Yu Gothic"/>
              </a:rPr>
              <a:t>Safety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E1C36E11-DFBE-4F0B-BAE6-2094BDBB14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019675"/>
            <a:ext cx="523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C4493D"/>
            </a:solidFill>
            <a:prstDash val="solid"/>
          </a:ln>
        </p:spPr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53D3E099-0E82-4323-89C2-9B154570F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4886325"/>
            <a:ext cx="899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hotspot conservative bound, mesh/time uncertainty, thermal margin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DE107D96-A1FB-4D91-86B0-57D799EA4C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276850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Monitoring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E1250C11-0985-498D-851E-D382C97784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410200"/>
            <a:ext cx="523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B2DAF"/>
            </a:solidFill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56AC0C7A-D7E2-4546-B794-3A451D013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276850"/>
            <a:ext cx="899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detection delay, false alerts/hour, missed faults, attribution error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AF4EEA3-4743-47D5-B41E-F6240D53A6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67375"/>
            <a:ext cx="1333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76BE18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76BE18"/>
                </a:solidFill>
                <a:latin typeface="Yu Gothic"/>
                <a:ea typeface="Yu Gothic"/>
                <a:cs typeface="Yu Gothic"/>
              </a:rPr>
              <a:t>Lifecycle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8D9BA90C-192B-4C19-8896-1D970DDDA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52625" y="5800725"/>
            <a:ext cx="5238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76BE18"/>
            </a:solidFill>
            <a:prstDash val="solid"/>
          </a:ln>
        </p:spPr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9D2B0F7F-763F-42E2-989D-3936FD02E5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47950" y="5667375"/>
            <a:ext cx="89916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38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drift threshold, retrain trigger, configuration &amp; data lineage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0D57799A-0258-4E3D-AF99-5524456427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05525"/>
            <a:ext cx="11087100" cy="2381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01445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5A15A98E-0B55-44AE-B288-B56461ECFC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6115050"/>
            <a:ext cx="108585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863" b="1" i="0">
                <a:solidFill>
                  <a:srgbClr val="FFFFFF"/>
                </a:solidFill>
                <a:latin typeface="Yu Gothic"/>
                <a:ea typeface="Yu Gothic"/>
                <a:cs typeface="Yu Gothic"/>
              </a:defRPr>
            </a:pPr>
            <a:r>
              <a:rPr sz="863" b="1" i="0">
                <a:solidFill>
                  <a:srgbClr val="FFFFFF"/>
                </a:solidFill>
                <a:latin typeface="Yu Gothic"/>
                <a:ea typeface="Yu Gothic"/>
                <a:cs typeface="Yu Gothic"/>
              </a:rPr>
              <a:t>完了条件：適用運転域・性能限界・再評価条件・責任分界が同一release recordに記録されていること。</a:t>
            </a:r>
          </a:p>
        </p:txBody>
      </p:sp>
    </p:spTree>
    <p:extLst>
      <p:ext uri="{BB962C8B-B14F-4D97-AF65-F5344CB8AC3E}">
        <p14:creationId xmlns:p14="http://schemas.microsoft.com/office/powerpoint/2010/main" val="643060727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75C612B8-1D07-4C22-82C2-321FA7502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90500"/>
            <a:ext cx="76200" cy="142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76BE1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FAA5253-3D8D-44FC-BC57-C4D4FB22B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61925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REFERENCES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448577-F2D7-4B50-8878-30502E1625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00050"/>
            <a:ext cx="11001375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19050" tIns="0" rIns="1905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defRPr>
            </a:pPr>
            <a:r>
              <a:rPr sz="2175" b="1" i="0">
                <a:solidFill>
                  <a:srgbClr val="00A5D8"/>
                </a:solidFill>
                <a:latin typeface="Yu Gothic"/>
                <a:ea typeface="Yu Gothic"/>
                <a:cs typeface="Yu Gothic"/>
              </a:rPr>
              <a:t>理論、実装、CAE評価の根拠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8EA267C-585E-4668-9EAD-033D341FD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838200"/>
            <a:ext cx="109061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各グラフの完全な出典パスと数値条件はspeaker notesに記載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9C4FCD-C161-4B4A-BEFE-236544AB57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152525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6FABD18-45D3-4492-9E3E-9BC00A97F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38900"/>
            <a:ext cx="110871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12F927-CC4C-4E1B-84A8-67D35C8C1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1500" y="6505575"/>
            <a:ext cx="53340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13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THERMAL RC / EQUIPMENT ENGINEERING REVIEW  ·  2026-09-17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006151A-95D5-401D-ADD2-CE1051A78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25200" y="6496050"/>
            <a:ext cx="47625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50" b="1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19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F2C30E9-45C2-4A0F-8E29-5A4B51ECAF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381125"/>
            <a:ext cx="525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Repository evidence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8FD526-70F1-4451-853E-20B4BA8E0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177165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[E1]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E6BB093-78BE-4A24-8F0C-7BDE26B0C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1771650"/>
            <a:ext cx="433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013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Technical specification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9316F1F-B1D1-4116-BD58-59D0E70B11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009775"/>
            <a:ext cx="43338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35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35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docs/technical_specification.md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7F93383-E561-4480-B6B0-A987C99D5F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38125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[E2]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72817D36-DFB6-41D7-95FF-F1012EBE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381250"/>
            <a:ext cx="433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013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TopCell benchmark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FDD1DF2-2303-442B-93AE-90F3A67462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619375"/>
            <a:ext cx="43338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35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35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benchmarks/topcell/work/outputs/benchmark/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F76E54A6-40FC-46B5-A9B5-86332B164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299085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[E3]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F8A0E7B-4BA5-487B-A9F4-BDBE58A13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2990850"/>
            <a:ext cx="433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013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Linear COMSOL evaluation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63471E-52AC-4D96-83C7-60C425E708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228975"/>
            <a:ext cx="43338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35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35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external_tools/comsol_chip_cooling/work/evaluation/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406F22D-7F87-497D-A582-5355CEDB0C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360045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[E4]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47E4363-6EBA-4F0A-8F2A-51D5ECCE3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600450"/>
            <a:ext cx="433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013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Monitor traces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6F9122C-3BFB-4F7E-A2B3-1BBEA58CDB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3838575"/>
            <a:ext cx="43338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35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35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external_tools/comsol_chip_cooling/work/outputs/monitor/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E03BB0-3B98-44A7-B7EC-93A469C27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21005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[E5]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0DCC50C-810F-4B33-9BB3-8C185BE3E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210050"/>
            <a:ext cx="433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013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CAE report source data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956FB41-1ECE-4318-8DC5-13F1AF397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448175"/>
            <a:ext cx="43338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35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35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external_tools/.../reports/cae_benchmark_report/source_data/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B2A081-2704-4654-9AE0-707C87F72E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4819650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007FA8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007FA8"/>
                </a:solidFill>
                <a:latin typeface="Yu Gothic"/>
                <a:ea typeface="Yu Gothic"/>
                <a:cs typeface="Yu Gothic"/>
              </a:rPr>
              <a:t>[E6]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0F449AF-EC90-4DDC-8F76-98DEEB5632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19650"/>
            <a:ext cx="4333875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13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1013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High-fidelity validation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0B406BA-4A4E-412B-A33C-905DA615DF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5057775"/>
            <a:ext cx="4333875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35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35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external_tools/comsol_chip_cooling/docs/high_fidelity_validation.md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CB462900-4DAC-4587-94CA-E55BEC77F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381125"/>
            <a:ext cx="52578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defRPr>
            </a:pPr>
            <a:r>
              <a:rPr sz="1350" b="1" i="0">
                <a:solidFill>
                  <a:srgbClr val="3F3F3F"/>
                </a:solidFill>
                <a:latin typeface="Yu Gothic"/>
                <a:ea typeface="Yu Gothic"/>
                <a:cs typeface="Yu Gothic"/>
              </a:rPr>
              <a:t>Theory and methods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877E89F-8919-4093-90A0-58817C2152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17430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[R1]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DE760448-B609-486F-9166-9E14D2292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7430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Huang et al. (2006)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1F22ED89-D540-4987-8828-F4D800E82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1962150"/>
            <a:ext cx="4286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HotSpot compact thermal modeling, IEEE TVLSI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AA2B46A1-39CF-46FA-8977-9A77E59BB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2383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[R2]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96655684-DA8B-4A41-9197-C61407607D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2383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Farina &amp; Rinaldi (2000)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13AA0B-181D-46FE-964D-8E3C0F6C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457450"/>
            <a:ext cx="4286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Positive Linear Systems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409DA49-A851-4790-A225-6AE24D76EC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7336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[R3]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D4940CD2-07BA-4FFD-9ACA-6C8DBCC04D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7336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Kalman (1960)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1E0C583-0111-4288-B174-B798CA20D3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2952750"/>
            <a:ext cx="4286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Linear filtering and prediction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0B7D0FBB-4A66-4AE0-9AA6-750476655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2289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[R4]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B4BCC973-6F37-4CEF-B7FB-2842DCFE00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2289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Van Loan (1978)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4C756553-4C12-42CC-9777-9302C8B06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448050"/>
            <a:ext cx="4286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Computing integrals involving the matrix exponential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8D545A1F-A562-4A17-9BF0-F0E7EC095A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37242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[R5]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72049C03-3096-4C83-9248-B99334C341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7242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Higham (2005)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7568073F-F82D-4D3B-8390-8274F404F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3943350"/>
            <a:ext cx="4286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Scaling and squaring for the matrix exponential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8623868-0347-4588-A4A5-2D040C6429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2195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[R6]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E37E1C1D-38F6-4E20-ADB1-A12C69E8E7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2195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Huber (1964)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6F7B1DAA-BC43-4E14-86D4-82DB42E4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438650"/>
            <a:ext cx="4286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Robust estimation of a location parameter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20A2B34-FBBA-4D51-A437-E5FB237AC0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[R7]</a:t>
            </a:r>
          </a:p>
        </p:txBody>
      </p:sp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A24828BF-8EB5-4D16-8C5F-838E98C93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7148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Kingma &amp; Ba (2014)</a:t>
            </a:r>
          </a:p>
        </p:txBody>
      </p:sp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5CA30B0F-54EE-4891-ABA2-06A5941DB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4933950"/>
            <a:ext cx="4286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Adam: A Method for Stochastic Optimization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8A7B5E1B-FD5E-42D3-8638-B00A11632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5210175"/>
            <a:ext cx="6477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defRPr>
            </a:pPr>
            <a:r>
              <a:rPr sz="825" b="1" i="0">
                <a:solidFill>
                  <a:srgbClr val="4D8710"/>
                </a:solidFill>
                <a:latin typeface="Yu Gothic"/>
                <a:ea typeface="Yu Gothic"/>
                <a:cs typeface="Yu Gothic"/>
              </a:rPr>
              <a:t>[R8]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48689EF-4A85-4D73-8B28-FFA0D6A8A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210175"/>
            <a:ext cx="4286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975" b="1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COMSOL documentation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B57B7742-A82A-4206-9478-EC6EA9752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29450" y="5429250"/>
            <a:ext cx="4286250" cy="2000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defRPr>
            </a:pPr>
            <a:r>
              <a:rPr sz="788" b="0" i="0">
                <a:solidFill>
                  <a:srgbClr val="777777"/>
                </a:solidFill>
                <a:latin typeface="Yu Gothic"/>
                <a:ea typeface="Yu Gothic"/>
                <a:cs typeface="Yu Gothic"/>
              </a:rPr>
              <a:t>Electronic Chip Cooling / Nonisothermal Flow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BB7ED0BD-5AEE-424D-A925-D8F55C08C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5695950"/>
            <a:ext cx="11087100" cy="5238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D6D6D6"/>
            </a:solidFill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7CA48BDD-AF99-4B00-9B74-6C8DE3C59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5810250"/>
            <a:ext cx="12573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1" i="0">
                <a:solidFill>
                  <a:srgbClr val="7B2DAF"/>
                </a:solidFill>
                <a:latin typeface="Yu Gothic"/>
                <a:ea typeface="Yu Gothic"/>
                <a:cs typeface="Yu Gothic"/>
              </a:defRPr>
            </a:pPr>
            <a:r>
              <a:rPr sz="863" b="1" i="0">
                <a:solidFill>
                  <a:srgbClr val="7B2DAF"/>
                </a:solidFill>
                <a:latin typeface="Yu Gothic"/>
                <a:ea typeface="Yu Gothic"/>
                <a:cs typeface="Yu Gothic"/>
              </a:rPr>
              <a:t>Design reference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4A2ECBD9-79E4-4B6A-B8B6-923E6255E8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38350" y="5791200"/>
            <a:ext cx="93345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28575" tIns="19050" rIns="28575" bIns="1905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defRPr>
            </a:pPr>
            <a:r>
              <a:rPr sz="863" b="0" i="0">
                <a:solidFill>
                  <a:srgbClr val="5B5B5B"/>
                </a:solidFill>
                <a:latin typeface="Yu Gothic"/>
                <a:ea typeface="Yu Gothic"/>
                <a:cs typeface="Yu Gothic"/>
              </a:rPr>
              <a:t>Tokyo Electron public IR presentation (visual language only; no logo/template reuse)</a:t>
            </a:r>
          </a:p>
        </p:txBody>
      </p:sp>
    </p:spTree>
    <p:extLst>
      <p:ext uri="{BB962C8B-B14F-4D97-AF65-F5344CB8AC3E}">
        <p14:creationId xmlns:p14="http://schemas.microsoft.com/office/powerpoint/2010/main" val="2119064727"/>
      </p:ext>
    </p:extLst>
  </p:cSld>
</p:sld>
</file>

<file path=ppt/theme/theme1.xml><?xml version="1.0" encoding="utf-8"?>
<a:theme xmlns:a="http://schemas.openxmlformats.org/drawingml/2006/main" name="ChatGPT">
  <a:themeElements>
    <a:clrScheme name="Equipment Engineering Review">
      <a:dk1>
        <a:srgbClr val="1B1B1B"/>
      </a:dk1>
      <a:lt1>
        <a:srgbClr val="FFFFFF"/>
      </a:lt1>
      <a:dk2>
        <a:srgbClr val="201445"/>
      </a:dk2>
      <a:lt2>
        <a:srgbClr val="D6D6D6"/>
      </a:lt2>
      <a:accent1>
        <a:srgbClr val="00A5D8"/>
      </a:accent1>
      <a:accent2>
        <a:srgbClr val="76BE18"/>
      </a:accent2>
      <a:accent3>
        <a:srgbClr val="7B2DAF"/>
      </a:accent3>
      <a:accent4>
        <a:srgbClr val="00A89D"/>
      </a:accent4>
      <a:accent5>
        <a:srgbClr val="E5A900"/>
      </a:accent5>
      <a:accent6>
        <a:srgbClr val="C4493D"/>
      </a:accent6>
      <a:hlink>
        <a:srgbClr val="007FA8"/>
      </a:hlink>
      <a:folHlink>
        <a:srgbClr val="7B2DAF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Equipment Engineering Review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2026-09-17T01:28:46.7320000Z</dcterms:created>
  <dcterms:modified xsi:type="dcterms:W3CDTF">2026-09-17T01:28:46.7320000Z</dcterms:modified>
</coreProperties>
</file>