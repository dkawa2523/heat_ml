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6.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0e06c5b34f42fd" /><Relationship Type="http://schemas.openxmlformats.org/officeDocument/2006/relationships/extended-properties" Target="/docProps/app.xml" Id="Rf1a2ae1054914936" /><Relationship Type="http://schemas.openxmlformats.org/officeDocument/2006/relationships/officeDocument" Target="/ppt/presentation.xml" Id="R1ec877bc8bef40e1" /></Relationships>
</file>

<file path=ppt/presentation.xml><?xml version="1.0" encoding="utf-8"?>
<p:presentation xmlns:p="http://schemas.openxmlformats.org/presentationml/2006/main">
  <p:sldMasterIdLst>
    <p:sldMasterId xmlns:r="http://schemas.openxmlformats.org/officeDocument/2006/relationships" id="2147483648" r:id="R194df0e6933f48d7"/>
  </p:sldMasterIdLst>
  <p:notesMasterIdLst>
    <p:notesMasterId xmlns:r="http://schemas.openxmlformats.org/officeDocument/2006/relationships" r:id="R2b68f5c5065f4db6"/>
  </p:notesMasterIdLst>
  <p:sldIdLst>
    <p:sldId xmlns:r="http://schemas.openxmlformats.org/officeDocument/2006/relationships" id="256" r:id="R727e6fd9900e4452"/>
    <p:sldId xmlns:r="http://schemas.openxmlformats.org/officeDocument/2006/relationships" id="257" r:id="R59bac5cd024d4819"/>
    <p:sldId xmlns:r="http://schemas.openxmlformats.org/officeDocument/2006/relationships" id="258" r:id="R8884282c2e7e4f73"/>
    <p:sldId xmlns:r="http://schemas.openxmlformats.org/officeDocument/2006/relationships" id="259" r:id="Rb2424503e9db4b44"/>
    <p:sldId xmlns:r="http://schemas.openxmlformats.org/officeDocument/2006/relationships" id="260" r:id="R56da21e77448408c"/>
    <p:sldId xmlns:r="http://schemas.openxmlformats.org/officeDocument/2006/relationships" id="261" r:id="Rd178873a6d594d64"/>
    <p:sldId xmlns:r="http://schemas.openxmlformats.org/officeDocument/2006/relationships" id="262" r:id="R128bc8cdf7df4e00"/>
    <p:sldId xmlns:r="http://schemas.openxmlformats.org/officeDocument/2006/relationships" id="263" r:id="R422bab52eea741c6"/>
    <p:sldId xmlns:r="http://schemas.openxmlformats.org/officeDocument/2006/relationships" id="264" r:id="Rbdacbd05f7b84852"/>
    <p:sldId xmlns:r="http://schemas.openxmlformats.org/officeDocument/2006/relationships" id="265" r:id="R3a7c22ffe2664484"/>
    <p:sldId xmlns:r="http://schemas.openxmlformats.org/officeDocument/2006/relationships" id="266" r:id="Rfbed35d93a7b4011"/>
    <p:sldId xmlns:r="http://schemas.openxmlformats.org/officeDocument/2006/relationships" id="267" r:id="R5aea8a13e1824fd8"/>
    <p:sldId xmlns:r="http://schemas.openxmlformats.org/officeDocument/2006/relationships" id="268" r:id="R1d2f5285ad4b4073"/>
    <p:sldId xmlns:r="http://schemas.openxmlformats.org/officeDocument/2006/relationships" id="269" r:id="R26572b10b26f4c1f"/>
    <p:sldId xmlns:r="http://schemas.openxmlformats.org/officeDocument/2006/relationships" id="270" r:id="R69d8751eda344202"/>
    <p:sldId xmlns:r="http://schemas.openxmlformats.org/officeDocument/2006/relationships" id="271" r:id="R209826774a9843de"/>
    <p:sldId xmlns:r="http://schemas.openxmlformats.org/officeDocument/2006/relationships" id="272" r:id="R2bbb742ac4b34b04"/>
    <p:sldId xmlns:r="http://schemas.openxmlformats.org/officeDocument/2006/relationships" id="273" r:id="R39e47572ac0e411e"/>
    <p:sldId xmlns:r="http://schemas.openxmlformats.org/officeDocument/2006/relationships" id="274" r:id="Rfa68de60f8c04391"/>
    <p:sldId xmlns:r="http://schemas.openxmlformats.org/officeDocument/2006/relationships" id="275" r:id="Rde4a1e07692e4b0c"/>
    <p:sldId xmlns:r="http://schemas.openxmlformats.org/officeDocument/2006/relationships" id="276" r:id="R79eaaa62157f48b6"/>
    <p:sldId xmlns:r="http://schemas.openxmlformats.org/officeDocument/2006/relationships" id="277" r:id="Ra83163829c3f45c0"/>
    <p:sldId xmlns:r="http://schemas.openxmlformats.org/officeDocument/2006/relationships" id="278" r:id="Rf836f47e080242f9"/>
    <p:sldId xmlns:r="http://schemas.openxmlformats.org/officeDocument/2006/relationships" id="279" r:id="Re483806f05524c78"/>
    <p:sldId xmlns:r="http://schemas.openxmlformats.org/officeDocument/2006/relationships" id="280" r:id="R32bd7680cd0e478c"/>
    <p:sldId xmlns:r="http://schemas.openxmlformats.org/officeDocument/2006/relationships" id="281" r:id="R63478c51a26743c5"/>
    <p:sldId xmlns:r="http://schemas.openxmlformats.org/officeDocument/2006/relationships" id="282" r:id="Rb349d70ee12842d0"/>
    <p:sldId xmlns:r="http://schemas.openxmlformats.org/officeDocument/2006/relationships" id="283" r:id="Re713db796ac54479"/>
    <p:sldId xmlns:r="http://schemas.openxmlformats.org/officeDocument/2006/relationships" id="284" r:id="Rb624c7cff2704e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a7a0241e054d13" /><Relationship Type="http://schemas.openxmlformats.org/officeDocument/2006/relationships/slideMaster" Target="/ppt/slideMasters/slideMaster1.xml" Id="R194df0e6933f48d7" /><Relationship Type="http://schemas.openxmlformats.org/officeDocument/2006/relationships/notesMaster" Target="/ppt/notesMasters/notesMaster1.xml" Id="R2b68f5c5065f4db6" /><Relationship Type="http://schemas.openxmlformats.org/officeDocument/2006/relationships/presProps" Target="/ppt/presProps.xml" Id="Rf96dc09d21274c05" /><Relationship Type="http://schemas.openxmlformats.org/officeDocument/2006/relationships/tableStyles" Target="/ppt/tableStyles.xml" Id="Rfe7097acd3d14f63" /><Relationship Type="http://schemas.openxmlformats.org/officeDocument/2006/relationships/slide" Target="/ppt/slides/slide1.xml" Id="R727e6fd9900e4452" /><Relationship Type="http://schemas.openxmlformats.org/officeDocument/2006/relationships/slide" Target="/ppt/slides/slide2.xml" Id="R59bac5cd024d4819" /><Relationship Type="http://schemas.openxmlformats.org/officeDocument/2006/relationships/slide" Target="/ppt/slides/slide3.xml" Id="R8884282c2e7e4f73" /><Relationship Type="http://schemas.openxmlformats.org/officeDocument/2006/relationships/slide" Target="/ppt/slides/slide4.xml" Id="Rb2424503e9db4b44" /><Relationship Type="http://schemas.openxmlformats.org/officeDocument/2006/relationships/slide" Target="/ppt/slides/slide5.xml" Id="R56da21e77448408c" /><Relationship Type="http://schemas.openxmlformats.org/officeDocument/2006/relationships/slide" Target="/ppt/slides/slide6.xml" Id="Rd178873a6d594d64" /><Relationship Type="http://schemas.openxmlformats.org/officeDocument/2006/relationships/slide" Target="/ppt/slides/slide7.xml" Id="R128bc8cdf7df4e00" /><Relationship Type="http://schemas.openxmlformats.org/officeDocument/2006/relationships/slide" Target="/ppt/slides/slide8.xml" Id="R422bab52eea741c6" /><Relationship Type="http://schemas.openxmlformats.org/officeDocument/2006/relationships/slide" Target="/ppt/slides/slide9.xml" Id="Rbdacbd05f7b84852" /><Relationship Type="http://schemas.openxmlformats.org/officeDocument/2006/relationships/slide" Target="/ppt/slides/slide10.xml" Id="R3a7c22ffe2664484" /><Relationship Type="http://schemas.openxmlformats.org/officeDocument/2006/relationships/slide" Target="/ppt/slides/slide11.xml" Id="Rfbed35d93a7b4011" /><Relationship Type="http://schemas.openxmlformats.org/officeDocument/2006/relationships/slide" Target="/ppt/slides/slide12.xml" Id="R5aea8a13e1824fd8" /><Relationship Type="http://schemas.openxmlformats.org/officeDocument/2006/relationships/slide" Target="/ppt/slides/slide13.xml" Id="R1d2f5285ad4b4073" /><Relationship Type="http://schemas.openxmlformats.org/officeDocument/2006/relationships/slide" Target="/ppt/slides/slide14.xml" Id="R26572b10b26f4c1f" /><Relationship Type="http://schemas.openxmlformats.org/officeDocument/2006/relationships/slide" Target="/ppt/slides/slide15.xml" Id="R69d8751eda344202" /><Relationship Type="http://schemas.openxmlformats.org/officeDocument/2006/relationships/slide" Target="/ppt/slides/slide16.xml" Id="R209826774a9843de" /><Relationship Type="http://schemas.openxmlformats.org/officeDocument/2006/relationships/slide" Target="/ppt/slides/slide17.xml" Id="R2bbb742ac4b34b04" /><Relationship Type="http://schemas.openxmlformats.org/officeDocument/2006/relationships/slide" Target="/ppt/slides/slide18.xml" Id="R39e47572ac0e411e" /><Relationship Type="http://schemas.openxmlformats.org/officeDocument/2006/relationships/slide" Target="/ppt/slides/slide19.xml" Id="Rfa68de60f8c04391" /><Relationship Type="http://schemas.openxmlformats.org/officeDocument/2006/relationships/slide" Target="/ppt/slides/slide20.xml" Id="Rde4a1e07692e4b0c" /><Relationship Type="http://schemas.openxmlformats.org/officeDocument/2006/relationships/slide" Target="/ppt/slides/slide21.xml" Id="R79eaaa62157f48b6" /><Relationship Type="http://schemas.openxmlformats.org/officeDocument/2006/relationships/slide" Target="/ppt/slides/slide22.xml" Id="Ra83163829c3f45c0" /><Relationship Type="http://schemas.openxmlformats.org/officeDocument/2006/relationships/slide" Target="/ppt/slides/slide23.xml" Id="Rf836f47e080242f9" /><Relationship Type="http://schemas.openxmlformats.org/officeDocument/2006/relationships/slide" Target="/ppt/slides/slide24.xml" Id="Re483806f05524c78" /><Relationship Type="http://schemas.openxmlformats.org/officeDocument/2006/relationships/slide" Target="/ppt/slides/slide25.xml" Id="R32bd7680cd0e478c" /><Relationship Type="http://schemas.openxmlformats.org/officeDocument/2006/relationships/slide" Target="/ppt/slides/slide26.xml" Id="R63478c51a26743c5" /><Relationship Type="http://schemas.openxmlformats.org/officeDocument/2006/relationships/slide" Target="/ppt/slides/slide27.xml" Id="Rb349d70ee12842d0" /><Relationship Type="http://schemas.openxmlformats.org/officeDocument/2006/relationships/slide" Target="/ppt/slides/slide28.xml" Id="Re713db796ac54479" /><Relationship Type="http://schemas.openxmlformats.org/officeDocument/2006/relationships/slide" Target="/ppt/slides/slide29.xml" Id="Rb624c7cff2704e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7c153688824d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5be71a625642da" /><Relationship Type="http://schemas.openxmlformats.org/officeDocument/2006/relationships/notesMaster" Target="/ppt/notesMasters/notesMaster1.xml" Id="Reaae41e8984149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016eab9321471c" /><Relationship Type="http://schemas.openxmlformats.org/officeDocument/2006/relationships/notesMaster" Target="/ppt/notesMasters/notesMaster1.xml" Id="R0c755f4ff34646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dda4f98c4644fd" /><Relationship Type="http://schemas.openxmlformats.org/officeDocument/2006/relationships/notesMaster" Target="/ppt/notesMasters/notesMaster1.xml" Id="R646a2d4fafb147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8a99a570b341c0" /><Relationship Type="http://schemas.openxmlformats.org/officeDocument/2006/relationships/notesMaster" Target="/ppt/notesMasters/notesMaster1.xml" Id="R23061f1b544e46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27e21707e64e1f" /><Relationship Type="http://schemas.openxmlformats.org/officeDocument/2006/relationships/notesMaster" Target="/ppt/notesMasters/notesMaster1.xml" Id="R2ad0e597a5ee4d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565c6243454bef" /><Relationship Type="http://schemas.openxmlformats.org/officeDocument/2006/relationships/notesMaster" Target="/ppt/notesMasters/notesMaster1.xml" Id="Rd95c2935639e46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6387b837a14702" /><Relationship Type="http://schemas.openxmlformats.org/officeDocument/2006/relationships/notesMaster" Target="/ppt/notesMasters/notesMaster1.xml" Id="Rd7b41472d25548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e29116d318c46e1" /><Relationship Type="http://schemas.openxmlformats.org/officeDocument/2006/relationships/notesMaster" Target="/ppt/notesMasters/notesMaster1.xml" Id="R57dd256514c040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e243f8b9be4f56" /><Relationship Type="http://schemas.openxmlformats.org/officeDocument/2006/relationships/notesMaster" Target="/ppt/notesMasters/notesMaster1.xml" Id="R978b51b3e364482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f2d65c9675417d" /><Relationship Type="http://schemas.openxmlformats.org/officeDocument/2006/relationships/notesMaster" Target="/ppt/notesMasters/notesMaster1.xml" Id="Rc0c33982ed5b48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a2a697384b416c" /><Relationship Type="http://schemas.openxmlformats.org/officeDocument/2006/relationships/notesMaster" Target="/ppt/notesMasters/notesMaster1.xml" Id="Re6311968a7d940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70d2952f0c5436c" /><Relationship Type="http://schemas.openxmlformats.org/officeDocument/2006/relationships/notesMaster" Target="/ppt/notesMasters/notesMaster1.xml" Id="Rf66d649d1c5a46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7f53c7065684943" /><Relationship Type="http://schemas.openxmlformats.org/officeDocument/2006/relationships/notesMaster" Target="/ppt/notesMasters/notesMaster1.xml" Id="R5a1223903a3e465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549aa1130b4aa0" /><Relationship Type="http://schemas.openxmlformats.org/officeDocument/2006/relationships/notesMaster" Target="/ppt/notesMasters/notesMaster1.xml" Id="R5a8165df7af842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2e0e19178fd44d3" /><Relationship Type="http://schemas.openxmlformats.org/officeDocument/2006/relationships/notesMaster" Target="/ppt/notesMasters/notesMaster1.xml" Id="Raedf8f89bc364ee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5559b4fbe84c3d" /><Relationship Type="http://schemas.openxmlformats.org/officeDocument/2006/relationships/notesMaster" Target="/ppt/notesMasters/notesMaster1.xml" Id="R6290a1faafd3408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92b40e57c164507" /><Relationship Type="http://schemas.openxmlformats.org/officeDocument/2006/relationships/notesMaster" Target="/ppt/notesMasters/notesMaster1.xml" Id="R91f8e7dea5b042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1e0fe3da6140b1" /><Relationship Type="http://schemas.openxmlformats.org/officeDocument/2006/relationships/notesMaster" Target="/ppt/notesMasters/notesMaster1.xml" Id="R2ad9613e229e426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9eeee9dc724bb5" /><Relationship Type="http://schemas.openxmlformats.org/officeDocument/2006/relationships/notesMaster" Target="/ppt/notesMasters/notesMaster1.xml" Id="Re95dba2e5e7e4db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a162a63c7db4f45" /><Relationship Type="http://schemas.openxmlformats.org/officeDocument/2006/relationships/notesMaster" Target="/ppt/notesMasters/notesMaster1.xml" Id="R84d5dc5f345745e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9072e7d9574fa3" /><Relationship Type="http://schemas.openxmlformats.org/officeDocument/2006/relationships/notesMaster" Target="/ppt/notesMasters/notesMaster1.xml" Id="R6f430669b3e743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4a8268dd70341f0" /><Relationship Type="http://schemas.openxmlformats.org/officeDocument/2006/relationships/notesMaster" Target="/ppt/notesMasters/notesMaster1.xml" Id="R056d2b38c9684e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333b4db363b4842" /><Relationship Type="http://schemas.openxmlformats.org/officeDocument/2006/relationships/notesMaster" Target="/ppt/notesMasters/notesMaster1.xml" Id="R7fddec083811453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ff52785d68a4049" /><Relationship Type="http://schemas.openxmlformats.org/officeDocument/2006/relationships/notesMaster" Target="/ppt/notesMasters/notesMaster1.xml" Id="R49302122c81d489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ec1285aec5740e3" /><Relationship Type="http://schemas.openxmlformats.org/officeDocument/2006/relationships/notesMaster" Target="/ppt/notesMasters/notesMaster1.xml" Id="R860178927e354fa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b67f0c2c85e4202" /><Relationship Type="http://schemas.openxmlformats.org/officeDocument/2006/relationships/notesMaster" Target="/ppt/notesMasters/notesMaster1.xml" Id="R0fe3a7889a0842e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62fbc79d6254d83" /><Relationship Type="http://schemas.openxmlformats.org/officeDocument/2006/relationships/notesMaster" Target="/ppt/notesMasters/notesMaster1.xml" Id="R102a1ef90304474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39431257c184aa9" /><Relationship Type="http://schemas.openxmlformats.org/officeDocument/2006/relationships/notesMaster" Target="/ppt/notesMasters/notesMaster1.xml" Id="R80a814c97ac1412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c76839ba0b748a2" /><Relationship Type="http://schemas.openxmlformats.org/officeDocument/2006/relationships/notesMaster" Target="/ppt/notesMasters/notesMaster1.xml" Id="Rdb7ba11e094440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 docs/technical_specification.md</a:t>
            </a:r>
          </a:p>
          <a:p xmlns:a="http://schemas.openxmlformats.org/drawingml/2006/main">
            <a:r>
              <a:t>Visual design reference only: Tokyo Electron FY2027 Q1 Financial Announcement, https://www.tel.com/ir/library/report/i242su0000000goz-att/fy27q1presentations-e.pdf</a:t>
            </a:r>
          </a:p>
          <a:p xmlns:a="http://schemas.openxmlformats.org/drawingml/2006/main">
            <a:r>
              <a:t>Tokyo Electron logo, trademark lockup, and official slide master are not used.</a:t>
            </a:r>
          </a:p>
          <a:p xmlns:a="http://schemas.openxmlformats.org/drawingml/2006/main">
            <a:r>
              <a:t>Repository: thermal-cell-practical.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docs/product_architecture.md sections 1 and 10.</a:t>
            </a:r>
          </a:p>
          <a:p xmlns:a="http://schemas.openxmlformats.org/drawingml/2006/main">
            <a:r>
              <a:t>The process diagram is a responsibility map, not a proprietary equipment architecture.</a:t>
            </a:r>
          </a:p>
          <a:p xmlns:a="http://schemas.openxmlformats.org/drawingml/2006/main">
            <a:r>
              <a:t>Claims about hotspot and radiation limits are supported by the COMSOL benchmark slides later in this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sections Purpose, Deployment artifact, Current model boundaries.</a:t>
            </a:r>
          </a:p>
          <a:p xmlns:a="http://schemas.openxmlformats.org/drawingml/2006/main">
            <a:r>
              <a:t>Sources: docs/product_architecture.md sections 5–8 and 10.</a:t>
            </a:r>
          </a:p>
          <a:p xmlns:a="http://schemas.openxmlformats.org/drawingml/2006/main">
            <a:r>
              <a:t>Forecast intervals include state/process uncertainty only; parameter, future-input, and model-form uncertainty are excluded.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docs/product_architecture.md sections 1, 7–10.</a:t>
            </a:r>
          </a:p>
          <a:p xmlns:a="http://schemas.openxmlformats.org/drawingml/2006/main">
            <a:r>
              <a:t>Source code: src/celltemp/cli.py, workflows/, inference.py, artifact.py, learning/, engine/, domain/, io/.</a:t>
            </a:r>
          </a:p>
          <a:p xmlns:a="http://schemas.openxmlformats.org/drawingml/2006/main">
            <a:r>
              <a:t>Architecture diagram shows dependency and responsibility, not runtime thread/process topology.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README.md; docs/product_architecture.md sections 1, 5–7, and 11.</a:t>
            </a:r>
          </a:p>
          <a:p xmlns:a="http://schemas.openxmlformats.org/drawingml/2006/main">
            <a:r>
              <a:t>Implemented status refers to repository workflows; equipment qualification remains a separate validation activity.</a:t>
            </a:r>
          </a:p>
          <a:p xmlns:a="http://schemas.openxmlformats.org/drawingml/2006/main">
            <a:r>
              <a:t>Future items are explicitly not claims about current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benchmarks/topcell/work/outputs/benchmark/benchmark_summary.json</a:t>
            </a:r>
          </a:p>
          <a:p xmlns:a="http://schemas.openxmlformats.org/drawingml/2006/main">
            <a:r>
              <a:t>Sources: external_tools/comsol_chip_cooling/work/evaluation/forecast_cases.csv</a:t>
            </a:r>
          </a:p>
          <a:p xmlns:a="http://schemas.openxmlformats.org/drawingml/2006/main">
            <a:r>
              <a:t>Sources: external_tools/comsol_chip_cooling/reports/cae_benchmark_report/source_data/high_fidelity_case_metrics.csv</a:t>
            </a:r>
          </a:p>
          <a:p xmlns:a="http://schemas.openxmlformats.org/drawingml/2006/main">
            <a:r>
              <a:t>Hotspot gap source: external_tools/comsol_chip_cooling/data/qa_summary.csv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semiconductor-equipment mapping; no proprietary equipment geometry is represented.</a:t>
            </a:r>
          </a:p>
          <a:p xmlns:a="http://schemas.openxmlformats.org/drawingml/2006/main">
            <a:r>
              <a:t>Physics source: docs/technical_specification.md sections 4 and 6.</a:t>
            </a:r>
          </a:p>
          <a:p xmlns:a="http://schemas.openxmlformats.org/drawingml/2006/main">
            <a:r>
              <a:t>System mapping source: external_tools/comsol_chip_cooling/system.yaml.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docs/technical_specification.md sections 11 and 12.</a:t>
            </a:r>
          </a:p>
          <a:p xmlns:a="http://schemas.openxmlformats.org/drawingml/2006/main">
            <a:r>
              <a:t>TopCell: benchmarks/topcell/work/outputs/benchmark/benchmark_summary.json.</a:t>
            </a:r>
          </a:p>
          <a:p xmlns:a="http://schemas.openxmlformats.org/drawingml/2006/main">
            <a:r>
              <a:t>Linear COMSOL: external_tools/comsol_chip_cooling/work/evaluation/forecast_cases.csv.</a:t>
            </a:r>
          </a:p>
          <a:p xmlns:a="http://schemas.openxmlformats.org/drawingml/2006/main">
            <a:r>
              <a:t>High fidelity: external_tools/comsol_chip_cooling/docs/high_fidelity_validation.md.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external_tools/comsol_chip_cooling/system.yaml.</a:t>
            </a:r>
          </a:p>
          <a:p xmlns:a="http://schemas.openxmlformats.org/drawingml/2006/main">
            <a:r>
              <a:t>Fitted values: external_tools/comsol_chip_cooling/work/evaluation/fitted_parameters.csv.</a:t>
            </a:r>
          </a:p>
          <a:p xmlns:a="http://schemas.openxmlformats.org/drawingml/2006/main">
            <a:r>
              <a:t>Boundary node weights are fixed at base 0.090909 and fins 0.909091.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4.2, 4.3, 4.8, and 4.10.</a:t>
            </a:r>
          </a:p>
          <a:p xmlns:a="http://schemas.openxmlformats.org/drawingml/2006/main">
            <a:r>
              <a:t>Compact thermal modeling reference: Huang et al., IEEE TVLSI 2006, doi:10.1109/TVLSI.2006.876103.</a:t>
            </a:r>
          </a:p>
          <a:p xmlns:a="http://schemas.openxmlformats.org/drawingml/2006/main">
            <a:r>
              <a:t>Biot-number criterion is an engineering screening criterion for lumped-capacitance validity; node adequacy must be checked against local gradients.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src/celltemp/engine/laws.py, src/celltemp/engine/rc.py, src/celltemp/domain/topology.py.</a:t>
            </a:r>
          </a:p>
          <a:p xmlns:a="http://schemas.openxmlformats.org/drawingml/2006/main">
            <a:r>
              <a:t>Sources: docs/product_architecture.md sections 2 and 3; docs/model_notes.md.</a:t>
            </a:r>
          </a:p>
          <a:p xmlns:a="http://schemas.openxmlformats.org/drawingml/2006/main">
            <a:r>
              <a:t>All scalar-law outputs inherit the physical unit of the owning path: W/K for conductance and W for source heat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calculation using external_tools/comsol_chip_cooling/system.yaml and fitted_parameters.csv.</a:t>
            </a:r>
          </a:p>
          <a:p xmlns:a="http://schemas.openxmlformats.org/drawingml/2006/main">
            <a:r>
              <a:t>Generalized eigenproblem K phi = lambda C phi at the nominal fitted linear condition.</a:t>
            </a:r>
          </a:p>
          <a:p xmlns:a="http://schemas.openxmlformats.org/drawingml/2006/main">
            <a:r>
              <a:t>Derived modal time constants: 0.186 s, 2.028 s, and 425.354 s. These are model modes, not directly measured equipment constants.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5.</a:t>
            </a:r>
          </a:p>
          <a:p xmlns:a="http://schemas.openxmlformats.org/drawingml/2006/main">
            <a:r>
              <a:t>References: Van Loan (1978), Higham (2005), Dahlquist (1963).</a:t>
            </a:r>
          </a:p>
          <a:p xmlns:a="http://schemas.openxmlformats.org/drawingml/2006/main">
            <a:r>
              <a:t>The exact-affine solver removes time-discretization error only under the piecewise-constant coefficient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src/celltemp/learning/trainer.py and objective.py.</a:t>
            </a:r>
          </a:p>
          <a:p xmlns:a="http://schemas.openxmlformats.org/drawingml/2006/main">
            <a:r>
              <a:t>Example defaults: examples/topcell_quickstart/config.yaml and benchmarks/topcell/config.yaml.</a:t>
            </a:r>
          </a:p>
          <a:p xmlns:a="http://schemas.openxmlformats.org/drawingml/2006/main">
            <a:r>
              <a:t>The selected model is the state with minimum causal validation RMSE, not the final optimizer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6 and 7.</a:t>
            </a:r>
          </a:p>
          <a:p xmlns:a="http://schemas.openxmlformats.org/drawingml/2006/main">
            <a:r>
              <a:t>Parameter-specific DOE recommendations are engineering implications of the fitted three-mode time constants shown on slide 7.</a:t>
            </a:r>
          </a:p>
          <a:p xmlns:a="http://schemas.openxmlformats.org/drawingml/2006/main">
            <a:r>
              <a:t>Robust loss reference: Huber (1964). Optimizer reference: Kingma and Ba (2014).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src/celltemp/engine/rc.py, learning/objective.py, learning/trainer.py, inference.py, engine/observer.py.</a:t>
            </a:r>
          </a:p>
          <a:p xmlns:a="http://schemas.openxmlformats.org/drawingml/2006/main">
            <a:r>
              <a:t>Coverage source: src/celltemp/workflows/forecast.py.</a:t>
            </a:r>
          </a:p>
          <a:p xmlns:a="http://schemas.openxmlformats.org/drawingml/2006/main">
            <a:r>
              <a:t>Extension rule source: docs/product_architecture.md section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docs/product_architecture.md sections 2, 7, and 8.</a:t>
            </a:r>
          </a:p>
          <a:p xmlns:a="http://schemas.openxmlformats.org/drawingml/2006/main">
            <a:r>
              <a:t>Sources: src/celltemp/domain/trajectory.py, artifact.py, workflows/common.py, inference.py.</a:t>
            </a:r>
          </a:p>
          <a:p xmlns:a="http://schemas.openxmlformats.org/drawingml/2006/main">
            <a:r>
              <a:t>Artifact metadata schema version is 4 in the current repository implementation.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src/celltemp/cli.py, workflows/train.py, workflows/common.py, artifact.py.</a:t>
            </a:r>
          </a:p>
          <a:p xmlns:a="http://schemas.openxmlformats.org/drawingml/2006/main">
            <a:r>
              <a:t>Split grouping source: src/celltemp/learning/split.py.</a:t>
            </a:r>
          </a:p>
          <a:p xmlns:a="http://schemas.openxmlformats.org/drawingml/2006/main">
            <a:r>
              <a:t>The command shown is equivalent to the documented console entry point `celltemp train --config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7.</a:t>
            </a:r>
          </a:p>
          <a:p xmlns:a="http://schemas.openxmlformats.org/drawingml/2006/main">
            <a:r>
              <a:t>The causal cutoff is a data-contract requirement, not a presentation-only convention.</a:t>
            </a:r>
          </a:p>
          <a:p xmlns:a="http://schemas.openxmlformats.org/drawingml/2006/main">
            <a:r>
              <a:t>Uncertainty scope distinguishes propagated state covariance from parameter and model-form uncertainty.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 8.</a:t>
            </a:r>
          </a:p>
          <a:p xmlns:a="http://schemas.openxmlformats.org/drawingml/2006/main">
            <a:r>
              <a:t>Thresholds: chi-square quantiles at confidence 0.9999 used by external_tools/comsol_chip_cooling/evaluate.py.</a:t>
            </a:r>
          </a:p>
          <a:p xmlns:a="http://schemas.openxmlformats.org/drawingml/2006/main">
            <a:r>
              <a:t>References: Kalman (1960), Van Loan (1978), Bar-Shalom et al. (2001).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benchmarks/topcell/run.py and benchmarks/topcell/README.md.</a:t>
            </a:r>
          </a:p>
          <a:p xmlns:a="http://schemas.openxmlformats.org/drawingml/2006/main">
            <a:r>
              <a:t>Sources: external_tools/comsol_chip_cooling/run.py, evaluate.py, benchmark_high_fidelity.py.</a:t>
            </a:r>
          </a:p>
          <a:p xmlns:a="http://schemas.openxmlformats.org/drawingml/2006/main">
            <a:r>
              <a:t>Report source: external_tools/comsol_chip_cooling/reports/cae_benchmark_report/build_report.py and source_data/.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M03 trace: external_tools/comsol_chip_cooling/work/outputs/monitor/M03_sensor_offset.csv.</a:t>
            </a:r>
          </a:p>
          <a:p xmlns:a="http://schemas.openxmlformats.org/drawingml/2006/main">
            <a:r>
              <a:t>M05 estimate: external_tools/comsol_chip_cooling/work/outputs/monitor/M05_uncommanded_heat.csv.</a:t>
            </a:r>
          </a:p>
          <a:p xmlns:a="http://schemas.openxmlformats.org/drawingml/2006/main">
            <a:r>
              <a:t>M05 truth: external_tools/comsol_chip_cooling/data/eval/monitor/M05_uncommanded_heat.csv.</a:t>
            </a:r>
          </a:p>
          <a:p xmlns:a="http://schemas.openxmlformats.org/drawingml/2006/main">
            <a:r>
              <a:t>Metrics/events: external_tools/comsol_chip_cooling/work/evaluation/monitor_cases.csv and monitor_events.csv.</a:t>
            </a:r>
          </a:p>
          <a:p xmlns:a="http://schemas.openxmlformats.org/drawingml/2006/main">
            <a:r>
              <a:t>Charts use downsampled display points while preserving event start and first-detection timestamps.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benchmarks/topcell/work/outputs/benchmark/forecast_by_group.csv.</a:t>
            </a:r>
          </a:p>
          <a:p xmlns:a="http://schemas.openxmlformats.org/drawingml/2006/main">
            <a:r>
              <a:t>Source: benchmarks/topcell/work/outputs/benchmark/forecast_by_case.csv.</a:t>
            </a:r>
          </a:p>
          <a:p xmlns:a="http://schemas.openxmlformats.org/drawingml/2006/main">
            <a:r>
              <a:t>Source: benchmarks/topcell/work/outputs/benchmark/benchmark_summary.json.</a:t>
            </a:r>
          </a:p>
          <a:p xmlns:a="http://schemas.openxmlformats.org/drawingml/2006/main">
            <a:r>
              <a:t>F11 is an intentional model-form-gap case and is excluded from the core mean.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external_tools/comsol_chip_cooling/work/evaluation/forecast_cases.csv.</a:t>
            </a:r>
          </a:p>
          <a:p xmlns:a="http://schemas.openxmlformats.org/drawingml/2006/main">
            <a:r>
              <a:t>Parameters: external_tools/comsol_chip_cooling/work/evaluation/fitted_parameters.csv.</a:t>
            </a:r>
          </a:p>
          <a:p xmlns:a="http://schemas.openxmlformats.org/drawingml/2006/main">
            <a:r>
              <a:t>Hotspot metrics: external_tools/comsol_chip_cooling/data/qa_summary.csv and CAE report source data.</a:t>
            </a:r>
          </a:p>
          <a:p xmlns:a="http://schemas.openxmlformats.org/drawingml/2006/main">
            <a:r>
              <a:t>Reported model outputs are volume-average node temperatures; hotspot metrics are separate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external_tools/comsol_chip_cooling/reports/cae_benchmark_report/source_data/mesh_convergence.csv.</a:t>
            </a:r>
          </a:p>
          <a:p xmlns:a="http://schemas.openxmlformats.org/drawingml/2006/main">
            <a:r>
              <a:t>Source: external_tools/comsol_chip_cooling/docs/high_fidelity_validation.md.</a:t>
            </a:r>
          </a:p>
          <a:p xmlns:a="http://schemas.openxmlformats.org/drawingml/2006/main">
            <a:r>
              <a:t>The red dashed line is a visual guide for the documented strict-average criterion of 0.25 K.</a:t>
            </a:r>
          </a:p>
          <a:p xmlns:a="http://schemas.openxmlformats.org/drawingml/2006/main">
            <a:r>
              <a:t>Global-8 to local-coarse MC01 chip-average difference is 15.9128095 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High-fidelity metrics: external_tools/comsol_chip_cooling/reports/cae_benchmark_report/source_data/high_fidelity_case_metrics.csv.</a:t>
            </a:r>
          </a:p>
          <a:p xmlns:a="http://schemas.openxmlformats.org/drawingml/2006/main">
            <a:r>
              <a:t>Radiation trace: external_tools/comsol_chip_cooling/reports/cae_benchmark_report/source_data/high_fidelity_radiation_trace.csv.</a:t>
            </a:r>
          </a:p>
          <a:p xmlns:a="http://schemas.openxmlformats.org/drawingml/2006/main">
            <a:r>
              <a:t>At 220 s: truth radiation delta = -0.38133367 K; model delta = -0.00122234 K; conservative mesh difference = 0.4962085957 K.</a:t>
            </a:r>
          </a:p>
          <a:p xmlns:a="http://schemas.openxmlformats.org/drawingml/2006/main">
            <a:r>
              <a:t>Interpretation: absolute forecast screening improved, but the radiation sensitivity magnitude is not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cases are derived from the implemented forecast and monitor workflows documented in docs/technical_specification.md.</a:t>
            </a:r>
          </a:p>
          <a:p xmlns:a="http://schemas.openxmlformats.org/drawingml/2006/main">
            <a:r>
              <a:t>No runtime-speedup or cost-saving figure is claimed because the current benchmark does not report an end-to-end operational baseline.</a:t>
            </a:r>
          </a:p>
          <a:p xmlns:a="http://schemas.openxmlformats.org/drawingml/2006/main">
            <a:r>
              <a:t>Adoption gates are engineering recommendations for semiconductor-equipment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docs/technical_specification.md sections 11 and 12.</a:t>
            </a:r>
          </a:p>
          <a:p xmlns:a="http://schemas.openxmlformats.org/drawingml/2006/main">
            <a:r>
              <a:t>Validation stages are an equipment-engineering implementation plan derived from the current evidence gaps.</a:t>
            </a:r>
          </a:p>
          <a:p xmlns:a="http://schemas.openxmlformats.org/drawingml/2006/main">
            <a:r>
              <a:t>Acceptance thresholds must be agreed from FMEA, control specifications, and the product thermal budget before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R1 doi:10.1109/TVLSI.2006.876103.</a:t>
            </a:r>
          </a:p>
          <a:p xmlns:a="http://schemas.openxmlformats.org/drawingml/2006/main">
            <a:r>
              <a:t>R2 Farina and Rinaldi, Positive Linear Systems, Wiley.</a:t>
            </a:r>
          </a:p>
          <a:p xmlns:a="http://schemas.openxmlformats.org/drawingml/2006/main">
            <a:r>
              <a:t>R3 doi:10.1115/1.3662552.</a:t>
            </a:r>
          </a:p>
          <a:p xmlns:a="http://schemas.openxmlformats.org/drawingml/2006/main">
            <a:r>
              <a:t>R4 IEEE Transactions on Automatic Control 23(3), 1978.</a:t>
            </a:r>
          </a:p>
          <a:p xmlns:a="http://schemas.openxmlformats.org/drawingml/2006/main">
            <a:r>
              <a:t>R5 SIAM Journal on Matrix Analysis and Applications 26(4), 2005.</a:t>
            </a:r>
          </a:p>
          <a:p xmlns:a="http://schemas.openxmlformats.org/drawingml/2006/main">
            <a:r>
              <a:t>R6 doi:10.1214/aoms/1177703732.</a:t>
            </a:r>
          </a:p>
          <a:p xmlns:a="http://schemas.openxmlformats.org/drawingml/2006/main">
            <a:r>
              <a:t>R7 https://arxiv.org/abs/1412.6980.</a:t>
            </a:r>
          </a:p>
          <a:p xmlns:a="http://schemas.openxmlformats.org/drawingml/2006/main">
            <a:r>
              <a:t>Visual reference: https://www.tel.com/ir/library/report/i242su0000000goz-att/fy27q1presentations-e.pdf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a84ad34d7a41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9b9a9e364d4875" /><Relationship Type="http://schemas.openxmlformats.org/officeDocument/2006/relationships/slideLayout" Target="/ppt/slideLayouts/slideLayout1.xml" Id="R7d47c6aec8924d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47c6aec8924d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c25c4be8e64d27" /><Relationship Type="http://schemas.openxmlformats.org/officeDocument/2006/relationships/notesSlide" Target="/ppt/notesSlides/notesSlide1.xml" Id="R7d5bb37e67684f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202a090e9d4ca2" /><Relationship Type="http://schemas.openxmlformats.org/officeDocument/2006/relationships/notesSlide" Target="/ppt/notesSlides/notesSlide2.xml" Id="Rc7b72735e78845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a308037210f41cb" /><Relationship Type="http://schemas.openxmlformats.org/officeDocument/2006/relationships/notesSlide" Target="/ppt/notesSlides/notesSlide3.xml" Id="R03ed95bca3a346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63f7e82712d4767" /><Relationship Type="http://schemas.openxmlformats.org/officeDocument/2006/relationships/notesSlide" Target="/ppt/notesSlides/notesSlide4.xml" Id="R03f4b73f6e7c4a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37c92e8b64e4c6e" /><Relationship Type="http://schemas.openxmlformats.org/officeDocument/2006/relationships/notesSlide" Target="/ppt/notesSlides/notesSlide5.xml" Id="R18aa5974ea434d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d79397d38bd47ec" /><Relationship Type="http://schemas.openxmlformats.org/officeDocument/2006/relationships/notesSlide" Target="/ppt/notesSlides/notesSlide6.xml" Id="Ra38e63d7790847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413cf500654402c" /><Relationship Type="http://schemas.openxmlformats.org/officeDocument/2006/relationships/notesSlide" Target="/ppt/notesSlides/notesSlide7.xml" Id="R0613551723a649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0f8ecdae056435c" /><Relationship Type="http://schemas.openxmlformats.org/officeDocument/2006/relationships/notesSlide" Target="/ppt/notesSlides/notesSlide8.xml" Id="R62abe3085f4048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4d7cb10f0674ded" /><Relationship Type="http://schemas.openxmlformats.org/officeDocument/2006/relationships/notesSlide" Target="/ppt/notesSlides/notesSlide9.xml" Id="R21b0007166254d5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4dc32f5ecb4c13" /><Relationship Type="http://schemas.openxmlformats.org/officeDocument/2006/relationships/notesSlide" Target="/ppt/notesSlides/notesSlide10.xml" Id="R84753db0237446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de7654588ce49e4" /><Relationship Type="http://schemas.openxmlformats.org/officeDocument/2006/relationships/notesSlide" Target="/ppt/notesSlides/notesSlide11.xml" Id="R49a9f657f50e442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11951209b84a25" /><Relationship Type="http://schemas.openxmlformats.org/officeDocument/2006/relationships/notesSlide" Target="/ppt/notesSlides/notesSlide12.xml" Id="Rceff44cdf61440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6a1fdd6a0c04ef6" /><Relationship Type="http://schemas.openxmlformats.org/officeDocument/2006/relationships/notesSlide" Target="/ppt/notesSlides/notesSlide13.xml" Id="R8e5d8d58330d4a0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f1609f8feb843f9" /><Relationship Type="http://schemas.openxmlformats.org/officeDocument/2006/relationships/notesSlide" Target="/ppt/notesSlides/notesSlide14.xml" Id="R44b7eba2681549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a4c169455da4830" /><Relationship Type="http://schemas.openxmlformats.org/officeDocument/2006/relationships/notesSlide" Target="/ppt/notesSlides/notesSlide15.xml" Id="R455c7cc633474ac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32de48da9e7494d" /><Relationship Type="http://schemas.openxmlformats.org/officeDocument/2006/relationships/notesSlide" Target="/ppt/notesSlides/notesSlide16.xml" Id="R58bb72d53f6047e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03998233ccd4195" /><Relationship Type="http://schemas.openxmlformats.org/officeDocument/2006/relationships/notesSlide" Target="/ppt/notesSlides/notesSlide17.xml" Id="R2d76d27ea141455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cd2e261bd1e4abe" /><Relationship Type="http://schemas.openxmlformats.org/officeDocument/2006/relationships/notesSlide" Target="/ppt/notesSlides/notesSlide18.xml" Id="R112bf6568a5842d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480d2649d4349e0" /><Relationship Type="http://schemas.openxmlformats.org/officeDocument/2006/relationships/notesSlide" Target="/ppt/notesSlides/notesSlide19.xml" Id="R4e50a819a8544a7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b66a9b4c95640f6" /><Relationship Type="http://schemas.openxmlformats.org/officeDocument/2006/relationships/notesSlide" Target="/ppt/notesSlides/notesSlide20.xml" Id="Rb242b8f1d22f447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4530e9301274f60" /><Relationship Type="http://schemas.openxmlformats.org/officeDocument/2006/relationships/notesSlide" Target="/ppt/notesSlides/notesSlide21.xml" Id="Ra714b211af9f48e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7f035c4ac3d4c5a" /><Relationship Type="http://schemas.openxmlformats.org/officeDocument/2006/relationships/chart" Target="/ppt/slides/charts/chart1.xml" Id="R807b8603cbb24788" /><Relationship Type="http://schemas.openxmlformats.org/officeDocument/2006/relationships/chart" Target="/ppt/slides/charts/chart2.xml" Id="R45568f540ae94749" /><Relationship Type="http://schemas.openxmlformats.org/officeDocument/2006/relationships/notesSlide" Target="/ppt/notesSlides/notesSlide22.xml" Id="Rcc40145d41544f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7aef012a59400a" /><Relationship Type="http://schemas.openxmlformats.org/officeDocument/2006/relationships/chart" Target="/ppt/slides/charts/chart3.xml" Id="Rc69db61bfda5475e" /><Relationship Type="http://schemas.openxmlformats.org/officeDocument/2006/relationships/chart" Target="/ppt/slides/charts/chart4.xml" Id="R29ad4e0e9ce445ff" /><Relationship Type="http://schemas.openxmlformats.org/officeDocument/2006/relationships/notesSlide" Target="/ppt/notesSlides/notesSlide23.xml" Id="R62ef4755769b433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13191d5c0774ec9" /><Relationship Type="http://schemas.openxmlformats.org/officeDocument/2006/relationships/chart" Target="/ppt/slides/charts/chart5.xml" Id="Rfa9dc4b31d594495" /><Relationship Type="http://schemas.openxmlformats.org/officeDocument/2006/relationships/notesSlide" Target="/ppt/notesSlides/notesSlide24.xml" Id="Reba6f85a7dd64d5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60c73f3a18e4e3e" /><Relationship Type="http://schemas.openxmlformats.org/officeDocument/2006/relationships/chart" Target="/ppt/slides/charts/chart6.xml" Id="R57889adcef0744e3" /><Relationship Type="http://schemas.openxmlformats.org/officeDocument/2006/relationships/notesSlide" Target="/ppt/notesSlides/notesSlide25.xml" Id="R314488f87a7c44f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5c474f52d934f5f" /><Relationship Type="http://schemas.openxmlformats.org/officeDocument/2006/relationships/chart" Target="/ppt/slides/charts/chart7.xml" Id="Rd438537cf1924d21" /><Relationship Type="http://schemas.openxmlformats.org/officeDocument/2006/relationships/chart" Target="/ppt/slides/charts/chart8.xml" Id="Ra428246f8cdd48c6" /><Relationship Type="http://schemas.openxmlformats.org/officeDocument/2006/relationships/notesSlide" Target="/ppt/notesSlides/notesSlide26.xml" Id="Rc20ae9e1715e483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a0cc12c9aa7485e" /><Relationship Type="http://schemas.openxmlformats.org/officeDocument/2006/relationships/notesSlide" Target="/ppt/notesSlides/notesSlide27.xml" Id="Rdc996a0c1859478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dba656253fb403f" /><Relationship Type="http://schemas.openxmlformats.org/officeDocument/2006/relationships/notesSlide" Target="/ppt/notesSlides/notesSlide28.xml" Id="Re1da401d9fdb4ee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c19088bcba04caf" /><Relationship Type="http://schemas.openxmlformats.org/officeDocument/2006/relationships/notesSlide" Target="/ppt/notesSlides/notesSlide29.xml" Id="R091a4e1bdd2349aa" /></Relationships>
</file>

<file path=ppt/slides/charts/chart1.xml><?xml version="1.0" encoding="utf-8"?>
<c:chartSpace xmlns:c="http://schemas.openxmlformats.org/drawingml/2006/chart">
  <c:lang val="en-US"/>
  <c:chart>
    <c:plotArea>
      <c:lineChart>
        <c:grouping val="standard"/>
        <c:varyColors val="0"/>
        <c:ser>
          <c:idx val="0"/>
          <c:order val="0"/>
          <c:tx>
            <c:v>NIS / threshold</c:v>
          </c:tx>
          <c:spPr>
            <a:ln xmlns:a="http://schemas.openxmlformats.org/drawingml/2006/main" w="28575">
              <a:solidFill>
                <a:srgbClr val="7B2DAF"/>
              </a:solidFill>
              <a:prstDash val="solid"/>
            </a:ln>
          </c:spPr>
          <c:marker>
            <c:symbol val="circle"/>
            <c:size val="4"/>
            <c:spPr>
              <a:solidFill xmlns:a="http://schemas.openxmlformats.org/drawingml/2006/main">
                <a:srgbClr val="7B2DAF"/>
              </a:solidFill>
            </c:spPr>
          </c:marker>
          <c:cat>
            <c:numLit>
              <c:formatCode>General</c:formatCode>
              <c:ptCount val="7"/>
              <c:pt idx="0">
                <c:v>270</c:v>
              </c:pt>
              <c:pt idx="1">
                <c:v>280</c:v>
              </c:pt>
              <c:pt idx="2">
                <c:v>290</c:v>
              </c:pt>
              <c:pt idx="3">
                <c:v>300</c:v>
              </c:pt>
              <c:pt idx="4">
                <c:v>310</c:v>
              </c:pt>
              <c:pt idx="5">
                <c:v>320</c:v>
              </c:pt>
              <c:pt idx="6">
                <c:v>330</c:v>
              </c:pt>
            </c:numLit>
          </c:cat>
          <c:val>
            <c:numLit>
              <c:formatCode>0</c:formatCode>
              <c:ptCount val="7"/>
              <c:pt idx="0">
                <c:v>0.14996139382261342</c:v>
              </c:pt>
              <c:pt idx="1">
                <c:v>0.071175750200796</c:v>
              </c:pt>
              <c:pt idx="2">
                <c:v>0.11192551014700317</c:v>
              </c:pt>
              <c:pt idx="3">
                <c:v>19.107189007272705</c:v>
              </c:pt>
              <c:pt idx="4">
                <c:v>18.749142383005655</c:v>
              </c:pt>
              <c:pt idx="5">
                <c:v>16.301546321778073</c:v>
              </c:pt>
              <c:pt idx="6">
                <c:v>12.866841582465351</c:v>
              </c:pt>
            </c:numLit>
          </c:val>
          <c:smooth val="0"/>
        </c:ser>
        <c:ser>
          <c:idx val="1"/>
          <c:order val="1"/>
          <c:tx>
            <c:v>alarm threshold</c:v>
          </c:tx>
          <c:spPr>
            <a:ln xmlns:a="http://schemas.openxmlformats.org/drawingml/2006/main" w="19050">
              <a:solidFill>
                <a:srgbClr val="C4493D"/>
              </a:solidFill>
              <a:prstDash val="dash"/>
            </a:ln>
          </c:spPr>
          <c:marker>
            <c:symbol val="none"/>
          </c:marker>
          <c:cat>
            <c:numLit>
              <c:formatCode>General</c:formatCode>
              <c:ptCount val="7"/>
              <c:pt idx="0">
                <c:v>270</c:v>
              </c:pt>
              <c:pt idx="1">
                <c:v>280</c:v>
              </c:pt>
              <c:pt idx="2">
                <c:v>290</c:v>
              </c:pt>
              <c:pt idx="3">
                <c:v>300</c:v>
              </c:pt>
              <c:pt idx="4">
                <c:v>310</c:v>
              </c:pt>
              <c:pt idx="5">
                <c:v>320</c:v>
              </c:pt>
              <c:pt idx="6">
                <c:v>330</c:v>
              </c:pt>
            </c:numLit>
          </c:cat>
          <c:val>
            <c:numLit>
              <c:formatCode>0</c:formatCode>
              <c:ptCount val="7"/>
              <c:pt idx="0">
                <c:v>1</c:v>
              </c:pt>
              <c:pt idx="1">
                <c:v>1</c:v>
              </c:pt>
              <c:pt idx="2">
                <c:v>1</c:v>
              </c:pt>
              <c:pt idx="3">
                <c:v>1</c:v>
              </c:pt>
              <c:pt idx="4">
                <c:v>1</c:v>
              </c:pt>
              <c:pt idx="5">
                <c:v>1</c:v>
              </c:pt>
              <c:pt idx="6">
                <c:v>1</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max val="20"/>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normalized NIS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2.xml><?xml version="1.0" encoding="utf-8"?>
<c:chartSpace xmlns:c="http://schemas.openxmlformats.org/drawingml/2006/chart">
  <c:lang val="en-US"/>
  <c:chart>
    <c:plotArea>
      <c:lineChart>
        <c:grouping val="standard"/>
        <c:varyColors val="0"/>
        <c:ser>
          <c:idx val="0"/>
          <c:order val="0"/>
          <c:tx>
            <c:v>truth hidden heat</c:v>
          </c:tx>
          <c:spPr>
            <a:ln xmlns:a="http://schemas.openxmlformats.org/drawingml/2006/main" w="28575">
              <a:solidFill>
                <a:srgbClr val="3F3F3F"/>
              </a:solidFill>
              <a:prstDash val="solid"/>
            </a:ln>
          </c:spPr>
          <c:marker>
            <c:symbol val="none"/>
          </c:marker>
          <c:cat>
            <c:numLit>
              <c:formatCode>General</c:formatCode>
              <c:ptCount val="21"/>
              <c:pt idx="0">
                <c:v>250</c:v>
              </c:pt>
              <c:pt idx="1">
                <c:v>260</c:v>
              </c:pt>
              <c:pt idx="2">
                <c:v>270</c:v>
              </c:pt>
              <c:pt idx="3">
                <c:v>280</c:v>
              </c:pt>
              <c:pt idx="4">
                <c:v>282</c:v>
              </c:pt>
              <c:pt idx="5">
                <c:v>290</c:v>
              </c:pt>
              <c:pt idx="6">
                <c:v>292</c:v>
              </c:pt>
              <c:pt idx="7">
                <c:v>300</c:v>
              </c:pt>
              <c:pt idx="8">
                <c:v>310</c:v>
              </c:pt>
              <c:pt idx="9">
                <c:v>320</c:v>
              </c:pt>
              <c:pt idx="10">
                <c:v>330</c:v>
              </c:pt>
              <c:pt idx="11">
                <c:v>340</c:v>
              </c:pt>
              <c:pt idx="12">
                <c:v>350</c:v>
              </c:pt>
              <c:pt idx="13">
                <c:v>360</c:v>
              </c:pt>
              <c:pt idx="14">
                <c:v>370</c:v>
              </c:pt>
              <c:pt idx="15">
                <c:v>380</c:v>
              </c:pt>
              <c:pt idx="16">
                <c:v>382</c:v>
              </c:pt>
              <c:pt idx="17">
                <c:v>390</c:v>
              </c:pt>
              <c:pt idx="18">
                <c:v>400</c:v>
              </c:pt>
              <c:pt idx="19">
                <c:v>410</c:v>
              </c:pt>
              <c:pt idx="20">
                <c:v>420</c:v>
              </c:pt>
            </c:numLit>
          </c:cat>
          <c:val>
            <c:numLit>
              <c:formatCode>0.0</c:formatCode>
              <c:ptCount val="21"/>
              <c:pt idx="0">
                <c:v>0</c:v>
              </c:pt>
              <c:pt idx="1">
                <c:v>0</c:v>
              </c:pt>
              <c:pt idx="2">
                <c:v>0</c:v>
              </c:pt>
              <c:pt idx="3">
                <c:v>0</c:v>
              </c:pt>
              <c:pt idx="4">
                <c:v>3</c:v>
              </c:pt>
              <c:pt idx="5">
                <c:v>3</c:v>
              </c:pt>
              <c:pt idx="6">
                <c:v>3</c:v>
              </c:pt>
              <c:pt idx="7">
                <c:v>3</c:v>
              </c:pt>
              <c:pt idx="8">
                <c:v>3</c:v>
              </c:pt>
              <c:pt idx="9">
                <c:v>3</c:v>
              </c:pt>
              <c:pt idx="10">
                <c:v>3</c:v>
              </c:pt>
              <c:pt idx="11">
                <c:v>3</c:v>
              </c:pt>
              <c:pt idx="12">
                <c:v>3</c:v>
              </c:pt>
              <c:pt idx="13">
                <c:v>3</c:v>
              </c:pt>
              <c:pt idx="14">
                <c:v>3</c:v>
              </c:pt>
              <c:pt idx="15">
                <c:v>3</c:v>
              </c:pt>
              <c:pt idx="16">
                <c:v>0</c:v>
              </c:pt>
              <c:pt idx="17">
                <c:v>0</c:v>
              </c:pt>
              <c:pt idx="18">
                <c:v>0</c:v>
              </c:pt>
              <c:pt idx="19">
                <c:v>0</c:v>
              </c:pt>
              <c:pt idx="20">
                <c:v>0</c:v>
              </c:pt>
            </c:numLit>
          </c:val>
          <c:smooth val="0"/>
        </c:ser>
        <c:ser>
          <c:idx val="1"/>
          <c:order val="1"/>
          <c:tx>
            <c:v>estimated disturbance</c:v>
          </c:tx>
          <c:spPr>
            <a:ln xmlns:a="http://schemas.openxmlformats.org/drawingml/2006/main" w="28575">
              <a:solidFill>
                <a:srgbClr val="00A5D8"/>
              </a:solidFill>
              <a:prstDash val="solid"/>
            </a:ln>
          </c:spPr>
          <c:marker>
            <c:symbol val="circle"/>
            <c:size val="4"/>
            <c:spPr>
              <a:solidFill xmlns:a="http://schemas.openxmlformats.org/drawingml/2006/main">
                <a:srgbClr val="00A5D8"/>
              </a:solidFill>
            </c:spPr>
          </c:marker>
          <c:cat>
            <c:numLit>
              <c:formatCode>General</c:formatCode>
              <c:ptCount val="21"/>
              <c:pt idx="0">
                <c:v>250</c:v>
              </c:pt>
              <c:pt idx="1">
                <c:v>260</c:v>
              </c:pt>
              <c:pt idx="2">
                <c:v>270</c:v>
              </c:pt>
              <c:pt idx="3">
                <c:v>280</c:v>
              </c:pt>
              <c:pt idx="4">
                <c:v>282</c:v>
              </c:pt>
              <c:pt idx="5">
                <c:v>290</c:v>
              </c:pt>
              <c:pt idx="6">
                <c:v>292</c:v>
              </c:pt>
              <c:pt idx="7">
                <c:v>300</c:v>
              </c:pt>
              <c:pt idx="8">
                <c:v>310</c:v>
              </c:pt>
              <c:pt idx="9">
                <c:v>320</c:v>
              </c:pt>
              <c:pt idx="10">
                <c:v>330</c:v>
              </c:pt>
              <c:pt idx="11">
                <c:v>340</c:v>
              </c:pt>
              <c:pt idx="12">
                <c:v>350</c:v>
              </c:pt>
              <c:pt idx="13">
                <c:v>360</c:v>
              </c:pt>
              <c:pt idx="14">
                <c:v>370</c:v>
              </c:pt>
              <c:pt idx="15">
                <c:v>380</c:v>
              </c:pt>
              <c:pt idx="16">
                <c:v>382</c:v>
              </c:pt>
              <c:pt idx="17">
                <c:v>390</c:v>
              </c:pt>
              <c:pt idx="18">
                <c:v>400</c:v>
              </c:pt>
              <c:pt idx="19">
                <c:v>410</c:v>
              </c:pt>
              <c:pt idx="20">
                <c:v>420</c:v>
              </c:pt>
            </c:numLit>
          </c:cat>
          <c:val>
            <c:numLit>
              <c:formatCode>0.0</c:formatCode>
              <c:ptCount val="21"/>
              <c:pt idx="0">
                <c:v>0.03360968147193544</c:v>
              </c:pt>
              <c:pt idx="1">
                <c:v>-0.035886283053816324</c:v>
              </c:pt>
              <c:pt idx="2">
                <c:v>-0.03741949195587052</c:v>
              </c:pt>
              <c:pt idx="3">
                <c:v>-0.061647723741180147</c:v>
              </c:pt>
              <c:pt idx="4">
                <c:v>-0.07146955455702154</c:v>
              </c:pt>
              <c:pt idx="5">
                <c:v>0.11469420860490795</c:v>
              </c:pt>
              <c:pt idx="6">
                <c:v>0.24686282424242165</c:v>
              </c:pt>
              <c:pt idx="7">
                <c:v>0.636563711755409</c:v>
              </c:pt>
              <c:pt idx="8">
                <c:v>1.284475744891174</c:v>
              </c:pt>
              <c:pt idx="9">
                <c:v>1.8948691173207985</c:v>
              </c:pt>
              <c:pt idx="10">
                <c:v>2.2668685000112023</c:v>
              </c:pt>
              <c:pt idx="11">
                <c:v>2.5700216887680107</c:v>
              </c:pt>
              <c:pt idx="12">
                <c:v>2.7862118092493575</c:v>
              </c:pt>
              <c:pt idx="13">
                <c:v>3.0754272736641157</c:v>
              </c:pt>
              <c:pt idx="14">
                <c:v>3.1695509773601676</c:v>
              </c:pt>
              <c:pt idx="15">
                <c:v>3.1324595955393257</c:v>
              </c:pt>
              <c:pt idx="16">
                <c:v>3.1212384113914857</c:v>
              </c:pt>
              <c:pt idx="17">
                <c:v>2.982580359018794</c:v>
              </c:pt>
              <c:pt idx="18">
                <c:v>2.500219345157469</c:v>
              </c:pt>
              <c:pt idx="19">
                <c:v>1.876142783364904</c:v>
              </c:pt>
              <c:pt idx="20">
                <c:v>1.295591296954063</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max val="4"/>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heat [W]</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mean RMSE</c:v>
          </c:tx>
          <c:spPr>
            <a:solidFill xmlns:a="http://schemas.openxmlformats.org/drawingml/2006/main">
              <a:srgbClr val="00A5D8"/>
            </a:solidFill>
          </c:spPr>
          <c:dPt>
            <c:idx val="0"/>
            <c:invertIfNegative val="0"/>
            <c:spPr>
              <a:solidFill xmlns:a="http://schemas.openxmlformats.org/drawingml/2006/main">
                <a:srgbClr val="00A5D8"/>
              </a:solidFill>
            </c:spPr>
          </c:dPt>
          <c:dPt>
            <c:idx val="1"/>
            <c:invertIfNegative val="0"/>
            <c:spPr>
              <a:solidFill xmlns:a="http://schemas.openxmlformats.org/drawingml/2006/main">
                <a:srgbClr val="00A5D8"/>
              </a:solidFill>
            </c:spPr>
          </c:dPt>
          <c:dPt>
            <c:idx val="2"/>
            <c:invertIfNegative val="0"/>
            <c:spPr>
              <a:solidFill xmlns:a="http://schemas.openxmlformats.org/drawingml/2006/main">
                <a:srgbClr val="00A5D8"/>
              </a:solidFill>
            </c:spPr>
          </c:dPt>
          <c:dPt>
            <c:idx val="3"/>
            <c:invertIfNegative val="0"/>
            <c:spPr>
              <a:solidFill xmlns:a="http://schemas.openxmlformats.org/drawingml/2006/main">
                <a:srgbClr val="7B2DAF"/>
              </a:solidFill>
            </c:spPr>
          </c:dPt>
          <c:dPt>
            <c:idx val="4"/>
            <c:invertIfNegative val="0"/>
            <c:spPr>
              <a:solidFill xmlns:a="http://schemas.openxmlformats.org/drawingml/2006/main">
                <a:srgbClr val="00A5D8"/>
              </a:solidFill>
            </c:spPr>
          </c:dPt>
          <c:cat>
            <c:strLit>
              <c:ptCount val="5"/>
              <c:pt idx="0">
                <c:v>interpolation</c:v>
              </c:pt>
              <c:pt idx="1">
                <c:v>extrapolation</c:v>
              </c:pt>
              <c:pt idx="2">
                <c:v>dynamics</c:v>
              </c:pt>
              <c:pt idx="3">
                <c:v>initialization</c:v>
              </c:pt>
              <c:pt idx="4">
                <c:v>sampling</c:v>
              </c:pt>
            </c:strLit>
          </c:cat>
          <c:val>
            <c:numLit>
              <c:formatCode>0.000</c:formatCode>
              <c:ptCount val="5"/>
              <c:pt idx="0">
                <c:v>0.0214493</c:v>
              </c:pt>
              <c:pt idx="1">
                <c:v>0.0162405</c:v>
              </c:pt>
              <c:pt idx="2">
                <c:v>0.0316377</c:v>
              </c:pt>
              <c:pt idx="3">
                <c:v>0.4505383</c:v>
              </c:pt>
              <c:pt idx="4">
                <c:v>0.0501233</c:v>
              </c:pt>
            </c:numLit>
          </c:val>
        </c:ser>
        <c:dLbls>
          <c:txPr>
            <a:bodyPr xmlns:a="http://schemas.openxmlformats.org/drawingml/2006/main" anchorCtr="1"/>
            <a:lstStyle xmlns:a="http://schemas.openxmlformats.org/drawingml/2006/main"/>
            <a:p xmlns:a="http://schemas.openxmlformats.org/drawingml/2006/main">
              <a:pPr>
                <a:defRPr sz="750"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F2F2F2"/>
              </a:solidFill>
              <a:prstDash val="solid"/>
            </a:ln>
          </c:spPr>
        </c:majorGridlines>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RMSE</c:v>
          </c:tx>
          <c:spPr>
            <a:solidFill xmlns:a="http://schemas.openxmlformats.org/drawingml/2006/main">
              <a:srgbClr val="7B2DAF"/>
            </a:solidFill>
          </c:spPr>
          <c:dPt>
            <c:idx val="0"/>
            <c:invertIfNegative val="0"/>
            <c:spPr>
              <a:solidFill xmlns:a="http://schemas.openxmlformats.org/drawingml/2006/main">
                <a:srgbClr val="7B2DAF"/>
              </a:solidFill>
            </c:spPr>
          </c:dPt>
          <c:dPt>
            <c:idx val="1"/>
            <c:invertIfNegative val="0"/>
            <c:spPr>
              <a:solidFill xmlns:a="http://schemas.openxmlformats.org/drawingml/2006/main">
                <a:srgbClr val="76BE18"/>
              </a:solidFill>
            </c:spPr>
          </c:dPt>
          <c:cat>
            <c:strLit>
              <c:ptCount val="2"/>
              <c:pt idx="0">
                <c:v>F09
sparse initial</c:v>
              </c:pt>
              <c:pt idx="1">
                <c:v>F12
history initialized</c:v>
              </c:pt>
            </c:strLit>
          </c:cat>
          <c:val>
            <c:numLit>
              <c:formatCode>0.000</c:formatCode>
              <c:ptCount val="2"/>
              <c:pt idx="0">
                <c:v>1.3026766</c:v>
              </c:pt>
              <c:pt idx="1">
                <c:v>0.0380944</c:v>
              </c:pt>
            </c:numLit>
          </c:val>
        </c:ser>
        <c:dLbls>
          <c:txPr>
            <a:bodyPr xmlns:a="http://schemas.openxmlformats.org/drawingml/2006/main" anchorCtr="1"/>
            <a:lstStyle xmlns:a="http://schemas.openxmlformats.org/drawingml/2006/main"/>
            <a:p xmlns:a="http://schemas.openxmlformats.org/drawingml/2006/main">
              <a:pPr>
                <a:defRPr sz="825"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88">
                <a:solidFill>
                  <a:srgbClr val="5B5B5B"/>
                </a:solidFill>
                <a:latin typeface="Yu Gothic"/>
                <a:ea typeface="Yu Gothic"/>
                <a:cs typeface="Yu Gothic"/>
              </a:defRPr>
            </a:pPr>
          </a:p>
        </c:txPr>
        <c:crossAx val="48672768"/>
      </c:catAx>
      <c:valAx>
        <c:axId val="48672768"/>
        <c:scaling>
          <c:orientation val="minMax"/>
          <c:max val="1.5"/>
          <c:min val="0"/>
        </c:scaling>
        <c:delete val="0"/>
        <c:axPos val="l"/>
        <c:majorGridlines>
          <c:spPr>
            <a:ln xmlns:a="http://schemas.openxmlformats.org/drawingml/2006/main" w="9525">
              <a:solidFill>
                <a:srgbClr val="F2F2F2"/>
              </a:solidFill>
              <a:prstDash val="solid"/>
            </a:ln>
          </c:spPr>
        </c:majorGridlines>
        <c:numFmt formatCode="0.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25"/>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5.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1050" b="1">
                <a:solidFill>
                  <a:srgbClr val="3F3F3F"/>
                </a:solidFill>
                <a:latin typeface="Yu Gothic"/>
                <a:ea typeface="Yu Gothic"/>
                <a:cs typeface="Yu Gothic"/>
              </a:rPr>
              <a:t>external forecast RMSE [K]</a:t>
            </a:r>
          </a:p>
        </c:rich>
      </c:tx>
      <c:overlay val="0"/>
      <c:txPr>
        <a:bodyPr xmlns:a="http://schemas.openxmlformats.org/drawingml/2006/main" anchorCtr="1"/>
        <a:lstStyle xmlns:a="http://schemas.openxmlformats.org/drawingml/2006/main"/>
        <a:p xmlns:a="http://schemas.openxmlformats.org/drawingml/2006/main">
          <a:pPr>
            <a:defRPr sz="1050" b="1">
              <a:solidFill>
                <a:srgbClr val="3F3F3F"/>
              </a:solidFill>
              <a:latin typeface="Yu Gothic"/>
              <a:ea typeface="Yu Gothic"/>
              <a:cs typeface="Yu Gothic"/>
            </a:defRPr>
          </a:pPr>
        </a:p>
      </c:txPr>
    </c:title>
    <c:plotArea>
      <c:barChart>
        <c:barDir val="col"/>
        <c:grouping val="clustered"/>
        <c:varyColors val="0"/>
        <c:ser>
          <c:idx val="0"/>
          <c:order val="0"/>
          <c:tx>
            <c:v>RMSE</c:v>
          </c:tx>
          <c:spPr>
            <a:solidFill xmlns:a="http://schemas.openxmlformats.org/drawingml/2006/main">
              <a:srgbClr val="00A5D8"/>
            </a:solidFill>
          </c:spPr>
          <c:dPt>
            <c:idx val="0"/>
            <c:invertIfNegative val="0"/>
            <c:spPr>
              <a:solidFill xmlns:a="http://schemas.openxmlformats.org/drawingml/2006/main">
                <a:srgbClr val="00A5D8"/>
              </a:solidFill>
            </c:spPr>
          </c:dPt>
          <c:dPt>
            <c:idx val="1"/>
            <c:invertIfNegative val="0"/>
            <c:spPr>
              <a:solidFill xmlns:a="http://schemas.openxmlformats.org/drawingml/2006/main">
                <a:srgbClr val="00A5D8"/>
              </a:solidFill>
            </c:spPr>
          </c:dPt>
          <c:dPt>
            <c:idx val="2"/>
            <c:invertIfNegative val="0"/>
            <c:spPr>
              <a:solidFill xmlns:a="http://schemas.openxmlformats.org/drawingml/2006/main">
                <a:srgbClr val="00A5D8"/>
              </a:solidFill>
            </c:spPr>
          </c:dPt>
          <c:dPt>
            <c:idx val="3"/>
            <c:invertIfNegative val="0"/>
            <c:spPr>
              <a:solidFill xmlns:a="http://schemas.openxmlformats.org/drawingml/2006/main">
                <a:srgbClr val="00A5D8"/>
              </a:solidFill>
            </c:spPr>
          </c:dPt>
          <c:dPt>
            <c:idx val="4"/>
            <c:invertIfNegative val="0"/>
            <c:spPr>
              <a:solidFill xmlns:a="http://schemas.openxmlformats.org/drawingml/2006/main">
                <a:srgbClr val="7B2DAF"/>
              </a:solidFill>
            </c:spPr>
          </c:dPt>
          <c:dPt>
            <c:idx val="5"/>
            <c:invertIfNegative val="0"/>
            <c:spPr>
              <a:solidFill xmlns:a="http://schemas.openxmlformats.org/drawingml/2006/main">
                <a:srgbClr val="00A5D8"/>
              </a:solidFill>
            </c:spPr>
          </c:dPt>
          <c:dPt>
            <c:idx val="6"/>
            <c:invertIfNegative val="0"/>
            <c:spPr>
              <a:solidFill xmlns:a="http://schemas.openxmlformats.org/drawingml/2006/main">
                <a:srgbClr val="00A5D8"/>
              </a:solidFill>
            </c:spPr>
          </c:dPt>
          <c:dPt>
            <c:idx val="7"/>
            <c:invertIfNegative val="0"/>
            <c:spPr>
              <a:solidFill xmlns:a="http://schemas.openxmlformats.org/drawingml/2006/main">
                <a:srgbClr val="00A5D8"/>
              </a:solidFill>
            </c:spPr>
          </c:dPt>
          <c:cat>
            <c:strLit>
              <c:ptCount val="8"/>
              <c:pt idx="0">
                <c:v>F01</c:v>
              </c:pt>
              <c:pt idx="1">
                <c:v>F02</c:v>
              </c:pt>
              <c:pt idx="2">
                <c:v>F03</c:v>
              </c:pt>
              <c:pt idx="3">
                <c:v>F04</c:v>
              </c:pt>
              <c:pt idx="4">
                <c:v>F05</c:v>
              </c:pt>
              <c:pt idx="5">
                <c:v>F06</c:v>
              </c:pt>
              <c:pt idx="6">
                <c:v>F07</c:v>
              </c:pt>
              <c:pt idx="7">
                <c:v>F08</c:v>
              </c:pt>
            </c:strLit>
          </c:cat>
          <c:val>
            <c:numLit>
              <c:formatCode>0.000</c:formatCode>
              <c:ptCount val="8"/>
              <c:pt idx="0">
                <c:v>0.006395705</c:v>
              </c:pt>
              <c:pt idx="1">
                <c:v>0.024712004</c:v>
              </c:pt>
              <c:pt idx="2">
                <c:v>0.014252666</c:v>
              </c:pt>
              <c:pt idx="3">
                <c:v>0.020676293</c:v>
              </c:pt>
              <c:pt idx="4">
                <c:v>0.0829737</c:v>
              </c:pt>
              <c:pt idx="5">
                <c:v>0.058981351</c:v>
              </c:pt>
              <c:pt idx="6">
                <c:v>0.038589825</c:v>
              </c:pt>
              <c:pt idx="7">
                <c:v>0.04362931</c:v>
              </c:pt>
            </c:numLit>
          </c:val>
        </c:ser>
        <c:dLbls>
          <c:txPr>
            <a:bodyPr xmlns:a="http://schemas.openxmlformats.org/drawingml/2006/main" anchorCtr="1"/>
            <a:lstStyle xmlns:a="http://schemas.openxmlformats.org/drawingml/2006/main"/>
            <a:p xmlns:a="http://schemas.openxmlformats.org/drawingml/2006/main">
              <a:pPr>
                <a:defRPr sz="713"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72768"/>
      </c:catAx>
      <c:valAx>
        <c:axId val="48672768"/>
        <c:scaling>
          <c:orientation val="minMax"/>
          <c:max val="0.1"/>
          <c:min val="0"/>
        </c:scaling>
        <c:delete val="0"/>
        <c:axPos val="l"/>
        <c:majorGridlines>
          <c:spPr>
            <a:ln xmlns:a="http://schemas.openxmlformats.org/drawingml/2006/main" w="9525">
              <a:solidFill>
                <a:srgbClr val="F2F2F2"/>
              </a:solidFill>
              <a:prstDash val="solid"/>
            </a:ln>
          </c:spPr>
        </c:majorGridlines>
        <c:numFmt formatCode="0.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02"/>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6.xml><?xml version="1.0" encoding="utf-8"?>
<c:chartSpace xmlns:c="http://schemas.openxmlformats.org/drawingml/2006/chart">
  <c:lang val="en-US"/>
  <c:chart>
    <c:plotArea>
      <c:barChart>
        <c:barDir val="col"/>
        <c:grouping val="clustered"/>
        <c:varyColors val="0"/>
        <c:ser>
          <c:idx val="0"/>
          <c:order val="0"/>
          <c:tx>
            <c:v>|medium − fine|</c:v>
          </c:tx>
          <c:spPr>
            <a:solidFill xmlns:a="http://schemas.openxmlformats.org/drawingml/2006/main">
              <a:srgbClr val="E5A900"/>
            </a:solidFill>
          </c:spPr>
          <c:dPt>
            <c:idx val="0"/>
            <c:invertIfNegative val="0"/>
            <c:spPr>
              <a:solidFill xmlns:a="http://schemas.openxmlformats.org/drawingml/2006/main">
                <a:srgbClr val="E5A900"/>
              </a:solidFill>
            </c:spPr>
          </c:dPt>
          <c:dPt>
            <c:idx val="1"/>
            <c:invertIfNegative val="0"/>
            <c:spPr>
              <a:solidFill xmlns:a="http://schemas.openxmlformats.org/drawingml/2006/main">
                <a:srgbClr val="76BE18"/>
              </a:solidFill>
            </c:spPr>
          </c:dPt>
          <c:cat>
            <c:strLit>
              <c:ptCount val="2"/>
              <c:pt idx="0">
                <c:v>MC01</c:v>
              </c:pt>
              <c:pt idx="1">
                <c:v>MC02</c:v>
              </c:pt>
            </c:strLit>
          </c:cat>
          <c:val>
            <c:numLit>
              <c:formatCode>0.000</c:formatCode>
              <c:ptCount val="2"/>
              <c:pt idx="0">
                <c:v>0.4962086</c:v>
              </c:pt>
              <c:pt idx="1">
                <c:v>0.1544275</c:v>
              </c:pt>
            </c:numLit>
          </c:val>
        </c:ser>
        <c:dLbls>
          <c:txPr>
            <a:bodyPr xmlns:a="http://schemas.openxmlformats.org/drawingml/2006/main" anchorCtr="1"/>
            <a:lstStyle xmlns:a="http://schemas.openxmlformats.org/drawingml/2006/main"/>
            <a:p xmlns:a="http://schemas.openxmlformats.org/drawingml/2006/main">
              <a:pPr>
                <a:defRPr sz="825"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825">
                <a:solidFill>
                  <a:srgbClr val="5B5B5B"/>
                </a:solidFill>
                <a:latin typeface="Yu Gothic"/>
                <a:ea typeface="Yu Gothic"/>
                <a:cs typeface="Yu Gothic"/>
              </a:defRPr>
            </a:pPr>
          </a:p>
        </c:txPr>
        <c:crossAx val="48672768"/>
      </c:catAx>
      <c:valAx>
        <c:axId val="48672768"/>
        <c:scaling>
          <c:orientation val="minMax"/>
          <c:max val="0.6"/>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chip-average ΔT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slides/charts/chart7.xml><?xml version="1.0" encoding="utf-8"?>
<c:chartSpace xmlns:c="http://schemas.openxmlformats.org/drawingml/2006/chart">
  <c:lang val="en-US"/>
  <c:chart>
    <c:plotArea>
      <c:barChart>
        <c:barDir val="col"/>
        <c:grouping val="clustered"/>
        <c:varyColors val="0"/>
        <c:ser>
          <c:idx val="0"/>
          <c:order val="0"/>
          <c:tx>
            <c:v>learned</c:v>
          </c:tx>
          <c:spPr>
            <a:solidFill xmlns:a="http://schemas.openxmlformats.org/drawingml/2006/main">
              <a:srgbClr val="00A5D8"/>
            </a:solidFill>
          </c:spPr>
          <c:cat>
            <c:strLit>
              <c:ptCount val="2"/>
              <c:pt idx="0">
                <c:v>HV01
conjugate</c:v>
              </c:pt>
              <c:pt idx="1">
                <c:v>HV02
radiation</c:v>
              </c:pt>
            </c:strLit>
          </c:cat>
          <c:val>
            <c:numLit>
              <c:formatCode>0.000</c:formatCode>
              <c:ptCount val="2"/>
              <c:pt idx="0">
                <c:v>0.047653</c:v>
              </c:pt>
              <c:pt idx="1">
                <c:v>0.143584</c:v>
              </c:pt>
            </c:numLit>
          </c:val>
        </c:ser>
        <c:ser>
          <c:idx val="1"/>
          <c:order val="1"/>
          <c:tx>
            <c:v>prior</c:v>
          </c:tx>
          <c:spPr>
            <a:solidFill xmlns:a="http://schemas.openxmlformats.org/drawingml/2006/main">
              <a:srgbClr val="D6D6D6"/>
            </a:solidFill>
          </c:spPr>
          <c:cat>
            <c:strLit>
              <c:ptCount val="2"/>
              <c:pt idx="0">
                <c:v>HV01
conjugate</c:v>
              </c:pt>
              <c:pt idx="1">
                <c:v>HV02
radiation</c:v>
              </c:pt>
            </c:strLit>
          </c:cat>
          <c:val>
            <c:numLit>
              <c:formatCode>0.000</c:formatCode>
              <c:ptCount val="2"/>
              <c:pt idx="0">
                <c:v>0.976932</c:v>
              </c:pt>
              <c:pt idx="1">
                <c:v>0.800906</c:v>
              </c:pt>
            </c:numLit>
          </c:val>
        </c:ser>
        <c:dLbls>
          <c:txPr>
            <a:bodyPr xmlns:a="http://schemas.openxmlformats.org/drawingml/2006/main" anchorCtr="1"/>
            <a:lstStyle xmlns:a="http://schemas.openxmlformats.org/drawingml/2006/main"/>
            <a:p xmlns:a="http://schemas.openxmlformats.org/drawingml/2006/main">
              <a:pPr>
                <a:defRPr sz="713" b="1">
                  <a:solidFill>
                    <a:srgbClr val="5B5B5B"/>
                  </a:solidFill>
                  <a:latin typeface="Yu Gothic"/>
                  <a:ea typeface="Yu Gothic"/>
                  <a:cs typeface="Yu Gothic"/>
                </a:defRPr>
              </a:pPr>
            </a:p>
          </c:txPr>
          <c:dLblPos val="outEnd"/>
          <c:showLegendKey val="0"/>
          <c:showVal val="1"/>
          <c:showCatName val="0"/>
          <c:showSerName val="0"/>
          <c:showPercent val="0"/>
          <c:showBubbleSize val="0"/>
          <c:showLeaderLines val="0"/>
        </c:dLbls>
        <c:gapWidth val="58"/>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crossAx val="48672768"/>
      </c:catAx>
      <c:valAx>
        <c:axId val="48672768"/>
        <c:scaling>
          <c:orientation val="minMax"/>
          <c:max val="1.1"/>
          <c:min val="0"/>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RMSE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2"/>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50">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charts/chart8.xml><?xml version="1.0" encoding="utf-8"?>
<c:chartSpace xmlns:c="http://schemas.openxmlformats.org/drawingml/2006/chart">
  <c:lang val="en-US"/>
  <c:chart>
    <c:plotArea>
      <c:lineChart>
        <c:grouping val="standard"/>
        <c:varyColors val="0"/>
        <c:ser>
          <c:idx val="0"/>
          <c:order val="0"/>
          <c:tx>
            <c:v>truth ΔT with radiation</c:v>
          </c:tx>
          <c:spPr>
            <a:ln xmlns:a="http://schemas.openxmlformats.org/drawingml/2006/main" w="28575">
              <a:solidFill>
                <a:srgbClr val="7B2DAF"/>
              </a:solidFill>
              <a:prstDash val="solid"/>
            </a:ln>
          </c:spPr>
          <c:marker>
            <c:symbol val="circle"/>
            <c:size val="4"/>
            <c:spPr>
              <a:solidFill xmlns:a="http://schemas.openxmlformats.org/drawingml/2006/main">
                <a:srgbClr val="7B2DAF"/>
              </a:solidFill>
            </c:spPr>
          </c:marker>
          <c:cat>
            <c:numLit>
              <c:formatCode>General</c:formatCode>
              <c:ptCount val="12"/>
              <c:pt idx="0">
                <c:v>0</c:v>
              </c:pt>
              <c:pt idx="1">
                <c:v>20</c:v>
              </c:pt>
              <c:pt idx="2">
                <c:v>40</c:v>
              </c:pt>
              <c:pt idx="3">
                <c:v>60</c:v>
              </c:pt>
              <c:pt idx="4">
                <c:v>80</c:v>
              </c:pt>
              <c:pt idx="5">
                <c:v>100</c:v>
              </c:pt>
              <c:pt idx="6">
                <c:v>120</c:v>
              </c:pt>
              <c:pt idx="7">
                <c:v>140</c:v>
              </c:pt>
              <c:pt idx="8">
                <c:v>160</c:v>
              </c:pt>
              <c:pt idx="9">
                <c:v>180</c:v>
              </c:pt>
              <c:pt idx="10">
                <c:v>200</c:v>
              </c:pt>
              <c:pt idx="11">
                <c:v>220</c:v>
              </c:pt>
            </c:numLit>
          </c:cat>
          <c:val>
            <c:numLit>
              <c:formatCode>0.0</c:formatCode>
              <c:ptCount val="12"/>
              <c:pt idx="0">
                <c:v>-0.0018545700000025533</c:v>
              </c:pt>
              <c:pt idx="1">
                <c:v>-0.0018549800000009498</c:v>
              </c:pt>
              <c:pt idx="2">
                <c:v>-0.0018553600000004167</c:v>
              </c:pt>
              <c:pt idx="3">
                <c:v>-0.0018556099999997855</c:v>
              </c:pt>
              <c:pt idx="4">
                <c:v>-0.0074855300000002956</c:v>
              </c:pt>
              <c:pt idx="5">
                <c:v>-0.001185069999998234</c:v>
              </c:pt>
              <c:pt idx="6">
                <c:v>-0.02288315000000196</c:v>
              </c:pt>
              <c:pt idx="7">
                <c:v>-0.08416299999999666</c:v>
              </c:pt>
              <c:pt idx="8">
                <c:v>-0.16855853000000565</c:v>
              </c:pt>
              <c:pt idx="9">
                <c:v>-0.24409413000000058</c:v>
              </c:pt>
              <c:pt idx="10">
                <c:v>-0.31718865999999935</c:v>
              </c:pt>
              <c:pt idx="11">
                <c:v>-0.3813336700000036</c:v>
              </c:pt>
            </c:numLit>
          </c:val>
          <c:smooth val="0"/>
        </c:ser>
        <c:ser>
          <c:idx val="1"/>
          <c:order val="1"/>
          <c:tx>
            <c:v>model predicted ΔT</c:v>
          </c:tx>
          <c:spPr>
            <a:ln xmlns:a="http://schemas.openxmlformats.org/drawingml/2006/main" w="28575">
              <a:solidFill>
                <a:srgbClr val="00A5D8"/>
              </a:solidFill>
              <a:prstDash val="solid"/>
            </a:ln>
          </c:spPr>
          <c:marker>
            <c:symbol val="square"/>
            <c:size val="4"/>
            <c:spPr>
              <a:solidFill xmlns:a="http://schemas.openxmlformats.org/drawingml/2006/main">
                <a:srgbClr val="00A5D8"/>
              </a:solidFill>
            </c:spPr>
          </c:marker>
          <c:cat>
            <c:numLit>
              <c:formatCode>General</c:formatCode>
              <c:ptCount val="12"/>
              <c:pt idx="0">
                <c:v>0</c:v>
              </c:pt>
              <c:pt idx="1">
                <c:v>20</c:v>
              </c:pt>
              <c:pt idx="2">
                <c:v>40</c:v>
              </c:pt>
              <c:pt idx="3">
                <c:v>60</c:v>
              </c:pt>
              <c:pt idx="4">
                <c:v>80</c:v>
              </c:pt>
              <c:pt idx="5">
                <c:v>100</c:v>
              </c:pt>
              <c:pt idx="6">
                <c:v>120</c:v>
              </c:pt>
              <c:pt idx="7">
                <c:v>140</c:v>
              </c:pt>
              <c:pt idx="8">
                <c:v>160</c:v>
              </c:pt>
              <c:pt idx="9">
                <c:v>180</c:v>
              </c:pt>
              <c:pt idx="10">
                <c:v>200</c:v>
              </c:pt>
              <c:pt idx="11">
                <c:v>220</c:v>
              </c:pt>
            </c:numLit>
          </c:cat>
          <c:val>
            <c:numLit>
              <c:formatCode>0.0</c:formatCode>
              <c:ptCount val="12"/>
              <c:pt idx="0">
                <c:v>-0.0018545700000025533</c:v>
              </c:pt>
              <c:pt idx="1">
                <c:v>-0.001777789999998447</c:v>
              </c:pt>
              <c:pt idx="2">
                <c:v>-0.001701600000000525</c:v>
              </c:pt>
              <c:pt idx="3">
                <c:v>-0.0016286799999996049</c:v>
              </c:pt>
              <c:pt idx="4">
                <c:v>-0.0015588800000010394</c:v>
              </c:pt>
              <c:pt idx="5">
                <c:v>-0.001492069999997625</c:v>
              </c:pt>
              <c:pt idx="6">
                <c:v>-0.001428130000000749</c:v>
              </c:pt>
              <c:pt idx="7">
                <c:v>-0.0013735799999992082</c:v>
              </c:pt>
              <c:pt idx="8">
                <c:v>-0.001328280000002735</c:v>
              </c:pt>
              <c:pt idx="9">
                <c:v>-0.0012915400000039767</c:v>
              </c:pt>
              <c:pt idx="10">
                <c:v>-0.0012564700000012863</c:v>
              </c:pt>
              <c:pt idx="11">
                <c:v>-0.0012223400000053175</c:v>
              </c:pt>
            </c:numLit>
          </c: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time [s]</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General"/>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38">
                <a:solidFill>
                  <a:srgbClr val="777777"/>
                </a:solidFill>
                <a:latin typeface="Yu Gothic"/>
                <a:ea typeface="Yu Gothic"/>
                <a:cs typeface="Yu Gothic"/>
              </a:defRPr>
            </a:pPr>
          </a:p>
        </c:txPr>
        <c:crossAx val="48672768"/>
      </c:catAx>
      <c:valAx>
        <c:axId val="48672768"/>
        <c:scaling>
          <c:orientation val="minMax"/>
          <c:max val="0.05"/>
          <c:min val="-0.45"/>
        </c:scaling>
        <c:delete val="0"/>
        <c:axPos val="l"/>
        <c:majorGridlines>
          <c:spPr>
            <a:ln xmlns:a="http://schemas.openxmlformats.org/drawingml/2006/main" w="9525">
              <a:solidFill>
                <a:srgbClr val="F2F2F2"/>
              </a:solidFill>
              <a:prstDash val="solid"/>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ΔT chip [K]</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
        <c:majorTickMark val="none"/>
        <c:minorTickMark val="none"/>
        <c:spPr>
          <a:ln xmlns:a="http://schemas.openxmlformats.org/drawingml/2006/main" w="9525">
            <a:solidFill>
              <a:srgbClr val="D6D6D6"/>
            </a:solidFill>
            <a:prstDash val="solid"/>
          </a:ln>
        </c:spPr>
        <c:txPr>
          <a:bodyPr xmlns:a="http://schemas.openxmlformats.org/drawingml/2006/main" anchorCtr="1"/>
          <a:lstStyle xmlns:a="http://schemas.openxmlformats.org/drawingml/2006/main"/>
          <a:p xmlns:a="http://schemas.openxmlformats.org/drawingml/2006/main">
            <a:pPr>
              <a:defRPr sz="675">
                <a:solidFill>
                  <a:srgbClr val="777777"/>
                </a:solidFill>
                <a:latin typeface="Yu Gothic"/>
                <a:ea typeface="Yu Gothic"/>
                <a:cs typeface="Yu Gothic"/>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713">
              <a:solidFill>
                <a:srgbClr val="5B5B5B"/>
              </a:solidFill>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20144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ADECAFE-24E9-4E9B-95EC-75F9EFD707E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00D90F0-BB72-4FA0-A112-2CE39F5B2F72}"/>
              </a:ext>
            </a:extLst>
          </p:cNvPr>
          <p:cNvSpPr>
            <a:spLocks xmlns:a="http://schemas.openxmlformats.org/drawingml/2006/main" noGrp="1"/>
          </p:cNvSpPr>
          <p:nvPr/>
        </p:nvSpPr>
        <p:spPr>
          <a:xfrm xmlns:a="http://schemas.openxmlformats.org/drawingml/2006/main">
            <a:off x="647700" y="552450"/>
            <a:ext cx="561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THERMAL MODEL / EQUIPMENT ENGINEERING REVIEW</a:t>
            </a:r>
          </a:p>
        </p:txBody>
      </p:sp>
      <p:sp>
        <p:nvSpPr>
          <p:cNvPr id="3" name="">
            <a:extLst xmlns:a="http://schemas.openxmlformats.org/drawingml/2006/main">
              <a:ext uri="{FF2B5EF4-FFF2-40B4-BE49-F238E27FC236}">
                <a16:creationId xmlns:a16="http://schemas.microsoft.com/office/drawing/2014/main" id="{D675635B-B72D-47AB-9854-B38BD98CFF0D}"/>
              </a:ext>
            </a:extLst>
          </p:cNvPr>
          <p:cNvSpPr>
            <a:spLocks xmlns:a="http://schemas.openxmlformats.org/drawingml/2006/main" noGrp="1"/>
          </p:cNvSpPr>
          <p:nvPr/>
        </p:nvSpPr>
        <p:spPr>
          <a:xfrm xmlns:a="http://schemas.openxmlformats.org/drawingml/2006/main">
            <a:off x="628650" y="1219200"/>
            <a:ext cx="10287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t">
            <a:normAutofit fontScale="100000"/>
          </a:bodyPr>
          <a:lstStyle xmlns:a="http://schemas.openxmlformats.org/drawingml/2006/main"/>
          <a:p xmlns:a="http://schemas.openxmlformats.org/drawingml/2006/main">
            <a:pPr algn="l">
              <a:lnSpc>
                <a:spcPct val="98000"/>
              </a:lnSpc>
              <a:buNone/>
              <a:defRPr sz="3450" b="1" i="0">
                <a:solidFill>
                  <a:srgbClr val="FFFFFF"/>
                </a:solidFill>
                <a:latin typeface="Yu Gothic"/>
                <a:ea typeface="Yu Gothic"/>
                <a:cs typeface="Yu Gothic"/>
              </a:defRPr>
            </a:pPr>
            <a:r>
              <a:rPr sz="3450" b="1" i="0">
                <a:solidFill>
                  <a:srgbClr val="FFFFFF"/>
                </a:solidFill>
                <a:latin typeface="Yu Gothic"/>
                <a:ea typeface="Yu Gothic"/>
                <a:cs typeface="Yu Gothic"/>
              </a:rPr>
              <a:t>熱RCモデル基盤による</a:t>
            </a:r>
          </a:p>
          <a:p xmlns:a="http://schemas.openxmlformats.org/drawingml/2006/main">
            <a:pPr algn="l">
              <a:lnSpc>
                <a:spcPct val="98000"/>
              </a:lnSpc>
              <a:buNone/>
              <a:defRPr sz="3450" b="1" i="0">
                <a:solidFill>
                  <a:srgbClr val="FFFFFF"/>
                </a:solidFill>
                <a:latin typeface="Yu Gothic"/>
                <a:ea typeface="Yu Gothic"/>
                <a:cs typeface="Yu Gothic"/>
              </a:defRPr>
            </a:pPr>
            <a:r>
              <a:rPr sz="3450" b="1" i="0">
                <a:solidFill>
                  <a:srgbClr val="FFFFFF"/>
                </a:solidFill>
                <a:latin typeface="Yu Gothic"/>
                <a:ea typeface="Yu Gothic"/>
                <a:cs typeface="Yu Gothic"/>
              </a:rPr>
              <a:t>半導体装置の同定・予測・状態監視</a:t>
            </a:r>
          </a:p>
        </p:txBody>
      </p:sp>
      <p:sp>
        <p:nvSpPr>
          <p:cNvPr id="4" name="">
            <a:extLst xmlns:a="http://schemas.openxmlformats.org/drawingml/2006/main">
              <a:ext uri="{FF2B5EF4-FFF2-40B4-BE49-F238E27FC236}">
                <a16:creationId xmlns:a16="http://schemas.microsoft.com/office/drawing/2014/main" id="{717E24C8-6019-4DE3-A7B4-F85B590802EA}"/>
              </a:ext>
            </a:extLst>
          </p:cNvPr>
          <p:cNvSpPr>
            <a:spLocks xmlns:a="http://schemas.openxmlformats.org/drawingml/2006/main" noGrp="1"/>
          </p:cNvSpPr>
          <p:nvPr/>
        </p:nvSpPr>
        <p:spPr>
          <a:xfrm xmlns:a="http://schemas.openxmlformats.org/drawingml/2006/main">
            <a:off x="666750" y="2905125"/>
            <a:ext cx="1000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00" b="0" i="0">
                <a:solidFill>
                  <a:srgbClr val="D9D2EA"/>
                </a:solidFill>
                <a:latin typeface="Yu Gothic"/>
                <a:ea typeface="Yu Gothic"/>
                <a:cs typeface="Yu Gothic"/>
              </a:defRPr>
            </a:pPr>
            <a:r>
              <a:rPr sz="1500" b="0" i="0">
                <a:solidFill>
                  <a:srgbClr val="D9D2EA"/>
                </a:solidFill>
                <a:latin typeface="Yu Gothic"/>
                <a:ea typeface="Yu Gothic"/>
                <a:cs typeface="Yu Gothic"/>
              </a:rPr>
              <a:t>背景、コード構成、処理workflow、最適化、推定モデル、CAEベンチマークを一体で評価</a:t>
            </a:r>
          </a:p>
        </p:txBody>
      </p:sp>
      <p:sp>
        <p:nvSpPr>
          <p:cNvPr id="5" name="">
            <a:extLst xmlns:a="http://schemas.openxmlformats.org/drawingml/2006/main">
              <a:ext uri="{FF2B5EF4-FFF2-40B4-BE49-F238E27FC236}">
                <a16:creationId xmlns:a16="http://schemas.microsoft.com/office/drawing/2014/main" id="{F40CFFBD-2D21-4361-BA8B-6656B5F7EC6A}"/>
              </a:ext>
            </a:extLst>
          </p:cNvPr>
          <p:cNvSpPr>
            <a:spLocks xmlns:a="http://schemas.openxmlformats.org/drawingml/2006/main" noGrp="1"/>
          </p:cNvSpPr>
          <p:nvPr/>
        </p:nvSpPr>
        <p:spPr>
          <a:xfrm xmlns:a="http://schemas.openxmlformats.org/drawingml/2006/main">
            <a:off x="666750" y="3571875"/>
            <a:ext cx="533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0" i="0">
                <a:solidFill>
                  <a:srgbClr val="BFB7D2"/>
                </a:solidFill>
                <a:latin typeface="Yu Gothic"/>
                <a:ea typeface="Yu Gothic"/>
                <a:cs typeface="Yu Gothic"/>
              </a:defRPr>
            </a:pPr>
            <a:r>
              <a:rPr sz="975" b="0" i="0">
                <a:solidFill>
                  <a:srgbClr val="BFB7D2"/>
                </a:solidFill>
                <a:latin typeface="Yu Gothic"/>
                <a:ea typeface="Yu Gothic"/>
                <a:cs typeface="Yu Gothic"/>
              </a:rPr>
              <a:t>Technical review  /  thermal-cell-practical</a:t>
            </a:r>
          </a:p>
        </p:txBody>
      </p:sp>
      <p:sp>
        <p:nvSpPr>
          <p:cNvPr id="6" name="">
            <a:extLst xmlns:a="http://schemas.openxmlformats.org/drawingml/2006/main">
              <a:ext uri="{FF2B5EF4-FFF2-40B4-BE49-F238E27FC236}">
                <a16:creationId xmlns:a16="http://schemas.microsoft.com/office/drawing/2014/main" id="{203785AA-F923-4022-9C0C-C9F8AB3F48B7}"/>
              </a:ext>
            </a:extLst>
          </p:cNvPr>
          <p:cNvSpPr>
            <a:spLocks xmlns:a="http://schemas.openxmlformats.org/drawingml/2006/main" noGrp="1"/>
          </p:cNvSpPr>
          <p:nvPr/>
        </p:nvSpPr>
        <p:spPr>
          <a:xfrm xmlns:a="http://schemas.openxmlformats.org/drawingml/2006/main">
            <a:off x="0" y="4619625"/>
            <a:ext cx="12192000" cy="2238375"/>
          </a:xfrm>
          <a:prstGeom xmlns:a="http://schemas.openxmlformats.org/drawingml/2006/main" prst="rect">
            <a:avLst/>
          </a:prstGeom>
          <a:solidFill xmlns:a="http://schemas.openxmlformats.org/drawingml/2006/main">
            <a:srgbClr val="3B1F6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7E48AEF-1FB5-4753-BD93-1912DC5E69FA}"/>
              </a:ext>
            </a:extLst>
          </p:cNvPr>
          <p:cNvSpPr>
            <a:spLocks xmlns:a="http://schemas.openxmlformats.org/drawingml/2006/main" noGrp="1"/>
          </p:cNvSpPr>
          <p:nvPr/>
        </p:nvSpPr>
        <p:spPr>
          <a:xfrm xmlns:a="http://schemas.openxmlformats.org/drawingml/2006/main">
            <a:off x="0" y="4619625"/>
            <a:ext cx="3476625" cy="2238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BD6CF7-2A63-435D-B247-595CF40DF868}"/>
              </a:ext>
            </a:extLst>
          </p:cNvPr>
          <p:cNvSpPr>
            <a:spLocks xmlns:a="http://schemas.openxmlformats.org/drawingml/2006/main" noGrp="1"/>
          </p:cNvSpPr>
          <p:nvPr/>
        </p:nvSpPr>
        <p:spPr>
          <a:xfrm xmlns:a="http://schemas.openxmlformats.org/drawingml/2006/main">
            <a:off x="3476625" y="4619625"/>
            <a:ext cx="2952750" cy="22383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3A3B048-BCDE-4339-9C44-3A2DBC73A2F5}"/>
              </a:ext>
            </a:extLst>
          </p:cNvPr>
          <p:cNvSpPr>
            <a:spLocks xmlns:a="http://schemas.openxmlformats.org/drawingml/2006/main" noGrp="1"/>
          </p:cNvSpPr>
          <p:nvPr/>
        </p:nvSpPr>
        <p:spPr>
          <a:xfrm xmlns:a="http://schemas.openxmlformats.org/drawingml/2006/main">
            <a:off x="6429375" y="4619625"/>
            <a:ext cx="1714500" cy="2238375"/>
          </a:xfrm>
          <a:prstGeom xmlns:a="http://schemas.openxmlformats.org/drawingml/2006/main" prst="rect">
            <a:avLst/>
          </a:prstGeom>
          <a:solidFill xmlns:a="http://schemas.openxmlformats.org/drawingml/2006/main">
            <a:srgbClr val="4D871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43FE9B-0D4C-42E2-8493-235090CD6434}"/>
              </a:ext>
            </a:extLst>
          </p:cNvPr>
          <p:cNvSpPr>
            <a:spLocks xmlns:a="http://schemas.openxmlformats.org/drawingml/2006/main" noGrp="1"/>
          </p:cNvSpPr>
          <p:nvPr/>
        </p:nvSpPr>
        <p:spPr>
          <a:xfrm xmlns:a="http://schemas.openxmlformats.org/drawingml/2006/main">
            <a:off x="8143875" y="4619625"/>
            <a:ext cx="4048125" cy="2238375"/>
          </a:xfrm>
          <a:prstGeom xmlns:a="http://schemas.openxmlformats.org/drawingml/2006/main" prst="rect">
            <a:avLst/>
          </a:prstGeom>
          <a:solidFill xmlns:a="http://schemas.openxmlformats.org/drawingml/2006/main">
            <a:srgbClr val="2A205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A528BD7-2C56-4277-9862-ADFD959A5685}"/>
              </a:ext>
            </a:extLst>
          </p:cNvPr>
          <p:cNvSpPr>
            <a:spLocks xmlns:a="http://schemas.openxmlformats.org/drawingml/2006/main" noGrp="1"/>
          </p:cNvSpPr>
          <p:nvPr/>
        </p:nvSpPr>
        <p:spPr>
          <a:xfrm xmlns:a="http://schemas.openxmlformats.org/drawingml/2006/main">
            <a:off x="981075" y="5124450"/>
            <a:ext cx="1047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4650" b="1" i="0">
                <a:solidFill>
                  <a:srgbClr val="FFFFFF"/>
                </a:solidFill>
                <a:latin typeface="Cambria Math"/>
                <a:ea typeface="Cambria Math"/>
                <a:cs typeface="Cambria Math"/>
              </a:defRPr>
            </a:pPr>
            <a:r>
              <a:rPr sz="4650" b="1" i="0">
                <a:solidFill>
                  <a:srgbClr val="FFFFFF"/>
                </a:solidFill>
                <a:latin typeface="Cambria Math"/>
                <a:ea typeface="Cambria Math"/>
                <a:cs typeface="Cambria Math"/>
              </a:rPr>
              <a:t>Q̇</a:t>
            </a:r>
          </a:p>
        </p:txBody>
      </p:sp>
      <p:sp>
        <p:nvSpPr>
          <p:cNvPr id="12" name="">
            <a:extLst xmlns:a="http://schemas.openxmlformats.org/drawingml/2006/main">
              <a:ext uri="{FF2B5EF4-FFF2-40B4-BE49-F238E27FC236}">
                <a16:creationId xmlns:a16="http://schemas.microsoft.com/office/drawing/2014/main" id="{88BFE059-9D8F-4BFF-8248-0DD9C891164D}"/>
              </a:ext>
            </a:extLst>
          </p:cNvPr>
          <p:cNvSpPr>
            <a:spLocks xmlns:a="http://schemas.openxmlformats.org/drawingml/2006/main" noGrp="1"/>
          </p:cNvSpPr>
          <p:nvPr/>
        </p:nvSpPr>
        <p:spPr>
          <a:xfrm xmlns:a="http://schemas.openxmlformats.org/drawingml/2006/main">
            <a:off x="3724275" y="5219700"/>
            <a:ext cx="247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175" b="1" i="0">
                <a:solidFill>
                  <a:srgbClr val="FFFFFF"/>
                </a:solidFill>
                <a:latin typeface="Cambria Math"/>
                <a:ea typeface="Cambria Math"/>
                <a:cs typeface="Cambria Math"/>
              </a:defRPr>
            </a:pPr>
            <a:r>
              <a:rPr sz="2175" b="1" i="0">
                <a:solidFill>
                  <a:srgbClr val="FFFFFF"/>
                </a:solidFill>
                <a:latin typeface="Cambria Math"/>
                <a:ea typeface="Cambria Math"/>
                <a:cs typeface="Cambria Math"/>
              </a:rPr>
              <a:t>C Ṫ = −L T + b</a:t>
            </a:r>
          </a:p>
        </p:txBody>
      </p:sp>
      <p:sp>
        <p:nvSpPr>
          <p:cNvPr id="13" name="">
            <a:extLst xmlns:a="http://schemas.openxmlformats.org/drawingml/2006/main">
              <a:ext uri="{FF2B5EF4-FFF2-40B4-BE49-F238E27FC236}">
                <a16:creationId xmlns:a16="http://schemas.microsoft.com/office/drawing/2014/main" id="{571A213A-391C-4EA2-B0A8-ECF9C0801963}"/>
              </a:ext>
            </a:extLst>
          </p:cNvPr>
          <p:cNvSpPr>
            <a:spLocks xmlns:a="http://schemas.openxmlformats.org/drawingml/2006/main" noGrp="1"/>
          </p:cNvSpPr>
          <p:nvPr/>
        </p:nvSpPr>
        <p:spPr>
          <a:xfrm xmlns:a="http://schemas.openxmlformats.org/drawingml/2006/main">
            <a:off x="6724650" y="5219700"/>
            <a:ext cx="1162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925" b="1" i="0">
                <a:solidFill>
                  <a:srgbClr val="FFFFFF"/>
                </a:solidFill>
                <a:latin typeface="Cambria Math"/>
                <a:ea typeface="Cambria Math"/>
                <a:cs typeface="Cambria Math"/>
              </a:defRPr>
            </a:pPr>
            <a:r>
              <a:rPr sz="2925" b="1" i="0">
                <a:solidFill>
                  <a:srgbClr val="FFFFFF"/>
                </a:solidFill>
                <a:latin typeface="Cambria Math"/>
                <a:ea typeface="Cambria Math"/>
                <a:cs typeface="Cambria Math"/>
              </a:rPr>
              <a:t>ΔT</a:t>
            </a:r>
          </a:p>
        </p:txBody>
      </p:sp>
      <p:sp>
        <p:nvSpPr>
          <p:cNvPr id="14" name="">
            <a:extLst xmlns:a="http://schemas.openxmlformats.org/drawingml/2006/main">
              <a:ext uri="{FF2B5EF4-FFF2-40B4-BE49-F238E27FC236}">
                <a16:creationId xmlns:a16="http://schemas.microsoft.com/office/drawing/2014/main" id="{D01F0D67-8FDD-4B36-8F7A-DB0F508981B7}"/>
              </a:ext>
            </a:extLst>
          </p:cNvPr>
          <p:cNvSpPr>
            <a:spLocks xmlns:a="http://schemas.openxmlformats.org/drawingml/2006/main" noGrp="1"/>
          </p:cNvSpPr>
          <p:nvPr/>
        </p:nvSpPr>
        <p:spPr>
          <a:xfrm xmlns:a="http://schemas.openxmlformats.org/drawingml/2006/main">
            <a:off x="86677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5" name="">
            <a:extLst xmlns:a="http://schemas.openxmlformats.org/drawingml/2006/main">
              <a:ext uri="{FF2B5EF4-FFF2-40B4-BE49-F238E27FC236}">
                <a16:creationId xmlns:a16="http://schemas.microsoft.com/office/drawing/2014/main" id="{C0641F3C-74C3-41BB-A388-74889EF4CA4A}"/>
              </a:ext>
            </a:extLst>
          </p:cNvPr>
          <p:cNvSpPr>
            <a:spLocks xmlns:a="http://schemas.openxmlformats.org/drawingml/2006/main" noGrp="1"/>
          </p:cNvSpPr>
          <p:nvPr/>
        </p:nvSpPr>
        <p:spPr>
          <a:xfrm xmlns:a="http://schemas.openxmlformats.org/drawingml/2006/main">
            <a:off x="922020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6" name="">
            <a:extLst xmlns:a="http://schemas.openxmlformats.org/drawingml/2006/main">
              <a:ext uri="{FF2B5EF4-FFF2-40B4-BE49-F238E27FC236}">
                <a16:creationId xmlns:a16="http://schemas.microsoft.com/office/drawing/2014/main" id="{8D547224-4E0D-450E-BB94-60A2DCDCBCDA}"/>
              </a:ext>
            </a:extLst>
          </p:cNvPr>
          <p:cNvSpPr>
            <a:spLocks xmlns:a="http://schemas.openxmlformats.org/drawingml/2006/main" noGrp="1"/>
          </p:cNvSpPr>
          <p:nvPr/>
        </p:nvSpPr>
        <p:spPr>
          <a:xfrm xmlns:a="http://schemas.openxmlformats.org/drawingml/2006/main">
            <a:off x="97726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7" name="">
            <a:extLst xmlns:a="http://schemas.openxmlformats.org/drawingml/2006/main">
              <a:ext uri="{FF2B5EF4-FFF2-40B4-BE49-F238E27FC236}">
                <a16:creationId xmlns:a16="http://schemas.microsoft.com/office/drawing/2014/main" id="{3E79ED4B-B058-46BF-B2EF-664C29F8C7E9}"/>
              </a:ext>
            </a:extLst>
          </p:cNvPr>
          <p:cNvSpPr>
            <a:spLocks xmlns:a="http://schemas.openxmlformats.org/drawingml/2006/main" noGrp="1"/>
          </p:cNvSpPr>
          <p:nvPr/>
        </p:nvSpPr>
        <p:spPr>
          <a:xfrm xmlns:a="http://schemas.openxmlformats.org/drawingml/2006/main">
            <a:off x="1032510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8" name="">
            <a:extLst xmlns:a="http://schemas.openxmlformats.org/drawingml/2006/main">
              <a:ext uri="{FF2B5EF4-FFF2-40B4-BE49-F238E27FC236}">
                <a16:creationId xmlns:a16="http://schemas.microsoft.com/office/drawing/2014/main" id="{99A4C521-4C3F-4D85-A243-FBF9303F5037}"/>
              </a:ext>
            </a:extLst>
          </p:cNvPr>
          <p:cNvSpPr>
            <a:spLocks xmlns:a="http://schemas.openxmlformats.org/drawingml/2006/main" noGrp="1"/>
          </p:cNvSpPr>
          <p:nvPr/>
        </p:nvSpPr>
        <p:spPr>
          <a:xfrm xmlns:a="http://schemas.openxmlformats.org/drawingml/2006/main">
            <a:off x="10877550" y="5057775"/>
            <a:ext cx="0" cy="112395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19" name="">
            <a:extLst xmlns:a="http://schemas.openxmlformats.org/drawingml/2006/main">
              <a:ext uri="{FF2B5EF4-FFF2-40B4-BE49-F238E27FC236}">
                <a16:creationId xmlns:a16="http://schemas.microsoft.com/office/drawing/2014/main" id="{348583C8-9BC0-4329-ACAF-426741FF74CB}"/>
              </a:ext>
            </a:extLst>
          </p:cNvPr>
          <p:cNvSpPr>
            <a:spLocks xmlns:a="http://schemas.openxmlformats.org/drawingml/2006/main" noGrp="1"/>
          </p:cNvSpPr>
          <p:nvPr/>
        </p:nvSpPr>
        <p:spPr>
          <a:xfrm xmlns:a="http://schemas.openxmlformats.org/drawingml/2006/main">
            <a:off x="8496300" y="521970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0" name="">
            <a:extLst xmlns:a="http://schemas.openxmlformats.org/drawingml/2006/main">
              <a:ext uri="{FF2B5EF4-FFF2-40B4-BE49-F238E27FC236}">
                <a16:creationId xmlns:a16="http://schemas.microsoft.com/office/drawing/2014/main" id="{688EE6FA-1113-482A-BE92-5F637A4D774A}"/>
              </a:ext>
            </a:extLst>
          </p:cNvPr>
          <p:cNvSpPr>
            <a:spLocks xmlns:a="http://schemas.openxmlformats.org/drawingml/2006/main" noGrp="1"/>
          </p:cNvSpPr>
          <p:nvPr/>
        </p:nvSpPr>
        <p:spPr>
          <a:xfrm xmlns:a="http://schemas.openxmlformats.org/drawingml/2006/main">
            <a:off x="8496300" y="561975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1" name="">
            <a:extLst xmlns:a="http://schemas.openxmlformats.org/drawingml/2006/main">
              <a:ext uri="{FF2B5EF4-FFF2-40B4-BE49-F238E27FC236}">
                <a16:creationId xmlns:a16="http://schemas.microsoft.com/office/drawing/2014/main" id="{6DD344D9-72EF-45C1-8D6A-8F68B73388CF}"/>
              </a:ext>
            </a:extLst>
          </p:cNvPr>
          <p:cNvSpPr>
            <a:spLocks xmlns:a="http://schemas.openxmlformats.org/drawingml/2006/main" noGrp="1"/>
          </p:cNvSpPr>
          <p:nvPr/>
        </p:nvSpPr>
        <p:spPr>
          <a:xfrm xmlns:a="http://schemas.openxmlformats.org/drawingml/2006/main">
            <a:off x="8496300" y="6019800"/>
            <a:ext cx="2857500" cy="0"/>
          </a:xfrm>
          <a:prstGeom xmlns:a="http://schemas.openxmlformats.org/drawingml/2006/main" prst="line">
            <a:avLst/>
          </a:prstGeom>
          <a:noFill xmlns:a="http://schemas.openxmlformats.org/drawingml/2006/main"/>
          <a:ln xmlns:a="http://schemas.openxmlformats.org/drawingml/2006/main" w="9525">
            <a:solidFill>
              <a:srgbClr val="665A86"/>
            </a:solidFill>
            <a:prstDash val="solid"/>
          </a:ln>
        </p:spPr>
      </p:sp>
      <p:sp>
        <p:nvSpPr>
          <p:cNvPr id="22" name="">
            <a:extLst xmlns:a="http://schemas.openxmlformats.org/drawingml/2006/main">
              <a:ext uri="{FF2B5EF4-FFF2-40B4-BE49-F238E27FC236}">
                <a16:creationId xmlns:a16="http://schemas.microsoft.com/office/drawing/2014/main" id="{591DEFD5-CEBB-4D38-979E-AD850D1DBB3C}"/>
              </a:ext>
            </a:extLst>
          </p:cNvPr>
          <p:cNvSpPr>
            <a:spLocks xmlns:a="http://schemas.openxmlformats.org/drawingml/2006/main" noGrp="1"/>
          </p:cNvSpPr>
          <p:nvPr/>
        </p:nvSpPr>
        <p:spPr>
          <a:xfrm xmlns:a="http://schemas.openxmlformats.org/drawingml/2006/main">
            <a:off x="8991600" y="5381625"/>
            <a:ext cx="552450" cy="40005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4546721-F052-4E27-8087-511ECE9DA1FF}"/>
              </a:ext>
            </a:extLst>
          </p:cNvPr>
          <p:cNvSpPr>
            <a:spLocks xmlns:a="http://schemas.openxmlformats.org/drawingml/2006/main" noGrp="1"/>
          </p:cNvSpPr>
          <p:nvPr/>
        </p:nvSpPr>
        <p:spPr>
          <a:xfrm xmlns:a="http://schemas.openxmlformats.org/drawingml/2006/main">
            <a:off x="10096500" y="4981575"/>
            <a:ext cx="552450" cy="8001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5D7F931-2992-4711-B527-0114B848EFBD}"/>
              </a:ext>
            </a:extLst>
          </p:cNvPr>
          <p:cNvSpPr>
            <a:spLocks xmlns:a="http://schemas.openxmlformats.org/drawingml/2006/main" noGrp="1"/>
          </p:cNvSpPr>
          <p:nvPr/>
        </p:nvSpPr>
        <p:spPr>
          <a:xfrm xmlns:a="http://schemas.openxmlformats.org/drawingml/2006/main">
            <a:off x="9544050" y="5781675"/>
            <a:ext cx="552450" cy="40005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0B817BE-56C0-4F6C-B6F4-CE6BCD589DD7}"/>
              </a:ext>
            </a:extLst>
          </p:cNvPr>
          <p:cNvSpPr>
            <a:spLocks xmlns:a="http://schemas.openxmlformats.org/drawingml/2006/main" noGrp="1"/>
          </p:cNvSpPr>
          <p:nvPr/>
        </p:nvSpPr>
        <p:spPr>
          <a:xfrm xmlns:a="http://schemas.openxmlformats.org/drawingml/2006/main">
            <a:off x="10287000" y="6438900"/>
            <a:ext cx="1352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825" b="0" i="0">
                <a:solidFill>
                  <a:srgbClr val="C6BFDA"/>
                </a:solidFill>
                <a:latin typeface="Yu Gothic"/>
                <a:ea typeface="Yu Gothic"/>
                <a:cs typeface="Yu Gothic"/>
              </a:defRPr>
            </a:pPr>
            <a:r>
              <a:rPr sz="825" b="0" i="0">
                <a:solidFill>
                  <a:srgbClr val="C6BFDA"/>
                </a:solidFill>
                <a:latin typeface="Yu Gothic"/>
                <a:ea typeface="Yu Gothic"/>
                <a:cs typeface="Yu Gothic"/>
              </a:rPr>
              <a:t>2026-09-17</a:t>
            </a:r>
          </a:p>
        </p:txBody>
      </p:sp>
    </p:spTree>
    <p:extLst>
      <p:ext uri="{BB962C8B-B14F-4D97-AF65-F5344CB8AC3E}">
        <p14:creationId xmlns:p14="http://schemas.microsoft.com/office/powerpoint/2010/main" val="201366487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CFE82D7-04CA-4734-9C5A-40DE610372EF}"/>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A320A1-A7D1-440C-8805-32B290CD5CFE}"/>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BACKGROUND</a:t>
            </a:r>
          </a:p>
        </p:txBody>
      </p:sp>
      <p:sp>
        <p:nvSpPr>
          <p:cNvPr id="3" name="">
            <a:extLst xmlns:a="http://schemas.openxmlformats.org/drawingml/2006/main">
              <a:ext uri="{FF2B5EF4-FFF2-40B4-BE49-F238E27FC236}">
                <a16:creationId xmlns:a16="http://schemas.microsoft.com/office/drawing/2014/main" id="{C213C798-6655-42FB-B725-2267D84D7EE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熱設計と装置運用の間には、時間尺度・観測密度・説明責任のギャップが残る</a:t>
            </a:r>
          </a:p>
        </p:txBody>
      </p:sp>
      <p:sp>
        <p:nvSpPr>
          <p:cNvPr id="4" name="">
            <a:extLst xmlns:a="http://schemas.openxmlformats.org/drawingml/2006/main">
              <a:ext uri="{FF2B5EF4-FFF2-40B4-BE49-F238E27FC236}">
                <a16:creationId xmlns:a16="http://schemas.microsoft.com/office/drawing/2014/main" id="{B82CCCCD-311C-4B22-963C-7890341BF8CC}"/>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高忠実度CAEと実測を、制御周期で扱える共通の物理状態へ圧縮することが本基盤の出発点である</a:t>
            </a:r>
          </a:p>
        </p:txBody>
      </p:sp>
      <p:sp>
        <p:nvSpPr>
          <p:cNvPr id="5" name="">
            <a:extLst xmlns:a="http://schemas.openxmlformats.org/drawingml/2006/main">
              <a:ext uri="{FF2B5EF4-FFF2-40B4-BE49-F238E27FC236}">
                <a16:creationId xmlns:a16="http://schemas.microsoft.com/office/drawing/2014/main" id="{458AAE04-6E69-42B2-905A-C1D3F7075EB6}"/>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136AE933-63A0-4EE4-A873-390B9E4053C4}"/>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DC8A5366-BC37-41CC-89E8-9C3C96038B43}"/>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BA0C342B-11E3-47CE-AC44-A07AA2AD7BA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a:t>
            </a:r>
          </a:p>
        </p:txBody>
      </p:sp>
      <p:sp>
        <p:nvSpPr>
          <p:cNvPr id="9" name="">
            <a:extLst xmlns:a="http://schemas.openxmlformats.org/drawingml/2006/main">
              <a:ext uri="{FF2B5EF4-FFF2-40B4-BE49-F238E27FC236}">
                <a16:creationId xmlns:a16="http://schemas.microsoft.com/office/drawing/2014/main" id="{FDBBCE61-C733-4BC7-B1B3-41BECBE61804}"/>
              </a:ext>
            </a:extLst>
          </p:cNvPr>
          <p:cNvSpPr>
            <a:spLocks xmlns:a="http://schemas.openxmlformats.org/drawingml/2006/main" noGrp="1"/>
          </p:cNvSpPr>
          <p:nvPr/>
        </p:nvSpPr>
        <p:spPr>
          <a:xfrm xmlns:a="http://schemas.openxmlformats.org/drawingml/2006/main">
            <a:off x="55245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B16D9448-8B75-4CC0-9667-CA99C70E2F0B}"/>
              </a:ext>
            </a:extLst>
          </p:cNvPr>
          <p:cNvSpPr>
            <a:spLocks xmlns:a="http://schemas.openxmlformats.org/drawingml/2006/main" noGrp="1"/>
          </p:cNvSpPr>
          <p:nvPr/>
        </p:nvSpPr>
        <p:spPr>
          <a:xfrm xmlns:a="http://schemas.openxmlformats.org/drawingml/2006/main">
            <a:off x="552450" y="1457325"/>
            <a:ext cx="226695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F9211C0-316A-4BC8-B1B6-CDE0679E1CA1}"/>
              </a:ext>
            </a:extLst>
          </p:cNvPr>
          <p:cNvSpPr>
            <a:spLocks xmlns:a="http://schemas.openxmlformats.org/drawingml/2006/main" noGrp="1"/>
          </p:cNvSpPr>
          <p:nvPr/>
        </p:nvSpPr>
        <p:spPr>
          <a:xfrm xmlns:a="http://schemas.openxmlformats.org/drawingml/2006/main">
            <a:off x="71437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B2DAF"/>
                </a:solidFill>
                <a:latin typeface="Yu Gothic"/>
                <a:ea typeface="Yu Gothic"/>
                <a:cs typeface="Yu Gothic"/>
              </a:defRPr>
            </a:pPr>
            <a:r>
              <a:rPr sz="1350" b="1" i="0">
                <a:solidFill>
                  <a:srgbClr val="7B2DAF"/>
                </a:solidFill>
                <a:latin typeface="Yu Gothic"/>
                <a:ea typeface="Yu Gothic"/>
                <a:cs typeface="Yu Gothic"/>
              </a:rPr>
              <a:t>CAE / 実験</a:t>
            </a:r>
          </a:p>
        </p:txBody>
      </p:sp>
      <p:sp>
        <p:nvSpPr>
          <p:cNvPr id="12" name="">
            <a:extLst xmlns:a="http://schemas.openxmlformats.org/drawingml/2006/main">
              <a:ext uri="{FF2B5EF4-FFF2-40B4-BE49-F238E27FC236}">
                <a16:creationId xmlns:a16="http://schemas.microsoft.com/office/drawing/2014/main" id="{1382BD31-DA36-4892-A4ED-6570CA2DB776}"/>
              </a:ext>
            </a:extLst>
          </p:cNvPr>
          <p:cNvSpPr>
            <a:spLocks xmlns:a="http://schemas.openxmlformats.org/drawingml/2006/main" noGrp="1"/>
          </p:cNvSpPr>
          <p:nvPr/>
        </p:nvSpPr>
        <p:spPr>
          <a:xfrm xmlns:a="http://schemas.openxmlformats.org/drawingml/2006/main">
            <a:off x="71437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高空間分解能・高コスト</a:t>
            </a:r>
          </a:p>
        </p:txBody>
      </p:sp>
      <p:sp>
        <p:nvSpPr>
          <p:cNvPr id="13" name="">
            <a:extLst xmlns:a="http://schemas.openxmlformats.org/drawingml/2006/main">
              <a:ext uri="{FF2B5EF4-FFF2-40B4-BE49-F238E27FC236}">
                <a16:creationId xmlns:a16="http://schemas.microsoft.com/office/drawing/2014/main" id="{538253CA-0D16-4C70-AEF3-899DA3BD9672}"/>
              </a:ext>
            </a:extLst>
          </p:cNvPr>
          <p:cNvSpPr>
            <a:spLocks xmlns:a="http://schemas.openxmlformats.org/drawingml/2006/main" noGrp="1"/>
          </p:cNvSpPr>
          <p:nvPr/>
        </p:nvSpPr>
        <p:spPr>
          <a:xfrm xmlns:a="http://schemas.openxmlformats.org/drawingml/2006/main">
            <a:off x="71437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31725BE0-0785-4C65-99B7-07E97601CEBE}"/>
              </a:ext>
            </a:extLst>
          </p:cNvPr>
          <p:cNvSpPr>
            <a:spLocks xmlns:a="http://schemas.openxmlformats.org/drawingml/2006/main" noGrp="1"/>
          </p:cNvSpPr>
          <p:nvPr/>
        </p:nvSpPr>
        <p:spPr>
          <a:xfrm xmlns:a="http://schemas.openxmlformats.org/drawingml/2006/main">
            <a:off x="71437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mesh field</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熱流・境界条件</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校正済み計測</a:t>
            </a:r>
          </a:p>
        </p:txBody>
      </p:sp>
      <p:sp>
        <p:nvSpPr>
          <p:cNvPr id="15" name="">
            <a:extLst xmlns:a="http://schemas.openxmlformats.org/drawingml/2006/main">
              <a:ext uri="{FF2B5EF4-FFF2-40B4-BE49-F238E27FC236}">
                <a16:creationId xmlns:a16="http://schemas.microsoft.com/office/drawing/2014/main" id="{2FCC3806-20DD-4036-96EE-472EBBBFBF71}"/>
              </a:ext>
            </a:extLst>
          </p:cNvPr>
          <p:cNvSpPr>
            <a:spLocks xmlns:a="http://schemas.openxmlformats.org/drawingml/2006/main" noGrp="1"/>
          </p:cNvSpPr>
          <p:nvPr/>
        </p:nvSpPr>
        <p:spPr>
          <a:xfrm xmlns:a="http://schemas.openxmlformats.org/drawingml/2006/main">
            <a:off x="320040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54BD95CA-6A26-49ED-9F71-E4D5A7DF778B}"/>
              </a:ext>
            </a:extLst>
          </p:cNvPr>
          <p:cNvSpPr>
            <a:spLocks xmlns:a="http://schemas.openxmlformats.org/drawingml/2006/main" noGrp="1"/>
          </p:cNvSpPr>
          <p:nvPr/>
        </p:nvSpPr>
        <p:spPr>
          <a:xfrm xmlns:a="http://schemas.openxmlformats.org/drawingml/2006/main">
            <a:off x="3200400" y="1457325"/>
            <a:ext cx="22669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919AA49-7FE6-4D59-9E3B-A270781A9F9D}"/>
              </a:ext>
            </a:extLst>
          </p:cNvPr>
          <p:cNvSpPr>
            <a:spLocks xmlns:a="http://schemas.openxmlformats.org/drawingml/2006/main" noGrp="1"/>
          </p:cNvSpPr>
          <p:nvPr/>
        </p:nvSpPr>
        <p:spPr>
          <a:xfrm xmlns:a="http://schemas.openxmlformats.org/drawingml/2006/main">
            <a:off x="336232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00A5D8"/>
                </a:solidFill>
                <a:latin typeface="Yu Gothic"/>
                <a:ea typeface="Yu Gothic"/>
                <a:cs typeface="Yu Gothic"/>
              </a:defRPr>
            </a:pPr>
            <a:r>
              <a:rPr sz="1350" b="1" i="0">
                <a:solidFill>
                  <a:srgbClr val="00A5D8"/>
                </a:solidFill>
                <a:latin typeface="Yu Gothic"/>
                <a:ea typeface="Yu Gothic"/>
                <a:cs typeface="Yu Gothic"/>
              </a:rPr>
              <a:t>装置log</a:t>
            </a:r>
          </a:p>
        </p:txBody>
      </p:sp>
      <p:sp>
        <p:nvSpPr>
          <p:cNvPr id="18" name="">
            <a:extLst xmlns:a="http://schemas.openxmlformats.org/drawingml/2006/main">
              <a:ext uri="{FF2B5EF4-FFF2-40B4-BE49-F238E27FC236}">
                <a16:creationId xmlns:a16="http://schemas.microsoft.com/office/drawing/2014/main" id="{633DF553-7131-456B-B2E4-C00E1C9EE812}"/>
              </a:ext>
            </a:extLst>
          </p:cNvPr>
          <p:cNvSpPr>
            <a:spLocks xmlns:a="http://schemas.openxmlformats.org/drawingml/2006/main" noGrp="1"/>
          </p:cNvSpPr>
          <p:nvPr/>
        </p:nvSpPr>
        <p:spPr>
          <a:xfrm xmlns:a="http://schemas.openxmlformats.org/drawingml/2006/main">
            <a:off x="336232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疎観測・欠測・bias</a:t>
            </a:r>
          </a:p>
        </p:txBody>
      </p:sp>
      <p:sp>
        <p:nvSpPr>
          <p:cNvPr id="19" name="">
            <a:extLst xmlns:a="http://schemas.openxmlformats.org/drawingml/2006/main">
              <a:ext uri="{FF2B5EF4-FFF2-40B4-BE49-F238E27FC236}">
                <a16:creationId xmlns:a16="http://schemas.microsoft.com/office/drawing/2014/main" id="{E30E2923-11D0-4A2B-BBEE-FE91D23C1E75}"/>
              </a:ext>
            </a:extLst>
          </p:cNvPr>
          <p:cNvSpPr>
            <a:spLocks xmlns:a="http://schemas.openxmlformats.org/drawingml/2006/main" noGrp="1"/>
          </p:cNvSpPr>
          <p:nvPr/>
        </p:nvSpPr>
        <p:spPr>
          <a:xfrm xmlns:a="http://schemas.openxmlformats.org/drawingml/2006/main">
            <a:off x="336232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5A5CB832-0B0C-41C9-BA8A-93CF6359EB01}"/>
              </a:ext>
            </a:extLst>
          </p:cNvPr>
          <p:cNvSpPr>
            <a:spLocks xmlns:a="http://schemas.openxmlformats.org/drawingml/2006/main" noGrp="1"/>
          </p:cNvSpPr>
          <p:nvPr/>
        </p:nvSpPr>
        <p:spPr>
          <a:xfrm xmlns:a="http://schemas.openxmlformats.org/drawingml/2006/main">
            <a:off x="336232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temperature</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command</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timestamp</a:t>
            </a:r>
          </a:p>
        </p:txBody>
      </p:sp>
      <p:sp>
        <p:nvSpPr>
          <p:cNvPr id="21" name="">
            <a:extLst xmlns:a="http://schemas.openxmlformats.org/drawingml/2006/main">
              <a:ext uri="{FF2B5EF4-FFF2-40B4-BE49-F238E27FC236}">
                <a16:creationId xmlns:a16="http://schemas.microsoft.com/office/drawing/2014/main" id="{C3E47F47-9A16-4006-902F-BC8A442F3E82}"/>
              </a:ext>
            </a:extLst>
          </p:cNvPr>
          <p:cNvSpPr>
            <a:spLocks xmlns:a="http://schemas.openxmlformats.org/drawingml/2006/main" noGrp="1"/>
          </p:cNvSpPr>
          <p:nvPr/>
        </p:nvSpPr>
        <p:spPr>
          <a:xfrm xmlns:a="http://schemas.openxmlformats.org/drawingml/2006/main">
            <a:off x="5848350" y="1457325"/>
            <a:ext cx="22669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488FA1A3-7302-4A3B-87DC-7DB9E5A82F2D}"/>
              </a:ext>
            </a:extLst>
          </p:cNvPr>
          <p:cNvSpPr>
            <a:spLocks xmlns:a="http://schemas.openxmlformats.org/drawingml/2006/main" noGrp="1"/>
          </p:cNvSpPr>
          <p:nvPr/>
        </p:nvSpPr>
        <p:spPr>
          <a:xfrm xmlns:a="http://schemas.openxmlformats.org/drawingml/2006/main">
            <a:off x="5848350" y="1457325"/>
            <a:ext cx="22669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693197B-F8E6-438E-9466-F158F462B92D}"/>
              </a:ext>
            </a:extLst>
          </p:cNvPr>
          <p:cNvSpPr>
            <a:spLocks xmlns:a="http://schemas.openxmlformats.org/drawingml/2006/main" noGrp="1"/>
          </p:cNvSpPr>
          <p:nvPr/>
        </p:nvSpPr>
        <p:spPr>
          <a:xfrm xmlns:a="http://schemas.openxmlformats.org/drawingml/2006/main">
            <a:off x="6010275" y="167640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6BE18"/>
                </a:solidFill>
                <a:latin typeface="Yu Gothic"/>
                <a:ea typeface="Yu Gothic"/>
                <a:cs typeface="Yu Gothic"/>
              </a:defRPr>
            </a:pPr>
            <a:r>
              <a:rPr sz="1350" b="1" i="0">
                <a:solidFill>
                  <a:srgbClr val="76BE18"/>
                </a:solidFill>
                <a:latin typeface="Yu Gothic"/>
                <a:ea typeface="Yu Gothic"/>
                <a:cs typeface="Yu Gothic"/>
              </a:rPr>
              <a:t>共通熱状態</a:t>
            </a:r>
          </a:p>
        </p:txBody>
      </p:sp>
      <p:sp>
        <p:nvSpPr>
          <p:cNvPr id="24" name="">
            <a:extLst xmlns:a="http://schemas.openxmlformats.org/drawingml/2006/main">
              <a:ext uri="{FF2B5EF4-FFF2-40B4-BE49-F238E27FC236}">
                <a16:creationId xmlns:a16="http://schemas.microsoft.com/office/drawing/2014/main" id="{22DD6A77-865D-4702-B0A4-97BE1728D62D}"/>
              </a:ext>
            </a:extLst>
          </p:cNvPr>
          <p:cNvSpPr>
            <a:spLocks xmlns:a="http://schemas.openxmlformats.org/drawingml/2006/main" noGrp="1"/>
          </p:cNvSpPr>
          <p:nvPr/>
        </p:nvSpPr>
        <p:spPr>
          <a:xfrm xmlns:a="http://schemas.openxmlformats.org/drawingml/2006/main">
            <a:off x="6010275" y="20002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保存則付き低次元model</a:t>
            </a:r>
          </a:p>
        </p:txBody>
      </p:sp>
      <p:sp>
        <p:nvSpPr>
          <p:cNvPr id="25" name="">
            <a:extLst xmlns:a="http://schemas.openxmlformats.org/drawingml/2006/main">
              <a:ext uri="{FF2B5EF4-FFF2-40B4-BE49-F238E27FC236}">
                <a16:creationId xmlns:a16="http://schemas.microsoft.com/office/drawing/2014/main" id="{E7456463-D1C4-49D2-8524-DF15838F7F35}"/>
              </a:ext>
            </a:extLst>
          </p:cNvPr>
          <p:cNvSpPr>
            <a:spLocks xmlns:a="http://schemas.openxmlformats.org/drawingml/2006/main" noGrp="1"/>
          </p:cNvSpPr>
          <p:nvPr/>
        </p:nvSpPr>
        <p:spPr>
          <a:xfrm xmlns:a="http://schemas.openxmlformats.org/drawingml/2006/main">
            <a:off x="6010275" y="2295525"/>
            <a:ext cx="1943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0DCE5798-2537-46CE-8307-C730BA82F1F7}"/>
              </a:ext>
            </a:extLst>
          </p:cNvPr>
          <p:cNvSpPr>
            <a:spLocks xmlns:a="http://schemas.openxmlformats.org/drawingml/2006/main" noGrp="1"/>
          </p:cNvSpPr>
          <p:nvPr/>
        </p:nvSpPr>
        <p:spPr>
          <a:xfrm xmlns:a="http://schemas.openxmlformats.org/drawingml/2006/main">
            <a:off x="6010275" y="2400300"/>
            <a:ext cx="19431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node temperature</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effective actuator</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unknown heat</a:t>
            </a:r>
          </a:p>
        </p:txBody>
      </p:sp>
      <p:sp>
        <p:nvSpPr>
          <p:cNvPr id="27" name="">
            <a:extLst xmlns:a="http://schemas.openxmlformats.org/drawingml/2006/main">
              <a:ext uri="{FF2B5EF4-FFF2-40B4-BE49-F238E27FC236}">
                <a16:creationId xmlns:a16="http://schemas.microsoft.com/office/drawing/2014/main" id="{F6FD4697-7DD8-4FA4-BD7F-0D93BBE0BDA2}"/>
              </a:ext>
            </a:extLst>
          </p:cNvPr>
          <p:cNvSpPr>
            <a:spLocks xmlns:a="http://schemas.openxmlformats.org/drawingml/2006/main" noGrp="1"/>
          </p:cNvSpPr>
          <p:nvPr/>
        </p:nvSpPr>
        <p:spPr>
          <a:xfrm xmlns:a="http://schemas.openxmlformats.org/drawingml/2006/main">
            <a:off x="8496300" y="1457325"/>
            <a:ext cx="31432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B924455C-A431-4017-A8FF-774366BA95E4}"/>
              </a:ext>
            </a:extLst>
          </p:cNvPr>
          <p:cNvSpPr>
            <a:spLocks xmlns:a="http://schemas.openxmlformats.org/drawingml/2006/main" noGrp="1"/>
          </p:cNvSpPr>
          <p:nvPr/>
        </p:nvSpPr>
        <p:spPr>
          <a:xfrm xmlns:a="http://schemas.openxmlformats.org/drawingml/2006/main">
            <a:off x="8496300" y="1457325"/>
            <a:ext cx="314325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173CAB3-8279-436B-9E2B-0AA8E6F6B8D3}"/>
              </a:ext>
            </a:extLst>
          </p:cNvPr>
          <p:cNvSpPr>
            <a:spLocks xmlns:a="http://schemas.openxmlformats.org/drawingml/2006/main" noGrp="1"/>
          </p:cNvSpPr>
          <p:nvPr/>
        </p:nvSpPr>
        <p:spPr>
          <a:xfrm xmlns:a="http://schemas.openxmlformats.org/drawingml/2006/main">
            <a:off x="8658225" y="1676400"/>
            <a:ext cx="2819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E5A900"/>
                </a:solidFill>
                <a:latin typeface="Yu Gothic"/>
                <a:ea typeface="Yu Gothic"/>
                <a:cs typeface="Yu Gothic"/>
              </a:defRPr>
            </a:pPr>
            <a:r>
              <a:rPr sz="1350" b="1" i="0">
                <a:solidFill>
                  <a:srgbClr val="E5A900"/>
                </a:solidFill>
                <a:latin typeface="Yu Gothic"/>
                <a:ea typeface="Yu Gothic"/>
                <a:cs typeface="Yu Gothic"/>
              </a:rPr>
              <a:t>工学判断</a:t>
            </a:r>
          </a:p>
        </p:txBody>
      </p:sp>
      <p:sp>
        <p:nvSpPr>
          <p:cNvPr id="30" name="">
            <a:extLst xmlns:a="http://schemas.openxmlformats.org/drawingml/2006/main">
              <a:ext uri="{FF2B5EF4-FFF2-40B4-BE49-F238E27FC236}">
                <a16:creationId xmlns:a16="http://schemas.microsoft.com/office/drawing/2014/main" id="{FB35E671-0D1E-4EA0-89C7-33A5EE965F35}"/>
              </a:ext>
            </a:extLst>
          </p:cNvPr>
          <p:cNvSpPr>
            <a:spLocks xmlns:a="http://schemas.openxmlformats.org/drawingml/2006/main" noGrp="1"/>
          </p:cNvSpPr>
          <p:nvPr/>
        </p:nvSpPr>
        <p:spPr>
          <a:xfrm xmlns:a="http://schemas.openxmlformats.org/drawingml/2006/main">
            <a:off x="8658225" y="2000250"/>
            <a:ext cx="2819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予測・監視・再評価</a:t>
            </a:r>
          </a:p>
        </p:txBody>
      </p:sp>
      <p:sp>
        <p:nvSpPr>
          <p:cNvPr id="31" name="">
            <a:extLst xmlns:a="http://schemas.openxmlformats.org/drawingml/2006/main">
              <a:ext uri="{FF2B5EF4-FFF2-40B4-BE49-F238E27FC236}">
                <a16:creationId xmlns:a16="http://schemas.microsoft.com/office/drawing/2014/main" id="{6A034D2F-D530-4190-B523-583140839F71}"/>
              </a:ext>
            </a:extLst>
          </p:cNvPr>
          <p:cNvSpPr>
            <a:spLocks xmlns:a="http://schemas.openxmlformats.org/drawingml/2006/main" noGrp="1"/>
          </p:cNvSpPr>
          <p:nvPr/>
        </p:nvSpPr>
        <p:spPr>
          <a:xfrm xmlns:a="http://schemas.openxmlformats.org/drawingml/2006/main">
            <a:off x="8658225" y="2295525"/>
            <a:ext cx="28194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CC942845-B9B3-43DA-869D-38642EDF8895}"/>
              </a:ext>
            </a:extLst>
          </p:cNvPr>
          <p:cNvSpPr>
            <a:spLocks xmlns:a="http://schemas.openxmlformats.org/drawingml/2006/main" noGrp="1"/>
          </p:cNvSpPr>
          <p:nvPr/>
        </p:nvSpPr>
        <p:spPr>
          <a:xfrm xmlns:a="http://schemas.openxmlformats.org/drawingml/2006/main">
            <a:off x="8658225" y="2400300"/>
            <a:ext cx="2819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351"/>
          </a:bodyPr>
          <a:lstStyle xmlns:a="http://schemas.openxmlformats.org/drawingml/2006/main"/>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warm-up / cooldown</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virtual sensor / anomaly</a:t>
            </a:r>
          </a:p>
          <a:p xmlns:a="http://schemas.openxmlformats.org/drawingml/2006/main">
            <a:pPr algn="ctr">
              <a:lnSpc>
                <a:spcPct val="110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CAE再計算の優先順位</a:t>
            </a:r>
          </a:p>
        </p:txBody>
      </p:sp>
      <p:cxnSp>
        <p:nvCxnSpPr>
          <p:cNvPr id="80" name=""/>
          <p:cNvCxnSpPr>
            <a:stCxn xmlns:a="http://schemas.openxmlformats.org/drawingml/2006/main" id="9" idx="3"/>
            <a:endCxn xmlns:a="http://schemas.openxmlformats.org/drawingml/2006/main" id="15" idx="1"/>
          </p:cNvCxnSpPr>
          <p:nvPr/>
        </p:nvCxnSpPr>
        <p:spPr>
          <a:xfrm xmlns:a="http://schemas.openxmlformats.org/drawingml/2006/main">
            <a:off x="281940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1" name=""/>
          <p:cNvCxnSpPr>
            <a:stCxn xmlns:a="http://schemas.openxmlformats.org/drawingml/2006/main" id="15" idx="3"/>
            <a:endCxn xmlns:a="http://schemas.openxmlformats.org/drawingml/2006/main" id="21" idx="1"/>
          </p:cNvCxnSpPr>
          <p:nvPr/>
        </p:nvCxnSpPr>
        <p:spPr>
          <a:xfrm xmlns:a="http://schemas.openxmlformats.org/drawingml/2006/main">
            <a:off x="546735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2" name=""/>
          <p:cNvCxnSpPr>
            <a:stCxn xmlns:a="http://schemas.openxmlformats.org/drawingml/2006/main" id="21" idx="3"/>
            <a:endCxn xmlns:a="http://schemas.openxmlformats.org/drawingml/2006/main" id="27" idx="1"/>
          </p:cNvCxnSpPr>
          <p:nvPr/>
        </p:nvCxnSpPr>
        <p:spPr>
          <a:xfrm xmlns:a="http://schemas.openxmlformats.org/drawingml/2006/main">
            <a:off x="8115300" y="2266950"/>
            <a:ext cx="3810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CAEEC5B3-BF59-441E-B894-AD1B2C131987}"/>
              </a:ext>
            </a:extLst>
          </p:cNvPr>
          <p:cNvSpPr>
            <a:spLocks xmlns:a="http://schemas.openxmlformats.org/drawingml/2006/main" noGrp="1"/>
          </p:cNvSpPr>
          <p:nvPr/>
        </p:nvSpPr>
        <p:spPr>
          <a:xfrm xmlns:a="http://schemas.openxmlformats.org/drawingml/2006/main">
            <a:off x="2305050"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37" name="">
            <a:extLst xmlns:a="http://schemas.openxmlformats.org/drawingml/2006/main">
              <a:ext uri="{FF2B5EF4-FFF2-40B4-BE49-F238E27FC236}">
                <a16:creationId xmlns:a16="http://schemas.microsoft.com/office/drawing/2014/main" id="{E6BE1D42-A5FA-4C82-AD3A-53100189FE0E}"/>
              </a:ext>
            </a:extLst>
          </p:cNvPr>
          <p:cNvSpPr>
            <a:spLocks xmlns:a="http://schemas.openxmlformats.org/drawingml/2006/main" noGrp="1"/>
          </p:cNvSpPr>
          <p:nvPr/>
        </p:nvSpPr>
        <p:spPr>
          <a:xfrm xmlns:a="http://schemas.openxmlformats.org/drawingml/2006/main">
            <a:off x="2352675"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1</a:t>
            </a:r>
          </a:p>
        </p:txBody>
      </p:sp>
      <p:sp>
        <p:nvSpPr>
          <p:cNvPr id="38" name="">
            <a:extLst xmlns:a="http://schemas.openxmlformats.org/drawingml/2006/main">
              <a:ext uri="{FF2B5EF4-FFF2-40B4-BE49-F238E27FC236}">
                <a16:creationId xmlns:a16="http://schemas.microsoft.com/office/drawing/2014/main" id="{78977E82-3763-480C-BB53-73C7743ECA07}"/>
              </a:ext>
            </a:extLst>
          </p:cNvPr>
          <p:cNvSpPr>
            <a:spLocks xmlns:a="http://schemas.openxmlformats.org/drawingml/2006/main" noGrp="1"/>
          </p:cNvSpPr>
          <p:nvPr/>
        </p:nvSpPr>
        <p:spPr>
          <a:xfrm xmlns:a="http://schemas.openxmlformats.org/drawingml/2006/main">
            <a:off x="3028950" y="3181350"/>
            <a:ext cx="200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場の情報をsensor列へ縮約</a:t>
            </a:r>
          </a:p>
        </p:txBody>
      </p:sp>
      <p:sp>
        <p:nvSpPr>
          <p:cNvPr id="39" name="">
            <a:extLst xmlns:a="http://schemas.openxmlformats.org/drawingml/2006/main">
              <a:ext uri="{FF2B5EF4-FFF2-40B4-BE49-F238E27FC236}">
                <a16:creationId xmlns:a16="http://schemas.microsoft.com/office/drawing/2014/main" id="{924121AF-4CA8-4D36-BF51-52FB37CCB35F}"/>
              </a:ext>
            </a:extLst>
          </p:cNvPr>
          <p:cNvSpPr>
            <a:spLocks xmlns:a="http://schemas.openxmlformats.org/drawingml/2006/main" noGrp="1"/>
          </p:cNvSpPr>
          <p:nvPr/>
        </p:nvSpPr>
        <p:spPr>
          <a:xfrm xmlns:a="http://schemas.openxmlformats.org/drawingml/2006/main">
            <a:off x="5657850"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40" name="">
            <a:extLst xmlns:a="http://schemas.openxmlformats.org/drawingml/2006/main">
              <a:ext uri="{FF2B5EF4-FFF2-40B4-BE49-F238E27FC236}">
                <a16:creationId xmlns:a16="http://schemas.microsoft.com/office/drawing/2014/main" id="{D8404D35-C3F1-468F-9C26-A5EBE1B79F25}"/>
              </a:ext>
            </a:extLst>
          </p:cNvPr>
          <p:cNvSpPr>
            <a:spLocks xmlns:a="http://schemas.openxmlformats.org/drawingml/2006/main" noGrp="1"/>
          </p:cNvSpPr>
          <p:nvPr/>
        </p:nvSpPr>
        <p:spPr>
          <a:xfrm xmlns:a="http://schemas.openxmlformats.org/drawingml/2006/main">
            <a:off x="5705475"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2</a:t>
            </a:r>
          </a:p>
        </p:txBody>
      </p:sp>
      <p:sp>
        <p:nvSpPr>
          <p:cNvPr id="41" name="">
            <a:extLst xmlns:a="http://schemas.openxmlformats.org/drawingml/2006/main">
              <a:ext uri="{FF2B5EF4-FFF2-40B4-BE49-F238E27FC236}">
                <a16:creationId xmlns:a16="http://schemas.microsoft.com/office/drawing/2014/main" id="{94C70CF7-6B57-47C9-AEB5-97F6FB58EA25}"/>
              </a:ext>
            </a:extLst>
          </p:cNvPr>
          <p:cNvSpPr>
            <a:spLocks xmlns:a="http://schemas.openxmlformats.org/drawingml/2006/main" noGrp="1"/>
          </p:cNvSpPr>
          <p:nvPr/>
        </p:nvSpPr>
        <p:spPr>
          <a:xfrm xmlns:a="http://schemas.openxmlformats.org/drawingml/2006/main">
            <a:off x="6381750" y="3181350"/>
            <a:ext cx="2209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欠測・未観測stateを因果推定</a:t>
            </a:r>
          </a:p>
        </p:txBody>
      </p:sp>
      <p:sp>
        <p:nvSpPr>
          <p:cNvPr id="42" name="">
            <a:extLst xmlns:a="http://schemas.openxmlformats.org/drawingml/2006/main">
              <a:ext uri="{FF2B5EF4-FFF2-40B4-BE49-F238E27FC236}">
                <a16:creationId xmlns:a16="http://schemas.microsoft.com/office/drawing/2014/main" id="{5D285022-E2F6-4903-B0D6-593F6ABD9BE0}"/>
              </a:ext>
            </a:extLst>
          </p:cNvPr>
          <p:cNvSpPr>
            <a:spLocks xmlns:a="http://schemas.openxmlformats.org/drawingml/2006/main" noGrp="1"/>
          </p:cNvSpPr>
          <p:nvPr/>
        </p:nvSpPr>
        <p:spPr>
          <a:xfrm xmlns:a="http://schemas.openxmlformats.org/drawingml/2006/main">
            <a:off x="8963025" y="3190875"/>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43" name="">
            <a:extLst xmlns:a="http://schemas.openxmlformats.org/drawingml/2006/main">
              <a:ext uri="{FF2B5EF4-FFF2-40B4-BE49-F238E27FC236}">
                <a16:creationId xmlns:a16="http://schemas.microsoft.com/office/drawing/2014/main" id="{176B0EE4-2D8D-4043-B0AD-192297DE8723}"/>
              </a:ext>
            </a:extLst>
          </p:cNvPr>
          <p:cNvSpPr>
            <a:spLocks xmlns:a="http://schemas.openxmlformats.org/drawingml/2006/main" noGrp="1"/>
          </p:cNvSpPr>
          <p:nvPr/>
        </p:nvSpPr>
        <p:spPr>
          <a:xfrm xmlns:a="http://schemas.openxmlformats.org/drawingml/2006/main">
            <a:off x="9010650" y="3200400"/>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GAP 3</a:t>
            </a:r>
          </a:p>
        </p:txBody>
      </p:sp>
      <p:sp>
        <p:nvSpPr>
          <p:cNvPr id="44" name="">
            <a:extLst xmlns:a="http://schemas.openxmlformats.org/drawingml/2006/main">
              <a:ext uri="{FF2B5EF4-FFF2-40B4-BE49-F238E27FC236}">
                <a16:creationId xmlns:a16="http://schemas.microsoft.com/office/drawing/2014/main" id="{A616E7ED-709C-4650-9437-68C517DE89BE}"/>
              </a:ext>
            </a:extLst>
          </p:cNvPr>
          <p:cNvSpPr>
            <a:spLocks xmlns:a="http://schemas.openxmlformats.org/drawingml/2006/main" noGrp="1"/>
          </p:cNvSpPr>
          <p:nvPr/>
        </p:nvSpPr>
        <p:spPr>
          <a:xfrm xmlns:a="http://schemas.openxmlformats.org/drawingml/2006/main">
            <a:off x="9686925" y="3181350"/>
            <a:ext cx="1952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平均精度と安全保証を分離</a:t>
            </a:r>
          </a:p>
        </p:txBody>
      </p:sp>
      <p:graphicFrame>
        <p:nvGraphicFramePr>
          <p:cNvPr id="92" name=""/>
          <p:cNvGraphicFramePr/>
          <p:nvPr/>
        </p:nvGraphicFramePr>
        <p:xfrm>
          <a:off xmlns:a="http://schemas.openxmlformats.org/drawingml/2006/main" x="552450" y="3657600"/>
          <a:ext xmlns:a="http://schemas.openxmlformats.org/drawingml/2006/main" cx="11087100" cy="2038350"/>
        </p:xfrm>
        <a:graphic xmlns:a="http://schemas.openxmlformats.org/drawingml/2006/main">
          <a:graphicData uri="http://schemas.openxmlformats.org/drawingml/2006/table">
            <a:tbl>
              <a:tblPr/>
              <a:tblGrid>
                <a:gridCol w="2495550"/>
                <a:gridCol w="2743200"/>
                <a:gridCol w="3009900"/>
                <a:gridCol w="2838450"/>
              </a:tblGrid>
              <a:tr h="509588">
                <a:tc>
                  <a:txBody>
                    <a:bodyPr/>
                    <a:lstStyle/>
                    <a:p>
                      <a:r>
                        <a:rPr sz="938" b="1">
                          <a:solidFill>
                            <a:srgbClr val="FFFFFF"/>
                          </a:solidFill>
                          <a:latin typeface="Yu Gothic"/>
                          <a:ea typeface="Yu Gothic"/>
                          <a:cs typeface="Yu Gothic"/>
                        </a:rPr>
                        <a:t>設計上の課題</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現場で起きる問題</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本基盤で埋める部分</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残すべき検証境界</a:t>
                      </a:r>
                    </a:p>
                  </a:txBody>
                  <a:tcPr marL="91440" marR="91440" marT="45720" marB="45720">
                    <a:solidFill>
                      <a:srgbClr val="007FA8"/>
                    </a:solidFill>
                  </a:tcPr>
                </a:tc>
              </a:tr>
              <a:tr h="509588">
                <a:tc>
                  <a:txBody>
                    <a:bodyPr/>
                    <a:lstStyle/>
                    <a:p>
                      <a:r>
                        <a:rPr sz="878">
                          <a:solidFill>
                            <a:srgbClr val="5B5B5B"/>
                          </a:solidFill>
                          <a:latin typeface="Yu Gothic"/>
                          <a:ea typeface="Yu Gothic"/>
                          <a:cs typeface="Yu Gothic"/>
                        </a:rPr>
                        <a:t>CAEは高忠実度だがoffline</a:t>
                      </a:r>
                    </a:p>
                  </a:txBody>
                  <a:tcPr marL="91440" marR="91440" marT="45720" marB="45720">
                    <a:solidFill>
                      <a:srgbClr val="FFFFFF"/>
                    </a:solidFill>
                  </a:tcPr>
                </a:tc>
                <a:tc>
                  <a:txBody>
                    <a:bodyPr/>
                    <a:lstStyle/>
                    <a:p>
                      <a:r>
                        <a:rPr sz="878">
                          <a:solidFill>
                            <a:srgbClr val="5B5B5B"/>
                          </a:solidFill>
                          <a:latin typeface="Yu Gothic"/>
                          <a:ea typeface="Yu Gothic"/>
                          <a:cs typeface="Yu Gothic"/>
                        </a:rPr>
                        <a:t>recipe変更ごとの再計算が重い</a:t>
                      </a:r>
                    </a:p>
                  </a:txBody>
                  <a:tcPr marL="91440" marR="91440" marT="45720" marB="45720">
                    <a:solidFill>
                      <a:srgbClr val="FFFFFF"/>
                    </a:solidFill>
                  </a:tcPr>
                </a:tc>
                <a:tc>
                  <a:txBody>
                    <a:bodyPr/>
                    <a:lstStyle/>
                    <a:p>
                      <a:r>
                        <a:rPr sz="878">
                          <a:solidFill>
                            <a:srgbClr val="5B5B5B"/>
                          </a:solidFill>
                          <a:latin typeface="Yu Gothic"/>
                          <a:ea typeface="Yu Gothic"/>
                          <a:cs typeface="Yu Gothic"/>
                        </a:rPr>
                        <a:t>学習済みartifactで高速rollout</a:t>
                      </a:r>
                    </a:p>
                  </a:txBody>
                  <a:tcPr marL="91440" marR="91440" marT="45720" marB="45720">
                    <a:solidFill>
                      <a:srgbClr val="FFFFFF"/>
                    </a:solidFill>
                  </a:tcPr>
                </a:tc>
                <a:tc>
                  <a:txBody>
                    <a:bodyPr/>
                    <a:lstStyle/>
                    <a:p>
                      <a:r>
                        <a:rPr sz="878">
                          <a:solidFill>
                            <a:srgbClr val="5B5B5B"/>
                          </a:solidFill>
                          <a:latin typeface="Yu Gothic"/>
                          <a:ea typeface="Yu Gothic"/>
                          <a:cs typeface="Yu Gothic"/>
                        </a:rPr>
                        <a:t>形状・物性変更時は再CAE</a:t>
                      </a:r>
                    </a:p>
                  </a:txBody>
                  <a:tcPr marL="91440" marR="91440" marT="45720" marB="45720">
                    <a:solidFill>
                      <a:srgbClr val="FFFFFF"/>
                    </a:solidFill>
                  </a:tcPr>
                </a:tc>
              </a:tr>
              <a:tr h="509588">
                <a:tc>
                  <a:txBody>
                    <a:bodyPr/>
                    <a:lstStyle/>
                    <a:p>
                      <a:r>
                        <a:rPr sz="878">
                          <a:solidFill>
                            <a:srgbClr val="5B5B5B"/>
                          </a:solidFill>
                          <a:latin typeface="Yu Gothic"/>
                          <a:ea typeface="Yu Gothic"/>
                          <a:cs typeface="Yu Gothic"/>
                        </a:rPr>
                        <a:t>sensorは局所・疎・非同期</a:t>
                      </a:r>
                    </a:p>
                  </a:txBody>
                  <a:tcPr marL="91440" marR="91440" marT="45720" marB="45720">
                    <a:solidFill>
                      <a:srgbClr val="F8F8F8"/>
                    </a:solidFill>
                  </a:tcPr>
                </a:tc>
                <a:tc>
                  <a:txBody>
                    <a:bodyPr/>
                    <a:lstStyle/>
                    <a:p>
                      <a:r>
                        <a:rPr sz="878">
                          <a:solidFill>
                            <a:srgbClr val="5B5B5B"/>
                          </a:solidFill>
                          <a:latin typeface="Yu Gothic"/>
                          <a:ea typeface="Yu Gothic"/>
                          <a:cs typeface="Yu Gothic"/>
                        </a:rPr>
                        <a:t>内部温度と遅れが直接見えない</a:t>
                      </a:r>
                    </a:p>
                  </a:txBody>
                  <a:tcPr marL="91440" marR="91440" marT="45720" marB="45720">
                    <a:solidFill>
                      <a:srgbClr val="F8F8F8"/>
                    </a:solidFill>
                  </a:tcPr>
                </a:tc>
                <a:tc>
                  <a:txBody>
                    <a:bodyPr/>
                    <a:lstStyle/>
                    <a:p>
                      <a:r>
                        <a:rPr sz="878">
                          <a:solidFill>
                            <a:srgbClr val="5B5B5B"/>
                          </a:solidFill>
                          <a:latin typeface="Yu Gothic"/>
                          <a:ea typeface="Yu Gothic"/>
                          <a:cs typeface="Yu Gothic"/>
                        </a:rPr>
                        <a:t>観測写像Hとactuator stateで推定</a:t>
                      </a:r>
                    </a:p>
                  </a:txBody>
                  <a:tcPr marL="91440" marR="91440" marT="45720" marB="45720">
                    <a:solidFill>
                      <a:srgbClr val="F8F8F8"/>
                    </a:solidFill>
                  </a:tcPr>
                </a:tc>
                <a:tc>
                  <a:txBody>
                    <a:bodyPr/>
                    <a:lstStyle/>
                    <a:p>
                      <a:r>
                        <a:rPr sz="878">
                          <a:solidFill>
                            <a:srgbClr val="5B5B5B"/>
                          </a:solidFill>
                          <a:latin typeface="Yu Gothic"/>
                          <a:ea typeface="Yu Gothic"/>
                          <a:cs typeface="Yu Gothic"/>
                        </a:rPr>
                        <a:t>observabilityと校正基準</a:t>
                      </a:r>
                    </a:p>
                  </a:txBody>
                  <a:tcPr marL="91440" marR="91440" marT="45720" marB="45720">
                    <a:solidFill>
                      <a:srgbClr val="F8F8F8"/>
                    </a:solidFill>
                  </a:tcPr>
                </a:tc>
              </a:tr>
              <a:tr h="509588">
                <a:tc>
                  <a:txBody>
                    <a:bodyPr/>
                    <a:lstStyle/>
                    <a:p>
                      <a:r>
                        <a:rPr sz="878">
                          <a:solidFill>
                            <a:srgbClr val="5B5B5B"/>
                          </a:solidFill>
                          <a:latin typeface="Yu Gothic"/>
                          <a:ea typeface="Yu Gothic"/>
                          <a:cs typeface="Yu Gothic"/>
                        </a:rPr>
                        <a:t>平均誤差が小さくてもmodel gapが残る</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hotspot・放射感度を過小評価</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holdout・negative control・coverage表</a:t>
                      </a:r>
                    </a:p>
                  </a:txBody>
                  <a:tcPr marL="91440" marR="91440" marT="45720" marB="45720">
                    <a:solidFill>
                      <a:srgbClr val="FFFFFF"/>
                    </a:solidFill>
                  </a:tcPr>
                </a:tc>
                <a:tc>
                  <a:txBody>
                    <a:bodyPr/>
                    <a:lstStyle/>
                    <a:p>
                      <a:r>
                        <a:rPr sz="878">
                          <a:solidFill>
                            <a:srgbClr val="5B5B5B"/>
                          </a:solidFill>
                          <a:latin typeface="Yu Gothic"/>
                          <a:ea typeface="Yu Gothic"/>
                          <a:cs typeface="Yu Gothic"/>
                        </a:rPr>
                        <a:t>local fieldと製品margin</a:t>
                      </a:r>
                    </a:p>
                  </a:txBody>
                  <a:tcPr marL="91440" marR="91440" marT="45720" marB="45720">
                    <a:solidFill>
                      <a:srgbClr val="FFFFFF"/>
                    </a:solidFill>
                  </a:tcPr>
                </a:tc>
              </a:tr>
            </a:tbl>
          </a:graphicData>
        </a:graphic>
      </p:graphicFrame>
      <p:sp>
        <p:nvSpPr>
          <p:cNvPr id="46" name="">
            <a:extLst xmlns:a="http://schemas.openxmlformats.org/drawingml/2006/main">
              <a:ext uri="{FF2B5EF4-FFF2-40B4-BE49-F238E27FC236}">
                <a16:creationId xmlns:a16="http://schemas.microsoft.com/office/drawing/2014/main" id="{1363228E-B0FF-4214-9F77-F6F71F88509C}"/>
              </a:ext>
            </a:extLst>
          </p:cNvPr>
          <p:cNvSpPr>
            <a:spLocks xmlns:a="http://schemas.openxmlformats.org/drawingml/2006/main" noGrp="1"/>
          </p:cNvSpPr>
          <p:nvPr/>
        </p:nvSpPr>
        <p:spPr>
          <a:xfrm xmlns:a="http://schemas.openxmlformats.org/drawingml/2006/main">
            <a:off x="552450" y="5857875"/>
            <a:ext cx="11087100" cy="3905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CB58A7D3-3CC7-43B5-9493-8AA6B338E31F}"/>
              </a:ext>
            </a:extLst>
          </p:cNvPr>
          <p:cNvSpPr>
            <a:spLocks xmlns:a="http://schemas.openxmlformats.org/drawingml/2006/main" noGrp="1"/>
          </p:cNvSpPr>
          <p:nvPr/>
        </p:nvSpPr>
        <p:spPr>
          <a:xfrm xmlns:a="http://schemas.openxmlformats.org/drawingml/2006/main">
            <a:off x="723900" y="5924550"/>
            <a:ext cx="1074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FFFFFF"/>
                </a:solidFill>
                <a:latin typeface="Yu Gothic"/>
                <a:ea typeface="Yu Gothic"/>
                <a:cs typeface="Yu Gothic"/>
              </a:defRPr>
            </a:pPr>
            <a:r>
              <a:rPr sz="938" b="1" i="0">
                <a:solidFill>
                  <a:srgbClr val="FFFFFF"/>
                </a:solidFill>
                <a:latin typeface="Yu Gothic"/>
                <a:ea typeface="Yu Gothic"/>
                <a:cs typeface="Yu Gothic"/>
              </a:rPr>
              <a:t>設計原則：高忠実度modelを置き換えるのではなく、同じ検証境界の中で高速な意思決定層を追加する。</a:t>
            </a:r>
          </a:p>
        </p:txBody>
      </p:sp>
    </p:spTree>
    <p:extLst>
      <p:ext uri="{BB962C8B-B14F-4D97-AF65-F5344CB8AC3E}">
        <p14:creationId xmlns:p14="http://schemas.microsoft.com/office/powerpoint/2010/main" val="9289956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C65713D-28E1-4263-9C61-7C0E97537E3C}"/>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44B9C3-7F5A-42FD-892B-52252082102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PURPOSE</a:t>
            </a:r>
          </a:p>
        </p:txBody>
      </p:sp>
      <p:sp>
        <p:nvSpPr>
          <p:cNvPr id="3" name="">
            <a:extLst xmlns:a="http://schemas.openxmlformats.org/drawingml/2006/main">
              <a:ext uri="{FF2B5EF4-FFF2-40B4-BE49-F238E27FC236}">
                <a16:creationId xmlns:a16="http://schemas.microsoft.com/office/drawing/2014/main" id="{C45FDB66-E340-4FC5-9A2A-1C0FB692FC30}"/>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本コードの目的は、同一の熱状態定義で同定・予測・監視を再現可能に実行すること</a:t>
            </a:r>
          </a:p>
        </p:txBody>
      </p:sp>
      <p:sp>
        <p:nvSpPr>
          <p:cNvPr id="4" name="">
            <a:extLst xmlns:a="http://schemas.openxmlformats.org/drawingml/2006/main">
              <a:ext uri="{FF2B5EF4-FFF2-40B4-BE49-F238E27FC236}">
                <a16:creationId xmlns:a16="http://schemas.microsoft.com/office/drawing/2014/main" id="{9672A11F-B029-4A89-999B-E9CD28383EE7}"/>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精度だけでなく、因果性、物理単位、artifact来歴、適用範囲を成果物として残す</a:t>
            </a:r>
          </a:p>
        </p:txBody>
      </p:sp>
      <p:sp>
        <p:nvSpPr>
          <p:cNvPr id="5" name="">
            <a:extLst xmlns:a="http://schemas.openxmlformats.org/drawingml/2006/main">
              <a:ext uri="{FF2B5EF4-FFF2-40B4-BE49-F238E27FC236}">
                <a16:creationId xmlns:a16="http://schemas.microsoft.com/office/drawing/2014/main" id="{942121B5-6840-4108-847E-A75CA326AEA3}"/>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9351457-6C46-4046-9D37-FA7A647B2361}"/>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1AB7F85-5397-4576-B848-190FEB1D6D50}"/>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BFFAF17F-5B8C-404F-A087-2AD29CD3E7DD}"/>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3</a:t>
            </a:r>
          </a:p>
        </p:txBody>
      </p:sp>
      <p:graphicFrame>
        <p:nvGraphicFramePr>
          <p:cNvPr id="31" name=""/>
          <p:cNvGraphicFramePr/>
          <p:nvPr/>
        </p:nvGraphicFramePr>
        <p:xfrm>
          <a:off xmlns:a="http://schemas.openxmlformats.org/drawingml/2006/main" x="552450" y="1457325"/>
          <a:ext xmlns:a="http://schemas.openxmlformats.org/drawingml/2006/main" cx="11087100" cy="2876550"/>
        </p:xfrm>
        <a:graphic xmlns:a="http://schemas.openxmlformats.org/drawingml/2006/main">
          <a:graphicData uri="http://schemas.openxmlformats.org/drawingml/2006/table">
            <a:tbl>
              <a:tblPr/>
              <a:tblGrid>
                <a:gridCol w="1809750"/>
                <a:gridCol w="2190750"/>
                <a:gridCol w="2762250"/>
                <a:gridCol w="2647950"/>
                <a:gridCol w="1676400"/>
              </a:tblGrid>
              <a:tr h="575310">
                <a:tc>
                  <a:txBody>
                    <a:bodyPr/>
                    <a:lstStyle/>
                    <a:p>
                      <a:r>
                        <a:rPr sz="938" b="1">
                          <a:solidFill>
                            <a:srgbClr val="FFFFFF"/>
                          </a:solidFill>
                          <a:latin typeface="Yu Gothic"/>
                          <a:ea typeface="Yu Gothic"/>
                          <a:cs typeface="Yu Gothic"/>
                        </a:rPr>
                        <a:t>目的</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入力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処理責務</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主要出力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成立条件</a:t>
                      </a:r>
                    </a:p>
                  </a:txBody>
                  <a:tcPr marL="91440" marR="91440" marT="45720" marB="45720">
                    <a:solidFill>
                      <a:srgbClr val="00A5D8"/>
                    </a:solidFill>
                  </a:tcPr>
                </a:tc>
              </a:tr>
              <a:tr h="575310">
                <a:tc>
                  <a:txBody>
                    <a:bodyPr/>
                    <a:lstStyle/>
                    <a:p>
                      <a:r>
                        <a:rPr sz="855" b="1">
                          <a:solidFill>
                            <a:srgbClr val="007FA8"/>
                          </a:solidFill>
                          <a:latin typeface="Yu Gothic"/>
                          <a:ea typeface="Yu Gothic"/>
                          <a:cs typeface="Yu Gothic"/>
                        </a:rPr>
                        <a:t>物理係数の同定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複数trajectory CSV</a:t>
                      </a:r>
                    </a:p>
                  </a:txBody>
                  <a:tcPr marL="91440" marR="91440" marT="45720" marB="45720">
                    <a:solidFill>
                      <a:srgbClr val="FFFFFF"/>
                    </a:solidFill>
                  </a:tcPr>
                </a:tc>
                <a:tc>
                  <a:txBody>
                    <a:bodyPr/>
                    <a:lstStyle/>
                    <a:p>
                      <a:r>
                        <a:rPr sz="855">
                          <a:solidFill>
                            <a:srgbClr val="5B5B5B"/>
                          </a:solidFill>
                          <a:latin typeface="Yu Gothic"/>
                          <a:ea typeface="Yu Gothic"/>
                          <a:cs typeface="Yu Gothic"/>
                        </a:rPr>
                        <a:t>full/window rollout + robust最適化</a:t>
                      </a:r>
                    </a:p>
                  </a:txBody>
                  <a:tcPr marL="91440" marR="91440" marT="45720" marB="45720">
                    <a:solidFill>
                      <a:srgbClr val="FFFFFF"/>
                    </a:solidFill>
                  </a:tcPr>
                </a:tc>
                <a:tc>
                  <a:txBody>
                    <a:bodyPr/>
                    <a:lstStyle/>
                    <a:p>
                      <a:r>
                        <a:rPr sz="855">
                          <a:solidFill>
                            <a:srgbClr val="5B5B5B"/>
                          </a:solidFill>
                          <a:latin typeface="Yu Gothic"/>
                          <a:ea typeface="Yu Gothic"/>
                          <a:cs typeface="Yu Gothic"/>
                        </a:rPr>
                        <a:t>G・q・τ、holdout指標</a:t>
                      </a:r>
                    </a:p>
                  </a:txBody>
                  <a:tcPr marL="91440" marR="91440" marT="45720" marB="45720">
                    <a:solidFill>
                      <a:srgbClr val="FFFFFF"/>
                    </a:solidFill>
                  </a:tcPr>
                </a:tc>
                <a:tc>
                  <a:txBody>
                    <a:bodyPr/>
                    <a:lstStyle/>
                    <a:p>
                      <a:r>
                        <a:rPr sz="855">
                          <a:solidFill>
                            <a:srgbClr val="5B5B5B"/>
                          </a:solidFill>
                          <a:latin typeface="Yu Gothic"/>
                          <a:ea typeface="Yu Gothic"/>
                          <a:cs typeface="Yu Gothic"/>
                        </a:rPr>
                        <a:t>独立励振と観測可能性</a:t>
                      </a:r>
                    </a:p>
                  </a:txBody>
                  <a:tcPr marL="91440" marR="91440" marT="45720" marB="45720">
                    <a:solidFill>
                      <a:srgbClr val="FFFFFF"/>
                    </a:solidFill>
                  </a:tcPr>
                </a:tc>
              </a:tr>
              <a:tr h="575310">
                <a:tc>
                  <a:txBody>
                    <a:bodyPr/>
                    <a:lstStyle/>
                    <a:p>
                      <a:r>
                        <a:rPr sz="855" b="1">
                          <a:solidFill>
                            <a:srgbClr val="4D8710"/>
                          </a:solidFill>
                          <a:latin typeface="Yu Gothic"/>
                          <a:ea typeface="Yu Gothic"/>
                          <a:cs typeface="Yu Gothic"/>
                        </a:rPr>
                        <a:t>将来温度の予測</a:t>
                      </a:r>
                    </a:p>
                  </a:txBody>
                  <a:tcPr marL="91440" marR="91440" marT="45720" marB="45720">
                    <a:solidFill>
                      <a:srgbClr val="F8F8F8"/>
                    </a:solidFill>
                  </a:tcPr>
                </a:tc>
                <a:tc>
                  <a:txBody>
                    <a:bodyPr/>
                    <a:lstStyle/>
                    <a:p>
                      <a:r>
                        <a:rPr sz="855">
                          <a:solidFill>
                            <a:srgbClr val="5B5B5B"/>
                          </a:solidFill>
                          <a:latin typeface="Yu Gothic"/>
                          <a:ea typeface="Yu Gothic"/>
                          <a:cs typeface="Yu Gothic"/>
                        </a:rPr>
                        <a:t>観測history + command suffix</a:t>
                      </a:r>
                    </a:p>
                  </a:txBody>
                  <a:tcPr marL="91440" marR="91440" marT="45720" marB="45720">
                    <a:solidFill>
                      <a:srgbClr val="F8F8F8"/>
                    </a:solidFill>
                  </a:tcPr>
                </a:tc>
                <a:tc>
                  <a:txBody>
                    <a:bodyPr/>
                    <a:lstStyle/>
                    <a:p>
                      <a:r>
                        <a:rPr sz="855">
                          <a:solidFill>
                            <a:srgbClr val="5B5B5B"/>
                          </a:solidFill>
                          <a:latin typeface="Yu Gothic"/>
                          <a:ea typeface="Yu Gothic"/>
                          <a:cs typeface="Yu Gothic"/>
                        </a:rPr>
                        <a:t>history同化後のopen-loop積分</a:t>
                      </a:r>
                    </a:p>
                  </a:txBody>
                  <a:tcPr marL="91440" marR="91440" marT="45720" marB="45720">
                    <a:solidFill>
                      <a:srgbClr val="F8F8F8"/>
                    </a:solidFill>
                  </a:tcPr>
                </a:tc>
                <a:tc>
                  <a:txBody>
                    <a:bodyPr/>
                    <a:lstStyle/>
                    <a:p>
                      <a:r>
                        <a:rPr sz="855">
                          <a:solidFill>
                            <a:srgbClr val="5B5B5B"/>
                          </a:solidFill>
                          <a:latin typeface="Yu Gothic"/>
                          <a:ea typeface="Yu Gothic"/>
                          <a:cs typeface="Yu Gothic"/>
                        </a:rPr>
                        <a:t>node/sensor温度、95%区間</a:t>
                      </a:r>
                    </a:p>
                  </a:txBody>
                  <a:tcPr marL="91440" marR="91440" marT="45720" marB="45720">
                    <a:solidFill>
                      <a:srgbClr val="F8F8F8"/>
                    </a:solidFill>
                  </a:tcPr>
                </a:tc>
                <a:tc>
                  <a:txBody>
                    <a:bodyPr/>
                    <a:lstStyle/>
                    <a:p>
                      <a:r>
                        <a:rPr sz="855">
                          <a:solidFill>
                            <a:srgbClr val="5B5B5B"/>
                          </a:solidFill>
                          <a:latin typeface="Yu Gothic"/>
                          <a:ea typeface="Yu Gothic"/>
                          <a:cs typeface="Yu Gothic"/>
                        </a:rPr>
                        <a:t>未来観測の非混入</a:t>
                      </a:r>
                    </a:p>
                  </a:txBody>
                  <a:tcPr marL="91440" marR="91440" marT="45720" marB="45720">
                    <a:solidFill>
                      <a:srgbClr val="F8F8F8"/>
                    </a:solidFill>
                  </a:tcPr>
                </a:tc>
              </a:tr>
              <a:tr h="575310">
                <a:tc>
                  <a:txBody>
                    <a:bodyPr/>
                    <a:lstStyle/>
                    <a:p>
                      <a:r>
                        <a:rPr sz="855" b="1">
                          <a:solidFill>
                            <a:srgbClr val="7B2DAF"/>
                          </a:solidFill>
                          <a:latin typeface="Yu Gothic"/>
                          <a:ea typeface="Yu Gothic"/>
                          <a:cs typeface="Yu Gothic"/>
                        </a:rPr>
                        <a:t>状態・異常の監視</a:t>
                      </a:r>
                    </a:p>
                  </a:txBody>
                  <a:tcPr marL="91440" marR="91440" marT="45720" marB="45720">
                    <a:solidFill>
                      <a:srgbClr val="FFFFFF"/>
                    </a:solidFill>
                  </a:tcPr>
                </a:tc>
                <a:tc>
                  <a:txBody>
                    <a:bodyPr/>
                    <a:lstStyle/>
                    <a:p>
                      <a:r>
                        <a:rPr sz="855">
                          <a:solidFill>
                            <a:srgbClr val="5B5B5B"/>
                          </a:solidFill>
                          <a:latin typeface="Yu Gothic"/>
                          <a:ea typeface="Yu Gothic"/>
                          <a:cs typeface="Yu Gothic"/>
                        </a:rPr>
                        <a:t>実測温度 + 適用command</a:t>
                      </a:r>
                    </a:p>
                  </a:txBody>
                  <a:tcPr marL="91440" marR="91440" marT="45720" marB="45720">
                    <a:solidFill>
                      <a:srgbClr val="FFFFFF"/>
                    </a:solidFill>
                  </a:tcPr>
                </a:tc>
                <a:tc>
                  <a:txBody>
                    <a:bodyPr/>
                    <a:lstStyle/>
                    <a:p>
                      <a:r>
                        <a:rPr sz="855">
                          <a:solidFill>
                            <a:srgbClr val="5B5B5B"/>
                          </a:solidFill>
                          <a:latin typeface="Yu Gothic"/>
                          <a:ea typeface="Yu Gothic"/>
                          <a:cs typeface="Yu Gothic"/>
                        </a:rPr>
                        <a:t>拡張Kalman observer</a:t>
                      </a:r>
                    </a:p>
                  </a:txBody>
                  <a:tcPr marL="91440" marR="91440" marT="45720" marB="45720">
                    <a:solidFill>
                      <a:srgbClr val="FFFFFF"/>
                    </a:solidFill>
                  </a:tcPr>
                </a:tc>
                <a:tc>
                  <a:txBody>
                    <a:bodyPr/>
                    <a:lstStyle/>
                    <a:p>
                      <a:r>
                        <a:rPr sz="855">
                          <a:solidFill>
                            <a:srgbClr val="5B5B5B"/>
                          </a:solidFill>
                          <a:latin typeface="Yu Gothic"/>
                          <a:ea typeface="Yu Gothic"/>
                          <a:cs typeface="Yu Gothic"/>
                        </a:rPr>
                        <a:t>未知熱、相対bias、innovation、NIS</a:t>
                      </a:r>
                    </a:p>
                  </a:txBody>
                  <a:tcPr marL="91440" marR="91440" marT="45720" marB="45720">
                    <a:solidFill>
                      <a:srgbClr val="FFFFFF"/>
                    </a:solidFill>
                  </a:tcPr>
                </a:tc>
                <a:tc>
                  <a:txBody>
                    <a:bodyPr/>
                    <a:lstStyle/>
                    <a:p>
                      <a:r>
                        <a:rPr sz="855">
                          <a:solidFill>
                            <a:srgbClr val="5B5B5B"/>
                          </a:solidFill>
                          <a:latin typeface="Yu Gothic"/>
                          <a:ea typeface="Yu Gothic"/>
                          <a:cs typeface="Yu Gothic"/>
                        </a:rPr>
                        <a:t>bias gaugeとnoise調整</a:t>
                      </a:r>
                    </a:p>
                  </a:txBody>
                  <a:tcPr marL="91440" marR="91440" marT="45720" marB="45720">
                    <a:solidFill>
                      <a:srgbClr val="FFFFFF"/>
                    </a:solidFill>
                  </a:tcPr>
                </a:tc>
              </a:tr>
              <a:tr h="575310">
                <a:tc>
                  <a:txBody>
                    <a:bodyPr/>
                    <a:lstStyle/>
                    <a:p>
                      <a:r>
                        <a:rPr sz="855" b="1">
                          <a:solidFill>
                            <a:srgbClr val="E5A900"/>
                          </a:solidFill>
                          <a:latin typeface="Yu Gothic"/>
                          <a:ea typeface="Yu Gothic"/>
                          <a:cs typeface="Yu Gothic"/>
                        </a:rPr>
                        <a:t>監査可能な配備</a:t>
                      </a:r>
                    </a:p>
                  </a:txBody>
                  <a:tcPr marL="91440" marR="91440" marT="45720" marB="45720">
                    <a:solidFill>
                      <a:srgbClr val="F8F8F8"/>
                    </a:solidFill>
                  </a:tcPr>
                </a:tc>
                <a:tc>
                  <a:txBody>
                    <a:bodyPr/>
                    <a:lstStyle/>
                    <a:p>
                      <a:r>
                        <a:rPr sz="855">
                          <a:solidFill>
                            <a:srgbClr val="5B5B5B"/>
                          </a:solidFill>
                          <a:latin typeface="Yu Gothic"/>
                          <a:ea typeface="Yu Gothic"/>
                          <a:cs typeface="Yu Gothic"/>
                        </a:rPr>
                        <a:t>system/config/artifact</a:t>
                      </a:r>
                    </a:p>
                  </a:txBody>
                  <a:tcPr marL="91440" marR="91440" marT="45720" marB="45720">
                    <a:solidFill>
                      <a:srgbClr val="F8F8F8"/>
                    </a:solidFill>
                  </a:tcPr>
                </a:tc>
                <a:tc>
                  <a:txBody>
                    <a:bodyPr/>
                    <a:lstStyle/>
                    <a:p>
                      <a:r>
                        <a:rPr sz="855">
                          <a:solidFill>
                            <a:srgbClr val="5B5B5B"/>
                          </a:solidFill>
                          <a:latin typeface="Yu Gothic"/>
                          <a:ea typeface="Yu Gothic"/>
                          <a:cs typeface="Yu Gothic"/>
                        </a:rPr>
                        <a:t>hash検証・atomic出力</a:t>
                      </a:r>
                    </a:p>
                  </a:txBody>
                  <a:tcPr marL="91440" marR="91440" marT="45720" marB="45720">
                    <a:solidFill>
                      <a:srgbClr val="F8F8F8"/>
                    </a:solidFill>
                  </a:tcPr>
                </a:tc>
                <a:tc>
                  <a:txBody>
                    <a:bodyPr/>
                    <a:lstStyle/>
                    <a:p>
                      <a:r>
                        <a:rPr sz="855">
                          <a:solidFill>
                            <a:srgbClr val="5B5B5B"/>
                          </a:solidFill>
                          <a:latin typeface="Yu Gothic"/>
                          <a:ea typeface="Yu Gothic"/>
                          <a:cs typeface="Yu Gothic"/>
                        </a:rPr>
                        <a:t>model.pt / YAML / metadata / manifest</a:t>
                      </a:r>
                    </a:p>
                  </a:txBody>
                  <a:tcPr marL="91440" marR="91440" marT="45720" marB="45720">
                    <a:solidFill>
                      <a:srgbClr val="F8F8F8"/>
                    </a:solidFill>
                  </a:tcPr>
                </a:tc>
                <a:tc>
                  <a:txBody>
                    <a:bodyPr/>
                    <a:lstStyle/>
                    <a:p>
                      <a:r>
                        <a:rPr sz="855">
                          <a:solidFill>
                            <a:srgbClr val="5B5B5B"/>
                          </a:solidFill>
                          <a:latin typeface="Yu Gothic"/>
                          <a:ea typeface="Yu Gothic"/>
                          <a:cs typeface="Yu Gothic"/>
                        </a:rPr>
                        <a:t>schema互換性と入力契約</a:t>
                      </a:r>
                    </a:p>
                  </a:txBody>
                  <a:tcPr marL="91440" marR="91440" marT="45720" marB="45720">
                    <a:solidFill>
                      <a:srgbClr val="F8F8F8"/>
                    </a:solidFill>
                  </a:tcPr>
                </a:tc>
              </a:tr>
            </a:tbl>
          </a:graphicData>
        </a:graphic>
      </p:graphicFrame>
      <p:sp>
        <p:nvSpPr>
          <p:cNvPr id="10" name="">
            <a:extLst xmlns:a="http://schemas.openxmlformats.org/drawingml/2006/main">
              <a:ext uri="{FF2B5EF4-FFF2-40B4-BE49-F238E27FC236}">
                <a16:creationId xmlns:a16="http://schemas.microsoft.com/office/drawing/2014/main" id="{1A994A80-9438-4FE8-8464-950ECF84383F}"/>
              </a:ext>
            </a:extLst>
          </p:cNvPr>
          <p:cNvSpPr>
            <a:spLocks xmlns:a="http://schemas.openxmlformats.org/drawingml/2006/main" noGrp="1"/>
          </p:cNvSpPr>
          <p:nvPr/>
        </p:nvSpPr>
        <p:spPr>
          <a:xfrm xmlns:a="http://schemas.openxmlformats.org/drawingml/2006/main">
            <a:off x="552450" y="457200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非目標と責任境界</a:t>
            </a:r>
          </a:p>
        </p:txBody>
      </p:sp>
      <p:sp>
        <p:nvSpPr>
          <p:cNvPr id="11" name="">
            <a:extLst xmlns:a="http://schemas.openxmlformats.org/drawingml/2006/main">
              <a:ext uri="{FF2B5EF4-FFF2-40B4-BE49-F238E27FC236}">
                <a16:creationId xmlns:a16="http://schemas.microsoft.com/office/drawing/2014/main" id="{BDF0C959-D7B1-4A95-B8D1-60108AB74327}"/>
              </a:ext>
            </a:extLst>
          </p:cNvPr>
          <p:cNvSpPr>
            <a:spLocks xmlns:a="http://schemas.openxmlformats.org/drawingml/2006/main" noGrp="1"/>
          </p:cNvSpPr>
          <p:nvPr/>
        </p:nvSpPr>
        <p:spPr>
          <a:xfrm xmlns:a="http://schemas.openxmlformats.org/drawingml/2006/main">
            <a:off x="552450" y="4962525"/>
            <a:ext cx="3390900" cy="100012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2" name="">
            <a:extLst xmlns:a="http://schemas.openxmlformats.org/drawingml/2006/main">
              <a:ext uri="{FF2B5EF4-FFF2-40B4-BE49-F238E27FC236}">
                <a16:creationId xmlns:a16="http://schemas.microsoft.com/office/drawing/2014/main" id="{876F1C84-44E6-4F99-BAA3-DC101F11E0A8}"/>
              </a:ext>
            </a:extLst>
          </p:cNvPr>
          <p:cNvSpPr>
            <a:spLocks xmlns:a="http://schemas.openxmlformats.org/drawingml/2006/main" noGrp="1"/>
          </p:cNvSpPr>
          <p:nvPr/>
        </p:nvSpPr>
        <p:spPr>
          <a:xfrm xmlns:a="http://schemas.openxmlformats.org/drawingml/2006/main">
            <a:off x="7048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C4493D"/>
            </a:solidFill>
            <a:prstDash val="solid"/>
          </a:ln>
        </p:spPr>
      </p:sp>
      <p:sp>
        <p:nvSpPr>
          <p:cNvPr id="13" name="">
            <a:extLst xmlns:a="http://schemas.openxmlformats.org/drawingml/2006/main">
              <a:ext uri="{FF2B5EF4-FFF2-40B4-BE49-F238E27FC236}">
                <a16:creationId xmlns:a16="http://schemas.microsoft.com/office/drawing/2014/main" id="{B7E59735-E789-4F8E-A26E-C0914C6BD661}"/>
              </a:ext>
            </a:extLst>
          </p:cNvPr>
          <p:cNvSpPr>
            <a:spLocks xmlns:a="http://schemas.openxmlformats.org/drawingml/2006/main" noGrp="1"/>
          </p:cNvSpPr>
          <p:nvPr/>
        </p:nvSpPr>
        <p:spPr>
          <a:xfrm xmlns:a="http://schemas.openxmlformats.org/drawingml/2006/main">
            <a:off x="7524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非目標</a:t>
            </a:r>
          </a:p>
        </p:txBody>
      </p:sp>
      <p:sp>
        <p:nvSpPr>
          <p:cNvPr id="14" name="">
            <a:extLst xmlns:a="http://schemas.openxmlformats.org/drawingml/2006/main">
              <a:ext uri="{FF2B5EF4-FFF2-40B4-BE49-F238E27FC236}">
                <a16:creationId xmlns:a16="http://schemas.microsoft.com/office/drawing/2014/main" id="{DABAC1E1-4480-449C-A4E2-B985DBEE52BE}"/>
              </a:ext>
            </a:extLst>
          </p:cNvPr>
          <p:cNvSpPr>
            <a:spLocks xmlns:a="http://schemas.openxmlformats.org/drawingml/2006/main" noGrp="1"/>
          </p:cNvSpPr>
          <p:nvPr/>
        </p:nvSpPr>
        <p:spPr>
          <a:xfrm xmlns:a="http://schemas.openxmlformats.org/drawingml/2006/main">
            <a:off x="704850" y="5419725"/>
            <a:ext cx="3086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局所hotspot・wafer面内均一性を、node平均から直接保証しない</a:t>
            </a:r>
          </a:p>
        </p:txBody>
      </p:sp>
      <p:sp>
        <p:nvSpPr>
          <p:cNvPr id="15" name="">
            <a:extLst xmlns:a="http://schemas.openxmlformats.org/drawingml/2006/main">
              <a:ext uri="{FF2B5EF4-FFF2-40B4-BE49-F238E27FC236}">
                <a16:creationId xmlns:a16="http://schemas.microsoft.com/office/drawing/2014/main" id="{F4FBD6ED-0E3E-44AE-99B7-8D49DF8F7E88}"/>
              </a:ext>
            </a:extLst>
          </p:cNvPr>
          <p:cNvSpPr>
            <a:spLocks xmlns:a="http://schemas.openxmlformats.org/drawingml/2006/main" noGrp="1"/>
          </p:cNvSpPr>
          <p:nvPr/>
        </p:nvSpPr>
        <p:spPr>
          <a:xfrm xmlns:a="http://schemas.openxmlformats.org/drawingml/2006/main">
            <a:off x="4133850" y="4962525"/>
            <a:ext cx="3581400" cy="100012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6" name="">
            <a:extLst xmlns:a="http://schemas.openxmlformats.org/drawingml/2006/main">
              <a:ext uri="{FF2B5EF4-FFF2-40B4-BE49-F238E27FC236}">
                <a16:creationId xmlns:a16="http://schemas.microsoft.com/office/drawing/2014/main" id="{199A97E2-3DDB-4996-8E97-6BA1F57F6535}"/>
              </a:ext>
            </a:extLst>
          </p:cNvPr>
          <p:cNvSpPr>
            <a:spLocks xmlns:a="http://schemas.openxmlformats.org/drawingml/2006/main" noGrp="1"/>
          </p:cNvSpPr>
          <p:nvPr/>
        </p:nvSpPr>
        <p:spPr>
          <a:xfrm xmlns:a="http://schemas.openxmlformats.org/drawingml/2006/main">
            <a:off x="42862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E5A900"/>
            </a:solidFill>
            <a:prstDash val="solid"/>
          </a:ln>
        </p:spPr>
      </p:sp>
      <p:sp>
        <p:nvSpPr>
          <p:cNvPr id="17" name="">
            <a:extLst xmlns:a="http://schemas.openxmlformats.org/drawingml/2006/main">
              <a:ext uri="{FF2B5EF4-FFF2-40B4-BE49-F238E27FC236}">
                <a16:creationId xmlns:a16="http://schemas.microsoft.com/office/drawing/2014/main" id="{5FE86567-E69B-4AC2-AEE7-DCF828DCB27F}"/>
              </a:ext>
            </a:extLst>
          </p:cNvPr>
          <p:cNvSpPr>
            <a:spLocks xmlns:a="http://schemas.openxmlformats.org/drawingml/2006/main" noGrp="1"/>
          </p:cNvSpPr>
          <p:nvPr/>
        </p:nvSpPr>
        <p:spPr>
          <a:xfrm xmlns:a="http://schemas.openxmlformats.org/drawingml/2006/main">
            <a:off x="43338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E5A900"/>
                </a:solidFill>
                <a:latin typeface="Yu Gothic"/>
                <a:ea typeface="Yu Gothic"/>
                <a:cs typeface="Yu Gothic"/>
              </a:defRPr>
            </a:pPr>
            <a:r>
              <a:rPr sz="788" b="1" i="0">
                <a:solidFill>
                  <a:srgbClr val="E5A900"/>
                </a:solidFill>
                <a:latin typeface="Yu Gothic"/>
                <a:ea typeface="Yu Gothic"/>
                <a:cs typeface="Yu Gothic"/>
              </a:rPr>
              <a:t>現行境界</a:t>
            </a:r>
          </a:p>
        </p:txBody>
      </p:sp>
      <p:sp>
        <p:nvSpPr>
          <p:cNvPr id="18" name="">
            <a:extLst xmlns:a="http://schemas.openxmlformats.org/drawingml/2006/main">
              <a:ext uri="{FF2B5EF4-FFF2-40B4-BE49-F238E27FC236}">
                <a16:creationId xmlns:a16="http://schemas.microsoft.com/office/drawing/2014/main" id="{4FE30F0D-0F18-4BF9-8CF8-37F89528AF04}"/>
              </a:ext>
            </a:extLst>
          </p:cNvPr>
          <p:cNvSpPr>
            <a:spLocks xmlns:a="http://schemas.openxmlformats.org/drawingml/2006/main" noGrp="1"/>
          </p:cNvSpPr>
          <p:nvPr/>
        </p:nvSpPr>
        <p:spPr>
          <a:xfrm xmlns:a="http://schemas.openxmlformats.org/drawingml/2006/main">
            <a:off x="4286250" y="5419725"/>
            <a:ext cx="3276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T⁴放射、相変化、温度依存物性はfirst-class termではない</a:t>
            </a:r>
          </a:p>
        </p:txBody>
      </p:sp>
      <p:sp>
        <p:nvSpPr>
          <p:cNvPr id="19" name="">
            <a:extLst xmlns:a="http://schemas.openxmlformats.org/drawingml/2006/main">
              <a:ext uri="{FF2B5EF4-FFF2-40B4-BE49-F238E27FC236}">
                <a16:creationId xmlns:a16="http://schemas.microsoft.com/office/drawing/2014/main" id="{2316B789-9356-4EED-B5D7-4A16AF1748A7}"/>
              </a:ext>
            </a:extLst>
          </p:cNvPr>
          <p:cNvSpPr>
            <a:spLocks xmlns:a="http://schemas.openxmlformats.org/drawingml/2006/main" noGrp="1"/>
          </p:cNvSpPr>
          <p:nvPr/>
        </p:nvSpPr>
        <p:spPr>
          <a:xfrm xmlns:a="http://schemas.openxmlformats.org/drawingml/2006/main">
            <a:off x="7905750" y="4962525"/>
            <a:ext cx="3733800" cy="100012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0" name="">
            <a:extLst xmlns:a="http://schemas.openxmlformats.org/drawingml/2006/main">
              <a:ext uri="{FF2B5EF4-FFF2-40B4-BE49-F238E27FC236}">
                <a16:creationId xmlns:a16="http://schemas.microsoft.com/office/drawing/2014/main" id="{C608D342-5DCA-43C6-94E1-DEFB17FF64F2}"/>
              </a:ext>
            </a:extLst>
          </p:cNvPr>
          <p:cNvSpPr>
            <a:spLocks xmlns:a="http://schemas.openxmlformats.org/drawingml/2006/main" noGrp="1"/>
          </p:cNvSpPr>
          <p:nvPr/>
        </p:nvSpPr>
        <p:spPr>
          <a:xfrm xmlns:a="http://schemas.openxmlformats.org/drawingml/2006/main">
            <a:off x="8058150" y="5095875"/>
            <a:ext cx="78105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B2DAF"/>
            </a:solidFill>
            <a:prstDash val="solid"/>
          </a:ln>
        </p:spPr>
      </p:sp>
      <p:sp>
        <p:nvSpPr>
          <p:cNvPr id="21" name="">
            <a:extLst xmlns:a="http://schemas.openxmlformats.org/drawingml/2006/main">
              <a:ext uri="{FF2B5EF4-FFF2-40B4-BE49-F238E27FC236}">
                <a16:creationId xmlns:a16="http://schemas.microsoft.com/office/drawing/2014/main" id="{76E32624-8067-4D73-8784-8F5C96037C43}"/>
              </a:ext>
            </a:extLst>
          </p:cNvPr>
          <p:cNvSpPr>
            <a:spLocks xmlns:a="http://schemas.openxmlformats.org/drawingml/2006/main" noGrp="1"/>
          </p:cNvSpPr>
          <p:nvPr/>
        </p:nvSpPr>
        <p:spPr>
          <a:xfrm xmlns:a="http://schemas.openxmlformats.org/drawingml/2006/main">
            <a:off x="8105775" y="51054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識別境界</a:t>
            </a:r>
          </a:p>
        </p:txBody>
      </p:sp>
      <p:sp>
        <p:nvSpPr>
          <p:cNvPr id="22" name="">
            <a:extLst xmlns:a="http://schemas.openxmlformats.org/drawingml/2006/main">
              <a:ext uri="{FF2B5EF4-FFF2-40B4-BE49-F238E27FC236}">
                <a16:creationId xmlns:a16="http://schemas.microsoft.com/office/drawing/2014/main" id="{38E937A5-DB6C-4529-9D88-1CA954F198CE}"/>
              </a:ext>
            </a:extLst>
          </p:cNvPr>
          <p:cNvSpPr>
            <a:spLocks xmlns:a="http://schemas.openxmlformats.org/drawingml/2006/main" noGrp="1"/>
          </p:cNvSpPr>
          <p:nvPr/>
        </p:nvSpPr>
        <p:spPr>
          <a:xfrm xmlns:a="http://schemas.openxmlformats.org/drawingml/2006/main">
            <a:off x="8058150" y="5419725"/>
            <a:ext cx="3429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外部基準なしの共通sensor offsetと一様温度ずれは分離不能</a:t>
            </a:r>
          </a:p>
        </p:txBody>
      </p:sp>
    </p:spTree>
    <p:extLst>
      <p:ext uri="{BB962C8B-B14F-4D97-AF65-F5344CB8AC3E}">
        <p14:creationId xmlns:p14="http://schemas.microsoft.com/office/powerpoint/2010/main" val="18366700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C81D8067-586A-42C5-B158-CE01AD3EB784}"/>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9E7B474-59E4-4900-B88C-1DEBB53B9CD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CODE ARCHITECTURE</a:t>
            </a:r>
          </a:p>
        </p:txBody>
      </p:sp>
      <p:sp>
        <p:nvSpPr>
          <p:cNvPr id="3" name="">
            <a:extLst xmlns:a="http://schemas.openxmlformats.org/drawingml/2006/main">
              <a:ext uri="{FF2B5EF4-FFF2-40B4-BE49-F238E27FC236}">
                <a16:creationId xmlns:a16="http://schemas.microsoft.com/office/drawing/2014/main" id="{4A7DC28C-B7A7-408A-965E-BF3C0A7C7286}"/>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依存方向を一方向に固定し、数値engineとCSV・YAML・workflowを分離する</a:t>
            </a:r>
          </a:p>
        </p:txBody>
      </p:sp>
      <p:sp>
        <p:nvSpPr>
          <p:cNvPr id="4" name="">
            <a:extLst xmlns:a="http://schemas.openxmlformats.org/drawingml/2006/main">
              <a:ext uri="{FF2B5EF4-FFF2-40B4-BE49-F238E27FC236}">
                <a16:creationId xmlns:a16="http://schemas.microsoft.com/office/drawing/2014/main" id="{D9DC865C-5B62-4246-BF74-7B11F509DC5C}"/>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装置差はsystem.yamlとdataで表し、core classを装置部品名ごとに増やさない</a:t>
            </a:r>
          </a:p>
        </p:txBody>
      </p:sp>
      <p:sp>
        <p:nvSpPr>
          <p:cNvPr id="5" name="">
            <a:extLst xmlns:a="http://schemas.openxmlformats.org/drawingml/2006/main">
              <a:ext uri="{FF2B5EF4-FFF2-40B4-BE49-F238E27FC236}">
                <a16:creationId xmlns:a16="http://schemas.microsoft.com/office/drawing/2014/main" id="{31308B2B-4A31-4F2A-8422-1354B1C3B735}"/>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60F7BCC-B31F-4293-A87D-303E2D08179B}"/>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1AFF86AB-4E01-4E44-8CDA-A68666B5B7C4}"/>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6B16E4B3-FCF8-44E3-A3A3-D22E0229CF75}"/>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4</a:t>
            </a:r>
          </a:p>
        </p:txBody>
      </p:sp>
      <p:sp>
        <p:nvSpPr>
          <p:cNvPr id="9" name="">
            <a:extLst xmlns:a="http://schemas.openxmlformats.org/drawingml/2006/main">
              <a:ext uri="{FF2B5EF4-FFF2-40B4-BE49-F238E27FC236}">
                <a16:creationId xmlns:a16="http://schemas.microsoft.com/office/drawing/2014/main" id="{94DAC54A-80E8-4600-92FA-D5B766F00B09}"/>
              </a:ext>
            </a:extLst>
          </p:cNvPr>
          <p:cNvSpPr>
            <a:spLocks xmlns:a="http://schemas.openxmlformats.org/drawingml/2006/main" noGrp="1"/>
          </p:cNvSpPr>
          <p:nvPr/>
        </p:nvSpPr>
        <p:spPr>
          <a:xfrm xmlns:a="http://schemas.openxmlformats.org/drawingml/2006/main">
            <a:off x="552450" y="1438275"/>
            <a:ext cx="733425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F2C58766-F47C-4494-98D9-5E1B6AD9F227}"/>
              </a:ext>
            </a:extLst>
          </p:cNvPr>
          <p:cNvSpPr>
            <a:spLocks xmlns:a="http://schemas.openxmlformats.org/drawingml/2006/main" noGrp="1"/>
          </p:cNvSpPr>
          <p:nvPr/>
        </p:nvSpPr>
        <p:spPr>
          <a:xfrm xmlns:a="http://schemas.openxmlformats.org/drawingml/2006/main">
            <a:off x="552450" y="1438275"/>
            <a:ext cx="990600" cy="5810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796FFD7-ABAB-4FB6-8708-042B2B5C1831}"/>
              </a:ext>
            </a:extLst>
          </p:cNvPr>
          <p:cNvSpPr>
            <a:spLocks xmlns:a="http://schemas.openxmlformats.org/drawingml/2006/main" noGrp="1"/>
          </p:cNvSpPr>
          <p:nvPr/>
        </p:nvSpPr>
        <p:spPr>
          <a:xfrm xmlns:a="http://schemas.openxmlformats.org/drawingml/2006/main">
            <a:off x="619125" y="1524000"/>
            <a:ext cx="857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Interface</a:t>
            </a:r>
          </a:p>
        </p:txBody>
      </p:sp>
      <p:sp>
        <p:nvSpPr>
          <p:cNvPr id="12" name="">
            <a:extLst xmlns:a="http://schemas.openxmlformats.org/drawingml/2006/main">
              <a:ext uri="{FF2B5EF4-FFF2-40B4-BE49-F238E27FC236}">
                <a16:creationId xmlns:a16="http://schemas.microsoft.com/office/drawing/2014/main" id="{69E7591B-EA23-41FA-ACA3-7449406D1BD2}"/>
              </a:ext>
            </a:extLst>
          </p:cNvPr>
          <p:cNvSpPr>
            <a:spLocks xmlns:a="http://schemas.openxmlformats.org/drawingml/2006/main" noGrp="1"/>
          </p:cNvSpPr>
          <p:nvPr/>
        </p:nvSpPr>
        <p:spPr>
          <a:xfrm xmlns:a="http://schemas.openxmlformats.org/drawingml/2006/main">
            <a:off x="1743075" y="15144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201445"/>
                </a:solidFill>
                <a:latin typeface="Yu Gothic"/>
                <a:ea typeface="Yu Gothic"/>
                <a:cs typeface="Yu Gothic"/>
              </a:defRPr>
            </a:pPr>
            <a:r>
              <a:rPr sz="1125" b="1" i="0">
                <a:solidFill>
                  <a:srgbClr val="201445"/>
                </a:solidFill>
                <a:latin typeface="Yu Gothic"/>
                <a:ea typeface="Yu Gothic"/>
                <a:cs typeface="Yu Gothic"/>
              </a:rPr>
              <a:t>cli.py</a:t>
            </a:r>
          </a:p>
        </p:txBody>
      </p:sp>
      <p:sp>
        <p:nvSpPr>
          <p:cNvPr id="13" name="">
            <a:extLst xmlns:a="http://schemas.openxmlformats.org/drawingml/2006/main">
              <a:ext uri="{FF2B5EF4-FFF2-40B4-BE49-F238E27FC236}">
                <a16:creationId xmlns:a16="http://schemas.microsoft.com/office/drawing/2014/main" id="{FDEC61B8-9AEF-4DAF-9A15-0E95958A4397}"/>
              </a:ext>
            </a:extLst>
          </p:cNvPr>
          <p:cNvSpPr>
            <a:spLocks xmlns:a="http://schemas.openxmlformats.org/drawingml/2006/main" noGrp="1"/>
          </p:cNvSpPr>
          <p:nvPr/>
        </p:nvSpPr>
        <p:spPr>
          <a:xfrm xmlns:a="http://schemas.openxmlformats.org/drawingml/2006/main">
            <a:off x="3981450" y="151447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train / forecast / monitor</a:t>
            </a:r>
          </a:p>
        </p:txBody>
      </p:sp>
      <p:sp>
        <p:nvSpPr>
          <p:cNvPr id="14" name="">
            <a:extLst xmlns:a="http://schemas.openxmlformats.org/drawingml/2006/main">
              <a:ext uri="{FF2B5EF4-FFF2-40B4-BE49-F238E27FC236}">
                <a16:creationId xmlns:a16="http://schemas.microsoft.com/office/drawing/2014/main" id="{E6AA91DA-E7E8-42FE-BD2A-200D6F8B3722}"/>
              </a:ext>
            </a:extLst>
          </p:cNvPr>
          <p:cNvSpPr>
            <a:spLocks xmlns:a="http://schemas.openxmlformats.org/drawingml/2006/main" noGrp="1"/>
          </p:cNvSpPr>
          <p:nvPr/>
        </p:nvSpPr>
        <p:spPr>
          <a:xfrm xmlns:a="http://schemas.openxmlformats.org/drawingml/2006/main">
            <a:off x="552450" y="2143125"/>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7368B096-AE3C-4B54-B13F-E05853A0FC0D}"/>
              </a:ext>
            </a:extLst>
          </p:cNvPr>
          <p:cNvSpPr>
            <a:spLocks xmlns:a="http://schemas.openxmlformats.org/drawingml/2006/main" noGrp="1"/>
          </p:cNvSpPr>
          <p:nvPr/>
        </p:nvSpPr>
        <p:spPr>
          <a:xfrm xmlns:a="http://schemas.openxmlformats.org/drawingml/2006/main">
            <a:off x="552450" y="2143125"/>
            <a:ext cx="990600" cy="7239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41CA9AB-851E-47F7-B5F4-FE9D66BC094D}"/>
              </a:ext>
            </a:extLst>
          </p:cNvPr>
          <p:cNvSpPr>
            <a:spLocks xmlns:a="http://schemas.openxmlformats.org/drawingml/2006/main" noGrp="1"/>
          </p:cNvSpPr>
          <p:nvPr/>
        </p:nvSpPr>
        <p:spPr>
          <a:xfrm xmlns:a="http://schemas.openxmlformats.org/drawingml/2006/main">
            <a:off x="619125" y="2228850"/>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Workflow</a:t>
            </a:r>
          </a:p>
        </p:txBody>
      </p:sp>
      <p:sp>
        <p:nvSpPr>
          <p:cNvPr id="17" name="">
            <a:extLst xmlns:a="http://schemas.openxmlformats.org/drawingml/2006/main">
              <a:ext uri="{FF2B5EF4-FFF2-40B4-BE49-F238E27FC236}">
                <a16:creationId xmlns:a16="http://schemas.microsoft.com/office/drawing/2014/main" id="{BD9EAF27-6C74-4E36-B04F-012AA9D56FB2}"/>
              </a:ext>
            </a:extLst>
          </p:cNvPr>
          <p:cNvSpPr>
            <a:spLocks xmlns:a="http://schemas.openxmlformats.org/drawingml/2006/main" noGrp="1"/>
          </p:cNvSpPr>
          <p:nvPr/>
        </p:nvSpPr>
        <p:spPr>
          <a:xfrm xmlns:a="http://schemas.openxmlformats.org/drawingml/2006/main">
            <a:off x="1743075" y="221932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workflows/</a:t>
            </a:r>
          </a:p>
        </p:txBody>
      </p:sp>
      <p:sp>
        <p:nvSpPr>
          <p:cNvPr id="18" name="">
            <a:extLst xmlns:a="http://schemas.openxmlformats.org/drawingml/2006/main">
              <a:ext uri="{FF2B5EF4-FFF2-40B4-BE49-F238E27FC236}">
                <a16:creationId xmlns:a16="http://schemas.microsoft.com/office/drawing/2014/main" id="{2DC0B287-129A-48D2-B408-E945306E769A}"/>
              </a:ext>
            </a:extLst>
          </p:cNvPr>
          <p:cNvSpPr>
            <a:spLocks xmlns:a="http://schemas.openxmlformats.org/drawingml/2006/main" noGrp="1"/>
          </p:cNvSpPr>
          <p:nvPr/>
        </p:nvSpPr>
        <p:spPr>
          <a:xfrm xmlns:a="http://schemas.openxmlformats.org/drawingml/2006/main">
            <a:off x="3981450" y="2219325"/>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config解決、CSV discovery、出力orchestration、run manifest</a:t>
            </a:r>
          </a:p>
        </p:txBody>
      </p:sp>
      <p:sp>
        <p:nvSpPr>
          <p:cNvPr id="19" name="">
            <a:extLst xmlns:a="http://schemas.openxmlformats.org/drawingml/2006/main">
              <a:ext uri="{FF2B5EF4-FFF2-40B4-BE49-F238E27FC236}">
                <a16:creationId xmlns:a16="http://schemas.microsoft.com/office/drawing/2014/main" id="{02B79174-F1F4-4A5A-937B-FA5C25698CDC}"/>
              </a:ext>
            </a:extLst>
          </p:cNvPr>
          <p:cNvSpPr>
            <a:spLocks xmlns:a="http://schemas.openxmlformats.org/drawingml/2006/main" noGrp="1"/>
          </p:cNvSpPr>
          <p:nvPr/>
        </p:nvSpPr>
        <p:spPr>
          <a:xfrm xmlns:a="http://schemas.openxmlformats.org/drawingml/2006/main">
            <a:off x="552450" y="2990850"/>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D6819609-BCCB-4245-8FC1-D358F39541FE}"/>
              </a:ext>
            </a:extLst>
          </p:cNvPr>
          <p:cNvSpPr>
            <a:spLocks xmlns:a="http://schemas.openxmlformats.org/drawingml/2006/main" noGrp="1"/>
          </p:cNvSpPr>
          <p:nvPr/>
        </p:nvSpPr>
        <p:spPr>
          <a:xfrm xmlns:a="http://schemas.openxmlformats.org/drawingml/2006/main">
            <a:off x="552450" y="2990850"/>
            <a:ext cx="990600" cy="7239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A7094CC-17F8-4551-BB7D-09B75727A133}"/>
              </a:ext>
            </a:extLst>
          </p:cNvPr>
          <p:cNvSpPr>
            <a:spLocks xmlns:a="http://schemas.openxmlformats.org/drawingml/2006/main" noGrp="1"/>
          </p:cNvSpPr>
          <p:nvPr/>
        </p:nvSpPr>
        <p:spPr>
          <a:xfrm xmlns:a="http://schemas.openxmlformats.org/drawingml/2006/main">
            <a:off x="619125" y="3076575"/>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Use case</a:t>
            </a:r>
          </a:p>
        </p:txBody>
      </p:sp>
      <p:sp>
        <p:nvSpPr>
          <p:cNvPr id="22" name="">
            <a:extLst xmlns:a="http://schemas.openxmlformats.org/drawingml/2006/main">
              <a:ext uri="{FF2B5EF4-FFF2-40B4-BE49-F238E27FC236}">
                <a16:creationId xmlns:a16="http://schemas.microsoft.com/office/drawing/2014/main" id="{E347A7CE-BFAD-4550-BDEE-3E299235745B}"/>
              </a:ext>
            </a:extLst>
          </p:cNvPr>
          <p:cNvSpPr>
            <a:spLocks xmlns:a="http://schemas.openxmlformats.org/drawingml/2006/main" noGrp="1"/>
          </p:cNvSpPr>
          <p:nvPr/>
        </p:nvSpPr>
        <p:spPr>
          <a:xfrm xmlns:a="http://schemas.openxmlformats.org/drawingml/2006/main">
            <a:off x="1743075" y="30670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learning/  +  inference.py</a:t>
            </a:r>
          </a:p>
        </p:txBody>
      </p:sp>
      <p:sp>
        <p:nvSpPr>
          <p:cNvPr id="23" name="">
            <a:extLst xmlns:a="http://schemas.openxmlformats.org/drawingml/2006/main">
              <a:ext uri="{FF2B5EF4-FFF2-40B4-BE49-F238E27FC236}">
                <a16:creationId xmlns:a16="http://schemas.microsoft.com/office/drawing/2014/main" id="{BF8EAC79-89D6-4A80-A871-DD327B71388A}"/>
              </a:ext>
            </a:extLst>
          </p:cNvPr>
          <p:cNvSpPr>
            <a:spLocks xmlns:a="http://schemas.openxmlformats.org/drawingml/2006/main" noGrp="1"/>
          </p:cNvSpPr>
          <p:nvPr/>
        </p:nvSpPr>
        <p:spPr>
          <a:xfrm xmlns:a="http://schemas.openxmlformats.org/drawingml/2006/main">
            <a:off x="3981450" y="3067050"/>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係数同定、causal state initialization、forecast、monitor</a:t>
            </a:r>
          </a:p>
        </p:txBody>
      </p:sp>
      <p:sp>
        <p:nvSpPr>
          <p:cNvPr id="24" name="">
            <a:extLst xmlns:a="http://schemas.openxmlformats.org/drawingml/2006/main">
              <a:ext uri="{FF2B5EF4-FFF2-40B4-BE49-F238E27FC236}">
                <a16:creationId xmlns:a16="http://schemas.microsoft.com/office/drawing/2014/main" id="{3100FDF2-7350-4F13-99D6-B8D5470CE475}"/>
              </a:ext>
            </a:extLst>
          </p:cNvPr>
          <p:cNvSpPr>
            <a:spLocks xmlns:a="http://schemas.openxmlformats.org/drawingml/2006/main" noGrp="1"/>
          </p:cNvSpPr>
          <p:nvPr/>
        </p:nvSpPr>
        <p:spPr>
          <a:xfrm xmlns:a="http://schemas.openxmlformats.org/drawingml/2006/main">
            <a:off x="552450" y="3838575"/>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5" name="">
            <a:extLst xmlns:a="http://schemas.openxmlformats.org/drawingml/2006/main">
              <a:ext uri="{FF2B5EF4-FFF2-40B4-BE49-F238E27FC236}">
                <a16:creationId xmlns:a16="http://schemas.microsoft.com/office/drawing/2014/main" id="{D784F483-DD03-4388-A417-BA6E99EFE70D}"/>
              </a:ext>
            </a:extLst>
          </p:cNvPr>
          <p:cNvSpPr>
            <a:spLocks xmlns:a="http://schemas.openxmlformats.org/drawingml/2006/main" noGrp="1"/>
          </p:cNvSpPr>
          <p:nvPr/>
        </p:nvSpPr>
        <p:spPr>
          <a:xfrm xmlns:a="http://schemas.openxmlformats.org/drawingml/2006/main">
            <a:off x="552450" y="3838575"/>
            <a:ext cx="990600" cy="7239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DEAB2A1-E3FF-454E-85A2-A28DAD315277}"/>
              </a:ext>
            </a:extLst>
          </p:cNvPr>
          <p:cNvSpPr>
            <a:spLocks xmlns:a="http://schemas.openxmlformats.org/drawingml/2006/main" noGrp="1"/>
          </p:cNvSpPr>
          <p:nvPr/>
        </p:nvSpPr>
        <p:spPr>
          <a:xfrm xmlns:a="http://schemas.openxmlformats.org/drawingml/2006/main">
            <a:off x="619125" y="3924300"/>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Numerics</a:t>
            </a:r>
          </a:p>
        </p:txBody>
      </p:sp>
      <p:sp>
        <p:nvSpPr>
          <p:cNvPr id="27" name="">
            <a:extLst xmlns:a="http://schemas.openxmlformats.org/drawingml/2006/main">
              <a:ext uri="{FF2B5EF4-FFF2-40B4-BE49-F238E27FC236}">
                <a16:creationId xmlns:a16="http://schemas.microsoft.com/office/drawing/2014/main" id="{FCA27743-40D7-4B03-B325-FB925F0E2F54}"/>
              </a:ext>
            </a:extLst>
          </p:cNvPr>
          <p:cNvSpPr>
            <a:spLocks xmlns:a="http://schemas.openxmlformats.org/drawingml/2006/main" noGrp="1"/>
          </p:cNvSpPr>
          <p:nvPr/>
        </p:nvSpPr>
        <p:spPr>
          <a:xfrm xmlns:a="http://schemas.openxmlformats.org/drawingml/2006/main">
            <a:off x="1743075" y="39147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engine/</a:t>
            </a:r>
          </a:p>
        </p:txBody>
      </p:sp>
      <p:sp>
        <p:nvSpPr>
          <p:cNvPr id="28" name="">
            <a:extLst xmlns:a="http://schemas.openxmlformats.org/drawingml/2006/main">
              <a:ext uri="{FF2B5EF4-FFF2-40B4-BE49-F238E27FC236}">
                <a16:creationId xmlns:a16="http://schemas.microsoft.com/office/drawing/2014/main" id="{8CFC5A3F-3838-4BC7-82C1-3AC21C9BE724}"/>
              </a:ext>
            </a:extLst>
          </p:cNvPr>
          <p:cNvSpPr>
            <a:spLocks xmlns:a="http://schemas.openxmlformats.org/drawingml/2006/main" noGrp="1"/>
          </p:cNvSpPr>
          <p:nvPr/>
        </p:nvSpPr>
        <p:spPr>
          <a:xfrm xmlns:a="http://schemas.openxmlformats.org/drawingml/2006/main">
            <a:off x="3981450" y="3914775"/>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thermal network、scalar law、exact/implicit積分、Kalman observer</a:t>
            </a:r>
          </a:p>
        </p:txBody>
      </p:sp>
      <p:sp>
        <p:nvSpPr>
          <p:cNvPr id="29" name="">
            <a:extLst xmlns:a="http://schemas.openxmlformats.org/drawingml/2006/main">
              <a:ext uri="{FF2B5EF4-FFF2-40B4-BE49-F238E27FC236}">
                <a16:creationId xmlns:a16="http://schemas.microsoft.com/office/drawing/2014/main" id="{426F20C7-A3CA-487A-A42B-EC0C0B5B3AC7}"/>
              </a:ext>
            </a:extLst>
          </p:cNvPr>
          <p:cNvSpPr>
            <a:spLocks xmlns:a="http://schemas.openxmlformats.org/drawingml/2006/main" noGrp="1"/>
          </p:cNvSpPr>
          <p:nvPr/>
        </p:nvSpPr>
        <p:spPr>
          <a:xfrm xmlns:a="http://schemas.openxmlformats.org/drawingml/2006/main">
            <a:off x="552450" y="4686300"/>
            <a:ext cx="7334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0" name="">
            <a:extLst xmlns:a="http://schemas.openxmlformats.org/drawingml/2006/main">
              <a:ext uri="{FF2B5EF4-FFF2-40B4-BE49-F238E27FC236}">
                <a16:creationId xmlns:a16="http://schemas.microsoft.com/office/drawing/2014/main" id="{3D09776A-A212-4E7B-A634-08A660B24E41}"/>
              </a:ext>
            </a:extLst>
          </p:cNvPr>
          <p:cNvSpPr>
            <a:spLocks xmlns:a="http://schemas.openxmlformats.org/drawingml/2006/main" noGrp="1"/>
          </p:cNvSpPr>
          <p:nvPr/>
        </p:nvSpPr>
        <p:spPr>
          <a:xfrm xmlns:a="http://schemas.openxmlformats.org/drawingml/2006/main">
            <a:off x="552450" y="4686300"/>
            <a:ext cx="990600" cy="723900"/>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75C59CF-5C7B-440A-9D81-21F631C60F58}"/>
              </a:ext>
            </a:extLst>
          </p:cNvPr>
          <p:cNvSpPr>
            <a:spLocks xmlns:a="http://schemas.openxmlformats.org/drawingml/2006/main" noGrp="1"/>
          </p:cNvSpPr>
          <p:nvPr/>
        </p:nvSpPr>
        <p:spPr>
          <a:xfrm xmlns:a="http://schemas.openxmlformats.org/drawingml/2006/main">
            <a:off x="619125" y="4772025"/>
            <a:ext cx="857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Yu Gothic"/>
                <a:ea typeface="Yu Gothic"/>
                <a:cs typeface="Yu Gothic"/>
              </a:defRPr>
            </a:pPr>
            <a:r>
              <a:rPr sz="900" b="1" i="0">
                <a:solidFill>
                  <a:srgbClr val="FFFFFF"/>
                </a:solidFill>
                <a:latin typeface="Yu Gothic"/>
                <a:ea typeface="Yu Gothic"/>
                <a:cs typeface="Yu Gothic"/>
              </a:rPr>
              <a:t>Domain / I/O</a:t>
            </a:r>
          </a:p>
        </p:txBody>
      </p:sp>
      <p:sp>
        <p:nvSpPr>
          <p:cNvPr id="32" name="">
            <a:extLst xmlns:a="http://schemas.openxmlformats.org/drawingml/2006/main">
              <a:ext uri="{FF2B5EF4-FFF2-40B4-BE49-F238E27FC236}">
                <a16:creationId xmlns:a16="http://schemas.microsoft.com/office/drawing/2014/main" id="{314B62A0-A160-4AC9-9EB3-20B97D66ECC0}"/>
              </a:ext>
            </a:extLst>
          </p:cNvPr>
          <p:cNvSpPr>
            <a:spLocks xmlns:a="http://schemas.openxmlformats.org/drawingml/2006/main" noGrp="1"/>
          </p:cNvSpPr>
          <p:nvPr/>
        </p:nvSpPr>
        <p:spPr>
          <a:xfrm xmlns:a="http://schemas.openxmlformats.org/drawingml/2006/main">
            <a:off x="1743075" y="47625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00A89D"/>
                </a:solidFill>
                <a:latin typeface="Yu Gothic"/>
                <a:ea typeface="Yu Gothic"/>
                <a:cs typeface="Yu Gothic"/>
              </a:defRPr>
            </a:pPr>
            <a:r>
              <a:rPr sz="1125" b="1" i="0">
                <a:solidFill>
                  <a:srgbClr val="00A89D"/>
                </a:solidFill>
                <a:latin typeface="Yu Gothic"/>
                <a:ea typeface="Yu Gothic"/>
                <a:cs typeface="Yu Gothic"/>
              </a:rPr>
              <a:t>domain/  +  io/  +  config.py</a:t>
            </a:r>
          </a:p>
        </p:txBody>
      </p:sp>
      <p:sp>
        <p:nvSpPr>
          <p:cNvPr id="33" name="">
            <a:extLst xmlns:a="http://schemas.openxmlformats.org/drawingml/2006/main">
              <a:ext uri="{FF2B5EF4-FFF2-40B4-BE49-F238E27FC236}">
                <a16:creationId xmlns:a16="http://schemas.microsoft.com/office/drawing/2014/main" id="{C164EDC1-604C-4A24-92F9-51A35D9DEDE3}"/>
              </a:ext>
            </a:extLst>
          </p:cNvPr>
          <p:cNvSpPr>
            <a:spLocks xmlns:a="http://schemas.openxmlformats.org/drawingml/2006/main" noGrp="1"/>
          </p:cNvSpPr>
          <p:nvPr/>
        </p:nvSpPr>
        <p:spPr>
          <a:xfrm xmlns:a="http://schemas.openxmlformats.org/drawingml/2006/main">
            <a:off x="3981450" y="4762500"/>
            <a:ext cx="3714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Trajectory、ThermalSystemSpec、CSV/YAML schema、validation</a:t>
            </a:r>
          </a:p>
        </p:txBody>
      </p:sp>
      <p:cxnSp>
        <p:nvCxnSpPr>
          <p:cNvPr id="90" name=""/>
          <p:cNvCxnSpPr>
            <a:stCxn xmlns:a="http://schemas.openxmlformats.org/drawingml/2006/main" id="9" idx="2"/>
            <a:endCxn xmlns:a="http://schemas.openxmlformats.org/drawingml/2006/main" id="14" idx="0"/>
          </p:cNvCxnSpPr>
          <p:nvPr/>
        </p:nvCxnSpPr>
        <p:spPr>
          <a:xfrm xmlns:a="http://schemas.openxmlformats.org/drawingml/2006/main">
            <a:off x="4219575" y="2019300"/>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1" name=""/>
          <p:cNvCxnSpPr>
            <a:stCxn xmlns:a="http://schemas.openxmlformats.org/drawingml/2006/main" id="14" idx="2"/>
            <a:endCxn xmlns:a="http://schemas.openxmlformats.org/drawingml/2006/main" id="19" idx="0"/>
          </p:cNvCxnSpPr>
          <p:nvPr/>
        </p:nvCxnSpPr>
        <p:spPr>
          <a:xfrm xmlns:a="http://schemas.openxmlformats.org/drawingml/2006/main">
            <a:off x="4219575" y="2867025"/>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2" name=""/>
          <p:cNvCxnSpPr>
            <a:stCxn xmlns:a="http://schemas.openxmlformats.org/drawingml/2006/main" id="19" idx="2"/>
            <a:endCxn xmlns:a="http://schemas.openxmlformats.org/drawingml/2006/main" id="24" idx="0"/>
          </p:cNvCxnSpPr>
          <p:nvPr/>
        </p:nvCxnSpPr>
        <p:spPr>
          <a:xfrm xmlns:a="http://schemas.openxmlformats.org/drawingml/2006/main">
            <a:off x="4219575" y="3714750"/>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3" name=""/>
          <p:cNvCxnSpPr>
            <a:stCxn xmlns:a="http://schemas.openxmlformats.org/drawingml/2006/main" id="24" idx="2"/>
            <a:endCxn xmlns:a="http://schemas.openxmlformats.org/drawingml/2006/main" id="29" idx="0"/>
          </p:cNvCxnSpPr>
          <p:nvPr/>
        </p:nvCxnSpPr>
        <p:spPr>
          <a:xfrm xmlns:a="http://schemas.openxmlformats.org/drawingml/2006/main">
            <a:off x="4219575" y="4562475"/>
            <a:ext cx="0" cy="123825"/>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sp>
        <p:nvSpPr>
          <p:cNvPr id="38" name="">
            <a:extLst xmlns:a="http://schemas.openxmlformats.org/drawingml/2006/main">
              <a:ext uri="{FF2B5EF4-FFF2-40B4-BE49-F238E27FC236}">
                <a16:creationId xmlns:a16="http://schemas.microsoft.com/office/drawing/2014/main" id="{4EF3DF38-3A55-4EC8-A4FF-C1749984BEEB}"/>
              </a:ext>
            </a:extLst>
          </p:cNvPr>
          <p:cNvSpPr>
            <a:spLocks xmlns:a="http://schemas.openxmlformats.org/drawingml/2006/main" noGrp="1"/>
          </p:cNvSpPr>
          <p:nvPr/>
        </p:nvSpPr>
        <p:spPr>
          <a:xfrm xmlns:a="http://schemas.openxmlformats.org/drawingml/2006/main">
            <a:off x="8267700" y="1438275"/>
            <a:ext cx="3371850" cy="17430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39" name="">
            <a:extLst xmlns:a="http://schemas.openxmlformats.org/drawingml/2006/main">
              <a:ext uri="{FF2B5EF4-FFF2-40B4-BE49-F238E27FC236}">
                <a16:creationId xmlns:a16="http://schemas.microsoft.com/office/drawing/2014/main" id="{72B78EAF-E4E5-411E-98BF-FABA060F7F27}"/>
              </a:ext>
            </a:extLst>
          </p:cNvPr>
          <p:cNvSpPr>
            <a:spLocks xmlns:a="http://schemas.openxmlformats.org/drawingml/2006/main" noGrp="1"/>
          </p:cNvSpPr>
          <p:nvPr/>
        </p:nvSpPr>
        <p:spPr>
          <a:xfrm xmlns:a="http://schemas.openxmlformats.org/drawingml/2006/main">
            <a:off x="8467725" y="1619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独立配備artifact</a:t>
            </a:r>
          </a:p>
        </p:txBody>
      </p:sp>
      <p:sp>
        <p:nvSpPr>
          <p:cNvPr id="40" name="">
            <a:extLst xmlns:a="http://schemas.openxmlformats.org/drawingml/2006/main">
              <a:ext uri="{FF2B5EF4-FFF2-40B4-BE49-F238E27FC236}">
                <a16:creationId xmlns:a16="http://schemas.microsoft.com/office/drawing/2014/main" id="{C25AF3A8-4125-40F2-8C6B-169504016226}"/>
              </a:ext>
            </a:extLst>
          </p:cNvPr>
          <p:cNvSpPr>
            <a:spLocks xmlns:a="http://schemas.openxmlformats.org/drawingml/2006/main" noGrp="1"/>
          </p:cNvSpPr>
          <p:nvPr/>
        </p:nvSpPr>
        <p:spPr>
          <a:xfrm xmlns:a="http://schemas.openxmlformats.org/drawingml/2006/main">
            <a:off x="8467725" y="203835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model.pt</a:t>
            </a:r>
          </a:p>
        </p:txBody>
      </p:sp>
      <p:sp>
        <p:nvSpPr>
          <p:cNvPr id="41" name="">
            <a:extLst xmlns:a="http://schemas.openxmlformats.org/drawingml/2006/main">
              <a:ext uri="{FF2B5EF4-FFF2-40B4-BE49-F238E27FC236}">
                <a16:creationId xmlns:a16="http://schemas.microsoft.com/office/drawing/2014/main" id="{F08E101A-43AB-4679-9CD9-02CE538646BC}"/>
              </a:ext>
            </a:extLst>
          </p:cNvPr>
          <p:cNvSpPr>
            <a:spLocks xmlns:a="http://schemas.openxmlformats.org/drawingml/2006/main" noGrp="1"/>
          </p:cNvSpPr>
          <p:nvPr/>
        </p:nvSpPr>
        <p:spPr>
          <a:xfrm xmlns:a="http://schemas.openxmlformats.org/drawingml/2006/main">
            <a:off x="9563100" y="203835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learned state_dict</a:t>
            </a:r>
          </a:p>
        </p:txBody>
      </p:sp>
      <p:sp>
        <p:nvSpPr>
          <p:cNvPr id="42" name="">
            <a:extLst xmlns:a="http://schemas.openxmlformats.org/drawingml/2006/main">
              <a:ext uri="{FF2B5EF4-FFF2-40B4-BE49-F238E27FC236}">
                <a16:creationId xmlns:a16="http://schemas.microsoft.com/office/drawing/2014/main" id="{EF62D3A6-E58D-4879-8AD0-CB65FD7B18FC}"/>
              </a:ext>
            </a:extLst>
          </p:cNvPr>
          <p:cNvSpPr>
            <a:spLocks xmlns:a="http://schemas.openxmlformats.org/drawingml/2006/main" noGrp="1"/>
          </p:cNvSpPr>
          <p:nvPr/>
        </p:nvSpPr>
        <p:spPr>
          <a:xfrm xmlns:a="http://schemas.openxmlformats.org/drawingml/2006/main">
            <a:off x="8467725" y="236220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system.yaml</a:t>
            </a:r>
          </a:p>
        </p:txBody>
      </p:sp>
      <p:sp>
        <p:nvSpPr>
          <p:cNvPr id="43" name="">
            <a:extLst xmlns:a="http://schemas.openxmlformats.org/drawingml/2006/main">
              <a:ext uri="{FF2B5EF4-FFF2-40B4-BE49-F238E27FC236}">
                <a16:creationId xmlns:a16="http://schemas.microsoft.com/office/drawing/2014/main" id="{234FB8ED-1A86-47AF-A5FF-C1F3C22586E8}"/>
              </a:ext>
            </a:extLst>
          </p:cNvPr>
          <p:cNvSpPr>
            <a:spLocks xmlns:a="http://schemas.openxmlformats.org/drawingml/2006/main" noGrp="1"/>
          </p:cNvSpPr>
          <p:nvPr/>
        </p:nvSpPr>
        <p:spPr>
          <a:xfrm xmlns:a="http://schemas.openxmlformats.org/drawingml/2006/main">
            <a:off x="9563100" y="236220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topology / capacity / priors</a:t>
            </a:r>
          </a:p>
        </p:txBody>
      </p:sp>
      <p:sp>
        <p:nvSpPr>
          <p:cNvPr id="44" name="">
            <a:extLst xmlns:a="http://schemas.openxmlformats.org/drawingml/2006/main">
              <a:ext uri="{FF2B5EF4-FFF2-40B4-BE49-F238E27FC236}">
                <a16:creationId xmlns:a16="http://schemas.microsoft.com/office/drawing/2014/main" id="{FD857FDC-2C85-4B49-8BBB-B82EB1380164}"/>
              </a:ext>
            </a:extLst>
          </p:cNvPr>
          <p:cNvSpPr>
            <a:spLocks xmlns:a="http://schemas.openxmlformats.org/drawingml/2006/main" noGrp="1"/>
          </p:cNvSpPr>
          <p:nvPr/>
        </p:nvSpPr>
        <p:spPr>
          <a:xfrm xmlns:a="http://schemas.openxmlformats.org/drawingml/2006/main">
            <a:off x="8467725" y="2686050"/>
            <a:ext cx="1066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metadata.json</a:t>
            </a:r>
          </a:p>
        </p:txBody>
      </p:sp>
      <p:sp>
        <p:nvSpPr>
          <p:cNvPr id="45" name="">
            <a:extLst xmlns:a="http://schemas.openxmlformats.org/drawingml/2006/main">
              <a:ext uri="{FF2B5EF4-FFF2-40B4-BE49-F238E27FC236}">
                <a16:creationId xmlns:a16="http://schemas.microsoft.com/office/drawing/2014/main" id="{59F8E021-A376-4379-A716-CD459635BF5C}"/>
              </a:ext>
            </a:extLst>
          </p:cNvPr>
          <p:cNvSpPr>
            <a:spLocks xmlns:a="http://schemas.openxmlformats.org/drawingml/2006/main" noGrp="1"/>
          </p:cNvSpPr>
          <p:nvPr/>
        </p:nvSpPr>
        <p:spPr>
          <a:xfrm xmlns:a="http://schemas.openxmlformats.org/drawingml/2006/main">
            <a:off x="9563100" y="2686050"/>
            <a:ext cx="1866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schema / fitted values / SHA-256</a:t>
            </a:r>
          </a:p>
        </p:txBody>
      </p:sp>
      <p:sp>
        <p:nvSpPr>
          <p:cNvPr id="46" name="">
            <a:extLst xmlns:a="http://schemas.openxmlformats.org/drawingml/2006/main">
              <a:ext uri="{FF2B5EF4-FFF2-40B4-BE49-F238E27FC236}">
                <a16:creationId xmlns:a16="http://schemas.microsoft.com/office/drawing/2014/main" id="{0D79DE12-CB7A-4DE6-967B-A0E2E8A1CD0C}"/>
              </a:ext>
            </a:extLst>
          </p:cNvPr>
          <p:cNvSpPr>
            <a:spLocks xmlns:a="http://schemas.openxmlformats.org/drawingml/2006/main" noGrp="1"/>
          </p:cNvSpPr>
          <p:nvPr/>
        </p:nvSpPr>
        <p:spPr>
          <a:xfrm xmlns:a="http://schemas.openxmlformats.org/drawingml/2006/main">
            <a:off x="8267700" y="3352800"/>
            <a:ext cx="3371850" cy="114300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cxnSp>
        <p:nvCxnSpPr>
          <p:cNvPr id="103" name=""/>
          <p:cNvCxnSpPr>
            <a:stCxn xmlns:a="http://schemas.openxmlformats.org/drawingml/2006/main" id="19" idx="3"/>
            <a:endCxn xmlns:a="http://schemas.openxmlformats.org/drawingml/2006/main" id="46" idx="1"/>
          </p:cNvCxnSpPr>
          <p:nvPr/>
        </p:nvCxnSpPr>
        <p:spPr>
          <a:xfrm xmlns:a="http://schemas.openxmlformats.org/drawingml/2006/main">
            <a:off x="7886700" y="3352800"/>
            <a:ext cx="381000" cy="571500"/>
          </a:xfrm>
          <a:prstGeom xmlns:a="http://schemas.openxmlformats.org/drawingml/2006/main" prst="straightConnector1">
            <a:avLst/>
          </a:prstGeom>
          <a:ln xmlns:a="http://schemas.openxmlformats.org/drawingml/2006/main" w="19050">
            <a:solidFill>
              <a:srgbClr val="00A5D8"/>
            </a:solidFill>
            <a:prstDash val="solid"/>
            <a:tailEnd type="triangle" w="sm" len="sm"/>
          </a:ln>
        </p:spPr>
      </p:cxnSp>
      <p:sp>
        <p:nvSpPr>
          <p:cNvPr id="48" name="">
            <a:extLst xmlns:a="http://schemas.openxmlformats.org/drawingml/2006/main">
              <a:ext uri="{FF2B5EF4-FFF2-40B4-BE49-F238E27FC236}">
                <a16:creationId xmlns:a16="http://schemas.microsoft.com/office/drawing/2014/main" id="{7C82B10E-E3B2-4341-ACCF-5D6F3ECE3A71}"/>
              </a:ext>
            </a:extLst>
          </p:cNvPr>
          <p:cNvSpPr>
            <a:spLocks xmlns:a="http://schemas.openxmlformats.org/drawingml/2006/main" noGrp="1"/>
          </p:cNvSpPr>
          <p:nvPr/>
        </p:nvSpPr>
        <p:spPr>
          <a:xfrm xmlns:a="http://schemas.openxmlformats.org/drawingml/2006/main">
            <a:off x="8467725" y="350520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007FA8"/>
                </a:solidFill>
                <a:latin typeface="Yu Gothic"/>
                <a:ea typeface="Yu Gothic"/>
                <a:cs typeface="Yu Gothic"/>
              </a:defRPr>
            </a:pPr>
            <a:r>
              <a:rPr sz="1200" b="1" i="0">
                <a:solidFill>
                  <a:srgbClr val="007FA8"/>
                </a:solidFill>
                <a:latin typeface="Yu Gothic"/>
                <a:ea typeface="Yu Gothic"/>
                <a:cs typeface="Yu Gothic"/>
              </a:rPr>
              <a:t>runtime data contract</a:t>
            </a:r>
          </a:p>
        </p:txBody>
      </p:sp>
      <p:sp>
        <p:nvSpPr>
          <p:cNvPr id="49" name="">
            <a:extLst xmlns:a="http://schemas.openxmlformats.org/drawingml/2006/main">
              <a:ext uri="{FF2B5EF4-FFF2-40B4-BE49-F238E27FC236}">
                <a16:creationId xmlns:a16="http://schemas.microsoft.com/office/drawing/2014/main" id="{C1E8CF4B-BD3D-42A7-91D5-8E2E19C5A915}"/>
              </a:ext>
            </a:extLst>
          </p:cNvPr>
          <p:cNvSpPr>
            <a:spLocks xmlns:a="http://schemas.openxmlformats.org/drawingml/2006/main" noGrp="1"/>
          </p:cNvSpPr>
          <p:nvPr/>
        </p:nvSpPr>
        <p:spPr>
          <a:xfrm xmlns:a="http://schemas.openxmlformats.org/drawingml/2006/main">
            <a:off x="8467725" y="38290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75" b="0" i="0">
                <a:solidFill>
                  <a:srgbClr val="5B5B5B"/>
                </a:solidFill>
                <a:latin typeface="Cambria Math"/>
                <a:ea typeface="Cambria Math"/>
                <a:cs typeface="Cambria Math"/>
              </a:defRPr>
            </a:pPr>
            <a:r>
              <a:rPr sz="975" b="0" i="0">
                <a:solidFill>
                  <a:srgbClr val="5B5B5B"/>
                </a:solidFill>
                <a:latin typeface="Cambria Math"/>
                <a:ea typeface="Cambria Math"/>
                <a:cs typeface="Cambria Math"/>
              </a:rPr>
              <a:t>Trajectory = time[N] + temperature[N,S]</a:t>
            </a:r>
          </a:p>
          <a:p xmlns:a="http://schemas.openxmlformats.org/drawingml/2006/main">
            <a:pPr algn="ctr">
              <a:lnSpc>
                <a:spcPct val="108000"/>
              </a:lnSpc>
              <a:buNone/>
              <a:defRPr sz="975" b="0" i="0">
                <a:solidFill>
                  <a:srgbClr val="5B5B5B"/>
                </a:solidFill>
                <a:latin typeface="Cambria Math"/>
                <a:ea typeface="Cambria Math"/>
                <a:cs typeface="Cambria Math"/>
              </a:defRPr>
            </a:pPr>
            <a:r>
              <a:rPr sz="975" b="0" i="0">
                <a:solidFill>
                  <a:srgbClr val="5B5B5B"/>
                </a:solidFill>
                <a:latin typeface="Cambria Math"/>
                <a:ea typeface="Cambria Math"/>
                <a:cs typeface="Cambria Math"/>
              </a:rPr>
              <a:t>+ commands[N−1,U] + mask[N,S]</a:t>
            </a:r>
          </a:p>
        </p:txBody>
      </p:sp>
      <p:sp>
        <p:nvSpPr>
          <p:cNvPr id="50" name="">
            <a:extLst xmlns:a="http://schemas.openxmlformats.org/drawingml/2006/main">
              <a:ext uri="{FF2B5EF4-FFF2-40B4-BE49-F238E27FC236}">
                <a16:creationId xmlns:a16="http://schemas.microsoft.com/office/drawing/2014/main" id="{623FE452-BEB7-4374-9FB8-D0969CCDEF85}"/>
              </a:ext>
            </a:extLst>
          </p:cNvPr>
          <p:cNvSpPr>
            <a:spLocks xmlns:a="http://schemas.openxmlformats.org/drawingml/2006/main" noGrp="1"/>
          </p:cNvSpPr>
          <p:nvPr/>
        </p:nvSpPr>
        <p:spPr>
          <a:xfrm xmlns:a="http://schemas.openxmlformats.org/drawingml/2006/main">
            <a:off x="8267700" y="4686300"/>
            <a:ext cx="3371850" cy="72390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51" name="">
            <a:extLst xmlns:a="http://schemas.openxmlformats.org/drawingml/2006/main">
              <a:ext uri="{FF2B5EF4-FFF2-40B4-BE49-F238E27FC236}">
                <a16:creationId xmlns:a16="http://schemas.microsoft.com/office/drawing/2014/main" id="{B590EE53-981C-4EB6-96DF-A826EDF914D1}"/>
              </a:ext>
            </a:extLst>
          </p:cNvPr>
          <p:cNvSpPr>
            <a:spLocks xmlns:a="http://schemas.openxmlformats.org/drawingml/2006/main" noGrp="1"/>
          </p:cNvSpPr>
          <p:nvPr/>
        </p:nvSpPr>
        <p:spPr>
          <a:xfrm xmlns:a="http://schemas.openxmlformats.org/drawingml/2006/main">
            <a:off x="8448675" y="480060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4D8710"/>
                </a:solidFill>
                <a:latin typeface="Yu Gothic"/>
                <a:ea typeface="Yu Gothic"/>
                <a:cs typeface="Yu Gothic"/>
              </a:defRPr>
            </a:pPr>
            <a:r>
              <a:rPr sz="938" b="1" i="0">
                <a:solidFill>
                  <a:srgbClr val="4D8710"/>
                </a:solidFill>
                <a:latin typeface="Yu Gothic"/>
                <a:ea typeface="Yu Gothic"/>
                <a:cs typeface="Yu Gothic"/>
              </a:rPr>
              <a:t>外部境界</a:t>
            </a:r>
          </a:p>
        </p:txBody>
      </p:sp>
      <p:sp>
        <p:nvSpPr>
          <p:cNvPr id="52" name="">
            <a:extLst xmlns:a="http://schemas.openxmlformats.org/drawingml/2006/main">
              <a:ext uri="{FF2B5EF4-FFF2-40B4-BE49-F238E27FC236}">
                <a16:creationId xmlns:a16="http://schemas.microsoft.com/office/drawing/2014/main" id="{7724CF9E-DACA-4C73-928A-2BEC14531F56}"/>
              </a:ext>
            </a:extLst>
          </p:cNvPr>
          <p:cNvSpPr>
            <a:spLocks xmlns:a="http://schemas.openxmlformats.org/drawingml/2006/main" noGrp="1"/>
          </p:cNvSpPr>
          <p:nvPr/>
        </p:nvSpPr>
        <p:spPr>
          <a:xfrm xmlns:a="http://schemas.openxmlformats.org/drawingml/2006/main">
            <a:off x="9239250" y="47910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CAE・実験adapter / benchmark / report</a:t>
            </a:r>
          </a:p>
        </p:txBody>
      </p:sp>
      <p:sp>
        <p:nvSpPr>
          <p:cNvPr id="53" name="">
            <a:extLst xmlns:a="http://schemas.openxmlformats.org/drawingml/2006/main">
              <a:ext uri="{FF2B5EF4-FFF2-40B4-BE49-F238E27FC236}">
                <a16:creationId xmlns:a16="http://schemas.microsoft.com/office/drawing/2014/main" id="{4D82E6C2-3476-45F2-8D52-E028285023FB}"/>
              </a:ext>
            </a:extLst>
          </p:cNvPr>
          <p:cNvSpPr>
            <a:spLocks xmlns:a="http://schemas.openxmlformats.org/drawingml/2006/main" noGrp="1"/>
          </p:cNvSpPr>
          <p:nvPr/>
        </p:nvSpPr>
        <p:spPr>
          <a:xfrm xmlns:a="http://schemas.openxmlformats.org/drawingml/2006/main">
            <a:off x="8448675" y="5067300"/>
            <a:ext cx="29813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03" b="0" i="0">
                <a:solidFill>
                  <a:srgbClr val="777777"/>
                </a:solidFill>
                <a:latin typeface="Yu Gothic"/>
                <a:ea typeface="Yu Gothic"/>
                <a:cs typeface="Yu Gothic"/>
              </a:defRPr>
            </a:pPr>
            <a:r>
              <a:rPr sz="803" b="0" i="0">
                <a:solidFill>
                  <a:srgbClr val="777777"/>
                </a:solidFill>
                <a:latin typeface="Yu Gothic"/>
                <a:ea typeface="Yu Gothic"/>
                <a:cs typeface="Yu Gothic"/>
              </a:rPr>
              <a:t>coreはCOMSOL製品・geometry・合否閾値へ依存しない</a:t>
            </a:r>
          </a:p>
        </p:txBody>
      </p:sp>
      <p:sp>
        <p:nvSpPr>
          <p:cNvPr id="54" name="">
            <a:extLst xmlns:a="http://schemas.openxmlformats.org/drawingml/2006/main">
              <a:ext uri="{FF2B5EF4-FFF2-40B4-BE49-F238E27FC236}">
                <a16:creationId xmlns:a16="http://schemas.microsoft.com/office/drawing/2014/main" id="{D18BD71B-538E-41A3-BA1C-71A0EAE4BFE4}"/>
              </a:ext>
            </a:extLst>
          </p:cNvPr>
          <p:cNvSpPr>
            <a:spLocks xmlns:a="http://schemas.openxmlformats.org/drawingml/2006/main" noGrp="1"/>
          </p:cNvSpPr>
          <p:nvPr/>
        </p:nvSpPr>
        <p:spPr>
          <a:xfrm xmlns:a="http://schemas.openxmlformats.org/drawingml/2006/main">
            <a:off x="552450" y="5657850"/>
            <a:ext cx="11087100" cy="59055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5B85211-5E9D-4CE0-B799-64C8B98F394A}"/>
              </a:ext>
            </a:extLst>
          </p:cNvPr>
          <p:cNvSpPr>
            <a:spLocks xmlns:a="http://schemas.openxmlformats.org/drawingml/2006/main" noGrp="1"/>
          </p:cNvSpPr>
          <p:nvPr/>
        </p:nvSpPr>
        <p:spPr>
          <a:xfrm xmlns:a="http://schemas.openxmlformats.org/drawingml/2006/main">
            <a:off x="723900" y="5810250"/>
            <a:ext cx="904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6BE18"/>
                </a:solidFill>
                <a:latin typeface="Yu Gothic"/>
                <a:ea typeface="Yu Gothic"/>
                <a:cs typeface="Yu Gothic"/>
              </a:defRPr>
            </a:pPr>
            <a:r>
              <a:rPr sz="825" b="1" i="0">
                <a:solidFill>
                  <a:srgbClr val="76BE18"/>
                </a:solidFill>
                <a:latin typeface="Yu Gothic"/>
                <a:ea typeface="Yu Gothic"/>
                <a:cs typeface="Yu Gothic"/>
              </a:rPr>
              <a:t>dependency</a:t>
            </a:r>
          </a:p>
        </p:txBody>
      </p:sp>
      <p:sp>
        <p:nvSpPr>
          <p:cNvPr id="56" name="">
            <a:extLst xmlns:a="http://schemas.openxmlformats.org/drawingml/2006/main">
              <a:ext uri="{FF2B5EF4-FFF2-40B4-BE49-F238E27FC236}">
                <a16:creationId xmlns:a16="http://schemas.microsoft.com/office/drawing/2014/main" id="{890C342C-3C67-4D18-A5A1-BC7AF9710145}"/>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FFFFFF"/>
                </a:solidFill>
                <a:latin typeface="Cambria Math"/>
                <a:ea typeface="Cambria Math"/>
                <a:cs typeface="Cambria Math"/>
              </a:defRPr>
            </a:pPr>
            <a:r>
              <a:rPr sz="1275" b="1" i="0">
                <a:solidFill>
                  <a:srgbClr val="FFFFFF"/>
                </a:solidFill>
                <a:latin typeface="Cambria Math"/>
                <a:ea typeface="Cambria Math"/>
                <a:cs typeface="Cambria Math"/>
              </a:rPr>
              <a:t>cli  →  workflows  →  artifact / learning / inference  →  engine / io  →  domain / config</a:t>
            </a:r>
          </a:p>
        </p:txBody>
      </p:sp>
    </p:spTree>
    <p:extLst>
      <p:ext uri="{BB962C8B-B14F-4D97-AF65-F5344CB8AC3E}">
        <p14:creationId xmlns:p14="http://schemas.microsoft.com/office/powerpoint/2010/main" val="3949572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0C08A90-7D29-43AD-8F8F-8F1BEBF70AD2}"/>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6BCDC4-33A9-4EA1-AB3E-CB99CB3CF5D0}"/>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PLATFORM CAPABILITY</a:t>
            </a:r>
          </a:p>
        </p:txBody>
      </p:sp>
      <p:sp>
        <p:nvSpPr>
          <p:cNvPr id="3" name="">
            <a:extLst xmlns:a="http://schemas.openxmlformats.org/drawingml/2006/main">
              <a:ext uri="{FF2B5EF4-FFF2-40B4-BE49-F238E27FC236}">
                <a16:creationId xmlns:a16="http://schemas.microsoft.com/office/drawing/2014/main" id="{CD67725D-D77F-45FF-B76E-F736E8F0D18B}"/>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共通のThermalRCModelとartifactから、設計・予測・監視・評価を分岐させる</a:t>
            </a:r>
          </a:p>
        </p:txBody>
      </p:sp>
      <p:sp>
        <p:nvSpPr>
          <p:cNvPr id="4" name="">
            <a:extLst xmlns:a="http://schemas.openxmlformats.org/drawingml/2006/main">
              <a:ext uri="{FF2B5EF4-FFF2-40B4-BE49-F238E27FC236}">
                <a16:creationId xmlns:a16="http://schemas.microsoft.com/office/drawing/2014/main" id="{4B625ED6-E2E2-4E3A-9175-50EF06B12C69}"/>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実装済み機能と将来拡張を分け、再利用できる基盤の範囲を明示する</a:t>
            </a:r>
          </a:p>
        </p:txBody>
      </p:sp>
      <p:sp>
        <p:nvSpPr>
          <p:cNvPr id="5" name="">
            <a:extLst xmlns:a="http://schemas.openxmlformats.org/drawingml/2006/main">
              <a:ext uri="{FF2B5EF4-FFF2-40B4-BE49-F238E27FC236}">
                <a16:creationId xmlns:a16="http://schemas.microsoft.com/office/drawing/2014/main" id="{12B7E4EB-4FFD-49FE-99EC-71B4E3412DC0}"/>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DDF925C3-AA06-409D-BCF5-C1452F1C7D6A}"/>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B836937-5A40-4026-BFB1-D82095EAE910}"/>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DD1E77D-9042-4514-B73B-1594A4C0C19F}"/>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5</a:t>
            </a:r>
          </a:p>
        </p:txBody>
      </p:sp>
      <p:graphicFrame>
        <p:nvGraphicFramePr>
          <p:cNvPr id="32" name=""/>
          <p:cNvGraphicFramePr/>
          <p:nvPr/>
        </p:nvGraphicFramePr>
        <p:xfrm>
          <a:off xmlns:a="http://schemas.openxmlformats.org/drawingml/2006/main" x="552450" y="1457325"/>
          <a:ext xmlns:a="http://schemas.openxmlformats.org/drawingml/2006/main" cx="11087100" cy="3124200"/>
        </p:xfrm>
        <a:graphic xmlns:a="http://schemas.openxmlformats.org/drawingml/2006/main">
          <a:graphicData uri="http://schemas.openxmlformats.org/drawingml/2006/table">
            <a:tbl>
              <a:tblPr/>
              <a:tblGrid>
                <a:gridCol w="1485900"/>
                <a:gridCol w="2143125"/>
                <a:gridCol w="3305175"/>
                <a:gridCol w="2781300"/>
                <a:gridCol w="1371600"/>
              </a:tblGrid>
              <a:tr h="520700">
                <a:tc>
                  <a:txBody>
                    <a:bodyPr/>
                    <a:lstStyle/>
                    <a:p>
                      <a:r>
                        <a:rPr sz="938" b="1">
                          <a:solidFill>
                            <a:srgbClr val="FFFFFF"/>
                          </a:solidFill>
                          <a:latin typeface="Yu Gothic"/>
                          <a:ea typeface="Yu Gothic"/>
                          <a:cs typeface="Yu Gothic"/>
                        </a:rPr>
                        <a:t>利用場面</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入口</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基盤が行うこと</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成果物 / 判断</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状態</a:t>
                      </a:r>
                    </a:p>
                  </a:txBody>
                  <a:tcPr marL="91440" marR="91440" marT="45720" marB="45720">
                    <a:solidFill>
                      <a:srgbClr val="007FA8"/>
                    </a:solidFill>
                  </a:tcPr>
                </a:tc>
              </a:tr>
              <a:tr h="520700">
                <a:tc>
                  <a:txBody>
                    <a:bodyPr/>
                    <a:lstStyle/>
                    <a:p>
                      <a:r>
                        <a:rPr sz="855" b="1">
                          <a:solidFill>
                            <a:srgbClr val="007FA8"/>
                          </a:solidFill>
                          <a:latin typeface="Yu Gothic"/>
                          <a:ea typeface="Yu Gothic"/>
                          <a:cs typeface="Yu Gothic"/>
                        </a:rPr>
                        <a:t>Train</a:t>
                      </a:r>
                    </a:p>
                  </a:txBody>
                  <a:tcPr marL="91440" marR="91440" marT="45720" marB="45720">
                    <a:solidFill>
                      <a:srgbClr val="FFFFFF"/>
                    </a:solidFill>
                  </a:tcPr>
                </a:tc>
                <a:tc>
                  <a:txBody>
                    <a:bodyPr/>
                    <a:lstStyle/>
                    <a:p>
                      <a:r>
                        <a:rPr sz="855">
                          <a:solidFill>
                            <a:srgbClr val="5B5B5B"/>
                          </a:solidFill>
                          <a:latin typeface="Yu Gothic"/>
                          <a:ea typeface="Yu Gothic"/>
                          <a:cs typeface="Yu Gothic"/>
                        </a:rPr>
                        <a:t>CAE / 実験trajectory</a:t>
                      </a:r>
                    </a:p>
                  </a:txBody>
                  <a:tcPr marL="91440" marR="91440" marT="45720" marB="45720">
                    <a:solidFill>
                      <a:srgbClr val="FFFFFF"/>
                    </a:solidFill>
                  </a:tcPr>
                </a:tc>
                <a:tc>
                  <a:txBody>
                    <a:bodyPr/>
                    <a:lstStyle/>
                    <a:p>
                      <a:r>
                        <a:rPr sz="855">
                          <a:solidFill>
                            <a:srgbClr val="5B5B5B"/>
                          </a:solidFill>
                          <a:latin typeface="Yu Gothic"/>
                          <a:ea typeface="Yu Gothic"/>
                          <a:cs typeface="Yu Gothic"/>
                        </a:rPr>
                        <a:t>正値係数をcase-balanced rolloutで同定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artifact、case/sensor指標</a:t>
                      </a:r>
                    </a:p>
                  </a:txBody>
                  <a:tcPr marL="91440" marR="91440" marT="45720" marB="45720">
                    <a:solidFill>
                      <a:srgbClr val="FFFFFF"/>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FFFFF"/>
                    </a:solidFill>
                  </a:tcPr>
                </a:tc>
              </a:tr>
              <a:tr h="520700">
                <a:tc>
                  <a:txBody>
                    <a:bodyPr/>
                    <a:lstStyle/>
                    <a:p>
                      <a:r>
                        <a:rPr sz="855" b="1">
                          <a:solidFill>
                            <a:srgbClr val="4D8710"/>
                          </a:solidFill>
                          <a:latin typeface="Yu Gothic"/>
                          <a:ea typeface="Yu Gothic"/>
                          <a:cs typeface="Yu Gothic"/>
                        </a:rPr>
                        <a:t>Forecast</a:t>
                      </a:r>
                    </a:p>
                  </a:txBody>
                  <a:tcPr marL="91440" marR="91440" marT="45720" marB="45720">
                    <a:solidFill>
                      <a:srgbClr val="F8F8F8"/>
                    </a:solidFill>
                  </a:tcPr>
                </a:tc>
                <a:tc>
                  <a:txBody>
                    <a:bodyPr/>
                    <a:lstStyle/>
                    <a:p>
                      <a:r>
                        <a:rPr sz="855">
                          <a:solidFill>
                            <a:srgbClr val="5B5B5B"/>
                          </a:solidFill>
                          <a:latin typeface="Yu Gothic"/>
                          <a:ea typeface="Yu Gothic"/>
                          <a:cs typeface="Yu Gothic"/>
                        </a:rPr>
                        <a:t>観測prefix + 将来command</a:t>
                      </a:r>
                    </a:p>
                  </a:txBody>
                  <a:tcPr marL="91440" marR="91440" marT="45720" marB="45720">
                    <a:solidFill>
                      <a:srgbClr val="F8F8F8"/>
                    </a:solidFill>
                  </a:tcPr>
                </a:tc>
                <a:tc>
                  <a:txBody>
                    <a:bodyPr/>
                    <a:lstStyle/>
                    <a:p>
                      <a:r>
                        <a:rPr sz="855">
                          <a:solidFill>
                            <a:srgbClr val="5B5B5B"/>
                          </a:solidFill>
                          <a:latin typeface="Yu Gothic"/>
                          <a:ea typeface="Yu Gothic"/>
                          <a:cs typeface="Yu Gothic"/>
                        </a:rPr>
                        <a:t>history posteriorからopen-loop予測</a:t>
                      </a:r>
                    </a:p>
                  </a:txBody>
                  <a:tcPr marL="91440" marR="91440" marT="45720" marB="45720">
                    <a:solidFill>
                      <a:srgbClr val="F8F8F8"/>
                    </a:solidFill>
                  </a:tcPr>
                </a:tc>
                <a:tc>
                  <a:txBody>
                    <a:bodyPr/>
                    <a:lstStyle/>
                    <a:p>
                      <a:r>
                        <a:rPr sz="855">
                          <a:solidFill>
                            <a:srgbClr val="5B5B5B"/>
                          </a:solidFill>
                          <a:latin typeface="Yu Gothic"/>
                          <a:ea typeface="Yu Gothic"/>
                          <a:cs typeface="Yu Gothic"/>
                        </a:rPr>
                        <a:t>温度、区間、coverage table</a:t>
                      </a:r>
                    </a:p>
                  </a:txBody>
                  <a:tcPr marL="91440" marR="91440" marT="45720" marB="45720">
                    <a:solidFill>
                      <a:srgbClr val="F8F8F8"/>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8F8F8"/>
                    </a:solidFill>
                  </a:tcPr>
                </a:tc>
              </a:tr>
              <a:tr h="520700">
                <a:tc>
                  <a:txBody>
                    <a:bodyPr/>
                    <a:lstStyle/>
                    <a:p>
                      <a:r>
                        <a:rPr sz="855" b="1">
                          <a:solidFill>
                            <a:srgbClr val="7B2DAF"/>
                          </a:solidFill>
                          <a:latin typeface="Yu Gothic"/>
                          <a:ea typeface="Yu Gothic"/>
                          <a:cs typeface="Yu Gothic"/>
                        </a:rPr>
                        <a:t>Monitor</a:t>
                      </a:r>
                    </a:p>
                  </a:txBody>
                  <a:tcPr marL="91440" marR="91440" marT="45720" marB="45720">
                    <a:solidFill>
                      <a:srgbClr val="FFFFFF"/>
                    </a:solidFill>
                  </a:tcPr>
                </a:tc>
                <a:tc>
                  <a:txBody>
                    <a:bodyPr/>
                    <a:lstStyle/>
                    <a:p>
                      <a:r>
                        <a:rPr sz="855">
                          <a:solidFill>
                            <a:srgbClr val="5B5B5B"/>
                          </a:solidFill>
                          <a:latin typeface="Yu Gothic"/>
                          <a:ea typeface="Yu Gothic"/>
                          <a:cs typeface="Yu Gothic"/>
                        </a:rPr>
                        <a:t>実測stream + command</a:t>
                      </a:r>
                    </a:p>
                  </a:txBody>
                  <a:tcPr marL="91440" marR="91440" marT="45720" marB="45720">
                    <a:solidFill>
                      <a:srgbClr val="FFFFFF"/>
                    </a:solidFill>
                  </a:tcPr>
                </a:tc>
                <a:tc>
                  <a:txBody>
                    <a:bodyPr/>
                    <a:lstStyle/>
                    <a:p>
                      <a:r>
                        <a:rPr sz="855">
                          <a:solidFill>
                            <a:srgbClr val="5B5B5B"/>
                          </a:solidFill>
                          <a:latin typeface="Yu Gothic"/>
                          <a:ea typeface="Yu Gothic"/>
                          <a:cs typeface="Yu Gothic"/>
                        </a:rPr>
                        <a:t>温度・未知熱・relative biasを因果推定</a:t>
                      </a:r>
                    </a:p>
                  </a:txBody>
                  <a:tcPr marL="91440" marR="91440" marT="45720" marB="45720">
                    <a:solidFill>
                      <a:srgbClr val="FFFFFF"/>
                    </a:solidFill>
                  </a:tcPr>
                </a:tc>
                <a:tc>
                  <a:txBody>
                    <a:bodyPr/>
                    <a:lstStyle/>
                    <a:p>
                      <a:r>
                        <a:rPr sz="855">
                          <a:solidFill>
                            <a:srgbClr val="5B5B5B"/>
                          </a:solidFill>
                          <a:latin typeface="Yu Gothic"/>
                          <a:ea typeface="Yu Gothic"/>
                          <a:cs typeface="Yu Gothic"/>
                        </a:rPr>
                        <a:t>innovation、NIS、欠測補完</a:t>
                      </a:r>
                    </a:p>
                  </a:txBody>
                  <a:tcPr marL="91440" marR="91440" marT="45720" marB="45720">
                    <a:solidFill>
                      <a:srgbClr val="FFFFFF"/>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FFFFF"/>
                    </a:solidFill>
                  </a:tcPr>
                </a:tc>
              </a:tr>
              <a:tr h="520700">
                <a:tc>
                  <a:txBody>
                    <a:bodyPr/>
                    <a:lstStyle/>
                    <a:p>
                      <a:r>
                        <a:rPr sz="855" b="1">
                          <a:solidFill>
                            <a:srgbClr val="E5A900"/>
                          </a:solidFill>
                          <a:latin typeface="Yu Gothic"/>
                          <a:ea typeface="Yu Gothic"/>
                          <a:cs typeface="Yu Gothic"/>
                        </a:rPr>
                        <a:t>Benchmark</a:t>
                      </a:r>
                    </a:p>
                  </a:txBody>
                  <a:tcPr marL="91440" marR="91440" marT="45720" marB="45720">
                    <a:solidFill>
                      <a:srgbClr val="F8F8F8"/>
                    </a:solidFill>
                  </a:tcPr>
                </a:tc>
                <a:tc>
                  <a:txBody>
                    <a:bodyPr/>
                    <a:lstStyle/>
                    <a:p>
                      <a:r>
                        <a:rPr sz="855">
                          <a:solidFill>
                            <a:srgbClr val="5B5B5B"/>
                          </a:solidFill>
                          <a:latin typeface="Yu Gothic"/>
                          <a:ea typeface="Yu Gothic"/>
                          <a:cs typeface="Yu Gothic"/>
                        </a:rPr>
                        <a:t>分離したexternal holdout</a:t>
                      </a:r>
                    </a:p>
                  </a:txBody>
                  <a:tcPr marL="91440" marR="91440" marT="45720" marB="45720">
                    <a:solidFill>
                      <a:srgbClr val="F8F8F8"/>
                    </a:solidFill>
                  </a:tcPr>
                </a:tc>
                <a:tc>
                  <a:txBody>
                    <a:bodyPr/>
                    <a:lstStyle/>
                    <a:p>
                      <a:r>
                        <a:rPr sz="855">
                          <a:solidFill>
                            <a:srgbClr val="5B5B5B"/>
                          </a:solidFill>
                          <a:latin typeface="Yu Gothic"/>
                          <a:ea typeface="Yu Gothic"/>
                          <a:cs typeface="Yu Gothic"/>
                        </a:rPr>
                        <a:t>interpolation / dynamics / gapを評価</a:t>
                      </a:r>
                    </a:p>
                  </a:txBody>
                  <a:tcPr marL="91440" marR="91440" marT="45720" marB="45720">
                    <a:solidFill>
                      <a:srgbClr val="F8F8F8"/>
                    </a:solidFill>
                  </a:tcPr>
                </a:tc>
                <a:tc>
                  <a:txBody>
                    <a:bodyPr/>
                    <a:lstStyle/>
                    <a:p>
                      <a:r>
                        <a:rPr sz="855">
                          <a:solidFill>
                            <a:srgbClr val="5B5B5B"/>
                          </a:solidFill>
                          <a:latin typeface="Yu Gothic"/>
                          <a:ea typeface="Yu Gothic"/>
                          <a:cs typeface="Yu Gothic"/>
                        </a:rPr>
                        <a:t>worst case、negative control</a:t>
                      </a:r>
                    </a:p>
                  </a:txBody>
                  <a:tcPr marL="91440" marR="91440" marT="45720" marB="45720">
                    <a:solidFill>
                      <a:srgbClr val="F8F8F8"/>
                    </a:solidFill>
                  </a:tcPr>
                </a:tc>
                <a:tc>
                  <a:txBody>
                    <a:bodyPr/>
                    <a:lstStyle/>
                    <a:p>
                      <a:r>
                        <a:rPr sz="855" b="1">
                          <a:solidFill>
                            <a:srgbClr val="4D8710"/>
                          </a:solidFill>
                          <a:latin typeface="Yu Gothic"/>
                          <a:ea typeface="Yu Gothic"/>
                          <a:cs typeface="Yu Gothic"/>
                        </a:rPr>
                        <a:t>実装済</a:t>
                      </a:r>
                    </a:p>
                  </a:txBody>
                  <a:tcPr marL="91440" marR="91440" marT="45720" marB="45720">
                    <a:solidFill>
                      <a:srgbClr val="F8F8F8"/>
                    </a:solidFill>
                  </a:tcPr>
                </a:tc>
              </a:tr>
              <a:tr h="520700">
                <a:tc>
                  <a:txBody>
                    <a:bodyPr/>
                    <a:lstStyle/>
                    <a:p>
                      <a:r>
                        <a:rPr sz="855" b="1">
                          <a:solidFill>
                            <a:srgbClr val="00A89D"/>
                          </a:solidFill>
                          <a:latin typeface="Yu Gothic"/>
                          <a:ea typeface="Yu Gothic"/>
                          <a:cs typeface="Yu Gothic"/>
                        </a:rPr>
                        <a:t>CAE report</a:t>
                      </a:r>
                    </a:p>
                  </a:txBody>
                  <a:tcPr marL="91440" marR="91440" marT="45720" marB="45720">
                    <a:solidFill>
                      <a:srgbClr val="FFFFFF"/>
                    </a:solidFill>
                  </a:tcPr>
                </a:tc>
                <a:tc>
                  <a:txBody>
                    <a:bodyPr/>
                    <a:lstStyle/>
                    <a:p>
                      <a:r>
                        <a:rPr sz="855">
                          <a:solidFill>
                            <a:srgbClr val="5B5B5B"/>
                          </a:solidFill>
                          <a:latin typeface="Yu Gothic"/>
                          <a:ea typeface="Yu Gothic"/>
                          <a:cs typeface="Yu Gothic"/>
                        </a:rPr>
                        <a:t>canonical source_data</a:t>
                      </a:r>
                    </a:p>
                  </a:txBody>
                  <a:tcPr marL="91440" marR="91440" marT="45720" marB="45720">
                    <a:solidFill>
                      <a:srgbClr val="FFFFFF"/>
                    </a:solidFill>
                  </a:tcPr>
                </a:tc>
                <a:tc>
                  <a:txBody>
                    <a:bodyPr/>
                    <a:lstStyle/>
                    <a:p>
                      <a:r>
                        <a:rPr sz="855">
                          <a:solidFill>
                            <a:srgbClr val="5B5B5B"/>
                          </a:solidFill>
                          <a:latin typeface="Yu Gothic"/>
                          <a:ea typeface="Yu Gothic"/>
                          <a:cs typeface="Yu Gothic"/>
                        </a:rPr>
                        <a:t>mesh・time・model-form evidenceを統合</a:t>
                      </a:r>
                    </a:p>
                  </a:txBody>
                  <a:tcPr marL="91440" marR="91440" marT="45720" marB="45720">
                    <a:solidFill>
                      <a:srgbClr val="FFFFFF"/>
                    </a:solidFill>
                  </a:tcPr>
                </a:tc>
                <a:tc>
                  <a:txBody>
                    <a:bodyPr/>
                    <a:lstStyle/>
                    <a:p>
                      <a:r>
                        <a:rPr sz="855">
                          <a:solidFill>
                            <a:srgbClr val="5B5B5B"/>
                          </a:solidFill>
                          <a:latin typeface="Yu Gothic"/>
                          <a:ea typeface="Yu Gothic"/>
                          <a:cs typeface="Yu Gothic"/>
                        </a:rPr>
                        <a:t>採用gateと再評価条件</a:t>
                      </a:r>
                    </a:p>
                  </a:txBody>
                  <a:tcPr marL="91440" marR="91440" marT="45720" marB="45720">
                    <a:solidFill>
                      <a:srgbClr val="FFFFFF"/>
                    </a:solidFill>
                  </a:tcPr>
                </a:tc>
                <a:tc>
                  <a:txBody>
                    <a:bodyPr/>
                    <a:lstStyle/>
                    <a:p>
                      <a:r>
                        <a:rPr sz="855" b="1">
                          <a:solidFill>
                            <a:srgbClr val="7B2DAF"/>
                          </a:solidFill>
                          <a:latin typeface="Yu Gothic"/>
                          <a:ea typeface="Yu Gothic"/>
                          <a:cs typeface="Yu Gothic"/>
                        </a:rPr>
                        <a:t>評価系</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B3C2E581-8E8B-4F53-9316-B18E8A386F3C}"/>
              </a:ext>
            </a:extLst>
          </p:cNvPr>
          <p:cNvSpPr>
            <a:spLocks xmlns:a="http://schemas.openxmlformats.org/drawingml/2006/main" noGrp="1"/>
          </p:cNvSpPr>
          <p:nvPr/>
        </p:nvSpPr>
        <p:spPr>
          <a:xfrm xmlns:a="http://schemas.openxmlformats.org/drawingml/2006/main">
            <a:off x="552450" y="482917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同じ基盤から可能になること</a:t>
            </a:r>
          </a:p>
        </p:txBody>
      </p:sp>
      <p:sp>
        <p:nvSpPr>
          <p:cNvPr id="11" name="">
            <a:extLst xmlns:a="http://schemas.openxmlformats.org/drawingml/2006/main">
              <a:ext uri="{FF2B5EF4-FFF2-40B4-BE49-F238E27FC236}">
                <a16:creationId xmlns:a16="http://schemas.microsoft.com/office/drawing/2014/main" id="{B97BCF25-FC35-4DAD-B6D8-6937FBFE85AF}"/>
              </a:ext>
            </a:extLst>
          </p:cNvPr>
          <p:cNvSpPr>
            <a:spLocks xmlns:a="http://schemas.openxmlformats.org/drawingml/2006/main" noGrp="1"/>
          </p:cNvSpPr>
          <p:nvPr/>
        </p:nvSpPr>
        <p:spPr>
          <a:xfrm xmlns:a="http://schemas.openxmlformats.org/drawingml/2006/main">
            <a:off x="552450" y="5191125"/>
            <a:ext cx="3524250" cy="62865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2" name="">
            <a:extLst xmlns:a="http://schemas.openxmlformats.org/drawingml/2006/main">
              <a:ext uri="{FF2B5EF4-FFF2-40B4-BE49-F238E27FC236}">
                <a16:creationId xmlns:a16="http://schemas.microsoft.com/office/drawing/2014/main" id="{FEF6CDF5-392F-4B0C-819D-E869ED4AEE94}"/>
              </a:ext>
            </a:extLst>
          </p:cNvPr>
          <p:cNvSpPr>
            <a:spLocks xmlns:a="http://schemas.openxmlformats.org/drawingml/2006/main" noGrp="1"/>
          </p:cNvSpPr>
          <p:nvPr/>
        </p:nvSpPr>
        <p:spPr>
          <a:xfrm xmlns:a="http://schemas.openxmlformats.org/drawingml/2006/main">
            <a:off x="6762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00A5D8"/>
            </a:solidFill>
            <a:prstDash val="solid"/>
          </a:ln>
        </p:spPr>
      </p:sp>
      <p:sp>
        <p:nvSpPr>
          <p:cNvPr id="13" name="">
            <a:extLst xmlns:a="http://schemas.openxmlformats.org/drawingml/2006/main">
              <a:ext uri="{FF2B5EF4-FFF2-40B4-BE49-F238E27FC236}">
                <a16:creationId xmlns:a16="http://schemas.microsoft.com/office/drawing/2014/main" id="{A8891F5B-18F0-46B8-B411-234F2D2C80AE}"/>
              </a:ext>
            </a:extLst>
          </p:cNvPr>
          <p:cNvSpPr>
            <a:spLocks xmlns:a="http://schemas.openxmlformats.org/drawingml/2006/main" noGrp="1"/>
          </p:cNvSpPr>
          <p:nvPr/>
        </p:nvSpPr>
        <p:spPr>
          <a:xfrm xmlns:a="http://schemas.openxmlformats.org/drawingml/2006/main">
            <a:off x="7239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00A5D8"/>
                </a:solidFill>
                <a:latin typeface="Yu Gothic"/>
                <a:ea typeface="Yu Gothic"/>
                <a:cs typeface="Yu Gothic"/>
              </a:defRPr>
            </a:pPr>
            <a:r>
              <a:rPr sz="788" b="1" i="0">
                <a:solidFill>
                  <a:srgbClr val="00A5D8"/>
                </a:solidFill>
                <a:latin typeface="Yu Gothic"/>
                <a:ea typeface="Yu Gothic"/>
                <a:cs typeface="Yu Gothic"/>
              </a:rPr>
              <a:t>設計</a:t>
            </a:r>
          </a:p>
        </p:txBody>
      </p:sp>
      <p:sp>
        <p:nvSpPr>
          <p:cNvPr id="14" name="">
            <a:extLst xmlns:a="http://schemas.openxmlformats.org/drawingml/2006/main">
              <a:ext uri="{FF2B5EF4-FFF2-40B4-BE49-F238E27FC236}">
                <a16:creationId xmlns:a16="http://schemas.microsoft.com/office/drawing/2014/main" id="{D9C084B7-D00D-46C0-82EA-F2C7935DCF09}"/>
              </a:ext>
            </a:extLst>
          </p:cNvPr>
          <p:cNvSpPr>
            <a:spLocks xmlns:a="http://schemas.openxmlformats.org/drawingml/2006/main" noGrp="1"/>
          </p:cNvSpPr>
          <p:nvPr/>
        </p:nvSpPr>
        <p:spPr>
          <a:xfrm xmlns:a="http://schemas.openxmlformats.org/drawingml/2006/main">
            <a:off x="14478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DOE候補のscreening / 係数感度 / model gapの発見</a:t>
            </a:r>
          </a:p>
        </p:txBody>
      </p:sp>
      <p:sp>
        <p:nvSpPr>
          <p:cNvPr id="15" name="">
            <a:extLst xmlns:a="http://schemas.openxmlformats.org/drawingml/2006/main">
              <a:ext uri="{FF2B5EF4-FFF2-40B4-BE49-F238E27FC236}">
                <a16:creationId xmlns:a16="http://schemas.microsoft.com/office/drawing/2014/main" id="{C775A55B-3420-4593-8E36-4D404FF2EAD7}"/>
              </a:ext>
            </a:extLst>
          </p:cNvPr>
          <p:cNvSpPr>
            <a:spLocks xmlns:a="http://schemas.openxmlformats.org/drawingml/2006/main" noGrp="1"/>
          </p:cNvSpPr>
          <p:nvPr/>
        </p:nvSpPr>
        <p:spPr>
          <a:xfrm xmlns:a="http://schemas.openxmlformats.org/drawingml/2006/main">
            <a:off x="4248150" y="5191125"/>
            <a:ext cx="3524250" cy="62865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EB590459-58F2-4734-89ED-114A292B1B8D}"/>
              </a:ext>
            </a:extLst>
          </p:cNvPr>
          <p:cNvSpPr>
            <a:spLocks xmlns:a="http://schemas.openxmlformats.org/drawingml/2006/main" noGrp="1"/>
          </p:cNvSpPr>
          <p:nvPr/>
        </p:nvSpPr>
        <p:spPr>
          <a:xfrm xmlns:a="http://schemas.openxmlformats.org/drawingml/2006/main">
            <a:off x="43719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6BE18"/>
            </a:solidFill>
            <a:prstDash val="solid"/>
          </a:ln>
        </p:spPr>
      </p:sp>
      <p:sp>
        <p:nvSpPr>
          <p:cNvPr id="17" name="">
            <a:extLst xmlns:a="http://schemas.openxmlformats.org/drawingml/2006/main">
              <a:ext uri="{FF2B5EF4-FFF2-40B4-BE49-F238E27FC236}">
                <a16:creationId xmlns:a16="http://schemas.microsoft.com/office/drawing/2014/main" id="{680AAAFD-D762-4B39-8A5D-59925DB463E4}"/>
              </a:ext>
            </a:extLst>
          </p:cNvPr>
          <p:cNvSpPr>
            <a:spLocks xmlns:a="http://schemas.openxmlformats.org/drawingml/2006/main" noGrp="1"/>
          </p:cNvSpPr>
          <p:nvPr/>
        </p:nvSpPr>
        <p:spPr>
          <a:xfrm xmlns:a="http://schemas.openxmlformats.org/drawingml/2006/main">
            <a:off x="44196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運用</a:t>
            </a:r>
          </a:p>
        </p:txBody>
      </p:sp>
      <p:sp>
        <p:nvSpPr>
          <p:cNvPr id="18" name="">
            <a:extLst xmlns:a="http://schemas.openxmlformats.org/drawingml/2006/main">
              <a:ext uri="{FF2B5EF4-FFF2-40B4-BE49-F238E27FC236}">
                <a16:creationId xmlns:a16="http://schemas.microsoft.com/office/drawing/2014/main" id="{CB1395E6-96EE-48CA-86F9-C5AC8ECBF1B7}"/>
              </a:ext>
            </a:extLst>
          </p:cNvPr>
          <p:cNvSpPr>
            <a:spLocks xmlns:a="http://schemas.openxmlformats.org/drawingml/2006/main" noGrp="1"/>
          </p:cNvSpPr>
          <p:nvPr/>
        </p:nvSpPr>
        <p:spPr>
          <a:xfrm xmlns:a="http://schemas.openxmlformats.org/drawingml/2006/main">
            <a:off x="51435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warm-up終了予測 / virtual sensor / sensor欠測継続</a:t>
            </a:r>
          </a:p>
        </p:txBody>
      </p:sp>
      <p:sp>
        <p:nvSpPr>
          <p:cNvPr id="19" name="">
            <a:extLst xmlns:a="http://schemas.openxmlformats.org/drawingml/2006/main">
              <a:ext uri="{FF2B5EF4-FFF2-40B4-BE49-F238E27FC236}">
                <a16:creationId xmlns:a16="http://schemas.microsoft.com/office/drawing/2014/main" id="{0F591642-3269-40F2-8BCC-09650D43F7FB}"/>
              </a:ext>
            </a:extLst>
          </p:cNvPr>
          <p:cNvSpPr>
            <a:spLocks xmlns:a="http://schemas.openxmlformats.org/drawingml/2006/main" noGrp="1"/>
          </p:cNvSpPr>
          <p:nvPr/>
        </p:nvSpPr>
        <p:spPr>
          <a:xfrm xmlns:a="http://schemas.openxmlformats.org/drawingml/2006/main">
            <a:off x="7943850" y="5191125"/>
            <a:ext cx="3524250" cy="628650"/>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0" name="">
            <a:extLst xmlns:a="http://schemas.openxmlformats.org/drawingml/2006/main">
              <a:ext uri="{FF2B5EF4-FFF2-40B4-BE49-F238E27FC236}">
                <a16:creationId xmlns:a16="http://schemas.microsoft.com/office/drawing/2014/main" id="{B6522433-1917-4322-9569-D9F37014F723}"/>
              </a:ext>
            </a:extLst>
          </p:cNvPr>
          <p:cNvSpPr>
            <a:spLocks xmlns:a="http://schemas.openxmlformats.org/drawingml/2006/main" noGrp="1"/>
          </p:cNvSpPr>
          <p:nvPr/>
        </p:nvSpPr>
        <p:spPr>
          <a:xfrm xmlns:a="http://schemas.openxmlformats.org/drawingml/2006/main">
            <a:off x="8067675" y="5314950"/>
            <a:ext cx="685800" cy="238125"/>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7B2DAF"/>
            </a:solidFill>
            <a:prstDash val="solid"/>
          </a:ln>
        </p:spPr>
      </p:sp>
      <p:sp>
        <p:nvSpPr>
          <p:cNvPr id="21" name="">
            <a:extLst xmlns:a="http://schemas.openxmlformats.org/drawingml/2006/main">
              <a:ext uri="{FF2B5EF4-FFF2-40B4-BE49-F238E27FC236}">
                <a16:creationId xmlns:a16="http://schemas.microsoft.com/office/drawing/2014/main" id="{4BD9B3AB-ED20-477C-9BBD-4F0352E3831B}"/>
              </a:ext>
            </a:extLst>
          </p:cNvPr>
          <p:cNvSpPr>
            <a:spLocks xmlns:a="http://schemas.openxmlformats.org/drawingml/2006/main" noGrp="1"/>
          </p:cNvSpPr>
          <p:nvPr/>
        </p:nvSpPr>
        <p:spPr>
          <a:xfrm xmlns:a="http://schemas.openxmlformats.org/drawingml/2006/main">
            <a:off x="8115300" y="53244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保全</a:t>
            </a:r>
          </a:p>
        </p:txBody>
      </p:sp>
      <p:sp>
        <p:nvSpPr>
          <p:cNvPr id="22" name="">
            <a:extLst xmlns:a="http://schemas.openxmlformats.org/drawingml/2006/main">
              <a:ext uri="{FF2B5EF4-FFF2-40B4-BE49-F238E27FC236}">
                <a16:creationId xmlns:a16="http://schemas.microsoft.com/office/drawing/2014/main" id="{AD6E7C38-D4BB-4804-B152-FEACAF662EE5}"/>
              </a:ext>
            </a:extLst>
          </p:cNvPr>
          <p:cNvSpPr>
            <a:spLocks xmlns:a="http://schemas.openxmlformats.org/drawingml/2006/main" noGrp="1"/>
          </p:cNvSpPr>
          <p:nvPr/>
        </p:nvSpPr>
        <p:spPr>
          <a:xfrm xmlns:a="http://schemas.openxmlformats.org/drawingml/2006/main">
            <a:off x="8839200" y="5267325"/>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6000"/>
              </a:lnSpc>
              <a:buNone/>
              <a:defRPr sz="878" b="1" i="0">
                <a:solidFill>
                  <a:srgbClr val="5B5B5B"/>
                </a:solidFill>
                <a:latin typeface="Yu Gothic"/>
                <a:ea typeface="Yu Gothic"/>
                <a:cs typeface="Yu Gothic"/>
              </a:defRPr>
            </a:pPr>
            <a:r>
              <a:rPr sz="878" b="1" i="0">
                <a:solidFill>
                  <a:srgbClr val="5B5B5B"/>
                </a:solidFill>
                <a:latin typeface="Yu Gothic"/>
                <a:ea typeface="Yu Gothic"/>
                <a:cs typeface="Yu Gothic"/>
              </a:rPr>
              <a:t>未指令発熱 / relative drift / gross faultの切り分け</a:t>
            </a:r>
          </a:p>
        </p:txBody>
      </p:sp>
      <p:sp>
        <p:nvSpPr>
          <p:cNvPr id="23" name="">
            <a:extLst xmlns:a="http://schemas.openxmlformats.org/drawingml/2006/main">
              <a:ext uri="{FF2B5EF4-FFF2-40B4-BE49-F238E27FC236}">
                <a16:creationId xmlns:a16="http://schemas.microsoft.com/office/drawing/2014/main" id="{E2A213C9-BF73-4CE6-BCAC-7ADB57863B87}"/>
              </a:ext>
            </a:extLst>
          </p:cNvPr>
          <p:cNvSpPr>
            <a:spLocks xmlns:a="http://schemas.openxmlformats.org/drawingml/2006/main" noGrp="1"/>
          </p:cNvSpPr>
          <p:nvPr/>
        </p:nvSpPr>
        <p:spPr>
          <a:xfrm xmlns:a="http://schemas.openxmlformats.org/drawingml/2006/main">
            <a:off x="552450" y="5962650"/>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0" i="0">
                <a:solidFill>
                  <a:srgbClr val="C4493D"/>
                </a:solidFill>
                <a:latin typeface="Yu Gothic"/>
                <a:ea typeface="Yu Gothic"/>
                <a:cs typeface="Yu Gothic"/>
              </a:defRPr>
            </a:pPr>
            <a:r>
              <a:rPr sz="863" b="0" i="0">
                <a:solidFill>
                  <a:srgbClr val="C4493D"/>
                </a:solidFill>
                <a:latin typeface="Yu Gothic"/>
                <a:ea typeface="Yu Gothic"/>
                <a:cs typeface="Yu Gothic"/>
              </a:rPr>
              <a:t>拡張候補（未実装）：parameter uncertainty、sparse演算、階層同定、複数対象で再現する非線形law。</a:t>
            </a:r>
          </a:p>
        </p:txBody>
      </p:sp>
    </p:spTree>
    <p:extLst>
      <p:ext uri="{BB962C8B-B14F-4D97-AF65-F5344CB8AC3E}">
        <p14:creationId xmlns:p14="http://schemas.microsoft.com/office/powerpoint/2010/main" val="20811630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AA58261B-4A42-4C2C-AC04-BE1FAF315A19}"/>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E49CBF-B0FD-40F1-803A-494EA62A93A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EXECUTIVE VIEW</a:t>
            </a:r>
          </a:p>
        </p:txBody>
      </p:sp>
      <p:sp>
        <p:nvSpPr>
          <p:cNvPr id="3" name="">
            <a:extLst xmlns:a="http://schemas.openxmlformats.org/drawingml/2006/main">
              <a:ext uri="{FF2B5EF4-FFF2-40B4-BE49-F238E27FC236}">
                <a16:creationId xmlns:a16="http://schemas.microsoft.com/office/drawing/2014/main" id="{1EF5D21C-996A-4153-A40F-928A76D58841}"/>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装置適用の価値は高いが、平均温度精度と局所安全性は分けて判定する</a:t>
            </a:r>
          </a:p>
        </p:txBody>
      </p:sp>
      <p:sp>
        <p:nvSpPr>
          <p:cNvPr id="4" name="">
            <a:extLst xmlns:a="http://schemas.openxmlformats.org/drawingml/2006/main">
              <a:ext uri="{FF2B5EF4-FFF2-40B4-BE49-F238E27FC236}">
                <a16:creationId xmlns:a16="http://schemas.microsoft.com/office/drawing/2014/main" id="{6C8B50AD-1D1A-4AA4-9C80-05470C7669A9}"/>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結論は「screeningに有効、製品保証には装置別V&amp;Vが必要」である</a:t>
            </a:r>
          </a:p>
        </p:txBody>
      </p:sp>
      <p:sp>
        <p:nvSpPr>
          <p:cNvPr id="5" name="">
            <a:extLst xmlns:a="http://schemas.openxmlformats.org/drawingml/2006/main">
              <a:ext uri="{FF2B5EF4-FFF2-40B4-BE49-F238E27FC236}">
                <a16:creationId xmlns:a16="http://schemas.microsoft.com/office/drawing/2014/main" id="{84FADC6C-44C1-4672-A948-A42EF06EBD8D}"/>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218C4E30-41E0-4DC3-902B-3895140A0D9F}"/>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8D936D8-E66C-4E77-842C-9A1C35D090B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D45165B9-CA3B-4869-BED2-D6DB548828E3}"/>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6</a:t>
            </a:r>
          </a:p>
        </p:txBody>
      </p:sp>
      <p:sp>
        <p:nvSpPr>
          <p:cNvPr id="9" name="">
            <a:extLst xmlns:a="http://schemas.openxmlformats.org/drawingml/2006/main">
              <a:ext uri="{FF2B5EF4-FFF2-40B4-BE49-F238E27FC236}">
                <a16:creationId xmlns:a16="http://schemas.microsoft.com/office/drawing/2014/main" id="{B65AB2C1-B6A1-41A3-9D74-E432DFE0178D}"/>
              </a:ext>
            </a:extLst>
          </p:cNvPr>
          <p:cNvSpPr>
            <a:spLocks xmlns:a="http://schemas.openxmlformats.org/drawingml/2006/main" noGrp="1"/>
          </p:cNvSpPr>
          <p:nvPr/>
        </p:nvSpPr>
        <p:spPr>
          <a:xfrm xmlns:a="http://schemas.openxmlformats.org/drawingml/2006/main">
            <a:off x="552450" y="1457325"/>
            <a:ext cx="340995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954FD4AB-40EA-4B64-9DB0-C0CD739A9D8C}"/>
              </a:ext>
            </a:extLst>
          </p:cNvPr>
          <p:cNvSpPr>
            <a:spLocks xmlns:a="http://schemas.openxmlformats.org/drawingml/2006/main" noGrp="1"/>
          </p:cNvSpPr>
          <p:nvPr/>
        </p:nvSpPr>
        <p:spPr>
          <a:xfrm xmlns:a="http://schemas.openxmlformats.org/drawingml/2006/main">
            <a:off x="552450" y="1457325"/>
            <a:ext cx="34099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05281E8-CAE9-4571-879C-0DB3285F6BE9}"/>
              </a:ext>
            </a:extLst>
          </p:cNvPr>
          <p:cNvSpPr>
            <a:spLocks xmlns:a="http://schemas.openxmlformats.org/drawingml/2006/main" noGrp="1"/>
          </p:cNvSpPr>
          <p:nvPr/>
        </p:nvSpPr>
        <p:spPr>
          <a:xfrm xmlns:a="http://schemas.openxmlformats.org/drawingml/2006/main">
            <a:off x="742950" y="1695450"/>
            <a:ext cx="3028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物理モデル</a:t>
            </a:r>
          </a:p>
        </p:txBody>
      </p:sp>
      <p:sp>
        <p:nvSpPr>
          <p:cNvPr id="12" name="">
            <a:extLst xmlns:a="http://schemas.openxmlformats.org/drawingml/2006/main">
              <a:ext uri="{FF2B5EF4-FFF2-40B4-BE49-F238E27FC236}">
                <a16:creationId xmlns:a16="http://schemas.microsoft.com/office/drawing/2014/main" id="{30F1E977-C803-4EB6-91E2-823A58370711}"/>
              </a:ext>
            </a:extLst>
          </p:cNvPr>
          <p:cNvSpPr>
            <a:spLocks xmlns:a="http://schemas.openxmlformats.org/drawingml/2006/main" noGrp="1"/>
          </p:cNvSpPr>
          <p:nvPr/>
        </p:nvSpPr>
        <p:spPr>
          <a:xfrm xmlns:a="http://schemas.openxmlformats.org/drawingml/2006/main">
            <a:off x="742950" y="2133600"/>
            <a:ext cx="3028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00A5D8"/>
                </a:solidFill>
                <a:latin typeface="Yu Gothic"/>
                <a:ea typeface="Yu Gothic"/>
                <a:cs typeface="Yu Gothic"/>
              </a:defRPr>
            </a:pPr>
            <a:r>
              <a:rPr sz="1200" b="1" i="0">
                <a:solidFill>
                  <a:srgbClr val="00A5D8"/>
                </a:solidFill>
                <a:latin typeface="Yu Gothic"/>
                <a:ea typeface="Yu Gothic"/>
                <a:cs typeface="Yu Gothic"/>
              </a:rPr>
              <a:t>小自由度でも、保存則と散逸性を構造として保持</a:t>
            </a:r>
          </a:p>
        </p:txBody>
      </p:sp>
      <p:sp>
        <p:nvSpPr>
          <p:cNvPr id="13" name="">
            <a:extLst xmlns:a="http://schemas.openxmlformats.org/drawingml/2006/main">
              <a:ext uri="{FF2B5EF4-FFF2-40B4-BE49-F238E27FC236}">
                <a16:creationId xmlns:a16="http://schemas.microsoft.com/office/drawing/2014/main" id="{2447C0F3-5C54-4748-B24A-129A7BCE9FF8}"/>
              </a:ext>
            </a:extLst>
          </p:cNvPr>
          <p:cNvSpPr>
            <a:spLocks xmlns:a="http://schemas.openxmlformats.org/drawingml/2006/main" noGrp="1"/>
          </p:cNvSpPr>
          <p:nvPr/>
        </p:nvSpPr>
        <p:spPr>
          <a:xfrm xmlns:a="http://schemas.openxmlformats.org/drawingml/2006/main">
            <a:off x="742950" y="2876550"/>
            <a:ext cx="30289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熱容量 C、コンダクタンス G、境界熱伝達 h を正値化して同定。exact/implicit積分により運転条件に応じた安定計算を行う。</a:t>
            </a:r>
          </a:p>
        </p:txBody>
      </p:sp>
      <p:sp>
        <p:nvSpPr>
          <p:cNvPr id="14" name="">
            <a:extLst xmlns:a="http://schemas.openxmlformats.org/drawingml/2006/main">
              <a:ext uri="{FF2B5EF4-FFF2-40B4-BE49-F238E27FC236}">
                <a16:creationId xmlns:a16="http://schemas.microsoft.com/office/drawing/2014/main" id="{CB8ED874-E1DF-4A29-9A89-0D4783C175B2}"/>
              </a:ext>
            </a:extLst>
          </p:cNvPr>
          <p:cNvSpPr>
            <a:spLocks xmlns:a="http://schemas.openxmlformats.org/drawingml/2006/main" noGrp="1"/>
          </p:cNvSpPr>
          <p:nvPr/>
        </p:nvSpPr>
        <p:spPr>
          <a:xfrm xmlns:a="http://schemas.openxmlformats.org/drawingml/2006/main">
            <a:off x="4210050" y="1457325"/>
            <a:ext cx="340995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EF977104-079F-4694-810A-27B8F7E3200B}"/>
              </a:ext>
            </a:extLst>
          </p:cNvPr>
          <p:cNvSpPr>
            <a:spLocks xmlns:a="http://schemas.openxmlformats.org/drawingml/2006/main" noGrp="1"/>
          </p:cNvSpPr>
          <p:nvPr/>
        </p:nvSpPr>
        <p:spPr>
          <a:xfrm xmlns:a="http://schemas.openxmlformats.org/drawingml/2006/main">
            <a:off x="4210050" y="1457325"/>
            <a:ext cx="34099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938A5E2-88B0-492F-A1E5-C0C1939052A6}"/>
              </a:ext>
            </a:extLst>
          </p:cNvPr>
          <p:cNvSpPr>
            <a:spLocks xmlns:a="http://schemas.openxmlformats.org/drawingml/2006/main" noGrp="1"/>
          </p:cNvSpPr>
          <p:nvPr/>
        </p:nvSpPr>
        <p:spPr>
          <a:xfrm xmlns:a="http://schemas.openxmlformats.org/drawingml/2006/main">
            <a:off x="4400550" y="1695450"/>
            <a:ext cx="3028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検証エビデンス</a:t>
            </a:r>
          </a:p>
        </p:txBody>
      </p:sp>
      <p:sp>
        <p:nvSpPr>
          <p:cNvPr id="17" name="">
            <a:extLst xmlns:a="http://schemas.openxmlformats.org/drawingml/2006/main">
              <a:ext uri="{FF2B5EF4-FFF2-40B4-BE49-F238E27FC236}">
                <a16:creationId xmlns:a16="http://schemas.microsoft.com/office/drawing/2014/main" id="{8426F024-BBB8-4066-89E2-4BE847C14460}"/>
              </a:ext>
            </a:extLst>
          </p:cNvPr>
          <p:cNvSpPr>
            <a:spLocks xmlns:a="http://schemas.openxmlformats.org/drawingml/2006/main" noGrp="1"/>
          </p:cNvSpPr>
          <p:nvPr/>
        </p:nvSpPr>
        <p:spPr>
          <a:xfrm xmlns:a="http://schemas.openxmlformats.org/drawingml/2006/main">
            <a:off x="4400550" y="2133600"/>
            <a:ext cx="3028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76BE18"/>
                </a:solidFill>
                <a:latin typeface="Yu Gothic"/>
                <a:ea typeface="Yu Gothic"/>
                <a:cs typeface="Yu Gothic"/>
              </a:defRPr>
            </a:pPr>
            <a:r>
              <a:rPr sz="1200" b="1" i="0">
                <a:solidFill>
                  <a:srgbClr val="76BE18"/>
                </a:solidFill>
                <a:latin typeface="Yu Gothic"/>
                <a:ea typeface="Yu Gothic"/>
                <a:cs typeface="Yu Gothic"/>
              </a:rPr>
              <a:t>合成 → 線形CAE → 高忠実度CAEの段階評価</a:t>
            </a:r>
          </a:p>
        </p:txBody>
      </p:sp>
      <p:sp>
        <p:nvSpPr>
          <p:cNvPr id="18" name="">
            <a:extLst xmlns:a="http://schemas.openxmlformats.org/drawingml/2006/main">
              <a:ext uri="{FF2B5EF4-FFF2-40B4-BE49-F238E27FC236}">
                <a16:creationId xmlns:a16="http://schemas.microsoft.com/office/drawing/2014/main" id="{EAB06BD0-E68D-4F55-962B-F4BB75577ABD}"/>
              </a:ext>
            </a:extLst>
          </p:cNvPr>
          <p:cNvSpPr>
            <a:spLocks xmlns:a="http://schemas.openxmlformats.org/drawingml/2006/main" noGrp="1"/>
          </p:cNvSpPr>
          <p:nvPr/>
        </p:nvSpPr>
        <p:spPr>
          <a:xfrm xmlns:a="http://schemas.openxmlformats.org/drawingml/2006/main">
            <a:off x="4400550" y="2876550"/>
            <a:ext cx="30289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TopCell core平均 0.143 K、線形COMSOL平均 0.036 K、高忠実度2ケース平均 0.0956 K。model gapとmesh未収束を別枠で保持。</a:t>
            </a:r>
          </a:p>
        </p:txBody>
      </p:sp>
      <p:sp>
        <p:nvSpPr>
          <p:cNvPr id="19" name="">
            <a:extLst xmlns:a="http://schemas.openxmlformats.org/drawingml/2006/main">
              <a:ext uri="{FF2B5EF4-FFF2-40B4-BE49-F238E27FC236}">
                <a16:creationId xmlns:a16="http://schemas.microsoft.com/office/drawing/2014/main" id="{44BEBBE7-2076-47BC-BB58-EAEE2003E070}"/>
              </a:ext>
            </a:extLst>
          </p:cNvPr>
          <p:cNvSpPr>
            <a:spLocks xmlns:a="http://schemas.openxmlformats.org/drawingml/2006/main" noGrp="1"/>
          </p:cNvSpPr>
          <p:nvPr/>
        </p:nvSpPr>
        <p:spPr>
          <a:xfrm xmlns:a="http://schemas.openxmlformats.org/drawingml/2006/main">
            <a:off x="7867650" y="1457325"/>
            <a:ext cx="3771900" cy="260985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2A2C9D8C-D8AE-4F94-8E07-72FF41546657}"/>
              </a:ext>
            </a:extLst>
          </p:cNvPr>
          <p:cNvSpPr>
            <a:spLocks xmlns:a="http://schemas.openxmlformats.org/drawingml/2006/main" noGrp="1"/>
          </p:cNvSpPr>
          <p:nvPr/>
        </p:nvSpPr>
        <p:spPr>
          <a:xfrm xmlns:a="http://schemas.openxmlformats.org/drawingml/2006/main">
            <a:off x="7867650" y="1457325"/>
            <a:ext cx="377190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6A8191B-06E0-45FF-B050-4F7FE820E193}"/>
              </a:ext>
            </a:extLst>
          </p:cNvPr>
          <p:cNvSpPr>
            <a:spLocks xmlns:a="http://schemas.openxmlformats.org/drawingml/2006/main" noGrp="1"/>
          </p:cNvSpPr>
          <p:nvPr/>
        </p:nvSpPr>
        <p:spPr>
          <a:xfrm xmlns:a="http://schemas.openxmlformats.org/drawingml/2006/main">
            <a:off x="8058150" y="1695450"/>
            <a:ext cx="339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575" b="1" i="0">
                <a:solidFill>
                  <a:srgbClr val="3F3F3F"/>
                </a:solidFill>
                <a:latin typeface="Yu Gothic"/>
                <a:ea typeface="Yu Gothic"/>
                <a:cs typeface="Yu Gothic"/>
              </a:defRPr>
            </a:pPr>
            <a:r>
              <a:rPr sz="1575" b="1" i="0">
                <a:solidFill>
                  <a:srgbClr val="3F3F3F"/>
                </a:solidFill>
                <a:latin typeface="Yu Gothic"/>
                <a:ea typeface="Yu Gothic"/>
                <a:cs typeface="Yu Gothic"/>
              </a:rPr>
              <a:t>装置実装</a:t>
            </a:r>
          </a:p>
        </p:txBody>
      </p:sp>
      <p:sp>
        <p:nvSpPr>
          <p:cNvPr id="22" name="">
            <a:extLst xmlns:a="http://schemas.openxmlformats.org/drawingml/2006/main">
              <a:ext uri="{FF2B5EF4-FFF2-40B4-BE49-F238E27FC236}">
                <a16:creationId xmlns:a16="http://schemas.microsoft.com/office/drawing/2014/main" id="{D02C2159-15F6-4E40-B7AC-D9B719EBE089}"/>
              </a:ext>
            </a:extLst>
          </p:cNvPr>
          <p:cNvSpPr>
            <a:spLocks xmlns:a="http://schemas.openxmlformats.org/drawingml/2006/main" noGrp="1"/>
          </p:cNvSpPr>
          <p:nvPr/>
        </p:nvSpPr>
        <p:spPr>
          <a:xfrm xmlns:a="http://schemas.openxmlformats.org/drawingml/2006/main">
            <a:off x="8058150" y="2133600"/>
            <a:ext cx="3390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予測・virtual sensor・異常検知を同じ状態定義で接続</a:t>
            </a:r>
          </a:p>
        </p:txBody>
      </p:sp>
      <p:sp>
        <p:nvSpPr>
          <p:cNvPr id="23" name="">
            <a:extLst xmlns:a="http://schemas.openxmlformats.org/drawingml/2006/main">
              <a:ext uri="{FF2B5EF4-FFF2-40B4-BE49-F238E27FC236}">
                <a16:creationId xmlns:a16="http://schemas.microsoft.com/office/drawing/2014/main" id="{5113AA3E-CE60-4D44-ABB4-B6B858FF1E95}"/>
              </a:ext>
            </a:extLst>
          </p:cNvPr>
          <p:cNvSpPr>
            <a:spLocks xmlns:a="http://schemas.openxmlformats.org/drawingml/2006/main" noGrp="1"/>
          </p:cNvSpPr>
          <p:nvPr/>
        </p:nvSpPr>
        <p:spPr>
          <a:xfrm xmlns:a="http://schemas.openxmlformats.org/drawingml/2006/main">
            <a:off x="8058150" y="2876550"/>
            <a:ext cx="33909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1013" b="0" i="0">
                <a:solidFill>
                  <a:srgbClr val="5B5B5B"/>
                </a:solidFill>
                <a:latin typeface="Yu Gothic"/>
                <a:ea typeface="Yu Gothic"/>
                <a:cs typeface="Yu Gothic"/>
              </a:defRPr>
            </a:pPr>
            <a:r>
              <a:rPr sz="1013" b="0" i="0">
                <a:solidFill>
                  <a:srgbClr val="5B5B5B"/>
                </a:solidFill>
                <a:latin typeface="Yu Gothic"/>
                <a:ea typeface="Yu Gothic"/>
                <a:cs typeface="Yu Gothic"/>
              </a:rPr>
              <a:t>warm-up/cool-down予測、欠測補完、未知発熱とsensor biasの推定に利用可能。運転域、sensor帯域、hotspot marginは装置ごとに固定する。</a:t>
            </a:r>
          </a:p>
        </p:txBody>
      </p:sp>
      <p:sp>
        <p:nvSpPr>
          <p:cNvPr id="24" name="">
            <a:extLst xmlns:a="http://schemas.openxmlformats.org/drawingml/2006/main">
              <a:ext uri="{FF2B5EF4-FFF2-40B4-BE49-F238E27FC236}">
                <a16:creationId xmlns:a16="http://schemas.microsoft.com/office/drawing/2014/main" id="{E4B7E701-F302-4C2C-9AE8-779094FCBDF4}"/>
              </a:ext>
            </a:extLst>
          </p:cNvPr>
          <p:cNvSpPr>
            <a:spLocks xmlns:a="http://schemas.openxmlformats.org/drawingml/2006/main" noGrp="1"/>
          </p:cNvSpPr>
          <p:nvPr/>
        </p:nvSpPr>
        <p:spPr>
          <a:xfrm xmlns:a="http://schemas.openxmlformats.org/drawingml/2006/main">
            <a:off x="5524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5" name="">
            <a:extLst xmlns:a="http://schemas.openxmlformats.org/drawingml/2006/main">
              <a:ext uri="{FF2B5EF4-FFF2-40B4-BE49-F238E27FC236}">
                <a16:creationId xmlns:a16="http://schemas.microsoft.com/office/drawing/2014/main" id="{623DBDD0-F45E-4671-8CAD-73AA2609CADD}"/>
              </a:ext>
            </a:extLst>
          </p:cNvPr>
          <p:cNvSpPr>
            <a:spLocks xmlns:a="http://schemas.openxmlformats.org/drawingml/2006/main" noGrp="1"/>
          </p:cNvSpPr>
          <p:nvPr/>
        </p:nvSpPr>
        <p:spPr>
          <a:xfrm xmlns:a="http://schemas.openxmlformats.org/drawingml/2006/main">
            <a:off x="552450" y="4333875"/>
            <a:ext cx="66675" cy="13335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46C3C5A-20E2-42E7-BD5B-ED0A25839184}"/>
              </a:ext>
            </a:extLst>
          </p:cNvPr>
          <p:cNvSpPr>
            <a:spLocks xmlns:a="http://schemas.openxmlformats.org/drawingml/2006/main" noGrp="1"/>
          </p:cNvSpPr>
          <p:nvPr/>
        </p:nvSpPr>
        <p:spPr>
          <a:xfrm xmlns:a="http://schemas.openxmlformats.org/drawingml/2006/main">
            <a:off x="7429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0.036 K</a:t>
            </a:r>
          </a:p>
        </p:txBody>
      </p:sp>
      <p:sp>
        <p:nvSpPr>
          <p:cNvPr id="27" name="">
            <a:extLst xmlns:a="http://schemas.openxmlformats.org/drawingml/2006/main">
              <a:ext uri="{FF2B5EF4-FFF2-40B4-BE49-F238E27FC236}">
                <a16:creationId xmlns:a16="http://schemas.microsoft.com/office/drawing/2014/main" id="{8B5D5ACB-7F40-4C24-AEE0-495C32DE3144}"/>
              </a:ext>
            </a:extLst>
          </p:cNvPr>
          <p:cNvSpPr>
            <a:spLocks xmlns:a="http://schemas.openxmlformats.org/drawingml/2006/main" noGrp="1"/>
          </p:cNvSpPr>
          <p:nvPr/>
        </p:nvSpPr>
        <p:spPr>
          <a:xfrm xmlns:a="http://schemas.openxmlformats.org/drawingml/2006/main">
            <a:off x="7429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線形COMSOL平均RMSE</a:t>
            </a:r>
          </a:p>
        </p:txBody>
      </p:sp>
      <p:sp>
        <p:nvSpPr>
          <p:cNvPr id="28" name="">
            <a:extLst xmlns:a="http://schemas.openxmlformats.org/drawingml/2006/main">
              <a:ext uri="{FF2B5EF4-FFF2-40B4-BE49-F238E27FC236}">
                <a16:creationId xmlns:a16="http://schemas.microsoft.com/office/drawing/2014/main" id="{6FD62F8B-9451-4023-AC47-95AB6A156F03}"/>
              </a:ext>
            </a:extLst>
          </p:cNvPr>
          <p:cNvSpPr>
            <a:spLocks xmlns:a="http://schemas.openxmlformats.org/drawingml/2006/main" noGrp="1"/>
          </p:cNvSpPr>
          <p:nvPr/>
        </p:nvSpPr>
        <p:spPr>
          <a:xfrm xmlns:a="http://schemas.openxmlformats.org/drawingml/2006/main">
            <a:off x="7429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外部forecast 8ケース。最大0.083 K。</a:t>
            </a:r>
          </a:p>
        </p:txBody>
      </p:sp>
      <p:sp>
        <p:nvSpPr>
          <p:cNvPr id="29" name="">
            <a:extLst xmlns:a="http://schemas.openxmlformats.org/drawingml/2006/main">
              <a:ext uri="{FF2B5EF4-FFF2-40B4-BE49-F238E27FC236}">
                <a16:creationId xmlns:a16="http://schemas.microsoft.com/office/drawing/2014/main" id="{8D84BFD6-90DD-4CA7-8549-27AA6F92EF14}"/>
              </a:ext>
            </a:extLst>
          </p:cNvPr>
          <p:cNvSpPr>
            <a:spLocks xmlns:a="http://schemas.openxmlformats.org/drawingml/2006/main" noGrp="1"/>
          </p:cNvSpPr>
          <p:nvPr/>
        </p:nvSpPr>
        <p:spPr>
          <a:xfrm xmlns:a="http://schemas.openxmlformats.org/drawingml/2006/main">
            <a:off x="33337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0" name="">
            <a:extLst xmlns:a="http://schemas.openxmlformats.org/drawingml/2006/main">
              <a:ext uri="{FF2B5EF4-FFF2-40B4-BE49-F238E27FC236}">
                <a16:creationId xmlns:a16="http://schemas.microsoft.com/office/drawing/2014/main" id="{F844BD36-EEAF-4D06-9740-FBE6F47F5DF3}"/>
              </a:ext>
            </a:extLst>
          </p:cNvPr>
          <p:cNvSpPr>
            <a:spLocks xmlns:a="http://schemas.openxmlformats.org/drawingml/2006/main" noGrp="1"/>
          </p:cNvSpPr>
          <p:nvPr/>
        </p:nvSpPr>
        <p:spPr>
          <a:xfrm xmlns:a="http://schemas.openxmlformats.org/drawingml/2006/main">
            <a:off x="3333750" y="4333875"/>
            <a:ext cx="66675" cy="13335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4C82074-B0BA-4D81-9450-54E7AE3031D8}"/>
              </a:ext>
            </a:extLst>
          </p:cNvPr>
          <p:cNvSpPr>
            <a:spLocks xmlns:a="http://schemas.openxmlformats.org/drawingml/2006/main" noGrp="1"/>
          </p:cNvSpPr>
          <p:nvPr/>
        </p:nvSpPr>
        <p:spPr>
          <a:xfrm xmlns:a="http://schemas.openxmlformats.org/drawingml/2006/main">
            <a:off x="35242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0.143 K</a:t>
            </a:r>
          </a:p>
        </p:txBody>
      </p:sp>
      <p:sp>
        <p:nvSpPr>
          <p:cNvPr id="32" name="">
            <a:extLst xmlns:a="http://schemas.openxmlformats.org/drawingml/2006/main">
              <a:ext uri="{FF2B5EF4-FFF2-40B4-BE49-F238E27FC236}">
                <a16:creationId xmlns:a16="http://schemas.microsoft.com/office/drawing/2014/main" id="{614E820D-AF40-45CD-A386-F120539050C3}"/>
              </a:ext>
            </a:extLst>
          </p:cNvPr>
          <p:cNvSpPr>
            <a:spLocks xmlns:a="http://schemas.openxmlformats.org/drawingml/2006/main" noGrp="1"/>
          </p:cNvSpPr>
          <p:nvPr/>
        </p:nvSpPr>
        <p:spPr>
          <a:xfrm xmlns:a="http://schemas.openxmlformats.org/drawingml/2006/main">
            <a:off x="35242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TopCell core平均RMSE</a:t>
            </a:r>
          </a:p>
        </p:txBody>
      </p:sp>
      <p:sp>
        <p:nvSpPr>
          <p:cNvPr id="33" name="">
            <a:extLst xmlns:a="http://schemas.openxmlformats.org/drawingml/2006/main">
              <a:ext uri="{FF2B5EF4-FFF2-40B4-BE49-F238E27FC236}">
                <a16:creationId xmlns:a16="http://schemas.microsoft.com/office/drawing/2014/main" id="{B065B469-0F13-45DB-8EAD-968D52C1D525}"/>
              </a:ext>
            </a:extLst>
          </p:cNvPr>
          <p:cNvSpPr>
            <a:spLocks xmlns:a="http://schemas.openxmlformats.org/drawingml/2006/main" noGrp="1"/>
          </p:cNvSpPr>
          <p:nvPr/>
        </p:nvSpPr>
        <p:spPr>
          <a:xfrm xmlns:a="http://schemas.openxmlformats.org/drawingml/2006/main">
            <a:off x="35242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初期観測が疎なF09がworst 1.303 K。</a:t>
            </a:r>
          </a:p>
        </p:txBody>
      </p:sp>
      <p:sp>
        <p:nvSpPr>
          <p:cNvPr id="34" name="">
            <a:extLst xmlns:a="http://schemas.openxmlformats.org/drawingml/2006/main">
              <a:ext uri="{FF2B5EF4-FFF2-40B4-BE49-F238E27FC236}">
                <a16:creationId xmlns:a16="http://schemas.microsoft.com/office/drawing/2014/main" id="{AEB9F3F1-238F-4686-AA62-429BAF420689}"/>
              </a:ext>
            </a:extLst>
          </p:cNvPr>
          <p:cNvSpPr>
            <a:spLocks xmlns:a="http://schemas.openxmlformats.org/drawingml/2006/main" noGrp="1"/>
          </p:cNvSpPr>
          <p:nvPr/>
        </p:nvSpPr>
        <p:spPr>
          <a:xfrm xmlns:a="http://schemas.openxmlformats.org/drawingml/2006/main">
            <a:off x="6115050" y="4333875"/>
            <a:ext cx="2590800" cy="13335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5" name="">
            <a:extLst xmlns:a="http://schemas.openxmlformats.org/drawingml/2006/main">
              <a:ext uri="{FF2B5EF4-FFF2-40B4-BE49-F238E27FC236}">
                <a16:creationId xmlns:a16="http://schemas.microsoft.com/office/drawing/2014/main" id="{1FC6A63A-F165-48C4-AF1D-81CE4F7B2159}"/>
              </a:ext>
            </a:extLst>
          </p:cNvPr>
          <p:cNvSpPr>
            <a:spLocks xmlns:a="http://schemas.openxmlformats.org/drawingml/2006/main" noGrp="1"/>
          </p:cNvSpPr>
          <p:nvPr/>
        </p:nvSpPr>
        <p:spPr>
          <a:xfrm xmlns:a="http://schemas.openxmlformats.org/drawingml/2006/main">
            <a:off x="6115050" y="4333875"/>
            <a:ext cx="66675" cy="13335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A044220A-DC57-4A84-A5DA-36CAC8E9EE8B}"/>
              </a:ext>
            </a:extLst>
          </p:cNvPr>
          <p:cNvSpPr>
            <a:spLocks xmlns:a="http://schemas.openxmlformats.org/drawingml/2006/main" noGrp="1"/>
          </p:cNvSpPr>
          <p:nvPr/>
        </p:nvSpPr>
        <p:spPr>
          <a:xfrm xmlns:a="http://schemas.openxmlformats.org/drawingml/2006/main">
            <a:off x="6305550" y="4429125"/>
            <a:ext cx="2305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0.0956 K</a:t>
            </a:r>
          </a:p>
        </p:txBody>
      </p:sp>
      <p:sp>
        <p:nvSpPr>
          <p:cNvPr id="37" name="">
            <a:extLst xmlns:a="http://schemas.openxmlformats.org/drawingml/2006/main">
              <a:ext uri="{FF2B5EF4-FFF2-40B4-BE49-F238E27FC236}">
                <a16:creationId xmlns:a16="http://schemas.microsoft.com/office/drawing/2014/main" id="{1CB88643-1621-43D2-AA15-0672F4740D50}"/>
              </a:ext>
            </a:extLst>
          </p:cNvPr>
          <p:cNvSpPr>
            <a:spLocks xmlns:a="http://schemas.openxmlformats.org/drawingml/2006/main" noGrp="1"/>
          </p:cNvSpPr>
          <p:nvPr/>
        </p:nvSpPr>
        <p:spPr>
          <a:xfrm xmlns:a="http://schemas.openxmlformats.org/drawingml/2006/main">
            <a:off x="6305550" y="4810125"/>
            <a:ext cx="2305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高忠実度2ケース平均RMSE</a:t>
            </a:r>
          </a:p>
        </p:txBody>
      </p:sp>
      <p:sp>
        <p:nvSpPr>
          <p:cNvPr id="38" name="">
            <a:extLst xmlns:a="http://schemas.openxmlformats.org/drawingml/2006/main">
              <a:ext uri="{FF2B5EF4-FFF2-40B4-BE49-F238E27FC236}">
                <a16:creationId xmlns:a16="http://schemas.microsoft.com/office/drawing/2014/main" id="{BC1CB757-C30A-4E43-8FE7-72793DA803A2}"/>
              </a:ext>
            </a:extLst>
          </p:cNvPr>
          <p:cNvSpPr>
            <a:spLocks xmlns:a="http://schemas.openxmlformats.org/drawingml/2006/main" noGrp="1"/>
          </p:cNvSpPr>
          <p:nvPr/>
        </p:nvSpPr>
        <p:spPr>
          <a:xfrm xmlns:a="http://schemas.openxmlformats.org/drawingml/2006/main">
            <a:off x="6305550" y="5095875"/>
            <a:ext cx="2305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mesh/time/experiment strict validationは未完了。</a:t>
            </a:r>
          </a:p>
        </p:txBody>
      </p:sp>
      <p:sp>
        <p:nvSpPr>
          <p:cNvPr id="39" name="">
            <a:extLst xmlns:a="http://schemas.openxmlformats.org/drawingml/2006/main">
              <a:ext uri="{FF2B5EF4-FFF2-40B4-BE49-F238E27FC236}">
                <a16:creationId xmlns:a16="http://schemas.microsoft.com/office/drawing/2014/main" id="{4470906A-E997-4D03-9DED-7BEADA14AA8D}"/>
              </a:ext>
            </a:extLst>
          </p:cNvPr>
          <p:cNvSpPr>
            <a:spLocks xmlns:a="http://schemas.openxmlformats.org/drawingml/2006/main" noGrp="1"/>
          </p:cNvSpPr>
          <p:nvPr/>
        </p:nvSpPr>
        <p:spPr>
          <a:xfrm xmlns:a="http://schemas.openxmlformats.org/drawingml/2006/main">
            <a:off x="8896350" y="4333875"/>
            <a:ext cx="2743200" cy="133350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0E4186B1-67E4-487A-9CCD-3F16A01C7BDC}"/>
              </a:ext>
            </a:extLst>
          </p:cNvPr>
          <p:cNvSpPr>
            <a:spLocks xmlns:a="http://schemas.openxmlformats.org/drawingml/2006/main" noGrp="1"/>
          </p:cNvSpPr>
          <p:nvPr/>
        </p:nvSpPr>
        <p:spPr>
          <a:xfrm xmlns:a="http://schemas.openxmlformats.org/drawingml/2006/main">
            <a:off x="9086850" y="4476750"/>
            <a:ext cx="2381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工学判断</a:t>
            </a:r>
          </a:p>
        </p:txBody>
      </p:sp>
      <p:sp>
        <p:nvSpPr>
          <p:cNvPr id="41" name="">
            <a:extLst xmlns:a="http://schemas.openxmlformats.org/drawingml/2006/main">
              <a:ext uri="{FF2B5EF4-FFF2-40B4-BE49-F238E27FC236}">
                <a16:creationId xmlns:a16="http://schemas.microsoft.com/office/drawing/2014/main" id="{8F260320-A5EC-4806-8384-9A7D67213037}"/>
              </a:ext>
            </a:extLst>
          </p:cNvPr>
          <p:cNvSpPr>
            <a:spLocks xmlns:a="http://schemas.openxmlformats.org/drawingml/2006/main" noGrp="1"/>
          </p:cNvSpPr>
          <p:nvPr/>
        </p:nvSpPr>
        <p:spPr>
          <a:xfrm xmlns:a="http://schemas.openxmlformats.org/drawingml/2006/main">
            <a:off x="9086850" y="4791075"/>
            <a:ext cx="238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Yu Gothic"/>
                <a:ea typeface="Yu Gothic"/>
                <a:cs typeface="Yu Gothic"/>
              </a:defRPr>
            </a:pPr>
            <a:r>
              <a:rPr sz="1500" b="1" i="0">
                <a:solidFill>
                  <a:srgbClr val="FFFFFF"/>
                </a:solidFill>
                <a:latin typeface="Yu Gothic"/>
                <a:ea typeface="Yu Gothic"/>
                <a:cs typeface="Yu Gothic"/>
              </a:rPr>
              <a:t>体積平均の高精度を</a:t>
            </a:r>
          </a:p>
          <a:p xmlns:a="http://schemas.openxmlformats.org/drawingml/2006/main">
            <a:pPr algn="l">
              <a:lnSpc>
                <a:spcPct val="104000"/>
              </a:lnSpc>
              <a:buNone/>
              <a:defRPr sz="1500" b="1" i="0">
                <a:solidFill>
                  <a:srgbClr val="FFFFFF"/>
                </a:solidFill>
                <a:latin typeface="Yu Gothic"/>
                <a:ea typeface="Yu Gothic"/>
                <a:cs typeface="Yu Gothic"/>
              </a:defRPr>
            </a:pPr>
            <a:r>
              <a:rPr sz="1500" b="1" i="0">
                <a:solidFill>
                  <a:srgbClr val="FFFFFF"/>
                </a:solidFill>
                <a:latin typeface="Yu Gothic"/>
                <a:ea typeface="Yu Gothic"/>
                <a:cs typeface="Yu Gothic"/>
              </a:rPr>
              <a:t>hotspot保証へ外挿しない</a:t>
            </a:r>
          </a:p>
        </p:txBody>
      </p:sp>
      <p:sp>
        <p:nvSpPr>
          <p:cNvPr id="42" name="">
            <a:extLst xmlns:a="http://schemas.openxmlformats.org/drawingml/2006/main">
              <a:ext uri="{FF2B5EF4-FFF2-40B4-BE49-F238E27FC236}">
                <a16:creationId xmlns:a16="http://schemas.microsoft.com/office/drawing/2014/main" id="{5FA60565-72CB-45D9-84E0-22288FB88A75}"/>
              </a:ext>
            </a:extLst>
          </p:cNvPr>
          <p:cNvSpPr>
            <a:spLocks xmlns:a="http://schemas.openxmlformats.org/drawingml/2006/main" noGrp="1"/>
          </p:cNvSpPr>
          <p:nvPr/>
        </p:nvSpPr>
        <p:spPr>
          <a:xfrm xmlns:a="http://schemas.openxmlformats.org/drawingml/2006/main">
            <a:off x="9086850" y="5410200"/>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D8D0E8"/>
                </a:solidFill>
                <a:latin typeface="Yu Gothic"/>
                <a:ea typeface="Yu Gothic"/>
                <a:cs typeface="Yu Gothic"/>
              </a:defRPr>
            </a:pPr>
            <a:r>
              <a:rPr sz="788" b="0" i="0">
                <a:solidFill>
                  <a:srgbClr val="D8D0E8"/>
                </a:solidFill>
                <a:latin typeface="Yu Gothic"/>
                <a:ea typeface="Yu Gothic"/>
                <a:cs typeface="Yu Gothic"/>
              </a:rPr>
              <a:t>最大hotspot過小評価 0.328 K</a:t>
            </a:r>
          </a:p>
        </p:txBody>
      </p:sp>
    </p:spTree>
    <p:extLst>
      <p:ext uri="{BB962C8B-B14F-4D97-AF65-F5344CB8AC3E}">
        <p14:creationId xmlns:p14="http://schemas.microsoft.com/office/powerpoint/2010/main" val="13623294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E70D7638-8519-45D6-970A-23EC65ACDEE6}"/>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4A6A23-2655-49A6-93D4-3FA72F0ECA0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EQUIPMENT CONTEXT</a:t>
            </a:r>
          </a:p>
        </p:txBody>
      </p:sp>
      <p:sp>
        <p:nvSpPr>
          <p:cNvPr id="3" name="">
            <a:extLst xmlns:a="http://schemas.openxmlformats.org/drawingml/2006/main">
              <a:ext uri="{FF2B5EF4-FFF2-40B4-BE49-F238E27FC236}">
                <a16:creationId xmlns:a16="http://schemas.microsoft.com/office/drawing/2014/main" id="{D34A263A-C935-4506-B551-4B54ADCB33B3}"/>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半導体装置では、熱源・熱経路・計測点を装置構成に対応付けて使う</a:t>
            </a:r>
          </a:p>
        </p:txBody>
      </p:sp>
      <p:sp>
        <p:nvSpPr>
          <p:cNvPr id="4" name="">
            <a:extLst xmlns:a="http://schemas.openxmlformats.org/drawingml/2006/main">
              <a:ext uri="{FF2B5EF4-FFF2-40B4-BE49-F238E27FC236}">
                <a16:creationId xmlns:a16="http://schemas.microsoft.com/office/drawing/2014/main" id="{B546BEF9-ECDD-46A6-8210-E7E5B64B7B9F}"/>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モデルはCAEの代替ではなく、制御周期で扱える状態推定・予測層として配置する</a:t>
            </a:r>
          </a:p>
        </p:txBody>
      </p:sp>
      <p:sp>
        <p:nvSpPr>
          <p:cNvPr id="5" name="">
            <a:extLst xmlns:a="http://schemas.openxmlformats.org/drawingml/2006/main">
              <a:ext uri="{FF2B5EF4-FFF2-40B4-BE49-F238E27FC236}">
                <a16:creationId xmlns:a16="http://schemas.microsoft.com/office/drawing/2014/main" id="{6601B2C0-CC9C-4523-BAEC-E104D36D516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DB0D6BAB-F898-4CC2-9C4B-5A67ED791952}"/>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DA105D66-F2EE-402E-B3D3-295879872511}"/>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2211990-4CD5-4FB0-BD54-E19AADE1C905}"/>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7</a:t>
            </a:r>
          </a:p>
        </p:txBody>
      </p:sp>
      <p:sp>
        <p:nvSpPr>
          <p:cNvPr id="9" name="">
            <a:extLst xmlns:a="http://schemas.openxmlformats.org/drawingml/2006/main">
              <a:ext uri="{FF2B5EF4-FFF2-40B4-BE49-F238E27FC236}">
                <a16:creationId xmlns:a16="http://schemas.microsoft.com/office/drawing/2014/main" id="{F843B93C-CBB5-4CDF-8178-8D1184C7EE5A}"/>
              </a:ext>
            </a:extLst>
          </p:cNvPr>
          <p:cNvSpPr>
            <a:spLocks xmlns:a="http://schemas.openxmlformats.org/drawingml/2006/main" noGrp="1"/>
          </p:cNvSpPr>
          <p:nvPr/>
        </p:nvSpPr>
        <p:spPr>
          <a:xfrm xmlns:a="http://schemas.openxmlformats.org/drawingml/2006/main">
            <a:off x="552450" y="1381125"/>
            <a:ext cx="542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装置断面の概念対応</a:t>
            </a:r>
          </a:p>
        </p:txBody>
      </p:sp>
      <p:sp>
        <p:nvSpPr>
          <p:cNvPr id="10" name="">
            <a:extLst xmlns:a="http://schemas.openxmlformats.org/drawingml/2006/main">
              <a:ext uri="{FF2B5EF4-FFF2-40B4-BE49-F238E27FC236}">
                <a16:creationId xmlns:a16="http://schemas.microsoft.com/office/drawing/2014/main" id="{858C5221-865D-45D9-AD4C-EF143007A43D}"/>
              </a:ext>
            </a:extLst>
          </p:cNvPr>
          <p:cNvSpPr>
            <a:spLocks xmlns:a="http://schemas.openxmlformats.org/drawingml/2006/main" noGrp="1"/>
          </p:cNvSpPr>
          <p:nvPr/>
        </p:nvSpPr>
        <p:spPr>
          <a:xfrm xmlns:a="http://schemas.openxmlformats.org/drawingml/2006/main">
            <a:off x="781050" y="1809750"/>
            <a:ext cx="5143500" cy="3476625"/>
          </a:xfrm>
          <a:prstGeom xmlns:a="http://schemas.openxmlformats.org/drawingml/2006/main" prst="rect">
            <a:avLst/>
          </a:prstGeom>
          <a:solidFill xmlns:a="http://schemas.openxmlformats.org/drawingml/2006/main">
            <a:srgbClr val="F8F8F8"/>
          </a:solidFill>
          <a:ln xmlns:a="http://schemas.openxmlformats.org/drawingml/2006/main" w="19050">
            <a:solidFill>
              <a:srgbClr val="3F3F3F"/>
            </a:solidFill>
            <a:prstDash val="solid"/>
          </a:ln>
        </p:spPr>
      </p:sp>
      <p:sp>
        <p:nvSpPr>
          <p:cNvPr id="11" name="">
            <a:extLst xmlns:a="http://schemas.openxmlformats.org/drawingml/2006/main">
              <a:ext uri="{FF2B5EF4-FFF2-40B4-BE49-F238E27FC236}">
                <a16:creationId xmlns:a16="http://schemas.microsoft.com/office/drawing/2014/main" id="{40A1A720-8DFE-4BEA-B7F6-46749B5E3BCD}"/>
              </a:ext>
            </a:extLst>
          </p:cNvPr>
          <p:cNvSpPr>
            <a:spLocks xmlns:a="http://schemas.openxmlformats.org/drawingml/2006/main" noGrp="1"/>
          </p:cNvSpPr>
          <p:nvPr/>
        </p:nvSpPr>
        <p:spPr>
          <a:xfrm xmlns:a="http://schemas.openxmlformats.org/drawingml/2006/main">
            <a:off x="952500" y="1933575"/>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process chamber</a:t>
            </a:r>
          </a:p>
        </p:txBody>
      </p:sp>
      <p:sp>
        <p:nvSpPr>
          <p:cNvPr id="12" name="">
            <a:extLst xmlns:a="http://schemas.openxmlformats.org/drawingml/2006/main">
              <a:ext uri="{FF2B5EF4-FFF2-40B4-BE49-F238E27FC236}">
                <a16:creationId xmlns:a16="http://schemas.microsoft.com/office/drawing/2014/main" id="{C56FE617-C48D-4D12-9AA8-957385F50494}"/>
              </a:ext>
            </a:extLst>
          </p:cNvPr>
          <p:cNvSpPr>
            <a:spLocks xmlns:a="http://schemas.openxmlformats.org/drawingml/2006/main" noGrp="1"/>
          </p:cNvSpPr>
          <p:nvPr/>
        </p:nvSpPr>
        <p:spPr>
          <a:xfrm xmlns:a="http://schemas.openxmlformats.org/drawingml/2006/main">
            <a:off x="2771775" y="1438275"/>
            <a:ext cx="1143000" cy="4000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13" name="">
            <a:extLst xmlns:a="http://schemas.openxmlformats.org/drawingml/2006/main">
              <a:ext uri="{FF2B5EF4-FFF2-40B4-BE49-F238E27FC236}">
                <a16:creationId xmlns:a16="http://schemas.microsoft.com/office/drawing/2014/main" id="{79C83C2B-00B6-4EA1-BE65-7B2B402B0BAE}"/>
              </a:ext>
            </a:extLst>
          </p:cNvPr>
          <p:cNvSpPr>
            <a:spLocks xmlns:a="http://schemas.openxmlformats.org/drawingml/2006/main" noGrp="1"/>
          </p:cNvSpPr>
          <p:nvPr/>
        </p:nvSpPr>
        <p:spPr>
          <a:xfrm xmlns:a="http://schemas.openxmlformats.org/drawingml/2006/main">
            <a:off x="2857500" y="1514475"/>
            <a:ext cx="971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007FA8"/>
                </a:solidFill>
                <a:latin typeface="Yu Gothic"/>
                <a:ea typeface="Yu Gothic"/>
                <a:cs typeface="Yu Gothic"/>
              </a:defRPr>
            </a:pPr>
            <a:r>
              <a:rPr sz="900" b="1" i="0">
                <a:solidFill>
                  <a:srgbClr val="007FA8"/>
                </a:solidFill>
                <a:latin typeface="Yu Gothic"/>
                <a:ea typeface="Yu Gothic"/>
                <a:cs typeface="Yu Gothic"/>
              </a:rPr>
              <a:t>gas / plasma</a:t>
            </a:r>
          </a:p>
        </p:txBody>
      </p:sp>
      <p:sp>
        <p:nvSpPr>
          <p:cNvPr id="14" name="">
            <a:extLst xmlns:a="http://schemas.openxmlformats.org/drawingml/2006/main">
              <a:ext uri="{FF2B5EF4-FFF2-40B4-BE49-F238E27FC236}">
                <a16:creationId xmlns:a16="http://schemas.microsoft.com/office/drawing/2014/main" id="{AC35886B-7CDA-4D95-A4E8-4A456F19538A}"/>
              </a:ext>
            </a:extLst>
          </p:cNvPr>
          <p:cNvSpPr>
            <a:spLocks xmlns:a="http://schemas.openxmlformats.org/drawingml/2006/main" noGrp="1"/>
          </p:cNvSpPr>
          <p:nvPr/>
        </p:nvSpPr>
        <p:spPr>
          <a:xfrm xmlns:a="http://schemas.openxmlformats.org/drawingml/2006/main">
            <a:off x="3343275" y="1838325"/>
            <a:ext cx="0" cy="59055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15" name="">
            <a:extLst xmlns:a="http://schemas.openxmlformats.org/drawingml/2006/main">
              <a:ext uri="{FF2B5EF4-FFF2-40B4-BE49-F238E27FC236}">
                <a16:creationId xmlns:a16="http://schemas.microsoft.com/office/drawing/2014/main" id="{5F86FD8A-11A1-435F-B450-A9426FAD8299}"/>
              </a:ext>
            </a:extLst>
          </p:cNvPr>
          <p:cNvSpPr>
            <a:spLocks xmlns:a="http://schemas.openxmlformats.org/drawingml/2006/main" noGrp="1"/>
          </p:cNvSpPr>
          <p:nvPr/>
        </p:nvSpPr>
        <p:spPr>
          <a:xfrm xmlns:a="http://schemas.openxmlformats.org/drawingml/2006/main">
            <a:off x="1790700" y="2571750"/>
            <a:ext cx="3124200" cy="361950"/>
          </a:xfrm>
          <a:prstGeom xmlns:a="http://schemas.openxmlformats.org/drawingml/2006/main" prst="ellipse">
            <a:avLst/>
          </a:prstGeom>
          <a:solidFill xmlns:a="http://schemas.openxmlformats.org/drawingml/2006/main">
            <a:srgbClr val="BBDDE7"/>
          </a:solidFill>
          <a:ln xmlns:a="http://schemas.openxmlformats.org/drawingml/2006/main" w="19050">
            <a:solidFill>
              <a:srgbClr val="007FA8"/>
            </a:solidFill>
            <a:prstDash val="solid"/>
          </a:ln>
        </p:spPr>
      </p:sp>
      <p:sp>
        <p:nvSpPr>
          <p:cNvPr id="16" name="">
            <a:extLst xmlns:a="http://schemas.openxmlformats.org/drawingml/2006/main">
              <a:ext uri="{FF2B5EF4-FFF2-40B4-BE49-F238E27FC236}">
                <a16:creationId xmlns:a16="http://schemas.microsoft.com/office/drawing/2014/main" id="{6FDCC81C-5691-4347-AF71-C914779E4E6B}"/>
              </a:ext>
            </a:extLst>
          </p:cNvPr>
          <p:cNvSpPr>
            <a:spLocks xmlns:a="http://schemas.openxmlformats.org/drawingml/2006/main" noGrp="1"/>
          </p:cNvSpPr>
          <p:nvPr/>
        </p:nvSpPr>
        <p:spPr>
          <a:xfrm xmlns:a="http://schemas.openxmlformats.org/drawingml/2006/main">
            <a:off x="2400300" y="260985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75" b="1" i="0">
                <a:solidFill>
                  <a:srgbClr val="007FA8"/>
                </a:solidFill>
                <a:latin typeface="Yu Gothic"/>
                <a:ea typeface="Yu Gothic"/>
                <a:cs typeface="Yu Gothic"/>
              </a:defRPr>
            </a:pPr>
            <a:r>
              <a:rPr sz="975" b="1" i="0">
                <a:solidFill>
                  <a:srgbClr val="007FA8"/>
                </a:solidFill>
                <a:latin typeface="Yu Gothic"/>
                <a:ea typeface="Yu Gothic"/>
                <a:cs typeface="Yu Gothic"/>
              </a:rPr>
              <a:t>wafer / workpiece</a:t>
            </a:r>
          </a:p>
        </p:txBody>
      </p:sp>
      <p:sp>
        <p:nvSpPr>
          <p:cNvPr id="17" name="">
            <a:extLst xmlns:a="http://schemas.openxmlformats.org/drawingml/2006/main">
              <a:ext uri="{FF2B5EF4-FFF2-40B4-BE49-F238E27FC236}">
                <a16:creationId xmlns:a16="http://schemas.microsoft.com/office/drawing/2014/main" id="{399CF818-1C9B-4477-A96E-26875D2169B5}"/>
              </a:ext>
            </a:extLst>
          </p:cNvPr>
          <p:cNvSpPr>
            <a:spLocks xmlns:a="http://schemas.openxmlformats.org/drawingml/2006/main" noGrp="1"/>
          </p:cNvSpPr>
          <p:nvPr/>
        </p:nvSpPr>
        <p:spPr>
          <a:xfrm xmlns:a="http://schemas.openxmlformats.org/drawingml/2006/main">
            <a:off x="1619250" y="2971800"/>
            <a:ext cx="3467100" cy="1000125"/>
          </a:xfrm>
          <a:prstGeom xmlns:a="http://schemas.openxmlformats.org/drawingml/2006/main" prst="rect">
            <a:avLst/>
          </a:prstGeom>
          <a:solidFill xmlns:a="http://schemas.openxmlformats.org/drawingml/2006/main">
            <a:srgbClr val="EFE5F6"/>
          </a:solidFill>
          <a:ln xmlns:a="http://schemas.openxmlformats.org/drawingml/2006/main" w="19050">
            <a:solidFill>
              <a:srgbClr val="7B2DAF"/>
            </a:solidFill>
            <a:prstDash val="solid"/>
          </a:ln>
        </p:spPr>
      </p:sp>
      <p:sp>
        <p:nvSpPr>
          <p:cNvPr id="18" name="">
            <a:extLst xmlns:a="http://schemas.openxmlformats.org/drawingml/2006/main">
              <a:ext uri="{FF2B5EF4-FFF2-40B4-BE49-F238E27FC236}">
                <a16:creationId xmlns:a16="http://schemas.microsoft.com/office/drawing/2014/main" id="{480F3F4D-0037-4156-A77E-B5B1937EEC09}"/>
              </a:ext>
            </a:extLst>
          </p:cNvPr>
          <p:cNvSpPr>
            <a:spLocks xmlns:a="http://schemas.openxmlformats.org/drawingml/2006/main" noGrp="1"/>
          </p:cNvSpPr>
          <p:nvPr/>
        </p:nvSpPr>
        <p:spPr>
          <a:xfrm xmlns:a="http://schemas.openxmlformats.org/drawingml/2006/main">
            <a:off x="1981200" y="3095625"/>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stage / ESC / heater body</a:t>
            </a:r>
          </a:p>
        </p:txBody>
      </p:sp>
      <p:sp>
        <p:nvSpPr>
          <p:cNvPr id="19" name="">
            <a:extLst xmlns:a="http://schemas.openxmlformats.org/drawingml/2006/main">
              <a:ext uri="{FF2B5EF4-FFF2-40B4-BE49-F238E27FC236}">
                <a16:creationId xmlns:a16="http://schemas.microsoft.com/office/drawing/2014/main" id="{C5D1D6A7-D77F-4543-BDE5-850262F181ED}"/>
              </a:ext>
            </a:extLst>
          </p:cNvPr>
          <p:cNvSpPr>
            <a:spLocks xmlns:a="http://schemas.openxmlformats.org/drawingml/2006/main" noGrp="1"/>
          </p:cNvSpPr>
          <p:nvPr/>
        </p:nvSpPr>
        <p:spPr>
          <a:xfrm xmlns:a="http://schemas.openxmlformats.org/drawingml/2006/main">
            <a:off x="1847850" y="3495675"/>
            <a:ext cx="3009900" cy="17145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82785DA-0C23-4BB9-ADC1-CB998A1B635B}"/>
              </a:ext>
            </a:extLst>
          </p:cNvPr>
          <p:cNvSpPr>
            <a:spLocks xmlns:a="http://schemas.openxmlformats.org/drawingml/2006/main" noGrp="1"/>
          </p:cNvSpPr>
          <p:nvPr/>
        </p:nvSpPr>
        <p:spPr>
          <a:xfrm xmlns:a="http://schemas.openxmlformats.org/drawingml/2006/main">
            <a:off x="2466975" y="3667125"/>
            <a:ext cx="1790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806000"/>
                </a:solidFill>
                <a:latin typeface="Yu Gothic"/>
                <a:ea typeface="Yu Gothic"/>
                <a:cs typeface="Yu Gothic"/>
              </a:defRPr>
            </a:pPr>
            <a:r>
              <a:rPr sz="825" b="0" i="0">
                <a:solidFill>
                  <a:srgbClr val="806000"/>
                </a:solidFill>
                <a:latin typeface="Yu Gothic"/>
                <a:ea typeface="Yu Gothic"/>
                <a:cs typeface="Yu Gothic"/>
              </a:rPr>
              <a:t>heater zones</a:t>
            </a:r>
          </a:p>
        </p:txBody>
      </p:sp>
      <p:sp>
        <p:nvSpPr>
          <p:cNvPr id="21" name="">
            <a:extLst xmlns:a="http://schemas.openxmlformats.org/drawingml/2006/main">
              <a:ext uri="{FF2B5EF4-FFF2-40B4-BE49-F238E27FC236}">
                <a16:creationId xmlns:a16="http://schemas.microsoft.com/office/drawing/2014/main" id="{A7D3DFB1-B694-41CD-AEC5-D992CF72876C}"/>
              </a:ext>
            </a:extLst>
          </p:cNvPr>
          <p:cNvSpPr>
            <a:spLocks xmlns:a="http://schemas.openxmlformats.org/drawingml/2006/main" noGrp="1"/>
          </p:cNvSpPr>
          <p:nvPr/>
        </p:nvSpPr>
        <p:spPr>
          <a:xfrm xmlns:a="http://schemas.openxmlformats.org/drawingml/2006/main">
            <a:off x="1800225" y="4133850"/>
            <a:ext cx="3105150" cy="4000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22" name="">
            <a:extLst xmlns:a="http://schemas.openxmlformats.org/drawingml/2006/main">
              <a:ext uri="{FF2B5EF4-FFF2-40B4-BE49-F238E27FC236}">
                <a16:creationId xmlns:a16="http://schemas.microsoft.com/office/drawing/2014/main" id="{8F907B12-D81B-4B54-90B1-AC6AFACF9302}"/>
              </a:ext>
            </a:extLst>
          </p:cNvPr>
          <p:cNvSpPr>
            <a:spLocks xmlns:a="http://schemas.openxmlformats.org/drawingml/2006/main" noGrp="1"/>
          </p:cNvSpPr>
          <p:nvPr/>
        </p:nvSpPr>
        <p:spPr>
          <a:xfrm xmlns:a="http://schemas.openxmlformats.org/drawingml/2006/main">
            <a:off x="19621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A2D1DE1-0257-4C6C-B544-56D1AC1A8F7E}"/>
              </a:ext>
            </a:extLst>
          </p:cNvPr>
          <p:cNvSpPr>
            <a:spLocks xmlns:a="http://schemas.openxmlformats.org/drawingml/2006/main" noGrp="1"/>
          </p:cNvSpPr>
          <p:nvPr/>
        </p:nvSpPr>
        <p:spPr>
          <a:xfrm xmlns:a="http://schemas.openxmlformats.org/drawingml/2006/main">
            <a:off x="24384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4E1DC27-87D1-4EB2-A482-306C8C048C38}"/>
              </a:ext>
            </a:extLst>
          </p:cNvPr>
          <p:cNvSpPr>
            <a:spLocks xmlns:a="http://schemas.openxmlformats.org/drawingml/2006/main" noGrp="1"/>
          </p:cNvSpPr>
          <p:nvPr/>
        </p:nvSpPr>
        <p:spPr>
          <a:xfrm xmlns:a="http://schemas.openxmlformats.org/drawingml/2006/main">
            <a:off x="29146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3041F82-5F9C-4CA9-8C55-CD45AEB82462}"/>
              </a:ext>
            </a:extLst>
          </p:cNvPr>
          <p:cNvSpPr>
            <a:spLocks xmlns:a="http://schemas.openxmlformats.org/drawingml/2006/main" noGrp="1"/>
          </p:cNvSpPr>
          <p:nvPr/>
        </p:nvSpPr>
        <p:spPr>
          <a:xfrm xmlns:a="http://schemas.openxmlformats.org/drawingml/2006/main">
            <a:off x="33909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C571C61-5FED-4CB3-92FA-84B474F383B9}"/>
              </a:ext>
            </a:extLst>
          </p:cNvPr>
          <p:cNvSpPr>
            <a:spLocks xmlns:a="http://schemas.openxmlformats.org/drawingml/2006/main" noGrp="1"/>
          </p:cNvSpPr>
          <p:nvPr/>
        </p:nvSpPr>
        <p:spPr>
          <a:xfrm xmlns:a="http://schemas.openxmlformats.org/drawingml/2006/main">
            <a:off x="386715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9E50F0-BD72-4D20-9607-A4800AD7E097}"/>
              </a:ext>
            </a:extLst>
          </p:cNvPr>
          <p:cNvSpPr>
            <a:spLocks xmlns:a="http://schemas.openxmlformats.org/drawingml/2006/main" noGrp="1"/>
          </p:cNvSpPr>
          <p:nvPr/>
        </p:nvSpPr>
        <p:spPr>
          <a:xfrm xmlns:a="http://schemas.openxmlformats.org/drawingml/2006/main">
            <a:off x="4343400" y="4238625"/>
            <a:ext cx="323850" cy="171450"/>
          </a:xfrm>
          <a:prstGeom xmlns:a="http://schemas.openxmlformats.org/drawingml/2006/main" prst="roundRect">
            <a:avLst>
              <a:gd name="adj" fmla="val 50000"/>
            </a:avLst>
          </a:prstGeom>
          <a:solidFill xmlns:a="http://schemas.openxmlformats.org/drawingml/2006/main">
            <a:srgbClr val="00A5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5693258-C79C-4AB4-8A86-A7DE434A0C24}"/>
              </a:ext>
            </a:extLst>
          </p:cNvPr>
          <p:cNvSpPr>
            <a:spLocks xmlns:a="http://schemas.openxmlformats.org/drawingml/2006/main" noGrp="1"/>
          </p:cNvSpPr>
          <p:nvPr/>
        </p:nvSpPr>
        <p:spPr>
          <a:xfrm xmlns:a="http://schemas.openxmlformats.org/drawingml/2006/main">
            <a:off x="2333625" y="4562475"/>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007FA8"/>
                </a:solidFill>
                <a:latin typeface="Yu Gothic"/>
                <a:ea typeface="Yu Gothic"/>
                <a:cs typeface="Yu Gothic"/>
              </a:defRPr>
            </a:pPr>
            <a:r>
              <a:rPr sz="825" b="0" i="0">
                <a:solidFill>
                  <a:srgbClr val="007FA8"/>
                </a:solidFill>
                <a:latin typeface="Yu Gothic"/>
                <a:ea typeface="Yu Gothic"/>
                <a:cs typeface="Yu Gothic"/>
              </a:rPr>
              <a:t>coolant channel</a:t>
            </a:r>
          </a:p>
        </p:txBody>
      </p:sp>
      <p:sp>
        <p:nvSpPr>
          <p:cNvPr id="29" name="">
            <a:extLst xmlns:a="http://schemas.openxmlformats.org/drawingml/2006/main">
              <a:ext uri="{FF2B5EF4-FFF2-40B4-BE49-F238E27FC236}">
                <a16:creationId xmlns:a16="http://schemas.microsoft.com/office/drawing/2014/main" id="{6C637B21-B7B4-40B9-9F3D-8B4F9A51697A}"/>
              </a:ext>
            </a:extLst>
          </p:cNvPr>
          <p:cNvSpPr>
            <a:spLocks xmlns:a="http://schemas.openxmlformats.org/drawingml/2006/main" noGrp="1"/>
          </p:cNvSpPr>
          <p:nvPr/>
        </p:nvSpPr>
        <p:spPr>
          <a:xfrm xmlns:a="http://schemas.openxmlformats.org/drawingml/2006/main">
            <a:off x="2095500" y="2847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0" name="">
            <a:extLst xmlns:a="http://schemas.openxmlformats.org/drawingml/2006/main">
              <a:ext uri="{FF2B5EF4-FFF2-40B4-BE49-F238E27FC236}">
                <a16:creationId xmlns:a16="http://schemas.microsoft.com/office/drawing/2014/main" id="{BFDA30FC-FD03-43A2-AD45-31C4CB57B459}"/>
              </a:ext>
            </a:extLst>
          </p:cNvPr>
          <p:cNvSpPr>
            <a:spLocks xmlns:a="http://schemas.openxmlformats.org/drawingml/2006/main" noGrp="1"/>
          </p:cNvSpPr>
          <p:nvPr/>
        </p:nvSpPr>
        <p:spPr>
          <a:xfrm xmlns:a="http://schemas.openxmlformats.org/drawingml/2006/main">
            <a:off x="3352800" y="3228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1" name="">
            <a:extLst xmlns:a="http://schemas.openxmlformats.org/drawingml/2006/main">
              <a:ext uri="{FF2B5EF4-FFF2-40B4-BE49-F238E27FC236}">
                <a16:creationId xmlns:a16="http://schemas.microsoft.com/office/drawing/2014/main" id="{35E3AF55-F89F-4518-9124-29B4F7F95460}"/>
              </a:ext>
            </a:extLst>
          </p:cNvPr>
          <p:cNvSpPr>
            <a:spLocks xmlns:a="http://schemas.openxmlformats.org/drawingml/2006/main" noGrp="1"/>
          </p:cNvSpPr>
          <p:nvPr/>
        </p:nvSpPr>
        <p:spPr>
          <a:xfrm xmlns:a="http://schemas.openxmlformats.org/drawingml/2006/main">
            <a:off x="4610100" y="3609975"/>
            <a:ext cx="171450" cy="171450"/>
          </a:xfrm>
          <a:prstGeom xmlns:a="http://schemas.openxmlformats.org/drawingml/2006/main" prst="ellipse">
            <a:avLst/>
          </a:prstGeom>
          <a:solidFill xmlns:a="http://schemas.openxmlformats.org/drawingml/2006/main">
            <a:srgbClr val="76BE18"/>
          </a:solidFill>
          <a:ln xmlns:a="http://schemas.openxmlformats.org/drawingml/2006/main" w="9525">
            <a:solidFill>
              <a:srgbClr val="4D8710"/>
            </a:solidFill>
            <a:prstDash val="solid"/>
          </a:ln>
        </p:spPr>
      </p:sp>
      <p:sp>
        <p:nvSpPr>
          <p:cNvPr id="32" name="">
            <a:extLst xmlns:a="http://schemas.openxmlformats.org/drawingml/2006/main">
              <a:ext uri="{FF2B5EF4-FFF2-40B4-BE49-F238E27FC236}">
                <a16:creationId xmlns:a16="http://schemas.microsoft.com/office/drawing/2014/main" id="{B7032AE3-8FCE-40AB-B551-BBFA27DF06FB}"/>
              </a:ext>
            </a:extLst>
          </p:cNvPr>
          <p:cNvSpPr>
            <a:spLocks xmlns:a="http://schemas.openxmlformats.org/drawingml/2006/main" noGrp="1"/>
          </p:cNvSpPr>
          <p:nvPr/>
        </p:nvSpPr>
        <p:spPr>
          <a:xfrm xmlns:a="http://schemas.openxmlformats.org/drawingml/2006/main">
            <a:off x="904875" y="4953000"/>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0" i="0">
                <a:solidFill>
                  <a:srgbClr val="4D8710"/>
                </a:solidFill>
                <a:latin typeface="Yu Gothic"/>
                <a:ea typeface="Yu Gothic"/>
                <a:cs typeface="Yu Gothic"/>
              </a:defRPr>
            </a:pPr>
            <a:r>
              <a:rPr sz="825" b="0" i="0">
                <a:solidFill>
                  <a:srgbClr val="4D8710"/>
                </a:solidFill>
                <a:latin typeface="Yu Gothic"/>
                <a:ea typeface="Yu Gothic"/>
                <a:cs typeface="Yu Gothic"/>
              </a:rPr>
              <a:t>temperature sensors</a:t>
            </a:r>
          </a:p>
        </p:txBody>
      </p:sp>
      <p:sp>
        <p:nvSpPr>
          <p:cNvPr id="33" name="">
            <a:extLst xmlns:a="http://schemas.openxmlformats.org/drawingml/2006/main">
              <a:ext uri="{FF2B5EF4-FFF2-40B4-BE49-F238E27FC236}">
                <a16:creationId xmlns:a16="http://schemas.microsoft.com/office/drawing/2014/main" id="{02EFA32D-97D6-4851-BF56-C6B8CD1EE446}"/>
              </a:ext>
            </a:extLst>
          </p:cNvPr>
          <p:cNvSpPr>
            <a:spLocks xmlns:a="http://schemas.openxmlformats.org/drawingml/2006/main" noGrp="1"/>
          </p:cNvSpPr>
          <p:nvPr/>
        </p:nvSpPr>
        <p:spPr>
          <a:xfrm xmlns:a="http://schemas.openxmlformats.org/drawingml/2006/main">
            <a:off x="1962150" y="4029075"/>
            <a:ext cx="266700" cy="1000125"/>
          </a:xfrm>
          <a:prstGeom xmlns:a="http://schemas.openxmlformats.org/drawingml/2006/main" prst="line">
            <a:avLst/>
          </a:prstGeom>
          <a:noFill xmlns:a="http://schemas.openxmlformats.org/drawingml/2006/main"/>
          <a:ln xmlns:a="http://schemas.openxmlformats.org/drawingml/2006/main" w="9525">
            <a:solidFill>
              <a:srgbClr val="76BE18"/>
            </a:solidFill>
            <a:prstDash val="dash"/>
          </a:ln>
        </p:spPr>
      </p:sp>
      <p:sp>
        <p:nvSpPr>
          <p:cNvPr id="34" name="">
            <a:extLst xmlns:a="http://schemas.openxmlformats.org/drawingml/2006/main">
              <a:ext uri="{FF2B5EF4-FFF2-40B4-BE49-F238E27FC236}">
                <a16:creationId xmlns:a16="http://schemas.microsoft.com/office/drawing/2014/main" id="{706FAB23-8AA6-4B2E-AED7-1D60B9AEDA64}"/>
              </a:ext>
            </a:extLst>
          </p:cNvPr>
          <p:cNvSpPr>
            <a:spLocks xmlns:a="http://schemas.openxmlformats.org/drawingml/2006/main" noGrp="1"/>
          </p:cNvSpPr>
          <p:nvPr/>
        </p:nvSpPr>
        <p:spPr>
          <a:xfrm xmlns:a="http://schemas.openxmlformats.org/drawingml/2006/main">
            <a:off x="6381750" y="1381125"/>
            <a:ext cx="525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状態モデルへの写像</a:t>
            </a:r>
          </a:p>
        </p:txBody>
      </p:sp>
      <p:sp>
        <p:nvSpPr>
          <p:cNvPr id="35" name="">
            <a:extLst xmlns:a="http://schemas.openxmlformats.org/drawingml/2006/main">
              <a:ext uri="{FF2B5EF4-FFF2-40B4-BE49-F238E27FC236}">
                <a16:creationId xmlns:a16="http://schemas.microsoft.com/office/drawing/2014/main" id="{90649B2B-ACEB-4AEA-A8C1-562A919E607B}"/>
              </a:ext>
            </a:extLst>
          </p:cNvPr>
          <p:cNvSpPr>
            <a:spLocks xmlns:a="http://schemas.openxmlformats.org/drawingml/2006/main" noGrp="1"/>
          </p:cNvSpPr>
          <p:nvPr/>
        </p:nvSpPr>
        <p:spPr>
          <a:xfrm xmlns:a="http://schemas.openxmlformats.org/drawingml/2006/main">
            <a:off x="6381750" y="17907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B62020CB-714B-47C7-9579-3B429EB00D35}"/>
              </a:ext>
            </a:extLst>
          </p:cNvPr>
          <p:cNvSpPr>
            <a:spLocks xmlns:a="http://schemas.openxmlformats.org/drawingml/2006/main" noGrp="1"/>
          </p:cNvSpPr>
          <p:nvPr/>
        </p:nvSpPr>
        <p:spPr>
          <a:xfrm xmlns:a="http://schemas.openxmlformats.org/drawingml/2006/main">
            <a:off x="6381750" y="1790700"/>
            <a:ext cx="76200" cy="6858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CF485822-D600-4E5D-AE8B-AF52F586A7F4}"/>
              </a:ext>
            </a:extLst>
          </p:cNvPr>
          <p:cNvSpPr>
            <a:spLocks xmlns:a="http://schemas.openxmlformats.org/drawingml/2006/main" noGrp="1"/>
          </p:cNvSpPr>
          <p:nvPr/>
        </p:nvSpPr>
        <p:spPr>
          <a:xfrm xmlns:a="http://schemas.openxmlformats.org/drawingml/2006/main">
            <a:off x="6600825" y="18764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E5A900"/>
                </a:solidFill>
                <a:latin typeface="Cambria Math"/>
                <a:ea typeface="Cambria Math"/>
                <a:cs typeface="Cambria Math"/>
              </a:defRPr>
            </a:pPr>
            <a:r>
              <a:rPr sz="1200" b="1" i="0">
                <a:solidFill>
                  <a:srgbClr val="E5A900"/>
                </a:solidFill>
                <a:latin typeface="Cambria Math"/>
                <a:ea typeface="Cambria Math"/>
                <a:cs typeface="Cambria Math"/>
              </a:rPr>
              <a:t>熱源 q(t)</a:t>
            </a:r>
          </a:p>
        </p:txBody>
      </p:sp>
      <p:sp>
        <p:nvSpPr>
          <p:cNvPr id="38" name="">
            <a:extLst xmlns:a="http://schemas.openxmlformats.org/drawingml/2006/main">
              <a:ext uri="{FF2B5EF4-FFF2-40B4-BE49-F238E27FC236}">
                <a16:creationId xmlns:a16="http://schemas.microsoft.com/office/drawing/2014/main" id="{E2E63A7A-01A8-4C96-A1E7-F550C9B392C6}"/>
              </a:ext>
            </a:extLst>
          </p:cNvPr>
          <p:cNvSpPr>
            <a:spLocks xmlns:a="http://schemas.openxmlformats.org/drawingml/2006/main" noGrp="1"/>
          </p:cNvSpPr>
          <p:nvPr/>
        </p:nvSpPr>
        <p:spPr>
          <a:xfrm xmlns:a="http://schemas.openxmlformats.org/drawingml/2006/main">
            <a:off x="7962900" y="18764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heater / plasma / chuck loss</a:t>
            </a:r>
          </a:p>
        </p:txBody>
      </p:sp>
      <p:sp>
        <p:nvSpPr>
          <p:cNvPr id="39" name="">
            <a:extLst xmlns:a="http://schemas.openxmlformats.org/drawingml/2006/main">
              <a:ext uri="{FF2B5EF4-FFF2-40B4-BE49-F238E27FC236}">
                <a16:creationId xmlns:a16="http://schemas.microsoft.com/office/drawing/2014/main" id="{9EA08F77-C8E2-4DB7-95E9-9C6777A13889}"/>
              </a:ext>
            </a:extLst>
          </p:cNvPr>
          <p:cNvSpPr>
            <a:spLocks xmlns:a="http://schemas.openxmlformats.org/drawingml/2006/main" noGrp="1"/>
          </p:cNvSpPr>
          <p:nvPr/>
        </p:nvSpPr>
        <p:spPr>
          <a:xfrm xmlns:a="http://schemas.openxmlformats.org/drawingml/2006/main">
            <a:off x="6600825" y="21621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recipe変化の過渡温度を予測</a:t>
            </a:r>
          </a:p>
        </p:txBody>
      </p:sp>
      <p:sp>
        <p:nvSpPr>
          <p:cNvPr id="40" name="">
            <a:extLst xmlns:a="http://schemas.openxmlformats.org/drawingml/2006/main">
              <a:ext uri="{FF2B5EF4-FFF2-40B4-BE49-F238E27FC236}">
                <a16:creationId xmlns:a16="http://schemas.microsoft.com/office/drawing/2014/main" id="{EA589EC1-530C-414F-83BE-BBBFB8B4EF3F}"/>
              </a:ext>
            </a:extLst>
          </p:cNvPr>
          <p:cNvSpPr>
            <a:spLocks xmlns:a="http://schemas.openxmlformats.org/drawingml/2006/main" noGrp="1"/>
          </p:cNvSpPr>
          <p:nvPr/>
        </p:nvSpPr>
        <p:spPr>
          <a:xfrm xmlns:a="http://schemas.openxmlformats.org/drawingml/2006/main">
            <a:off x="6381750" y="26289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86677174-C64F-42C5-852D-D9C55EC48CE0}"/>
              </a:ext>
            </a:extLst>
          </p:cNvPr>
          <p:cNvSpPr>
            <a:spLocks xmlns:a="http://schemas.openxmlformats.org/drawingml/2006/main" noGrp="1"/>
          </p:cNvSpPr>
          <p:nvPr/>
        </p:nvSpPr>
        <p:spPr>
          <a:xfrm xmlns:a="http://schemas.openxmlformats.org/drawingml/2006/main">
            <a:off x="6381750" y="2628900"/>
            <a:ext cx="76200" cy="6858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FAC6960B-C095-4CBC-B702-98339659E956}"/>
              </a:ext>
            </a:extLst>
          </p:cNvPr>
          <p:cNvSpPr>
            <a:spLocks xmlns:a="http://schemas.openxmlformats.org/drawingml/2006/main" noGrp="1"/>
          </p:cNvSpPr>
          <p:nvPr/>
        </p:nvSpPr>
        <p:spPr>
          <a:xfrm xmlns:a="http://schemas.openxmlformats.org/drawingml/2006/main">
            <a:off x="6600825" y="27146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00A5D8"/>
                </a:solidFill>
                <a:latin typeface="Cambria Math"/>
                <a:ea typeface="Cambria Math"/>
                <a:cs typeface="Cambria Math"/>
              </a:defRPr>
            </a:pPr>
            <a:r>
              <a:rPr sz="1200" b="1" i="0">
                <a:solidFill>
                  <a:srgbClr val="00A5D8"/>
                </a:solidFill>
                <a:latin typeface="Cambria Math"/>
                <a:ea typeface="Cambria Math"/>
                <a:cs typeface="Cambria Math"/>
              </a:rPr>
              <a:t>熱経路 G</a:t>
            </a:r>
          </a:p>
        </p:txBody>
      </p:sp>
      <p:sp>
        <p:nvSpPr>
          <p:cNvPr id="43" name="">
            <a:extLst xmlns:a="http://schemas.openxmlformats.org/drawingml/2006/main">
              <a:ext uri="{FF2B5EF4-FFF2-40B4-BE49-F238E27FC236}">
                <a16:creationId xmlns:a16="http://schemas.microsoft.com/office/drawing/2014/main" id="{290BDBEB-0545-4471-A9D4-C3AE509AD484}"/>
              </a:ext>
            </a:extLst>
          </p:cNvPr>
          <p:cNvSpPr>
            <a:spLocks xmlns:a="http://schemas.openxmlformats.org/drawingml/2006/main" noGrp="1"/>
          </p:cNvSpPr>
          <p:nvPr/>
        </p:nvSpPr>
        <p:spPr>
          <a:xfrm xmlns:a="http://schemas.openxmlformats.org/drawingml/2006/main">
            <a:off x="7962900" y="27146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contact / interface / cooling path</a:t>
            </a:r>
          </a:p>
        </p:txBody>
      </p:sp>
      <p:sp>
        <p:nvSpPr>
          <p:cNvPr id="44" name="">
            <a:extLst xmlns:a="http://schemas.openxmlformats.org/drawingml/2006/main">
              <a:ext uri="{FF2B5EF4-FFF2-40B4-BE49-F238E27FC236}">
                <a16:creationId xmlns:a16="http://schemas.microsoft.com/office/drawing/2014/main" id="{357DA804-C580-41B9-88FC-099C72CD4ADE}"/>
              </a:ext>
            </a:extLst>
          </p:cNvPr>
          <p:cNvSpPr>
            <a:spLocks xmlns:a="http://schemas.openxmlformats.org/drawingml/2006/main" noGrp="1"/>
          </p:cNvSpPr>
          <p:nvPr/>
        </p:nvSpPr>
        <p:spPr>
          <a:xfrm xmlns:a="http://schemas.openxmlformats.org/drawingml/2006/main">
            <a:off x="6600825" y="30003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接触劣化・冷却能力変化を識別</a:t>
            </a:r>
          </a:p>
        </p:txBody>
      </p:sp>
      <p:sp>
        <p:nvSpPr>
          <p:cNvPr id="45" name="">
            <a:extLst xmlns:a="http://schemas.openxmlformats.org/drawingml/2006/main">
              <a:ext uri="{FF2B5EF4-FFF2-40B4-BE49-F238E27FC236}">
                <a16:creationId xmlns:a16="http://schemas.microsoft.com/office/drawing/2014/main" id="{5A774370-2631-475B-9734-067E2BFE11F3}"/>
              </a:ext>
            </a:extLst>
          </p:cNvPr>
          <p:cNvSpPr>
            <a:spLocks xmlns:a="http://schemas.openxmlformats.org/drawingml/2006/main" noGrp="1"/>
          </p:cNvSpPr>
          <p:nvPr/>
        </p:nvSpPr>
        <p:spPr>
          <a:xfrm xmlns:a="http://schemas.openxmlformats.org/drawingml/2006/main">
            <a:off x="6381750" y="34671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6" name="">
            <a:extLst xmlns:a="http://schemas.openxmlformats.org/drawingml/2006/main">
              <a:ext uri="{FF2B5EF4-FFF2-40B4-BE49-F238E27FC236}">
                <a16:creationId xmlns:a16="http://schemas.microsoft.com/office/drawing/2014/main" id="{DE096F0B-52EE-49EB-9308-9EC42F52FF11}"/>
              </a:ext>
            </a:extLst>
          </p:cNvPr>
          <p:cNvSpPr>
            <a:spLocks xmlns:a="http://schemas.openxmlformats.org/drawingml/2006/main" noGrp="1"/>
          </p:cNvSpPr>
          <p:nvPr/>
        </p:nvSpPr>
        <p:spPr>
          <a:xfrm xmlns:a="http://schemas.openxmlformats.org/drawingml/2006/main">
            <a:off x="6381750" y="3467100"/>
            <a:ext cx="76200" cy="6858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43A0432-8A38-49A4-A5D3-CAD0E83217D0}"/>
              </a:ext>
            </a:extLst>
          </p:cNvPr>
          <p:cNvSpPr>
            <a:spLocks xmlns:a="http://schemas.openxmlformats.org/drawingml/2006/main" noGrp="1"/>
          </p:cNvSpPr>
          <p:nvPr/>
        </p:nvSpPr>
        <p:spPr>
          <a:xfrm xmlns:a="http://schemas.openxmlformats.org/drawingml/2006/main">
            <a:off x="6600825" y="35528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7B2DAF"/>
                </a:solidFill>
                <a:latin typeface="Cambria Math"/>
                <a:ea typeface="Cambria Math"/>
                <a:cs typeface="Cambria Math"/>
              </a:defRPr>
            </a:pPr>
            <a:r>
              <a:rPr sz="1200" b="1" i="0">
                <a:solidFill>
                  <a:srgbClr val="7B2DAF"/>
                </a:solidFill>
                <a:latin typeface="Cambria Math"/>
                <a:ea typeface="Cambria Math"/>
                <a:cs typeface="Cambria Math"/>
              </a:rPr>
              <a:t>状態 T</a:t>
            </a:r>
          </a:p>
        </p:txBody>
      </p:sp>
      <p:sp>
        <p:nvSpPr>
          <p:cNvPr id="48" name="">
            <a:extLst xmlns:a="http://schemas.openxmlformats.org/drawingml/2006/main">
              <a:ext uri="{FF2B5EF4-FFF2-40B4-BE49-F238E27FC236}">
                <a16:creationId xmlns:a16="http://schemas.microsoft.com/office/drawing/2014/main" id="{DF9D1F2E-A359-4BD2-8F99-343C1CB36DDD}"/>
              </a:ext>
            </a:extLst>
          </p:cNvPr>
          <p:cNvSpPr>
            <a:spLocks xmlns:a="http://schemas.openxmlformats.org/drawingml/2006/main" noGrp="1"/>
          </p:cNvSpPr>
          <p:nvPr/>
        </p:nvSpPr>
        <p:spPr>
          <a:xfrm xmlns:a="http://schemas.openxmlformats.org/drawingml/2006/main">
            <a:off x="7962900" y="35528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wafer近傍 / stage / wall</a:t>
            </a:r>
          </a:p>
        </p:txBody>
      </p:sp>
      <p:sp>
        <p:nvSpPr>
          <p:cNvPr id="49" name="">
            <a:extLst xmlns:a="http://schemas.openxmlformats.org/drawingml/2006/main">
              <a:ext uri="{FF2B5EF4-FFF2-40B4-BE49-F238E27FC236}">
                <a16:creationId xmlns:a16="http://schemas.microsoft.com/office/drawing/2014/main" id="{FFD87773-F4B6-4801-BBEE-EDE942682947}"/>
              </a:ext>
            </a:extLst>
          </p:cNvPr>
          <p:cNvSpPr>
            <a:spLocks xmlns:a="http://schemas.openxmlformats.org/drawingml/2006/main" noGrp="1"/>
          </p:cNvSpPr>
          <p:nvPr/>
        </p:nvSpPr>
        <p:spPr>
          <a:xfrm xmlns:a="http://schemas.openxmlformats.org/drawingml/2006/main">
            <a:off x="6600825" y="38385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virtual sensor・warm-up判定</a:t>
            </a:r>
          </a:p>
        </p:txBody>
      </p:sp>
      <p:sp>
        <p:nvSpPr>
          <p:cNvPr id="50" name="">
            <a:extLst xmlns:a="http://schemas.openxmlformats.org/drawingml/2006/main">
              <a:ext uri="{FF2B5EF4-FFF2-40B4-BE49-F238E27FC236}">
                <a16:creationId xmlns:a16="http://schemas.microsoft.com/office/drawing/2014/main" id="{9FB57BCA-8A48-45B6-8FCC-AEEFE73A0E98}"/>
              </a:ext>
            </a:extLst>
          </p:cNvPr>
          <p:cNvSpPr>
            <a:spLocks xmlns:a="http://schemas.openxmlformats.org/drawingml/2006/main" noGrp="1"/>
          </p:cNvSpPr>
          <p:nvPr/>
        </p:nvSpPr>
        <p:spPr>
          <a:xfrm xmlns:a="http://schemas.openxmlformats.org/drawingml/2006/main">
            <a:off x="6381750" y="4305300"/>
            <a:ext cx="52578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1" name="">
            <a:extLst xmlns:a="http://schemas.openxmlformats.org/drawingml/2006/main">
              <a:ext uri="{FF2B5EF4-FFF2-40B4-BE49-F238E27FC236}">
                <a16:creationId xmlns:a16="http://schemas.microsoft.com/office/drawing/2014/main" id="{5D5F4F58-DBBA-4F4C-B87D-90BEDDA80939}"/>
              </a:ext>
            </a:extLst>
          </p:cNvPr>
          <p:cNvSpPr>
            <a:spLocks xmlns:a="http://schemas.openxmlformats.org/drawingml/2006/main" noGrp="1"/>
          </p:cNvSpPr>
          <p:nvPr/>
        </p:nvSpPr>
        <p:spPr>
          <a:xfrm xmlns:a="http://schemas.openxmlformats.org/drawingml/2006/main">
            <a:off x="6381750" y="4305300"/>
            <a:ext cx="76200" cy="6858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B995B2AD-B39B-4764-8A75-6A489BDB4353}"/>
              </a:ext>
            </a:extLst>
          </p:cNvPr>
          <p:cNvSpPr>
            <a:spLocks xmlns:a="http://schemas.openxmlformats.org/drawingml/2006/main" noGrp="1"/>
          </p:cNvSpPr>
          <p:nvPr/>
        </p:nvSpPr>
        <p:spPr>
          <a:xfrm xmlns:a="http://schemas.openxmlformats.org/drawingml/2006/main">
            <a:off x="6600825" y="439102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76BE18"/>
                </a:solidFill>
                <a:latin typeface="Cambria Math"/>
                <a:ea typeface="Cambria Math"/>
                <a:cs typeface="Cambria Math"/>
              </a:defRPr>
            </a:pPr>
            <a:r>
              <a:rPr sz="1200" b="1" i="0">
                <a:solidFill>
                  <a:srgbClr val="76BE18"/>
                </a:solidFill>
                <a:latin typeface="Cambria Math"/>
                <a:ea typeface="Cambria Math"/>
                <a:cs typeface="Cambria Math"/>
              </a:rPr>
              <a:t>観測 H</a:t>
            </a:r>
          </a:p>
        </p:txBody>
      </p:sp>
      <p:sp>
        <p:nvSpPr>
          <p:cNvPr id="53" name="">
            <a:extLst xmlns:a="http://schemas.openxmlformats.org/drawingml/2006/main">
              <a:ext uri="{FF2B5EF4-FFF2-40B4-BE49-F238E27FC236}">
                <a16:creationId xmlns:a16="http://schemas.microsoft.com/office/drawing/2014/main" id="{F043082E-8BEA-478E-915F-C5595B284E27}"/>
              </a:ext>
            </a:extLst>
          </p:cNvPr>
          <p:cNvSpPr>
            <a:spLocks xmlns:a="http://schemas.openxmlformats.org/drawingml/2006/main" noGrp="1"/>
          </p:cNvSpPr>
          <p:nvPr/>
        </p:nvSpPr>
        <p:spPr>
          <a:xfrm xmlns:a="http://schemas.openxmlformats.org/drawingml/2006/main">
            <a:off x="7962900" y="4391025"/>
            <a:ext cx="3371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3F3F3F"/>
                </a:solidFill>
                <a:latin typeface="Yu Gothic"/>
                <a:ea typeface="Yu Gothic"/>
                <a:cs typeface="Yu Gothic"/>
              </a:defRPr>
            </a:pPr>
            <a:r>
              <a:rPr sz="975" b="1" i="0">
                <a:solidFill>
                  <a:srgbClr val="3F3F3F"/>
                </a:solidFill>
                <a:latin typeface="Yu Gothic"/>
                <a:ea typeface="Yu Gothic"/>
                <a:cs typeface="Yu Gothic"/>
              </a:rPr>
              <a:t>TC / RTD / pyrometer</a:t>
            </a:r>
          </a:p>
        </p:txBody>
      </p:sp>
      <p:sp>
        <p:nvSpPr>
          <p:cNvPr id="54" name="">
            <a:extLst xmlns:a="http://schemas.openxmlformats.org/drawingml/2006/main">
              <a:ext uri="{FF2B5EF4-FFF2-40B4-BE49-F238E27FC236}">
                <a16:creationId xmlns:a16="http://schemas.microsoft.com/office/drawing/2014/main" id="{A8C84314-F61B-47FC-8BF8-70BA832E3488}"/>
              </a:ext>
            </a:extLst>
          </p:cNvPr>
          <p:cNvSpPr>
            <a:spLocks xmlns:a="http://schemas.openxmlformats.org/drawingml/2006/main" noGrp="1"/>
          </p:cNvSpPr>
          <p:nvPr/>
        </p:nvSpPr>
        <p:spPr>
          <a:xfrm xmlns:a="http://schemas.openxmlformats.org/drawingml/2006/main">
            <a:off x="6600825" y="4676775"/>
            <a:ext cx="4733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欠測補完・sensor bias監視</a:t>
            </a:r>
          </a:p>
        </p:txBody>
      </p:sp>
      <p:sp>
        <p:nvSpPr>
          <p:cNvPr id="55" name="">
            <a:extLst xmlns:a="http://schemas.openxmlformats.org/drawingml/2006/main">
              <a:ext uri="{FF2B5EF4-FFF2-40B4-BE49-F238E27FC236}">
                <a16:creationId xmlns:a16="http://schemas.microsoft.com/office/drawing/2014/main" id="{076B9E07-1292-4C53-8144-C9A15FD0AE05}"/>
              </a:ext>
            </a:extLst>
          </p:cNvPr>
          <p:cNvSpPr>
            <a:spLocks xmlns:a="http://schemas.openxmlformats.org/drawingml/2006/main" noGrp="1"/>
          </p:cNvSpPr>
          <p:nvPr/>
        </p:nvSpPr>
        <p:spPr>
          <a:xfrm xmlns:a="http://schemas.openxmlformats.org/drawingml/2006/main">
            <a:off x="6381750" y="5314950"/>
            <a:ext cx="5257800" cy="74295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56" name="">
            <a:extLst xmlns:a="http://schemas.openxmlformats.org/drawingml/2006/main">
              <a:ext uri="{FF2B5EF4-FFF2-40B4-BE49-F238E27FC236}">
                <a16:creationId xmlns:a16="http://schemas.microsoft.com/office/drawing/2014/main" id="{386833DA-BBE2-494F-BB7B-0D5AA8AE6848}"/>
              </a:ext>
            </a:extLst>
          </p:cNvPr>
          <p:cNvSpPr>
            <a:spLocks xmlns:a="http://schemas.openxmlformats.org/drawingml/2006/main" noGrp="1"/>
          </p:cNvSpPr>
          <p:nvPr/>
        </p:nvSpPr>
        <p:spPr>
          <a:xfrm xmlns:a="http://schemas.openxmlformats.org/drawingml/2006/main">
            <a:off x="6572250" y="5438775"/>
            <a:ext cx="876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適用境界</a:t>
            </a:r>
          </a:p>
        </p:txBody>
      </p:sp>
      <p:sp>
        <p:nvSpPr>
          <p:cNvPr id="57" name="">
            <a:extLst xmlns:a="http://schemas.openxmlformats.org/drawingml/2006/main">
              <a:ext uri="{FF2B5EF4-FFF2-40B4-BE49-F238E27FC236}">
                <a16:creationId xmlns:a16="http://schemas.microsoft.com/office/drawing/2014/main" id="{8C235EA4-E216-4309-B1A3-70C7D668FCCB}"/>
              </a:ext>
            </a:extLst>
          </p:cNvPr>
          <p:cNvSpPr>
            <a:spLocks xmlns:a="http://schemas.openxmlformats.org/drawingml/2006/main" noGrp="1"/>
          </p:cNvSpPr>
          <p:nvPr/>
        </p:nvSpPr>
        <p:spPr>
          <a:xfrm xmlns:a="http://schemas.openxmlformats.org/drawingml/2006/main">
            <a:off x="7486650" y="54102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node温度は領域代表値。wafer面内分布、局所hotspot、放射view factorはCAE/実測で別途拘束する。</a:t>
            </a:r>
          </a:p>
        </p:txBody>
      </p:sp>
    </p:spTree>
    <p:extLst>
      <p:ext uri="{BB962C8B-B14F-4D97-AF65-F5344CB8AC3E}">
        <p14:creationId xmlns:p14="http://schemas.microsoft.com/office/powerpoint/2010/main" val="11022088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DEF3C3B-AF49-4F0D-9AB4-95E2D666FF5E}"/>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D386CA9-DA8D-43EB-B8CE-FD1F3B67965D}"/>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EVIDENCE STRATEGY</a:t>
            </a:r>
          </a:p>
        </p:txBody>
      </p:sp>
      <p:sp>
        <p:nvSpPr>
          <p:cNvPr id="3" name="">
            <a:extLst xmlns:a="http://schemas.openxmlformats.org/drawingml/2006/main">
              <a:ext uri="{FF2B5EF4-FFF2-40B4-BE49-F238E27FC236}">
                <a16:creationId xmlns:a16="http://schemas.microsoft.com/office/drawing/2014/main" id="{3D6EB48C-91FF-4805-82F6-CC38F776B285}"/>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証拠の階層を上げるたびに、主張できる範囲と未解決事項を更新する</a:t>
            </a:r>
          </a:p>
        </p:txBody>
      </p:sp>
      <p:sp>
        <p:nvSpPr>
          <p:cNvPr id="4" name="">
            <a:extLst xmlns:a="http://schemas.openxmlformats.org/drawingml/2006/main">
              <a:ext uri="{FF2B5EF4-FFF2-40B4-BE49-F238E27FC236}">
                <a16:creationId xmlns:a16="http://schemas.microsoft.com/office/drawing/2014/main" id="{C7269684-B3E1-4703-B647-17FDEB5F071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RMSE単独ではなく、model form・mesh・time・experimentの不確かさを分離する</a:t>
            </a:r>
          </a:p>
        </p:txBody>
      </p:sp>
      <p:sp>
        <p:nvSpPr>
          <p:cNvPr id="5" name="">
            <a:extLst xmlns:a="http://schemas.openxmlformats.org/drawingml/2006/main">
              <a:ext uri="{FF2B5EF4-FFF2-40B4-BE49-F238E27FC236}">
                <a16:creationId xmlns:a16="http://schemas.microsoft.com/office/drawing/2014/main" id="{A18B36C3-E0B6-48DB-A7A1-192A8D1A967C}"/>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8280986E-E2C3-4C84-8245-41F3C376231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768A3154-3C67-4903-97A3-E297FF476243}"/>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588A86E2-F41A-4D88-860A-DB516CD8E629}"/>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8</a:t>
            </a:r>
          </a:p>
        </p:txBody>
      </p:sp>
      <p:graphicFrame>
        <p:nvGraphicFramePr>
          <p:cNvPr id="29" name=""/>
          <p:cNvGraphicFramePr/>
          <p:nvPr/>
        </p:nvGraphicFramePr>
        <p:xfrm>
          <a:off xmlns:a="http://schemas.openxmlformats.org/drawingml/2006/main" x="552450" y="1457325"/>
          <a:ext xmlns:a="http://schemas.openxmlformats.org/drawingml/2006/main" cx="11087100" cy="3695700"/>
        </p:xfrm>
        <a:graphic xmlns:a="http://schemas.openxmlformats.org/drawingml/2006/main">
          <a:graphicData uri="http://schemas.openxmlformats.org/drawingml/2006/table">
            <a:tbl>
              <a:tblPr/>
              <a:tblGrid>
                <a:gridCol w="1428750"/>
                <a:gridCol w="2038350"/>
                <a:gridCol w="2686050"/>
                <a:gridCol w="2324100"/>
                <a:gridCol w="2609850"/>
              </a:tblGrid>
              <a:tr h="615950">
                <a:tc>
                  <a:txBody>
                    <a:bodyPr/>
                    <a:lstStyle/>
                    <a:p>
                      <a:r>
                        <a:rPr sz="938" b="1">
                          <a:solidFill>
                            <a:srgbClr val="FFFFFF"/>
                          </a:solidFill>
                          <a:latin typeface="Yu Gothic"/>
                          <a:ea typeface="Yu Gothic"/>
                          <a:cs typeface="Yu Gothic"/>
                        </a:rPr>
                        <a:t>Level</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目的</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確認済みの証拠</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主張できる範囲</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残課題</a:t>
                      </a:r>
                    </a:p>
                  </a:txBody>
                  <a:tcPr marL="91440" marR="91440" marT="45720" marB="45720">
                    <a:solidFill>
                      <a:srgbClr val="00A5D8"/>
                    </a:solidFill>
                  </a:tcPr>
                </a:tc>
              </a:tr>
              <a:tr h="615950">
                <a:tc>
                  <a:txBody>
                    <a:bodyPr/>
                    <a:lstStyle/>
                    <a:p>
                      <a:r>
                        <a:rPr sz="878" b="1">
                          <a:solidFill>
                            <a:srgbClr val="007FA8"/>
                          </a:solidFill>
                          <a:latin typeface="Yu Gothic"/>
                          <a:ea typeface="Yu Gothic"/>
                          <a:cs typeface="Yu Gothic"/>
                        </a:rPr>
                        <a:t>A  数理・実装</a:t>
                      </a:r>
                    </a:p>
                  </a:txBody>
                  <a:tcPr marL="91440" marR="91440" marT="45720" marB="45720">
                    <a:solidFill>
                      <a:srgbClr val="FFFFFF"/>
                    </a:solidFill>
                  </a:tcPr>
                </a:tc>
                <a:tc>
                  <a:txBody>
                    <a:bodyPr/>
                    <a:lstStyle/>
                    <a:p>
                      <a:r>
                        <a:rPr sz="878">
                          <a:solidFill>
                            <a:srgbClr val="5B5B5B"/>
                          </a:solidFill>
                          <a:latin typeface="Yu Gothic"/>
                          <a:ea typeface="Yu Gothic"/>
                          <a:cs typeface="Yu Gothic"/>
                        </a:rPr>
                        <a:t>保存則、正値性、数値安定</a:t>
                      </a:r>
                    </a:p>
                  </a:txBody>
                  <a:tcPr marL="91440" marR="91440" marT="45720" marB="45720">
                    <a:solidFill>
                      <a:srgbClr val="FFFFFF"/>
                    </a:solidFill>
                  </a:tcPr>
                </a:tc>
                <a:tc>
                  <a:txBody>
                    <a:bodyPr/>
                    <a:lstStyle/>
                    <a:p>
                      <a:r>
                        <a:rPr sz="878">
                          <a:solidFill>
                            <a:srgbClr val="5B5B5B"/>
                          </a:solidFill>
                          <a:latin typeface="Yu Gothic"/>
                          <a:ea typeface="Yu Gothic"/>
                          <a:cs typeface="Yu Gothic"/>
                        </a:rPr>
                        <a:t>unit / property / quality gate</a:t>
                      </a:r>
                    </a:p>
                  </a:txBody>
                  <a:tcPr marL="91440" marR="91440" marT="45720" marB="45720">
                    <a:solidFill>
                      <a:srgbClr val="FFFFFF"/>
                    </a:solidFill>
                  </a:tcPr>
                </a:tc>
                <a:tc>
                  <a:txBody>
                    <a:bodyPr/>
                    <a:lstStyle/>
                    <a:p>
                      <a:r>
                        <a:rPr sz="878">
                          <a:solidFill>
                            <a:srgbClr val="5B5B5B"/>
                          </a:solidFill>
                          <a:latin typeface="Yu Gothic"/>
                          <a:ea typeface="Yu Gothic"/>
                          <a:cs typeface="Yu Gothic"/>
                        </a:rPr>
                        <a:t>実装整合性</a:t>
                      </a:r>
                    </a:p>
                  </a:txBody>
                  <a:tcPr marL="91440" marR="91440" marT="45720" marB="45720">
                    <a:solidFill>
                      <a:srgbClr val="FFFFFF"/>
                    </a:solidFill>
                  </a:tcPr>
                </a:tc>
                <a:tc>
                  <a:txBody>
                    <a:bodyPr/>
                    <a:lstStyle/>
                    <a:p>
                      <a:r>
                        <a:rPr sz="878">
                          <a:solidFill>
                            <a:srgbClr val="5B5B5B"/>
                          </a:solidFill>
                          <a:latin typeface="Yu Gothic"/>
                          <a:ea typeface="Yu Gothic"/>
                          <a:cs typeface="Yu Gothic"/>
                        </a:rPr>
                        <a:t>装置物理は未証明</a:t>
                      </a:r>
                    </a:p>
                  </a:txBody>
                  <a:tcPr marL="91440" marR="91440" marT="45720" marB="45720">
                    <a:solidFill>
                      <a:srgbClr val="FFFFFF"/>
                    </a:solidFill>
                  </a:tcPr>
                </a:tc>
              </a:tr>
              <a:tr h="615950">
                <a:tc>
                  <a:txBody>
                    <a:bodyPr/>
                    <a:lstStyle/>
                    <a:p>
                      <a:r>
                        <a:rPr sz="878" b="1">
                          <a:solidFill>
                            <a:srgbClr val="007FA8"/>
                          </a:solidFill>
                          <a:latin typeface="Yu Gothic"/>
                          <a:ea typeface="Yu Gothic"/>
                          <a:cs typeface="Yu Gothic"/>
                        </a:rPr>
                        <a:t>B  TopCell</a:t>
                      </a:r>
                    </a:p>
                  </a:txBody>
                  <a:tcPr marL="91440" marR="91440" marT="45720" marB="45720">
                    <a:solidFill>
                      <a:srgbClr val="F8F8F8"/>
                    </a:solidFill>
                  </a:tcPr>
                </a:tc>
                <a:tc>
                  <a:txBody>
                    <a:bodyPr/>
                    <a:lstStyle/>
                    <a:p>
                      <a:r>
                        <a:rPr sz="878">
                          <a:solidFill>
                            <a:srgbClr val="5B5B5B"/>
                          </a:solidFill>
                          <a:latin typeface="Yu Gothic"/>
                          <a:ea typeface="Yu Gothic"/>
                          <a:cs typeface="Yu Gothic"/>
                        </a:rPr>
                        <a:t>真値既知で回帰試験</a:t>
                      </a:r>
                    </a:p>
                  </a:txBody>
                  <a:tcPr marL="91440" marR="91440" marT="45720" marB="45720">
                    <a:solidFill>
                      <a:srgbClr val="F8F8F8"/>
                    </a:solidFill>
                  </a:tcPr>
                </a:tc>
                <a:tc>
                  <a:txBody>
                    <a:bodyPr/>
                    <a:lstStyle/>
                    <a:p>
                      <a:r>
                        <a:rPr sz="878">
                          <a:solidFill>
                            <a:srgbClr val="5B5B5B"/>
                          </a:solidFill>
                          <a:latin typeface="Yu Gothic"/>
                          <a:ea typeface="Yu Gothic"/>
                          <a:cs typeface="Yu Gothic"/>
                        </a:rPr>
                        <a:t>core 11ケース平均 0.143 K</a:t>
                      </a:r>
                    </a:p>
                  </a:txBody>
                  <a:tcPr marL="91440" marR="91440" marT="45720" marB="45720">
                    <a:solidFill>
                      <a:srgbClr val="F8F8F8"/>
                    </a:solidFill>
                  </a:tcPr>
                </a:tc>
                <a:tc>
                  <a:txBody>
                    <a:bodyPr/>
                    <a:lstStyle/>
                    <a:p>
                      <a:r>
                        <a:rPr sz="878">
                          <a:solidFill>
                            <a:srgbClr val="5B5B5B"/>
                          </a:solidFill>
                          <a:latin typeface="Yu Gothic"/>
                          <a:ea typeface="Yu Gothic"/>
                          <a:cs typeface="Yu Gothic"/>
                        </a:rPr>
                        <a:t>同一model class内の性能</a:t>
                      </a:r>
                    </a:p>
                  </a:txBody>
                  <a:tcPr marL="91440" marR="91440" marT="45720" marB="45720">
                    <a:solidFill>
                      <a:srgbClr val="F8F8F8"/>
                    </a:solidFill>
                  </a:tcPr>
                </a:tc>
                <a:tc>
                  <a:txBody>
                    <a:bodyPr/>
                    <a:lstStyle/>
                    <a:p>
                      <a:r>
                        <a:rPr sz="878">
                          <a:solidFill>
                            <a:srgbClr val="5B5B5B"/>
                          </a:solidFill>
                          <a:latin typeface="Yu Gothic"/>
                          <a:ea typeface="Yu Gothic"/>
                          <a:cs typeface="Yu Gothic"/>
                        </a:rPr>
                        <a:t>F11 model gap 9.823 K</a:t>
                      </a:r>
                    </a:p>
                  </a:txBody>
                  <a:tcPr marL="91440" marR="91440" marT="45720" marB="45720">
                    <a:solidFill>
                      <a:srgbClr val="F8F8F8"/>
                    </a:solidFill>
                  </a:tcPr>
                </a:tc>
              </a:tr>
              <a:tr h="615950">
                <a:tc>
                  <a:txBody>
                    <a:bodyPr/>
                    <a:lstStyle/>
                    <a:p>
                      <a:r>
                        <a:rPr sz="878" b="1">
                          <a:solidFill>
                            <a:srgbClr val="007FA8"/>
                          </a:solidFill>
                          <a:latin typeface="Yu Gothic"/>
                          <a:ea typeface="Yu Gothic"/>
                          <a:cs typeface="Yu Gothic"/>
                        </a:rPr>
                        <a:t>C  線形COMSOL</a:t>
                      </a:r>
                    </a:p>
                  </a:txBody>
                  <a:tcPr marL="91440" marR="91440" marT="45720" marB="45720">
                    <a:solidFill>
                      <a:srgbClr val="FFFFFF"/>
                    </a:solidFill>
                  </a:tcPr>
                </a:tc>
                <a:tc>
                  <a:txBody>
                    <a:bodyPr/>
                    <a:lstStyle/>
                    <a:p>
                      <a:r>
                        <a:rPr sz="878">
                          <a:solidFill>
                            <a:srgbClr val="5B5B5B"/>
                          </a:solidFill>
                          <a:latin typeface="Yu Gothic"/>
                          <a:ea typeface="Yu Gothic"/>
                          <a:cs typeface="Yu Gothic"/>
                        </a:rPr>
                        <a:t>外部CAEへの転移</a:t>
                      </a:r>
                    </a:p>
                  </a:txBody>
                  <a:tcPr marL="91440" marR="91440" marT="45720" marB="45720">
                    <a:solidFill>
                      <a:srgbClr val="FFFFFF"/>
                    </a:solidFill>
                  </a:tcPr>
                </a:tc>
                <a:tc>
                  <a:txBody>
                    <a:bodyPr/>
                    <a:lstStyle/>
                    <a:p>
                      <a:r>
                        <a:rPr sz="878">
                          <a:solidFill>
                            <a:srgbClr val="5B5B5B"/>
                          </a:solidFill>
                          <a:latin typeface="Yu Gothic"/>
                          <a:ea typeface="Yu Gothic"/>
                          <a:cs typeface="Yu Gothic"/>
                        </a:rPr>
                        <a:t>8ケース平均 0.036 K</a:t>
                      </a:r>
                    </a:p>
                  </a:txBody>
                  <a:tcPr marL="91440" marR="91440" marT="45720" marB="45720">
                    <a:solidFill>
                      <a:srgbClr val="FFFFFF"/>
                    </a:solidFill>
                  </a:tcPr>
                </a:tc>
                <a:tc>
                  <a:txBody>
                    <a:bodyPr/>
                    <a:lstStyle/>
                    <a:p>
                      <a:r>
                        <a:rPr sz="878">
                          <a:solidFill>
                            <a:srgbClr val="5B5B5B"/>
                          </a:solidFill>
                          <a:latin typeface="Yu Gothic"/>
                          <a:ea typeface="Yu Gothic"/>
                          <a:cs typeface="Yu Gothic"/>
                        </a:rPr>
                        <a:t>体積平均・線形境界</a:t>
                      </a:r>
                    </a:p>
                  </a:txBody>
                  <a:tcPr marL="91440" marR="91440" marT="45720" marB="45720">
                    <a:solidFill>
                      <a:srgbClr val="FFFFFF"/>
                    </a:solidFill>
                  </a:tcPr>
                </a:tc>
                <a:tc>
                  <a:txBody>
                    <a:bodyPr/>
                    <a:lstStyle/>
                    <a:p>
                      <a:r>
                        <a:rPr sz="878">
                          <a:solidFill>
                            <a:srgbClr val="5B5B5B"/>
                          </a:solidFill>
                          <a:latin typeface="Yu Gothic"/>
                          <a:ea typeface="Yu Gothic"/>
                          <a:cs typeface="Yu Gothic"/>
                        </a:rPr>
                        <a:t>hotspot最大過小 0.328 K</a:t>
                      </a:r>
                    </a:p>
                  </a:txBody>
                  <a:tcPr marL="91440" marR="91440" marT="45720" marB="45720">
                    <a:solidFill>
                      <a:srgbClr val="FFFFFF"/>
                    </a:solidFill>
                  </a:tcPr>
                </a:tc>
              </a:tr>
              <a:tr h="615950">
                <a:tc>
                  <a:txBody>
                    <a:bodyPr/>
                    <a:lstStyle/>
                    <a:p>
                      <a:r>
                        <a:rPr sz="878" b="1">
                          <a:solidFill>
                            <a:srgbClr val="7B2DAF"/>
                          </a:solidFill>
                          <a:latin typeface="Yu Gothic"/>
                          <a:ea typeface="Yu Gothic"/>
                          <a:cs typeface="Yu Gothic"/>
                        </a:rPr>
                        <a:t>D  高忠実度CAE</a:t>
                      </a:r>
                    </a:p>
                  </a:txBody>
                  <a:tcPr marL="91440" marR="91440" marT="45720" marB="45720">
                    <a:solidFill>
                      <a:srgbClr val="F8F8F8"/>
                    </a:solidFill>
                  </a:tcPr>
                </a:tc>
                <a:tc>
                  <a:txBody>
                    <a:bodyPr/>
                    <a:lstStyle/>
                    <a:p>
                      <a:r>
                        <a:rPr sz="878">
                          <a:solidFill>
                            <a:srgbClr val="5B5B5B"/>
                          </a:solidFill>
                          <a:latin typeface="Yu Gothic"/>
                          <a:ea typeface="Yu Gothic"/>
                          <a:cs typeface="Yu Gothic"/>
                        </a:rPr>
                        <a:t>非線形・放射のscreening</a:t>
                      </a:r>
                    </a:p>
                  </a:txBody>
                  <a:tcPr marL="91440" marR="91440" marT="45720" marB="45720">
                    <a:solidFill>
                      <a:srgbClr val="F8F8F8"/>
                    </a:solidFill>
                  </a:tcPr>
                </a:tc>
                <a:tc>
                  <a:txBody>
                    <a:bodyPr/>
                    <a:lstStyle/>
                    <a:p>
                      <a:r>
                        <a:rPr sz="878">
                          <a:solidFill>
                            <a:srgbClr val="5B5B5B"/>
                          </a:solidFill>
                          <a:latin typeface="Yu Gothic"/>
                          <a:ea typeface="Yu Gothic"/>
                          <a:cs typeface="Yu Gothic"/>
                        </a:rPr>
                        <a:t>2ケース平均 0.0956 K</a:t>
                      </a:r>
                    </a:p>
                  </a:txBody>
                  <a:tcPr marL="91440" marR="91440" marT="45720" marB="45720">
                    <a:solidFill>
                      <a:srgbClr val="F8F8F8"/>
                    </a:solidFill>
                  </a:tcPr>
                </a:tc>
                <a:tc>
                  <a:txBody>
                    <a:bodyPr/>
                    <a:lstStyle/>
                    <a:p>
                      <a:r>
                        <a:rPr sz="878">
                          <a:solidFill>
                            <a:srgbClr val="5B5B5B"/>
                          </a:solidFill>
                          <a:latin typeface="Yu Gothic"/>
                          <a:ea typeface="Yu Gothic"/>
                          <a:cs typeface="Yu Gothic"/>
                        </a:rPr>
                        <a:t>model-form screening</a:t>
                      </a:r>
                    </a:p>
                  </a:txBody>
                  <a:tcPr marL="91440" marR="91440" marT="45720" marB="45720">
                    <a:solidFill>
                      <a:srgbClr val="F8F8F8"/>
                    </a:solidFill>
                  </a:tcPr>
                </a:tc>
                <a:tc>
                  <a:txBody>
                    <a:bodyPr/>
                    <a:lstStyle/>
                    <a:p>
                      <a:r>
                        <a:rPr sz="878">
                          <a:solidFill>
                            <a:srgbClr val="5B5B5B"/>
                          </a:solidFill>
                          <a:latin typeface="Yu Gothic"/>
                          <a:ea typeface="Yu Gothic"/>
                          <a:cs typeface="Yu Gothic"/>
                        </a:rPr>
                        <a:t>mesh/time strict未qualified</a:t>
                      </a:r>
                    </a:p>
                  </a:txBody>
                  <a:tcPr marL="91440" marR="91440" marT="45720" marB="45720">
                    <a:solidFill>
                      <a:srgbClr val="F8F8F8"/>
                    </a:solidFill>
                  </a:tcPr>
                </a:tc>
              </a:tr>
              <a:tr h="615950">
                <a:tc>
                  <a:txBody>
                    <a:bodyPr/>
                    <a:lstStyle/>
                    <a:p>
                      <a:r>
                        <a:rPr sz="878" b="1">
                          <a:solidFill>
                            <a:srgbClr val="C4493D"/>
                          </a:solidFill>
                          <a:latin typeface="Yu Gothic"/>
                          <a:ea typeface="Yu Gothic"/>
                          <a:cs typeface="Yu Gothic"/>
                        </a:rPr>
                        <a:t>E  装置データ</a:t>
                      </a:r>
                    </a:p>
                  </a:txBody>
                  <a:tcPr marL="91440" marR="91440" marT="45720" marB="45720">
                    <a:solidFill>
                      <a:srgbClr val="FFFFFF"/>
                    </a:solidFill>
                  </a:tcPr>
                </a:tc>
                <a:tc>
                  <a:txBody>
                    <a:bodyPr/>
                    <a:lstStyle/>
                    <a:p>
                      <a:r>
                        <a:rPr sz="878">
                          <a:solidFill>
                            <a:srgbClr val="5B5B5B"/>
                          </a:solidFill>
                          <a:latin typeface="Yu Gothic"/>
                          <a:ea typeface="Yu Gothic"/>
                          <a:cs typeface="Yu Gothic"/>
                        </a:rPr>
                        <a:t>製品運転域で妥当化</a:t>
                      </a:r>
                    </a:p>
                  </a:txBody>
                  <a:tcPr marL="91440" marR="91440" marT="45720" marB="45720">
                    <a:solidFill>
                      <a:srgbClr val="FFFFFF"/>
                    </a:solidFill>
                  </a:tcPr>
                </a:tc>
                <a:tc>
                  <a:txBody>
                    <a:bodyPr/>
                    <a:lstStyle/>
                    <a:p>
                      <a:r>
                        <a:rPr sz="878" b="1">
                          <a:solidFill>
                            <a:srgbClr val="C4493D"/>
                          </a:solidFill>
                          <a:latin typeface="Yu Gothic"/>
                          <a:ea typeface="Yu Gothic"/>
                          <a:cs typeface="Yu Gothic"/>
                        </a:rPr>
                        <a:t>未実施</a:t>
                      </a:r>
                    </a:p>
                  </a:txBody>
                  <a:tcPr marL="91440" marR="91440" marT="45720" marB="45720">
                    <a:solidFill>
                      <a:srgbClr val="FBE9E7"/>
                    </a:solidFill>
                  </a:tcPr>
                </a:tc>
                <a:tc>
                  <a:txBody>
                    <a:bodyPr/>
                    <a:lstStyle/>
                    <a:p>
                      <a:r>
                        <a:rPr sz="878">
                          <a:solidFill>
                            <a:srgbClr val="5B5B5B"/>
                          </a:solidFill>
                          <a:latin typeface="Yu Gothic"/>
                          <a:ea typeface="Yu Gothic"/>
                          <a:cs typeface="Yu Gothic"/>
                        </a:rPr>
                        <a:t>—</a:t>
                      </a:r>
                    </a:p>
                  </a:txBody>
                  <a:tcPr marL="91440" marR="91440" marT="45720" marB="45720">
                    <a:solidFill>
                      <a:srgbClr val="FFFFFF"/>
                    </a:solidFill>
                  </a:tcPr>
                </a:tc>
                <a:tc>
                  <a:txBody>
                    <a:bodyPr/>
                    <a:lstStyle/>
                    <a:p>
                      <a:r>
                        <a:rPr sz="878">
                          <a:solidFill>
                            <a:srgbClr val="5B5B5B"/>
                          </a:solidFill>
                          <a:latin typeface="Yu Gothic"/>
                          <a:ea typeface="Yu Gothic"/>
                          <a:cs typeface="Yu Gothic"/>
                        </a:rPr>
                        <a:t>DOE、sensor校正、holdout</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F731DB13-77C0-4CFD-8EC9-44BF327678D6}"/>
              </a:ext>
            </a:extLst>
          </p:cNvPr>
          <p:cNvSpPr>
            <a:spLocks xmlns:a="http://schemas.openxmlformats.org/drawingml/2006/main" noGrp="1"/>
          </p:cNvSpPr>
          <p:nvPr/>
        </p:nvSpPr>
        <p:spPr>
          <a:xfrm xmlns:a="http://schemas.openxmlformats.org/drawingml/2006/main">
            <a:off x="552450" y="538162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主張の境界</a:t>
            </a:r>
          </a:p>
        </p:txBody>
      </p:sp>
      <p:sp>
        <p:nvSpPr>
          <p:cNvPr id="11" name="">
            <a:extLst xmlns:a="http://schemas.openxmlformats.org/drawingml/2006/main">
              <a:ext uri="{FF2B5EF4-FFF2-40B4-BE49-F238E27FC236}">
                <a16:creationId xmlns:a16="http://schemas.microsoft.com/office/drawing/2014/main" id="{85E4C65C-5663-4BC8-8A9D-5E2B4CC80B59}"/>
              </a:ext>
            </a:extLst>
          </p:cNvPr>
          <p:cNvSpPr>
            <a:spLocks xmlns:a="http://schemas.openxmlformats.org/drawingml/2006/main" noGrp="1"/>
          </p:cNvSpPr>
          <p:nvPr/>
        </p:nvSpPr>
        <p:spPr>
          <a:xfrm xmlns:a="http://schemas.openxmlformats.org/drawingml/2006/main">
            <a:off x="552450" y="5724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2" name="">
            <a:extLst xmlns:a="http://schemas.openxmlformats.org/drawingml/2006/main">
              <a:ext uri="{FF2B5EF4-FFF2-40B4-BE49-F238E27FC236}">
                <a16:creationId xmlns:a16="http://schemas.microsoft.com/office/drawing/2014/main" id="{F0D4F0EE-88AF-4707-8BF5-FBA2B6E1E09B}"/>
              </a:ext>
            </a:extLst>
          </p:cNvPr>
          <p:cNvSpPr>
            <a:spLocks xmlns:a="http://schemas.openxmlformats.org/drawingml/2006/main" noGrp="1"/>
          </p:cNvSpPr>
          <p:nvPr/>
        </p:nvSpPr>
        <p:spPr>
          <a:xfrm xmlns:a="http://schemas.openxmlformats.org/drawingml/2006/main">
            <a:off x="552450" y="5848350"/>
            <a:ext cx="685800" cy="238125"/>
          </a:xfrm>
          <a:prstGeom xmlns:a="http://schemas.openxmlformats.org/drawingml/2006/main" prst="roundRect">
            <a:avLst>
              <a:gd name="adj" fmla="val 50000"/>
            </a:avLst>
          </a:prstGeom>
          <a:solidFill xmlns:a="http://schemas.openxmlformats.org/drawingml/2006/main">
            <a:srgbClr val="EEF7DF"/>
          </a:solidFill>
          <a:ln xmlns:a="http://schemas.openxmlformats.org/drawingml/2006/main" w="9525">
            <a:solidFill>
              <a:srgbClr val="76BE18"/>
            </a:solidFill>
            <a:prstDash val="solid"/>
          </a:ln>
        </p:spPr>
      </p:sp>
      <p:sp>
        <p:nvSpPr>
          <p:cNvPr id="13" name="">
            <a:extLst xmlns:a="http://schemas.openxmlformats.org/drawingml/2006/main">
              <a:ext uri="{FF2B5EF4-FFF2-40B4-BE49-F238E27FC236}">
                <a16:creationId xmlns:a16="http://schemas.microsoft.com/office/drawing/2014/main" id="{037334B1-4C38-4063-89E1-2E358E07877E}"/>
              </a:ext>
            </a:extLst>
          </p:cNvPr>
          <p:cNvSpPr>
            <a:spLocks xmlns:a="http://schemas.openxmlformats.org/drawingml/2006/main" noGrp="1"/>
          </p:cNvSpPr>
          <p:nvPr/>
        </p:nvSpPr>
        <p:spPr>
          <a:xfrm xmlns:a="http://schemas.openxmlformats.org/drawingml/2006/main">
            <a:off x="6000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可</a:t>
            </a:r>
          </a:p>
        </p:txBody>
      </p:sp>
      <p:sp>
        <p:nvSpPr>
          <p:cNvPr id="14" name="">
            <a:extLst xmlns:a="http://schemas.openxmlformats.org/drawingml/2006/main">
              <a:ext uri="{FF2B5EF4-FFF2-40B4-BE49-F238E27FC236}">
                <a16:creationId xmlns:a16="http://schemas.microsoft.com/office/drawing/2014/main" id="{62E3B25E-BF47-4547-A6E6-1A67BD283C62}"/>
              </a:ext>
            </a:extLst>
          </p:cNvPr>
          <p:cNvSpPr>
            <a:spLocks xmlns:a="http://schemas.openxmlformats.org/drawingml/2006/main" noGrp="1"/>
          </p:cNvSpPr>
          <p:nvPr/>
        </p:nvSpPr>
        <p:spPr>
          <a:xfrm xmlns:a="http://schemas.openxmlformats.org/drawingml/2006/main">
            <a:off x="13335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集中定数モデルとしての因果予測・状態監視</a:t>
            </a:r>
          </a:p>
        </p:txBody>
      </p:sp>
      <p:sp>
        <p:nvSpPr>
          <p:cNvPr id="15" name="">
            <a:extLst xmlns:a="http://schemas.openxmlformats.org/drawingml/2006/main">
              <a:ext uri="{FF2B5EF4-FFF2-40B4-BE49-F238E27FC236}">
                <a16:creationId xmlns:a16="http://schemas.microsoft.com/office/drawing/2014/main" id="{C1B6E627-E1EB-4BD4-9D67-FF6D97687FF9}"/>
              </a:ext>
            </a:extLst>
          </p:cNvPr>
          <p:cNvSpPr>
            <a:spLocks xmlns:a="http://schemas.openxmlformats.org/drawingml/2006/main" noGrp="1"/>
          </p:cNvSpPr>
          <p:nvPr/>
        </p:nvSpPr>
        <p:spPr>
          <a:xfrm xmlns:a="http://schemas.openxmlformats.org/drawingml/2006/main">
            <a:off x="4248150" y="5848350"/>
            <a:ext cx="685800" cy="238125"/>
          </a:xfrm>
          <a:prstGeom xmlns:a="http://schemas.openxmlformats.org/drawingml/2006/main" prst="roundRect">
            <a:avLst>
              <a:gd name="adj" fmla="val 50000"/>
            </a:avLst>
          </a:prstGeom>
          <a:solidFill xmlns:a="http://schemas.openxmlformats.org/drawingml/2006/main">
            <a:srgbClr val="FFF5D7"/>
          </a:solidFill>
          <a:ln xmlns:a="http://schemas.openxmlformats.org/drawingml/2006/main" w="9525">
            <a:solidFill>
              <a:srgbClr val="E5A900"/>
            </a:solidFill>
            <a:prstDash val="solid"/>
          </a:ln>
        </p:spPr>
      </p:sp>
      <p:sp>
        <p:nvSpPr>
          <p:cNvPr id="16" name="">
            <a:extLst xmlns:a="http://schemas.openxmlformats.org/drawingml/2006/main">
              <a:ext uri="{FF2B5EF4-FFF2-40B4-BE49-F238E27FC236}">
                <a16:creationId xmlns:a16="http://schemas.microsoft.com/office/drawing/2014/main" id="{3919D849-FCAA-47F1-A766-8A59209CC9D9}"/>
              </a:ext>
            </a:extLst>
          </p:cNvPr>
          <p:cNvSpPr>
            <a:spLocks xmlns:a="http://schemas.openxmlformats.org/drawingml/2006/main" noGrp="1"/>
          </p:cNvSpPr>
          <p:nvPr/>
        </p:nvSpPr>
        <p:spPr>
          <a:xfrm xmlns:a="http://schemas.openxmlformats.org/drawingml/2006/main">
            <a:off x="42957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E5A900"/>
                </a:solidFill>
                <a:latin typeface="Yu Gothic"/>
                <a:ea typeface="Yu Gothic"/>
                <a:cs typeface="Yu Gothic"/>
              </a:defRPr>
            </a:pPr>
            <a:r>
              <a:rPr sz="788" b="1" i="0">
                <a:solidFill>
                  <a:srgbClr val="E5A900"/>
                </a:solidFill>
                <a:latin typeface="Yu Gothic"/>
                <a:ea typeface="Yu Gothic"/>
                <a:cs typeface="Yu Gothic"/>
              </a:rPr>
              <a:t>条件付</a:t>
            </a:r>
          </a:p>
        </p:txBody>
      </p:sp>
      <p:sp>
        <p:nvSpPr>
          <p:cNvPr id="17" name="">
            <a:extLst xmlns:a="http://schemas.openxmlformats.org/drawingml/2006/main">
              <a:ext uri="{FF2B5EF4-FFF2-40B4-BE49-F238E27FC236}">
                <a16:creationId xmlns:a16="http://schemas.microsoft.com/office/drawing/2014/main" id="{68C3C8EA-03E9-4D1C-85F6-4B4686B25BFB}"/>
              </a:ext>
            </a:extLst>
          </p:cNvPr>
          <p:cNvSpPr>
            <a:spLocks xmlns:a="http://schemas.openxmlformats.org/drawingml/2006/main" noGrp="1"/>
          </p:cNvSpPr>
          <p:nvPr/>
        </p:nvSpPr>
        <p:spPr>
          <a:xfrm xmlns:a="http://schemas.openxmlformats.org/drawingml/2006/main">
            <a:off x="50292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体積平均温度のscreening精度</a:t>
            </a:r>
          </a:p>
        </p:txBody>
      </p:sp>
      <p:sp>
        <p:nvSpPr>
          <p:cNvPr id="18" name="">
            <a:extLst xmlns:a="http://schemas.openxmlformats.org/drawingml/2006/main">
              <a:ext uri="{FF2B5EF4-FFF2-40B4-BE49-F238E27FC236}">
                <a16:creationId xmlns:a16="http://schemas.microsoft.com/office/drawing/2014/main" id="{2630252A-B9F5-4845-B047-1DBC90F56132}"/>
              </a:ext>
            </a:extLst>
          </p:cNvPr>
          <p:cNvSpPr>
            <a:spLocks xmlns:a="http://schemas.openxmlformats.org/drawingml/2006/main" noGrp="1"/>
          </p:cNvSpPr>
          <p:nvPr/>
        </p:nvSpPr>
        <p:spPr>
          <a:xfrm xmlns:a="http://schemas.openxmlformats.org/drawingml/2006/main">
            <a:off x="7943850" y="5848350"/>
            <a:ext cx="685800" cy="238125"/>
          </a:xfrm>
          <a:prstGeom xmlns:a="http://schemas.openxmlformats.org/drawingml/2006/main" prst="roundRect">
            <a:avLst>
              <a:gd name="adj" fmla="val 50000"/>
            </a:avLst>
          </a:prstGeom>
          <a:solidFill xmlns:a="http://schemas.openxmlformats.org/drawingml/2006/main">
            <a:srgbClr val="FBE9E7"/>
          </a:solidFill>
          <a:ln xmlns:a="http://schemas.openxmlformats.org/drawingml/2006/main" w="9525">
            <a:solidFill>
              <a:srgbClr val="C4493D"/>
            </a:solidFill>
            <a:prstDash val="solid"/>
          </a:ln>
        </p:spPr>
      </p:sp>
      <p:sp>
        <p:nvSpPr>
          <p:cNvPr id="19" name="">
            <a:extLst xmlns:a="http://schemas.openxmlformats.org/drawingml/2006/main">
              <a:ext uri="{FF2B5EF4-FFF2-40B4-BE49-F238E27FC236}">
                <a16:creationId xmlns:a16="http://schemas.microsoft.com/office/drawing/2014/main" id="{D77F7395-2F05-4B8C-8453-1205544EBA55}"/>
              </a:ext>
            </a:extLst>
          </p:cNvPr>
          <p:cNvSpPr>
            <a:spLocks xmlns:a="http://schemas.openxmlformats.org/drawingml/2006/main" noGrp="1"/>
          </p:cNvSpPr>
          <p:nvPr/>
        </p:nvSpPr>
        <p:spPr>
          <a:xfrm xmlns:a="http://schemas.openxmlformats.org/drawingml/2006/main">
            <a:off x="7991475" y="5857875"/>
            <a:ext cx="59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C4493D"/>
                </a:solidFill>
                <a:latin typeface="Yu Gothic"/>
                <a:ea typeface="Yu Gothic"/>
                <a:cs typeface="Yu Gothic"/>
              </a:defRPr>
            </a:pPr>
            <a:r>
              <a:rPr sz="788" b="1" i="0">
                <a:solidFill>
                  <a:srgbClr val="C4493D"/>
                </a:solidFill>
                <a:latin typeface="Yu Gothic"/>
                <a:ea typeface="Yu Gothic"/>
                <a:cs typeface="Yu Gothic"/>
              </a:rPr>
              <a:t>不可</a:t>
            </a:r>
          </a:p>
        </p:txBody>
      </p:sp>
      <p:sp>
        <p:nvSpPr>
          <p:cNvPr id="20" name="">
            <a:extLst xmlns:a="http://schemas.openxmlformats.org/drawingml/2006/main">
              <a:ext uri="{FF2B5EF4-FFF2-40B4-BE49-F238E27FC236}">
                <a16:creationId xmlns:a16="http://schemas.microsoft.com/office/drawing/2014/main" id="{5014E5CB-BC88-49DE-933D-3117D4F12595}"/>
              </a:ext>
            </a:extLst>
          </p:cNvPr>
          <p:cNvSpPr>
            <a:spLocks xmlns:a="http://schemas.openxmlformats.org/drawingml/2006/main" noGrp="1"/>
          </p:cNvSpPr>
          <p:nvPr/>
        </p:nvSpPr>
        <p:spPr>
          <a:xfrm xmlns:a="http://schemas.openxmlformats.org/drawingml/2006/main">
            <a:off x="8724900" y="5819775"/>
            <a:ext cx="2743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9947"/>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局所hotspot・wafer面内均一性・製品保証への直接外挿</a:t>
            </a:r>
          </a:p>
        </p:txBody>
      </p:sp>
    </p:spTree>
    <p:extLst>
      <p:ext uri="{BB962C8B-B14F-4D97-AF65-F5344CB8AC3E}">
        <p14:creationId xmlns:p14="http://schemas.microsoft.com/office/powerpoint/2010/main" val="15445852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E318A1BE-D38E-4E92-AD7C-336576286B98}"/>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143BE9-6314-4171-9A0A-9D8CA68F22C0}"/>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PHYSICAL MODEL</a:t>
            </a:r>
          </a:p>
        </p:txBody>
      </p:sp>
      <p:sp>
        <p:nvSpPr>
          <p:cNvPr id="3" name="">
            <a:extLst xmlns:a="http://schemas.openxmlformats.org/drawingml/2006/main">
              <a:ext uri="{FF2B5EF4-FFF2-40B4-BE49-F238E27FC236}">
                <a16:creationId xmlns:a16="http://schemas.microsoft.com/office/drawing/2014/main" id="{4103B8D4-DB6C-4B5D-A174-B1E111FBF9B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3ノード伝熱回路は、熱容量を固定し3つの熱伝達係数を同定する</a:t>
            </a:r>
          </a:p>
        </p:txBody>
      </p:sp>
      <p:sp>
        <p:nvSpPr>
          <p:cNvPr id="4" name="">
            <a:extLst xmlns:a="http://schemas.openxmlformats.org/drawingml/2006/main">
              <a:ext uri="{FF2B5EF4-FFF2-40B4-BE49-F238E27FC236}">
                <a16:creationId xmlns:a16="http://schemas.microsoft.com/office/drawing/2014/main" id="{DC9E6B43-5C36-4FD6-ADCF-B76D39C9E1C2}"/>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線形COMSOL評価モデル：chip → sink base → fins → coolant</a:t>
            </a:r>
          </a:p>
        </p:txBody>
      </p:sp>
      <p:sp>
        <p:nvSpPr>
          <p:cNvPr id="5" name="">
            <a:extLst xmlns:a="http://schemas.openxmlformats.org/drawingml/2006/main">
              <a:ext uri="{FF2B5EF4-FFF2-40B4-BE49-F238E27FC236}">
                <a16:creationId xmlns:a16="http://schemas.microsoft.com/office/drawing/2014/main" id="{44CF293C-988C-41B1-A9ED-EF88081BE61A}"/>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DD520AA-8126-4E26-A2E7-C760683F56E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F9C6806C-FB05-4A98-AFA4-4B6BFED217A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D8AF1FE8-22CE-4BD7-B784-6B918FF6EE30}"/>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9</a:t>
            </a:r>
          </a:p>
        </p:txBody>
      </p:sp>
      <p:sp>
        <p:nvSpPr>
          <p:cNvPr id="9" name="">
            <a:extLst xmlns:a="http://schemas.openxmlformats.org/drawingml/2006/main">
              <a:ext uri="{FF2B5EF4-FFF2-40B4-BE49-F238E27FC236}">
                <a16:creationId xmlns:a16="http://schemas.microsoft.com/office/drawing/2014/main" id="{D5DB77A0-CCC4-40EB-A211-BC3E2D8519B4}"/>
              </a:ext>
            </a:extLst>
          </p:cNvPr>
          <p:cNvSpPr>
            <a:spLocks xmlns:a="http://schemas.openxmlformats.org/drawingml/2006/main" noGrp="1"/>
          </p:cNvSpPr>
          <p:nvPr/>
        </p:nvSpPr>
        <p:spPr>
          <a:xfrm xmlns:a="http://schemas.openxmlformats.org/drawingml/2006/main">
            <a:off x="552450" y="1381125"/>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伝熱回路</a:t>
            </a:r>
          </a:p>
        </p:txBody>
      </p:sp>
      <p:sp>
        <p:nvSpPr>
          <p:cNvPr id="10" name="">
            <a:extLst xmlns:a="http://schemas.openxmlformats.org/drawingml/2006/main">
              <a:ext uri="{FF2B5EF4-FFF2-40B4-BE49-F238E27FC236}">
                <a16:creationId xmlns:a16="http://schemas.microsoft.com/office/drawing/2014/main" id="{81E615E3-4165-4BD1-AA0E-0A14C0041148}"/>
              </a:ext>
            </a:extLst>
          </p:cNvPr>
          <p:cNvSpPr>
            <a:spLocks xmlns:a="http://schemas.openxmlformats.org/drawingml/2006/main" noGrp="1"/>
          </p:cNvSpPr>
          <p:nvPr/>
        </p:nvSpPr>
        <p:spPr>
          <a:xfrm xmlns:a="http://schemas.openxmlformats.org/drawingml/2006/main">
            <a:off x="552450" y="2600325"/>
            <a:ext cx="1009650" cy="533400"/>
          </a:xfrm>
          <a:prstGeom xmlns:a="http://schemas.openxmlformats.org/drawingml/2006/main" prst="roundRect">
            <a:avLst>
              <a:gd name="adj" fmla="val 50000"/>
            </a:avLst>
          </a:prstGeom>
          <a:solidFill xmlns:a="http://schemas.openxmlformats.org/drawingml/2006/main">
            <a:srgbClr val="FFF5D7"/>
          </a:solidFill>
          <a:ln xmlns:a="http://schemas.openxmlformats.org/drawingml/2006/main" w="19050">
            <a:solidFill>
              <a:srgbClr val="E5A900"/>
            </a:solidFill>
            <a:prstDash val="solid"/>
          </a:ln>
        </p:spPr>
      </p:sp>
      <p:sp>
        <p:nvSpPr>
          <p:cNvPr id="11" name="">
            <a:extLst xmlns:a="http://schemas.openxmlformats.org/drawingml/2006/main">
              <a:ext uri="{FF2B5EF4-FFF2-40B4-BE49-F238E27FC236}">
                <a16:creationId xmlns:a16="http://schemas.microsoft.com/office/drawing/2014/main" id="{0187E4DD-7DD8-474A-95C2-4F580D7C791B}"/>
              </a:ext>
            </a:extLst>
          </p:cNvPr>
          <p:cNvSpPr>
            <a:spLocks xmlns:a="http://schemas.openxmlformats.org/drawingml/2006/main" noGrp="1"/>
          </p:cNvSpPr>
          <p:nvPr/>
        </p:nvSpPr>
        <p:spPr>
          <a:xfrm xmlns:a="http://schemas.openxmlformats.org/drawingml/2006/main">
            <a:off x="647700" y="2686050"/>
            <a:ext cx="819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806000"/>
                </a:solidFill>
                <a:latin typeface="Cambria Math"/>
                <a:ea typeface="Cambria Math"/>
                <a:cs typeface="Cambria Math"/>
              </a:defRPr>
            </a:pPr>
            <a:r>
              <a:rPr sz="1275" b="1" i="0">
                <a:solidFill>
                  <a:srgbClr val="806000"/>
                </a:solidFill>
                <a:latin typeface="Cambria Math"/>
                <a:ea typeface="Cambria Math"/>
                <a:cs typeface="Cambria Math"/>
              </a:rPr>
              <a:t>Pchip(t)</a:t>
            </a:r>
          </a:p>
        </p:txBody>
      </p:sp>
      <p:sp>
        <p:nvSpPr>
          <p:cNvPr id="12" name="">
            <a:extLst xmlns:a="http://schemas.openxmlformats.org/drawingml/2006/main">
              <a:ext uri="{FF2B5EF4-FFF2-40B4-BE49-F238E27FC236}">
                <a16:creationId xmlns:a16="http://schemas.microsoft.com/office/drawing/2014/main" id="{CEBFC21D-BAF2-4BB6-A486-2CA24ED516CF}"/>
              </a:ext>
            </a:extLst>
          </p:cNvPr>
          <p:cNvSpPr>
            <a:spLocks xmlns:a="http://schemas.openxmlformats.org/drawingml/2006/main" noGrp="1"/>
          </p:cNvSpPr>
          <p:nvPr/>
        </p:nvSpPr>
        <p:spPr>
          <a:xfrm xmlns:a="http://schemas.openxmlformats.org/drawingml/2006/main">
            <a:off x="1952625" y="2076450"/>
            <a:ext cx="1543050" cy="1581150"/>
          </a:xfrm>
          <a:prstGeom xmlns:a="http://schemas.openxmlformats.org/drawingml/2006/main" prst="rect">
            <a:avLst/>
          </a:prstGeom>
          <a:solidFill xmlns:a="http://schemas.openxmlformats.org/drawingml/2006/main">
            <a:srgbClr val="EFE5F6"/>
          </a:solidFill>
          <a:ln xmlns:a="http://schemas.openxmlformats.org/drawingml/2006/main" w="19050">
            <a:solidFill>
              <a:srgbClr val="7B2DAF"/>
            </a:solidFill>
            <a:prstDash val="solid"/>
          </a:ln>
        </p:spPr>
      </p:sp>
      <p:sp>
        <p:nvSpPr>
          <p:cNvPr id="13" name="">
            <a:extLst xmlns:a="http://schemas.openxmlformats.org/drawingml/2006/main">
              <a:ext uri="{FF2B5EF4-FFF2-40B4-BE49-F238E27FC236}">
                <a16:creationId xmlns:a16="http://schemas.microsoft.com/office/drawing/2014/main" id="{12A022E2-3797-48B4-A910-5A9882CD5F8E}"/>
              </a:ext>
            </a:extLst>
          </p:cNvPr>
          <p:cNvSpPr>
            <a:spLocks xmlns:a="http://schemas.openxmlformats.org/drawingml/2006/main" noGrp="1"/>
          </p:cNvSpPr>
          <p:nvPr/>
        </p:nvSpPr>
        <p:spPr>
          <a:xfrm xmlns:a="http://schemas.openxmlformats.org/drawingml/2006/main">
            <a:off x="2133600"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1" i="0">
                <a:solidFill>
                  <a:srgbClr val="7B2DAF"/>
                </a:solidFill>
                <a:latin typeface="Yu Gothic"/>
                <a:ea typeface="Yu Gothic"/>
                <a:cs typeface="Yu Gothic"/>
              </a:defRPr>
            </a:pPr>
            <a:r>
              <a:rPr sz="1500" b="1" i="0">
                <a:solidFill>
                  <a:srgbClr val="7B2DAF"/>
                </a:solidFill>
                <a:latin typeface="Yu Gothic"/>
                <a:ea typeface="Yu Gothic"/>
                <a:cs typeface="Yu Gothic"/>
              </a:rPr>
              <a:t>chip</a:t>
            </a:r>
          </a:p>
        </p:txBody>
      </p:sp>
      <p:sp>
        <p:nvSpPr>
          <p:cNvPr id="14" name="">
            <a:extLst xmlns:a="http://schemas.openxmlformats.org/drawingml/2006/main">
              <a:ext uri="{FF2B5EF4-FFF2-40B4-BE49-F238E27FC236}">
                <a16:creationId xmlns:a16="http://schemas.microsoft.com/office/drawing/2014/main" id="{AA2F8304-45B9-4C4D-892D-A503B8A31D36}"/>
              </a:ext>
            </a:extLst>
          </p:cNvPr>
          <p:cNvSpPr>
            <a:spLocks xmlns:a="http://schemas.openxmlformats.org/drawingml/2006/main" noGrp="1"/>
          </p:cNvSpPr>
          <p:nvPr/>
        </p:nvSpPr>
        <p:spPr>
          <a:xfrm xmlns:a="http://schemas.openxmlformats.org/drawingml/2006/main">
            <a:off x="2133600"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T₁</a:t>
            </a:r>
          </a:p>
        </p:txBody>
      </p:sp>
      <p:sp>
        <p:nvSpPr>
          <p:cNvPr id="15" name="">
            <a:extLst xmlns:a="http://schemas.openxmlformats.org/drawingml/2006/main">
              <a:ext uri="{FF2B5EF4-FFF2-40B4-BE49-F238E27FC236}">
                <a16:creationId xmlns:a16="http://schemas.microsoft.com/office/drawing/2014/main" id="{97D68761-07F0-4ADB-A8E0-861E6EA0B52A}"/>
              </a:ext>
            </a:extLst>
          </p:cNvPr>
          <p:cNvSpPr>
            <a:spLocks xmlns:a="http://schemas.openxmlformats.org/drawingml/2006/main" noGrp="1"/>
          </p:cNvSpPr>
          <p:nvPr/>
        </p:nvSpPr>
        <p:spPr>
          <a:xfrm xmlns:a="http://schemas.openxmlformats.org/drawingml/2006/main">
            <a:off x="2047875"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C₁ = 10.43392 J/K</a:t>
            </a:r>
          </a:p>
        </p:txBody>
      </p:sp>
      <p:sp>
        <p:nvSpPr>
          <p:cNvPr id="16" name="">
            <a:extLst xmlns:a="http://schemas.openxmlformats.org/drawingml/2006/main">
              <a:ext uri="{FF2B5EF4-FFF2-40B4-BE49-F238E27FC236}">
                <a16:creationId xmlns:a16="http://schemas.microsoft.com/office/drawing/2014/main" id="{C86CCBC9-714A-4670-9B10-1EA669842F3F}"/>
              </a:ext>
            </a:extLst>
          </p:cNvPr>
          <p:cNvSpPr>
            <a:spLocks xmlns:a="http://schemas.openxmlformats.org/drawingml/2006/main" noGrp="1"/>
          </p:cNvSpPr>
          <p:nvPr/>
        </p:nvSpPr>
        <p:spPr>
          <a:xfrm xmlns:a="http://schemas.openxmlformats.org/drawingml/2006/main">
            <a:off x="3752850" y="2600325"/>
            <a:ext cx="1066800" cy="533400"/>
          </a:xfrm>
          <a:prstGeom xmlns:a="http://schemas.openxmlformats.org/drawingml/2006/main" prst="rect">
            <a:avLst/>
          </a:prstGeom>
          <a:solidFill xmlns:a="http://schemas.openxmlformats.org/drawingml/2006/main">
            <a:srgbClr val="FFFFFF"/>
          </a:solidFill>
          <a:ln xmlns:a="http://schemas.openxmlformats.org/drawingml/2006/main" w="19050">
            <a:solidFill>
              <a:srgbClr val="00A5D8"/>
            </a:solidFill>
            <a:prstDash val="solid"/>
          </a:ln>
        </p:spPr>
      </p:sp>
      <p:sp>
        <p:nvSpPr>
          <p:cNvPr id="17" name="">
            <a:extLst xmlns:a="http://schemas.openxmlformats.org/drawingml/2006/main">
              <a:ext uri="{FF2B5EF4-FFF2-40B4-BE49-F238E27FC236}">
                <a16:creationId xmlns:a16="http://schemas.microsoft.com/office/drawing/2014/main" id="{44C92789-68A0-4E29-A76E-2DD5D035C7D6}"/>
              </a:ext>
            </a:extLst>
          </p:cNvPr>
          <p:cNvSpPr>
            <a:spLocks xmlns:a="http://schemas.openxmlformats.org/drawingml/2006/main" noGrp="1"/>
          </p:cNvSpPr>
          <p:nvPr/>
        </p:nvSpPr>
        <p:spPr>
          <a:xfrm xmlns:a="http://schemas.openxmlformats.org/drawingml/2006/main">
            <a:off x="3810000" y="266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238"/>
          </a:bodyPr>
          <a:lstStyle xmlns:a="http://schemas.openxmlformats.org/drawingml/2006/main"/>
          <a:p xmlns:a="http://schemas.openxmlformats.org/drawingml/2006/main">
            <a:pPr algn="ctr">
              <a:lnSpc>
                <a:spcPct val="100000"/>
              </a:lnSpc>
              <a:buNone/>
              <a:defRPr sz="1050" b="1" i="0">
                <a:solidFill>
                  <a:srgbClr val="007FA8"/>
                </a:solidFill>
                <a:latin typeface="Cambria Math"/>
                <a:ea typeface="Cambria Math"/>
                <a:cs typeface="Cambria Math"/>
              </a:defRPr>
            </a:pPr>
            <a:r>
              <a:rPr sz="1050" b="1" i="0">
                <a:solidFill>
                  <a:srgbClr val="007FA8"/>
                </a:solidFill>
                <a:latin typeface="Cambria Math"/>
                <a:ea typeface="Cambria Math"/>
                <a:cs typeface="Cambria Math"/>
              </a:rPr>
              <a:t>G₁ = 38.220</a:t>
            </a:r>
          </a:p>
        </p:txBody>
      </p:sp>
      <p:sp>
        <p:nvSpPr>
          <p:cNvPr id="18" name="">
            <a:extLst xmlns:a="http://schemas.openxmlformats.org/drawingml/2006/main">
              <a:ext uri="{FF2B5EF4-FFF2-40B4-BE49-F238E27FC236}">
                <a16:creationId xmlns:a16="http://schemas.microsoft.com/office/drawing/2014/main" id="{9B6F99B0-653A-4686-85C7-E09BC558AAB8}"/>
              </a:ext>
            </a:extLst>
          </p:cNvPr>
          <p:cNvSpPr>
            <a:spLocks xmlns:a="http://schemas.openxmlformats.org/drawingml/2006/main" noGrp="1"/>
          </p:cNvSpPr>
          <p:nvPr/>
        </p:nvSpPr>
        <p:spPr>
          <a:xfrm xmlns:a="http://schemas.openxmlformats.org/drawingml/2006/main">
            <a:off x="3810000" y="28765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W/K</a:t>
            </a:r>
          </a:p>
        </p:txBody>
      </p:sp>
      <p:sp>
        <p:nvSpPr>
          <p:cNvPr id="19" name="">
            <a:extLst xmlns:a="http://schemas.openxmlformats.org/drawingml/2006/main">
              <a:ext uri="{FF2B5EF4-FFF2-40B4-BE49-F238E27FC236}">
                <a16:creationId xmlns:a16="http://schemas.microsoft.com/office/drawing/2014/main" id="{40637459-48ED-438D-B63C-113B0DEDA80F}"/>
              </a:ext>
            </a:extLst>
          </p:cNvPr>
          <p:cNvSpPr>
            <a:spLocks xmlns:a="http://schemas.openxmlformats.org/drawingml/2006/main" noGrp="1"/>
          </p:cNvSpPr>
          <p:nvPr/>
        </p:nvSpPr>
        <p:spPr>
          <a:xfrm xmlns:a="http://schemas.openxmlformats.org/drawingml/2006/main">
            <a:off x="5086350" y="2076450"/>
            <a:ext cx="1543050" cy="158115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20" name="">
            <a:extLst xmlns:a="http://schemas.openxmlformats.org/drawingml/2006/main">
              <a:ext uri="{FF2B5EF4-FFF2-40B4-BE49-F238E27FC236}">
                <a16:creationId xmlns:a16="http://schemas.microsoft.com/office/drawing/2014/main" id="{3B9923F1-F743-45CE-8756-BB470092DB63}"/>
              </a:ext>
            </a:extLst>
          </p:cNvPr>
          <p:cNvSpPr>
            <a:spLocks xmlns:a="http://schemas.openxmlformats.org/drawingml/2006/main" noGrp="1"/>
          </p:cNvSpPr>
          <p:nvPr/>
        </p:nvSpPr>
        <p:spPr>
          <a:xfrm xmlns:a="http://schemas.openxmlformats.org/drawingml/2006/main">
            <a:off x="5267325"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350" b="1" i="0">
                <a:solidFill>
                  <a:srgbClr val="007FA8"/>
                </a:solidFill>
                <a:latin typeface="Yu Gothic"/>
                <a:ea typeface="Yu Gothic"/>
                <a:cs typeface="Yu Gothic"/>
              </a:defRPr>
            </a:pPr>
            <a:r>
              <a:rPr sz="1350" b="1" i="0">
                <a:solidFill>
                  <a:srgbClr val="007FA8"/>
                </a:solidFill>
                <a:latin typeface="Yu Gothic"/>
                <a:ea typeface="Yu Gothic"/>
                <a:cs typeface="Yu Gothic"/>
              </a:rPr>
              <a:t>sink base</a:t>
            </a:r>
          </a:p>
        </p:txBody>
      </p:sp>
      <p:sp>
        <p:nvSpPr>
          <p:cNvPr id="21" name="">
            <a:extLst xmlns:a="http://schemas.openxmlformats.org/drawingml/2006/main">
              <a:ext uri="{FF2B5EF4-FFF2-40B4-BE49-F238E27FC236}">
                <a16:creationId xmlns:a16="http://schemas.microsoft.com/office/drawing/2014/main" id="{8894BF15-9D1A-47A9-8B16-5E778A3A9783}"/>
              </a:ext>
            </a:extLst>
          </p:cNvPr>
          <p:cNvSpPr>
            <a:spLocks xmlns:a="http://schemas.openxmlformats.org/drawingml/2006/main" noGrp="1"/>
          </p:cNvSpPr>
          <p:nvPr/>
        </p:nvSpPr>
        <p:spPr>
          <a:xfrm xmlns:a="http://schemas.openxmlformats.org/drawingml/2006/main">
            <a:off x="5267325"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T₂</a:t>
            </a:r>
          </a:p>
        </p:txBody>
      </p:sp>
      <p:sp>
        <p:nvSpPr>
          <p:cNvPr id="22" name="">
            <a:extLst xmlns:a="http://schemas.openxmlformats.org/drawingml/2006/main">
              <a:ext uri="{FF2B5EF4-FFF2-40B4-BE49-F238E27FC236}">
                <a16:creationId xmlns:a16="http://schemas.microsoft.com/office/drawing/2014/main" id="{C3E5A55D-226A-4BB5-8817-2A219E06C236}"/>
              </a:ext>
            </a:extLst>
          </p:cNvPr>
          <p:cNvSpPr>
            <a:spLocks xmlns:a="http://schemas.openxmlformats.org/drawingml/2006/main" noGrp="1"/>
          </p:cNvSpPr>
          <p:nvPr/>
        </p:nvSpPr>
        <p:spPr>
          <a:xfrm xmlns:a="http://schemas.openxmlformats.org/drawingml/2006/main">
            <a:off x="5181600"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C₂ = 24.3 J/K</a:t>
            </a:r>
          </a:p>
        </p:txBody>
      </p:sp>
      <p:sp>
        <p:nvSpPr>
          <p:cNvPr id="23" name="">
            <a:extLst xmlns:a="http://schemas.openxmlformats.org/drawingml/2006/main">
              <a:ext uri="{FF2B5EF4-FFF2-40B4-BE49-F238E27FC236}">
                <a16:creationId xmlns:a16="http://schemas.microsoft.com/office/drawing/2014/main" id="{26CBD92E-290F-416E-8BCE-9C5B812AFF81}"/>
              </a:ext>
            </a:extLst>
          </p:cNvPr>
          <p:cNvSpPr>
            <a:spLocks xmlns:a="http://schemas.openxmlformats.org/drawingml/2006/main" noGrp="1"/>
          </p:cNvSpPr>
          <p:nvPr/>
        </p:nvSpPr>
        <p:spPr>
          <a:xfrm xmlns:a="http://schemas.openxmlformats.org/drawingml/2006/main">
            <a:off x="6886575" y="2600325"/>
            <a:ext cx="1066800" cy="533400"/>
          </a:xfrm>
          <a:prstGeom xmlns:a="http://schemas.openxmlformats.org/drawingml/2006/main" prst="rect">
            <a:avLst/>
          </a:prstGeom>
          <a:solidFill xmlns:a="http://schemas.openxmlformats.org/drawingml/2006/main">
            <a:srgbClr val="FFFFFF"/>
          </a:solidFill>
          <a:ln xmlns:a="http://schemas.openxmlformats.org/drawingml/2006/main" w="19050">
            <a:solidFill>
              <a:srgbClr val="00A89D"/>
            </a:solidFill>
            <a:prstDash val="solid"/>
          </a:ln>
        </p:spPr>
      </p:sp>
      <p:sp>
        <p:nvSpPr>
          <p:cNvPr id="24" name="">
            <a:extLst xmlns:a="http://schemas.openxmlformats.org/drawingml/2006/main">
              <a:ext uri="{FF2B5EF4-FFF2-40B4-BE49-F238E27FC236}">
                <a16:creationId xmlns:a16="http://schemas.microsoft.com/office/drawing/2014/main" id="{CE84DD34-1707-46F1-9F10-BC61DBFF2EF0}"/>
              </a:ext>
            </a:extLst>
          </p:cNvPr>
          <p:cNvSpPr>
            <a:spLocks xmlns:a="http://schemas.openxmlformats.org/drawingml/2006/main" noGrp="1"/>
          </p:cNvSpPr>
          <p:nvPr/>
        </p:nvSpPr>
        <p:spPr>
          <a:xfrm xmlns:a="http://schemas.openxmlformats.org/drawingml/2006/main">
            <a:off x="6943725" y="266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5238"/>
          </a:bodyPr>
          <a:lstStyle xmlns:a="http://schemas.openxmlformats.org/drawingml/2006/main"/>
          <a:p xmlns:a="http://schemas.openxmlformats.org/drawingml/2006/main">
            <a:pPr algn="ctr">
              <a:lnSpc>
                <a:spcPct val="100000"/>
              </a:lnSpc>
              <a:buNone/>
              <a:defRPr sz="1050" b="1" i="0">
                <a:solidFill>
                  <a:srgbClr val="00A89D"/>
                </a:solidFill>
                <a:latin typeface="Cambria Math"/>
                <a:ea typeface="Cambria Math"/>
                <a:cs typeface="Cambria Math"/>
              </a:defRPr>
            </a:pPr>
            <a:r>
              <a:rPr sz="1050" b="1" i="0">
                <a:solidFill>
                  <a:srgbClr val="00A89D"/>
                </a:solidFill>
                <a:latin typeface="Cambria Math"/>
                <a:ea typeface="Cambria Math"/>
                <a:cs typeface="Cambria Math"/>
              </a:rPr>
              <a:t>G₂ = 9.992</a:t>
            </a:r>
          </a:p>
        </p:txBody>
      </p:sp>
      <p:sp>
        <p:nvSpPr>
          <p:cNvPr id="25" name="">
            <a:extLst xmlns:a="http://schemas.openxmlformats.org/drawingml/2006/main">
              <a:ext uri="{FF2B5EF4-FFF2-40B4-BE49-F238E27FC236}">
                <a16:creationId xmlns:a16="http://schemas.microsoft.com/office/drawing/2014/main" id="{1CCAEF61-2A0E-4803-8D7D-AFC182E22302}"/>
              </a:ext>
            </a:extLst>
          </p:cNvPr>
          <p:cNvSpPr>
            <a:spLocks xmlns:a="http://schemas.openxmlformats.org/drawingml/2006/main" noGrp="1"/>
          </p:cNvSpPr>
          <p:nvPr/>
        </p:nvSpPr>
        <p:spPr>
          <a:xfrm xmlns:a="http://schemas.openxmlformats.org/drawingml/2006/main">
            <a:off x="6943725" y="28765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W/K</a:t>
            </a:r>
          </a:p>
        </p:txBody>
      </p:sp>
      <p:sp>
        <p:nvSpPr>
          <p:cNvPr id="26" name="">
            <a:extLst xmlns:a="http://schemas.openxmlformats.org/drawingml/2006/main">
              <a:ext uri="{FF2B5EF4-FFF2-40B4-BE49-F238E27FC236}">
                <a16:creationId xmlns:a16="http://schemas.microsoft.com/office/drawing/2014/main" id="{ADBA81BE-FD6D-4220-B6CD-A3C57D1B3768}"/>
              </a:ext>
            </a:extLst>
          </p:cNvPr>
          <p:cNvSpPr>
            <a:spLocks xmlns:a="http://schemas.openxmlformats.org/drawingml/2006/main" noGrp="1"/>
          </p:cNvSpPr>
          <p:nvPr/>
        </p:nvSpPr>
        <p:spPr>
          <a:xfrm xmlns:a="http://schemas.openxmlformats.org/drawingml/2006/main">
            <a:off x="8220075" y="2076450"/>
            <a:ext cx="1543050" cy="1581150"/>
          </a:xfrm>
          <a:prstGeom xmlns:a="http://schemas.openxmlformats.org/drawingml/2006/main" prst="rect">
            <a:avLst/>
          </a:prstGeom>
          <a:solidFill xmlns:a="http://schemas.openxmlformats.org/drawingml/2006/main">
            <a:srgbClr val="EEF7DF"/>
          </a:solidFill>
          <a:ln xmlns:a="http://schemas.openxmlformats.org/drawingml/2006/main" w="19050">
            <a:solidFill>
              <a:srgbClr val="76BE18"/>
            </a:solidFill>
            <a:prstDash val="solid"/>
          </a:ln>
        </p:spPr>
      </p:sp>
      <p:sp>
        <p:nvSpPr>
          <p:cNvPr id="27" name="">
            <a:extLst xmlns:a="http://schemas.openxmlformats.org/drawingml/2006/main">
              <a:ext uri="{FF2B5EF4-FFF2-40B4-BE49-F238E27FC236}">
                <a16:creationId xmlns:a16="http://schemas.microsoft.com/office/drawing/2014/main" id="{632905A3-4A5C-4801-B590-628800809F3A}"/>
              </a:ext>
            </a:extLst>
          </p:cNvPr>
          <p:cNvSpPr>
            <a:spLocks xmlns:a="http://schemas.openxmlformats.org/drawingml/2006/main" noGrp="1"/>
          </p:cNvSpPr>
          <p:nvPr/>
        </p:nvSpPr>
        <p:spPr>
          <a:xfrm xmlns:a="http://schemas.openxmlformats.org/drawingml/2006/main">
            <a:off x="8401050" y="2257425"/>
            <a:ext cx="1181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1" i="0">
                <a:solidFill>
                  <a:srgbClr val="4D8710"/>
                </a:solidFill>
                <a:latin typeface="Yu Gothic"/>
                <a:ea typeface="Yu Gothic"/>
                <a:cs typeface="Yu Gothic"/>
              </a:defRPr>
            </a:pPr>
            <a:r>
              <a:rPr sz="1500" b="1" i="0">
                <a:solidFill>
                  <a:srgbClr val="4D8710"/>
                </a:solidFill>
                <a:latin typeface="Yu Gothic"/>
                <a:ea typeface="Yu Gothic"/>
                <a:cs typeface="Yu Gothic"/>
              </a:rPr>
              <a:t>fins</a:t>
            </a:r>
          </a:p>
        </p:txBody>
      </p:sp>
      <p:sp>
        <p:nvSpPr>
          <p:cNvPr id="28" name="">
            <a:extLst xmlns:a="http://schemas.openxmlformats.org/drawingml/2006/main">
              <a:ext uri="{FF2B5EF4-FFF2-40B4-BE49-F238E27FC236}">
                <a16:creationId xmlns:a16="http://schemas.microsoft.com/office/drawing/2014/main" id="{02CF4550-E4F3-4B03-8986-2DBE3039B067}"/>
              </a:ext>
            </a:extLst>
          </p:cNvPr>
          <p:cNvSpPr>
            <a:spLocks xmlns:a="http://schemas.openxmlformats.org/drawingml/2006/main" noGrp="1"/>
          </p:cNvSpPr>
          <p:nvPr/>
        </p:nvSpPr>
        <p:spPr>
          <a:xfrm xmlns:a="http://schemas.openxmlformats.org/drawingml/2006/main">
            <a:off x="8401050" y="2628900"/>
            <a:ext cx="1181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701"/>
          </a:bodyPr>
          <a:lstStyle xmlns:a="http://schemas.openxmlformats.org/drawingml/2006/main"/>
          <a:p xmlns:a="http://schemas.openxmlformats.org/drawingml/2006/main">
            <a:pPr algn="ctr">
              <a:lnSpc>
                <a:spcPct val="100000"/>
              </a:lnSpc>
              <a:buNone/>
              <a:defRPr sz="2175" b="1" i="0">
                <a:solidFill>
                  <a:srgbClr val="3F3F3F"/>
                </a:solidFill>
                <a:latin typeface="Cambria Math"/>
                <a:ea typeface="Cambria Math"/>
                <a:cs typeface="Cambria Math"/>
              </a:defRPr>
            </a:pPr>
            <a:r>
              <a:rPr sz="2175" b="1" i="0">
                <a:solidFill>
                  <a:srgbClr val="3F3F3F"/>
                </a:solidFill>
                <a:latin typeface="Cambria Math"/>
                <a:ea typeface="Cambria Math"/>
                <a:cs typeface="Cambria Math"/>
              </a:rPr>
              <a:t>T₃</a:t>
            </a:r>
          </a:p>
        </p:txBody>
      </p:sp>
      <p:sp>
        <p:nvSpPr>
          <p:cNvPr id="29" name="">
            <a:extLst xmlns:a="http://schemas.openxmlformats.org/drawingml/2006/main">
              <a:ext uri="{FF2B5EF4-FFF2-40B4-BE49-F238E27FC236}">
                <a16:creationId xmlns:a16="http://schemas.microsoft.com/office/drawing/2014/main" id="{272EC9C8-74A6-4203-B432-54FC3200A4AF}"/>
              </a:ext>
            </a:extLst>
          </p:cNvPr>
          <p:cNvSpPr>
            <a:spLocks xmlns:a="http://schemas.openxmlformats.org/drawingml/2006/main" noGrp="1"/>
          </p:cNvSpPr>
          <p:nvPr/>
        </p:nvSpPr>
        <p:spPr>
          <a:xfrm xmlns:a="http://schemas.openxmlformats.org/drawingml/2006/main">
            <a:off x="8315325" y="3143250"/>
            <a:ext cx="1352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5B5B5B"/>
                </a:solidFill>
                <a:latin typeface="Yu Gothic"/>
                <a:ea typeface="Yu Gothic"/>
                <a:cs typeface="Yu Gothic"/>
              </a:defRPr>
            </a:pPr>
            <a:r>
              <a:rPr sz="900" b="0" i="0">
                <a:solidFill>
                  <a:srgbClr val="5B5B5B"/>
                </a:solidFill>
                <a:latin typeface="Yu Gothic"/>
                <a:ea typeface="Yu Gothic"/>
                <a:cs typeface="Yu Gothic"/>
              </a:rPr>
              <a:t>C₃ = 46.17 J/K</a:t>
            </a:r>
          </a:p>
        </p:txBody>
      </p:sp>
      <p:sp>
        <p:nvSpPr>
          <p:cNvPr id="30" name="">
            <a:extLst xmlns:a="http://schemas.openxmlformats.org/drawingml/2006/main">
              <a:ext uri="{FF2B5EF4-FFF2-40B4-BE49-F238E27FC236}">
                <a16:creationId xmlns:a16="http://schemas.microsoft.com/office/drawing/2014/main" id="{07B14DC2-D444-4753-9F26-937897C83FDF}"/>
              </a:ext>
            </a:extLst>
          </p:cNvPr>
          <p:cNvSpPr>
            <a:spLocks xmlns:a="http://schemas.openxmlformats.org/drawingml/2006/main" noGrp="1"/>
          </p:cNvSpPr>
          <p:nvPr/>
        </p:nvSpPr>
        <p:spPr>
          <a:xfrm xmlns:a="http://schemas.openxmlformats.org/drawingml/2006/main">
            <a:off x="9982200" y="3419475"/>
            <a:ext cx="95250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76BE18"/>
            </a:solidFill>
            <a:prstDash val="solid"/>
          </a:ln>
        </p:spPr>
      </p:sp>
      <p:sp>
        <p:nvSpPr>
          <p:cNvPr id="31" name="">
            <a:extLst xmlns:a="http://schemas.openxmlformats.org/drawingml/2006/main">
              <a:ext uri="{FF2B5EF4-FFF2-40B4-BE49-F238E27FC236}">
                <a16:creationId xmlns:a16="http://schemas.microsoft.com/office/drawing/2014/main" id="{5015D794-30D0-4EA6-826B-B775F5A62C65}"/>
              </a:ext>
            </a:extLst>
          </p:cNvPr>
          <p:cNvSpPr>
            <a:spLocks xmlns:a="http://schemas.openxmlformats.org/drawingml/2006/main" noGrp="1"/>
          </p:cNvSpPr>
          <p:nvPr/>
        </p:nvSpPr>
        <p:spPr>
          <a:xfrm xmlns:a="http://schemas.openxmlformats.org/drawingml/2006/main">
            <a:off x="10029825" y="3476625"/>
            <a:ext cx="857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9947"/>
          </a:bodyPr>
          <a:lstStyle xmlns:a="http://schemas.openxmlformats.org/drawingml/2006/main"/>
          <a:p xmlns:a="http://schemas.openxmlformats.org/drawingml/2006/main">
            <a:pPr algn="ctr">
              <a:lnSpc>
                <a:spcPct val="100000"/>
              </a:lnSpc>
              <a:buNone/>
              <a:defRPr sz="938" b="1" i="0">
                <a:solidFill>
                  <a:srgbClr val="4D8710"/>
                </a:solidFill>
                <a:latin typeface="Cambria Math"/>
                <a:ea typeface="Cambria Math"/>
                <a:cs typeface="Cambria Math"/>
              </a:defRPr>
            </a:pPr>
            <a:r>
              <a:rPr sz="938" b="1" i="0">
                <a:solidFill>
                  <a:srgbClr val="4D8710"/>
                </a:solidFill>
                <a:latin typeface="Cambria Math"/>
                <a:ea typeface="Cambria Math"/>
                <a:cs typeface="Cambria Math"/>
              </a:rPr>
              <a:t>hA = 0.1906</a:t>
            </a:r>
          </a:p>
        </p:txBody>
      </p:sp>
      <p:sp>
        <p:nvSpPr>
          <p:cNvPr id="32" name="">
            <a:extLst xmlns:a="http://schemas.openxmlformats.org/drawingml/2006/main">
              <a:ext uri="{FF2B5EF4-FFF2-40B4-BE49-F238E27FC236}">
                <a16:creationId xmlns:a16="http://schemas.microsoft.com/office/drawing/2014/main" id="{43EDE0B9-21C5-4DB8-AE55-CADBE58195DB}"/>
              </a:ext>
            </a:extLst>
          </p:cNvPr>
          <p:cNvSpPr>
            <a:spLocks xmlns:a="http://schemas.openxmlformats.org/drawingml/2006/main" noGrp="1"/>
          </p:cNvSpPr>
          <p:nvPr/>
        </p:nvSpPr>
        <p:spPr>
          <a:xfrm xmlns:a="http://schemas.openxmlformats.org/drawingml/2006/main">
            <a:off x="10029825" y="3667125"/>
            <a:ext cx="857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W/K</a:t>
            </a:r>
          </a:p>
        </p:txBody>
      </p:sp>
      <p:sp>
        <p:nvSpPr>
          <p:cNvPr id="33" name="">
            <a:extLst xmlns:a="http://schemas.openxmlformats.org/drawingml/2006/main">
              <a:ext uri="{FF2B5EF4-FFF2-40B4-BE49-F238E27FC236}">
                <a16:creationId xmlns:a16="http://schemas.microsoft.com/office/drawing/2014/main" id="{A5C2A7CE-D172-403D-B1A6-3A30C1169D01}"/>
              </a:ext>
            </a:extLst>
          </p:cNvPr>
          <p:cNvSpPr>
            <a:spLocks xmlns:a="http://schemas.openxmlformats.org/drawingml/2006/main" noGrp="1"/>
          </p:cNvSpPr>
          <p:nvPr/>
        </p:nvSpPr>
        <p:spPr>
          <a:xfrm xmlns:a="http://schemas.openxmlformats.org/drawingml/2006/main">
            <a:off x="11106150" y="3276600"/>
            <a:ext cx="533400" cy="762000"/>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10CC37C-408F-4EE3-9223-0C34F13B4EDE}"/>
              </a:ext>
            </a:extLst>
          </p:cNvPr>
          <p:cNvSpPr>
            <a:spLocks xmlns:a="http://schemas.openxmlformats.org/drawingml/2006/main" noGrp="1"/>
          </p:cNvSpPr>
          <p:nvPr/>
        </p:nvSpPr>
        <p:spPr>
          <a:xfrm xmlns:a="http://schemas.openxmlformats.org/drawingml/2006/main">
            <a:off x="11153775" y="3352800"/>
            <a:ext cx="4381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Cambria Math"/>
                <a:ea typeface="Cambria Math"/>
                <a:cs typeface="Cambria Math"/>
              </a:defRPr>
            </a:pPr>
            <a:r>
              <a:rPr sz="975" b="1" i="0">
                <a:solidFill>
                  <a:srgbClr val="FFFFFF"/>
                </a:solidFill>
                <a:latin typeface="Cambria Math"/>
                <a:ea typeface="Cambria Math"/>
                <a:cs typeface="Cambria Math"/>
              </a:rPr>
              <a:t>Tcool</a:t>
            </a:r>
          </a:p>
        </p:txBody>
      </p:sp>
      <p:sp>
        <p:nvSpPr>
          <p:cNvPr id="35" name="">
            <a:extLst xmlns:a="http://schemas.openxmlformats.org/drawingml/2006/main">
              <a:ext uri="{FF2B5EF4-FFF2-40B4-BE49-F238E27FC236}">
                <a16:creationId xmlns:a16="http://schemas.microsoft.com/office/drawing/2014/main" id="{7F5CB75D-1446-4404-8BB9-B173417E7841}"/>
              </a:ext>
            </a:extLst>
          </p:cNvPr>
          <p:cNvSpPr>
            <a:spLocks xmlns:a="http://schemas.openxmlformats.org/drawingml/2006/main" noGrp="1"/>
          </p:cNvSpPr>
          <p:nvPr/>
        </p:nvSpPr>
        <p:spPr>
          <a:xfrm xmlns:a="http://schemas.openxmlformats.org/drawingml/2006/main">
            <a:off x="11153775" y="3667125"/>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638" b="0" i="0">
                <a:solidFill>
                  <a:srgbClr val="FFFFFF"/>
                </a:solidFill>
                <a:latin typeface="Yu Gothic"/>
                <a:ea typeface="Yu Gothic"/>
                <a:cs typeface="Yu Gothic"/>
              </a:defRPr>
            </a:pPr>
            <a:r>
              <a:rPr sz="638" b="0" i="0">
                <a:solidFill>
                  <a:srgbClr val="FFFFFF"/>
                </a:solidFill>
                <a:latin typeface="Yu Gothic"/>
                <a:ea typeface="Yu Gothic"/>
                <a:cs typeface="Yu Gothic"/>
              </a:rPr>
              <a:t>reservoir</a:t>
            </a:r>
          </a:p>
        </p:txBody>
      </p:sp>
      <p:cxnSp>
        <p:nvCxnSpPr>
          <p:cNvPr id="84" name=""/>
          <p:cNvCxnSpPr>
            <a:stCxn xmlns:a="http://schemas.openxmlformats.org/drawingml/2006/main" id="10" idx="3"/>
            <a:endCxn xmlns:a="http://schemas.openxmlformats.org/drawingml/2006/main" id="12" idx="1"/>
          </p:cNvCxnSpPr>
          <p:nvPr/>
        </p:nvCxnSpPr>
        <p:spPr>
          <a:xfrm xmlns:a="http://schemas.openxmlformats.org/drawingml/2006/main">
            <a:off x="1562100" y="2867025"/>
            <a:ext cx="390525" cy="0"/>
          </a:xfrm>
          <a:prstGeom xmlns:a="http://schemas.openxmlformats.org/drawingml/2006/main" prst="straightConnector1">
            <a:avLst/>
          </a:prstGeom>
          <a:ln xmlns:a="http://schemas.openxmlformats.org/drawingml/2006/main" w="28575">
            <a:solidFill>
              <a:srgbClr val="E5A900"/>
            </a:solidFill>
            <a:prstDash val="solid"/>
            <a:tailEnd type="triangle" w="sm" len="sm"/>
          </a:ln>
        </p:spPr>
      </p:cxnSp>
      <p:cxnSp>
        <p:nvCxnSpPr>
          <p:cNvPr id="85" name=""/>
          <p:cNvCxnSpPr>
            <a:stCxn xmlns:a="http://schemas.openxmlformats.org/drawingml/2006/main" id="12" idx="3"/>
            <a:endCxn xmlns:a="http://schemas.openxmlformats.org/drawingml/2006/main" id="16" idx="1"/>
          </p:cNvCxnSpPr>
          <p:nvPr/>
        </p:nvCxnSpPr>
        <p:spPr>
          <a:xfrm xmlns:a="http://schemas.openxmlformats.org/drawingml/2006/main">
            <a:off x="3495675" y="2867025"/>
            <a:ext cx="257175" cy="0"/>
          </a:xfrm>
          <a:prstGeom xmlns:a="http://schemas.openxmlformats.org/drawingml/2006/main" prst="straightConnector1">
            <a:avLst/>
          </a:prstGeom>
          <a:ln xmlns:a="http://schemas.openxmlformats.org/drawingml/2006/main" w="28575">
            <a:solidFill>
              <a:srgbClr val="00A5D8"/>
            </a:solidFill>
            <a:prstDash val="solid"/>
          </a:ln>
        </p:spPr>
      </p:cxnSp>
      <p:cxnSp>
        <p:nvCxnSpPr>
          <p:cNvPr id="86" name=""/>
          <p:cNvCxnSpPr>
            <a:stCxn xmlns:a="http://schemas.openxmlformats.org/drawingml/2006/main" id="16" idx="3"/>
            <a:endCxn xmlns:a="http://schemas.openxmlformats.org/drawingml/2006/main" id="19" idx="1"/>
          </p:cNvCxnSpPr>
          <p:nvPr/>
        </p:nvCxnSpPr>
        <p:spPr>
          <a:xfrm xmlns:a="http://schemas.openxmlformats.org/drawingml/2006/main">
            <a:off x="4819650" y="2867025"/>
            <a:ext cx="266700" cy="0"/>
          </a:xfrm>
          <a:prstGeom xmlns:a="http://schemas.openxmlformats.org/drawingml/2006/main" prst="straightConnector1">
            <a:avLst/>
          </a:prstGeom>
          <a:ln xmlns:a="http://schemas.openxmlformats.org/drawingml/2006/main" w="28575">
            <a:solidFill>
              <a:srgbClr val="00A5D8"/>
            </a:solidFill>
            <a:prstDash val="solid"/>
          </a:ln>
        </p:spPr>
      </p:cxnSp>
      <p:cxnSp>
        <p:nvCxnSpPr>
          <p:cNvPr id="87" name=""/>
          <p:cNvCxnSpPr>
            <a:stCxn xmlns:a="http://schemas.openxmlformats.org/drawingml/2006/main" id="19" idx="3"/>
            <a:endCxn xmlns:a="http://schemas.openxmlformats.org/drawingml/2006/main" id="23" idx="1"/>
          </p:cNvCxnSpPr>
          <p:nvPr/>
        </p:nvCxnSpPr>
        <p:spPr>
          <a:xfrm xmlns:a="http://schemas.openxmlformats.org/drawingml/2006/main">
            <a:off x="6629400" y="2867025"/>
            <a:ext cx="257175" cy="0"/>
          </a:xfrm>
          <a:prstGeom xmlns:a="http://schemas.openxmlformats.org/drawingml/2006/main" prst="straightConnector1">
            <a:avLst/>
          </a:prstGeom>
          <a:ln xmlns:a="http://schemas.openxmlformats.org/drawingml/2006/main" w="28575">
            <a:solidFill>
              <a:srgbClr val="00A89D"/>
            </a:solidFill>
            <a:prstDash val="solid"/>
          </a:ln>
        </p:spPr>
      </p:cxnSp>
      <p:cxnSp>
        <p:nvCxnSpPr>
          <p:cNvPr id="88" name=""/>
          <p:cNvCxnSpPr>
            <a:stCxn xmlns:a="http://schemas.openxmlformats.org/drawingml/2006/main" id="23" idx="3"/>
            <a:endCxn xmlns:a="http://schemas.openxmlformats.org/drawingml/2006/main" id="26" idx="1"/>
          </p:cNvCxnSpPr>
          <p:nvPr/>
        </p:nvCxnSpPr>
        <p:spPr>
          <a:xfrm xmlns:a="http://schemas.openxmlformats.org/drawingml/2006/main">
            <a:off x="7953375" y="2867025"/>
            <a:ext cx="266700" cy="0"/>
          </a:xfrm>
          <a:prstGeom xmlns:a="http://schemas.openxmlformats.org/drawingml/2006/main" prst="straightConnector1">
            <a:avLst/>
          </a:prstGeom>
          <a:ln xmlns:a="http://schemas.openxmlformats.org/drawingml/2006/main" w="28575">
            <a:solidFill>
              <a:srgbClr val="00A89D"/>
            </a:solidFill>
            <a:prstDash val="solid"/>
          </a:ln>
        </p:spPr>
      </p:cxnSp>
      <p:cxnSp>
        <p:nvCxnSpPr>
          <p:cNvPr id="89" name=""/>
          <p:cNvCxnSpPr>
            <a:stCxn xmlns:a="http://schemas.openxmlformats.org/drawingml/2006/main" id="19" idx="2"/>
            <a:endCxn xmlns:a="http://schemas.openxmlformats.org/drawingml/2006/main" id="30" idx="1"/>
          </p:cNvCxnSpPr>
          <p:nvPr/>
        </p:nvCxnSpPr>
        <p:spPr>
          <a:xfrm xmlns:a="http://schemas.openxmlformats.org/drawingml/2006/main">
            <a:off x="5857875" y="3657600"/>
            <a:ext cx="4124325" cy="0"/>
          </a:xfrm>
          <a:prstGeom xmlns:a="http://schemas.openxmlformats.org/drawingml/2006/main" prst="straightConnector1">
            <a:avLst/>
          </a:prstGeom>
          <a:ln xmlns:a="http://schemas.openxmlformats.org/drawingml/2006/main" w="19050">
            <a:solidFill>
              <a:srgbClr val="76BE18"/>
            </a:solidFill>
            <a:prstDash val="dash"/>
          </a:ln>
        </p:spPr>
      </p:cxnSp>
      <p:cxnSp>
        <p:nvCxnSpPr>
          <p:cNvPr id="90" name=""/>
          <p:cNvCxnSpPr>
            <a:stCxn xmlns:a="http://schemas.openxmlformats.org/drawingml/2006/main" id="26" idx="2"/>
            <a:endCxn xmlns:a="http://schemas.openxmlformats.org/drawingml/2006/main" id="30" idx="0"/>
          </p:cNvCxnSpPr>
          <p:nvPr/>
        </p:nvCxnSpPr>
        <p:spPr>
          <a:xfrm xmlns:a="http://schemas.openxmlformats.org/drawingml/2006/main" flipV="1">
            <a:off x="8991600" y="3419475"/>
            <a:ext cx="1466850" cy="238125"/>
          </a:xfrm>
          <a:prstGeom xmlns:a="http://schemas.openxmlformats.org/drawingml/2006/main" prst="straightConnector1">
            <a:avLst/>
          </a:prstGeom>
          <a:ln xmlns:a="http://schemas.openxmlformats.org/drawingml/2006/main" w="19050">
            <a:solidFill>
              <a:srgbClr val="76BE18"/>
            </a:solidFill>
            <a:prstDash val="dash"/>
          </a:ln>
        </p:spPr>
      </p:cxnSp>
      <p:cxnSp>
        <p:nvCxnSpPr>
          <p:cNvPr id="91" name=""/>
          <p:cNvCxnSpPr>
            <a:stCxn xmlns:a="http://schemas.openxmlformats.org/drawingml/2006/main" id="30" idx="3"/>
            <a:endCxn xmlns:a="http://schemas.openxmlformats.org/drawingml/2006/main" id="33" idx="1"/>
          </p:cNvCxnSpPr>
          <p:nvPr/>
        </p:nvCxnSpPr>
        <p:spPr>
          <a:xfrm xmlns:a="http://schemas.openxmlformats.org/drawingml/2006/main">
            <a:off x="10934700" y="3657600"/>
            <a:ext cx="171450" cy="0"/>
          </a:xfrm>
          <a:prstGeom xmlns:a="http://schemas.openxmlformats.org/drawingml/2006/main" prst="straightConnector1">
            <a:avLst/>
          </a:prstGeom>
          <a:ln xmlns:a="http://schemas.openxmlformats.org/drawingml/2006/main" w="28575">
            <a:solidFill>
              <a:srgbClr val="76BE18"/>
            </a:solidFill>
            <a:prstDash val="solid"/>
          </a:ln>
        </p:spPr>
      </p:cxnSp>
      <p:sp>
        <p:nvSpPr>
          <p:cNvPr id="44" name="">
            <a:extLst xmlns:a="http://schemas.openxmlformats.org/drawingml/2006/main">
              <a:ext uri="{FF2B5EF4-FFF2-40B4-BE49-F238E27FC236}">
                <a16:creationId xmlns:a16="http://schemas.microsoft.com/office/drawing/2014/main" id="{ADCD4F05-5308-4DDE-A551-6D378FF85D70}"/>
              </a:ext>
            </a:extLst>
          </p:cNvPr>
          <p:cNvSpPr>
            <a:spLocks xmlns:a="http://schemas.openxmlformats.org/drawingml/2006/main" noGrp="1"/>
          </p:cNvSpPr>
          <p:nvPr/>
        </p:nvSpPr>
        <p:spPr>
          <a:xfrm xmlns:a="http://schemas.openxmlformats.org/drawingml/2006/main">
            <a:off x="7419975" y="3990975"/>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共有境界weight: base 0.091 / fins 0.909</a:t>
            </a:r>
          </a:p>
        </p:txBody>
      </p:sp>
      <p:graphicFrame>
        <p:nvGraphicFramePr>
          <p:cNvPr id="93" name=""/>
          <p:cNvGraphicFramePr/>
          <p:nvPr/>
        </p:nvGraphicFramePr>
        <p:xfrm>
          <a:off xmlns:a="http://schemas.openxmlformats.org/drawingml/2006/main" x="552450" y="4276725"/>
          <a:ext xmlns:a="http://schemas.openxmlformats.org/drawingml/2006/main" cx="11087100" cy="1390650"/>
        </p:xfrm>
        <a:graphic xmlns:a="http://schemas.openxmlformats.org/drawingml/2006/main">
          <a:graphicData uri="http://schemas.openxmlformats.org/drawingml/2006/table">
            <a:tbl>
              <a:tblPr/>
              <a:tblGrid>
                <a:gridCol w="2095500"/>
                <a:gridCol w="1381125"/>
                <a:gridCol w="1714500"/>
                <a:gridCol w="1381125"/>
                <a:gridCol w="4514850"/>
              </a:tblGrid>
              <a:tr h="347663">
                <a:tc>
                  <a:txBody>
                    <a:bodyPr/>
                    <a:lstStyle/>
                    <a:p>
                      <a:r>
                        <a:rPr sz="938" b="1">
                          <a:solidFill>
                            <a:srgbClr val="FFFFFF"/>
                          </a:solidFill>
                          <a:latin typeface="Yu Gothic"/>
                          <a:ea typeface="Yu Gothic"/>
                          <a:cs typeface="Yu Gothic"/>
                        </a:rPr>
                        <a:t>learnable係数</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prior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fitted</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変化</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物理解釈</a:t>
                      </a:r>
                    </a:p>
                  </a:txBody>
                  <a:tcPr marL="91440" marR="91440" marT="45720" marB="45720">
                    <a:solidFill>
                      <a:srgbClr val="007FA8"/>
                    </a:solidFill>
                  </a:tcPr>
                </a:tc>
              </a:tr>
              <a:tr h="347663">
                <a:tc>
                  <a:txBody>
                    <a:bodyPr/>
                    <a:lstStyle/>
                    <a:p>
                      <a:r>
                        <a:rPr sz="863">
                          <a:solidFill>
                            <a:srgbClr val="5B5B5B"/>
                          </a:solidFill>
                          <a:latin typeface="Yu Gothic"/>
                          <a:ea typeface="Yu Gothic"/>
                          <a:cs typeface="Yu Gothic"/>
                        </a:rPr>
                        <a:t>G chip–base</a:t>
                      </a:r>
                    </a:p>
                  </a:txBody>
                  <a:tcPr marL="91440" marR="91440" marT="45720" marB="45720">
                    <a:solidFill>
                      <a:srgbClr val="FFFFFF"/>
                    </a:solidFill>
                  </a:tcPr>
                </a:tc>
                <a:tc>
                  <a:txBody>
                    <a:bodyPr/>
                    <a:lstStyle/>
                    <a:p>
                      <a:r>
                        <a:rPr sz="863">
                          <a:solidFill>
                            <a:srgbClr val="5B5B5B"/>
                          </a:solidFill>
                          <a:latin typeface="Yu Gothic"/>
                          <a:ea typeface="Yu Gothic"/>
                          <a:cs typeface="Yu Gothic"/>
                        </a:rPr>
                        <a:t>40.000</a:t>
                      </a:r>
                    </a:p>
                  </a:txBody>
                  <a:tcPr marL="91440" marR="91440" marT="45720" marB="45720">
                    <a:solidFill>
                      <a:srgbClr val="FFFFFF"/>
                    </a:solidFill>
                  </a:tcPr>
                </a:tc>
                <a:tc>
                  <a:txBody>
                    <a:bodyPr/>
                    <a:lstStyle/>
                    <a:p>
                      <a:r>
                        <a:rPr sz="863">
                          <a:solidFill>
                            <a:srgbClr val="5B5B5B"/>
                          </a:solidFill>
                          <a:latin typeface="Yu Gothic"/>
                          <a:ea typeface="Yu Gothic"/>
                          <a:cs typeface="Yu Gothic"/>
                        </a:rPr>
                        <a:t>38.220 W/K</a:t>
                      </a:r>
                    </a:p>
                  </a:txBody>
                  <a:tcPr marL="91440" marR="91440" marT="45720" marB="45720">
                    <a:solidFill>
                      <a:srgbClr val="FFFFFF"/>
                    </a:solidFill>
                  </a:tcPr>
                </a:tc>
                <a:tc>
                  <a:txBody>
                    <a:bodyPr/>
                    <a:lstStyle/>
                    <a:p>
                      <a:r>
                        <a:rPr sz="863">
                          <a:solidFill>
                            <a:srgbClr val="5B5B5B"/>
                          </a:solidFill>
                          <a:latin typeface="Yu Gothic"/>
                          <a:ea typeface="Yu Gothic"/>
                          <a:cs typeface="Yu Gothic"/>
                        </a:rPr>
                        <a:t>−4.45%</a:t>
                      </a:r>
                    </a:p>
                  </a:txBody>
                  <a:tcPr marL="91440" marR="91440" marT="45720" marB="45720">
                    <a:solidFill>
                      <a:srgbClr val="FFFFFF"/>
                    </a:solidFill>
                  </a:tcPr>
                </a:tc>
                <a:tc>
                  <a:txBody>
                    <a:bodyPr/>
                    <a:lstStyle/>
                    <a:p>
                      <a:r>
                        <a:rPr sz="863">
                          <a:solidFill>
                            <a:srgbClr val="5B5B5B"/>
                          </a:solidFill>
                          <a:latin typeface="Yu Gothic"/>
                          <a:ea typeface="Yu Gothic"/>
                          <a:cs typeface="Yu Gothic"/>
                        </a:rPr>
                        <a:t>interfaceを含む有効熱伝達</a:t>
                      </a:r>
                    </a:p>
                  </a:txBody>
                  <a:tcPr marL="91440" marR="91440" marT="45720" marB="45720">
                    <a:solidFill>
                      <a:srgbClr val="FFFFFF"/>
                    </a:solidFill>
                  </a:tcPr>
                </a:tc>
              </a:tr>
              <a:tr h="347663">
                <a:tc>
                  <a:txBody>
                    <a:bodyPr/>
                    <a:lstStyle/>
                    <a:p>
                      <a:r>
                        <a:rPr sz="863">
                          <a:solidFill>
                            <a:srgbClr val="5B5B5B"/>
                          </a:solidFill>
                          <a:latin typeface="Yu Gothic"/>
                          <a:ea typeface="Yu Gothic"/>
                          <a:cs typeface="Yu Gothic"/>
                        </a:rPr>
                        <a:t>G base–fins</a:t>
                      </a:r>
                    </a:p>
                  </a:txBody>
                  <a:tcPr marL="91440" marR="91440" marT="45720" marB="45720">
                    <a:solidFill>
                      <a:srgbClr val="F8F8F8"/>
                    </a:solidFill>
                  </a:tcPr>
                </a:tc>
                <a:tc>
                  <a:txBody>
                    <a:bodyPr/>
                    <a:lstStyle/>
                    <a:p>
                      <a:r>
                        <a:rPr sz="863">
                          <a:solidFill>
                            <a:srgbClr val="5B5B5B"/>
                          </a:solidFill>
                          <a:latin typeface="Yu Gothic"/>
                          <a:ea typeface="Yu Gothic"/>
                          <a:cs typeface="Yu Gothic"/>
                        </a:rPr>
                        <a:t>12.000</a:t>
                      </a:r>
                    </a:p>
                  </a:txBody>
                  <a:tcPr marL="91440" marR="91440" marT="45720" marB="45720">
                    <a:solidFill>
                      <a:srgbClr val="F8F8F8"/>
                    </a:solidFill>
                  </a:tcPr>
                </a:tc>
                <a:tc>
                  <a:txBody>
                    <a:bodyPr/>
                    <a:lstStyle/>
                    <a:p>
                      <a:r>
                        <a:rPr sz="863">
                          <a:solidFill>
                            <a:srgbClr val="5B5B5B"/>
                          </a:solidFill>
                          <a:latin typeface="Yu Gothic"/>
                          <a:ea typeface="Yu Gothic"/>
                          <a:cs typeface="Yu Gothic"/>
                        </a:rPr>
                        <a:t>9.992 W/K</a:t>
                      </a:r>
                    </a:p>
                  </a:txBody>
                  <a:tcPr marL="91440" marR="91440" marT="45720" marB="45720">
                    <a:solidFill>
                      <a:srgbClr val="F8F8F8"/>
                    </a:solidFill>
                  </a:tcPr>
                </a:tc>
                <a:tc>
                  <a:txBody>
                    <a:bodyPr/>
                    <a:lstStyle/>
                    <a:p>
                      <a:r>
                        <a:rPr sz="863">
                          <a:solidFill>
                            <a:srgbClr val="5B5B5B"/>
                          </a:solidFill>
                          <a:latin typeface="Yu Gothic"/>
                          <a:ea typeface="Yu Gothic"/>
                          <a:cs typeface="Yu Gothic"/>
                        </a:rPr>
                        <a:t>−16.74%</a:t>
                      </a:r>
                    </a:p>
                  </a:txBody>
                  <a:tcPr marL="91440" marR="91440" marT="45720" marB="45720">
                    <a:solidFill>
                      <a:srgbClr val="F8F8F8"/>
                    </a:solidFill>
                  </a:tcPr>
                </a:tc>
                <a:tc>
                  <a:txBody>
                    <a:bodyPr/>
                    <a:lstStyle/>
                    <a:p>
                      <a:r>
                        <a:rPr sz="863">
                          <a:solidFill>
                            <a:srgbClr val="5B5B5B"/>
                          </a:solidFill>
                          <a:latin typeface="Yu Gothic"/>
                          <a:ea typeface="Yu Gothic"/>
                          <a:cs typeface="Yu Gothic"/>
                        </a:rPr>
                        <a:t>拡散・接触を含む中間経路</a:t>
                      </a:r>
                    </a:p>
                  </a:txBody>
                  <a:tcPr marL="91440" marR="91440" marT="45720" marB="45720">
                    <a:solidFill>
                      <a:srgbClr val="F8F8F8"/>
                    </a:solidFill>
                  </a:tcPr>
                </a:tc>
              </a:tr>
              <a:tr h="347663">
                <a:tc>
                  <a:txBody>
                    <a:bodyPr/>
                    <a:lstStyle/>
                    <a:p>
                      <a:r>
                        <a:rPr sz="863">
                          <a:solidFill>
                            <a:srgbClr val="5B5B5B"/>
                          </a:solidFill>
                          <a:latin typeface="Yu Gothic"/>
                          <a:ea typeface="Yu Gothic"/>
                          <a:cs typeface="Yu Gothic"/>
                        </a:rPr>
                        <a:t>hA coolant</a:t>
                      </a:r>
                    </a:p>
                  </a:txBody>
                  <a:tcPr marL="91440" marR="91440" marT="45720" marB="45720">
                    <a:solidFill>
                      <a:srgbClr val="FFFFFF"/>
                    </a:solidFill>
                  </a:tcPr>
                </a:tc>
                <a:tc>
                  <a:txBody>
                    <a:bodyPr/>
                    <a:lstStyle/>
                    <a:p>
                      <a:r>
                        <a:rPr sz="863">
                          <a:solidFill>
                            <a:srgbClr val="5B5B5B"/>
                          </a:solidFill>
                          <a:latin typeface="Yu Gothic"/>
                          <a:ea typeface="Yu Gothic"/>
                          <a:cs typeface="Yu Gothic"/>
                        </a:rPr>
                        <a:t>0.440</a:t>
                      </a:r>
                    </a:p>
                  </a:txBody>
                  <a:tcPr marL="91440" marR="91440" marT="45720" marB="45720">
                    <a:solidFill>
                      <a:srgbClr val="FFFFFF"/>
                    </a:solidFill>
                  </a:tcPr>
                </a:tc>
                <a:tc>
                  <a:txBody>
                    <a:bodyPr/>
                    <a:lstStyle/>
                    <a:p>
                      <a:r>
                        <a:rPr sz="863">
                          <a:solidFill>
                            <a:srgbClr val="5B5B5B"/>
                          </a:solidFill>
                          <a:latin typeface="Yu Gothic"/>
                          <a:ea typeface="Yu Gothic"/>
                          <a:cs typeface="Yu Gothic"/>
                        </a:rPr>
                        <a:t>0.1906 W/K</a:t>
                      </a:r>
                    </a:p>
                  </a:txBody>
                  <a:tcPr marL="91440" marR="91440" marT="45720" marB="45720">
                    <a:solidFill>
                      <a:srgbClr val="FFFFFF"/>
                    </a:solidFill>
                  </a:tcPr>
                </a:tc>
                <a:tc>
                  <a:txBody>
                    <a:bodyPr/>
                    <a:lstStyle/>
                    <a:p>
                      <a:r>
                        <a:rPr sz="863">
                          <a:solidFill>
                            <a:srgbClr val="5B5B5B"/>
                          </a:solidFill>
                          <a:latin typeface="Yu Gothic"/>
                          <a:ea typeface="Yu Gothic"/>
                          <a:cs typeface="Yu Gothic"/>
                        </a:rPr>
                        <a:t>−56.67%</a:t>
                      </a:r>
                    </a:p>
                  </a:txBody>
                  <a:tcPr marL="91440" marR="91440" marT="45720" marB="45720">
                    <a:solidFill>
                      <a:srgbClr val="FFFFFF"/>
                    </a:solidFill>
                  </a:tcPr>
                </a:tc>
                <a:tc>
                  <a:txBody>
                    <a:bodyPr/>
                    <a:lstStyle/>
                    <a:p>
                      <a:r>
                        <a:rPr sz="863">
                          <a:solidFill>
                            <a:srgbClr val="5B5B5B"/>
                          </a:solidFill>
                          <a:latin typeface="Yu Gothic"/>
                          <a:ea typeface="Yu Gothic"/>
                          <a:cs typeface="Yu Gothic"/>
                        </a:rPr>
                        <a:t>長時間応答を支配する境界</a:t>
                      </a:r>
                    </a:p>
                  </a:txBody>
                  <a:tcPr marL="91440" marR="91440" marT="45720" marB="45720">
                    <a:solidFill>
                      <a:srgbClr val="FFFFFF"/>
                    </a:solidFill>
                  </a:tcPr>
                </a:tc>
              </a:tr>
            </a:tbl>
          </a:graphicData>
        </a:graphic>
      </p:graphicFrame>
      <p:sp>
        <p:nvSpPr>
          <p:cNvPr id="46" name="">
            <a:extLst xmlns:a="http://schemas.openxmlformats.org/drawingml/2006/main">
              <a:ext uri="{FF2B5EF4-FFF2-40B4-BE49-F238E27FC236}">
                <a16:creationId xmlns:a16="http://schemas.microsoft.com/office/drawing/2014/main" id="{0150B041-B36A-4C50-A794-9C1E80C03065}"/>
              </a:ext>
            </a:extLst>
          </p:cNvPr>
          <p:cNvSpPr>
            <a:spLocks xmlns:a="http://schemas.openxmlformats.org/drawingml/2006/main" noGrp="1"/>
          </p:cNvSpPr>
          <p:nvPr/>
        </p:nvSpPr>
        <p:spPr>
          <a:xfrm xmlns:a="http://schemas.openxmlformats.org/drawingml/2006/main">
            <a:off x="552450" y="5838825"/>
            <a:ext cx="11087100" cy="40957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47" name="">
            <a:extLst xmlns:a="http://schemas.openxmlformats.org/drawingml/2006/main">
              <a:ext uri="{FF2B5EF4-FFF2-40B4-BE49-F238E27FC236}">
                <a16:creationId xmlns:a16="http://schemas.microsoft.com/office/drawing/2014/main" id="{126DE2F1-C4D4-4277-ACBA-62E4BEAE3BD2}"/>
              </a:ext>
            </a:extLst>
          </p:cNvPr>
          <p:cNvSpPr>
            <a:spLocks xmlns:a="http://schemas.openxmlformats.org/drawingml/2006/main" noGrp="1"/>
          </p:cNvSpPr>
          <p:nvPr/>
        </p:nvSpPr>
        <p:spPr>
          <a:xfrm xmlns:a="http://schemas.openxmlformats.org/drawingml/2006/main">
            <a:off x="695325" y="592455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注意</a:t>
            </a:r>
          </a:p>
        </p:txBody>
      </p:sp>
      <p:sp>
        <p:nvSpPr>
          <p:cNvPr id="48" name="">
            <a:extLst xmlns:a="http://schemas.openxmlformats.org/drawingml/2006/main">
              <a:ext uri="{FF2B5EF4-FFF2-40B4-BE49-F238E27FC236}">
                <a16:creationId xmlns:a16="http://schemas.microsoft.com/office/drawing/2014/main" id="{18740A98-4707-4E05-A220-5C09738B6FE3}"/>
              </a:ext>
            </a:extLst>
          </p:cNvPr>
          <p:cNvSpPr>
            <a:spLocks xmlns:a="http://schemas.openxmlformats.org/drawingml/2006/main" noGrp="1"/>
          </p:cNvSpPr>
          <p:nvPr/>
        </p:nvSpPr>
        <p:spPr>
          <a:xfrm xmlns:a="http://schemas.openxmlformats.org/drawingml/2006/main">
            <a:off x="1323975" y="5895975"/>
            <a:ext cx="101441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T₁–T₃は領域平均。chip hotspot・wafer面内分布は同じ状態量ではない。</a:t>
            </a:r>
          </a:p>
        </p:txBody>
      </p:sp>
    </p:spTree>
    <p:extLst>
      <p:ext uri="{BB962C8B-B14F-4D97-AF65-F5344CB8AC3E}">
        <p14:creationId xmlns:p14="http://schemas.microsoft.com/office/powerpoint/2010/main" val="156028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5640BAEC-4857-4879-8AF4-4FBC6C5B414D}"/>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4D8B24-92C1-4120-9155-55928EBD39B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GOVERNING EQUATIONS</a:t>
            </a:r>
          </a:p>
        </p:txBody>
      </p:sp>
      <p:sp>
        <p:nvSpPr>
          <p:cNvPr id="3" name="">
            <a:extLst xmlns:a="http://schemas.openxmlformats.org/drawingml/2006/main">
              <a:ext uri="{FF2B5EF4-FFF2-40B4-BE49-F238E27FC236}">
                <a16:creationId xmlns:a16="http://schemas.microsoft.com/office/drawing/2014/main" id="{663B6CD0-5B0E-470F-8068-0C159F69F428}"/>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第一法則を離散化し、保存・散逸・正値性をモデル構造で保証する</a:t>
            </a:r>
          </a:p>
        </p:txBody>
      </p:sp>
      <p:sp>
        <p:nvSpPr>
          <p:cNvPr id="4" name="">
            <a:extLst xmlns:a="http://schemas.openxmlformats.org/drawingml/2006/main">
              <a:ext uri="{FF2B5EF4-FFF2-40B4-BE49-F238E27FC236}">
                <a16:creationId xmlns:a16="http://schemas.microsoft.com/office/drawing/2014/main" id="{0B6DC174-2A4D-4439-B0A8-ED31717E60E8}"/>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学習器に物理を後付けするのではなく、許容する状態遷移そのものを制約する</a:t>
            </a:r>
          </a:p>
        </p:txBody>
      </p:sp>
      <p:sp>
        <p:nvSpPr>
          <p:cNvPr id="5" name="">
            <a:extLst xmlns:a="http://schemas.openxmlformats.org/drawingml/2006/main">
              <a:ext uri="{FF2B5EF4-FFF2-40B4-BE49-F238E27FC236}">
                <a16:creationId xmlns:a16="http://schemas.microsoft.com/office/drawing/2014/main" id="{9A9ACF16-1921-402E-934C-01A5E6FE5561}"/>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E33AA97-6CF3-4436-8522-060CEEFDB65D}"/>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06E1819E-5A38-43A3-80E5-AB70C3602886}"/>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5DDFC25-3145-4937-A972-E785B101103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10</a:t>
            </a:r>
          </a:p>
        </p:txBody>
      </p:sp>
      <p:sp>
        <p:nvSpPr>
          <p:cNvPr id="9" name="">
            <a:extLst xmlns:a="http://schemas.openxmlformats.org/drawingml/2006/main">
              <a:ext uri="{FF2B5EF4-FFF2-40B4-BE49-F238E27FC236}">
                <a16:creationId xmlns:a16="http://schemas.microsoft.com/office/drawing/2014/main" id="{18038664-512E-4A71-A4CC-413AC74EF644}"/>
              </a:ext>
            </a:extLst>
          </p:cNvPr>
          <p:cNvSpPr>
            <a:spLocks xmlns:a="http://schemas.openxmlformats.org/drawingml/2006/main" noGrp="1"/>
          </p:cNvSpPr>
          <p:nvPr/>
        </p:nvSpPr>
        <p:spPr>
          <a:xfrm xmlns:a="http://schemas.openxmlformats.org/drawingml/2006/main">
            <a:off x="552450" y="1438275"/>
            <a:ext cx="6953250" cy="15716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8F70A9F2-8967-4BAE-8F71-168C6CF042FD}"/>
              </a:ext>
            </a:extLst>
          </p:cNvPr>
          <p:cNvSpPr>
            <a:spLocks xmlns:a="http://schemas.openxmlformats.org/drawingml/2006/main" noGrp="1"/>
          </p:cNvSpPr>
          <p:nvPr/>
        </p:nvSpPr>
        <p:spPr>
          <a:xfrm xmlns:a="http://schemas.openxmlformats.org/drawingml/2006/main">
            <a:off x="742950" y="1609725"/>
            <a:ext cx="1619250" cy="238125"/>
          </a:xfrm>
          <a:prstGeom xmlns:a="http://schemas.openxmlformats.org/drawingml/2006/main" prst="roundRect">
            <a:avLst>
              <a:gd name="adj" fmla="val 50000"/>
            </a:avLst>
          </a:prstGeom>
          <a:solidFill xmlns:a="http://schemas.openxmlformats.org/drawingml/2006/main">
            <a:srgbClr val="E5F6FB"/>
          </a:solidFill>
          <a:ln xmlns:a="http://schemas.openxmlformats.org/drawingml/2006/main" w="9525">
            <a:solidFill>
              <a:srgbClr val="00A5D8"/>
            </a:solidFill>
            <a:prstDash val="solid"/>
          </a:ln>
        </p:spPr>
      </p:sp>
      <p:sp>
        <p:nvSpPr>
          <p:cNvPr id="11" name="">
            <a:extLst xmlns:a="http://schemas.openxmlformats.org/drawingml/2006/main">
              <a:ext uri="{FF2B5EF4-FFF2-40B4-BE49-F238E27FC236}">
                <a16:creationId xmlns:a16="http://schemas.microsoft.com/office/drawing/2014/main" id="{C2F589E5-F486-4051-9E69-E3DF2E36BC3D}"/>
              </a:ext>
            </a:extLst>
          </p:cNvPr>
          <p:cNvSpPr>
            <a:spLocks xmlns:a="http://schemas.openxmlformats.org/drawingml/2006/main" noGrp="1"/>
          </p:cNvSpPr>
          <p:nvPr/>
        </p:nvSpPr>
        <p:spPr>
          <a:xfrm xmlns:a="http://schemas.openxmlformats.org/drawingml/2006/main">
            <a:off x="790575" y="16192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00A5D8"/>
                </a:solidFill>
                <a:latin typeface="Yu Gothic"/>
                <a:ea typeface="Yu Gothic"/>
                <a:cs typeface="Yu Gothic"/>
              </a:defRPr>
            </a:pPr>
            <a:r>
              <a:rPr sz="788" b="1" i="0">
                <a:solidFill>
                  <a:srgbClr val="00A5D8"/>
                </a:solidFill>
                <a:latin typeface="Yu Gothic"/>
                <a:ea typeface="Yu Gothic"/>
                <a:cs typeface="Yu Gothic"/>
              </a:rPr>
              <a:t>NODE ENERGY BALANCE</a:t>
            </a:r>
          </a:p>
        </p:txBody>
      </p:sp>
      <p:sp>
        <p:nvSpPr>
          <p:cNvPr id="12" name="">
            <a:extLst xmlns:a="http://schemas.openxmlformats.org/drawingml/2006/main">
              <a:ext uri="{FF2B5EF4-FFF2-40B4-BE49-F238E27FC236}">
                <a16:creationId xmlns:a16="http://schemas.microsoft.com/office/drawing/2014/main" id="{25B667C4-F9AF-4420-B9F1-C8CA3D4D496C}"/>
              </a:ext>
            </a:extLst>
          </p:cNvPr>
          <p:cNvSpPr>
            <a:spLocks xmlns:a="http://schemas.openxmlformats.org/drawingml/2006/main" noGrp="1"/>
          </p:cNvSpPr>
          <p:nvPr/>
        </p:nvSpPr>
        <p:spPr>
          <a:xfrm xmlns:a="http://schemas.openxmlformats.org/drawingml/2006/main">
            <a:off x="800100" y="2085975"/>
            <a:ext cx="6438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1" i="0">
                <a:solidFill>
                  <a:srgbClr val="3F3F3F"/>
                </a:solidFill>
                <a:latin typeface="Cambria Math"/>
                <a:ea typeface="Cambria Math"/>
                <a:cs typeface="Cambria Math"/>
              </a:defRPr>
            </a:pPr>
            <a:r>
              <a:rPr sz="1800" b="1" i="0">
                <a:solidFill>
                  <a:srgbClr val="3F3F3F"/>
                </a:solidFill>
                <a:latin typeface="Cambria Math"/>
                <a:ea typeface="Cambria Math"/>
                <a:cs typeface="Cambria Math"/>
              </a:rPr>
              <a:t>Cᵢ dTᵢ/dt = Σⱼ Gᵢⱼ(Tⱼ − Tᵢ) + qᵢ + hᵢ(Tᵣ − Tᵢ) + (Wᵀd)ᵢ</a:t>
            </a:r>
          </a:p>
        </p:txBody>
      </p:sp>
      <p:sp>
        <p:nvSpPr>
          <p:cNvPr id="13" name="">
            <a:extLst xmlns:a="http://schemas.openxmlformats.org/drawingml/2006/main">
              <a:ext uri="{FF2B5EF4-FFF2-40B4-BE49-F238E27FC236}">
                <a16:creationId xmlns:a16="http://schemas.microsoft.com/office/drawing/2014/main" id="{08788C20-BE63-4EA7-9EAC-678D7F006744}"/>
              </a:ext>
            </a:extLst>
          </p:cNvPr>
          <p:cNvSpPr>
            <a:spLocks xmlns:a="http://schemas.openxmlformats.org/drawingml/2006/main" noGrp="1"/>
          </p:cNvSpPr>
          <p:nvPr/>
        </p:nvSpPr>
        <p:spPr>
          <a:xfrm xmlns:a="http://schemas.openxmlformats.org/drawingml/2006/main">
            <a:off x="809625" y="2647950"/>
            <a:ext cx="64198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777777"/>
                </a:solidFill>
                <a:latin typeface="Yu Gothic"/>
                <a:ea typeface="Yu Gothic"/>
                <a:cs typeface="Yu Gothic"/>
              </a:defRPr>
            </a:pPr>
            <a:r>
              <a:rPr sz="938" b="0" i="0">
                <a:solidFill>
                  <a:srgbClr val="777777"/>
                </a:solidFill>
                <a:latin typeface="Yu Gothic"/>
                <a:ea typeface="Yu Gothic"/>
                <a:cs typeface="Yu Gothic"/>
              </a:rPr>
              <a:t>[J/K]·[K/s] = [W]  —  全項を熱流率で統一</a:t>
            </a:r>
          </a:p>
        </p:txBody>
      </p:sp>
      <p:sp>
        <p:nvSpPr>
          <p:cNvPr id="14" name="">
            <a:extLst xmlns:a="http://schemas.openxmlformats.org/drawingml/2006/main">
              <a:ext uri="{FF2B5EF4-FFF2-40B4-BE49-F238E27FC236}">
                <a16:creationId xmlns:a16="http://schemas.microsoft.com/office/drawing/2014/main" id="{17578156-3092-4206-A827-5358370C6AAB}"/>
              </a:ext>
            </a:extLst>
          </p:cNvPr>
          <p:cNvSpPr>
            <a:spLocks xmlns:a="http://schemas.openxmlformats.org/drawingml/2006/main" noGrp="1"/>
          </p:cNvSpPr>
          <p:nvPr/>
        </p:nvSpPr>
        <p:spPr>
          <a:xfrm xmlns:a="http://schemas.openxmlformats.org/drawingml/2006/main">
            <a:off x="552450" y="3200400"/>
            <a:ext cx="6953250" cy="19526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4EF6987-14F7-4ECA-9F45-380E3FD3A89B}"/>
              </a:ext>
            </a:extLst>
          </p:cNvPr>
          <p:cNvSpPr>
            <a:spLocks xmlns:a="http://schemas.openxmlformats.org/drawingml/2006/main" noGrp="1"/>
          </p:cNvSpPr>
          <p:nvPr/>
        </p:nvSpPr>
        <p:spPr>
          <a:xfrm xmlns:a="http://schemas.openxmlformats.org/drawingml/2006/main">
            <a:off x="742950" y="3371850"/>
            <a:ext cx="1190625" cy="238125"/>
          </a:xfrm>
          <a:prstGeom xmlns:a="http://schemas.openxmlformats.org/drawingml/2006/main" prst="roundRect">
            <a:avLst>
              <a:gd name="adj" fmla="val 50000"/>
            </a:avLst>
          </a:prstGeom>
          <a:solidFill xmlns:a="http://schemas.openxmlformats.org/drawingml/2006/main">
            <a:srgbClr val="2C2255"/>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F9E5716D-FE2B-4AAF-9619-504C3C81AF66}"/>
              </a:ext>
            </a:extLst>
          </p:cNvPr>
          <p:cNvSpPr>
            <a:spLocks xmlns:a="http://schemas.openxmlformats.org/drawingml/2006/main" noGrp="1"/>
          </p:cNvSpPr>
          <p:nvPr/>
        </p:nvSpPr>
        <p:spPr>
          <a:xfrm xmlns:a="http://schemas.openxmlformats.org/drawingml/2006/main">
            <a:off x="790575" y="3381375"/>
            <a:ext cx="1095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6BE18"/>
                </a:solidFill>
                <a:latin typeface="Yu Gothic"/>
                <a:ea typeface="Yu Gothic"/>
                <a:cs typeface="Yu Gothic"/>
              </a:defRPr>
            </a:pPr>
            <a:r>
              <a:rPr sz="788" b="1" i="0">
                <a:solidFill>
                  <a:srgbClr val="76BE18"/>
                </a:solidFill>
                <a:latin typeface="Yu Gothic"/>
                <a:ea typeface="Yu Gothic"/>
                <a:cs typeface="Yu Gothic"/>
              </a:rPr>
              <a:t>MATRIX FORM</a:t>
            </a:r>
          </a:p>
        </p:txBody>
      </p:sp>
      <p:sp>
        <p:nvSpPr>
          <p:cNvPr id="17" name="">
            <a:extLst xmlns:a="http://schemas.openxmlformats.org/drawingml/2006/main">
              <a:ext uri="{FF2B5EF4-FFF2-40B4-BE49-F238E27FC236}">
                <a16:creationId xmlns:a16="http://schemas.microsoft.com/office/drawing/2014/main" id="{138C0098-37F1-411F-A0F8-27E769BCFDBB}"/>
              </a:ext>
            </a:extLst>
          </p:cNvPr>
          <p:cNvSpPr>
            <a:spLocks xmlns:a="http://schemas.openxmlformats.org/drawingml/2006/main" noGrp="1"/>
          </p:cNvSpPr>
          <p:nvPr/>
        </p:nvSpPr>
        <p:spPr>
          <a:xfrm xmlns:a="http://schemas.openxmlformats.org/drawingml/2006/main">
            <a:off x="781050" y="3800475"/>
            <a:ext cx="6286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L = Bₑᵀ diag(g) Bₑ</a:t>
            </a:r>
          </a:p>
        </p:txBody>
      </p:sp>
      <p:sp>
        <p:nvSpPr>
          <p:cNvPr id="18" name="">
            <a:extLst xmlns:a="http://schemas.openxmlformats.org/drawingml/2006/main">
              <a:ext uri="{FF2B5EF4-FFF2-40B4-BE49-F238E27FC236}">
                <a16:creationId xmlns:a16="http://schemas.microsoft.com/office/drawing/2014/main" id="{E9C561FD-9BAE-4DB7-B608-8E183A1DC296}"/>
              </a:ext>
            </a:extLst>
          </p:cNvPr>
          <p:cNvSpPr>
            <a:spLocks xmlns:a="http://schemas.openxmlformats.org/drawingml/2006/main" noGrp="1"/>
          </p:cNvSpPr>
          <p:nvPr/>
        </p:nvSpPr>
        <p:spPr>
          <a:xfrm xmlns:a="http://schemas.openxmlformats.org/drawingml/2006/main">
            <a:off x="781050" y="4229100"/>
            <a:ext cx="628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0" i="0">
                <a:solidFill>
                  <a:srgbClr val="FFFFFF"/>
                </a:solidFill>
                <a:latin typeface="Cambria Math"/>
                <a:ea typeface="Cambria Math"/>
                <a:cs typeface="Cambria Math"/>
              </a:defRPr>
            </a:pPr>
            <a:r>
              <a:rPr sz="1800" b="0" i="0">
                <a:solidFill>
                  <a:srgbClr val="FFFFFF"/>
                </a:solidFill>
                <a:latin typeface="Cambria Math"/>
                <a:ea typeface="Cambria Math"/>
                <a:cs typeface="Cambria Math"/>
              </a:rPr>
              <a:t>C Ṫ = −L T + q + h ⊙ (Tᵣ1 − T) + Wᵀd</a:t>
            </a:r>
          </a:p>
        </p:txBody>
      </p:sp>
      <p:sp>
        <p:nvSpPr>
          <p:cNvPr id="19" name="">
            <a:extLst xmlns:a="http://schemas.openxmlformats.org/drawingml/2006/main">
              <a:ext uri="{FF2B5EF4-FFF2-40B4-BE49-F238E27FC236}">
                <a16:creationId xmlns:a16="http://schemas.microsoft.com/office/drawing/2014/main" id="{6D9B860E-0044-4DA5-BE7B-42758607EA3E}"/>
              </a:ext>
            </a:extLst>
          </p:cNvPr>
          <p:cNvSpPr>
            <a:spLocks xmlns:a="http://schemas.openxmlformats.org/drawingml/2006/main" noGrp="1"/>
          </p:cNvSpPr>
          <p:nvPr/>
        </p:nvSpPr>
        <p:spPr>
          <a:xfrm xmlns:a="http://schemas.openxmlformats.org/drawingml/2006/main">
            <a:off x="781050" y="46958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00" b="1" i="0">
                <a:solidFill>
                  <a:srgbClr val="76BE18"/>
                </a:solidFill>
                <a:latin typeface="Cambria Math"/>
                <a:ea typeface="Cambria Math"/>
                <a:cs typeface="Cambria Math"/>
              </a:defRPr>
            </a:pPr>
            <a:r>
              <a:rPr sz="1800" b="1" i="0">
                <a:solidFill>
                  <a:srgbClr val="76BE18"/>
                </a:solidFill>
                <a:latin typeface="Cambria Math"/>
                <a:ea typeface="Cambria Math"/>
                <a:cs typeface="Cambria Math"/>
              </a:rPr>
              <a:t>Ṫ = A(a)T + b(a)</a:t>
            </a:r>
          </a:p>
        </p:txBody>
      </p:sp>
      <p:sp>
        <p:nvSpPr>
          <p:cNvPr id="20" name="">
            <a:extLst xmlns:a="http://schemas.openxmlformats.org/drawingml/2006/main">
              <a:ext uri="{FF2B5EF4-FFF2-40B4-BE49-F238E27FC236}">
                <a16:creationId xmlns:a16="http://schemas.microsoft.com/office/drawing/2014/main" id="{7A44D683-E4FB-4E10-895F-23D244F5D866}"/>
              </a:ext>
            </a:extLst>
          </p:cNvPr>
          <p:cNvSpPr>
            <a:spLocks xmlns:a="http://schemas.openxmlformats.org/drawingml/2006/main" noGrp="1"/>
          </p:cNvSpPr>
          <p:nvPr/>
        </p:nvSpPr>
        <p:spPr>
          <a:xfrm xmlns:a="http://schemas.openxmlformats.org/drawingml/2006/main">
            <a:off x="7791450" y="1438275"/>
            <a:ext cx="3848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構造的な検査項目</a:t>
            </a:r>
          </a:p>
        </p:txBody>
      </p:sp>
      <p:sp>
        <p:nvSpPr>
          <p:cNvPr id="21" name="">
            <a:extLst xmlns:a="http://schemas.openxmlformats.org/drawingml/2006/main">
              <a:ext uri="{FF2B5EF4-FFF2-40B4-BE49-F238E27FC236}">
                <a16:creationId xmlns:a16="http://schemas.microsoft.com/office/drawing/2014/main" id="{0A3D7BD6-E85A-42F7-93D3-97A7CA5ECAF9}"/>
              </a:ext>
            </a:extLst>
          </p:cNvPr>
          <p:cNvSpPr>
            <a:spLocks xmlns:a="http://schemas.openxmlformats.org/drawingml/2006/main" noGrp="1"/>
          </p:cNvSpPr>
          <p:nvPr/>
        </p:nvSpPr>
        <p:spPr>
          <a:xfrm xmlns:a="http://schemas.openxmlformats.org/drawingml/2006/main">
            <a:off x="7791450" y="1828800"/>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482D2E31-228D-4B33-BA2A-03ECAF7028D1}"/>
              </a:ext>
            </a:extLst>
          </p:cNvPr>
          <p:cNvSpPr>
            <a:spLocks xmlns:a="http://schemas.openxmlformats.org/drawingml/2006/main" noGrp="1"/>
          </p:cNvSpPr>
          <p:nvPr/>
        </p:nvSpPr>
        <p:spPr>
          <a:xfrm xmlns:a="http://schemas.openxmlformats.org/drawingml/2006/main">
            <a:off x="7791450" y="1828800"/>
            <a:ext cx="66675" cy="6858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C2E988B-0C41-4266-A7B0-2049CD4B5F05}"/>
              </a:ext>
            </a:extLst>
          </p:cNvPr>
          <p:cNvSpPr>
            <a:spLocks xmlns:a="http://schemas.openxmlformats.org/drawingml/2006/main" noGrp="1"/>
          </p:cNvSpPr>
          <p:nvPr/>
        </p:nvSpPr>
        <p:spPr>
          <a:xfrm xmlns:a="http://schemas.openxmlformats.org/drawingml/2006/main">
            <a:off x="7981950" y="19050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00A5D8"/>
                </a:solidFill>
                <a:latin typeface="Yu Gothic"/>
                <a:ea typeface="Yu Gothic"/>
                <a:cs typeface="Yu Gothic"/>
              </a:defRPr>
            </a:pPr>
            <a:r>
              <a:rPr sz="1050" b="1" i="0">
                <a:solidFill>
                  <a:srgbClr val="00A5D8"/>
                </a:solidFill>
                <a:latin typeface="Yu Gothic"/>
                <a:ea typeface="Yu Gothic"/>
                <a:cs typeface="Yu Gothic"/>
              </a:rPr>
              <a:t>相反性</a:t>
            </a:r>
          </a:p>
        </p:txBody>
      </p:sp>
      <p:sp>
        <p:nvSpPr>
          <p:cNvPr id="24" name="">
            <a:extLst xmlns:a="http://schemas.openxmlformats.org/drawingml/2006/main">
              <a:ext uri="{FF2B5EF4-FFF2-40B4-BE49-F238E27FC236}">
                <a16:creationId xmlns:a16="http://schemas.microsoft.com/office/drawing/2014/main" id="{AF1E376F-2D64-4829-8CBA-B3D92FC9AE55}"/>
              </a:ext>
            </a:extLst>
          </p:cNvPr>
          <p:cNvSpPr>
            <a:spLocks xmlns:a="http://schemas.openxmlformats.org/drawingml/2006/main" noGrp="1"/>
          </p:cNvSpPr>
          <p:nvPr/>
        </p:nvSpPr>
        <p:spPr>
          <a:xfrm xmlns:a="http://schemas.openxmlformats.org/drawingml/2006/main">
            <a:off x="8915400" y="1895475"/>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qᵢ←ⱼ = −qⱼ←ᵢ</a:t>
            </a:r>
          </a:p>
        </p:txBody>
      </p:sp>
      <p:sp>
        <p:nvSpPr>
          <p:cNvPr id="25" name="">
            <a:extLst xmlns:a="http://schemas.openxmlformats.org/drawingml/2006/main">
              <a:ext uri="{FF2B5EF4-FFF2-40B4-BE49-F238E27FC236}">
                <a16:creationId xmlns:a16="http://schemas.microsoft.com/office/drawing/2014/main" id="{97A9ABEB-5F45-453B-8054-521C05E1A01E}"/>
              </a:ext>
            </a:extLst>
          </p:cNvPr>
          <p:cNvSpPr>
            <a:spLocks xmlns:a="http://schemas.openxmlformats.org/drawingml/2006/main" noGrp="1"/>
          </p:cNvSpPr>
          <p:nvPr/>
        </p:nvSpPr>
        <p:spPr>
          <a:xfrm xmlns:a="http://schemas.openxmlformats.org/drawingml/2006/main">
            <a:off x="7981950" y="2200275"/>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内部熱流の二重計上を防止</a:t>
            </a:r>
          </a:p>
        </p:txBody>
      </p:sp>
      <p:sp>
        <p:nvSpPr>
          <p:cNvPr id="26" name="">
            <a:extLst xmlns:a="http://schemas.openxmlformats.org/drawingml/2006/main">
              <a:ext uri="{FF2B5EF4-FFF2-40B4-BE49-F238E27FC236}">
                <a16:creationId xmlns:a16="http://schemas.microsoft.com/office/drawing/2014/main" id="{8AADDF76-CFEC-4A48-B7C7-E22FEFEF74FC}"/>
              </a:ext>
            </a:extLst>
          </p:cNvPr>
          <p:cNvSpPr>
            <a:spLocks xmlns:a="http://schemas.openxmlformats.org/drawingml/2006/main" noGrp="1"/>
          </p:cNvSpPr>
          <p:nvPr/>
        </p:nvSpPr>
        <p:spPr>
          <a:xfrm xmlns:a="http://schemas.openxmlformats.org/drawingml/2006/main">
            <a:off x="7791450" y="2638425"/>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42D7E2EC-217F-4ADE-A6B4-F147594168AA}"/>
              </a:ext>
            </a:extLst>
          </p:cNvPr>
          <p:cNvSpPr>
            <a:spLocks xmlns:a="http://schemas.openxmlformats.org/drawingml/2006/main" noGrp="1"/>
          </p:cNvSpPr>
          <p:nvPr/>
        </p:nvSpPr>
        <p:spPr>
          <a:xfrm xmlns:a="http://schemas.openxmlformats.org/drawingml/2006/main">
            <a:off x="7791450" y="2638425"/>
            <a:ext cx="66675" cy="6858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150AF26-5E66-477E-9BA8-4F9748EC17EA}"/>
              </a:ext>
            </a:extLst>
          </p:cNvPr>
          <p:cNvSpPr>
            <a:spLocks xmlns:a="http://schemas.openxmlformats.org/drawingml/2006/main" noGrp="1"/>
          </p:cNvSpPr>
          <p:nvPr/>
        </p:nvSpPr>
        <p:spPr>
          <a:xfrm xmlns:a="http://schemas.openxmlformats.org/drawingml/2006/main">
            <a:off x="7981950" y="2714625"/>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6BE18"/>
                </a:solidFill>
                <a:latin typeface="Yu Gothic"/>
                <a:ea typeface="Yu Gothic"/>
                <a:cs typeface="Yu Gothic"/>
              </a:defRPr>
            </a:pPr>
            <a:r>
              <a:rPr sz="1050" b="1" i="0">
                <a:solidFill>
                  <a:srgbClr val="76BE18"/>
                </a:solidFill>
                <a:latin typeface="Yu Gothic"/>
                <a:ea typeface="Yu Gothic"/>
                <a:cs typeface="Yu Gothic"/>
              </a:rPr>
              <a:t>閉系保存</a:t>
            </a:r>
          </a:p>
        </p:txBody>
      </p:sp>
      <p:sp>
        <p:nvSpPr>
          <p:cNvPr id="29" name="">
            <a:extLst xmlns:a="http://schemas.openxmlformats.org/drawingml/2006/main">
              <a:ext uri="{FF2B5EF4-FFF2-40B4-BE49-F238E27FC236}">
                <a16:creationId xmlns:a16="http://schemas.microsoft.com/office/drawing/2014/main" id="{7119AE71-9935-48DC-A5CC-070F6CAAA007}"/>
              </a:ext>
            </a:extLst>
          </p:cNvPr>
          <p:cNvSpPr>
            <a:spLocks xmlns:a="http://schemas.openxmlformats.org/drawingml/2006/main" noGrp="1"/>
          </p:cNvSpPr>
          <p:nvPr/>
        </p:nvSpPr>
        <p:spPr>
          <a:xfrm xmlns:a="http://schemas.openxmlformats.org/drawingml/2006/main">
            <a:off x="8915400" y="2705100"/>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d(1ᵀCT)/dt = 0</a:t>
            </a:r>
          </a:p>
        </p:txBody>
      </p:sp>
      <p:sp>
        <p:nvSpPr>
          <p:cNvPr id="30" name="">
            <a:extLst xmlns:a="http://schemas.openxmlformats.org/drawingml/2006/main">
              <a:ext uri="{FF2B5EF4-FFF2-40B4-BE49-F238E27FC236}">
                <a16:creationId xmlns:a16="http://schemas.microsoft.com/office/drawing/2014/main" id="{497D0A50-CB4E-4127-B138-F31DAAEB702D}"/>
              </a:ext>
            </a:extLst>
          </p:cNvPr>
          <p:cNvSpPr>
            <a:spLocks xmlns:a="http://schemas.openxmlformats.org/drawingml/2006/main" noGrp="1"/>
          </p:cNvSpPr>
          <p:nvPr/>
        </p:nvSpPr>
        <p:spPr>
          <a:xfrm xmlns:a="http://schemas.openxmlformats.org/drawingml/2006/main">
            <a:off x="7981950" y="3009900"/>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境界・熱源なしで総エネルギー一定</a:t>
            </a:r>
          </a:p>
        </p:txBody>
      </p:sp>
      <p:sp>
        <p:nvSpPr>
          <p:cNvPr id="31" name="">
            <a:extLst xmlns:a="http://schemas.openxmlformats.org/drawingml/2006/main">
              <a:ext uri="{FF2B5EF4-FFF2-40B4-BE49-F238E27FC236}">
                <a16:creationId xmlns:a16="http://schemas.microsoft.com/office/drawing/2014/main" id="{B00F64A2-225F-40B0-B6CA-889153D61642}"/>
              </a:ext>
            </a:extLst>
          </p:cNvPr>
          <p:cNvSpPr>
            <a:spLocks xmlns:a="http://schemas.openxmlformats.org/drawingml/2006/main" noGrp="1"/>
          </p:cNvSpPr>
          <p:nvPr/>
        </p:nvSpPr>
        <p:spPr>
          <a:xfrm xmlns:a="http://schemas.openxmlformats.org/drawingml/2006/main">
            <a:off x="7791450" y="3448050"/>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FC835F8A-9C1B-465F-93A2-9CADA868DD08}"/>
              </a:ext>
            </a:extLst>
          </p:cNvPr>
          <p:cNvSpPr>
            <a:spLocks xmlns:a="http://schemas.openxmlformats.org/drawingml/2006/main" noGrp="1"/>
          </p:cNvSpPr>
          <p:nvPr/>
        </p:nvSpPr>
        <p:spPr>
          <a:xfrm xmlns:a="http://schemas.openxmlformats.org/drawingml/2006/main">
            <a:off x="7791450" y="3448050"/>
            <a:ext cx="66675" cy="6858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53A9A7D-FDB5-4AFD-A015-54FB6C858ED0}"/>
              </a:ext>
            </a:extLst>
          </p:cNvPr>
          <p:cNvSpPr>
            <a:spLocks xmlns:a="http://schemas.openxmlformats.org/drawingml/2006/main" noGrp="1"/>
          </p:cNvSpPr>
          <p:nvPr/>
        </p:nvSpPr>
        <p:spPr>
          <a:xfrm xmlns:a="http://schemas.openxmlformats.org/drawingml/2006/main">
            <a:off x="7981950" y="352425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B2DAF"/>
                </a:solidFill>
                <a:latin typeface="Yu Gothic"/>
                <a:ea typeface="Yu Gothic"/>
                <a:cs typeface="Yu Gothic"/>
              </a:defRPr>
            </a:pPr>
            <a:r>
              <a:rPr sz="1050" b="1" i="0">
                <a:solidFill>
                  <a:srgbClr val="7B2DAF"/>
                </a:solidFill>
                <a:latin typeface="Yu Gothic"/>
                <a:ea typeface="Yu Gothic"/>
                <a:cs typeface="Yu Gothic"/>
              </a:rPr>
              <a:t>散逸性</a:t>
            </a:r>
          </a:p>
        </p:txBody>
      </p:sp>
      <p:sp>
        <p:nvSpPr>
          <p:cNvPr id="34" name="">
            <a:extLst xmlns:a="http://schemas.openxmlformats.org/drawingml/2006/main">
              <a:ext uri="{FF2B5EF4-FFF2-40B4-BE49-F238E27FC236}">
                <a16:creationId xmlns:a16="http://schemas.microsoft.com/office/drawing/2014/main" id="{FD999590-9E48-4543-BFCA-91F44F65AC90}"/>
              </a:ext>
            </a:extLst>
          </p:cNvPr>
          <p:cNvSpPr>
            <a:spLocks xmlns:a="http://schemas.openxmlformats.org/drawingml/2006/main" noGrp="1"/>
          </p:cNvSpPr>
          <p:nvPr/>
        </p:nvSpPr>
        <p:spPr>
          <a:xfrm xmlns:a="http://schemas.openxmlformats.org/drawingml/2006/main">
            <a:off x="8915400" y="3514725"/>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TᵀLT = Σ Gₑ(ΔTₑ)² ≥ 0</a:t>
            </a:r>
          </a:p>
        </p:txBody>
      </p:sp>
      <p:sp>
        <p:nvSpPr>
          <p:cNvPr id="35" name="">
            <a:extLst xmlns:a="http://schemas.openxmlformats.org/drawingml/2006/main">
              <a:ext uri="{FF2B5EF4-FFF2-40B4-BE49-F238E27FC236}">
                <a16:creationId xmlns:a16="http://schemas.microsoft.com/office/drawing/2014/main" id="{CA38F49D-23B0-4963-8DAD-FE4254D29541}"/>
              </a:ext>
            </a:extLst>
          </p:cNvPr>
          <p:cNvSpPr>
            <a:spLocks xmlns:a="http://schemas.openxmlformats.org/drawingml/2006/main" noGrp="1"/>
          </p:cNvSpPr>
          <p:nvPr/>
        </p:nvSpPr>
        <p:spPr>
          <a:xfrm xmlns:a="http://schemas.openxmlformats.org/drawingml/2006/main">
            <a:off x="7981950" y="3819525"/>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温度差は自発的に増幅しない</a:t>
            </a:r>
          </a:p>
        </p:txBody>
      </p:sp>
      <p:sp>
        <p:nvSpPr>
          <p:cNvPr id="36" name="">
            <a:extLst xmlns:a="http://schemas.openxmlformats.org/drawingml/2006/main">
              <a:ext uri="{FF2B5EF4-FFF2-40B4-BE49-F238E27FC236}">
                <a16:creationId xmlns:a16="http://schemas.microsoft.com/office/drawing/2014/main" id="{9713592B-AC82-44F3-89BD-11A897568851}"/>
              </a:ext>
            </a:extLst>
          </p:cNvPr>
          <p:cNvSpPr>
            <a:spLocks xmlns:a="http://schemas.openxmlformats.org/drawingml/2006/main" noGrp="1"/>
          </p:cNvSpPr>
          <p:nvPr/>
        </p:nvSpPr>
        <p:spPr>
          <a:xfrm xmlns:a="http://schemas.openxmlformats.org/drawingml/2006/main">
            <a:off x="7791450" y="4257675"/>
            <a:ext cx="38481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5D517FB3-A94F-4C96-883E-213ADD702785}"/>
              </a:ext>
            </a:extLst>
          </p:cNvPr>
          <p:cNvSpPr>
            <a:spLocks xmlns:a="http://schemas.openxmlformats.org/drawingml/2006/main" noGrp="1"/>
          </p:cNvSpPr>
          <p:nvPr/>
        </p:nvSpPr>
        <p:spPr>
          <a:xfrm xmlns:a="http://schemas.openxmlformats.org/drawingml/2006/main">
            <a:off x="7791450" y="4257675"/>
            <a:ext cx="66675" cy="6858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0609869-F16F-4CA4-B2C2-5877C3DB3815}"/>
              </a:ext>
            </a:extLst>
          </p:cNvPr>
          <p:cNvSpPr>
            <a:spLocks xmlns:a="http://schemas.openxmlformats.org/drawingml/2006/main" noGrp="1"/>
          </p:cNvSpPr>
          <p:nvPr/>
        </p:nvSpPr>
        <p:spPr>
          <a:xfrm xmlns:a="http://schemas.openxmlformats.org/drawingml/2006/main">
            <a:off x="7981950" y="4333875"/>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E5A900"/>
                </a:solidFill>
                <a:latin typeface="Yu Gothic"/>
                <a:ea typeface="Yu Gothic"/>
                <a:cs typeface="Yu Gothic"/>
              </a:defRPr>
            </a:pPr>
            <a:r>
              <a:rPr sz="1050" b="1" i="0">
                <a:solidFill>
                  <a:srgbClr val="E5A900"/>
                </a:solidFill>
                <a:latin typeface="Yu Gothic"/>
                <a:ea typeface="Yu Gothic"/>
                <a:cs typeface="Yu Gothic"/>
              </a:rPr>
              <a:t>正値性</a:t>
            </a:r>
          </a:p>
        </p:txBody>
      </p:sp>
      <p:sp>
        <p:nvSpPr>
          <p:cNvPr id="39" name="">
            <a:extLst xmlns:a="http://schemas.openxmlformats.org/drawingml/2006/main">
              <a:ext uri="{FF2B5EF4-FFF2-40B4-BE49-F238E27FC236}">
                <a16:creationId xmlns:a16="http://schemas.microsoft.com/office/drawing/2014/main" id="{41AA6420-B52C-427E-A04E-C110883465E1}"/>
              </a:ext>
            </a:extLst>
          </p:cNvPr>
          <p:cNvSpPr>
            <a:spLocks xmlns:a="http://schemas.openxmlformats.org/drawingml/2006/main" noGrp="1"/>
          </p:cNvSpPr>
          <p:nvPr/>
        </p:nvSpPr>
        <p:spPr>
          <a:xfrm xmlns:a="http://schemas.openxmlformats.org/drawingml/2006/main">
            <a:off x="8915400" y="4324350"/>
            <a:ext cx="2533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p = p₀ exp(ℓ) &gt; 0</a:t>
            </a:r>
          </a:p>
        </p:txBody>
      </p:sp>
      <p:sp>
        <p:nvSpPr>
          <p:cNvPr id="40" name="">
            <a:extLst xmlns:a="http://schemas.openxmlformats.org/drawingml/2006/main">
              <a:ext uri="{FF2B5EF4-FFF2-40B4-BE49-F238E27FC236}">
                <a16:creationId xmlns:a16="http://schemas.microsoft.com/office/drawing/2014/main" id="{20F0EAF9-9B1D-470A-8F3F-5D18DB7343E7}"/>
              </a:ext>
            </a:extLst>
          </p:cNvPr>
          <p:cNvSpPr>
            <a:spLocks xmlns:a="http://schemas.openxmlformats.org/drawingml/2006/main" noGrp="1"/>
          </p:cNvSpPr>
          <p:nvPr/>
        </p:nvSpPr>
        <p:spPr>
          <a:xfrm xmlns:a="http://schemas.openxmlformats.org/drawingml/2006/main">
            <a:off x="7981950" y="4629150"/>
            <a:ext cx="34671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負の熱容量・負のconductanceを排除</a:t>
            </a:r>
          </a:p>
        </p:txBody>
      </p:sp>
      <p:sp>
        <p:nvSpPr>
          <p:cNvPr id="41" name="">
            <a:extLst xmlns:a="http://schemas.openxmlformats.org/drawingml/2006/main">
              <a:ext uri="{FF2B5EF4-FFF2-40B4-BE49-F238E27FC236}">
                <a16:creationId xmlns:a16="http://schemas.microsoft.com/office/drawing/2014/main" id="{5C82D366-D0D6-4C89-9660-CD55433167E9}"/>
              </a:ext>
            </a:extLst>
          </p:cNvPr>
          <p:cNvSpPr>
            <a:spLocks xmlns:a="http://schemas.openxmlformats.org/drawingml/2006/main" noGrp="1"/>
          </p:cNvSpPr>
          <p:nvPr/>
        </p:nvSpPr>
        <p:spPr>
          <a:xfrm xmlns:a="http://schemas.openxmlformats.org/drawingml/2006/main">
            <a:off x="552450" y="5391150"/>
            <a:ext cx="11087100" cy="857250"/>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42" name="">
            <a:extLst xmlns:a="http://schemas.openxmlformats.org/drawingml/2006/main">
              <a:ext uri="{FF2B5EF4-FFF2-40B4-BE49-F238E27FC236}">
                <a16:creationId xmlns:a16="http://schemas.microsoft.com/office/drawing/2014/main" id="{7626B3DE-AA2E-4F79-A04C-90A384971EDC}"/>
              </a:ext>
            </a:extLst>
          </p:cNvPr>
          <p:cNvSpPr>
            <a:spLocks xmlns:a="http://schemas.openxmlformats.org/drawingml/2006/main" noGrp="1"/>
          </p:cNvSpPr>
          <p:nvPr/>
        </p:nvSpPr>
        <p:spPr>
          <a:xfrm xmlns:a="http://schemas.openxmlformats.org/drawingml/2006/main">
            <a:off x="742950" y="55245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007FA8"/>
                </a:solidFill>
                <a:latin typeface="Yu Gothic"/>
                <a:ea typeface="Yu Gothic"/>
                <a:cs typeface="Yu Gothic"/>
              </a:defRPr>
            </a:pPr>
            <a:r>
              <a:rPr sz="1050" b="1" i="0">
                <a:solidFill>
                  <a:srgbClr val="007FA8"/>
                </a:solidFill>
                <a:latin typeface="Yu Gothic"/>
                <a:ea typeface="Yu Gothic"/>
                <a:cs typeface="Yu Gothic"/>
              </a:rPr>
              <a:t>集中定数化の妥当性</a:t>
            </a:r>
          </a:p>
        </p:txBody>
      </p:sp>
      <p:sp>
        <p:nvSpPr>
          <p:cNvPr id="43" name="">
            <a:extLst xmlns:a="http://schemas.openxmlformats.org/drawingml/2006/main">
              <a:ext uri="{FF2B5EF4-FFF2-40B4-BE49-F238E27FC236}">
                <a16:creationId xmlns:a16="http://schemas.microsoft.com/office/drawing/2014/main" id="{0C01A039-922A-44D9-914C-90823A0758F8}"/>
              </a:ext>
            </a:extLst>
          </p:cNvPr>
          <p:cNvSpPr>
            <a:spLocks xmlns:a="http://schemas.openxmlformats.org/drawingml/2006/main" noGrp="1"/>
          </p:cNvSpPr>
          <p:nvPr/>
        </p:nvSpPr>
        <p:spPr>
          <a:xfrm xmlns:a="http://schemas.openxmlformats.org/drawingml/2006/main">
            <a:off x="2686050" y="5495925"/>
            <a:ext cx="2095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Bi = hLᶜ/k ≪ 0.1</a:t>
            </a:r>
          </a:p>
        </p:txBody>
      </p:sp>
      <p:sp>
        <p:nvSpPr>
          <p:cNvPr id="44" name="">
            <a:extLst xmlns:a="http://schemas.openxmlformats.org/drawingml/2006/main">
              <a:ext uri="{FF2B5EF4-FFF2-40B4-BE49-F238E27FC236}">
                <a16:creationId xmlns:a16="http://schemas.microsoft.com/office/drawing/2014/main" id="{523ACF4C-0FDC-483F-BA9A-7DDBB09E0F88}"/>
              </a:ext>
            </a:extLst>
          </p:cNvPr>
          <p:cNvSpPr>
            <a:spLocks xmlns:a="http://schemas.openxmlformats.org/drawingml/2006/main" noGrp="1"/>
          </p:cNvSpPr>
          <p:nvPr/>
        </p:nvSpPr>
        <p:spPr>
          <a:xfrm xmlns:a="http://schemas.openxmlformats.org/drawingml/2006/main">
            <a:off x="4905375" y="5505450"/>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を目安に各node内の温度一様性を確認。成立しない領域はnode分割、局所CAE、hotspot marginで補う。</a:t>
            </a:r>
          </a:p>
        </p:txBody>
      </p:sp>
      <p:sp>
        <p:nvSpPr>
          <p:cNvPr id="45" name="">
            <a:extLst xmlns:a="http://schemas.openxmlformats.org/drawingml/2006/main">
              <a:ext uri="{FF2B5EF4-FFF2-40B4-BE49-F238E27FC236}">
                <a16:creationId xmlns:a16="http://schemas.microsoft.com/office/drawing/2014/main" id="{FE0B14A7-3262-45E8-BDBB-633DEEF89F4C}"/>
              </a:ext>
            </a:extLst>
          </p:cNvPr>
          <p:cNvSpPr>
            <a:spLocks xmlns:a="http://schemas.openxmlformats.org/drawingml/2006/main" noGrp="1"/>
          </p:cNvSpPr>
          <p:nvPr/>
        </p:nvSpPr>
        <p:spPr>
          <a:xfrm xmlns:a="http://schemas.openxmlformats.org/drawingml/2006/main">
            <a:off x="742950" y="586740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実運用では energy residual  r_E = CΔT/Δt − (−LT + b) も監視し、入力欠落・単位不整合を検出する。</a:t>
            </a:r>
          </a:p>
        </p:txBody>
      </p:sp>
    </p:spTree>
    <p:extLst>
      <p:ext uri="{BB962C8B-B14F-4D97-AF65-F5344CB8AC3E}">
        <p14:creationId xmlns:p14="http://schemas.microsoft.com/office/powerpoint/2010/main" val="109363257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91EC771-7A6E-40B6-82F6-4E7C1E15E7C7}"/>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87EF43-A874-4D52-93DE-4B90F27B06EB}"/>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THERMAL MODEL</a:t>
            </a:r>
          </a:p>
        </p:txBody>
      </p:sp>
      <p:sp>
        <p:nvSpPr>
          <p:cNvPr id="3" name="">
            <a:extLst xmlns:a="http://schemas.openxmlformats.org/drawingml/2006/main">
              <a:ext uri="{FF2B5EF4-FFF2-40B4-BE49-F238E27FC236}">
                <a16:creationId xmlns:a16="http://schemas.microsoft.com/office/drawing/2014/main" id="{0B36B5A7-0B19-4979-B4CD-60504CE6A7E1}"/>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6853"/>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熱経路をscalar lawとして共通化し、edge・source・boundaryへ同じ非負応答を配置する</a:t>
            </a:r>
          </a:p>
        </p:txBody>
      </p:sp>
      <p:sp>
        <p:nvSpPr>
          <p:cNvPr id="4" name="">
            <a:extLst xmlns:a="http://schemas.openxmlformats.org/drawingml/2006/main">
              <a:ext uri="{FF2B5EF4-FFF2-40B4-BE49-F238E27FC236}">
                <a16:creationId xmlns:a16="http://schemas.microsoft.com/office/drawing/2014/main" id="{06B35E13-C687-413B-9D4F-CCED7A0FC954}"/>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装置部品名をcoreへ埋め込まず、入力依存性と物理単位をsystem.yamlで定義する</a:t>
            </a:r>
          </a:p>
        </p:txBody>
      </p:sp>
      <p:sp>
        <p:nvSpPr>
          <p:cNvPr id="5" name="">
            <a:extLst xmlns:a="http://schemas.openxmlformats.org/drawingml/2006/main">
              <a:ext uri="{FF2B5EF4-FFF2-40B4-BE49-F238E27FC236}">
                <a16:creationId xmlns:a16="http://schemas.microsoft.com/office/drawing/2014/main" id="{AE7753DD-AE82-4697-8440-43626B7824A0}"/>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EA2C54FA-0ED9-4B81-9340-264A2379BEA1}"/>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2F62085-2FC0-4117-BCB7-6E56556F1E75}"/>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6DBBFB07-09DD-47AD-B984-E685CAA2A1B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11</a:t>
            </a:r>
          </a:p>
        </p:txBody>
      </p:sp>
      <p:graphicFrame>
        <p:nvGraphicFramePr>
          <p:cNvPr id="40" name=""/>
          <p:cNvGraphicFramePr/>
          <p:nvPr/>
        </p:nvGraphicFramePr>
        <p:xfrm>
          <a:off xmlns:a="http://schemas.openxmlformats.org/drawingml/2006/main" x="552450" y="1457325"/>
          <a:ext xmlns:a="http://schemas.openxmlformats.org/drawingml/2006/main" cx="11087100" cy="2647950"/>
        </p:xfrm>
        <a:graphic xmlns:a="http://schemas.openxmlformats.org/drawingml/2006/main">
          <a:graphicData uri="http://schemas.openxmlformats.org/drawingml/2006/table">
            <a:tbl>
              <a:tblPr/>
              <a:tblGrid>
                <a:gridCol w="1638300"/>
                <a:gridCol w="2781300"/>
                <a:gridCol w="2457450"/>
                <a:gridCol w="1981200"/>
                <a:gridCol w="2228850"/>
              </a:tblGrid>
              <a:tr h="529590">
                <a:tc>
                  <a:txBody>
                    <a:bodyPr/>
                    <a:lstStyle/>
                    <a:p>
                      <a:r>
                        <a:rPr sz="938" b="1">
                          <a:solidFill>
                            <a:srgbClr val="FFFFFF"/>
                          </a:solidFill>
                          <a:latin typeface="Yu Gothic"/>
                          <a:ea typeface="Yu Gothic"/>
                          <a:cs typeface="Yu Gothic"/>
                        </a:rPr>
                        <a:t>要素</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構成式</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主な用途</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学習対象</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数値解法上の条件</a:t>
                      </a:r>
                    </a:p>
                  </a:txBody>
                  <a:tcPr marL="91440" marR="91440" marT="45720" marB="45720">
                    <a:solidFill>
                      <a:srgbClr val="007FA8"/>
                    </a:solidFill>
                  </a:tcPr>
                </a:tc>
              </a:tr>
              <a:tr h="529590">
                <a:tc>
                  <a:txBody>
                    <a:bodyPr/>
                    <a:lstStyle/>
                    <a:p>
                      <a:r>
                        <a:rPr sz="840" b="1">
                          <a:solidFill>
                            <a:srgbClr val="007FA8"/>
                          </a:solidFill>
                          <a:latin typeface="Yu Gothic"/>
                          <a:ea typeface="Yu Gothic"/>
                          <a:cs typeface="Yu Gothic"/>
                        </a:rPr>
                        <a:t>constant</a:t>
                      </a:r>
                    </a:p>
                  </a:txBody>
                  <a:tcPr marL="91440" marR="91440" marT="45720" marB="45720">
                    <a:solidFill>
                      <a:srgbClr val="FFFFFF"/>
                    </a:solidFill>
                  </a:tcPr>
                </a:tc>
                <a:tc>
                  <a:txBody>
                    <a:bodyPr/>
                    <a:lstStyle/>
                    <a:p>
                      <a:r>
                        <a:rPr sz="840">
                          <a:solidFill>
                            <a:srgbClr val="5B5B5B"/>
                          </a:solidFill>
                          <a:latin typeface="Yu Gothic"/>
                          <a:ea typeface="Yu Gothic"/>
                          <a:cs typeface="Yu Gothic"/>
                        </a:rPr>
                        <a:t>λ(u)=β</a:t>
                      </a:r>
                    </a:p>
                  </a:txBody>
                  <a:tcPr marL="91440" marR="91440" marT="45720" marB="45720">
                    <a:solidFill>
                      <a:srgbClr val="FFFFFF"/>
                    </a:solidFill>
                  </a:tcPr>
                </a:tc>
                <a:tc>
                  <a:txBody>
                    <a:bodyPr/>
                    <a:lstStyle/>
                    <a:p>
                      <a:r>
                        <a:rPr sz="840">
                          <a:solidFill>
                            <a:srgbClr val="5B5B5B"/>
                          </a:solidFill>
                          <a:latin typeface="Yu Gothic"/>
                          <a:ea typeface="Yu Gothic"/>
                          <a:cs typeface="Yu Gothic"/>
                        </a:rPr>
                        <a:t>固定G [W/K] / 固定q [W]</a:t>
                      </a:r>
                    </a:p>
                  </a:txBody>
                  <a:tcPr marL="91440" marR="91440" marT="45720" marB="45720">
                    <a:solidFill>
                      <a:srgbClr val="FFFFFF"/>
                    </a:solidFill>
                  </a:tcPr>
                </a:tc>
                <a:tc>
                  <a:txBody>
                    <a:bodyPr/>
                    <a:lstStyle/>
                    <a:p>
                      <a:r>
                        <a:rPr sz="840">
                          <a:solidFill>
                            <a:srgbClr val="5B5B5B"/>
                          </a:solidFill>
                          <a:latin typeface="Yu Gothic"/>
                          <a:ea typeface="Yu Gothic"/>
                          <a:cs typeface="Yu Gothic"/>
                        </a:rPr>
                        <a:t>β（任意）</a:t>
                      </a:r>
                    </a:p>
                  </a:txBody>
                  <a:tcPr marL="91440" marR="91440" marT="45720" marB="45720">
                    <a:solidFill>
                      <a:srgbClr val="FFFFFF"/>
                    </a:solidFill>
                  </a:tcPr>
                </a:tc>
                <a:tc>
                  <a:txBody>
                    <a:bodyPr/>
                    <a:lstStyle/>
                    <a:p>
                      <a:r>
                        <a:rPr sz="840">
                          <a:solidFill>
                            <a:srgbClr val="5B5B5B"/>
                          </a:solidFill>
                          <a:latin typeface="Yu Gothic"/>
                          <a:ea typeface="Yu Gothic"/>
                          <a:cs typeface="Yu Gothic"/>
                        </a:rPr>
                        <a:t>exact / implicit</a:t>
                      </a:r>
                    </a:p>
                  </a:txBody>
                  <a:tcPr marL="91440" marR="91440" marT="45720" marB="45720">
                    <a:solidFill>
                      <a:srgbClr val="FFFFFF"/>
                    </a:solidFill>
                  </a:tcPr>
                </a:tc>
              </a:tr>
              <a:tr h="529590">
                <a:tc>
                  <a:txBody>
                    <a:bodyPr/>
                    <a:lstStyle/>
                    <a:p>
                      <a:r>
                        <a:rPr sz="840" b="1">
                          <a:solidFill>
                            <a:srgbClr val="4D8710"/>
                          </a:solidFill>
                          <a:latin typeface="Yu Gothic"/>
                          <a:ea typeface="Yu Gothic"/>
                          <a:cs typeface="Yu Gothic"/>
                        </a:rPr>
                        <a:t>positive_part</a:t>
                      </a:r>
                    </a:p>
                  </a:txBody>
                  <a:tcPr marL="91440" marR="91440" marT="45720" marB="45720">
                    <a:solidFill>
                      <a:srgbClr val="F8F8F8"/>
                    </a:solidFill>
                  </a:tcPr>
                </a:tc>
                <a:tc>
                  <a:txBody>
                    <a:bodyPr/>
                    <a:lstStyle/>
                    <a:p>
                      <a:r>
                        <a:rPr sz="840">
                          <a:solidFill>
                            <a:srgbClr val="5B5B5B"/>
                          </a:solidFill>
                          <a:latin typeface="Yu Gothic"/>
                          <a:ea typeface="Yu Gothic"/>
                          <a:cs typeface="Yu Gothic"/>
                        </a:rPr>
                        <a:t>λ(u)=κ max(u−uₜₕ,0)</a:t>
                      </a:r>
                    </a:p>
                  </a:txBody>
                  <a:tcPr marL="91440" marR="91440" marT="45720" marB="45720">
                    <a:solidFill>
                      <a:srgbClr val="F8F8F8"/>
                    </a:solidFill>
                  </a:tcPr>
                </a:tc>
                <a:tc>
                  <a:txBody>
                    <a:bodyPr/>
                    <a:lstStyle/>
                    <a:p>
                      <a:r>
                        <a:rPr sz="840">
                          <a:solidFill>
                            <a:srgbClr val="5B5B5B"/>
                          </a:solidFill>
                          <a:latin typeface="Yu Gothic"/>
                          <a:ea typeface="Yu Gothic"/>
                          <a:cs typeface="Yu Gothic"/>
                        </a:rPr>
                        <a:t>heater・plasmaのdead band</a:t>
                      </a:r>
                    </a:p>
                  </a:txBody>
                  <a:tcPr marL="91440" marR="91440" marT="45720" marB="45720">
                    <a:solidFill>
                      <a:srgbClr val="F8F8F8"/>
                    </a:solidFill>
                  </a:tcPr>
                </a:tc>
                <a:tc>
                  <a:txBody>
                    <a:bodyPr/>
                    <a:lstStyle/>
                    <a:p>
                      <a:r>
                        <a:rPr sz="840">
                          <a:solidFill>
                            <a:srgbClr val="5B5B5B"/>
                          </a:solidFill>
                          <a:latin typeface="Yu Gothic"/>
                          <a:ea typeface="Yu Gothic"/>
                          <a:cs typeface="Yu Gothic"/>
                        </a:rPr>
                        <a:t>κ；uₜₕは固定</a:t>
                      </a:r>
                    </a:p>
                  </a:txBody>
                  <a:tcPr marL="91440" marR="91440" marT="45720" marB="45720">
                    <a:solidFill>
                      <a:srgbClr val="F8F8F8"/>
                    </a:solidFill>
                  </a:tcPr>
                </a:tc>
                <a:tc>
                  <a:txBody>
                    <a:bodyPr/>
                    <a:lstStyle/>
                    <a:p>
                      <a:r>
                        <a:rPr sz="840">
                          <a:solidFill>
                            <a:srgbClr val="5B5B5B"/>
                          </a:solidFill>
                          <a:latin typeface="Yu Gothic"/>
                          <a:ea typeface="Yu Gothic"/>
                          <a:cs typeface="Yu Gothic"/>
                        </a:rPr>
                        <a:t>lag付きsourceでもthreshold crossing分割</a:t>
                      </a:r>
                    </a:p>
                  </a:txBody>
                  <a:tcPr marL="91440" marR="91440" marT="45720" marB="45720">
                    <a:solidFill>
                      <a:srgbClr val="F8F8F8"/>
                    </a:solidFill>
                  </a:tcPr>
                </a:tc>
              </a:tr>
              <a:tr h="529590">
                <a:tc>
                  <a:txBody>
                    <a:bodyPr/>
                    <a:lstStyle/>
                    <a:p>
                      <a:r>
                        <a:rPr sz="840" b="1">
                          <a:solidFill>
                            <a:srgbClr val="7B2DAF"/>
                          </a:solidFill>
                          <a:latin typeface="Yu Gothic"/>
                          <a:ea typeface="Yu Gothic"/>
                          <a:cs typeface="Yu Gothic"/>
                        </a:rPr>
                        <a:t>power_law</a:t>
                      </a:r>
                    </a:p>
                  </a:txBody>
                  <a:tcPr marL="91440" marR="91440" marT="45720" marB="45720">
                    <a:solidFill>
                      <a:srgbClr val="FFFFFF"/>
                    </a:solidFill>
                  </a:tcPr>
                </a:tc>
                <a:tc>
                  <a:txBody>
                    <a:bodyPr/>
                    <a:lstStyle/>
                    <a:p>
                      <a:r>
                        <a:rPr sz="840">
                          <a:solidFill>
                            <a:srgbClr val="5B5B5B"/>
                          </a:solidFill>
                          <a:latin typeface="Yu Gothic"/>
                          <a:ea typeface="Yu Gothic"/>
                          <a:cs typeface="Yu Gothic"/>
                        </a:rPr>
                        <a:t>λ(u)=β+κ(max(u,0)/uᵣ)ⁿ</a:t>
                      </a:r>
                    </a:p>
                  </a:txBody>
                  <a:tcPr marL="91440" marR="91440" marT="45720" marB="45720">
                    <a:solidFill>
                      <a:srgbClr val="FFFFFF"/>
                    </a:solidFill>
                  </a:tcPr>
                </a:tc>
                <a:tc>
                  <a:txBody>
                    <a:bodyPr/>
                    <a:lstStyle/>
                    <a:p>
                      <a:r>
                        <a:rPr sz="840">
                          <a:solidFill>
                            <a:srgbClr val="5B5B5B"/>
                          </a:solidFill>
                          <a:latin typeface="Yu Gothic"/>
                          <a:ea typeface="Yu Gothic"/>
                          <a:cs typeface="Yu Gothic"/>
                        </a:rPr>
                        <a:t>流量・電力に対する非線形応答</a:t>
                      </a:r>
                    </a:p>
                  </a:txBody>
                  <a:tcPr marL="91440" marR="91440" marT="45720" marB="45720">
                    <a:solidFill>
                      <a:srgbClr val="FFFFFF"/>
                    </a:solidFill>
                  </a:tcPr>
                </a:tc>
                <a:tc>
                  <a:txBody>
                    <a:bodyPr/>
                    <a:lstStyle/>
                    <a:p>
                      <a:r>
                        <a:rPr sz="840">
                          <a:solidFill>
                            <a:srgbClr val="5B5B5B"/>
                          </a:solidFill>
                          <a:latin typeface="Yu Gothic"/>
                          <a:ea typeface="Yu Gothic"/>
                          <a:cs typeface="Yu Gothic"/>
                        </a:rPr>
                        <a:t>β, κ, nを個別指定</a:t>
                      </a:r>
                    </a:p>
                  </a:txBody>
                  <a:tcPr marL="91440" marR="91440" marT="45720" marB="45720">
                    <a:solidFill>
                      <a:srgbClr val="FFFFFF"/>
                    </a:solidFill>
                  </a:tcPr>
                </a:tc>
                <a:tc>
                  <a:txBody>
                    <a:bodyPr/>
                    <a:lstStyle/>
                    <a:p>
                      <a:r>
                        <a:rPr sz="840">
                          <a:solidFill>
                            <a:srgbClr val="5B5B5B"/>
                          </a:solidFill>
                          <a:latin typeface="Yu Gothic"/>
                          <a:ea typeface="Yu Gothic"/>
                          <a:cs typeface="Yu Gothic"/>
                        </a:rPr>
                        <a:t>lagged coefficientはimplicit</a:t>
                      </a:r>
                    </a:p>
                  </a:txBody>
                  <a:tcPr marL="91440" marR="91440" marT="45720" marB="45720">
                    <a:solidFill>
                      <a:srgbClr val="FFFFFF"/>
                    </a:solidFill>
                  </a:tcPr>
                </a:tc>
              </a:tr>
              <a:tr h="529590">
                <a:tc>
                  <a:txBody>
                    <a:bodyPr/>
                    <a:lstStyle/>
                    <a:p>
                      <a:r>
                        <a:rPr sz="840" b="1">
                          <a:solidFill>
                            <a:srgbClr val="E5A900"/>
                          </a:solidFill>
                          <a:latin typeface="Yu Gothic"/>
                          <a:ea typeface="Yu Gothic"/>
                          <a:cs typeface="Yu Gothic"/>
                        </a:rPr>
                        <a:t>actuator lag</a:t>
                      </a:r>
                    </a:p>
                  </a:txBody>
                  <a:tcPr marL="91440" marR="91440" marT="45720" marB="45720">
                    <a:solidFill>
                      <a:srgbClr val="F8F8F8"/>
                    </a:solidFill>
                  </a:tcPr>
                </a:tc>
                <a:tc>
                  <a:txBody>
                    <a:bodyPr/>
                    <a:lstStyle/>
                    <a:p>
                      <a:r>
                        <a:rPr sz="840">
                          <a:solidFill>
                            <a:srgbClr val="5B5B5B"/>
                          </a:solidFill>
                          <a:latin typeface="Yu Gothic"/>
                          <a:ea typeface="Yu Gothic"/>
                          <a:cs typeface="Yu Gothic"/>
                        </a:rPr>
                        <a:t>τ da/dt=u−a</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commandと実効熱入力の遅れ</a:t>
                      </a:r>
                    </a:p>
                  </a:txBody>
                  <a:tcPr marL="91440" marR="91440" marT="45720" marB="45720">
                    <a:solidFill>
                      <a:srgbClr val="F8F8F8"/>
                    </a:solidFill>
                  </a:tcPr>
                </a:tc>
                <a:tc>
                  <a:txBody>
                    <a:bodyPr/>
                    <a:lstStyle/>
                    <a:p>
                      <a:r>
                        <a:rPr sz="840">
                          <a:solidFill>
                            <a:srgbClr val="5B5B5B"/>
                          </a:solidFill>
                          <a:latin typeface="Yu Gothic"/>
                          <a:ea typeface="Yu Gothic"/>
                          <a:cs typeface="Yu Gothic"/>
                        </a:rPr>
                        <a:t>τ（正のprior倍率）</a:t>
                      </a:r>
                    </a:p>
                  </a:txBody>
                  <a:tcPr marL="91440" marR="91440" marT="45720" marB="45720">
                    <a:solidFill>
                      <a:srgbClr val="F8F8F8"/>
                    </a:solidFill>
                  </a:tcPr>
                </a:tc>
                <a:tc>
                  <a:txBody>
                    <a:bodyPr/>
                    <a:lstStyle/>
                    <a:p>
                      <a:r>
                        <a:rPr sz="840">
                          <a:solidFill>
                            <a:srgbClr val="5B5B5B"/>
                          </a:solidFill>
                          <a:latin typeface="Yu Gothic"/>
                          <a:ea typeface="Yu Gothic"/>
                          <a:cs typeface="Yu Gothic"/>
                        </a:rPr>
                        <a:t>区間内は解析解</a:t>
                      </a:r>
                    </a:p>
                  </a:txBody>
                  <a:tcPr marL="91440" marR="91440" marT="45720" marB="45720">
                    <a:solidFill>
                      <a:srgbClr val="F8F8F8"/>
                    </a:solidFill>
                  </a:tcPr>
                </a:tc>
              </a:tr>
            </a:tbl>
          </a:graphicData>
        </a:graphic>
      </p:graphicFrame>
      <p:sp>
        <p:nvSpPr>
          <p:cNvPr id="10" name="">
            <a:extLst xmlns:a="http://schemas.openxmlformats.org/drawingml/2006/main">
              <a:ext uri="{FF2B5EF4-FFF2-40B4-BE49-F238E27FC236}">
                <a16:creationId xmlns:a16="http://schemas.microsoft.com/office/drawing/2014/main" id="{4CE0F04F-AF63-4677-B4A3-9DFC1D7F636C}"/>
              </a:ext>
            </a:extLst>
          </p:cNvPr>
          <p:cNvSpPr>
            <a:spLocks xmlns:a="http://schemas.openxmlformats.org/drawingml/2006/main" noGrp="1"/>
          </p:cNvSpPr>
          <p:nvPr/>
        </p:nvSpPr>
        <p:spPr>
          <a:xfrm xmlns:a="http://schemas.openxmlformats.org/drawingml/2006/main">
            <a:off x="552450" y="4324350"/>
            <a:ext cx="1524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model assembly</a:t>
            </a:r>
          </a:p>
        </p:txBody>
      </p:sp>
      <p:sp>
        <p:nvSpPr>
          <p:cNvPr id="11" name="">
            <a:extLst xmlns:a="http://schemas.openxmlformats.org/drawingml/2006/main">
              <a:ext uri="{FF2B5EF4-FFF2-40B4-BE49-F238E27FC236}">
                <a16:creationId xmlns:a16="http://schemas.microsoft.com/office/drawing/2014/main" id="{D616F71C-AB02-422B-880D-E61AD6C5C301}"/>
              </a:ext>
            </a:extLst>
          </p:cNvPr>
          <p:cNvSpPr>
            <a:spLocks xmlns:a="http://schemas.openxmlformats.org/drawingml/2006/main" noGrp="1"/>
          </p:cNvSpPr>
          <p:nvPr/>
        </p:nvSpPr>
        <p:spPr>
          <a:xfrm xmlns:a="http://schemas.openxmlformats.org/drawingml/2006/main">
            <a:off x="552450" y="4733925"/>
            <a:ext cx="1866900" cy="9429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2" name="">
            <a:extLst xmlns:a="http://schemas.openxmlformats.org/drawingml/2006/main">
              <a:ext uri="{FF2B5EF4-FFF2-40B4-BE49-F238E27FC236}">
                <a16:creationId xmlns:a16="http://schemas.microsoft.com/office/drawing/2014/main" id="{F92B723C-0E26-426D-8B80-A3C4A2D4AC8D}"/>
              </a:ext>
            </a:extLst>
          </p:cNvPr>
          <p:cNvSpPr>
            <a:spLocks xmlns:a="http://schemas.openxmlformats.org/drawingml/2006/main" noGrp="1"/>
          </p:cNvSpPr>
          <p:nvPr/>
        </p:nvSpPr>
        <p:spPr>
          <a:xfrm xmlns:a="http://schemas.openxmlformats.org/drawingml/2006/main">
            <a:off x="71437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3F3F3F"/>
                </a:solidFill>
                <a:latin typeface="Cambria Math"/>
                <a:ea typeface="Cambria Math"/>
                <a:cs typeface="Cambria Math"/>
              </a:defRPr>
            </a:pPr>
            <a:r>
              <a:rPr sz="1200" b="1" i="0">
                <a:solidFill>
                  <a:srgbClr val="3F3F3F"/>
                </a:solidFill>
                <a:latin typeface="Cambria Math"/>
                <a:ea typeface="Cambria Math"/>
                <a:cs typeface="Cambria Math"/>
              </a:rPr>
              <a:t>command u(t)</a:t>
            </a:r>
          </a:p>
        </p:txBody>
      </p:sp>
      <p:sp>
        <p:nvSpPr>
          <p:cNvPr id="13" name="">
            <a:extLst xmlns:a="http://schemas.openxmlformats.org/drawingml/2006/main">
              <a:ext uri="{FF2B5EF4-FFF2-40B4-BE49-F238E27FC236}">
                <a16:creationId xmlns:a16="http://schemas.microsoft.com/office/drawing/2014/main" id="{C6097255-7F91-440B-9DBA-C89DA6779DC0}"/>
              </a:ext>
            </a:extLst>
          </p:cNvPr>
          <p:cNvSpPr>
            <a:spLocks xmlns:a="http://schemas.openxmlformats.org/drawingml/2006/main" noGrp="1"/>
          </p:cNvSpPr>
          <p:nvPr/>
        </p:nvSpPr>
        <p:spPr>
          <a:xfrm xmlns:a="http://schemas.openxmlformats.org/drawingml/2006/main">
            <a:off x="7143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777777"/>
                </a:solidFill>
                <a:latin typeface="Yu Gothic"/>
                <a:ea typeface="Yu Gothic"/>
                <a:cs typeface="Yu Gothic"/>
              </a:defRPr>
            </a:pPr>
            <a:r>
              <a:rPr sz="810" b="0" i="0">
                <a:solidFill>
                  <a:srgbClr val="777777"/>
                </a:solidFill>
                <a:latin typeface="Yu Gothic"/>
                <a:ea typeface="Yu Gothic"/>
                <a:cs typeface="Yu Gothic"/>
              </a:rPr>
              <a:t>left ZOH / variable Δt</a:t>
            </a:r>
          </a:p>
        </p:txBody>
      </p:sp>
      <p:sp>
        <p:nvSpPr>
          <p:cNvPr id="14" name="">
            <a:extLst xmlns:a="http://schemas.openxmlformats.org/drawingml/2006/main">
              <a:ext uri="{FF2B5EF4-FFF2-40B4-BE49-F238E27FC236}">
                <a16:creationId xmlns:a16="http://schemas.microsoft.com/office/drawing/2014/main" id="{E459D0F4-F568-4B7E-9064-A88E8024E65E}"/>
              </a:ext>
            </a:extLst>
          </p:cNvPr>
          <p:cNvSpPr>
            <a:spLocks xmlns:a="http://schemas.openxmlformats.org/drawingml/2006/main" noGrp="1"/>
          </p:cNvSpPr>
          <p:nvPr/>
        </p:nvSpPr>
        <p:spPr>
          <a:xfrm xmlns:a="http://schemas.openxmlformats.org/drawingml/2006/main">
            <a:off x="2857500" y="4733925"/>
            <a:ext cx="1866900" cy="94297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5" name="">
            <a:extLst xmlns:a="http://schemas.openxmlformats.org/drawingml/2006/main">
              <a:ext uri="{FF2B5EF4-FFF2-40B4-BE49-F238E27FC236}">
                <a16:creationId xmlns:a16="http://schemas.microsoft.com/office/drawing/2014/main" id="{C31D5F70-E826-47FC-A466-8A9CD8392353}"/>
              </a:ext>
            </a:extLst>
          </p:cNvPr>
          <p:cNvSpPr>
            <a:spLocks xmlns:a="http://schemas.openxmlformats.org/drawingml/2006/main" noGrp="1"/>
          </p:cNvSpPr>
          <p:nvPr/>
        </p:nvSpPr>
        <p:spPr>
          <a:xfrm xmlns:a="http://schemas.openxmlformats.org/drawingml/2006/main">
            <a:off x="301942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806000"/>
                </a:solidFill>
                <a:latin typeface="Cambria Math"/>
                <a:ea typeface="Cambria Math"/>
                <a:cs typeface="Cambria Math"/>
              </a:defRPr>
            </a:pPr>
            <a:r>
              <a:rPr sz="1200" b="1" i="0">
                <a:solidFill>
                  <a:srgbClr val="806000"/>
                </a:solidFill>
                <a:latin typeface="Cambria Math"/>
                <a:ea typeface="Cambria Math"/>
                <a:cs typeface="Cambria Math"/>
              </a:rPr>
              <a:t>actuator a(t)</a:t>
            </a:r>
          </a:p>
        </p:txBody>
      </p:sp>
      <p:sp>
        <p:nvSpPr>
          <p:cNvPr id="16" name="">
            <a:extLst xmlns:a="http://schemas.openxmlformats.org/drawingml/2006/main">
              <a:ext uri="{FF2B5EF4-FFF2-40B4-BE49-F238E27FC236}">
                <a16:creationId xmlns:a16="http://schemas.microsoft.com/office/drawing/2014/main" id="{DEE8F633-D413-40E3-873F-B690E5BB558A}"/>
              </a:ext>
            </a:extLst>
          </p:cNvPr>
          <p:cNvSpPr>
            <a:spLocks xmlns:a="http://schemas.openxmlformats.org/drawingml/2006/main" noGrp="1"/>
          </p:cNvSpPr>
          <p:nvPr/>
        </p:nvSpPr>
        <p:spPr>
          <a:xfrm xmlns:a="http://schemas.openxmlformats.org/drawingml/2006/main">
            <a:off x="301942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τ=0 direct / τ&gt;0 lag</a:t>
            </a:r>
          </a:p>
        </p:txBody>
      </p:sp>
      <p:sp>
        <p:nvSpPr>
          <p:cNvPr id="17" name="">
            <a:extLst xmlns:a="http://schemas.openxmlformats.org/drawingml/2006/main">
              <a:ext uri="{FF2B5EF4-FFF2-40B4-BE49-F238E27FC236}">
                <a16:creationId xmlns:a16="http://schemas.microsoft.com/office/drawing/2014/main" id="{B5A3FFCE-B853-4025-81AF-5D4E7289F406}"/>
              </a:ext>
            </a:extLst>
          </p:cNvPr>
          <p:cNvSpPr>
            <a:spLocks xmlns:a="http://schemas.openxmlformats.org/drawingml/2006/main" noGrp="1"/>
          </p:cNvSpPr>
          <p:nvPr/>
        </p:nvSpPr>
        <p:spPr>
          <a:xfrm xmlns:a="http://schemas.openxmlformats.org/drawingml/2006/main">
            <a:off x="5162550" y="4733925"/>
            <a:ext cx="1866900" cy="94297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8" name="">
            <a:extLst xmlns:a="http://schemas.openxmlformats.org/drawingml/2006/main">
              <a:ext uri="{FF2B5EF4-FFF2-40B4-BE49-F238E27FC236}">
                <a16:creationId xmlns:a16="http://schemas.microsoft.com/office/drawing/2014/main" id="{830A99A2-373C-4763-9031-05C0D159E7BE}"/>
              </a:ext>
            </a:extLst>
          </p:cNvPr>
          <p:cNvSpPr>
            <a:spLocks xmlns:a="http://schemas.openxmlformats.org/drawingml/2006/main" noGrp="1"/>
          </p:cNvSpPr>
          <p:nvPr/>
        </p:nvSpPr>
        <p:spPr>
          <a:xfrm xmlns:a="http://schemas.openxmlformats.org/drawingml/2006/main">
            <a:off x="532447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007FA8"/>
                </a:solidFill>
                <a:latin typeface="Cambria Math"/>
                <a:ea typeface="Cambria Math"/>
                <a:cs typeface="Cambria Math"/>
              </a:defRPr>
            </a:pPr>
            <a:r>
              <a:rPr sz="1200" b="1" i="0">
                <a:solidFill>
                  <a:srgbClr val="007FA8"/>
                </a:solidFill>
                <a:latin typeface="Cambria Math"/>
                <a:ea typeface="Cambria Math"/>
                <a:cs typeface="Cambria Math"/>
              </a:rPr>
              <a:t>scalar laws λ(a)</a:t>
            </a:r>
          </a:p>
        </p:txBody>
      </p:sp>
      <p:sp>
        <p:nvSpPr>
          <p:cNvPr id="19" name="">
            <a:extLst xmlns:a="http://schemas.openxmlformats.org/drawingml/2006/main">
              <a:ext uri="{FF2B5EF4-FFF2-40B4-BE49-F238E27FC236}">
                <a16:creationId xmlns:a16="http://schemas.microsoft.com/office/drawing/2014/main" id="{568F8372-8F16-4693-95F4-207BCF67D6FF}"/>
              </a:ext>
            </a:extLst>
          </p:cNvPr>
          <p:cNvSpPr>
            <a:spLocks xmlns:a="http://schemas.openxmlformats.org/drawingml/2006/main" noGrp="1"/>
          </p:cNvSpPr>
          <p:nvPr/>
        </p:nvSpPr>
        <p:spPr>
          <a:xfrm xmlns:a="http://schemas.openxmlformats.org/drawingml/2006/main">
            <a:off x="53244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edge / source / boundary</a:t>
            </a:r>
          </a:p>
        </p:txBody>
      </p:sp>
      <p:sp>
        <p:nvSpPr>
          <p:cNvPr id="20" name="">
            <a:extLst xmlns:a="http://schemas.openxmlformats.org/drawingml/2006/main">
              <a:ext uri="{FF2B5EF4-FFF2-40B4-BE49-F238E27FC236}">
                <a16:creationId xmlns:a16="http://schemas.microsoft.com/office/drawing/2014/main" id="{23B4C29C-60A7-48EB-82D1-CC847CEAA840}"/>
              </a:ext>
            </a:extLst>
          </p:cNvPr>
          <p:cNvSpPr>
            <a:spLocks xmlns:a="http://schemas.openxmlformats.org/drawingml/2006/main" noGrp="1"/>
          </p:cNvSpPr>
          <p:nvPr/>
        </p:nvSpPr>
        <p:spPr>
          <a:xfrm xmlns:a="http://schemas.openxmlformats.org/drawingml/2006/main">
            <a:off x="7467600" y="4733925"/>
            <a:ext cx="1866900" cy="94297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21" name="">
            <a:extLst xmlns:a="http://schemas.openxmlformats.org/drawingml/2006/main">
              <a:ext uri="{FF2B5EF4-FFF2-40B4-BE49-F238E27FC236}">
                <a16:creationId xmlns:a16="http://schemas.microsoft.com/office/drawing/2014/main" id="{62F092E6-A580-46AC-B1B5-83B0CD979EA3}"/>
              </a:ext>
            </a:extLst>
          </p:cNvPr>
          <p:cNvSpPr>
            <a:spLocks xmlns:a="http://schemas.openxmlformats.org/drawingml/2006/main" noGrp="1"/>
          </p:cNvSpPr>
          <p:nvPr/>
        </p:nvSpPr>
        <p:spPr>
          <a:xfrm xmlns:a="http://schemas.openxmlformats.org/drawingml/2006/main">
            <a:off x="7629525" y="4886325"/>
            <a:ext cx="1543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4D8710"/>
                </a:solidFill>
                <a:latin typeface="Cambria Math"/>
                <a:ea typeface="Cambria Math"/>
                <a:cs typeface="Cambria Math"/>
              </a:defRPr>
            </a:pPr>
            <a:r>
              <a:rPr sz="1275" b="1" i="0">
                <a:solidFill>
                  <a:srgbClr val="4D8710"/>
                </a:solidFill>
                <a:latin typeface="Cambria Math"/>
                <a:ea typeface="Cambria Math"/>
                <a:cs typeface="Cambria Math"/>
              </a:rPr>
              <a:t>A(a), b(a)</a:t>
            </a:r>
          </a:p>
        </p:txBody>
      </p:sp>
      <p:sp>
        <p:nvSpPr>
          <p:cNvPr id="22" name="">
            <a:extLst xmlns:a="http://schemas.openxmlformats.org/drawingml/2006/main">
              <a:ext uri="{FF2B5EF4-FFF2-40B4-BE49-F238E27FC236}">
                <a16:creationId xmlns:a16="http://schemas.microsoft.com/office/drawing/2014/main" id="{3D73CBBA-9548-46E9-A9DC-0B66FDECA2B5}"/>
              </a:ext>
            </a:extLst>
          </p:cNvPr>
          <p:cNvSpPr>
            <a:spLocks xmlns:a="http://schemas.openxmlformats.org/drawingml/2006/main" noGrp="1"/>
          </p:cNvSpPr>
          <p:nvPr/>
        </p:nvSpPr>
        <p:spPr>
          <a:xfrm xmlns:a="http://schemas.openxmlformats.org/drawingml/2006/main">
            <a:off x="762952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C⁻¹L / heat forcing</a:t>
            </a:r>
          </a:p>
        </p:txBody>
      </p:sp>
      <p:sp>
        <p:nvSpPr>
          <p:cNvPr id="23" name="">
            <a:extLst xmlns:a="http://schemas.openxmlformats.org/drawingml/2006/main">
              <a:ext uri="{FF2B5EF4-FFF2-40B4-BE49-F238E27FC236}">
                <a16:creationId xmlns:a16="http://schemas.microsoft.com/office/drawing/2014/main" id="{21D9B685-33E3-43E8-A678-84330C732BE4}"/>
              </a:ext>
            </a:extLst>
          </p:cNvPr>
          <p:cNvSpPr>
            <a:spLocks xmlns:a="http://schemas.openxmlformats.org/drawingml/2006/main" noGrp="1"/>
          </p:cNvSpPr>
          <p:nvPr/>
        </p:nvSpPr>
        <p:spPr>
          <a:xfrm xmlns:a="http://schemas.openxmlformats.org/drawingml/2006/main">
            <a:off x="9772650" y="4733925"/>
            <a:ext cx="1866900" cy="9429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F619F02-5920-43A4-8EBB-5987A58BE941}"/>
              </a:ext>
            </a:extLst>
          </p:cNvPr>
          <p:cNvSpPr>
            <a:spLocks xmlns:a="http://schemas.openxmlformats.org/drawingml/2006/main" noGrp="1"/>
          </p:cNvSpPr>
          <p:nvPr/>
        </p:nvSpPr>
        <p:spPr>
          <a:xfrm xmlns:a="http://schemas.openxmlformats.org/drawingml/2006/main">
            <a:off x="9934575" y="4867275"/>
            <a:ext cx="15430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Tₖ₊₁</a:t>
            </a:r>
          </a:p>
        </p:txBody>
      </p:sp>
      <p:sp>
        <p:nvSpPr>
          <p:cNvPr id="25" name="">
            <a:extLst xmlns:a="http://schemas.openxmlformats.org/drawingml/2006/main">
              <a:ext uri="{FF2B5EF4-FFF2-40B4-BE49-F238E27FC236}">
                <a16:creationId xmlns:a16="http://schemas.microsoft.com/office/drawing/2014/main" id="{CE299ADC-B6D6-4EC6-94FA-82F5470F73F1}"/>
              </a:ext>
            </a:extLst>
          </p:cNvPr>
          <p:cNvSpPr>
            <a:spLocks xmlns:a="http://schemas.openxmlformats.org/drawingml/2006/main" noGrp="1"/>
          </p:cNvSpPr>
          <p:nvPr/>
        </p:nvSpPr>
        <p:spPr>
          <a:xfrm xmlns:a="http://schemas.openxmlformats.org/drawingml/2006/main">
            <a:off x="9934575" y="5238750"/>
            <a:ext cx="1543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0" i="0">
                <a:solidFill>
                  <a:srgbClr val="D8D0E8"/>
                </a:solidFill>
                <a:latin typeface="Yu Gothic"/>
                <a:ea typeface="Yu Gothic"/>
                <a:cs typeface="Yu Gothic"/>
              </a:defRPr>
            </a:pPr>
            <a:r>
              <a:rPr sz="825" b="0" i="0">
                <a:solidFill>
                  <a:srgbClr val="D8D0E8"/>
                </a:solidFill>
                <a:latin typeface="Yu Gothic"/>
                <a:ea typeface="Yu Gothic"/>
                <a:cs typeface="Yu Gothic"/>
              </a:rPr>
              <a:t>exact / implicit</a:t>
            </a:r>
          </a:p>
        </p:txBody>
      </p:sp>
      <p:cxnSp>
        <p:nvCxnSpPr>
          <p:cNvPr id="57" name=""/>
          <p:cNvCxnSpPr>
            <a:stCxn xmlns:a="http://schemas.openxmlformats.org/drawingml/2006/main" id="11" idx="3"/>
            <a:endCxn xmlns:a="http://schemas.openxmlformats.org/drawingml/2006/main" id="14" idx="1"/>
          </p:cNvCxnSpPr>
          <p:nvPr/>
        </p:nvCxnSpPr>
        <p:spPr>
          <a:xfrm xmlns:a="http://schemas.openxmlformats.org/drawingml/2006/main">
            <a:off x="241935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8" name=""/>
          <p:cNvCxnSpPr>
            <a:stCxn xmlns:a="http://schemas.openxmlformats.org/drawingml/2006/main" id="14" idx="3"/>
            <a:endCxn xmlns:a="http://schemas.openxmlformats.org/drawingml/2006/main" id="17" idx="1"/>
          </p:cNvCxnSpPr>
          <p:nvPr/>
        </p:nvCxnSpPr>
        <p:spPr>
          <a:xfrm xmlns:a="http://schemas.openxmlformats.org/drawingml/2006/main">
            <a:off x="472440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9" name=""/>
          <p:cNvCxnSpPr>
            <a:stCxn xmlns:a="http://schemas.openxmlformats.org/drawingml/2006/main" id="17" idx="3"/>
            <a:endCxn xmlns:a="http://schemas.openxmlformats.org/drawingml/2006/main" id="20" idx="1"/>
          </p:cNvCxnSpPr>
          <p:nvPr/>
        </p:nvCxnSpPr>
        <p:spPr>
          <a:xfrm xmlns:a="http://schemas.openxmlformats.org/drawingml/2006/main">
            <a:off x="702945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60" name=""/>
          <p:cNvCxnSpPr>
            <a:stCxn xmlns:a="http://schemas.openxmlformats.org/drawingml/2006/main" id="20" idx="3"/>
            <a:endCxn xmlns:a="http://schemas.openxmlformats.org/drawingml/2006/main" id="23" idx="1"/>
          </p:cNvCxnSpPr>
          <p:nvPr/>
        </p:nvCxnSpPr>
        <p:spPr>
          <a:xfrm xmlns:a="http://schemas.openxmlformats.org/drawingml/2006/main">
            <a:off x="9334500" y="5205413"/>
            <a:ext cx="4381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0" name="">
            <a:extLst xmlns:a="http://schemas.openxmlformats.org/drawingml/2006/main">
              <a:ext uri="{FF2B5EF4-FFF2-40B4-BE49-F238E27FC236}">
                <a16:creationId xmlns:a16="http://schemas.microsoft.com/office/drawing/2014/main" id="{79AF4FDC-D702-4816-88F5-3C62BDA6142F}"/>
              </a:ext>
            </a:extLst>
          </p:cNvPr>
          <p:cNvSpPr>
            <a:spLocks xmlns:a="http://schemas.openxmlformats.org/drawingml/2006/main" noGrp="1"/>
          </p:cNvSpPr>
          <p:nvPr/>
        </p:nvSpPr>
        <p:spPr>
          <a:xfrm xmlns:a="http://schemas.openxmlformats.org/drawingml/2006/main">
            <a:off x="552450" y="5867400"/>
            <a:ext cx="11087100" cy="38100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31" name="">
            <a:extLst xmlns:a="http://schemas.openxmlformats.org/drawingml/2006/main">
              <a:ext uri="{FF2B5EF4-FFF2-40B4-BE49-F238E27FC236}">
                <a16:creationId xmlns:a16="http://schemas.microsoft.com/office/drawing/2014/main" id="{8513D067-B737-4419-A2BC-B3F12A286E54}"/>
              </a:ext>
            </a:extLst>
          </p:cNvPr>
          <p:cNvSpPr>
            <a:spLocks xmlns:a="http://schemas.openxmlformats.org/drawingml/2006/main" noGrp="1"/>
          </p:cNvSpPr>
          <p:nvPr/>
        </p:nvSpPr>
        <p:spPr>
          <a:xfrm xmlns:a="http://schemas.openxmlformats.org/drawingml/2006/main">
            <a:off x="695325" y="5934075"/>
            <a:ext cx="1080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85" b="1" i="0">
                <a:solidFill>
                  <a:srgbClr val="C4493D"/>
                </a:solidFill>
                <a:latin typeface="Yu Gothic"/>
                <a:ea typeface="Yu Gothic"/>
                <a:cs typeface="Yu Gothic"/>
              </a:defRPr>
            </a:pPr>
            <a:r>
              <a:rPr sz="885" b="1" i="0">
                <a:solidFill>
                  <a:srgbClr val="C4493D"/>
                </a:solidFill>
                <a:latin typeface="Yu Gothic"/>
                <a:ea typeface="Yu Gothic"/>
                <a:cs typeface="Yu Gothic"/>
              </a:rPr>
              <a:t>現行境界：温度状態には線形。T⁴放射、相変化、温度依存物性は独立したfirst-class termとしては未実装。</a:t>
            </a:r>
          </a:p>
        </p:txBody>
      </p:sp>
    </p:spTree>
    <p:extLst>
      <p:ext uri="{BB962C8B-B14F-4D97-AF65-F5344CB8AC3E}">
        <p14:creationId xmlns:p14="http://schemas.microsoft.com/office/powerpoint/2010/main" val="348442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41C65DE7-DCE1-4B60-B469-A75B29034F28}"/>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88BC15A-CE8B-465C-A760-2D08E007770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DYNAMIC INTERPRETATION</a:t>
            </a:r>
          </a:p>
        </p:txBody>
      </p:sp>
      <p:sp>
        <p:nvSpPr>
          <p:cNvPr id="3" name="">
            <a:extLst xmlns:a="http://schemas.openxmlformats.org/drawingml/2006/main">
              <a:ext uri="{FF2B5EF4-FFF2-40B4-BE49-F238E27FC236}">
                <a16:creationId xmlns:a16="http://schemas.microsoft.com/office/drawing/2014/main" id="{429CBBC6-E3E7-405F-ABCC-C9927A7EFA11}"/>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9698"/>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固有時定数は0.186 s、2.03 s、425 s — 同じデータで3モードを識別できるとは限らない</a:t>
            </a:r>
          </a:p>
        </p:txBody>
      </p:sp>
      <p:sp>
        <p:nvSpPr>
          <p:cNvPr id="4" name="">
            <a:extLst xmlns:a="http://schemas.openxmlformats.org/drawingml/2006/main">
              <a:ext uri="{FF2B5EF4-FFF2-40B4-BE49-F238E27FC236}">
                <a16:creationId xmlns:a16="http://schemas.microsoft.com/office/drawing/2014/main" id="{5AAB4278-DD33-4E33-A054-DB056EF57E23}"/>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exact積分は数値誤差を抑えるが、samplingで失われた情報は復元しない</a:t>
            </a:r>
          </a:p>
        </p:txBody>
      </p:sp>
      <p:sp>
        <p:nvSpPr>
          <p:cNvPr id="5" name="">
            <a:extLst xmlns:a="http://schemas.openxmlformats.org/drawingml/2006/main">
              <a:ext uri="{FF2B5EF4-FFF2-40B4-BE49-F238E27FC236}">
                <a16:creationId xmlns:a16="http://schemas.microsoft.com/office/drawing/2014/main" id="{F36E01A0-146A-435D-9B93-9149923E1C3B}"/>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C013F885-40C1-4F63-A289-8BFB7B3EB2A8}"/>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7BFCEBC0-1542-4C29-A5B8-4D5C49247C93}"/>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76203769-E9D7-4FA1-A11C-787986ABA71B}"/>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12</a:t>
            </a:r>
          </a:p>
        </p:txBody>
      </p:sp>
      <p:sp>
        <p:nvSpPr>
          <p:cNvPr id="9" name="">
            <a:extLst xmlns:a="http://schemas.openxmlformats.org/drawingml/2006/main">
              <a:ext uri="{FF2B5EF4-FFF2-40B4-BE49-F238E27FC236}">
                <a16:creationId xmlns:a16="http://schemas.microsoft.com/office/drawing/2014/main" id="{564BD01B-B641-459B-A524-FE3FD1CA19AD}"/>
              </a:ext>
            </a:extLst>
          </p:cNvPr>
          <p:cNvSpPr>
            <a:spLocks xmlns:a="http://schemas.openxmlformats.org/drawingml/2006/main" noGrp="1"/>
          </p:cNvSpPr>
          <p:nvPr/>
        </p:nvSpPr>
        <p:spPr>
          <a:xfrm xmlns:a="http://schemas.openxmlformats.org/drawingml/2006/main">
            <a:off x="552450" y="1438275"/>
            <a:ext cx="11087100" cy="287655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6533C572-82EF-489B-A2AE-58FEE495C0BB}"/>
              </a:ext>
            </a:extLst>
          </p:cNvPr>
          <p:cNvSpPr>
            <a:spLocks xmlns:a="http://schemas.openxmlformats.org/drawingml/2006/main" noGrp="1"/>
          </p:cNvSpPr>
          <p:nvPr/>
        </p:nvSpPr>
        <p:spPr>
          <a:xfrm xmlns:a="http://schemas.openxmlformats.org/drawingml/2006/main">
            <a:off x="742950" y="16002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7FA8"/>
                </a:solidFill>
                <a:latin typeface="Yu Gothic"/>
                <a:ea typeface="Yu Gothic"/>
                <a:cs typeface="Yu Gothic"/>
              </a:defRPr>
            </a:pPr>
            <a:r>
              <a:rPr sz="975" b="1" i="0">
                <a:solidFill>
                  <a:srgbClr val="007FA8"/>
                </a:solidFill>
                <a:latin typeface="Yu Gothic"/>
                <a:ea typeface="Yu Gothic"/>
                <a:cs typeface="Yu Gothic"/>
              </a:rPr>
              <a:t>一般化固有値問題</a:t>
            </a:r>
          </a:p>
        </p:txBody>
      </p:sp>
      <p:sp>
        <p:nvSpPr>
          <p:cNvPr id="11" name="">
            <a:extLst xmlns:a="http://schemas.openxmlformats.org/drawingml/2006/main">
              <a:ext uri="{FF2B5EF4-FFF2-40B4-BE49-F238E27FC236}">
                <a16:creationId xmlns:a16="http://schemas.microsoft.com/office/drawing/2014/main" id="{77A7F207-D391-4E64-9409-F6775B522D36}"/>
              </a:ext>
            </a:extLst>
          </p:cNvPr>
          <p:cNvSpPr>
            <a:spLocks xmlns:a="http://schemas.openxmlformats.org/drawingml/2006/main" noGrp="1"/>
          </p:cNvSpPr>
          <p:nvPr/>
        </p:nvSpPr>
        <p:spPr>
          <a:xfrm xmlns:a="http://schemas.openxmlformats.org/drawingml/2006/main">
            <a:off x="2457450" y="1562100"/>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Kφ = λCφ,    τ = 1/λ</a:t>
            </a:r>
          </a:p>
        </p:txBody>
      </p:sp>
      <p:sp>
        <p:nvSpPr>
          <p:cNvPr id="12" name="">
            <a:extLst xmlns:a="http://schemas.openxmlformats.org/drawingml/2006/main">
              <a:ext uri="{FF2B5EF4-FFF2-40B4-BE49-F238E27FC236}">
                <a16:creationId xmlns:a16="http://schemas.microsoft.com/office/drawing/2014/main" id="{53DEF269-904A-4E61-80CA-097C3E1937DC}"/>
              </a:ext>
            </a:extLst>
          </p:cNvPr>
          <p:cNvSpPr>
            <a:spLocks xmlns:a="http://schemas.openxmlformats.org/drawingml/2006/main" noGrp="1"/>
          </p:cNvSpPr>
          <p:nvPr/>
        </p:nvSpPr>
        <p:spPr>
          <a:xfrm xmlns:a="http://schemas.openxmlformats.org/drawingml/2006/main">
            <a:off x="8115300" y="1600200"/>
            <a:ext cx="3238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fitted linear model / nominal boundary</a:t>
            </a:r>
          </a:p>
        </p:txBody>
      </p:sp>
      <p:sp>
        <p:nvSpPr>
          <p:cNvPr id="13" name="">
            <a:extLst xmlns:a="http://schemas.openxmlformats.org/drawingml/2006/main">
              <a:ext uri="{FF2B5EF4-FFF2-40B4-BE49-F238E27FC236}">
                <a16:creationId xmlns:a16="http://schemas.microsoft.com/office/drawing/2014/main" id="{79444BF1-D9A9-41EC-BD60-367242B91130}"/>
              </a:ext>
            </a:extLst>
          </p:cNvPr>
          <p:cNvSpPr>
            <a:spLocks xmlns:a="http://schemas.openxmlformats.org/drawingml/2006/main" noGrp="1"/>
          </p:cNvSpPr>
          <p:nvPr/>
        </p:nvSpPr>
        <p:spPr>
          <a:xfrm xmlns:a="http://schemas.openxmlformats.org/drawingml/2006/main">
            <a:off x="990600" y="2990850"/>
            <a:ext cx="10191750" cy="0"/>
          </a:xfrm>
          <a:prstGeom xmlns:a="http://schemas.openxmlformats.org/drawingml/2006/main" prst="line">
            <a:avLst/>
          </a:prstGeom>
          <a:noFill xmlns:a="http://schemas.openxmlformats.org/drawingml/2006/main"/>
          <a:ln xmlns:a="http://schemas.openxmlformats.org/drawingml/2006/main" w="19050">
            <a:solidFill>
              <a:srgbClr val="3F3F3F"/>
            </a:solidFill>
            <a:prstDash val="solid"/>
          </a:ln>
        </p:spPr>
      </p:sp>
      <p:sp>
        <p:nvSpPr>
          <p:cNvPr id="14" name="">
            <a:extLst xmlns:a="http://schemas.openxmlformats.org/drawingml/2006/main">
              <a:ext uri="{FF2B5EF4-FFF2-40B4-BE49-F238E27FC236}">
                <a16:creationId xmlns:a16="http://schemas.microsoft.com/office/drawing/2014/main" id="{4F4FF501-254B-4373-ACF6-BEEFDC06C48D}"/>
              </a:ext>
            </a:extLst>
          </p:cNvPr>
          <p:cNvSpPr>
            <a:spLocks xmlns:a="http://schemas.openxmlformats.org/drawingml/2006/main" noGrp="1"/>
          </p:cNvSpPr>
          <p:nvPr/>
        </p:nvSpPr>
        <p:spPr>
          <a:xfrm xmlns:a="http://schemas.openxmlformats.org/drawingml/2006/main">
            <a:off x="990600"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5" name="">
            <a:extLst xmlns:a="http://schemas.openxmlformats.org/drawingml/2006/main">
              <a:ext uri="{FF2B5EF4-FFF2-40B4-BE49-F238E27FC236}">
                <a16:creationId xmlns:a16="http://schemas.microsoft.com/office/drawing/2014/main" id="{886E9F00-F859-41F5-9D01-80FF1095F333}"/>
              </a:ext>
            </a:extLst>
          </p:cNvPr>
          <p:cNvSpPr>
            <a:spLocks xmlns:a="http://schemas.openxmlformats.org/drawingml/2006/main" noGrp="1"/>
          </p:cNvSpPr>
          <p:nvPr/>
        </p:nvSpPr>
        <p:spPr>
          <a:xfrm xmlns:a="http://schemas.openxmlformats.org/drawingml/2006/main">
            <a:off x="685800"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0.1</a:t>
            </a:r>
          </a:p>
        </p:txBody>
      </p:sp>
      <p:sp>
        <p:nvSpPr>
          <p:cNvPr id="16" name="">
            <a:extLst xmlns:a="http://schemas.openxmlformats.org/drawingml/2006/main">
              <a:ext uri="{FF2B5EF4-FFF2-40B4-BE49-F238E27FC236}">
                <a16:creationId xmlns:a16="http://schemas.microsoft.com/office/drawing/2014/main" id="{31824C97-0F6D-4356-8C89-CD74ECDF92D3}"/>
              </a:ext>
            </a:extLst>
          </p:cNvPr>
          <p:cNvSpPr>
            <a:spLocks xmlns:a="http://schemas.openxmlformats.org/drawingml/2006/main" noGrp="1"/>
          </p:cNvSpPr>
          <p:nvPr/>
        </p:nvSpPr>
        <p:spPr>
          <a:xfrm xmlns:a="http://schemas.openxmlformats.org/drawingml/2006/main">
            <a:off x="3538538"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7" name="">
            <a:extLst xmlns:a="http://schemas.openxmlformats.org/drawingml/2006/main">
              <a:ext uri="{FF2B5EF4-FFF2-40B4-BE49-F238E27FC236}">
                <a16:creationId xmlns:a16="http://schemas.microsoft.com/office/drawing/2014/main" id="{58E0FCBA-AB82-4A14-95AE-CA8876E4B45A}"/>
              </a:ext>
            </a:extLst>
          </p:cNvPr>
          <p:cNvSpPr>
            <a:spLocks xmlns:a="http://schemas.openxmlformats.org/drawingml/2006/main" noGrp="1"/>
          </p:cNvSpPr>
          <p:nvPr/>
        </p:nvSpPr>
        <p:spPr>
          <a:xfrm xmlns:a="http://schemas.openxmlformats.org/drawingml/2006/main">
            <a:off x="3233738"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a:t>
            </a:r>
          </a:p>
        </p:txBody>
      </p:sp>
      <p:sp>
        <p:nvSpPr>
          <p:cNvPr id="18" name="">
            <a:extLst xmlns:a="http://schemas.openxmlformats.org/drawingml/2006/main">
              <a:ext uri="{FF2B5EF4-FFF2-40B4-BE49-F238E27FC236}">
                <a16:creationId xmlns:a16="http://schemas.microsoft.com/office/drawing/2014/main" id="{3B57CF37-7E9B-4F24-A1C9-BA8BDC2B2631}"/>
              </a:ext>
            </a:extLst>
          </p:cNvPr>
          <p:cNvSpPr>
            <a:spLocks xmlns:a="http://schemas.openxmlformats.org/drawingml/2006/main" noGrp="1"/>
          </p:cNvSpPr>
          <p:nvPr/>
        </p:nvSpPr>
        <p:spPr>
          <a:xfrm xmlns:a="http://schemas.openxmlformats.org/drawingml/2006/main">
            <a:off x="6086475"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19" name="">
            <a:extLst xmlns:a="http://schemas.openxmlformats.org/drawingml/2006/main">
              <a:ext uri="{FF2B5EF4-FFF2-40B4-BE49-F238E27FC236}">
                <a16:creationId xmlns:a16="http://schemas.microsoft.com/office/drawing/2014/main" id="{8E4D9ABD-7285-4FAD-BBAE-3CBA9D9F1FB7}"/>
              </a:ext>
            </a:extLst>
          </p:cNvPr>
          <p:cNvSpPr>
            <a:spLocks xmlns:a="http://schemas.openxmlformats.org/drawingml/2006/main" noGrp="1"/>
          </p:cNvSpPr>
          <p:nvPr/>
        </p:nvSpPr>
        <p:spPr>
          <a:xfrm xmlns:a="http://schemas.openxmlformats.org/drawingml/2006/main">
            <a:off x="5781675"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a:t>
            </a:r>
          </a:p>
        </p:txBody>
      </p:sp>
      <p:sp>
        <p:nvSpPr>
          <p:cNvPr id="20" name="">
            <a:extLst xmlns:a="http://schemas.openxmlformats.org/drawingml/2006/main">
              <a:ext uri="{FF2B5EF4-FFF2-40B4-BE49-F238E27FC236}">
                <a16:creationId xmlns:a16="http://schemas.microsoft.com/office/drawing/2014/main" id="{1487B5C8-88C1-4175-AFB2-A127A8750D79}"/>
              </a:ext>
            </a:extLst>
          </p:cNvPr>
          <p:cNvSpPr>
            <a:spLocks xmlns:a="http://schemas.openxmlformats.org/drawingml/2006/main" noGrp="1"/>
          </p:cNvSpPr>
          <p:nvPr/>
        </p:nvSpPr>
        <p:spPr>
          <a:xfrm xmlns:a="http://schemas.openxmlformats.org/drawingml/2006/main">
            <a:off x="8634413"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21" name="">
            <a:extLst xmlns:a="http://schemas.openxmlformats.org/drawingml/2006/main">
              <a:ext uri="{FF2B5EF4-FFF2-40B4-BE49-F238E27FC236}">
                <a16:creationId xmlns:a16="http://schemas.microsoft.com/office/drawing/2014/main" id="{8D3A78D5-8884-4928-BA75-0A165CBEDE66}"/>
              </a:ext>
            </a:extLst>
          </p:cNvPr>
          <p:cNvSpPr>
            <a:spLocks xmlns:a="http://schemas.openxmlformats.org/drawingml/2006/main" noGrp="1"/>
          </p:cNvSpPr>
          <p:nvPr/>
        </p:nvSpPr>
        <p:spPr>
          <a:xfrm xmlns:a="http://schemas.openxmlformats.org/drawingml/2006/main">
            <a:off x="8329613"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100</a:t>
            </a:r>
          </a:p>
        </p:txBody>
      </p:sp>
      <p:sp>
        <p:nvSpPr>
          <p:cNvPr id="22" name="">
            <a:extLst xmlns:a="http://schemas.openxmlformats.org/drawingml/2006/main">
              <a:ext uri="{FF2B5EF4-FFF2-40B4-BE49-F238E27FC236}">
                <a16:creationId xmlns:a16="http://schemas.microsoft.com/office/drawing/2014/main" id="{53B8B39F-35A4-4B95-BB1E-82C53F61887F}"/>
              </a:ext>
            </a:extLst>
          </p:cNvPr>
          <p:cNvSpPr>
            <a:spLocks xmlns:a="http://schemas.openxmlformats.org/drawingml/2006/main" noGrp="1"/>
          </p:cNvSpPr>
          <p:nvPr/>
        </p:nvSpPr>
        <p:spPr>
          <a:xfrm xmlns:a="http://schemas.openxmlformats.org/drawingml/2006/main">
            <a:off x="11182350" y="2914650"/>
            <a:ext cx="0" cy="152400"/>
          </a:xfrm>
          <a:prstGeom xmlns:a="http://schemas.openxmlformats.org/drawingml/2006/main" prst="line">
            <a:avLst/>
          </a:prstGeom>
          <a:noFill xmlns:a="http://schemas.openxmlformats.org/drawingml/2006/main"/>
          <a:ln xmlns:a="http://schemas.openxmlformats.org/drawingml/2006/main" w="9525">
            <a:solidFill>
              <a:srgbClr val="3F3F3F"/>
            </a:solidFill>
            <a:prstDash val="solid"/>
          </a:ln>
        </p:spPr>
      </p:sp>
      <p:sp>
        <p:nvSpPr>
          <p:cNvPr id="23" name="">
            <a:extLst xmlns:a="http://schemas.openxmlformats.org/drawingml/2006/main">
              <a:ext uri="{FF2B5EF4-FFF2-40B4-BE49-F238E27FC236}">
                <a16:creationId xmlns:a16="http://schemas.microsoft.com/office/drawing/2014/main" id="{3770D0E0-0FA9-4D7C-8E26-AEB4A056A8CA}"/>
              </a:ext>
            </a:extLst>
          </p:cNvPr>
          <p:cNvSpPr>
            <a:spLocks xmlns:a="http://schemas.openxmlformats.org/drawingml/2006/main" noGrp="1"/>
          </p:cNvSpPr>
          <p:nvPr/>
        </p:nvSpPr>
        <p:spPr>
          <a:xfrm xmlns:a="http://schemas.openxmlformats.org/drawingml/2006/main">
            <a:off x="10877550" y="31242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ctr">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1000</a:t>
            </a:r>
          </a:p>
        </p:txBody>
      </p:sp>
      <p:sp>
        <p:nvSpPr>
          <p:cNvPr id="24" name="">
            <a:extLst xmlns:a="http://schemas.openxmlformats.org/drawingml/2006/main">
              <a:ext uri="{FF2B5EF4-FFF2-40B4-BE49-F238E27FC236}">
                <a16:creationId xmlns:a16="http://schemas.microsoft.com/office/drawing/2014/main" id="{DD9315E4-1EE5-4C55-9441-1AE4ECAF9966}"/>
              </a:ext>
            </a:extLst>
          </p:cNvPr>
          <p:cNvSpPr>
            <a:spLocks xmlns:a="http://schemas.openxmlformats.org/drawingml/2006/main" noGrp="1"/>
          </p:cNvSpPr>
          <p:nvPr/>
        </p:nvSpPr>
        <p:spPr>
          <a:xfrm xmlns:a="http://schemas.openxmlformats.org/drawingml/2006/main">
            <a:off x="9563100" y="33528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time scale [s]  (log)</a:t>
            </a:r>
          </a:p>
        </p:txBody>
      </p:sp>
      <p:sp>
        <p:nvSpPr>
          <p:cNvPr id="25" name="">
            <a:extLst xmlns:a="http://schemas.openxmlformats.org/drawingml/2006/main">
              <a:ext uri="{FF2B5EF4-FFF2-40B4-BE49-F238E27FC236}">
                <a16:creationId xmlns:a16="http://schemas.microsoft.com/office/drawing/2014/main" id="{EBBF42EE-83D2-4715-A19B-C3314A5FE3FB}"/>
              </a:ext>
            </a:extLst>
          </p:cNvPr>
          <p:cNvSpPr>
            <a:spLocks xmlns:a="http://schemas.openxmlformats.org/drawingml/2006/main" noGrp="1"/>
          </p:cNvSpPr>
          <p:nvPr/>
        </p:nvSpPr>
        <p:spPr>
          <a:xfrm xmlns:a="http://schemas.openxmlformats.org/drawingml/2006/main">
            <a:off x="1677302" y="2095500"/>
            <a:ext cx="0" cy="895350"/>
          </a:xfrm>
          <a:prstGeom xmlns:a="http://schemas.openxmlformats.org/drawingml/2006/main" prst="line">
            <a:avLst/>
          </a:prstGeom>
          <a:noFill xmlns:a="http://schemas.openxmlformats.org/drawingml/2006/main"/>
          <a:ln xmlns:a="http://schemas.openxmlformats.org/drawingml/2006/main" w="28575">
            <a:solidFill>
              <a:srgbClr val="7B2DAF"/>
            </a:solidFill>
            <a:prstDash val="solid"/>
          </a:ln>
        </p:spPr>
      </p:sp>
      <p:sp>
        <p:nvSpPr>
          <p:cNvPr id="26" name="">
            <a:extLst xmlns:a="http://schemas.openxmlformats.org/drawingml/2006/main">
              <a:ext uri="{FF2B5EF4-FFF2-40B4-BE49-F238E27FC236}">
                <a16:creationId xmlns:a16="http://schemas.microsoft.com/office/drawing/2014/main" id="{E0C9632B-0885-4D51-902D-6422B29CBF86}"/>
              </a:ext>
            </a:extLst>
          </p:cNvPr>
          <p:cNvSpPr>
            <a:spLocks xmlns:a="http://schemas.openxmlformats.org/drawingml/2006/main" noGrp="1"/>
          </p:cNvSpPr>
          <p:nvPr/>
        </p:nvSpPr>
        <p:spPr>
          <a:xfrm xmlns:a="http://schemas.openxmlformats.org/drawingml/2006/main">
            <a:off x="1601102" y="2914650"/>
            <a:ext cx="152400" cy="152400"/>
          </a:xfrm>
          <a:prstGeom xmlns:a="http://schemas.openxmlformats.org/drawingml/2006/main" prst="ellipse">
            <a:avLst/>
          </a:prstGeom>
          <a:solidFill xmlns:a="http://schemas.openxmlformats.org/drawingml/2006/main">
            <a:srgbClr val="7B2DA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5ED3415-FC8E-43D4-86AF-6826A3AD4292}"/>
              </a:ext>
            </a:extLst>
          </p:cNvPr>
          <p:cNvSpPr>
            <a:spLocks xmlns:a="http://schemas.openxmlformats.org/drawingml/2006/main" noGrp="1"/>
          </p:cNvSpPr>
          <p:nvPr/>
        </p:nvSpPr>
        <p:spPr>
          <a:xfrm xmlns:a="http://schemas.openxmlformats.org/drawingml/2006/main">
            <a:off x="1134377" y="176212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0.186 s</a:t>
            </a:r>
          </a:p>
        </p:txBody>
      </p:sp>
      <p:sp>
        <p:nvSpPr>
          <p:cNvPr id="28" name="">
            <a:extLst xmlns:a="http://schemas.openxmlformats.org/drawingml/2006/main">
              <a:ext uri="{FF2B5EF4-FFF2-40B4-BE49-F238E27FC236}">
                <a16:creationId xmlns:a16="http://schemas.microsoft.com/office/drawing/2014/main" id="{D80C4F0F-842D-4018-96AC-A91BE760AB0A}"/>
              </a:ext>
            </a:extLst>
          </p:cNvPr>
          <p:cNvSpPr>
            <a:spLocks xmlns:a="http://schemas.openxmlformats.org/drawingml/2006/main" noGrp="1"/>
          </p:cNvSpPr>
          <p:nvPr/>
        </p:nvSpPr>
        <p:spPr>
          <a:xfrm xmlns:a="http://schemas.openxmlformats.org/drawingml/2006/main">
            <a:off x="1010552" y="198120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fast</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chip ↔ base</a:t>
            </a:r>
          </a:p>
        </p:txBody>
      </p:sp>
      <p:sp>
        <p:nvSpPr>
          <p:cNvPr id="29" name="">
            <a:extLst xmlns:a="http://schemas.openxmlformats.org/drawingml/2006/main">
              <a:ext uri="{FF2B5EF4-FFF2-40B4-BE49-F238E27FC236}">
                <a16:creationId xmlns:a16="http://schemas.microsoft.com/office/drawing/2014/main" id="{77BC86D6-A106-4D82-812F-5720E7125E60}"/>
              </a:ext>
            </a:extLst>
          </p:cNvPr>
          <p:cNvSpPr>
            <a:spLocks xmlns:a="http://schemas.openxmlformats.org/drawingml/2006/main" noGrp="1"/>
          </p:cNvSpPr>
          <p:nvPr/>
        </p:nvSpPr>
        <p:spPr>
          <a:xfrm xmlns:a="http://schemas.openxmlformats.org/drawingml/2006/main">
            <a:off x="4320927" y="2381250"/>
            <a:ext cx="0" cy="60960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30" name="">
            <a:extLst xmlns:a="http://schemas.openxmlformats.org/drawingml/2006/main">
              <a:ext uri="{FF2B5EF4-FFF2-40B4-BE49-F238E27FC236}">
                <a16:creationId xmlns:a16="http://schemas.microsoft.com/office/drawing/2014/main" id="{3519276C-C539-4B0F-9DB1-0C1EFA7AB40A}"/>
              </a:ext>
            </a:extLst>
          </p:cNvPr>
          <p:cNvSpPr>
            <a:spLocks xmlns:a="http://schemas.openxmlformats.org/drawingml/2006/main" noGrp="1"/>
          </p:cNvSpPr>
          <p:nvPr/>
        </p:nvSpPr>
        <p:spPr>
          <a:xfrm xmlns:a="http://schemas.openxmlformats.org/drawingml/2006/main">
            <a:off x="4244727" y="2914650"/>
            <a:ext cx="152400" cy="152400"/>
          </a:xfrm>
          <a:prstGeom xmlns:a="http://schemas.openxmlformats.org/drawingml/2006/main" prst="ellipse">
            <a:avLst/>
          </a:prstGeom>
          <a:solidFill xmlns:a="http://schemas.openxmlformats.org/drawingml/2006/main">
            <a:srgbClr val="00A5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2E7D1C2-386E-4CD9-BA0E-5617C113AC50}"/>
              </a:ext>
            </a:extLst>
          </p:cNvPr>
          <p:cNvSpPr>
            <a:spLocks xmlns:a="http://schemas.openxmlformats.org/drawingml/2006/main" noGrp="1"/>
          </p:cNvSpPr>
          <p:nvPr/>
        </p:nvSpPr>
        <p:spPr>
          <a:xfrm xmlns:a="http://schemas.openxmlformats.org/drawingml/2006/main">
            <a:off x="3778002" y="204787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2.028 s</a:t>
            </a:r>
          </a:p>
        </p:txBody>
      </p:sp>
      <p:sp>
        <p:nvSpPr>
          <p:cNvPr id="32" name="">
            <a:extLst xmlns:a="http://schemas.openxmlformats.org/drawingml/2006/main">
              <a:ext uri="{FF2B5EF4-FFF2-40B4-BE49-F238E27FC236}">
                <a16:creationId xmlns:a16="http://schemas.microsoft.com/office/drawing/2014/main" id="{7905E153-401C-40AD-AEDD-772C5E4580A8}"/>
              </a:ext>
            </a:extLst>
          </p:cNvPr>
          <p:cNvSpPr>
            <a:spLocks xmlns:a="http://schemas.openxmlformats.org/drawingml/2006/main" noGrp="1"/>
          </p:cNvSpPr>
          <p:nvPr/>
        </p:nvSpPr>
        <p:spPr>
          <a:xfrm xmlns:a="http://schemas.openxmlformats.org/drawingml/2006/main">
            <a:off x="3654177" y="226695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intermediate</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base ↔ fins</a:t>
            </a:r>
          </a:p>
        </p:txBody>
      </p:sp>
      <p:sp>
        <p:nvSpPr>
          <p:cNvPr id="33" name="">
            <a:extLst xmlns:a="http://schemas.openxmlformats.org/drawingml/2006/main">
              <a:ext uri="{FF2B5EF4-FFF2-40B4-BE49-F238E27FC236}">
                <a16:creationId xmlns:a16="http://schemas.microsoft.com/office/drawing/2014/main" id="{EBE7BC22-13AC-4AEC-87BD-AA58FA1BDE29}"/>
              </a:ext>
            </a:extLst>
          </p:cNvPr>
          <p:cNvSpPr>
            <a:spLocks xmlns:a="http://schemas.openxmlformats.org/drawingml/2006/main" noGrp="1"/>
          </p:cNvSpPr>
          <p:nvPr/>
        </p:nvSpPr>
        <p:spPr>
          <a:xfrm xmlns:a="http://schemas.openxmlformats.org/drawingml/2006/main">
            <a:off x="10236430" y="2095500"/>
            <a:ext cx="0" cy="895350"/>
          </a:xfrm>
          <a:prstGeom xmlns:a="http://schemas.openxmlformats.org/drawingml/2006/main" prst="line">
            <a:avLst/>
          </a:prstGeom>
          <a:noFill xmlns:a="http://schemas.openxmlformats.org/drawingml/2006/main"/>
          <a:ln xmlns:a="http://schemas.openxmlformats.org/drawingml/2006/main" w="28575">
            <a:solidFill>
              <a:srgbClr val="76BE18"/>
            </a:solidFill>
            <a:prstDash val="solid"/>
          </a:ln>
        </p:spPr>
      </p:sp>
      <p:sp>
        <p:nvSpPr>
          <p:cNvPr id="34" name="">
            <a:extLst xmlns:a="http://schemas.openxmlformats.org/drawingml/2006/main">
              <a:ext uri="{FF2B5EF4-FFF2-40B4-BE49-F238E27FC236}">
                <a16:creationId xmlns:a16="http://schemas.microsoft.com/office/drawing/2014/main" id="{5C21D4CB-87E4-41D6-84F2-45C9676052AD}"/>
              </a:ext>
            </a:extLst>
          </p:cNvPr>
          <p:cNvSpPr>
            <a:spLocks xmlns:a="http://schemas.openxmlformats.org/drawingml/2006/main" noGrp="1"/>
          </p:cNvSpPr>
          <p:nvPr/>
        </p:nvSpPr>
        <p:spPr>
          <a:xfrm xmlns:a="http://schemas.openxmlformats.org/drawingml/2006/main">
            <a:off x="10160230" y="2914650"/>
            <a:ext cx="152400" cy="152400"/>
          </a:xfrm>
          <a:prstGeom xmlns:a="http://schemas.openxmlformats.org/drawingml/2006/main" prst="ellipse">
            <a:avLst/>
          </a:prstGeom>
          <a:solidFill xmlns:a="http://schemas.openxmlformats.org/drawingml/2006/main">
            <a:srgbClr val="76BE1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59683B8-3647-4E98-BC36-35504B2844A6}"/>
              </a:ext>
            </a:extLst>
          </p:cNvPr>
          <p:cNvSpPr>
            <a:spLocks xmlns:a="http://schemas.openxmlformats.org/drawingml/2006/main" noGrp="1"/>
          </p:cNvSpPr>
          <p:nvPr/>
        </p:nvSpPr>
        <p:spPr>
          <a:xfrm xmlns:a="http://schemas.openxmlformats.org/drawingml/2006/main">
            <a:off x="9693505" y="1762125"/>
            <a:ext cx="1085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425 s</a:t>
            </a:r>
          </a:p>
        </p:txBody>
      </p:sp>
      <p:sp>
        <p:nvSpPr>
          <p:cNvPr id="36" name="">
            <a:extLst xmlns:a="http://schemas.openxmlformats.org/drawingml/2006/main">
              <a:ext uri="{FF2B5EF4-FFF2-40B4-BE49-F238E27FC236}">
                <a16:creationId xmlns:a16="http://schemas.microsoft.com/office/drawing/2014/main" id="{8F4B2C54-D027-401A-B0D6-AE68AF97F830}"/>
              </a:ext>
            </a:extLst>
          </p:cNvPr>
          <p:cNvSpPr>
            <a:spLocks xmlns:a="http://schemas.openxmlformats.org/drawingml/2006/main" noGrp="1"/>
          </p:cNvSpPr>
          <p:nvPr/>
        </p:nvSpPr>
        <p:spPr>
          <a:xfrm xmlns:a="http://schemas.openxmlformats.org/drawingml/2006/main">
            <a:off x="9569680" y="1981200"/>
            <a:ext cx="133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global</a:t>
            </a:r>
          </a:p>
          <a:p xmlns:a="http://schemas.openxmlformats.org/drawingml/2006/main">
            <a:pPr algn="ctr">
              <a:lnSpc>
                <a:spcPct val="102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coolant boundary</a:t>
            </a:r>
          </a:p>
        </p:txBody>
      </p:sp>
      <p:sp>
        <p:nvSpPr>
          <p:cNvPr id="37" name="">
            <a:extLst xmlns:a="http://schemas.openxmlformats.org/drawingml/2006/main">
              <a:ext uri="{FF2B5EF4-FFF2-40B4-BE49-F238E27FC236}">
                <a16:creationId xmlns:a16="http://schemas.microsoft.com/office/drawing/2014/main" id="{80E10AEC-E72E-4B52-B7D8-83066CA7A2D3}"/>
              </a:ext>
            </a:extLst>
          </p:cNvPr>
          <p:cNvSpPr>
            <a:spLocks xmlns:a="http://schemas.openxmlformats.org/drawingml/2006/main" noGrp="1"/>
          </p:cNvSpPr>
          <p:nvPr/>
        </p:nvSpPr>
        <p:spPr>
          <a:xfrm xmlns:a="http://schemas.openxmlformats.org/drawingml/2006/main">
            <a:off x="4305543" y="1952625"/>
            <a:ext cx="0" cy="1809750"/>
          </a:xfrm>
          <a:prstGeom xmlns:a="http://schemas.openxmlformats.org/drawingml/2006/main" prst="line">
            <a:avLst/>
          </a:prstGeom>
          <a:noFill xmlns:a="http://schemas.openxmlformats.org/drawingml/2006/main"/>
          <a:ln xmlns:a="http://schemas.openxmlformats.org/drawingml/2006/main" w="14288">
            <a:solidFill>
              <a:srgbClr val="C4493D"/>
            </a:solidFill>
            <a:prstDash val="dash"/>
          </a:ln>
        </p:spPr>
      </p:sp>
      <p:sp>
        <p:nvSpPr>
          <p:cNvPr id="38" name="">
            <a:extLst xmlns:a="http://schemas.openxmlformats.org/drawingml/2006/main">
              <a:ext uri="{FF2B5EF4-FFF2-40B4-BE49-F238E27FC236}">
                <a16:creationId xmlns:a16="http://schemas.microsoft.com/office/drawing/2014/main" id="{34C92A48-5724-4576-86EA-65DF453BC753}"/>
              </a:ext>
            </a:extLst>
          </p:cNvPr>
          <p:cNvSpPr>
            <a:spLocks xmlns:a="http://schemas.openxmlformats.org/drawingml/2006/main" noGrp="1"/>
          </p:cNvSpPr>
          <p:nvPr/>
        </p:nvSpPr>
        <p:spPr>
          <a:xfrm xmlns:a="http://schemas.openxmlformats.org/drawingml/2006/main">
            <a:off x="3572118" y="1790700"/>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C4493D"/>
                </a:solidFill>
                <a:latin typeface="Yu Gothic"/>
                <a:ea typeface="Yu Gothic"/>
                <a:cs typeface="Yu Gothic"/>
              </a:defRPr>
            </a:pPr>
            <a:r>
              <a:rPr sz="713" b="1" i="0">
                <a:solidFill>
                  <a:srgbClr val="C4493D"/>
                </a:solidFill>
                <a:latin typeface="Yu Gothic"/>
                <a:ea typeface="Yu Gothic"/>
                <a:cs typeface="Yu Gothic"/>
              </a:rPr>
              <a:t>linear data  Δt=2 s</a:t>
            </a:r>
          </a:p>
        </p:txBody>
      </p:sp>
      <p:sp>
        <p:nvSpPr>
          <p:cNvPr id="39" name="">
            <a:extLst xmlns:a="http://schemas.openxmlformats.org/drawingml/2006/main">
              <a:ext uri="{FF2B5EF4-FFF2-40B4-BE49-F238E27FC236}">
                <a16:creationId xmlns:a16="http://schemas.microsoft.com/office/drawing/2014/main" id="{E0B0A37A-C518-48DB-9B14-2635FC6F159D}"/>
              </a:ext>
            </a:extLst>
          </p:cNvPr>
          <p:cNvSpPr>
            <a:spLocks xmlns:a="http://schemas.openxmlformats.org/drawingml/2006/main" noGrp="1"/>
          </p:cNvSpPr>
          <p:nvPr/>
        </p:nvSpPr>
        <p:spPr>
          <a:xfrm xmlns:a="http://schemas.openxmlformats.org/drawingml/2006/main">
            <a:off x="6086475" y="1952625"/>
            <a:ext cx="0" cy="1809750"/>
          </a:xfrm>
          <a:prstGeom xmlns:a="http://schemas.openxmlformats.org/drawingml/2006/main" prst="line">
            <a:avLst/>
          </a:prstGeom>
          <a:noFill xmlns:a="http://schemas.openxmlformats.org/drawingml/2006/main"/>
          <a:ln xmlns:a="http://schemas.openxmlformats.org/drawingml/2006/main" w="14288">
            <a:solidFill>
              <a:srgbClr val="E5A900"/>
            </a:solidFill>
            <a:prstDash val="dash"/>
          </a:ln>
        </p:spPr>
      </p:sp>
      <p:sp>
        <p:nvSpPr>
          <p:cNvPr id="40" name="">
            <a:extLst xmlns:a="http://schemas.openxmlformats.org/drawingml/2006/main">
              <a:ext uri="{FF2B5EF4-FFF2-40B4-BE49-F238E27FC236}">
                <a16:creationId xmlns:a16="http://schemas.microsoft.com/office/drawing/2014/main" id="{C0DED1AF-1514-44AE-BF2F-82C3909BF38A}"/>
              </a:ext>
            </a:extLst>
          </p:cNvPr>
          <p:cNvSpPr>
            <a:spLocks xmlns:a="http://schemas.openxmlformats.org/drawingml/2006/main" noGrp="1"/>
          </p:cNvSpPr>
          <p:nvPr/>
        </p:nvSpPr>
        <p:spPr>
          <a:xfrm xmlns:a="http://schemas.openxmlformats.org/drawingml/2006/main">
            <a:off x="5353050" y="1628775"/>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E5A900"/>
                </a:solidFill>
                <a:latin typeface="Yu Gothic"/>
                <a:ea typeface="Yu Gothic"/>
                <a:cs typeface="Yu Gothic"/>
              </a:defRPr>
            </a:pPr>
            <a:r>
              <a:rPr sz="713" b="1" i="0">
                <a:solidFill>
                  <a:srgbClr val="E5A900"/>
                </a:solidFill>
                <a:latin typeface="Yu Gothic"/>
                <a:ea typeface="Yu Gothic"/>
                <a:cs typeface="Yu Gothic"/>
              </a:rPr>
              <a:t>HF train  10 s</a:t>
            </a:r>
          </a:p>
        </p:txBody>
      </p:sp>
      <p:sp>
        <p:nvSpPr>
          <p:cNvPr id="41" name="">
            <a:extLst xmlns:a="http://schemas.openxmlformats.org/drawingml/2006/main">
              <a:ext uri="{FF2B5EF4-FFF2-40B4-BE49-F238E27FC236}">
                <a16:creationId xmlns:a16="http://schemas.microsoft.com/office/drawing/2014/main" id="{EA1BA29E-4504-45BC-95CC-DB6DECF4730A}"/>
              </a:ext>
            </a:extLst>
          </p:cNvPr>
          <p:cNvSpPr>
            <a:spLocks xmlns:a="http://schemas.openxmlformats.org/drawingml/2006/main" noGrp="1"/>
          </p:cNvSpPr>
          <p:nvPr/>
        </p:nvSpPr>
        <p:spPr>
          <a:xfrm xmlns:a="http://schemas.openxmlformats.org/drawingml/2006/main">
            <a:off x="6853481" y="1952625"/>
            <a:ext cx="0" cy="1809750"/>
          </a:xfrm>
          <a:prstGeom xmlns:a="http://schemas.openxmlformats.org/drawingml/2006/main" prst="line">
            <a:avLst/>
          </a:prstGeom>
          <a:noFill xmlns:a="http://schemas.openxmlformats.org/drawingml/2006/main"/>
          <a:ln xmlns:a="http://schemas.openxmlformats.org/drawingml/2006/main" w="14288">
            <a:solidFill>
              <a:srgbClr val="7B2DAF"/>
            </a:solidFill>
            <a:prstDash val="dash"/>
          </a:ln>
        </p:spPr>
      </p:sp>
      <p:sp>
        <p:nvSpPr>
          <p:cNvPr id="42" name="">
            <a:extLst xmlns:a="http://schemas.openxmlformats.org/drawingml/2006/main">
              <a:ext uri="{FF2B5EF4-FFF2-40B4-BE49-F238E27FC236}">
                <a16:creationId xmlns:a16="http://schemas.microsoft.com/office/drawing/2014/main" id="{70E2852E-21F9-4916-917A-6417BD48F7BD}"/>
              </a:ext>
            </a:extLst>
          </p:cNvPr>
          <p:cNvSpPr>
            <a:spLocks xmlns:a="http://schemas.openxmlformats.org/drawingml/2006/main" noGrp="1"/>
          </p:cNvSpPr>
          <p:nvPr/>
        </p:nvSpPr>
        <p:spPr>
          <a:xfrm xmlns:a="http://schemas.openxmlformats.org/drawingml/2006/main">
            <a:off x="6120056" y="1466850"/>
            <a:ext cx="1466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13" b="1" i="0">
                <a:solidFill>
                  <a:srgbClr val="7B2DAF"/>
                </a:solidFill>
                <a:latin typeface="Yu Gothic"/>
                <a:ea typeface="Yu Gothic"/>
                <a:cs typeface="Yu Gothic"/>
              </a:defRPr>
            </a:pPr>
            <a:r>
              <a:rPr sz="713" b="1" i="0">
                <a:solidFill>
                  <a:srgbClr val="7B2DAF"/>
                </a:solidFill>
                <a:latin typeface="Yu Gothic"/>
                <a:ea typeface="Yu Gothic"/>
                <a:cs typeface="Yu Gothic"/>
              </a:rPr>
              <a:t>HF output  20 s</a:t>
            </a:r>
          </a:p>
        </p:txBody>
      </p:sp>
      <p:sp>
        <p:nvSpPr>
          <p:cNvPr id="43" name="">
            <a:extLst xmlns:a="http://schemas.openxmlformats.org/drawingml/2006/main">
              <a:ext uri="{FF2B5EF4-FFF2-40B4-BE49-F238E27FC236}">
                <a16:creationId xmlns:a16="http://schemas.microsoft.com/office/drawing/2014/main" id="{0AFF20BE-766A-4B05-8055-D82550C27FE4}"/>
              </a:ext>
            </a:extLst>
          </p:cNvPr>
          <p:cNvSpPr>
            <a:spLocks xmlns:a="http://schemas.openxmlformats.org/drawingml/2006/main" noGrp="1"/>
          </p:cNvSpPr>
          <p:nvPr/>
        </p:nvSpPr>
        <p:spPr>
          <a:xfrm xmlns:a="http://schemas.openxmlformats.org/drawingml/2006/main">
            <a:off x="5524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4" name="">
            <a:extLst xmlns:a="http://schemas.openxmlformats.org/drawingml/2006/main">
              <a:ext uri="{FF2B5EF4-FFF2-40B4-BE49-F238E27FC236}">
                <a16:creationId xmlns:a16="http://schemas.microsoft.com/office/drawing/2014/main" id="{CAB74C87-560D-483E-AC0C-D5C0E32393FF}"/>
              </a:ext>
            </a:extLst>
          </p:cNvPr>
          <p:cNvSpPr>
            <a:spLocks xmlns:a="http://schemas.openxmlformats.org/drawingml/2006/main" noGrp="1"/>
          </p:cNvSpPr>
          <p:nvPr/>
        </p:nvSpPr>
        <p:spPr>
          <a:xfrm xmlns:a="http://schemas.openxmlformats.org/drawingml/2006/main">
            <a:off x="552450" y="4572000"/>
            <a:ext cx="76200" cy="1476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4826B5F3-9530-4068-8772-2D5B68368B51}"/>
              </a:ext>
            </a:extLst>
          </p:cNvPr>
          <p:cNvSpPr>
            <a:spLocks xmlns:a="http://schemas.openxmlformats.org/drawingml/2006/main" noGrp="1"/>
          </p:cNvSpPr>
          <p:nvPr/>
        </p:nvSpPr>
        <p:spPr>
          <a:xfrm xmlns:a="http://schemas.openxmlformats.org/drawingml/2006/main">
            <a:off x="7620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fast 0.186 s</a:t>
            </a:r>
          </a:p>
        </p:txBody>
      </p:sp>
      <p:sp>
        <p:nvSpPr>
          <p:cNvPr id="46" name="">
            <a:extLst xmlns:a="http://schemas.openxmlformats.org/drawingml/2006/main">
              <a:ext uri="{FF2B5EF4-FFF2-40B4-BE49-F238E27FC236}">
                <a16:creationId xmlns:a16="http://schemas.microsoft.com/office/drawing/2014/main" id="{5020D5A8-2E19-47E9-A29B-63C2F224C05B}"/>
              </a:ext>
            </a:extLst>
          </p:cNvPr>
          <p:cNvSpPr>
            <a:spLocks xmlns:a="http://schemas.openxmlformats.org/drawingml/2006/main" noGrp="1"/>
          </p:cNvSpPr>
          <p:nvPr/>
        </p:nvSpPr>
        <p:spPr>
          <a:xfrm xmlns:a="http://schemas.openxmlformats.org/drawingml/2006/main">
            <a:off x="7620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2 s samplingでは独立同定困難。sensor応答・反aliasing・短周期実験が必要。</a:t>
            </a:r>
          </a:p>
        </p:txBody>
      </p:sp>
      <p:sp>
        <p:nvSpPr>
          <p:cNvPr id="47" name="">
            <a:extLst xmlns:a="http://schemas.openxmlformats.org/drawingml/2006/main">
              <a:ext uri="{FF2B5EF4-FFF2-40B4-BE49-F238E27FC236}">
                <a16:creationId xmlns:a16="http://schemas.microsoft.com/office/drawing/2014/main" id="{F6F10520-63F1-40F2-AC8B-CB086DAB0D33}"/>
              </a:ext>
            </a:extLst>
          </p:cNvPr>
          <p:cNvSpPr>
            <a:spLocks xmlns:a="http://schemas.openxmlformats.org/drawingml/2006/main" noGrp="1"/>
          </p:cNvSpPr>
          <p:nvPr/>
        </p:nvSpPr>
        <p:spPr>
          <a:xfrm xmlns:a="http://schemas.openxmlformats.org/drawingml/2006/main">
            <a:off x="42481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8" name="">
            <a:extLst xmlns:a="http://schemas.openxmlformats.org/drawingml/2006/main">
              <a:ext uri="{FF2B5EF4-FFF2-40B4-BE49-F238E27FC236}">
                <a16:creationId xmlns:a16="http://schemas.microsoft.com/office/drawing/2014/main" id="{E11152B7-9EF2-4CA1-86AA-73F247213A28}"/>
              </a:ext>
            </a:extLst>
          </p:cNvPr>
          <p:cNvSpPr>
            <a:spLocks xmlns:a="http://schemas.openxmlformats.org/drawingml/2006/main" noGrp="1"/>
          </p:cNvSpPr>
          <p:nvPr/>
        </p:nvSpPr>
        <p:spPr>
          <a:xfrm xmlns:a="http://schemas.openxmlformats.org/drawingml/2006/main">
            <a:off x="4248150" y="4572000"/>
            <a:ext cx="76200" cy="14763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47EE9FB-3669-494D-92A5-7C00DBD12607}"/>
              </a:ext>
            </a:extLst>
          </p:cNvPr>
          <p:cNvSpPr>
            <a:spLocks xmlns:a="http://schemas.openxmlformats.org/drawingml/2006/main" noGrp="1"/>
          </p:cNvSpPr>
          <p:nvPr/>
        </p:nvSpPr>
        <p:spPr>
          <a:xfrm xmlns:a="http://schemas.openxmlformats.org/drawingml/2006/main">
            <a:off x="44577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00A5D8"/>
                </a:solidFill>
                <a:latin typeface="Yu Gothic"/>
                <a:ea typeface="Yu Gothic"/>
                <a:cs typeface="Yu Gothic"/>
              </a:defRPr>
            </a:pPr>
            <a:r>
              <a:rPr sz="1275" b="1" i="0">
                <a:solidFill>
                  <a:srgbClr val="00A5D8"/>
                </a:solidFill>
                <a:latin typeface="Yu Gothic"/>
                <a:ea typeface="Yu Gothic"/>
                <a:cs typeface="Yu Gothic"/>
              </a:rPr>
              <a:t>intermediate 2.03 s</a:t>
            </a:r>
          </a:p>
        </p:txBody>
      </p:sp>
      <p:sp>
        <p:nvSpPr>
          <p:cNvPr id="50" name="">
            <a:extLst xmlns:a="http://schemas.openxmlformats.org/drawingml/2006/main">
              <a:ext uri="{FF2B5EF4-FFF2-40B4-BE49-F238E27FC236}">
                <a16:creationId xmlns:a16="http://schemas.microsoft.com/office/drawing/2014/main" id="{F22C3CEE-4C47-445F-8E09-8C7A701E7FA4}"/>
              </a:ext>
            </a:extLst>
          </p:cNvPr>
          <p:cNvSpPr>
            <a:spLocks xmlns:a="http://schemas.openxmlformats.org/drawingml/2006/main" noGrp="1"/>
          </p:cNvSpPr>
          <p:nvPr/>
        </p:nvSpPr>
        <p:spPr>
          <a:xfrm xmlns:a="http://schemas.openxmlformats.org/drawingml/2006/main">
            <a:off x="44577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2 s samplingで限界的。step端の時刻精度とZOH契約が推定値を左右する。</a:t>
            </a:r>
          </a:p>
        </p:txBody>
      </p:sp>
      <p:sp>
        <p:nvSpPr>
          <p:cNvPr id="51" name="">
            <a:extLst xmlns:a="http://schemas.openxmlformats.org/drawingml/2006/main">
              <a:ext uri="{FF2B5EF4-FFF2-40B4-BE49-F238E27FC236}">
                <a16:creationId xmlns:a16="http://schemas.microsoft.com/office/drawing/2014/main" id="{0FAD7202-2693-45A7-92A6-192643321582}"/>
              </a:ext>
            </a:extLst>
          </p:cNvPr>
          <p:cNvSpPr>
            <a:spLocks xmlns:a="http://schemas.openxmlformats.org/drawingml/2006/main" noGrp="1"/>
          </p:cNvSpPr>
          <p:nvPr/>
        </p:nvSpPr>
        <p:spPr>
          <a:xfrm xmlns:a="http://schemas.openxmlformats.org/drawingml/2006/main">
            <a:off x="7943850" y="4572000"/>
            <a:ext cx="3505200"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2" name="">
            <a:extLst xmlns:a="http://schemas.openxmlformats.org/drawingml/2006/main">
              <a:ext uri="{FF2B5EF4-FFF2-40B4-BE49-F238E27FC236}">
                <a16:creationId xmlns:a16="http://schemas.microsoft.com/office/drawing/2014/main" id="{4BA59570-6AE2-45AF-9C34-DC4244789D7F}"/>
              </a:ext>
            </a:extLst>
          </p:cNvPr>
          <p:cNvSpPr>
            <a:spLocks xmlns:a="http://schemas.openxmlformats.org/drawingml/2006/main" noGrp="1"/>
          </p:cNvSpPr>
          <p:nvPr/>
        </p:nvSpPr>
        <p:spPr>
          <a:xfrm xmlns:a="http://schemas.openxmlformats.org/drawingml/2006/main">
            <a:off x="7943850" y="4572000"/>
            <a:ext cx="76200" cy="14763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0E69692B-72C1-4288-A49A-3FDBDBE3EC1D}"/>
              </a:ext>
            </a:extLst>
          </p:cNvPr>
          <p:cNvSpPr>
            <a:spLocks xmlns:a="http://schemas.openxmlformats.org/drawingml/2006/main" noGrp="1"/>
          </p:cNvSpPr>
          <p:nvPr/>
        </p:nvSpPr>
        <p:spPr>
          <a:xfrm xmlns:a="http://schemas.openxmlformats.org/drawingml/2006/main">
            <a:off x="8153400" y="4724400"/>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6BE18"/>
                </a:solidFill>
                <a:latin typeface="Yu Gothic"/>
                <a:ea typeface="Yu Gothic"/>
                <a:cs typeface="Yu Gothic"/>
              </a:defRPr>
            </a:pPr>
            <a:r>
              <a:rPr sz="1275" b="1" i="0">
                <a:solidFill>
                  <a:srgbClr val="76BE18"/>
                </a:solidFill>
                <a:latin typeface="Yu Gothic"/>
                <a:ea typeface="Yu Gothic"/>
                <a:cs typeface="Yu Gothic"/>
              </a:rPr>
              <a:t>global 425 s</a:t>
            </a:r>
          </a:p>
        </p:txBody>
      </p:sp>
      <p:sp>
        <p:nvSpPr>
          <p:cNvPr id="54" name="">
            <a:extLst xmlns:a="http://schemas.openxmlformats.org/drawingml/2006/main">
              <a:ext uri="{FF2B5EF4-FFF2-40B4-BE49-F238E27FC236}">
                <a16:creationId xmlns:a16="http://schemas.microsoft.com/office/drawing/2014/main" id="{E6D6966C-1D5C-48B1-B949-3987826A3DC7}"/>
              </a:ext>
            </a:extLst>
          </p:cNvPr>
          <p:cNvSpPr>
            <a:spLocks xmlns:a="http://schemas.openxmlformats.org/drawingml/2006/main" noGrp="1"/>
          </p:cNvSpPr>
          <p:nvPr/>
        </p:nvSpPr>
        <p:spPr>
          <a:xfrm xmlns:a="http://schemas.openxmlformats.org/drawingml/2006/main">
            <a:off x="8153400" y="5095875"/>
            <a:ext cx="31051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6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長時間holdとcoolant変調が必要。短いpulseだけではhAと初期温度が混同する。</a:t>
            </a:r>
          </a:p>
        </p:txBody>
      </p:sp>
    </p:spTree>
    <p:extLst>
      <p:ext uri="{BB962C8B-B14F-4D97-AF65-F5344CB8AC3E}">
        <p14:creationId xmlns:p14="http://schemas.microsoft.com/office/powerpoint/2010/main" val="169607585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CDDC3B7-6171-4E6C-9CC0-AD464BD093FF}"/>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FE540D9-6BBD-4758-811A-5330CC9EF5CD}"/>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NUMERICAL METHODS</a:t>
            </a:r>
          </a:p>
        </p:txBody>
      </p:sp>
      <p:sp>
        <p:nvSpPr>
          <p:cNvPr id="3" name="">
            <a:extLst xmlns:a="http://schemas.openxmlformats.org/drawingml/2006/main">
              <a:ext uri="{FF2B5EF4-FFF2-40B4-BE49-F238E27FC236}">
                <a16:creationId xmlns:a16="http://schemas.microsoft.com/office/drawing/2014/main" id="{EB00CB23-799C-4544-B31F-25CE9831CA6D}"/>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係数が区間一定ならexact affine、変化するならimplicitで安定に積分する</a:t>
            </a:r>
          </a:p>
        </p:txBody>
      </p:sp>
      <p:sp>
        <p:nvSpPr>
          <p:cNvPr id="4" name="">
            <a:extLst xmlns:a="http://schemas.openxmlformats.org/drawingml/2006/main">
              <a:ext uri="{FF2B5EF4-FFF2-40B4-BE49-F238E27FC236}">
                <a16:creationId xmlns:a16="http://schemas.microsoft.com/office/drawing/2014/main" id="{2DA28D66-67BA-44BB-9F6F-FE2D6D7C4BD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少数nodeのため、密行列指数・密線形solveを直接用いる</a:t>
            </a:r>
          </a:p>
        </p:txBody>
      </p:sp>
      <p:sp>
        <p:nvSpPr>
          <p:cNvPr id="5" name="">
            <a:extLst xmlns:a="http://schemas.openxmlformats.org/drawingml/2006/main">
              <a:ext uri="{FF2B5EF4-FFF2-40B4-BE49-F238E27FC236}">
                <a16:creationId xmlns:a16="http://schemas.microsoft.com/office/drawing/2014/main" id="{29119D1F-0E60-4842-8BE9-47298944061E}"/>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8871F108-C138-46F0-8290-7C3F4BE54912}"/>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ED4638DD-BEDE-4F0F-9C01-FA8174605419}"/>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E0D32C75-9ECA-4202-B455-E798BACAC3C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13</a:t>
            </a:r>
          </a:p>
        </p:txBody>
      </p:sp>
      <p:sp>
        <p:nvSpPr>
          <p:cNvPr id="9" name="">
            <a:extLst xmlns:a="http://schemas.openxmlformats.org/drawingml/2006/main">
              <a:ext uri="{FF2B5EF4-FFF2-40B4-BE49-F238E27FC236}">
                <a16:creationId xmlns:a16="http://schemas.microsoft.com/office/drawing/2014/main" id="{EC87F694-C0F9-4687-A93B-88F963E66A59}"/>
              </a:ext>
            </a:extLst>
          </p:cNvPr>
          <p:cNvSpPr>
            <a:spLocks xmlns:a="http://schemas.openxmlformats.org/drawingml/2006/main" noGrp="1"/>
          </p:cNvSpPr>
          <p:nvPr/>
        </p:nvSpPr>
        <p:spPr>
          <a:xfrm xmlns:a="http://schemas.openxmlformats.org/drawingml/2006/main">
            <a:off x="552450" y="1438275"/>
            <a:ext cx="11087100" cy="1200150"/>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EC3AC1-3DFC-4E84-8A2F-E473443C2343}"/>
              </a:ext>
            </a:extLst>
          </p:cNvPr>
          <p:cNvSpPr>
            <a:spLocks xmlns:a="http://schemas.openxmlformats.org/drawingml/2006/main" noGrp="1"/>
          </p:cNvSpPr>
          <p:nvPr/>
        </p:nvSpPr>
        <p:spPr>
          <a:xfrm xmlns:a="http://schemas.openxmlformats.org/drawingml/2006/main">
            <a:off x="790575" y="1609725"/>
            <a:ext cx="1571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exact affine</a:t>
            </a:r>
          </a:p>
        </p:txBody>
      </p:sp>
      <p:sp>
        <p:nvSpPr>
          <p:cNvPr id="11" name="">
            <a:extLst xmlns:a="http://schemas.openxmlformats.org/drawingml/2006/main">
              <a:ext uri="{FF2B5EF4-FFF2-40B4-BE49-F238E27FC236}">
                <a16:creationId xmlns:a16="http://schemas.microsoft.com/office/drawing/2014/main" id="{7CF8A452-07C3-433F-9649-FA98661AC242}"/>
              </a:ext>
            </a:extLst>
          </p:cNvPr>
          <p:cNvSpPr>
            <a:spLocks xmlns:a="http://schemas.openxmlformats.org/drawingml/2006/main" noGrp="1"/>
          </p:cNvSpPr>
          <p:nvPr/>
        </p:nvSpPr>
        <p:spPr>
          <a:xfrm xmlns:a="http://schemas.openxmlformats.org/drawingml/2006/main">
            <a:off x="2343150" y="1552575"/>
            <a:ext cx="8810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FFFFFF"/>
                </a:solidFill>
                <a:latin typeface="Cambria Math"/>
                <a:ea typeface="Cambria Math"/>
                <a:cs typeface="Cambria Math"/>
              </a:defRPr>
            </a:pPr>
            <a:r>
              <a:rPr sz="1875" b="1" i="0">
                <a:solidFill>
                  <a:srgbClr val="FFFFFF"/>
                </a:solidFill>
                <a:latin typeface="Cambria Math"/>
                <a:ea typeface="Cambria Math"/>
                <a:cs typeface="Cambria Math"/>
              </a:rPr>
              <a:t>[xₖ₊₁;1] = exp([F  c; 0  0] Δtₖ)[xₖ;1]</a:t>
            </a:r>
          </a:p>
        </p:txBody>
      </p:sp>
      <p:sp>
        <p:nvSpPr>
          <p:cNvPr id="12" name="">
            <a:extLst xmlns:a="http://schemas.openxmlformats.org/drawingml/2006/main">
              <a:ext uri="{FF2B5EF4-FFF2-40B4-BE49-F238E27FC236}">
                <a16:creationId xmlns:a16="http://schemas.microsoft.com/office/drawing/2014/main" id="{F31CEE9D-35FC-4C07-803C-9A4C4985B212}"/>
              </a:ext>
            </a:extLst>
          </p:cNvPr>
          <p:cNvSpPr>
            <a:spLocks xmlns:a="http://schemas.openxmlformats.org/drawingml/2006/main" noGrp="1"/>
          </p:cNvSpPr>
          <p:nvPr/>
        </p:nvSpPr>
        <p:spPr>
          <a:xfrm xmlns:a="http://schemas.openxmlformats.org/drawingml/2006/main">
            <a:off x="2381250" y="2076450"/>
            <a:ext cx="876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DDD6EA"/>
                </a:solidFill>
                <a:latin typeface="Yu Gothic"/>
                <a:ea typeface="Yu Gothic"/>
                <a:cs typeface="Yu Gothic"/>
              </a:defRPr>
            </a:pPr>
            <a:r>
              <a:rPr sz="938" b="0" i="0">
                <a:solidFill>
                  <a:srgbClr val="DDD6EA"/>
                </a:solidFill>
                <a:latin typeface="Yu Gothic"/>
                <a:ea typeface="Yu Gothic"/>
                <a:cs typeface="Yu Gothic"/>
              </a:rPr>
              <a:t>augmented matrixによりF⁻¹を作らず、閉系のゼロ固有値も扱う</a:t>
            </a:r>
          </a:p>
        </p:txBody>
      </p:sp>
      <p:graphicFrame>
        <p:nvGraphicFramePr>
          <p:cNvPr id="30" name=""/>
          <p:cNvGraphicFramePr/>
          <p:nvPr/>
        </p:nvGraphicFramePr>
        <p:xfrm>
          <a:off xmlns:a="http://schemas.openxmlformats.org/drawingml/2006/main" x="552450" y="2895600"/>
          <a:ext xmlns:a="http://schemas.openxmlformats.org/drawingml/2006/main" cx="11087100" cy="2381250"/>
        </p:xfrm>
        <a:graphic xmlns:a="http://schemas.openxmlformats.org/drawingml/2006/main">
          <a:graphicData uri="http://schemas.openxmlformats.org/drawingml/2006/table">
            <a:tbl>
              <a:tblPr/>
              <a:tblGrid>
                <a:gridCol w="1828800"/>
                <a:gridCol w="3171825"/>
                <a:gridCol w="2476500"/>
                <a:gridCol w="3609975"/>
              </a:tblGrid>
              <a:tr h="476250">
                <a:tc>
                  <a:txBody>
                    <a:bodyPr/>
                    <a:lstStyle/>
                    <a:p>
                      <a:r>
                        <a:rPr sz="938" b="1">
                          <a:solidFill>
                            <a:srgbClr val="FFFFFF"/>
                          </a:solidFill>
                          <a:latin typeface="Yu Gothic"/>
                          <a:ea typeface="Yu Gothic"/>
                          <a:cs typeface="Yu Gothic"/>
                        </a:rPr>
                        <a:t>手法</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適用条件</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離散化・安定性</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実装上の確認</a:t>
                      </a:r>
                    </a:p>
                  </a:txBody>
                  <a:tcPr marL="91440" marR="91440" marT="45720" marB="45720">
                    <a:solidFill>
                      <a:srgbClr val="007FA8"/>
                    </a:solidFill>
                  </a:tcPr>
                </a:tc>
              </a:tr>
              <a:tr h="476250">
                <a:tc>
                  <a:txBody>
                    <a:bodyPr/>
                    <a:lstStyle/>
                    <a:p>
                      <a:r>
                        <a:rPr sz="938" b="1">
                          <a:solidFill>
                            <a:srgbClr val="007FA8"/>
                          </a:solidFill>
                          <a:latin typeface="Yu Gothic"/>
                          <a:ea typeface="Yu Gothic"/>
                          <a:cs typeface="Yu Gothic"/>
                        </a:rPr>
                        <a:t>exact affine</a:t>
                      </a:r>
                    </a:p>
                  </a:txBody>
                  <a:tcPr marL="91440" marR="91440" marT="45720" marB="45720">
                    <a:solidFill>
                      <a:srgbClr val="FFFFFF"/>
                    </a:solidFill>
                  </a:tcPr>
                </a:tc>
                <a:tc>
                  <a:txBody>
                    <a:bodyPr/>
                    <a:lstStyle/>
                    <a:p>
                      <a:r>
                        <a:rPr sz="938">
                          <a:solidFill>
                            <a:srgbClr val="5B5B5B"/>
                          </a:solidFill>
                          <a:latin typeface="Yu Gothic"/>
                          <a:ea typeface="Yu Gothic"/>
                          <a:cs typeface="Yu Gothic"/>
                        </a:rPr>
                        <a:t>係数・active setが区間一定</a:t>
                      </a:r>
                    </a:p>
                  </a:txBody>
                  <a:tcPr marL="91440" marR="91440" marT="45720" marB="45720">
                    <a:solidFill>
                      <a:srgbClr val="FFFFFF"/>
                    </a:solidFill>
                  </a:tcPr>
                </a:tc>
                <a:tc>
                  <a:txBody>
                    <a:bodyPr/>
                    <a:lstStyle/>
                    <a:p>
                      <a:r>
                        <a:rPr sz="938">
                          <a:solidFill>
                            <a:srgbClr val="5B5B5B"/>
                          </a:solidFill>
                          <a:latin typeface="Yu Gothic"/>
                          <a:ea typeface="Yu Gothic"/>
                          <a:cs typeface="Yu Gothic"/>
                        </a:rPr>
                        <a:t>時間離散化誤差なし</a:t>
                      </a:r>
                    </a:p>
                  </a:txBody>
                  <a:tcPr marL="91440" marR="91440" marT="45720" marB="45720">
                    <a:solidFill>
                      <a:srgbClr val="FFFFFF"/>
                    </a:solidFill>
                  </a:tcPr>
                </a:tc>
                <a:tc>
                  <a:txBody>
                    <a:bodyPr/>
                    <a:lstStyle/>
                    <a:p>
                      <a:r>
                        <a:rPr sz="938">
                          <a:solidFill>
                            <a:srgbClr val="5B5B5B"/>
                          </a:solidFill>
                          <a:latin typeface="Yu Gothic"/>
                          <a:ea typeface="Yu Gothic"/>
                          <a:cs typeface="Yu Gothic"/>
                        </a:rPr>
                        <a:t>ZOH・イベント時刻・matrix exp</a:t>
                      </a:r>
                    </a:p>
                  </a:txBody>
                  <a:tcPr marL="91440" marR="91440" marT="45720" marB="45720">
                    <a:solidFill>
                      <a:srgbClr val="FFFFFF"/>
                    </a:solidFill>
                  </a:tcPr>
                </a:tc>
              </a:tr>
              <a:tr h="476250">
                <a:tc>
                  <a:txBody>
                    <a:bodyPr/>
                    <a:lstStyle/>
                    <a:p>
                      <a:r>
                        <a:rPr sz="938" b="1">
                          <a:solidFill>
                            <a:srgbClr val="7B2DAF"/>
                          </a:solidFill>
                          <a:latin typeface="Yu Gothic"/>
                          <a:ea typeface="Yu Gothic"/>
                          <a:cs typeface="Yu Gothic"/>
                        </a:rPr>
                        <a:t>implicit Euler</a:t>
                      </a:r>
                    </a:p>
                  </a:txBody>
                  <a:tcPr marL="91440" marR="91440" marT="45720" marB="45720">
                    <a:solidFill>
                      <a:srgbClr val="F8F8F8"/>
                    </a:solidFill>
                  </a:tcPr>
                </a:tc>
                <a:tc>
                  <a:txBody>
                    <a:bodyPr/>
                    <a:lstStyle/>
                    <a:p>
                      <a:r>
                        <a:rPr sz="938">
                          <a:solidFill>
                            <a:srgbClr val="5B5B5B"/>
                          </a:solidFill>
                          <a:latin typeface="Yu Gothic"/>
                          <a:ea typeface="Yu Gothic"/>
                          <a:cs typeface="Yu Gothic"/>
                        </a:rPr>
                        <a:t>区間内で係数が変化</a:t>
                      </a:r>
                    </a:p>
                  </a:txBody>
                  <a:tcPr marL="91440" marR="91440" marT="45720" marB="45720">
                    <a:solidFill>
                      <a:srgbClr val="F8F8F8"/>
                    </a:solidFill>
                  </a:tcPr>
                </a:tc>
                <a:tc>
                  <a:txBody>
                    <a:bodyPr/>
                    <a:lstStyle/>
                    <a:p>
                      <a:r>
                        <a:rPr sz="938">
                          <a:solidFill>
                            <a:srgbClr val="5B5B5B"/>
                          </a:solidFill>
                          <a:latin typeface="Yu Gothic"/>
                          <a:ea typeface="Yu Gothic"/>
                          <a:cs typeface="Yu Gothic"/>
                        </a:rPr>
                        <a:t>A-stable / 1次精度</a:t>
                      </a:r>
                    </a:p>
                  </a:txBody>
                  <a:tcPr marL="91440" marR="91440" marT="45720" marB="45720">
                    <a:solidFill>
                      <a:srgbClr val="F8F8F8"/>
                    </a:solidFill>
                  </a:tcPr>
                </a:tc>
                <a:tc>
                  <a:txBody>
                    <a:bodyPr/>
                    <a:lstStyle/>
                    <a:p>
                      <a:r>
                        <a:rPr sz="938">
                          <a:solidFill>
                            <a:srgbClr val="5B5B5B"/>
                          </a:solidFill>
                          <a:latin typeface="Yu Gothic"/>
                          <a:ea typeface="Yu Gothic"/>
                          <a:cs typeface="Yu Gothic"/>
                        </a:rPr>
                        <a:t>midpoint操作量・step分割</a:t>
                      </a:r>
                    </a:p>
                  </a:txBody>
                  <a:tcPr marL="91440" marR="91440" marT="45720" marB="45720">
                    <a:solidFill>
                      <a:srgbClr val="F8F8F8"/>
                    </a:solidFill>
                  </a:tcPr>
                </a:tc>
              </a:tr>
              <a:tr h="476250">
                <a:tc>
                  <a:txBody>
                    <a:bodyPr/>
                    <a:lstStyle/>
                    <a:p>
                      <a:r>
                        <a:rPr sz="938" b="1">
                          <a:solidFill>
                            <a:srgbClr val="4D8710"/>
                          </a:solidFill>
                          <a:latin typeface="Yu Gothic"/>
                          <a:ea typeface="Yu Gothic"/>
                          <a:cs typeface="Yu Gothic"/>
                        </a:rPr>
                        <a:t>Van Loan Qd</a:t>
                      </a:r>
                    </a:p>
                  </a:txBody>
                  <a:tcPr marL="91440" marR="91440" marT="45720" marB="45720">
                    <a:solidFill>
                      <a:srgbClr val="FFFFFF"/>
                    </a:solidFill>
                  </a:tcPr>
                </a:tc>
                <a:tc>
                  <a:txBody>
                    <a:bodyPr/>
                    <a:lstStyle/>
                    <a:p>
                      <a:r>
                        <a:rPr sz="938">
                          <a:solidFill>
                            <a:srgbClr val="5B5B5B"/>
                          </a:solidFill>
                          <a:latin typeface="Yu Gothic"/>
                          <a:ea typeface="Yu Gothic"/>
                          <a:cs typeface="Yu Gothic"/>
                        </a:rPr>
                        <a:t>連続process noiseの離散化</a:t>
                      </a:r>
                    </a:p>
                  </a:txBody>
                  <a:tcPr marL="91440" marR="91440" marT="45720" marB="45720">
                    <a:solidFill>
                      <a:srgbClr val="FFFFFF"/>
                    </a:solidFill>
                  </a:tcPr>
                </a:tc>
                <a:tc>
                  <a:txBody>
                    <a:bodyPr/>
                    <a:lstStyle/>
                    <a:p>
                      <a:r>
                        <a:rPr sz="938">
                          <a:solidFill>
                            <a:srgbClr val="5B5B5B"/>
                          </a:solidFill>
                          <a:latin typeface="Yu Gothic"/>
                          <a:ea typeface="Yu Gothic"/>
                          <a:cs typeface="Yu Gothic"/>
                        </a:rPr>
                        <a:t>cross-covarianceを保持</a:t>
                      </a:r>
                    </a:p>
                  </a:txBody>
                  <a:tcPr marL="91440" marR="91440" marT="45720" marB="45720">
                    <a:solidFill>
                      <a:srgbClr val="FFFFFF"/>
                    </a:solidFill>
                  </a:tcPr>
                </a:tc>
                <a:tc>
                  <a:txBody>
                    <a:bodyPr/>
                    <a:lstStyle/>
                    <a:p>
                      <a:r>
                        <a:rPr sz="938">
                          <a:solidFill>
                            <a:srgbClr val="5B5B5B"/>
                          </a:solidFill>
                          <a:latin typeface="Yu Gothic"/>
                          <a:ea typeface="Yu Gothic"/>
                          <a:cs typeface="Yu Gothic"/>
                        </a:rPr>
                        <a:t>小Δt近似との整合</a:t>
                      </a:r>
                    </a:p>
                  </a:txBody>
                  <a:tcPr marL="91440" marR="91440" marT="45720" marB="45720">
                    <a:solidFill>
                      <a:srgbClr val="FFFFFF"/>
                    </a:solidFill>
                  </a:tcPr>
                </a:tc>
              </a:tr>
              <a:tr h="476250">
                <a:tc>
                  <a:txBody>
                    <a:bodyPr/>
                    <a:lstStyle/>
                    <a:p>
                      <a:r>
                        <a:rPr sz="938" b="1">
                          <a:solidFill>
                            <a:srgbClr val="4D8710"/>
                          </a:solidFill>
                          <a:latin typeface="Yu Gothic"/>
                          <a:ea typeface="Yu Gothic"/>
                          <a:cs typeface="Yu Gothic"/>
                        </a:rPr>
                        <a:t>Joseph update</a:t>
                      </a:r>
                    </a:p>
                  </a:txBody>
                  <a:tcPr marL="91440" marR="91440" marT="45720" marB="45720">
                    <a:solidFill>
                      <a:srgbClr val="F8F8F8"/>
                    </a:solidFill>
                  </a:tcPr>
                </a:tc>
                <a:tc>
                  <a:txBody>
                    <a:bodyPr/>
                    <a:lstStyle/>
                    <a:p>
                      <a:r>
                        <a:rPr sz="938">
                          <a:solidFill>
                            <a:srgbClr val="5B5B5B"/>
                          </a:solidFill>
                          <a:latin typeface="Yu Gothic"/>
                          <a:ea typeface="Yu Gothic"/>
                          <a:cs typeface="Yu Gothic"/>
                        </a:rPr>
                        <a:t>Kalman covariance更新</a:t>
                      </a:r>
                    </a:p>
                  </a:txBody>
                  <a:tcPr marL="91440" marR="91440" marT="45720" marB="45720">
                    <a:solidFill>
                      <a:srgbClr val="F8F8F8"/>
                    </a:solidFill>
                  </a:tcPr>
                </a:tc>
                <a:tc>
                  <a:txBody>
                    <a:bodyPr/>
                    <a:lstStyle/>
                    <a:p>
                      <a:r>
                        <a:rPr sz="938">
                          <a:solidFill>
                            <a:srgbClr val="5B5B5B"/>
                          </a:solidFill>
                          <a:latin typeface="Yu Gothic"/>
                          <a:ea typeface="Yu Gothic"/>
                          <a:cs typeface="Yu Gothic"/>
                        </a:rPr>
                        <a:t>半正定値性を保ちやすい</a:t>
                      </a:r>
                    </a:p>
                  </a:txBody>
                  <a:tcPr marL="91440" marR="91440" marT="45720" marB="45720">
                    <a:solidFill>
                      <a:srgbClr val="F8F8F8"/>
                    </a:solidFill>
                  </a:tcPr>
                </a:tc>
                <a:tc>
                  <a:txBody>
                    <a:bodyPr/>
                    <a:lstStyle/>
                    <a:p>
                      <a:r>
                        <a:rPr sz="938">
                          <a:solidFill>
                            <a:srgbClr val="5B5B5B"/>
                          </a:solidFill>
                          <a:latin typeface="Yu Gothic"/>
                          <a:ea typeface="Yu Gothic"/>
                          <a:cs typeface="Yu Gothic"/>
                        </a:rPr>
                        <a:t>対称化・jitter・欠測縮約</a:t>
                      </a:r>
                    </a:p>
                  </a:txBody>
                  <a:tcPr marL="91440" marR="91440" marT="45720" marB="45720">
                    <a:solidFill>
                      <a:srgbClr val="F8F8F8"/>
                    </a:solidFill>
                  </a:tcPr>
                </a:tc>
              </a:tr>
            </a:tbl>
          </a:graphicData>
        </a:graphic>
      </p:graphicFrame>
      <p:sp>
        <p:nvSpPr>
          <p:cNvPr id="14" name="">
            <a:extLst xmlns:a="http://schemas.openxmlformats.org/drawingml/2006/main">
              <a:ext uri="{FF2B5EF4-FFF2-40B4-BE49-F238E27FC236}">
                <a16:creationId xmlns:a16="http://schemas.microsoft.com/office/drawing/2014/main" id="{8822BBBE-778F-454A-A3FD-66F83E1372BB}"/>
              </a:ext>
            </a:extLst>
          </p:cNvPr>
          <p:cNvSpPr>
            <a:spLocks xmlns:a="http://schemas.openxmlformats.org/drawingml/2006/main" noGrp="1"/>
          </p:cNvSpPr>
          <p:nvPr/>
        </p:nvSpPr>
        <p:spPr>
          <a:xfrm xmlns:a="http://schemas.openxmlformats.org/drawingml/2006/main">
            <a:off x="552450" y="5514975"/>
            <a:ext cx="11087100" cy="685800"/>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15" name="">
            <a:extLst xmlns:a="http://schemas.openxmlformats.org/drawingml/2006/main">
              <a:ext uri="{FF2B5EF4-FFF2-40B4-BE49-F238E27FC236}">
                <a16:creationId xmlns:a16="http://schemas.microsoft.com/office/drawing/2014/main" id="{2A4C545E-481B-4E26-83E6-C656EDC24021}"/>
              </a:ext>
            </a:extLst>
          </p:cNvPr>
          <p:cNvSpPr>
            <a:spLocks xmlns:a="http://schemas.openxmlformats.org/drawingml/2006/main" noGrp="1"/>
          </p:cNvSpPr>
          <p:nvPr/>
        </p:nvSpPr>
        <p:spPr>
          <a:xfrm xmlns:a="http://schemas.openxmlformats.org/drawingml/2006/main">
            <a:off x="733425" y="563880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806000"/>
                </a:solidFill>
                <a:latin typeface="Yu Gothic"/>
                <a:ea typeface="Yu Gothic"/>
                <a:cs typeface="Yu Gothic"/>
              </a:defRPr>
            </a:pPr>
            <a:r>
              <a:rPr sz="1050" b="1" i="0">
                <a:solidFill>
                  <a:srgbClr val="806000"/>
                </a:solidFill>
                <a:latin typeface="Yu Gothic"/>
                <a:ea typeface="Yu Gothic"/>
                <a:cs typeface="Yu Gothic"/>
              </a:rPr>
              <a:t>数値検証</a:t>
            </a:r>
          </a:p>
        </p:txBody>
      </p:sp>
      <p:sp>
        <p:nvSpPr>
          <p:cNvPr id="16" name="">
            <a:extLst xmlns:a="http://schemas.openxmlformats.org/drawingml/2006/main">
              <a:ext uri="{FF2B5EF4-FFF2-40B4-BE49-F238E27FC236}">
                <a16:creationId xmlns:a16="http://schemas.microsoft.com/office/drawing/2014/main" id="{7B335E65-7CC6-42A3-BFB5-D94AC4D3DB7D}"/>
              </a:ext>
            </a:extLst>
          </p:cNvPr>
          <p:cNvSpPr>
            <a:spLocks xmlns:a="http://schemas.openxmlformats.org/drawingml/2006/main" noGrp="1"/>
          </p:cNvSpPr>
          <p:nvPr/>
        </p:nvSpPr>
        <p:spPr>
          <a:xfrm xmlns:a="http://schemas.openxmlformats.org/drawingml/2006/main">
            <a:off x="1790700" y="5610225"/>
            <a:ext cx="9639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Δtを1/2にした解との差、energy residual、共分散の固有値、同一時刻の重複・逆順を回帰試験に含める。</a:t>
            </a:r>
          </a:p>
        </p:txBody>
      </p:sp>
      <p:sp>
        <p:nvSpPr>
          <p:cNvPr id="17" name="">
            <a:extLst xmlns:a="http://schemas.openxmlformats.org/drawingml/2006/main">
              <a:ext uri="{FF2B5EF4-FFF2-40B4-BE49-F238E27FC236}">
                <a16:creationId xmlns:a16="http://schemas.microsoft.com/office/drawing/2014/main" id="{6017D771-CC07-44C8-B6F6-3182D0E3DD7D}"/>
              </a:ext>
            </a:extLst>
          </p:cNvPr>
          <p:cNvSpPr>
            <a:spLocks xmlns:a="http://schemas.openxmlformats.org/drawingml/2006/main" noGrp="1"/>
          </p:cNvSpPr>
          <p:nvPr/>
        </p:nvSpPr>
        <p:spPr>
          <a:xfrm xmlns:a="http://schemas.openxmlformats.org/drawingml/2006/main">
            <a:off x="1790700" y="5915025"/>
            <a:ext cx="9639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C4493D"/>
                </a:solidFill>
                <a:latin typeface="Yu Gothic"/>
                <a:ea typeface="Yu Gothic"/>
                <a:cs typeface="Yu Gothic"/>
              </a:defRPr>
            </a:pPr>
            <a:r>
              <a:rPr sz="825" b="1" i="0">
                <a:solidFill>
                  <a:srgbClr val="C4493D"/>
                </a:solidFill>
                <a:latin typeface="Yu Gothic"/>
                <a:ea typeface="Yu Gothic"/>
                <a:cs typeface="Yu Gothic"/>
              </a:rPr>
              <a:t>注意：solverが安定でも、sensor samplingがfast modeを解像するとは限らない。</a:t>
            </a:r>
          </a:p>
        </p:txBody>
      </p:sp>
    </p:spTree>
    <p:extLst>
      <p:ext uri="{BB962C8B-B14F-4D97-AF65-F5344CB8AC3E}">
        <p14:creationId xmlns:p14="http://schemas.microsoft.com/office/powerpoint/2010/main" val="18570278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D97678A3-B780-413D-8662-1FF8B1039976}"/>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F89520-B6D7-4831-9868-6DD272D71A33}"/>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OPTIMIZATION</a:t>
            </a:r>
          </a:p>
        </p:txBody>
      </p:sp>
      <p:sp>
        <p:nvSpPr>
          <p:cNvPr id="3" name="">
            <a:extLst xmlns:a="http://schemas.openxmlformats.org/drawingml/2006/main">
              <a:ext uri="{FF2B5EF4-FFF2-40B4-BE49-F238E27FC236}">
                <a16:creationId xmlns:a16="http://schemas.microsoft.com/office/drawing/2014/main" id="{D7F56418-3BD8-4F6C-A97A-5BC3DFA5E475}"/>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学習は物理係数のlog倍率を更新し、因果validation RMSEが最小のepochを採用する</a:t>
            </a:r>
          </a:p>
        </p:txBody>
      </p:sp>
      <p:sp>
        <p:nvSpPr>
          <p:cNvPr id="4" name="">
            <a:extLst xmlns:a="http://schemas.openxmlformats.org/drawingml/2006/main">
              <a:ext uri="{FF2B5EF4-FFF2-40B4-BE49-F238E27FC236}">
                <a16:creationId xmlns:a16="http://schemas.microsoft.com/office/drawing/2014/main" id="{253C82E1-6F9F-4BA1-AC75-7E4B9F45DFA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case数で均等化した軌道損失により、長いlogや観測点の多いcaseの過大影響を抑える</a:t>
            </a:r>
          </a:p>
        </p:txBody>
      </p:sp>
      <p:sp>
        <p:nvSpPr>
          <p:cNvPr id="5" name="">
            <a:extLst xmlns:a="http://schemas.openxmlformats.org/drawingml/2006/main">
              <a:ext uri="{FF2B5EF4-FFF2-40B4-BE49-F238E27FC236}">
                <a16:creationId xmlns:a16="http://schemas.microsoft.com/office/drawing/2014/main" id="{65F6BB1A-6DA6-42A5-8F44-BD88F691F01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785F8C83-B48F-4F11-AEED-6408ED85A453}"/>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9248F8B-4F5B-4F7E-93AC-7FFE1334ACEF}"/>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1FF4E5D-3510-40BE-921A-05A0AC7F2B3B}"/>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14</a:t>
            </a:r>
          </a:p>
        </p:txBody>
      </p:sp>
      <p:sp>
        <p:nvSpPr>
          <p:cNvPr id="9" name="">
            <a:extLst xmlns:a="http://schemas.openxmlformats.org/drawingml/2006/main">
              <a:ext uri="{FF2B5EF4-FFF2-40B4-BE49-F238E27FC236}">
                <a16:creationId xmlns:a16="http://schemas.microsoft.com/office/drawing/2014/main" id="{B8861F19-4E3A-4C55-A7A3-E3714E327249}"/>
              </a:ext>
            </a:extLst>
          </p:cNvPr>
          <p:cNvSpPr>
            <a:spLocks xmlns:a="http://schemas.openxmlformats.org/drawingml/2006/main" noGrp="1"/>
          </p:cNvSpPr>
          <p:nvPr/>
        </p:nvSpPr>
        <p:spPr>
          <a:xfrm xmlns:a="http://schemas.openxmlformats.org/drawingml/2006/main">
            <a:off x="552450" y="1438275"/>
            <a:ext cx="11087100" cy="10763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BA0228-AC11-4C13-ADFB-7677B5B5BFD2}"/>
              </a:ext>
            </a:extLst>
          </p:cNvPr>
          <p:cNvSpPr>
            <a:spLocks xmlns:a="http://schemas.openxmlformats.org/drawingml/2006/main" noGrp="1"/>
          </p:cNvSpPr>
          <p:nvPr/>
        </p:nvSpPr>
        <p:spPr>
          <a:xfrm xmlns:a="http://schemas.openxmlformats.org/drawingml/2006/main">
            <a:off x="781050" y="1609725"/>
            <a:ext cx="106299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725" b="1" i="0">
                <a:solidFill>
                  <a:srgbClr val="FFFFFF"/>
                </a:solidFill>
                <a:latin typeface="Cambria Math"/>
                <a:ea typeface="Cambria Math"/>
                <a:cs typeface="Cambria Math"/>
              </a:defRPr>
            </a:pPr>
            <a:r>
              <a:rPr sz="1725" b="1" i="0">
                <a:solidFill>
                  <a:srgbClr val="FFFFFF"/>
                </a:solidFill>
                <a:latin typeface="Cambria Math"/>
                <a:ea typeface="Cambria Math"/>
                <a:cs typeface="Cambria Math"/>
              </a:rPr>
              <a:t>J(θ) = 1/|C| Σc ρδ(yc − ŷc(θ, x̂0,c)) + λp · mean[log(p/p0)²]</a:t>
            </a:r>
          </a:p>
        </p:txBody>
      </p:sp>
      <p:sp>
        <p:nvSpPr>
          <p:cNvPr id="11" name="">
            <a:extLst xmlns:a="http://schemas.openxmlformats.org/drawingml/2006/main">
              <a:ext uri="{FF2B5EF4-FFF2-40B4-BE49-F238E27FC236}">
                <a16:creationId xmlns:a16="http://schemas.microsoft.com/office/drawing/2014/main" id="{BD081ADB-9C2B-4704-B3CA-8DB4E94DBFB4}"/>
              </a:ext>
            </a:extLst>
          </p:cNvPr>
          <p:cNvSpPr>
            <a:spLocks xmlns:a="http://schemas.openxmlformats.org/drawingml/2006/main" noGrp="1"/>
          </p:cNvSpPr>
          <p:nvPr/>
        </p:nvSpPr>
        <p:spPr>
          <a:xfrm xmlns:a="http://schemas.openxmlformats.org/drawingml/2006/main">
            <a:off x="781050" y="2095500"/>
            <a:ext cx="10629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0" i="0">
                <a:solidFill>
                  <a:srgbClr val="D8D0E8"/>
                </a:solidFill>
                <a:latin typeface="Yu Gothic"/>
                <a:ea typeface="Yu Gothic"/>
                <a:cs typeface="Yu Gothic"/>
              </a:defRPr>
            </a:pPr>
            <a:r>
              <a:rPr sz="900" b="0" i="0">
                <a:solidFill>
                  <a:srgbClr val="D8D0E8"/>
                </a:solidFill>
                <a:latin typeface="Yu Gothic"/>
                <a:ea typeface="Yu Gothic"/>
                <a:cs typeface="Yu Gothic"/>
              </a:rPr>
              <a:t>x̂0,c は観測写像のnull spaceだけをprofileし、Gaussian priorで弱観測modeを拘束</a:t>
            </a:r>
          </a:p>
        </p:txBody>
      </p:sp>
      <p:sp>
        <p:nvSpPr>
          <p:cNvPr id="12" name="">
            <a:extLst xmlns:a="http://schemas.openxmlformats.org/drawingml/2006/main">
              <a:ext uri="{FF2B5EF4-FFF2-40B4-BE49-F238E27FC236}">
                <a16:creationId xmlns:a16="http://schemas.microsoft.com/office/drawing/2014/main" id="{6F0F9D31-AE08-4972-8610-0DC172699395}"/>
              </a:ext>
            </a:extLst>
          </p:cNvPr>
          <p:cNvSpPr>
            <a:spLocks xmlns:a="http://schemas.openxmlformats.org/drawingml/2006/main" noGrp="1"/>
          </p:cNvSpPr>
          <p:nvPr/>
        </p:nvSpPr>
        <p:spPr>
          <a:xfrm xmlns:a="http://schemas.openxmlformats.org/drawingml/2006/main">
            <a:off x="5524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D0DB99E6-F25E-4675-A5B6-47EBA5396BC3}"/>
              </a:ext>
            </a:extLst>
          </p:cNvPr>
          <p:cNvSpPr>
            <a:spLocks xmlns:a="http://schemas.openxmlformats.org/drawingml/2006/main" noGrp="1"/>
          </p:cNvSpPr>
          <p:nvPr/>
        </p:nvSpPr>
        <p:spPr>
          <a:xfrm xmlns:a="http://schemas.openxmlformats.org/drawingml/2006/main">
            <a:off x="552450" y="2752725"/>
            <a:ext cx="1657350" cy="666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56099F-BF89-41DD-84F1-E2847035D938}"/>
              </a:ext>
            </a:extLst>
          </p:cNvPr>
          <p:cNvSpPr>
            <a:spLocks xmlns:a="http://schemas.openxmlformats.org/drawingml/2006/main" noGrp="1"/>
          </p:cNvSpPr>
          <p:nvPr/>
        </p:nvSpPr>
        <p:spPr>
          <a:xfrm xmlns:a="http://schemas.openxmlformats.org/drawingml/2006/main">
            <a:off x="6667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5D8"/>
                </a:solidFill>
                <a:latin typeface="Yu Gothic"/>
                <a:ea typeface="Yu Gothic"/>
                <a:cs typeface="Yu Gothic"/>
              </a:defRPr>
            </a:pPr>
            <a:r>
              <a:rPr sz="1125" b="1" i="0">
                <a:solidFill>
                  <a:srgbClr val="00A5D8"/>
                </a:solidFill>
                <a:latin typeface="Yu Gothic"/>
                <a:ea typeface="Yu Gothic"/>
                <a:cs typeface="Yu Gothic"/>
              </a:rPr>
              <a:t>1  split</a:t>
            </a:r>
          </a:p>
        </p:txBody>
      </p:sp>
      <p:sp>
        <p:nvSpPr>
          <p:cNvPr id="15" name="">
            <a:extLst xmlns:a="http://schemas.openxmlformats.org/drawingml/2006/main">
              <a:ext uri="{FF2B5EF4-FFF2-40B4-BE49-F238E27FC236}">
                <a16:creationId xmlns:a16="http://schemas.microsoft.com/office/drawing/2014/main" id="{C321978A-AE0C-41A3-BE34-6F602EE21BFF}"/>
              </a:ext>
            </a:extLst>
          </p:cNvPr>
          <p:cNvSpPr>
            <a:spLocks xmlns:a="http://schemas.openxmlformats.org/drawingml/2006/main" noGrp="1"/>
          </p:cNvSpPr>
          <p:nvPr/>
        </p:nvSpPr>
        <p:spPr>
          <a:xfrm xmlns:a="http://schemas.openxmlformats.org/drawingml/2006/main">
            <a:off x="6858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9386AEA8-4E7C-423A-85F8-8AA647CADE51}"/>
              </a:ext>
            </a:extLst>
          </p:cNvPr>
          <p:cNvSpPr>
            <a:spLocks xmlns:a="http://schemas.openxmlformats.org/drawingml/2006/main" noGrp="1"/>
          </p:cNvSpPr>
          <p:nvPr/>
        </p:nvSpPr>
        <p:spPr>
          <a:xfrm xmlns:a="http://schemas.openxmlformats.org/drawingml/2006/main">
            <a:off x="6477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同一control履歴をgroup化</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trajectory単位で分割</a:t>
            </a:r>
          </a:p>
        </p:txBody>
      </p:sp>
      <p:sp>
        <p:nvSpPr>
          <p:cNvPr id="17" name="">
            <a:extLst xmlns:a="http://schemas.openxmlformats.org/drawingml/2006/main">
              <a:ext uri="{FF2B5EF4-FFF2-40B4-BE49-F238E27FC236}">
                <a16:creationId xmlns:a16="http://schemas.microsoft.com/office/drawing/2014/main" id="{D9BC4A13-B337-4FDD-9E8A-11C0BE94F07F}"/>
              </a:ext>
            </a:extLst>
          </p:cNvPr>
          <p:cNvSpPr>
            <a:spLocks xmlns:a="http://schemas.openxmlformats.org/drawingml/2006/main" noGrp="1"/>
          </p:cNvSpPr>
          <p:nvPr/>
        </p:nvSpPr>
        <p:spPr>
          <a:xfrm xmlns:a="http://schemas.openxmlformats.org/drawingml/2006/main">
            <a:off x="24193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8" name="">
            <a:extLst xmlns:a="http://schemas.openxmlformats.org/drawingml/2006/main">
              <a:ext uri="{FF2B5EF4-FFF2-40B4-BE49-F238E27FC236}">
                <a16:creationId xmlns:a16="http://schemas.microsoft.com/office/drawing/2014/main" id="{A2F826CE-077B-4107-B98E-2E8C4DE5AFF5}"/>
              </a:ext>
            </a:extLst>
          </p:cNvPr>
          <p:cNvSpPr>
            <a:spLocks xmlns:a="http://schemas.openxmlformats.org/drawingml/2006/main" noGrp="1"/>
          </p:cNvSpPr>
          <p:nvPr/>
        </p:nvSpPr>
        <p:spPr>
          <a:xfrm xmlns:a="http://schemas.openxmlformats.org/drawingml/2006/main">
            <a:off x="2419350" y="2752725"/>
            <a:ext cx="1657350" cy="666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6C68F93-849F-4CD5-9F4B-EABA41986F9A}"/>
              </a:ext>
            </a:extLst>
          </p:cNvPr>
          <p:cNvSpPr>
            <a:spLocks xmlns:a="http://schemas.openxmlformats.org/drawingml/2006/main" noGrp="1"/>
          </p:cNvSpPr>
          <p:nvPr/>
        </p:nvSpPr>
        <p:spPr>
          <a:xfrm xmlns:a="http://schemas.openxmlformats.org/drawingml/2006/main">
            <a:off x="25336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6BE18"/>
                </a:solidFill>
                <a:latin typeface="Yu Gothic"/>
                <a:ea typeface="Yu Gothic"/>
                <a:cs typeface="Yu Gothic"/>
              </a:defRPr>
            </a:pPr>
            <a:r>
              <a:rPr sz="1125" b="1" i="0">
                <a:solidFill>
                  <a:srgbClr val="76BE18"/>
                </a:solidFill>
                <a:latin typeface="Yu Gothic"/>
                <a:ea typeface="Yu Gothic"/>
                <a:cs typeface="Yu Gothic"/>
              </a:rPr>
              <a:t>2  rollout</a:t>
            </a:r>
          </a:p>
        </p:txBody>
      </p:sp>
      <p:sp>
        <p:nvSpPr>
          <p:cNvPr id="20" name="">
            <a:extLst xmlns:a="http://schemas.openxmlformats.org/drawingml/2006/main">
              <a:ext uri="{FF2B5EF4-FFF2-40B4-BE49-F238E27FC236}">
                <a16:creationId xmlns:a16="http://schemas.microsoft.com/office/drawing/2014/main" id="{EE51074B-B991-4445-A6F5-D6D34D541A91}"/>
              </a:ext>
            </a:extLst>
          </p:cNvPr>
          <p:cNvSpPr>
            <a:spLocks xmlns:a="http://schemas.openxmlformats.org/drawingml/2006/main" noGrp="1"/>
          </p:cNvSpPr>
          <p:nvPr/>
        </p:nvSpPr>
        <p:spPr>
          <a:xfrm xmlns:a="http://schemas.openxmlformats.org/drawingml/2006/main">
            <a:off x="25527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70653124-EF6A-4C6D-92C3-4B718CC79187}"/>
              </a:ext>
            </a:extLst>
          </p:cNvPr>
          <p:cNvSpPr>
            <a:spLocks xmlns:a="http://schemas.openxmlformats.org/drawingml/2006/main" noGrp="1"/>
          </p:cNvSpPr>
          <p:nvPr/>
        </p:nvSpPr>
        <p:spPr>
          <a:xfrm xmlns:a="http://schemas.openxmlformats.org/drawingml/2006/main">
            <a:off x="25146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full trajectory</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またはcase別window</a:t>
            </a:r>
          </a:p>
        </p:txBody>
      </p:sp>
      <p:sp>
        <p:nvSpPr>
          <p:cNvPr id="22" name="">
            <a:extLst xmlns:a="http://schemas.openxmlformats.org/drawingml/2006/main">
              <a:ext uri="{FF2B5EF4-FFF2-40B4-BE49-F238E27FC236}">
                <a16:creationId xmlns:a16="http://schemas.microsoft.com/office/drawing/2014/main" id="{58A63CC0-1DC5-41B8-AB56-B3F480DDF04E}"/>
              </a:ext>
            </a:extLst>
          </p:cNvPr>
          <p:cNvSpPr>
            <a:spLocks xmlns:a="http://schemas.openxmlformats.org/drawingml/2006/main" noGrp="1"/>
          </p:cNvSpPr>
          <p:nvPr/>
        </p:nvSpPr>
        <p:spPr>
          <a:xfrm xmlns:a="http://schemas.openxmlformats.org/drawingml/2006/main">
            <a:off x="42862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ACA4C7E2-DEA7-4E9C-8CD3-B986B815BA4D}"/>
              </a:ext>
            </a:extLst>
          </p:cNvPr>
          <p:cNvSpPr>
            <a:spLocks xmlns:a="http://schemas.openxmlformats.org/drawingml/2006/main" noGrp="1"/>
          </p:cNvSpPr>
          <p:nvPr/>
        </p:nvSpPr>
        <p:spPr>
          <a:xfrm xmlns:a="http://schemas.openxmlformats.org/drawingml/2006/main">
            <a:off x="4286250" y="2752725"/>
            <a:ext cx="1657350" cy="666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52E0A64-45DE-46D3-9B79-378D07B438BE}"/>
              </a:ext>
            </a:extLst>
          </p:cNvPr>
          <p:cNvSpPr>
            <a:spLocks xmlns:a="http://schemas.openxmlformats.org/drawingml/2006/main" noGrp="1"/>
          </p:cNvSpPr>
          <p:nvPr/>
        </p:nvSpPr>
        <p:spPr>
          <a:xfrm xmlns:a="http://schemas.openxmlformats.org/drawingml/2006/main">
            <a:off x="44005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7B2DAF"/>
                </a:solidFill>
                <a:latin typeface="Yu Gothic"/>
                <a:ea typeface="Yu Gothic"/>
                <a:cs typeface="Yu Gothic"/>
              </a:defRPr>
            </a:pPr>
            <a:r>
              <a:rPr sz="1125" b="1" i="0">
                <a:solidFill>
                  <a:srgbClr val="7B2DAF"/>
                </a:solidFill>
                <a:latin typeface="Yu Gothic"/>
                <a:ea typeface="Yu Gothic"/>
                <a:cs typeface="Yu Gothic"/>
              </a:rPr>
              <a:t>3  loss</a:t>
            </a:r>
          </a:p>
        </p:txBody>
      </p:sp>
      <p:sp>
        <p:nvSpPr>
          <p:cNvPr id="25" name="">
            <a:extLst xmlns:a="http://schemas.openxmlformats.org/drawingml/2006/main">
              <a:ext uri="{FF2B5EF4-FFF2-40B4-BE49-F238E27FC236}">
                <a16:creationId xmlns:a16="http://schemas.microsoft.com/office/drawing/2014/main" id="{5A15B1AE-3EAF-4E7C-91FA-8DC66B268C40}"/>
              </a:ext>
            </a:extLst>
          </p:cNvPr>
          <p:cNvSpPr>
            <a:spLocks xmlns:a="http://schemas.openxmlformats.org/drawingml/2006/main" noGrp="1"/>
          </p:cNvSpPr>
          <p:nvPr/>
        </p:nvSpPr>
        <p:spPr>
          <a:xfrm xmlns:a="http://schemas.openxmlformats.org/drawingml/2006/main">
            <a:off x="44196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E4D8B162-990D-444E-8F6F-5D9C2E99A660}"/>
              </a:ext>
            </a:extLst>
          </p:cNvPr>
          <p:cNvSpPr>
            <a:spLocks xmlns:a="http://schemas.openxmlformats.org/drawingml/2006/main" noGrp="1"/>
          </p:cNvSpPr>
          <p:nvPr/>
        </p:nvSpPr>
        <p:spPr>
          <a:xfrm xmlns:a="http://schemas.openxmlformats.org/drawingml/2006/main">
            <a:off x="43815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mask-aware Huber</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case平均 + prior</a:t>
            </a:r>
          </a:p>
        </p:txBody>
      </p:sp>
      <p:sp>
        <p:nvSpPr>
          <p:cNvPr id="27" name="">
            <a:extLst xmlns:a="http://schemas.openxmlformats.org/drawingml/2006/main">
              <a:ext uri="{FF2B5EF4-FFF2-40B4-BE49-F238E27FC236}">
                <a16:creationId xmlns:a16="http://schemas.microsoft.com/office/drawing/2014/main" id="{5DFB761C-59A5-4378-AD31-C7046B1E498F}"/>
              </a:ext>
            </a:extLst>
          </p:cNvPr>
          <p:cNvSpPr>
            <a:spLocks xmlns:a="http://schemas.openxmlformats.org/drawingml/2006/main" noGrp="1"/>
          </p:cNvSpPr>
          <p:nvPr/>
        </p:nvSpPr>
        <p:spPr>
          <a:xfrm xmlns:a="http://schemas.openxmlformats.org/drawingml/2006/main">
            <a:off x="61531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05DCC250-D2B2-41E9-8E80-EA8A845AAFC7}"/>
              </a:ext>
            </a:extLst>
          </p:cNvPr>
          <p:cNvSpPr>
            <a:spLocks xmlns:a="http://schemas.openxmlformats.org/drawingml/2006/main" noGrp="1"/>
          </p:cNvSpPr>
          <p:nvPr/>
        </p:nvSpPr>
        <p:spPr>
          <a:xfrm xmlns:a="http://schemas.openxmlformats.org/drawingml/2006/main">
            <a:off x="6153150" y="2752725"/>
            <a:ext cx="1657350" cy="666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28733CF-E31E-4FF1-83BE-0CAB84FD84FA}"/>
              </a:ext>
            </a:extLst>
          </p:cNvPr>
          <p:cNvSpPr>
            <a:spLocks xmlns:a="http://schemas.openxmlformats.org/drawingml/2006/main" noGrp="1"/>
          </p:cNvSpPr>
          <p:nvPr/>
        </p:nvSpPr>
        <p:spPr>
          <a:xfrm xmlns:a="http://schemas.openxmlformats.org/drawingml/2006/main">
            <a:off x="62674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E5A900"/>
                </a:solidFill>
                <a:latin typeface="Yu Gothic"/>
                <a:ea typeface="Yu Gothic"/>
                <a:cs typeface="Yu Gothic"/>
              </a:defRPr>
            </a:pPr>
            <a:r>
              <a:rPr sz="1125" b="1" i="0">
                <a:solidFill>
                  <a:srgbClr val="E5A900"/>
                </a:solidFill>
                <a:latin typeface="Yu Gothic"/>
                <a:ea typeface="Yu Gothic"/>
                <a:cs typeface="Yu Gothic"/>
              </a:rPr>
              <a:t>4  update</a:t>
            </a:r>
          </a:p>
        </p:txBody>
      </p:sp>
      <p:sp>
        <p:nvSpPr>
          <p:cNvPr id="30" name="">
            <a:extLst xmlns:a="http://schemas.openxmlformats.org/drawingml/2006/main">
              <a:ext uri="{FF2B5EF4-FFF2-40B4-BE49-F238E27FC236}">
                <a16:creationId xmlns:a16="http://schemas.microsoft.com/office/drawing/2014/main" id="{197378CB-DE9E-4621-8803-81A2E8A8C2F4}"/>
              </a:ext>
            </a:extLst>
          </p:cNvPr>
          <p:cNvSpPr>
            <a:spLocks xmlns:a="http://schemas.openxmlformats.org/drawingml/2006/main" noGrp="1"/>
          </p:cNvSpPr>
          <p:nvPr/>
        </p:nvSpPr>
        <p:spPr>
          <a:xfrm xmlns:a="http://schemas.openxmlformats.org/drawingml/2006/main">
            <a:off x="62865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9885AA0E-C4F3-4DF8-A629-BFDF38E0D052}"/>
              </a:ext>
            </a:extLst>
          </p:cNvPr>
          <p:cNvSpPr>
            <a:spLocks xmlns:a="http://schemas.openxmlformats.org/drawingml/2006/main" noGrp="1"/>
          </p:cNvSpPr>
          <p:nvPr/>
        </p:nvSpPr>
        <p:spPr>
          <a:xfrm xmlns:a="http://schemas.openxmlformats.org/drawingml/2006/main">
            <a:off x="62484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Adam</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gradient clip</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log倍率clamp</a:t>
            </a:r>
          </a:p>
        </p:txBody>
      </p:sp>
      <p:sp>
        <p:nvSpPr>
          <p:cNvPr id="32" name="">
            <a:extLst xmlns:a="http://schemas.openxmlformats.org/drawingml/2006/main">
              <a:ext uri="{FF2B5EF4-FFF2-40B4-BE49-F238E27FC236}">
                <a16:creationId xmlns:a16="http://schemas.microsoft.com/office/drawing/2014/main" id="{2A0B51F1-1B7D-4B4F-B07A-2928FD484672}"/>
              </a:ext>
            </a:extLst>
          </p:cNvPr>
          <p:cNvSpPr>
            <a:spLocks xmlns:a="http://schemas.openxmlformats.org/drawingml/2006/main" noGrp="1"/>
          </p:cNvSpPr>
          <p:nvPr/>
        </p:nvSpPr>
        <p:spPr>
          <a:xfrm xmlns:a="http://schemas.openxmlformats.org/drawingml/2006/main">
            <a:off x="8020050" y="2752725"/>
            <a:ext cx="165735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7B67F4EC-D1A1-4351-BC01-D97D50B1AD54}"/>
              </a:ext>
            </a:extLst>
          </p:cNvPr>
          <p:cNvSpPr>
            <a:spLocks xmlns:a="http://schemas.openxmlformats.org/drawingml/2006/main" noGrp="1"/>
          </p:cNvSpPr>
          <p:nvPr/>
        </p:nvSpPr>
        <p:spPr>
          <a:xfrm xmlns:a="http://schemas.openxmlformats.org/drawingml/2006/main">
            <a:off x="8020050" y="2752725"/>
            <a:ext cx="1657350" cy="66675"/>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7D4A614-70FA-406F-B77C-91F792CC1E9F}"/>
              </a:ext>
            </a:extLst>
          </p:cNvPr>
          <p:cNvSpPr>
            <a:spLocks xmlns:a="http://schemas.openxmlformats.org/drawingml/2006/main" noGrp="1"/>
          </p:cNvSpPr>
          <p:nvPr/>
        </p:nvSpPr>
        <p:spPr>
          <a:xfrm xmlns:a="http://schemas.openxmlformats.org/drawingml/2006/main">
            <a:off x="8134350" y="292417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A89D"/>
                </a:solidFill>
                <a:latin typeface="Yu Gothic"/>
                <a:ea typeface="Yu Gothic"/>
                <a:cs typeface="Yu Gothic"/>
              </a:defRPr>
            </a:pPr>
            <a:r>
              <a:rPr sz="1125" b="1" i="0">
                <a:solidFill>
                  <a:srgbClr val="00A89D"/>
                </a:solidFill>
                <a:latin typeface="Yu Gothic"/>
                <a:ea typeface="Yu Gothic"/>
                <a:cs typeface="Yu Gothic"/>
              </a:rPr>
              <a:t>5  select</a:t>
            </a:r>
          </a:p>
        </p:txBody>
      </p:sp>
      <p:sp>
        <p:nvSpPr>
          <p:cNvPr id="35" name="">
            <a:extLst xmlns:a="http://schemas.openxmlformats.org/drawingml/2006/main">
              <a:ext uri="{FF2B5EF4-FFF2-40B4-BE49-F238E27FC236}">
                <a16:creationId xmlns:a16="http://schemas.microsoft.com/office/drawing/2014/main" id="{13CC0ABC-265E-4E49-A2DC-8C4E266C9E97}"/>
              </a:ext>
            </a:extLst>
          </p:cNvPr>
          <p:cNvSpPr>
            <a:spLocks xmlns:a="http://schemas.openxmlformats.org/drawingml/2006/main" noGrp="1"/>
          </p:cNvSpPr>
          <p:nvPr/>
        </p:nvSpPr>
        <p:spPr>
          <a:xfrm xmlns:a="http://schemas.openxmlformats.org/drawingml/2006/main">
            <a:off x="8153400" y="3267075"/>
            <a:ext cx="13906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50980131-B135-4E02-A331-7B69BFBB076B}"/>
              </a:ext>
            </a:extLst>
          </p:cNvPr>
          <p:cNvSpPr>
            <a:spLocks xmlns:a="http://schemas.openxmlformats.org/drawingml/2006/main" noGrp="1"/>
          </p:cNvSpPr>
          <p:nvPr/>
        </p:nvSpPr>
        <p:spPr>
          <a:xfrm xmlns:a="http://schemas.openxmlformats.org/drawingml/2006/main">
            <a:off x="8115300" y="3352800"/>
            <a:ext cx="14668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causal full-rollout</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validation RMSE</a:t>
            </a:r>
          </a:p>
        </p:txBody>
      </p:sp>
      <p:sp>
        <p:nvSpPr>
          <p:cNvPr id="37" name="">
            <a:extLst xmlns:a="http://schemas.openxmlformats.org/drawingml/2006/main">
              <a:ext uri="{FF2B5EF4-FFF2-40B4-BE49-F238E27FC236}">
                <a16:creationId xmlns:a16="http://schemas.microsoft.com/office/drawing/2014/main" id="{62ADF0E5-80C1-48AD-9FF8-798049FD4F3D}"/>
              </a:ext>
            </a:extLst>
          </p:cNvPr>
          <p:cNvSpPr>
            <a:spLocks xmlns:a="http://schemas.openxmlformats.org/drawingml/2006/main" noGrp="1"/>
          </p:cNvSpPr>
          <p:nvPr/>
        </p:nvSpPr>
        <p:spPr>
          <a:xfrm xmlns:a="http://schemas.openxmlformats.org/drawingml/2006/main">
            <a:off x="9886950" y="2752725"/>
            <a:ext cx="1752600" cy="1343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B17961A0-A6BB-4BBA-BCBD-9DD2BE8679CC}"/>
              </a:ext>
            </a:extLst>
          </p:cNvPr>
          <p:cNvSpPr>
            <a:spLocks xmlns:a="http://schemas.openxmlformats.org/drawingml/2006/main" noGrp="1"/>
          </p:cNvSpPr>
          <p:nvPr/>
        </p:nvSpPr>
        <p:spPr>
          <a:xfrm xmlns:a="http://schemas.openxmlformats.org/drawingml/2006/main">
            <a:off x="9886950" y="2752725"/>
            <a:ext cx="1752600" cy="666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1B40068-319D-47CE-8C76-74A6DB99F0EE}"/>
              </a:ext>
            </a:extLst>
          </p:cNvPr>
          <p:cNvSpPr>
            <a:spLocks xmlns:a="http://schemas.openxmlformats.org/drawingml/2006/main" noGrp="1"/>
          </p:cNvSpPr>
          <p:nvPr/>
        </p:nvSpPr>
        <p:spPr>
          <a:xfrm xmlns:a="http://schemas.openxmlformats.org/drawingml/2006/main">
            <a:off x="10001250" y="2924175"/>
            <a:ext cx="1524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125" b="1" i="0">
                <a:solidFill>
                  <a:srgbClr val="007FA8"/>
                </a:solidFill>
                <a:latin typeface="Yu Gothic"/>
                <a:ea typeface="Yu Gothic"/>
                <a:cs typeface="Yu Gothic"/>
              </a:defRPr>
            </a:pPr>
            <a:r>
              <a:rPr sz="1125" b="1" i="0">
                <a:solidFill>
                  <a:srgbClr val="007FA8"/>
                </a:solidFill>
                <a:latin typeface="Yu Gothic"/>
                <a:ea typeface="Yu Gothic"/>
                <a:cs typeface="Yu Gothic"/>
              </a:rPr>
              <a:t>6  publish</a:t>
            </a:r>
          </a:p>
        </p:txBody>
      </p:sp>
      <p:sp>
        <p:nvSpPr>
          <p:cNvPr id="40" name="">
            <a:extLst xmlns:a="http://schemas.openxmlformats.org/drawingml/2006/main">
              <a:ext uri="{FF2B5EF4-FFF2-40B4-BE49-F238E27FC236}">
                <a16:creationId xmlns:a16="http://schemas.microsoft.com/office/drawing/2014/main" id="{51F70CB4-F779-4EAE-916C-1F3088A9E00A}"/>
              </a:ext>
            </a:extLst>
          </p:cNvPr>
          <p:cNvSpPr>
            <a:spLocks xmlns:a="http://schemas.openxmlformats.org/drawingml/2006/main" noGrp="1"/>
          </p:cNvSpPr>
          <p:nvPr/>
        </p:nvSpPr>
        <p:spPr>
          <a:xfrm xmlns:a="http://schemas.openxmlformats.org/drawingml/2006/main">
            <a:off x="10020300" y="3267075"/>
            <a:ext cx="14859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5CB8B8AD-47B9-4124-A0FC-2DF5295F5068}"/>
              </a:ext>
            </a:extLst>
          </p:cNvPr>
          <p:cNvSpPr>
            <a:spLocks xmlns:a="http://schemas.openxmlformats.org/drawingml/2006/main" noGrp="1"/>
          </p:cNvSpPr>
          <p:nvPr/>
        </p:nvSpPr>
        <p:spPr>
          <a:xfrm xmlns:a="http://schemas.openxmlformats.org/drawingml/2006/main">
            <a:off x="9982200" y="3352800"/>
            <a:ext cx="15621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best stateのみ</a:t>
            </a:r>
          </a:p>
          <a:p xmlns:a="http://schemas.openxmlformats.org/drawingml/2006/main">
            <a:pPr algn="ctr">
              <a:lnSpc>
                <a:spcPct val="110000"/>
              </a:lnSpc>
              <a:buNone/>
              <a:defRPr sz="840" b="0" i="0">
                <a:solidFill>
                  <a:srgbClr val="5B5B5B"/>
                </a:solidFill>
                <a:latin typeface="Yu Gothic"/>
                <a:ea typeface="Yu Gothic"/>
                <a:cs typeface="Yu Gothic"/>
              </a:defRPr>
            </a:pPr>
            <a:r>
              <a:rPr sz="840" b="0" i="0">
                <a:solidFill>
                  <a:srgbClr val="5B5B5B"/>
                </a:solidFill>
                <a:latin typeface="Yu Gothic"/>
                <a:ea typeface="Yu Gothic"/>
                <a:cs typeface="Yu Gothic"/>
              </a:rPr>
              <a:t>artifactへ保存</a:t>
            </a:r>
          </a:p>
        </p:txBody>
      </p:sp>
      <p:cxnSp>
        <p:nvCxnSpPr>
          <p:cNvPr id="90" name=""/>
          <p:cNvCxnSpPr>
            <a:stCxn xmlns:a="http://schemas.openxmlformats.org/drawingml/2006/main" id="12" idx="3"/>
            <a:endCxn xmlns:a="http://schemas.openxmlformats.org/drawingml/2006/main" id="17" idx="1"/>
          </p:cNvCxnSpPr>
          <p:nvPr/>
        </p:nvCxnSpPr>
        <p:spPr>
          <a:xfrm xmlns:a="http://schemas.openxmlformats.org/drawingml/2006/main">
            <a:off x="22098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1" name=""/>
          <p:cNvCxnSpPr>
            <a:stCxn xmlns:a="http://schemas.openxmlformats.org/drawingml/2006/main" id="17" idx="3"/>
            <a:endCxn xmlns:a="http://schemas.openxmlformats.org/drawingml/2006/main" id="22" idx="1"/>
          </p:cNvCxnSpPr>
          <p:nvPr/>
        </p:nvCxnSpPr>
        <p:spPr>
          <a:xfrm xmlns:a="http://schemas.openxmlformats.org/drawingml/2006/main">
            <a:off x="40767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2" name=""/>
          <p:cNvCxnSpPr>
            <a:stCxn xmlns:a="http://schemas.openxmlformats.org/drawingml/2006/main" id="22" idx="3"/>
            <a:endCxn xmlns:a="http://schemas.openxmlformats.org/drawingml/2006/main" id="27" idx="1"/>
          </p:cNvCxnSpPr>
          <p:nvPr/>
        </p:nvCxnSpPr>
        <p:spPr>
          <a:xfrm xmlns:a="http://schemas.openxmlformats.org/drawingml/2006/main">
            <a:off x="59436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3" name=""/>
          <p:cNvCxnSpPr>
            <a:stCxn xmlns:a="http://schemas.openxmlformats.org/drawingml/2006/main" id="27" idx="3"/>
            <a:endCxn xmlns:a="http://schemas.openxmlformats.org/drawingml/2006/main" id="32" idx="1"/>
          </p:cNvCxnSpPr>
          <p:nvPr/>
        </p:nvCxnSpPr>
        <p:spPr>
          <a:xfrm xmlns:a="http://schemas.openxmlformats.org/drawingml/2006/main">
            <a:off x="78105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94" name=""/>
          <p:cNvCxnSpPr>
            <a:stCxn xmlns:a="http://schemas.openxmlformats.org/drawingml/2006/main" id="32" idx="3"/>
            <a:endCxn xmlns:a="http://schemas.openxmlformats.org/drawingml/2006/main" id="37" idx="1"/>
          </p:cNvCxnSpPr>
          <p:nvPr/>
        </p:nvCxnSpPr>
        <p:spPr>
          <a:xfrm xmlns:a="http://schemas.openxmlformats.org/drawingml/2006/main">
            <a:off x="9677400" y="3424238"/>
            <a:ext cx="20955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graphicFrame>
        <p:nvGraphicFramePr>
          <p:cNvPr id="95" name=""/>
          <p:cNvGraphicFramePr/>
          <p:nvPr/>
        </p:nvGraphicFramePr>
        <p:xfrm>
          <a:off xmlns:a="http://schemas.openxmlformats.org/drawingml/2006/main" x="552450" y="4343400"/>
          <a:ext xmlns:a="http://schemas.openxmlformats.org/drawingml/2006/main" cx="11087100" cy="1685925"/>
        </p:xfrm>
        <a:graphic xmlns:a="http://schemas.openxmlformats.org/drawingml/2006/main">
          <a:graphicData uri="http://schemas.openxmlformats.org/drawingml/2006/table">
            <a:tbl>
              <a:tblPr/>
              <a:tblGrid>
                <a:gridCol w="2038350"/>
                <a:gridCol w="2571750"/>
                <a:gridCol w="4333875"/>
                <a:gridCol w="2143125"/>
              </a:tblGrid>
              <a:tr h="337185">
                <a:tc>
                  <a:txBody>
                    <a:bodyPr/>
                    <a:lstStyle/>
                    <a:p>
                      <a:r>
                        <a:rPr sz="938" b="1">
                          <a:solidFill>
                            <a:srgbClr val="FFFFFF"/>
                          </a:solidFill>
                          <a:latin typeface="Yu Gothic"/>
                          <a:ea typeface="Yu Gothic"/>
                          <a:cs typeface="Yu Gothic"/>
                        </a:rPr>
                        <a:t>最適化項目</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実装</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工学的な意味</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既定例</a:t>
                      </a:r>
                    </a:p>
                  </a:txBody>
                  <a:tcPr marL="91440" marR="91440" marT="45720" marB="45720">
                    <a:solidFill>
                      <a:srgbClr val="007FA8"/>
                    </a:solidFill>
                  </a:tcPr>
                </a:tc>
              </a:tr>
              <a:tr h="337185">
                <a:tc>
                  <a:txBody>
                    <a:bodyPr/>
                    <a:lstStyle/>
                    <a:p>
                      <a:r>
                        <a:rPr sz="840" b="1">
                          <a:solidFill>
                            <a:srgbClr val="007FA8"/>
                          </a:solidFill>
                          <a:latin typeface="Yu Gothic"/>
                          <a:ea typeface="Yu Gothic"/>
                          <a:cs typeface="Yu Gothic"/>
                        </a:rPr>
                        <a:t>parameterization</a:t>
                      </a:r>
                    </a:p>
                  </a:txBody>
                  <a:tcPr marL="91440" marR="91440" marT="45720" marB="45720">
                    <a:solidFill>
                      <a:srgbClr val="FFFFFF"/>
                    </a:solidFill>
                  </a:tcPr>
                </a:tc>
                <a:tc>
                  <a:txBody>
                    <a:bodyPr/>
                    <a:lstStyle/>
                    <a:p>
                      <a:r>
                        <a:rPr sz="840">
                          <a:solidFill>
                            <a:srgbClr val="5B5B5B"/>
                          </a:solidFill>
                          <a:latin typeface="Yu Gothic"/>
                          <a:ea typeface="Yu Gothic"/>
                          <a:cs typeface="Yu Gothic"/>
                        </a:rPr>
                        <a:t>p=p0·exp(ℓ)</a:t>
                      </a:r>
                    </a:p>
                  </a:txBody>
                  <a:tcPr marL="91440" marR="91440" marT="45720" marB="45720">
                    <a:solidFill>
                      <a:srgbClr val="FFFFFF"/>
                    </a:solidFill>
                  </a:tcPr>
                </a:tc>
                <a:tc>
                  <a:txBody>
                    <a:bodyPr/>
                    <a:lstStyle/>
                    <a:p>
                      <a:r>
                        <a:rPr sz="840">
                          <a:solidFill>
                            <a:srgbClr val="5B5B5B"/>
                          </a:solidFill>
                          <a:latin typeface="Yu Gothic"/>
                          <a:ea typeface="Yu Gothic"/>
                          <a:cs typeface="Yu Gothic"/>
                        </a:rPr>
                        <a:t>係数を正値に保ち、priorからの倍率で解釈</a:t>
                      </a:r>
                    </a:p>
                  </a:txBody>
                  <a:tcPr marL="91440" marR="91440" marT="45720" marB="45720">
                    <a:solidFill>
                      <a:srgbClr val="FFFFFF"/>
                    </a:solidFill>
                  </a:tcPr>
                </a:tc>
                <a:tc>
                  <a:txBody>
                    <a:bodyPr/>
                    <a:lstStyle/>
                    <a:p>
                      <a:r>
                        <a:rPr sz="840">
                          <a:solidFill>
                            <a:srgbClr val="5B5B5B"/>
                          </a:solidFill>
                          <a:latin typeface="Yu Gothic"/>
                          <a:ea typeface="Yu Gothic"/>
                          <a:cs typeface="Yu Gothic"/>
                        </a:rPr>
                        <a:t>learnable項のみ</a:t>
                      </a:r>
                    </a:p>
                  </a:txBody>
                  <a:tcPr marL="91440" marR="91440" marT="45720" marB="45720">
                    <a:solidFill>
                      <a:srgbClr val="FFFFFF"/>
                    </a:solidFill>
                  </a:tcPr>
                </a:tc>
              </a:tr>
              <a:tr h="337185">
                <a:tc>
                  <a:txBody>
                    <a:bodyPr/>
                    <a:lstStyle/>
                    <a:p>
                      <a:r>
                        <a:rPr sz="840" b="1">
                          <a:solidFill>
                            <a:srgbClr val="007FA8"/>
                          </a:solidFill>
                          <a:latin typeface="Yu Gothic"/>
                          <a:ea typeface="Yu Gothic"/>
                          <a:cs typeface="Yu Gothic"/>
                        </a:rPr>
                        <a:t>robust loss</a:t>
                      </a:r>
                    </a:p>
                  </a:txBody>
                  <a:tcPr marL="91440" marR="91440" marT="45720" marB="45720">
                    <a:solidFill>
                      <a:srgbClr val="F8F8F8"/>
                    </a:solidFill>
                  </a:tcPr>
                </a:tc>
                <a:tc>
                  <a:txBody>
                    <a:bodyPr/>
                    <a:lstStyle/>
                    <a:p>
                      <a:r>
                        <a:rPr sz="840">
                          <a:solidFill>
                            <a:srgbClr val="5B5B5B"/>
                          </a:solidFill>
                          <a:latin typeface="Yu Gothic"/>
                          <a:ea typeface="Yu Gothic"/>
                          <a:cs typeface="Yu Gothic"/>
                        </a:rPr>
                        <a:t>Huber / Kelvin単位</a:t>
                      </a:r>
                    </a:p>
                  </a:txBody>
                  <a:tcPr marL="91440" marR="91440" marT="45720" marB="45720">
                    <a:solidFill>
                      <a:srgbClr val="F8F8F8"/>
                    </a:solidFill>
                  </a:tcPr>
                </a:tc>
                <a:tc>
                  <a:txBody>
                    <a:bodyPr/>
                    <a:lstStyle/>
                    <a:p>
                      <a:r>
                        <a:rPr sz="840">
                          <a:solidFill>
                            <a:srgbClr val="5B5B5B"/>
                          </a:solidFill>
                          <a:latin typeface="Yu Gothic"/>
                          <a:ea typeface="Yu Gothic"/>
                          <a:cs typeface="Yu Gothic"/>
                        </a:rPr>
                        <a:t>gross residualの影響を二乗損失より抑制</a:t>
                      </a:r>
                    </a:p>
                  </a:txBody>
                  <a:tcPr marL="91440" marR="91440" marT="45720" marB="45720">
                    <a:solidFill>
                      <a:srgbClr val="F8F8F8"/>
                    </a:solidFill>
                  </a:tcPr>
                </a:tc>
                <a:tc>
                  <a:txBody>
                    <a:bodyPr/>
                    <a:lstStyle/>
                    <a:p>
                      <a:r>
                        <a:rPr sz="840">
                          <a:solidFill>
                            <a:srgbClr val="5B5B5B"/>
                          </a:solidFill>
                          <a:latin typeface="Yu Gothic"/>
                          <a:ea typeface="Yu Gothic"/>
                          <a:cs typeface="Yu Gothic"/>
                        </a:rPr>
                        <a:t>δ=1.0 K</a:t>
                      </a:r>
                    </a:p>
                  </a:txBody>
                  <a:tcPr marL="91440" marR="91440" marT="45720" marB="45720">
                    <a:solidFill>
                      <a:srgbClr val="F8F8F8"/>
                    </a:solidFill>
                  </a:tcPr>
                </a:tc>
              </a:tr>
              <a:tr h="337185">
                <a:tc>
                  <a:txBody>
                    <a:bodyPr/>
                    <a:lstStyle/>
                    <a:p>
                      <a:r>
                        <a:rPr sz="840" b="1">
                          <a:solidFill>
                            <a:srgbClr val="007FA8"/>
                          </a:solidFill>
                          <a:latin typeface="Yu Gothic"/>
                          <a:ea typeface="Yu Gothic"/>
                          <a:cs typeface="Yu Gothic"/>
                        </a:rPr>
                        <a:t>optimizer</a:t>
                      </a:r>
                    </a:p>
                  </a:txBody>
                  <a:tcPr marL="91440" marR="91440" marT="45720" marB="45720">
                    <a:solidFill>
                      <a:srgbClr val="FFFFFF"/>
                    </a:solidFill>
                  </a:tcPr>
                </a:tc>
                <a:tc>
                  <a:txBody>
                    <a:bodyPr/>
                    <a:lstStyle/>
                    <a:p>
                      <a:r>
                        <a:rPr sz="840">
                          <a:solidFill>
                            <a:srgbClr val="5B5B5B"/>
                          </a:solidFill>
                          <a:latin typeface="Yu Gothic"/>
                          <a:ea typeface="Yu Gothic"/>
                          <a:cs typeface="Yu Gothic"/>
                        </a:rPr>
                        <a:t>Adam + norm clipping</a:t>
                      </a:r>
                    </a:p>
                  </a:txBody>
                  <a:tcPr marL="91440" marR="91440" marT="45720" marB="45720">
                    <a:solidFill>
                      <a:srgbClr val="FFFFFF"/>
                    </a:solidFill>
                  </a:tcPr>
                </a:tc>
                <a:tc>
                  <a:txBody>
                    <a:bodyPr/>
                    <a:lstStyle/>
                    <a:p>
                      <a:r>
                        <a:rPr sz="840">
                          <a:solidFill>
                            <a:srgbClr val="5B5B5B"/>
                          </a:solidFill>
                          <a:latin typeface="Yu Gothic"/>
                          <a:ea typeface="Yu Gothic"/>
                          <a:cs typeface="Yu Gothic"/>
                        </a:rPr>
                        <a:t>異なる係数scaleを扱い、発散を検出</a:t>
                      </a:r>
                    </a:p>
                  </a:txBody>
                  <a:tcPr marL="91440" marR="91440" marT="45720" marB="45720">
                    <a:solidFill>
                      <a:srgbClr val="FFFFFF"/>
                    </a:solidFill>
                  </a:tcPr>
                </a:tc>
                <a:tc>
                  <a:txBody>
                    <a:bodyPr/>
                    <a:lstStyle/>
                    <a:p>
                      <a:r>
                        <a:rPr sz="840">
                          <a:solidFill>
                            <a:srgbClr val="5B5B5B"/>
                          </a:solidFill>
                          <a:latin typeface="Yu Gothic"/>
                          <a:ea typeface="Yu Gothic"/>
                          <a:cs typeface="Yu Gothic"/>
                        </a:rPr>
                        <a:t>lr=0.03 / clip=10</a:t>
                      </a:r>
                    </a:p>
                  </a:txBody>
                  <a:tcPr marL="91440" marR="91440" marT="45720" marB="45720">
                    <a:solidFill>
                      <a:srgbClr val="FFFFFF"/>
                    </a:solidFill>
                  </a:tcPr>
                </a:tc>
              </a:tr>
              <a:tr h="337185">
                <a:tc>
                  <a:txBody>
                    <a:bodyPr/>
                    <a:lstStyle/>
                    <a:p>
                      <a:r>
                        <a:rPr sz="840" b="1">
                          <a:solidFill>
                            <a:srgbClr val="007FA8"/>
                          </a:solidFill>
                          <a:latin typeface="Yu Gothic"/>
                          <a:ea typeface="Yu Gothic"/>
                          <a:cs typeface="Yu Gothic"/>
                        </a:rPr>
                        <a:t>early selection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patience付きcausal validation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conditional fitではなく配備時rolloutを選択</a:t>
                      </a:r>
                    </a:p>
                  </a:txBody>
                  <a:tcPr marL="91440" marR="91440" marT="45720" marB="45720">
                    <a:solidFill>
                      <a:srgbClr val="F8F8F8"/>
                    </a:solidFill>
                  </a:tcPr>
                </a:tc>
                <a:tc>
                  <a:txBody>
                    <a:bodyPr/>
                    <a:lstStyle/>
                    <a:p>
                      <a:r>
                        <a:rPr sz="840">
                          <a:solidFill>
                            <a:srgbClr val="5B5B5B"/>
                          </a:solidFill>
                          <a:latin typeface="Yu Gothic"/>
                          <a:ea typeface="Yu Gothic"/>
                          <a:cs typeface="Yu Gothic"/>
                        </a:rPr>
                        <a:t>5 epochごと / patience=8</a:t>
                      </a:r>
                    </a:p>
                  </a:txBody>
                  <a:tcPr marL="91440" marR="91440" marT="45720" marB="45720">
                    <a:solidFill>
                      <a:srgbClr val="F8F8F8"/>
                    </a:solidFill>
                  </a:tcPr>
                </a:tc>
              </a:tr>
            </a:tbl>
          </a:graphicData>
        </a:graphic>
      </p:graphicFrame>
      <p:sp>
        <p:nvSpPr>
          <p:cNvPr id="48" name="">
            <a:extLst xmlns:a="http://schemas.openxmlformats.org/drawingml/2006/main">
              <a:ext uri="{FF2B5EF4-FFF2-40B4-BE49-F238E27FC236}">
                <a16:creationId xmlns:a16="http://schemas.microsoft.com/office/drawing/2014/main" id="{77D969C5-2678-424D-B51D-BFDE59AA3398}"/>
              </a:ext>
            </a:extLst>
          </p:cNvPr>
          <p:cNvSpPr>
            <a:spLocks xmlns:a="http://schemas.openxmlformats.org/drawingml/2006/main" noGrp="1"/>
          </p:cNvSpPr>
          <p:nvPr/>
        </p:nvSpPr>
        <p:spPr>
          <a:xfrm xmlns:a="http://schemas.openxmlformats.org/drawingml/2006/main">
            <a:off x="552450" y="6105525"/>
            <a:ext cx="110871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48" b="1" i="0">
                <a:solidFill>
                  <a:srgbClr val="C4493D"/>
                </a:solidFill>
                <a:latin typeface="Yu Gothic"/>
                <a:ea typeface="Yu Gothic"/>
                <a:cs typeface="Yu Gothic"/>
              </a:defRPr>
            </a:pPr>
            <a:r>
              <a:rPr sz="848" b="1" i="0">
                <a:solidFill>
                  <a:srgbClr val="C4493D"/>
                </a:solidFill>
                <a:latin typeface="Yu Gothic"/>
                <a:ea typeface="Yu Gothic"/>
                <a:cs typeface="Yu Gothic"/>
              </a:rPr>
              <a:t>注意：optimizer収束はparameter一意性を保証しない。感度rank・複数seed・独立holdoutを別gateとする。</a:t>
            </a:r>
          </a:p>
        </p:txBody>
      </p:sp>
    </p:spTree>
    <p:extLst>
      <p:ext uri="{BB962C8B-B14F-4D97-AF65-F5344CB8AC3E}">
        <p14:creationId xmlns:p14="http://schemas.microsoft.com/office/powerpoint/2010/main" val="126810457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0CC23FB-BD46-42B9-8A93-29D56266ACF5}"/>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4B9E83-0C3D-4636-9D31-84E2C1F0067E}"/>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IDENTIFICATION</a:t>
            </a:r>
          </a:p>
        </p:txBody>
      </p:sp>
      <p:sp>
        <p:nvSpPr>
          <p:cNvPr id="3" name="">
            <a:extLst xmlns:a="http://schemas.openxmlformats.org/drawingml/2006/main">
              <a:ext uri="{FF2B5EF4-FFF2-40B4-BE49-F238E27FC236}">
                <a16:creationId xmlns:a16="http://schemas.microsoft.com/office/drawing/2014/main" id="{40FFCECF-A10C-4837-9D22-F489D3656F72}"/>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物理制約付き最適化と励振設計を一体化し、識別できる係数だけを学習する</a:t>
            </a:r>
          </a:p>
        </p:txBody>
      </p:sp>
      <p:sp>
        <p:nvSpPr>
          <p:cNvPr id="4" name="">
            <a:extLst xmlns:a="http://schemas.openxmlformats.org/drawingml/2006/main">
              <a:ext uri="{FF2B5EF4-FFF2-40B4-BE49-F238E27FC236}">
                <a16:creationId xmlns:a16="http://schemas.microsoft.com/office/drawing/2014/main" id="{F6E24908-13A2-4DE7-BE1F-60160FE1CEF2}"/>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低RMSEでも、共線性や初期値依存が残れば装置外挿には使わない</a:t>
            </a:r>
          </a:p>
        </p:txBody>
      </p:sp>
      <p:sp>
        <p:nvSpPr>
          <p:cNvPr id="5" name="">
            <a:extLst xmlns:a="http://schemas.openxmlformats.org/drawingml/2006/main">
              <a:ext uri="{FF2B5EF4-FFF2-40B4-BE49-F238E27FC236}">
                <a16:creationId xmlns:a16="http://schemas.microsoft.com/office/drawing/2014/main" id="{891A699D-4D2B-4AFC-B9FA-E3AA07E2F7CE}"/>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F1131279-E881-4307-BE09-6B73C967044C}"/>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7385B476-51FB-4EBC-96A2-14321A9B7F4E}"/>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4ADBD0E6-A206-4EA4-AFD6-67DF1E24040E}"/>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15</a:t>
            </a:r>
          </a:p>
        </p:txBody>
      </p:sp>
      <p:sp>
        <p:nvSpPr>
          <p:cNvPr id="9" name="">
            <a:extLst xmlns:a="http://schemas.openxmlformats.org/drawingml/2006/main">
              <a:ext uri="{FF2B5EF4-FFF2-40B4-BE49-F238E27FC236}">
                <a16:creationId xmlns:a16="http://schemas.microsoft.com/office/drawing/2014/main" id="{7EDAB86F-1F69-4F3A-9268-7565DAC11F69}"/>
              </a:ext>
            </a:extLst>
          </p:cNvPr>
          <p:cNvSpPr>
            <a:spLocks xmlns:a="http://schemas.openxmlformats.org/drawingml/2006/main" noGrp="1"/>
          </p:cNvSpPr>
          <p:nvPr/>
        </p:nvSpPr>
        <p:spPr>
          <a:xfrm xmlns:a="http://schemas.openxmlformats.org/drawingml/2006/main">
            <a:off x="552450" y="1438275"/>
            <a:ext cx="4191000" cy="205740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2EAA8583-F78D-487D-BF40-139DD909038A}"/>
              </a:ext>
            </a:extLst>
          </p:cNvPr>
          <p:cNvSpPr>
            <a:spLocks xmlns:a="http://schemas.openxmlformats.org/drawingml/2006/main" noGrp="1"/>
          </p:cNvSpPr>
          <p:nvPr/>
        </p:nvSpPr>
        <p:spPr>
          <a:xfrm xmlns:a="http://schemas.openxmlformats.org/drawingml/2006/main">
            <a:off x="752475" y="1609725"/>
            <a:ext cx="1476375" cy="238125"/>
          </a:xfrm>
          <a:prstGeom xmlns:a="http://schemas.openxmlformats.org/drawingml/2006/main" prst="roundRect">
            <a:avLst>
              <a:gd name="adj" fmla="val 50000"/>
            </a:avLst>
          </a:prstGeom>
          <a:solidFill xmlns:a="http://schemas.openxmlformats.org/drawingml/2006/main">
            <a:srgbClr val="EFE5F6"/>
          </a:solidFill>
          <a:ln xmlns:a="http://schemas.openxmlformats.org/drawingml/2006/main" w="9525">
            <a:solidFill>
              <a:srgbClr val="7B2DAF"/>
            </a:solidFill>
            <a:prstDash val="solid"/>
          </a:ln>
        </p:spPr>
      </p:sp>
      <p:sp>
        <p:nvSpPr>
          <p:cNvPr id="11" name="">
            <a:extLst xmlns:a="http://schemas.openxmlformats.org/drawingml/2006/main">
              <a:ext uri="{FF2B5EF4-FFF2-40B4-BE49-F238E27FC236}">
                <a16:creationId xmlns:a16="http://schemas.microsoft.com/office/drawing/2014/main" id="{914EA18C-E759-48C3-B703-804CDA139817}"/>
              </a:ext>
            </a:extLst>
          </p:cNvPr>
          <p:cNvSpPr>
            <a:spLocks xmlns:a="http://schemas.openxmlformats.org/drawingml/2006/main" noGrp="1"/>
          </p:cNvSpPr>
          <p:nvPr/>
        </p:nvSpPr>
        <p:spPr>
          <a:xfrm xmlns:a="http://schemas.openxmlformats.org/drawingml/2006/main">
            <a:off x="800100" y="161925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ROBUST OBJECTIVE</a:t>
            </a:r>
          </a:p>
        </p:txBody>
      </p:sp>
      <p:sp>
        <p:nvSpPr>
          <p:cNvPr id="12" name="">
            <a:extLst xmlns:a="http://schemas.openxmlformats.org/drawingml/2006/main">
              <a:ext uri="{FF2B5EF4-FFF2-40B4-BE49-F238E27FC236}">
                <a16:creationId xmlns:a16="http://schemas.microsoft.com/office/drawing/2014/main" id="{9B1F08BF-AE3C-478D-A462-BAC8DCCCF869}"/>
              </a:ext>
            </a:extLst>
          </p:cNvPr>
          <p:cNvSpPr>
            <a:spLocks xmlns:a="http://schemas.openxmlformats.org/drawingml/2006/main" noGrp="1"/>
          </p:cNvSpPr>
          <p:nvPr/>
        </p:nvSpPr>
        <p:spPr>
          <a:xfrm xmlns:a="http://schemas.openxmlformats.org/drawingml/2006/main">
            <a:off x="781050" y="204787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650" b="1" i="0">
                <a:solidFill>
                  <a:srgbClr val="3F3F3F"/>
                </a:solidFill>
                <a:latin typeface="Cambria Math"/>
                <a:ea typeface="Cambria Math"/>
                <a:cs typeface="Cambria Math"/>
              </a:defRPr>
            </a:pPr>
            <a:r>
              <a:rPr sz="1650" b="1" i="0">
                <a:solidFill>
                  <a:srgbClr val="3F3F3F"/>
                </a:solidFill>
                <a:latin typeface="Cambria Math"/>
                <a:ea typeface="Cambria Math"/>
                <a:cs typeface="Cambria Math"/>
              </a:rPr>
              <a:t>minθ  ΣₛΣₖ mₛₖ ρδ(yₛₖ − ŷₛₖ(θ))</a:t>
            </a:r>
          </a:p>
        </p:txBody>
      </p:sp>
      <p:sp>
        <p:nvSpPr>
          <p:cNvPr id="13" name="">
            <a:extLst xmlns:a="http://schemas.openxmlformats.org/drawingml/2006/main">
              <a:ext uri="{FF2B5EF4-FFF2-40B4-BE49-F238E27FC236}">
                <a16:creationId xmlns:a16="http://schemas.microsoft.com/office/drawing/2014/main" id="{B49A40D0-30AC-406E-8726-9B2442F0F148}"/>
              </a:ext>
            </a:extLst>
          </p:cNvPr>
          <p:cNvSpPr>
            <a:spLocks xmlns:a="http://schemas.openxmlformats.org/drawingml/2006/main" noGrp="1"/>
          </p:cNvSpPr>
          <p:nvPr/>
        </p:nvSpPr>
        <p:spPr>
          <a:xfrm xmlns:a="http://schemas.openxmlformats.org/drawingml/2006/main">
            <a:off x="781050" y="2466975"/>
            <a:ext cx="37338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500" b="0" i="0">
                <a:solidFill>
                  <a:srgbClr val="3F3F3F"/>
                </a:solidFill>
                <a:latin typeface="Cambria Math"/>
                <a:ea typeface="Cambria Math"/>
                <a:cs typeface="Cambria Math"/>
              </a:defRPr>
            </a:pPr>
            <a:r>
              <a:rPr sz="1500" b="0" i="0">
                <a:solidFill>
                  <a:srgbClr val="3F3F3F"/>
                </a:solidFill>
                <a:latin typeface="Cambria Math"/>
                <a:ea typeface="Cambria Math"/>
                <a:cs typeface="Cambria Math"/>
              </a:rPr>
              <a:t>+ λp‖log(p/p₀)‖² + λx‖x₀−x̄₀‖²</a:t>
            </a:r>
          </a:p>
        </p:txBody>
      </p:sp>
      <p:sp>
        <p:nvSpPr>
          <p:cNvPr id="14" name="">
            <a:extLst xmlns:a="http://schemas.openxmlformats.org/drawingml/2006/main">
              <a:ext uri="{FF2B5EF4-FFF2-40B4-BE49-F238E27FC236}">
                <a16:creationId xmlns:a16="http://schemas.microsoft.com/office/drawing/2014/main" id="{431679A8-E7C6-4EFE-B50C-8E0A6FCF22C0}"/>
              </a:ext>
            </a:extLst>
          </p:cNvPr>
          <p:cNvSpPr>
            <a:spLocks xmlns:a="http://schemas.openxmlformats.org/drawingml/2006/main" noGrp="1"/>
          </p:cNvSpPr>
          <p:nvPr/>
        </p:nvSpPr>
        <p:spPr>
          <a:xfrm xmlns:a="http://schemas.openxmlformats.org/drawingml/2006/main">
            <a:off x="781050" y="3028950"/>
            <a:ext cx="3733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7B2DAF"/>
                </a:solidFill>
                <a:latin typeface="Yu Gothic"/>
                <a:ea typeface="Yu Gothic"/>
                <a:cs typeface="Yu Gothic"/>
              </a:defRPr>
            </a:pPr>
            <a:r>
              <a:rPr sz="863" b="1" i="0">
                <a:solidFill>
                  <a:srgbClr val="7B2DAF"/>
                </a:solidFill>
                <a:latin typeface="Yu Gothic"/>
                <a:ea typeface="Yu Gothic"/>
                <a:cs typeface="Yu Gothic"/>
              </a:rPr>
              <a:t>p = p₀ exp(ℓ) &gt; 0  /  Huber loss  /  mask-aware</a:t>
            </a:r>
          </a:p>
        </p:txBody>
      </p:sp>
      <p:sp>
        <p:nvSpPr>
          <p:cNvPr id="15" name="">
            <a:extLst xmlns:a="http://schemas.openxmlformats.org/drawingml/2006/main">
              <a:ext uri="{FF2B5EF4-FFF2-40B4-BE49-F238E27FC236}">
                <a16:creationId xmlns:a16="http://schemas.microsoft.com/office/drawing/2014/main" id="{2DBF6AAA-0C18-412D-BE6F-143031CD3222}"/>
              </a:ext>
            </a:extLst>
          </p:cNvPr>
          <p:cNvSpPr>
            <a:spLocks xmlns:a="http://schemas.openxmlformats.org/drawingml/2006/main" noGrp="1"/>
          </p:cNvSpPr>
          <p:nvPr/>
        </p:nvSpPr>
        <p:spPr>
          <a:xfrm xmlns:a="http://schemas.openxmlformats.org/drawingml/2006/main">
            <a:off x="4953000" y="1438275"/>
            <a:ext cx="6686550" cy="20574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FD4D15D1-6E3B-41C7-8CEF-29962F58FF13}"/>
              </a:ext>
            </a:extLst>
          </p:cNvPr>
          <p:cNvSpPr>
            <a:spLocks xmlns:a="http://schemas.openxmlformats.org/drawingml/2006/main" noGrp="1"/>
          </p:cNvSpPr>
          <p:nvPr/>
        </p:nvSpPr>
        <p:spPr>
          <a:xfrm xmlns:a="http://schemas.openxmlformats.org/drawingml/2006/main">
            <a:off x="5143500" y="1609725"/>
            <a:ext cx="20478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同定成立の判定</a:t>
            </a:r>
          </a:p>
        </p:txBody>
      </p:sp>
      <p:sp>
        <p:nvSpPr>
          <p:cNvPr id="17" name="">
            <a:extLst xmlns:a="http://schemas.openxmlformats.org/drawingml/2006/main">
              <a:ext uri="{FF2B5EF4-FFF2-40B4-BE49-F238E27FC236}">
                <a16:creationId xmlns:a16="http://schemas.microsoft.com/office/drawing/2014/main" id="{3959BBCE-EE73-4C54-ACBA-B0A485E40F44}"/>
              </a:ext>
            </a:extLst>
          </p:cNvPr>
          <p:cNvSpPr>
            <a:spLocks xmlns:a="http://schemas.openxmlformats.org/drawingml/2006/main" noGrp="1"/>
          </p:cNvSpPr>
          <p:nvPr/>
        </p:nvSpPr>
        <p:spPr>
          <a:xfrm xmlns:a="http://schemas.openxmlformats.org/drawingml/2006/main">
            <a:off x="5143500" y="1971675"/>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感度rank</a:t>
            </a:r>
          </a:p>
        </p:txBody>
      </p:sp>
      <p:sp>
        <p:nvSpPr>
          <p:cNvPr id="18" name="">
            <a:extLst xmlns:a="http://schemas.openxmlformats.org/drawingml/2006/main">
              <a:ext uri="{FF2B5EF4-FFF2-40B4-BE49-F238E27FC236}">
                <a16:creationId xmlns:a16="http://schemas.microsoft.com/office/drawing/2014/main" id="{ADE44E70-C9B0-4A07-A828-DD0F4AA92C2A}"/>
              </a:ext>
            </a:extLst>
          </p:cNvPr>
          <p:cNvSpPr>
            <a:spLocks xmlns:a="http://schemas.openxmlformats.org/drawingml/2006/main" noGrp="1"/>
          </p:cNvSpPr>
          <p:nvPr/>
        </p:nvSpPr>
        <p:spPr>
          <a:xfrm xmlns:a="http://schemas.openxmlformats.org/drawingml/2006/main">
            <a:off x="6191250" y="1971675"/>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J = ∂ŷ/∂log p の特異値</a:t>
            </a:r>
          </a:p>
        </p:txBody>
      </p:sp>
      <p:sp>
        <p:nvSpPr>
          <p:cNvPr id="19" name="">
            <a:extLst xmlns:a="http://schemas.openxmlformats.org/drawingml/2006/main">
              <a:ext uri="{FF2B5EF4-FFF2-40B4-BE49-F238E27FC236}">
                <a16:creationId xmlns:a16="http://schemas.microsoft.com/office/drawing/2014/main" id="{CB1FAAB7-FA6B-4974-A7F2-611AEEBFFC20}"/>
              </a:ext>
            </a:extLst>
          </p:cNvPr>
          <p:cNvSpPr>
            <a:spLocks xmlns:a="http://schemas.openxmlformats.org/drawingml/2006/main" noGrp="1"/>
          </p:cNvSpPr>
          <p:nvPr/>
        </p:nvSpPr>
        <p:spPr>
          <a:xfrm xmlns:a="http://schemas.openxmlformats.org/drawingml/2006/main">
            <a:off x="8477250" y="1971675"/>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小特異値 → parameter統合/固定</a:t>
            </a:r>
          </a:p>
        </p:txBody>
      </p:sp>
      <p:sp>
        <p:nvSpPr>
          <p:cNvPr id="20" name="">
            <a:extLst xmlns:a="http://schemas.openxmlformats.org/drawingml/2006/main">
              <a:ext uri="{FF2B5EF4-FFF2-40B4-BE49-F238E27FC236}">
                <a16:creationId xmlns:a16="http://schemas.microsoft.com/office/drawing/2014/main" id="{72F0917D-63E9-47BB-B5F7-2A4C1691F9B0}"/>
              </a:ext>
            </a:extLst>
          </p:cNvPr>
          <p:cNvSpPr>
            <a:spLocks xmlns:a="http://schemas.openxmlformats.org/drawingml/2006/main" noGrp="1"/>
          </p:cNvSpPr>
          <p:nvPr/>
        </p:nvSpPr>
        <p:spPr>
          <a:xfrm xmlns:a="http://schemas.openxmlformats.org/drawingml/2006/main">
            <a:off x="5143500" y="2324100"/>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profile</a:t>
            </a:r>
          </a:p>
        </p:txBody>
      </p:sp>
      <p:sp>
        <p:nvSpPr>
          <p:cNvPr id="21" name="">
            <a:extLst xmlns:a="http://schemas.openxmlformats.org/drawingml/2006/main">
              <a:ext uri="{FF2B5EF4-FFF2-40B4-BE49-F238E27FC236}">
                <a16:creationId xmlns:a16="http://schemas.microsoft.com/office/drawing/2014/main" id="{225DF4FC-3AAF-4FB7-9F3C-9D492941662B}"/>
              </a:ext>
            </a:extLst>
          </p:cNvPr>
          <p:cNvSpPr>
            <a:spLocks xmlns:a="http://schemas.openxmlformats.org/drawingml/2006/main" noGrp="1"/>
          </p:cNvSpPr>
          <p:nvPr/>
        </p:nvSpPr>
        <p:spPr>
          <a:xfrm xmlns:a="http://schemas.openxmlformats.org/drawingml/2006/main">
            <a:off x="6191250" y="2324100"/>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1係数を走査して再最適化</a:t>
            </a:r>
          </a:p>
        </p:txBody>
      </p:sp>
      <p:sp>
        <p:nvSpPr>
          <p:cNvPr id="22" name="">
            <a:extLst xmlns:a="http://schemas.openxmlformats.org/drawingml/2006/main">
              <a:ext uri="{FF2B5EF4-FFF2-40B4-BE49-F238E27FC236}">
                <a16:creationId xmlns:a16="http://schemas.microsoft.com/office/drawing/2014/main" id="{63102AFE-F446-4D22-86A8-F122E8CD3F77}"/>
              </a:ext>
            </a:extLst>
          </p:cNvPr>
          <p:cNvSpPr>
            <a:spLocks xmlns:a="http://schemas.openxmlformats.org/drawingml/2006/main" noGrp="1"/>
          </p:cNvSpPr>
          <p:nvPr/>
        </p:nvSpPr>
        <p:spPr>
          <a:xfrm xmlns:a="http://schemas.openxmlformats.org/drawingml/2006/main">
            <a:off x="8477250" y="232410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平坦 → 信頼区間を主張しない</a:t>
            </a:r>
          </a:p>
        </p:txBody>
      </p:sp>
      <p:sp>
        <p:nvSpPr>
          <p:cNvPr id="23" name="">
            <a:extLst xmlns:a="http://schemas.openxmlformats.org/drawingml/2006/main">
              <a:ext uri="{FF2B5EF4-FFF2-40B4-BE49-F238E27FC236}">
                <a16:creationId xmlns:a16="http://schemas.microsoft.com/office/drawing/2014/main" id="{724F3EA5-516A-4EBC-9645-C4F8AA3A2AD0}"/>
              </a:ext>
            </a:extLst>
          </p:cNvPr>
          <p:cNvSpPr>
            <a:spLocks xmlns:a="http://schemas.openxmlformats.org/drawingml/2006/main" noGrp="1"/>
          </p:cNvSpPr>
          <p:nvPr/>
        </p:nvSpPr>
        <p:spPr>
          <a:xfrm xmlns:a="http://schemas.openxmlformats.org/drawingml/2006/main">
            <a:off x="5143500" y="2676525"/>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seed安定性</a:t>
            </a:r>
          </a:p>
        </p:txBody>
      </p:sp>
      <p:sp>
        <p:nvSpPr>
          <p:cNvPr id="24" name="">
            <a:extLst xmlns:a="http://schemas.openxmlformats.org/drawingml/2006/main">
              <a:ext uri="{FF2B5EF4-FFF2-40B4-BE49-F238E27FC236}">
                <a16:creationId xmlns:a16="http://schemas.microsoft.com/office/drawing/2014/main" id="{50B3E530-982E-41EE-AB97-292E84EA7B5C}"/>
              </a:ext>
            </a:extLst>
          </p:cNvPr>
          <p:cNvSpPr>
            <a:spLocks xmlns:a="http://schemas.openxmlformats.org/drawingml/2006/main" noGrp="1"/>
          </p:cNvSpPr>
          <p:nvPr/>
        </p:nvSpPr>
        <p:spPr>
          <a:xfrm xmlns:a="http://schemas.openxmlformats.org/drawingml/2006/main">
            <a:off x="6191250" y="2676525"/>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複数初期値・再学習</a:t>
            </a:r>
          </a:p>
        </p:txBody>
      </p:sp>
      <p:sp>
        <p:nvSpPr>
          <p:cNvPr id="25" name="">
            <a:extLst xmlns:a="http://schemas.openxmlformats.org/drawingml/2006/main">
              <a:ext uri="{FF2B5EF4-FFF2-40B4-BE49-F238E27FC236}">
                <a16:creationId xmlns:a16="http://schemas.microsoft.com/office/drawing/2014/main" id="{E847386E-487B-4EB5-944C-B99C441BCECA}"/>
              </a:ext>
            </a:extLst>
          </p:cNvPr>
          <p:cNvSpPr>
            <a:spLocks xmlns:a="http://schemas.openxmlformats.org/drawingml/2006/main" noGrp="1"/>
          </p:cNvSpPr>
          <p:nvPr/>
        </p:nvSpPr>
        <p:spPr>
          <a:xfrm xmlns:a="http://schemas.openxmlformats.org/drawingml/2006/main">
            <a:off x="8477250" y="2676525"/>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同一RMSEで係数が分岐 → 非一意</a:t>
            </a:r>
          </a:p>
        </p:txBody>
      </p:sp>
      <p:sp>
        <p:nvSpPr>
          <p:cNvPr id="26" name="">
            <a:extLst xmlns:a="http://schemas.openxmlformats.org/drawingml/2006/main">
              <a:ext uri="{FF2B5EF4-FFF2-40B4-BE49-F238E27FC236}">
                <a16:creationId xmlns:a16="http://schemas.microsoft.com/office/drawing/2014/main" id="{BC5C76F0-A7A5-4F82-99ED-617B949BD5F9}"/>
              </a:ext>
            </a:extLst>
          </p:cNvPr>
          <p:cNvSpPr>
            <a:spLocks xmlns:a="http://schemas.openxmlformats.org/drawingml/2006/main" noGrp="1"/>
          </p:cNvSpPr>
          <p:nvPr/>
        </p:nvSpPr>
        <p:spPr>
          <a:xfrm xmlns:a="http://schemas.openxmlformats.org/drawingml/2006/main">
            <a:off x="5143500" y="3028950"/>
            <a:ext cx="1009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時間holdout</a:t>
            </a:r>
          </a:p>
        </p:txBody>
      </p:sp>
      <p:sp>
        <p:nvSpPr>
          <p:cNvPr id="27" name="">
            <a:extLst xmlns:a="http://schemas.openxmlformats.org/drawingml/2006/main">
              <a:ext uri="{FF2B5EF4-FFF2-40B4-BE49-F238E27FC236}">
                <a16:creationId xmlns:a16="http://schemas.microsoft.com/office/drawing/2014/main" id="{47D1FF28-55CB-4415-A16D-1F8ECFC7720D}"/>
              </a:ext>
            </a:extLst>
          </p:cNvPr>
          <p:cNvSpPr>
            <a:spLocks xmlns:a="http://schemas.openxmlformats.org/drawingml/2006/main" noGrp="1"/>
          </p:cNvSpPr>
          <p:nvPr/>
        </p:nvSpPr>
        <p:spPr>
          <a:xfrm xmlns:a="http://schemas.openxmlformats.org/drawingml/2006/main">
            <a:off x="6191250" y="3028950"/>
            <a:ext cx="2190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将来suffix・別recipe</a:t>
            </a:r>
          </a:p>
        </p:txBody>
      </p:sp>
      <p:sp>
        <p:nvSpPr>
          <p:cNvPr id="28" name="">
            <a:extLst xmlns:a="http://schemas.openxmlformats.org/drawingml/2006/main">
              <a:ext uri="{FF2B5EF4-FFF2-40B4-BE49-F238E27FC236}">
                <a16:creationId xmlns:a16="http://schemas.microsoft.com/office/drawing/2014/main" id="{32C5B5AB-2385-4D33-B95C-08DD8F2E0ECA}"/>
              </a:ext>
            </a:extLst>
          </p:cNvPr>
          <p:cNvSpPr>
            <a:spLocks xmlns:a="http://schemas.openxmlformats.org/drawingml/2006/main" noGrp="1"/>
          </p:cNvSpPr>
          <p:nvPr/>
        </p:nvSpPr>
        <p:spPr>
          <a:xfrm xmlns:a="http://schemas.openxmlformats.org/drawingml/2006/main">
            <a:off x="8477250" y="302895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同一trajectory内補間と分離</a:t>
            </a:r>
          </a:p>
        </p:txBody>
      </p:sp>
      <p:graphicFrame>
        <p:nvGraphicFramePr>
          <p:cNvPr id="60" name=""/>
          <p:cNvGraphicFramePr/>
          <p:nvPr/>
        </p:nvGraphicFramePr>
        <p:xfrm>
          <a:off xmlns:a="http://schemas.openxmlformats.org/drawingml/2006/main" x="552450" y="3762375"/>
          <a:ext xmlns:a="http://schemas.openxmlformats.org/drawingml/2006/main" cx="11087100" cy="1971675"/>
        </p:xfrm>
        <a:graphic xmlns:a="http://schemas.openxmlformats.org/drawingml/2006/main">
          <a:graphicData uri="http://schemas.openxmlformats.org/drawingml/2006/table">
            <a:tbl>
              <a:tblPr/>
              <a:tblGrid>
                <a:gridCol w="2000250"/>
                <a:gridCol w="3048000"/>
                <a:gridCol w="2667000"/>
                <a:gridCol w="3371850"/>
              </a:tblGrid>
              <a:tr h="394335">
                <a:tc>
                  <a:txBody>
                    <a:bodyPr/>
                    <a:lstStyle/>
                    <a:p>
                      <a:r>
                        <a:rPr sz="938" b="1">
                          <a:solidFill>
                            <a:srgbClr val="FFFFFF"/>
                          </a:solidFill>
                          <a:latin typeface="Yu Gothic"/>
                          <a:ea typeface="Yu Gothic"/>
                          <a:cs typeface="Yu Gothic"/>
                        </a:rPr>
                        <a:t>対象係数</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必要な励振</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観測signature</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主なconfounder</a:t>
                      </a:r>
                    </a:p>
                  </a:txBody>
                  <a:tcPr marL="91440" marR="91440" marT="45720" marB="45720">
                    <a:solidFill>
                      <a:srgbClr val="00A5D8"/>
                    </a:solidFill>
                  </a:tcPr>
                </a:tc>
              </a:tr>
              <a:tr h="394335">
                <a:tc>
                  <a:txBody>
                    <a:bodyPr/>
                    <a:lstStyle/>
                    <a:p>
                      <a:r>
                        <a:rPr sz="900" b="1">
                          <a:solidFill>
                            <a:srgbClr val="007FA8"/>
                          </a:solidFill>
                          <a:latin typeface="Yu Gothic"/>
                          <a:ea typeface="Yu Gothic"/>
                          <a:cs typeface="Yu Gothic"/>
                        </a:rPr>
                        <a:t>G chip–base</a:t>
                      </a:r>
                    </a:p>
                  </a:txBody>
                  <a:tcPr marL="91440" marR="91440" marT="45720" marB="45720">
                    <a:solidFill>
                      <a:srgbClr val="FFFFFF"/>
                    </a:solidFill>
                  </a:tcPr>
                </a:tc>
                <a:tc>
                  <a:txBody>
                    <a:bodyPr/>
                    <a:lstStyle/>
                    <a:p>
                      <a:r>
                        <a:rPr sz="900">
                          <a:solidFill>
                            <a:srgbClr val="5B5B5B"/>
                          </a:solidFill>
                          <a:latin typeface="Yu Gothic"/>
                          <a:ea typeface="Yu Gothic"/>
                          <a:cs typeface="Yu Gothic"/>
                        </a:rPr>
                        <a:t>短いpower step / edge</a:t>
                      </a:r>
                    </a:p>
                  </a:txBody>
                  <a:tcPr marL="91440" marR="91440" marT="45720" marB="45720">
                    <a:solidFill>
                      <a:srgbClr val="FFFFFF"/>
                    </a:solidFill>
                  </a:tcPr>
                </a:tc>
                <a:tc>
                  <a:txBody>
                    <a:bodyPr/>
                    <a:lstStyle/>
                    <a:p>
                      <a:r>
                        <a:rPr sz="900">
                          <a:solidFill>
                            <a:srgbClr val="5B5B5B"/>
                          </a:solidFill>
                          <a:latin typeface="Yu Gothic"/>
                          <a:ea typeface="Yu Gothic"/>
                          <a:cs typeface="Yu Gothic"/>
                        </a:rPr>
                        <a:t>chip–base位相差</a:t>
                      </a:r>
                    </a:p>
                  </a:txBody>
                  <a:tcPr marL="91440" marR="91440" marT="45720" marB="45720">
                    <a:solidFill>
                      <a:srgbClr val="FFFFFF"/>
                    </a:solidFill>
                  </a:tcPr>
                </a:tc>
                <a:tc>
                  <a:txBody>
                    <a:bodyPr/>
                    <a:lstStyle/>
                    <a:p>
                      <a:r>
                        <a:rPr sz="900">
                          <a:solidFill>
                            <a:srgbClr val="5B5B5B"/>
                          </a:solidFill>
                          <a:latin typeface="Yu Gothic"/>
                          <a:ea typeface="Yu Gothic"/>
                          <a:cs typeface="Yu Gothic"/>
                        </a:rPr>
                        <a:t>sensor応答、時刻ずれ</a:t>
                      </a:r>
                    </a:p>
                  </a:txBody>
                  <a:tcPr marL="91440" marR="91440" marT="45720" marB="45720">
                    <a:solidFill>
                      <a:srgbClr val="FFFFFF"/>
                    </a:solidFill>
                  </a:tcPr>
                </a:tc>
              </a:tr>
              <a:tr h="394335">
                <a:tc>
                  <a:txBody>
                    <a:bodyPr/>
                    <a:lstStyle/>
                    <a:p>
                      <a:r>
                        <a:rPr sz="900" b="1">
                          <a:solidFill>
                            <a:srgbClr val="007FA8"/>
                          </a:solidFill>
                          <a:latin typeface="Yu Gothic"/>
                          <a:ea typeface="Yu Gothic"/>
                          <a:cs typeface="Yu Gothic"/>
                        </a:rPr>
                        <a:t>G base–fins</a:t>
                      </a:r>
                    </a:p>
                  </a:txBody>
                  <a:tcPr marL="91440" marR="91440" marT="45720" marB="45720">
                    <a:solidFill>
                      <a:srgbClr val="F8F8F8"/>
                    </a:solidFill>
                  </a:tcPr>
                </a:tc>
                <a:tc>
                  <a:txBody>
                    <a:bodyPr/>
                    <a:lstStyle/>
                    <a:p>
                      <a:r>
                        <a:rPr sz="900">
                          <a:solidFill>
                            <a:srgbClr val="5B5B5B"/>
                          </a:solidFill>
                          <a:latin typeface="Yu Gothic"/>
                          <a:ea typeface="Yu Gothic"/>
                          <a:cs typeface="Yu Gothic"/>
                        </a:rPr>
                        <a:t>中時間pulse / cooldown</a:t>
                      </a:r>
                    </a:p>
                  </a:txBody>
                  <a:tcPr marL="91440" marR="91440" marT="45720" marB="45720">
                    <a:solidFill>
                      <a:srgbClr val="F8F8F8"/>
                    </a:solidFill>
                  </a:tcPr>
                </a:tc>
                <a:tc>
                  <a:txBody>
                    <a:bodyPr/>
                    <a:lstStyle/>
                    <a:p>
                      <a:r>
                        <a:rPr sz="900">
                          <a:solidFill>
                            <a:srgbClr val="5B5B5B"/>
                          </a:solidFill>
                          <a:latin typeface="Yu Gothic"/>
                          <a:ea typeface="Yu Gothic"/>
                          <a:cs typeface="Yu Gothic"/>
                        </a:rPr>
                        <a:t>base–fins減衰</a:t>
                      </a:r>
                    </a:p>
                  </a:txBody>
                  <a:tcPr marL="91440" marR="91440" marT="45720" marB="45720">
                    <a:solidFill>
                      <a:srgbClr val="F8F8F8"/>
                    </a:solidFill>
                  </a:tcPr>
                </a:tc>
                <a:tc>
                  <a:txBody>
                    <a:bodyPr/>
                    <a:lstStyle/>
                    <a:p>
                      <a:r>
                        <a:rPr sz="900">
                          <a:solidFill>
                            <a:srgbClr val="5B5B5B"/>
                          </a:solidFill>
                          <a:latin typeface="Yu Gothic"/>
                          <a:ea typeface="Yu Gothic"/>
                          <a:cs typeface="Yu Gothic"/>
                        </a:rPr>
                        <a:t>G₁との相関</a:t>
                      </a:r>
                    </a:p>
                  </a:txBody>
                  <a:tcPr marL="91440" marR="91440" marT="45720" marB="45720">
                    <a:solidFill>
                      <a:srgbClr val="F8F8F8"/>
                    </a:solidFill>
                  </a:tcPr>
                </a:tc>
              </a:tr>
              <a:tr h="394335">
                <a:tc>
                  <a:txBody>
                    <a:bodyPr/>
                    <a:lstStyle/>
                    <a:p>
                      <a:r>
                        <a:rPr sz="900" b="1">
                          <a:solidFill>
                            <a:srgbClr val="007FA8"/>
                          </a:solidFill>
                          <a:latin typeface="Yu Gothic"/>
                          <a:ea typeface="Yu Gothic"/>
                          <a:cs typeface="Yu Gothic"/>
                        </a:rPr>
                        <a:t>hA coolant</a:t>
                      </a:r>
                    </a:p>
                  </a:txBody>
                  <a:tcPr marL="91440" marR="91440" marT="45720" marB="45720">
                    <a:solidFill>
                      <a:srgbClr val="FFFFFF"/>
                    </a:solidFill>
                  </a:tcPr>
                </a:tc>
                <a:tc>
                  <a:txBody>
                    <a:bodyPr/>
                    <a:lstStyle/>
                    <a:p>
                      <a:r>
                        <a:rPr sz="900">
                          <a:solidFill>
                            <a:srgbClr val="5B5B5B"/>
                          </a:solidFill>
                          <a:latin typeface="Yu Gothic"/>
                          <a:ea typeface="Yu Gothic"/>
                          <a:cs typeface="Yu Gothic"/>
                        </a:rPr>
                        <a:t>長時間hold / coolant sweep</a:t>
                      </a:r>
                    </a:p>
                  </a:txBody>
                  <a:tcPr marL="91440" marR="91440" marT="45720" marB="45720">
                    <a:solidFill>
                      <a:srgbClr val="FFFFFF"/>
                    </a:solidFill>
                  </a:tcPr>
                </a:tc>
                <a:tc>
                  <a:txBody>
                    <a:bodyPr/>
                    <a:lstStyle/>
                    <a:p>
                      <a:r>
                        <a:rPr sz="900">
                          <a:solidFill>
                            <a:srgbClr val="5B5B5B"/>
                          </a:solidFill>
                          <a:latin typeface="Yu Gothic"/>
                          <a:ea typeface="Yu Gothic"/>
                          <a:cs typeface="Yu Gothic"/>
                        </a:rPr>
                        <a:t>定常gain・global τ</a:t>
                      </a:r>
                    </a:p>
                  </a:txBody>
                  <a:tcPr marL="91440" marR="91440" marT="45720" marB="45720">
                    <a:solidFill>
                      <a:srgbClr val="FFFFFF"/>
                    </a:solidFill>
                  </a:tcPr>
                </a:tc>
                <a:tc>
                  <a:txBody>
                    <a:bodyPr/>
                    <a:lstStyle/>
                    <a:p>
                      <a:r>
                        <a:rPr sz="900">
                          <a:solidFill>
                            <a:srgbClr val="5B5B5B"/>
                          </a:solidFill>
                          <a:latin typeface="Yu Gothic"/>
                          <a:ea typeface="Yu Gothic"/>
                          <a:cs typeface="Yu Gothic"/>
                        </a:rPr>
                        <a:t>初期温度、ambient drift</a:t>
                      </a:r>
                    </a:p>
                  </a:txBody>
                  <a:tcPr marL="91440" marR="91440" marT="45720" marB="45720">
                    <a:solidFill>
                      <a:srgbClr val="FFFFFF"/>
                    </a:solidFill>
                  </a:tcPr>
                </a:tc>
              </a:tr>
              <a:tr h="394335">
                <a:tc>
                  <a:txBody>
                    <a:bodyPr/>
                    <a:lstStyle/>
                    <a:p>
                      <a:r>
                        <a:rPr sz="900" b="1">
                          <a:solidFill>
                            <a:srgbClr val="777777"/>
                          </a:solidFill>
                          <a:latin typeface="Yu Gothic"/>
                          <a:ea typeface="Yu Gothic"/>
                          <a:cs typeface="Yu Gothic"/>
                        </a:rPr>
                        <a:t>C（将来拡張）</a:t>
                      </a:r>
                    </a:p>
                  </a:txBody>
                  <a:tcPr marL="91440" marR="91440" marT="45720" marB="45720">
                    <a:solidFill>
                      <a:srgbClr val="F8F8F8"/>
                    </a:solidFill>
                  </a:tcPr>
                </a:tc>
                <a:tc>
                  <a:txBody>
                    <a:bodyPr/>
                    <a:lstStyle/>
                    <a:p>
                      <a:r>
                        <a:rPr sz="900">
                          <a:solidFill>
                            <a:srgbClr val="5B5B5B"/>
                          </a:solidFill>
                          <a:latin typeface="Yu Gothic"/>
                          <a:ea typeface="Yu Gothic"/>
                          <a:cs typeface="Yu Gothic"/>
                        </a:rPr>
                        <a:t>複数pulse幅</a:t>
                      </a:r>
                    </a:p>
                  </a:txBody>
                  <a:tcPr marL="91440" marR="91440" marT="45720" marB="45720">
                    <a:solidFill>
                      <a:srgbClr val="F8F8F8"/>
                    </a:solidFill>
                  </a:tcPr>
                </a:tc>
                <a:tc>
                  <a:txBody>
                    <a:bodyPr/>
                    <a:lstStyle/>
                    <a:p>
                      <a:r>
                        <a:rPr sz="900">
                          <a:solidFill>
                            <a:srgbClr val="5B5B5B"/>
                          </a:solidFill>
                          <a:latin typeface="Yu Gothic"/>
                          <a:ea typeface="Yu Gothic"/>
                          <a:cs typeface="Yu Gothic"/>
                        </a:rPr>
                        <a:t>立上り速度</a:t>
                      </a:r>
                    </a:p>
                  </a:txBody>
                  <a:tcPr marL="91440" marR="91440" marT="45720" marB="45720">
                    <a:solidFill>
                      <a:srgbClr val="F8F8F8"/>
                    </a:solidFill>
                  </a:tcPr>
                </a:tc>
                <a:tc>
                  <a:txBody>
                    <a:bodyPr/>
                    <a:lstStyle/>
                    <a:p>
                      <a:r>
                        <a:rPr sz="900">
                          <a:solidFill>
                            <a:srgbClr val="5B5B5B"/>
                          </a:solidFill>
                          <a:latin typeface="Yu Gothic"/>
                          <a:ea typeface="Yu Gothic"/>
                          <a:cs typeface="Yu Gothic"/>
                        </a:rPr>
                        <a:t>Gとのscale同定性</a:t>
                      </a:r>
                    </a:p>
                  </a:txBody>
                  <a:tcPr marL="91440" marR="91440" marT="45720" marB="45720">
                    <a:solidFill>
                      <a:srgbClr val="F8F8F8"/>
                    </a:solidFill>
                  </a:tcPr>
                </a:tc>
              </a:tr>
            </a:tbl>
          </a:graphicData>
        </a:graphic>
      </p:graphicFrame>
      <p:sp>
        <p:nvSpPr>
          <p:cNvPr id="30" name="">
            <a:extLst xmlns:a="http://schemas.openxmlformats.org/drawingml/2006/main">
              <a:ext uri="{FF2B5EF4-FFF2-40B4-BE49-F238E27FC236}">
                <a16:creationId xmlns:a16="http://schemas.microsoft.com/office/drawing/2014/main" id="{85AF0F91-D769-4861-BDD8-92BA63F79015}"/>
              </a:ext>
            </a:extLst>
          </p:cNvPr>
          <p:cNvSpPr>
            <a:spLocks xmlns:a="http://schemas.openxmlformats.org/drawingml/2006/main" noGrp="1"/>
          </p:cNvSpPr>
          <p:nvPr/>
        </p:nvSpPr>
        <p:spPr>
          <a:xfrm xmlns:a="http://schemas.openxmlformats.org/drawingml/2006/main">
            <a:off x="552450" y="5895975"/>
            <a:ext cx="11087100" cy="35242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31" name="">
            <a:extLst xmlns:a="http://schemas.openxmlformats.org/drawingml/2006/main">
              <a:ext uri="{FF2B5EF4-FFF2-40B4-BE49-F238E27FC236}">
                <a16:creationId xmlns:a16="http://schemas.microsoft.com/office/drawing/2014/main" id="{455035F7-4E0F-4ED8-A6F5-84F3F285B1A8}"/>
              </a:ext>
            </a:extLst>
          </p:cNvPr>
          <p:cNvSpPr>
            <a:spLocks xmlns:a="http://schemas.openxmlformats.org/drawingml/2006/main" noGrp="1"/>
          </p:cNvSpPr>
          <p:nvPr/>
        </p:nvSpPr>
        <p:spPr>
          <a:xfrm xmlns:a="http://schemas.openxmlformats.org/drawingml/2006/main">
            <a:off x="695325" y="5953125"/>
            <a:ext cx="10801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4D8710"/>
                </a:solidFill>
                <a:latin typeface="Yu Gothic"/>
                <a:ea typeface="Yu Gothic"/>
                <a:cs typeface="Yu Gothic"/>
              </a:defRPr>
            </a:pPr>
            <a:r>
              <a:rPr sz="938" b="1" i="0">
                <a:solidFill>
                  <a:srgbClr val="4D8710"/>
                </a:solidFill>
                <a:latin typeface="Yu Gothic"/>
                <a:ea typeface="Yu Gothic"/>
                <a:cs typeface="Yu Gothic"/>
              </a:rPr>
              <a:t>装置DOEの原則：短・中・長の時間尺度を分離して励振し、coolantとheaterを同時に動かし過ぎない。</a:t>
            </a:r>
          </a:p>
        </p:txBody>
      </p:sp>
    </p:spTree>
    <p:extLst>
      <p:ext uri="{BB962C8B-B14F-4D97-AF65-F5344CB8AC3E}">
        <p14:creationId xmlns:p14="http://schemas.microsoft.com/office/powerpoint/2010/main" val="118938976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85F87CF-7581-44B0-9735-1B950104F5E8}"/>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EDBEEB-60E3-48D1-98E2-966DAD5F3FAB}"/>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LEARNING &amp; ESTIMATION</a:t>
            </a:r>
          </a:p>
        </p:txBody>
      </p:sp>
      <p:sp>
        <p:nvSpPr>
          <p:cNvPr id="3" name="">
            <a:extLst xmlns:a="http://schemas.openxmlformats.org/drawingml/2006/main">
              <a:ext uri="{FF2B5EF4-FFF2-40B4-BE49-F238E27FC236}">
                <a16:creationId xmlns:a16="http://schemas.microsoft.com/office/drawing/2014/main" id="{63838337-0072-49E3-B893-D8098092C9D5}"/>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97388"/>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本コードはblack-box予測器ではなく、微分可能な物理modelと因果推定器を組み合わせる</a:t>
            </a:r>
          </a:p>
        </p:txBody>
      </p:sp>
      <p:sp>
        <p:nvSpPr>
          <p:cNvPr id="4" name="">
            <a:extLst xmlns:a="http://schemas.openxmlformats.org/drawingml/2006/main">
              <a:ext uri="{FF2B5EF4-FFF2-40B4-BE49-F238E27FC236}">
                <a16:creationId xmlns:a16="http://schemas.microsoft.com/office/drawing/2014/main" id="{CFDC2883-8825-45D1-B465-2387A5DCF84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学習対象、状態推定、診断ruleを分けることで、誤差の由来と再学習条件を追跡できる</a:t>
            </a:r>
          </a:p>
        </p:txBody>
      </p:sp>
      <p:sp>
        <p:nvSpPr>
          <p:cNvPr id="5" name="">
            <a:extLst xmlns:a="http://schemas.openxmlformats.org/drawingml/2006/main">
              <a:ext uri="{FF2B5EF4-FFF2-40B4-BE49-F238E27FC236}">
                <a16:creationId xmlns:a16="http://schemas.microsoft.com/office/drawing/2014/main" id="{44E4E1DA-03BC-4BDB-BD28-33E9E129573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8FF9C622-3164-4938-88A2-E8FE3F0D759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0A5E34B1-F000-4449-88B8-4149144B5972}"/>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9A415CE-8A1D-470A-9CFF-9C3D9504886F}"/>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16</a:t>
            </a:r>
          </a:p>
        </p:txBody>
      </p:sp>
      <p:graphicFrame>
        <p:nvGraphicFramePr>
          <p:cNvPr id="24" name=""/>
          <p:cNvGraphicFramePr/>
          <p:nvPr/>
        </p:nvGraphicFramePr>
        <p:xfrm>
          <a:off xmlns:a="http://schemas.openxmlformats.org/drawingml/2006/main" x="552450" y="1457325"/>
          <a:ext xmlns:a="http://schemas.openxmlformats.org/drawingml/2006/main" cx="11087100" cy="3305175"/>
        </p:xfrm>
        <a:graphic xmlns:a="http://schemas.openxmlformats.org/drawingml/2006/main">
          <a:graphicData uri="http://schemas.openxmlformats.org/drawingml/2006/table">
            <a:tbl>
              <a:tblPr/>
              <a:tblGrid>
                <a:gridCol w="1962150"/>
                <a:gridCol w="2238375"/>
                <a:gridCol w="2324100"/>
                <a:gridCol w="2647950"/>
                <a:gridCol w="1914525"/>
              </a:tblGrid>
              <a:tr h="550863">
                <a:tc>
                  <a:txBody>
                    <a:bodyPr/>
                    <a:lstStyle/>
                    <a:p>
                      <a:r>
                        <a:rPr sz="938" b="1">
                          <a:solidFill>
                            <a:srgbClr val="FFFFFF"/>
                          </a:solidFill>
                          <a:latin typeface="Yu Gothic"/>
                          <a:ea typeface="Yu Gothic"/>
                          <a:cs typeface="Yu Gothic"/>
                        </a:rPr>
                        <a:t>構成要素</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model class</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更新される量</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学習 / 推定方法</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配備時の役割</a:t>
                      </a:r>
                    </a:p>
                  </a:txBody>
                  <a:tcPr marL="91440" marR="91440" marT="45720" marB="45720">
                    <a:solidFill>
                      <a:srgbClr val="00A5D8"/>
                    </a:solidFill>
                  </a:tcPr>
                </a:tc>
              </a:tr>
              <a:tr h="550863">
                <a:tc>
                  <a:txBody>
                    <a:bodyPr/>
                    <a:lstStyle/>
                    <a:p>
                      <a:r>
                        <a:rPr sz="818" b="1">
                          <a:solidFill>
                            <a:srgbClr val="007FA8"/>
                          </a:solidFill>
                          <a:latin typeface="Yu Gothic"/>
                          <a:ea typeface="Yu Gothic"/>
                          <a:cs typeface="Yu Gothic"/>
                        </a:rPr>
                        <a:t>ThermalRCModel</a:t>
                      </a:r>
                    </a:p>
                  </a:txBody>
                  <a:tcPr marL="91440" marR="91440" marT="45720" marB="45720">
                    <a:solidFill>
                      <a:srgbClr val="FFFFFF"/>
                    </a:solidFill>
                  </a:tcPr>
                </a:tc>
                <a:tc>
                  <a:txBody>
                    <a:bodyPr/>
                    <a:lstStyle/>
                    <a:p>
                      <a:r>
                        <a:rPr sz="818">
                          <a:solidFill>
                            <a:srgbClr val="5B5B5B"/>
                          </a:solidFill>
                          <a:latin typeface="Yu Gothic"/>
                          <a:ea typeface="Yu Gothic"/>
                          <a:cs typeface="Yu Gothic"/>
                        </a:rPr>
                        <a:t>物理制約付きstate-space</a:t>
                      </a:r>
                    </a:p>
                  </a:txBody>
                  <a:tcPr marL="91440" marR="91440" marT="45720" marB="45720">
                    <a:solidFill>
                      <a:srgbClr val="FFFFFF"/>
                    </a:solidFill>
                  </a:tcPr>
                </a:tc>
                <a:tc>
                  <a:txBody>
                    <a:bodyPr/>
                    <a:lstStyle/>
                    <a:p>
                      <a:r>
                        <a:rPr sz="818">
                          <a:solidFill>
                            <a:srgbClr val="5B5B5B"/>
                          </a:solidFill>
                          <a:latin typeface="Yu Gothic"/>
                          <a:ea typeface="Yu Gothic"/>
                          <a:cs typeface="Yu Gothic"/>
                        </a:rPr>
                        <a:t>G・q・τのlog倍率</a:t>
                      </a:r>
                    </a:p>
                  </a:txBody>
                  <a:tcPr marL="91440" marR="91440" marT="45720" marB="45720">
                    <a:solidFill>
                      <a:srgbClr val="FFFFFF"/>
                    </a:solidFill>
                  </a:tcPr>
                </a:tc>
                <a:tc>
                  <a:txBody>
                    <a:bodyPr/>
                    <a:lstStyle/>
                    <a:p>
                      <a:r>
                        <a:rPr sz="818">
                          <a:solidFill>
                            <a:srgbClr val="5B5B5B"/>
                          </a:solidFill>
                          <a:latin typeface="Yu Gothic"/>
                          <a:ea typeface="Yu Gothic"/>
                          <a:cs typeface="Yu Gothic"/>
                        </a:rPr>
                        <a:t>軌道rollout + Huber + Adam</a:t>
                      </a:r>
                    </a:p>
                  </a:txBody>
                  <a:tcPr marL="91440" marR="91440" marT="45720" marB="45720">
                    <a:solidFill>
                      <a:srgbClr val="FFFFFF"/>
                    </a:solidFill>
                  </a:tcPr>
                </a:tc>
                <a:tc>
                  <a:txBody>
                    <a:bodyPr/>
                    <a:lstStyle/>
                    <a:p>
                      <a:r>
                        <a:rPr sz="818">
                          <a:solidFill>
                            <a:srgbClr val="5B5B5B"/>
                          </a:solidFill>
                          <a:latin typeface="Yu Gothic"/>
                          <a:ea typeface="Yu Gothic"/>
                          <a:cs typeface="Yu Gothic"/>
                        </a:rPr>
                        <a:t>共通の温度状態遷移</a:t>
                      </a:r>
                    </a:p>
                  </a:txBody>
                  <a:tcPr marL="91440" marR="91440" marT="45720" marB="45720">
                    <a:solidFill>
                      <a:srgbClr val="FFFFFF"/>
                    </a:solidFill>
                  </a:tcPr>
                </a:tc>
              </a:tr>
              <a:tr h="550863">
                <a:tc>
                  <a:txBody>
                    <a:bodyPr/>
                    <a:lstStyle/>
                    <a:p>
                      <a:r>
                        <a:rPr sz="818" b="1">
                          <a:solidFill>
                            <a:srgbClr val="E5A900"/>
                          </a:solidFill>
                          <a:latin typeface="Yu Gothic"/>
                          <a:ea typeface="Yu Gothic"/>
                          <a:cs typeface="Yu Gothic"/>
                        </a:rPr>
                        <a:t>Initial-state profiler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affine nuisance-state推定</a:t>
                      </a:r>
                    </a:p>
                  </a:txBody>
                  <a:tcPr marL="91440" marR="91440" marT="45720" marB="45720">
                    <a:solidFill>
                      <a:srgbClr val="F8F8F8"/>
                    </a:solidFill>
                  </a:tcPr>
                </a:tc>
                <a:tc>
                  <a:txBody>
                    <a:bodyPr/>
                    <a:lstStyle/>
                    <a:p>
                      <a:r>
                        <a:rPr sz="818">
                          <a:solidFill>
                            <a:srgbClr val="5B5B5B"/>
                          </a:solidFill>
                          <a:latin typeface="Yu Gothic"/>
                          <a:ea typeface="Yu Gothic"/>
                          <a:cs typeface="Yu Gothic"/>
                        </a:rPr>
                        <a:t>case固有hidden T0</a:t>
                      </a:r>
                    </a:p>
                  </a:txBody>
                  <a:tcPr marL="91440" marR="91440" marT="45720" marB="45720">
                    <a:solidFill>
                      <a:srgbClr val="F8F8F8"/>
                    </a:solidFill>
                  </a:tcPr>
                </a:tc>
                <a:tc>
                  <a:txBody>
                    <a:bodyPr/>
                    <a:lstStyle/>
                    <a:p>
                      <a:r>
                        <a:rPr sz="818">
                          <a:solidFill>
                            <a:srgbClr val="5B5B5B"/>
                          </a:solidFill>
                          <a:latin typeface="Yu Gothic"/>
                          <a:ea typeface="Yu Gothic"/>
                          <a:cs typeface="Yu Gothic"/>
                        </a:rPr>
                        <a:t>null-space ridge solve</a:t>
                      </a:r>
                    </a:p>
                  </a:txBody>
                  <a:tcPr marL="91440" marR="91440" marT="45720" marB="45720">
                    <a:solidFill>
                      <a:srgbClr val="F8F8F8"/>
                    </a:solidFill>
                  </a:tcPr>
                </a:tc>
                <a:tc>
                  <a:txBody>
                    <a:bodyPr/>
                    <a:lstStyle/>
                    <a:p>
                      <a:r>
                        <a:rPr sz="818">
                          <a:solidFill>
                            <a:srgbClr val="5B5B5B"/>
                          </a:solidFill>
                          <a:latin typeface="Yu Gothic"/>
                          <a:ea typeface="Yu Gothic"/>
                          <a:cs typeface="Yu Gothic"/>
                        </a:rPr>
                        <a:t>学習時のみ；artifactへ残さない</a:t>
                      </a:r>
                    </a:p>
                  </a:txBody>
                  <a:tcPr marL="91440" marR="91440" marT="45720" marB="45720">
                    <a:solidFill>
                      <a:srgbClr val="F8F8F8"/>
                    </a:solidFill>
                  </a:tcPr>
                </a:tc>
              </a:tr>
              <a:tr h="550863">
                <a:tc>
                  <a:txBody>
                    <a:bodyPr/>
                    <a:lstStyle/>
                    <a:p>
                      <a:r>
                        <a:rPr sz="818" b="1">
                          <a:solidFill>
                            <a:srgbClr val="4D8710"/>
                          </a:solidFill>
                          <a:latin typeface="Yu Gothic"/>
                          <a:ea typeface="Yu Gothic"/>
                          <a:cs typeface="Yu Gothic"/>
                        </a:rPr>
                        <a:t>Forecast initializer</a:t>
                      </a:r>
                    </a:p>
                  </a:txBody>
                  <a:tcPr marL="91440" marR="91440" marT="45720" marB="45720">
                    <a:solidFill>
                      <a:srgbClr val="FFFFFF"/>
                    </a:solidFill>
                  </a:tcPr>
                </a:tc>
                <a:tc>
                  <a:txBody>
                    <a:bodyPr/>
                    <a:lstStyle/>
                    <a:p>
                      <a:r>
                        <a:rPr sz="818">
                          <a:solidFill>
                            <a:srgbClr val="5B5B5B"/>
                          </a:solidFill>
                          <a:latin typeface="Yu Gothic"/>
                          <a:ea typeface="Yu Gothic"/>
                          <a:cs typeface="Yu Gothic"/>
                        </a:rPr>
                        <a:t>Kalman observer</a:t>
                      </a:r>
                    </a:p>
                  </a:txBody>
                  <a:tcPr marL="91440" marR="91440" marT="45720" marB="45720">
                    <a:solidFill>
                      <a:srgbClr val="FFFFFF"/>
                    </a:solidFill>
                  </a:tcPr>
                </a:tc>
                <a:tc>
                  <a:txBody>
                    <a:bodyPr/>
                    <a:lstStyle/>
                    <a:p>
                      <a:r>
                        <a:rPr sz="818">
                          <a:solidFill>
                            <a:srgbClr val="5B5B5B"/>
                          </a:solidFill>
                          <a:latin typeface="Yu Gothic"/>
                          <a:ea typeface="Yu Gothic"/>
                          <a:cs typeface="Yu Gothic"/>
                        </a:rPr>
                        <a:t>history末端のT・a・P</a:t>
                      </a:r>
                    </a:p>
                  </a:txBody>
                  <a:tcPr marL="91440" marR="91440" marT="45720" marB="45720">
                    <a:solidFill>
                      <a:srgbClr val="FFFFFF"/>
                    </a:solidFill>
                  </a:tcPr>
                </a:tc>
                <a:tc>
                  <a:txBody>
                    <a:bodyPr/>
                    <a:lstStyle/>
                    <a:p>
                      <a:r>
                        <a:rPr sz="818">
                          <a:solidFill>
                            <a:srgbClr val="5B5B5B"/>
                          </a:solidFill>
                          <a:latin typeface="Yu Gothic"/>
                          <a:ea typeface="Yu Gothic"/>
                          <a:cs typeface="Yu Gothic"/>
                        </a:rPr>
                        <a:t>causal predict/update</a:t>
                      </a:r>
                    </a:p>
                  </a:txBody>
                  <a:tcPr marL="91440" marR="91440" marT="45720" marB="45720">
                    <a:solidFill>
                      <a:srgbClr val="FFFFFF"/>
                    </a:solidFill>
                  </a:tcPr>
                </a:tc>
                <a:tc>
                  <a:txBody>
                    <a:bodyPr/>
                    <a:lstStyle/>
                    <a:p>
                      <a:r>
                        <a:rPr sz="818">
                          <a:solidFill>
                            <a:srgbClr val="5B5B5B"/>
                          </a:solidFill>
                          <a:latin typeface="Yu Gothic"/>
                          <a:ea typeface="Yu Gothic"/>
                          <a:cs typeface="Yu Gothic"/>
                        </a:rPr>
                        <a:t>handoff後はopen-loop</a:t>
                      </a:r>
                    </a:p>
                  </a:txBody>
                  <a:tcPr marL="91440" marR="91440" marT="45720" marB="45720">
                    <a:solidFill>
                      <a:srgbClr val="FFFFFF"/>
                    </a:solidFill>
                  </a:tcPr>
                </a:tc>
              </a:tr>
              <a:tr h="550863">
                <a:tc>
                  <a:txBody>
                    <a:bodyPr/>
                    <a:lstStyle/>
                    <a:p>
                      <a:r>
                        <a:rPr sz="818" b="1">
                          <a:solidFill>
                            <a:srgbClr val="7B2DAF"/>
                          </a:solidFill>
                          <a:latin typeface="Yu Gothic"/>
                          <a:ea typeface="Yu Gothic"/>
                          <a:cs typeface="Yu Gothic"/>
                        </a:rPr>
                        <a:t>Monitor observer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augmented Kalman filter</a:t>
                      </a:r>
                    </a:p>
                  </a:txBody>
                  <a:tcPr marL="91440" marR="91440" marT="45720" marB="45720">
                    <a:solidFill>
                      <a:srgbClr val="F8F8F8"/>
                    </a:solidFill>
                  </a:tcPr>
                </a:tc>
                <a:tc>
                  <a:txBody>
                    <a:bodyPr/>
                    <a:lstStyle/>
                    <a:p>
                      <a:r>
                        <a:rPr sz="818">
                          <a:solidFill>
                            <a:srgbClr val="5B5B5B"/>
                          </a:solidFill>
                          <a:latin typeface="Yu Gothic"/>
                          <a:ea typeface="Yu Gothic"/>
                          <a:cs typeface="Yu Gothic"/>
                        </a:rPr>
                        <a:t>T・unknown heat・relative bias</a:t>
                      </a:r>
                    </a:p>
                  </a:txBody>
                  <a:tcPr marL="91440" marR="91440" marT="45720" marB="45720">
                    <a:solidFill>
                      <a:srgbClr val="F8F8F8"/>
                    </a:solidFill>
                  </a:tcPr>
                </a:tc>
                <a:tc>
                  <a:txBody>
                    <a:bodyPr/>
                    <a:lstStyle/>
                    <a:p>
                      <a:r>
                        <a:rPr sz="818">
                          <a:solidFill>
                            <a:srgbClr val="5B5B5B"/>
                          </a:solidFill>
                          <a:latin typeface="Yu Gothic"/>
                          <a:ea typeface="Yu Gothic"/>
                          <a:cs typeface="Yu Gothic"/>
                        </a:rPr>
                        <a:t>Van Loan / implicit Qd + Joseph update</a:t>
                      </a:r>
                    </a:p>
                  </a:txBody>
                  <a:tcPr marL="91440" marR="91440" marT="45720" marB="45720">
                    <a:solidFill>
                      <a:srgbClr val="F8F8F8"/>
                    </a:solidFill>
                  </a:tcPr>
                </a:tc>
                <a:tc>
                  <a:txBody>
                    <a:bodyPr/>
                    <a:lstStyle/>
                    <a:p>
                      <a:r>
                        <a:rPr sz="818">
                          <a:solidFill>
                            <a:srgbClr val="5B5B5B"/>
                          </a:solidFill>
                          <a:latin typeface="Yu Gothic"/>
                          <a:ea typeface="Yu Gothic"/>
                          <a:cs typeface="Yu Gothic"/>
                        </a:rPr>
                        <a:t>online状態監視とdiagnostics</a:t>
                      </a:r>
                    </a:p>
                  </a:txBody>
                  <a:tcPr marL="91440" marR="91440" marT="45720" marB="45720">
                    <a:solidFill>
                      <a:srgbClr val="F8F8F8"/>
                    </a:solidFill>
                  </a:tcPr>
                </a:tc>
              </a:tr>
              <a:tr h="550863">
                <a:tc>
                  <a:txBody>
                    <a:bodyPr/>
                    <a:lstStyle/>
                    <a:p>
                      <a:r>
                        <a:rPr sz="818" b="1">
                          <a:solidFill>
                            <a:srgbClr val="00A89D"/>
                          </a:solidFill>
                          <a:latin typeface="Yu Gothic"/>
                          <a:ea typeface="Yu Gothic"/>
                          <a:cs typeface="Yu Gothic"/>
                        </a:rPr>
                        <a:t>Coverage diagnostic</a:t>
                      </a:r>
                    </a:p>
                  </a:txBody>
                  <a:tcPr marL="91440" marR="91440" marT="45720" marB="45720">
                    <a:solidFill>
                      <a:srgbClr val="FFFFFF"/>
                    </a:solidFill>
                  </a:tcPr>
                </a:tc>
                <a:tc>
                  <a:txBody>
                    <a:bodyPr/>
                    <a:lstStyle/>
                    <a:p>
                      <a:r>
                        <a:rPr sz="818">
                          <a:solidFill>
                            <a:srgbClr val="5B5B5B"/>
                          </a:solidFill>
                          <a:latin typeface="Yu Gothic"/>
                          <a:ea typeface="Yu Gothic"/>
                          <a:cs typeface="Yu Gothic"/>
                        </a:rPr>
                        <a:t>deterministic envelope check</a:t>
                      </a:r>
                    </a:p>
                  </a:txBody>
                  <a:tcPr marL="91440" marR="91440" marT="45720" marB="45720">
                    <a:solidFill>
                      <a:srgbClr val="FFFFFF"/>
                    </a:solidFill>
                  </a:tcPr>
                </a:tc>
                <a:tc>
                  <a:txBody>
                    <a:bodyPr/>
                    <a:lstStyle/>
                    <a:p>
                      <a:r>
                        <a:rPr sz="818">
                          <a:solidFill>
                            <a:srgbClr val="5B5B5B"/>
                          </a:solidFill>
                          <a:latin typeface="Yu Gothic"/>
                          <a:ea typeface="Yu Gothic"/>
                          <a:cs typeface="Yu Gothic"/>
                        </a:rPr>
                        <a:t>学習rangeとの比較</a:t>
                      </a:r>
                    </a:p>
                  </a:txBody>
                  <a:tcPr marL="91440" marR="91440" marT="45720" marB="45720">
                    <a:solidFill>
                      <a:srgbClr val="FFFFFF"/>
                    </a:solidFill>
                  </a:tcPr>
                </a:tc>
                <a:tc>
                  <a:txBody>
                    <a:bodyPr/>
                    <a:lstStyle/>
                    <a:p>
                      <a:r>
                        <a:rPr sz="818">
                          <a:solidFill>
                            <a:srgbClr val="5B5B5B"/>
                          </a:solidFill>
                          <a:latin typeface="Yu Gothic"/>
                          <a:ea typeface="Yu Gothic"/>
                          <a:cs typeface="Yu Gothic"/>
                        </a:rPr>
                        <a:t>input/output/temporal range rule</a:t>
                      </a:r>
                    </a:p>
                  </a:txBody>
                  <a:tcPr marL="91440" marR="91440" marT="45720" marB="45720">
                    <a:solidFill>
                      <a:srgbClr val="FFFFFF"/>
                    </a:solidFill>
                  </a:tcPr>
                </a:tc>
                <a:tc>
                  <a:txBody>
                    <a:bodyPr/>
                    <a:lstStyle/>
                    <a:p>
                      <a:r>
                        <a:rPr sz="818">
                          <a:solidFill>
                            <a:srgbClr val="5B5B5B"/>
                          </a:solidFill>
                          <a:latin typeface="Yu Gothic"/>
                          <a:ea typeface="Yu Gothic"/>
                          <a:cs typeface="Yu Gothic"/>
                        </a:rPr>
                        <a:t>OOD warning；確率modelではない</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6375ABC2-303D-4265-BFC9-0641BA8CFF7E}"/>
              </a:ext>
            </a:extLst>
          </p:cNvPr>
          <p:cNvSpPr>
            <a:spLocks xmlns:a="http://schemas.openxmlformats.org/drawingml/2006/main" noGrp="1"/>
          </p:cNvSpPr>
          <p:nvPr/>
        </p:nvSpPr>
        <p:spPr>
          <a:xfrm xmlns:a="http://schemas.openxmlformats.org/drawingml/2006/main">
            <a:off x="552450" y="5000625"/>
            <a:ext cx="6905625" cy="990600"/>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1" name="">
            <a:extLst xmlns:a="http://schemas.openxmlformats.org/drawingml/2006/main">
              <a:ext uri="{FF2B5EF4-FFF2-40B4-BE49-F238E27FC236}">
                <a16:creationId xmlns:a16="http://schemas.microsoft.com/office/drawing/2014/main" id="{0145021F-CB66-425B-85AC-178B49C0CE9E}"/>
              </a:ext>
            </a:extLst>
          </p:cNvPr>
          <p:cNvSpPr>
            <a:spLocks xmlns:a="http://schemas.openxmlformats.org/drawingml/2006/main" noGrp="1"/>
          </p:cNvSpPr>
          <p:nvPr/>
        </p:nvSpPr>
        <p:spPr>
          <a:xfrm xmlns:a="http://schemas.openxmlformats.org/drawingml/2006/main">
            <a:off x="742950" y="5153025"/>
            <a:ext cx="652462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現行実装で学習するのは物理係数のみ</a:t>
            </a:r>
          </a:p>
        </p:txBody>
      </p:sp>
      <p:sp>
        <p:nvSpPr>
          <p:cNvPr id="12" name="">
            <a:extLst xmlns:a="http://schemas.openxmlformats.org/drawingml/2006/main">
              <a:ext uri="{FF2B5EF4-FFF2-40B4-BE49-F238E27FC236}">
                <a16:creationId xmlns:a16="http://schemas.microsoft.com/office/drawing/2014/main" id="{A3631B53-5FEB-4D3C-971E-F400B8E1D303}"/>
              </a:ext>
            </a:extLst>
          </p:cNvPr>
          <p:cNvSpPr>
            <a:spLocks xmlns:a="http://schemas.openxmlformats.org/drawingml/2006/main" noGrp="1"/>
          </p:cNvSpPr>
          <p:nvPr/>
        </p:nvSpPr>
        <p:spPr>
          <a:xfrm xmlns:a="http://schemas.openxmlformats.org/drawingml/2006/main">
            <a:off x="742950" y="5505450"/>
            <a:ext cx="6524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sensor名や故障classを教師ラベルで分類するNN/RNN/Transformerは使用しない。異常はinnovation、NIS、未知熱、relative biasとして出力する。</a:t>
            </a:r>
          </a:p>
        </p:txBody>
      </p:sp>
      <p:sp>
        <p:nvSpPr>
          <p:cNvPr id="13" name="">
            <a:extLst xmlns:a="http://schemas.openxmlformats.org/drawingml/2006/main">
              <a:ext uri="{FF2B5EF4-FFF2-40B4-BE49-F238E27FC236}">
                <a16:creationId xmlns:a16="http://schemas.microsoft.com/office/drawing/2014/main" id="{ED06023C-E7D0-4BEE-B7A4-2FC4FBF9A18B}"/>
              </a:ext>
            </a:extLst>
          </p:cNvPr>
          <p:cNvSpPr>
            <a:spLocks xmlns:a="http://schemas.openxmlformats.org/drawingml/2006/main" noGrp="1"/>
          </p:cNvSpPr>
          <p:nvPr/>
        </p:nvSpPr>
        <p:spPr>
          <a:xfrm xmlns:a="http://schemas.openxmlformats.org/drawingml/2006/main">
            <a:off x="7686675" y="5000625"/>
            <a:ext cx="3952875" cy="990600"/>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14" name="">
            <a:extLst xmlns:a="http://schemas.openxmlformats.org/drawingml/2006/main">
              <a:ext uri="{FF2B5EF4-FFF2-40B4-BE49-F238E27FC236}">
                <a16:creationId xmlns:a16="http://schemas.microsoft.com/office/drawing/2014/main" id="{E3C4361A-12BF-4237-A7C7-AAD7858F10B3}"/>
              </a:ext>
            </a:extLst>
          </p:cNvPr>
          <p:cNvSpPr>
            <a:spLocks xmlns:a="http://schemas.openxmlformats.org/drawingml/2006/main" noGrp="1"/>
          </p:cNvSpPr>
          <p:nvPr/>
        </p:nvSpPr>
        <p:spPr>
          <a:xfrm xmlns:a="http://schemas.openxmlformats.org/drawingml/2006/main">
            <a:off x="7877175" y="5153025"/>
            <a:ext cx="35718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拡張候補の採用条件</a:t>
            </a:r>
          </a:p>
        </p:txBody>
      </p:sp>
      <p:sp>
        <p:nvSpPr>
          <p:cNvPr id="15" name="">
            <a:extLst xmlns:a="http://schemas.openxmlformats.org/drawingml/2006/main">
              <a:ext uri="{FF2B5EF4-FFF2-40B4-BE49-F238E27FC236}">
                <a16:creationId xmlns:a16="http://schemas.microsoft.com/office/drawing/2014/main" id="{8B7AEA54-4527-4515-BCEB-0C1230111236}"/>
              </a:ext>
            </a:extLst>
          </p:cNvPr>
          <p:cNvSpPr>
            <a:spLocks xmlns:a="http://schemas.openxmlformats.org/drawingml/2006/main" noGrp="1"/>
          </p:cNvSpPr>
          <p:nvPr/>
        </p:nvSpPr>
        <p:spPr>
          <a:xfrm xmlns:a="http://schemas.openxmlformats.org/drawingml/2006/main">
            <a:off x="7877175" y="5505450"/>
            <a:ext cx="35718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8000"/>
              </a:lnSpc>
              <a:buNone/>
              <a:defRPr sz="878" b="0" i="0">
                <a:solidFill>
                  <a:srgbClr val="5B5B5B"/>
                </a:solidFill>
                <a:latin typeface="Yu Gothic"/>
                <a:ea typeface="Yu Gothic"/>
                <a:cs typeface="Yu Gothic"/>
              </a:defRPr>
            </a:pPr>
            <a:r>
              <a:rPr sz="878" b="0" i="0">
                <a:solidFill>
                  <a:srgbClr val="5B5B5B"/>
                </a:solidFill>
                <a:latin typeface="Yu Gothic"/>
                <a:ea typeface="Yu Gothic"/>
                <a:cs typeface="Yu Gothic"/>
              </a:rPr>
              <a:t>複数problemで同じ残差構造が再現し、保存則・単位・識別性・artifact再現性を維持できる場合に限る。</a:t>
            </a:r>
          </a:p>
        </p:txBody>
      </p:sp>
    </p:spTree>
    <p:extLst>
      <p:ext uri="{BB962C8B-B14F-4D97-AF65-F5344CB8AC3E}">
        <p14:creationId xmlns:p14="http://schemas.microsoft.com/office/powerpoint/2010/main" val="96687717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1810EB6-4C1C-40FE-967B-2CE34A30E313}"/>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015715-4826-4793-B6C3-B2458736530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DATA &amp; ARTIFACT CONTRACT</a:t>
            </a:r>
          </a:p>
        </p:txBody>
      </p:sp>
      <p:sp>
        <p:nvSpPr>
          <p:cNvPr id="3" name="">
            <a:extLst xmlns:a="http://schemas.openxmlformats.org/drawingml/2006/main">
              <a:ext uri="{FF2B5EF4-FFF2-40B4-BE49-F238E27FC236}">
                <a16:creationId xmlns:a16="http://schemas.microsoft.com/office/drawing/2014/main" id="{A9450D38-D5B2-4C96-A57B-2955AF32B5AB}"/>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同じTrajectory schemaをtrain・forecast・monitorで共有し、入力解釈の分岐を防ぐ</a:t>
            </a:r>
          </a:p>
        </p:txBody>
      </p:sp>
      <p:sp>
        <p:nvSpPr>
          <p:cNvPr id="4" name="">
            <a:extLst xmlns:a="http://schemas.openxmlformats.org/drawingml/2006/main">
              <a:ext uri="{FF2B5EF4-FFF2-40B4-BE49-F238E27FC236}">
                <a16:creationId xmlns:a16="http://schemas.microsoft.com/office/drawing/2014/main" id="{D039244C-482E-498F-A77A-8DB6ED6AF2E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出力はstagingへ全件を書いてから置換し、hashと設定snapshotで再現性を担保する</a:t>
            </a:r>
          </a:p>
        </p:txBody>
      </p:sp>
      <p:sp>
        <p:nvSpPr>
          <p:cNvPr id="5" name="">
            <a:extLst xmlns:a="http://schemas.openxmlformats.org/drawingml/2006/main">
              <a:ext uri="{FF2B5EF4-FFF2-40B4-BE49-F238E27FC236}">
                <a16:creationId xmlns:a16="http://schemas.microsoft.com/office/drawing/2014/main" id="{0F7610F4-D727-48E9-A46A-10F34BD9895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15C96CC-22FC-4B89-A6DC-2E3C6EC1DBF6}"/>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6B34337-A664-4FAB-8394-597566567E31}"/>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AF421CF4-58C7-4AA3-95AD-E5D0D8A0A17B}"/>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17</a:t>
            </a:r>
          </a:p>
        </p:txBody>
      </p:sp>
      <p:sp>
        <p:nvSpPr>
          <p:cNvPr id="9" name="">
            <a:extLst xmlns:a="http://schemas.openxmlformats.org/drawingml/2006/main">
              <a:ext uri="{FF2B5EF4-FFF2-40B4-BE49-F238E27FC236}">
                <a16:creationId xmlns:a16="http://schemas.microsoft.com/office/drawing/2014/main" id="{6AD229C3-4659-4F4A-A272-7BE90654E5F1}"/>
              </a:ext>
            </a:extLst>
          </p:cNvPr>
          <p:cNvSpPr>
            <a:spLocks xmlns:a="http://schemas.openxmlformats.org/drawingml/2006/main" noGrp="1"/>
          </p:cNvSpPr>
          <p:nvPr/>
        </p:nvSpPr>
        <p:spPr>
          <a:xfrm xmlns:a="http://schemas.openxmlformats.org/drawingml/2006/main">
            <a:off x="552450" y="1504950"/>
            <a:ext cx="2057400" cy="10572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FBAD099C-5CF1-42C9-AB21-738FB02709FE}"/>
              </a:ext>
            </a:extLst>
          </p:cNvPr>
          <p:cNvSpPr>
            <a:spLocks xmlns:a="http://schemas.openxmlformats.org/drawingml/2006/main" noGrp="1"/>
          </p:cNvSpPr>
          <p:nvPr/>
        </p:nvSpPr>
        <p:spPr>
          <a:xfrm xmlns:a="http://schemas.openxmlformats.org/drawingml/2006/main">
            <a:off x="72390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CSV / DataFrame</a:t>
            </a:r>
          </a:p>
        </p:txBody>
      </p:sp>
      <p:sp>
        <p:nvSpPr>
          <p:cNvPr id="11" name="">
            <a:extLst xmlns:a="http://schemas.openxmlformats.org/drawingml/2006/main">
              <a:ext uri="{FF2B5EF4-FFF2-40B4-BE49-F238E27FC236}">
                <a16:creationId xmlns:a16="http://schemas.microsoft.com/office/drawing/2014/main" id="{9E19D0D0-FF02-455A-85E5-FB0BED68BD25}"/>
              </a:ext>
            </a:extLst>
          </p:cNvPr>
          <p:cNvSpPr>
            <a:spLocks xmlns:a="http://schemas.openxmlformats.org/drawingml/2006/main" noGrp="1"/>
          </p:cNvSpPr>
          <p:nvPr/>
        </p:nvSpPr>
        <p:spPr>
          <a:xfrm xmlns:a="http://schemas.openxmlformats.org/drawingml/2006/main">
            <a:off x="72390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time / sensor / control</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self-contained case</a:t>
            </a:r>
          </a:p>
        </p:txBody>
      </p:sp>
      <p:sp>
        <p:nvSpPr>
          <p:cNvPr id="12" name="">
            <a:extLst xmlns:a="http://schemas.openxmlformats.org/drawingml/2006/main">
              <a:ext uri="{FF2B5EF4-FFF2-40B4-BE49-F238E27FC236}">
                <a16:creationId xmlns:a16="http://schemas.microsoft.com/office/drawing/2014/main" id="{866EE4BA-A4BE-4480-8949-1464A47ECC17}"/>
              </a:ext>
            </a:extLst>
          </p:cNvPr>
          <p:cNvSpPr>
            <a:spLocks xmlns:a="http://schemas.openxmlformats.org/drawingml/2006/main" noGrp="1"/>
          </p:cNvSpPr>
          <p:nvPr/>
        </p:nvSpPr>
        <p:spPr>
          <a:xfrm xmlns:a="http://schemas.openxmlformats.org/drawingml/2006/main">
            <a:off x="3009900" y="1504950"/>
            <a:ext cx="2057400" cy="105727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13" name="">
            <a:extLst xmlns:a="http://schemas.openxmlformats.org/drawingml/2006/main">
              <a:ext uri="{FF2B5EF4-FFF2-40B4-BE49-F238E27FC236}">
                <a16:creationId xmlns:a16="http://schemas.microsoft.com/office/drawing/2014/main" id="{FB59BE08-3956-4D3D-AEFA-E53156D6EF93}"/>
              </a:ext>
            </a:extLst>
          </p:cNvPr>
          <p:cNvSpPr>
            <a:spLocks xmlns:a="http://schemas.openxmlformats.org/drawingml/2006/main" noGrp="1"/>
          </p:cNvSpPr>
          <p:nvPr/>
        </p:nvSpPr>
        <p:spPr>
          <a:xfrm xmlns:a="http://schemas.openxmlformats.org/drawingml/2006/main">
            <a:off x="318135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007FA8"/>
                </a:solidFill>
                <a:latin typeface="Yu Gothic"/>
                <a:ea typeface="Yu Gothic"/>
                <a:cs typeface="Yu Gothic"/>
              </a:defRPr>
            </a:pPr>
            <a:r>
              <a:rPr sz="1275" b="1" i="0">
                <a:solidFill>
                  <a:srgbClr val="007FA8"/>
                </a:solidFill>
                <a:latin typeface="Yu Gothic"/>
                <a:ea typeface="Yu Gothic"/>
                <a:cs typeface="Yu Gothic"/>
              </a:rPr>
              <a:t>Trajectory</a:t>
            </a:r>
          </a:p>
        </p:txBody>
      </p:sp>
      <p:sp>
        <p:nvSpPr>
          <p:cNvPr id="14" name="">
            <a:extLst xmlns:a="http://schemas.openxmlformats.org/drawingml/2006/main">
              <a:ext uri="{FF2B5EF4-FFF2-40B4-BE49-F238E27FC236}">
                <a16:creationId xmlns:a16="http://schemas.microsoft.com/office/drawing/2014/main" id="{D1F5387E-D3EF-4A41-A308-65B1C6BE926B}"/>
              </a:ext>
            </a:extLst>
          </p:cNvPr>
          <p:cNvSpPr>
            <a:spLocks xmlns:a="http://schemas.openxmlformats.org/drawingml/2006/main" noGrp="1"/>
          </p:cNvSpPr>
          <p:nvPr/>
        </p:nvSpPr>
        <p:spPr>
          <a:xfrm xmlns:a="http://schemas.openxmlformats.org/drawingml/2006/main">
            <a:off x="318135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validated arrays</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variable Δt / missing mask</a:t>
            </a:r>
          </a:p>
        </p:txBody>
      </p:sp>
      <p:sp>
        <p:nvSpPr>
          <p:cNvPr id="15" name="">
            <a:extLst xmlns:a="http://schemas.openxmlformats.org/drawingml/2006/main">
              <a:ext uri="{FF2B5EF4-FFF2-40B4-BE49-F238E27FC236}">
                <a16:creationId xmlns:a16="http://schemas.microsoft.com/office/drawing/2014/main" id="{BCEF85EB-D9D9-4912-BD57-D048FAFAEB17}"/>
              </a:ext>
            </a:extLst>
          </p:cNvPr>
          <p:cNvSpPr>
            <a:spLocks xmlns:a="http://schemas.openxmlformats.org/drawingml/2006/main" noGrp="1"/>
          </p:cNvSpPr>
          <p:nvPr/>
        </p:nvSpPr>
        <p:spPr>
          <a:xfrm xmlns:a="http://schemas.openxmlformats.org/drawingml/2006/main">
            <a:off x="5467350" y="1504950"/>
            <a:ext cx="2057400" cy="105727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6" name="">
            <a:extLst xmlns:a="http://schemas.openxmlformats.org/drawingml/2006/main">
              <a:ext uri="{FF2B5EF4-FFF2-40B4-BE49-F238E27FC236}">
                <a16:creationId xmlns:a16="http://schemas.microsoft.com/office/drawing/2014/main" id="{D1712F81-C54E-4450-826B-FE82918993CB}"/>
              </a:ext>
            </a:extLst>
          </p:cNvPr>
          <p:cNvSpPr>
            <a:spLocks xmlns:a="http://schemas.openxmlformats.org/drawingml/2006/main" noGrp="1"/>
          </p:cNvSpPr>
          <p:nvPr/>
        </p:nvSpPr>
        <p:spPr>
          <a:xfrm xmlns:a="http://schemas.openxmlformats.org/drawingml/2006/main">
            <a:off x="563880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Thermal model</a:t>
            </a:r>
          </a:p>
        </p:txBody>
      </p:sp>
      <p:sp>
        <p:nvSpPr>
          <p:cNvPr id="17" name="">
            <a:extLst xmlns:a="http://schemas.openxmlformats.org/drawingml/2006/main">
              <a:ext uri="{FF2B5EF4-FFF2-40B4-BE49-F238E27FC236}">
                <a16:creationId xmlns:a16="http://schemas.microsoft.com/office/drawing/2014/main" id="{014F1F64-BDB4-4051-B36B-5D01708FC361}"/>
              </a:ext>
            </a:extLst>
          </p:cNvPr>
          <p:cNvSpPr>
            <a:spLocks xmlns:a="http://schemas.openxmlformats.org/drawingml/2006/main" noGrp="1"/>
          </p:cNvSpPr>
          <p:nvPr/>
        </p:nvSpPr>
        <p:spPr>
          <a:xfrm xmlns:a="http://schemas.openxmlformats.org/drawingml/2006/main">
            <a:off x="563880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same rollout engine</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train / forecast / monitor</a:t>
            </a:r>
          </a:p>
        </p:txBody>
      </p:sp>
      <p:sp>
        <p:nvSpPr>
          <p:cNvPr id="18" name="">
            <a:extLst xmlns:a="http://schemas.openxmlformats.org/drawingml/2006/main">
              <a:ext uri="{FF2B5EF4-FFF2-40B4-BE49-F238E27FC236}">
                <a16:creationId xmlns:a16="http://schemas.microsoft.com/office/drawing/2014/main" id="{A62012B2-1265-4DAE-9006-7730AA727402}"/>
              </a:ext>
            </a:extLst>
          </p:cNvPr>
          <p:cNvSpPr>
            <a:spLocks xmlns:a="http://schemas.openxmlformats.org/drawingml/2006/main" noGrp="1"/>
          </p:cNvSpPr>
          <p:nvPr/>
        </p:nvSpPr>
        <p:spPr>
          <a:xfrm xmlns:a="http://schemas.openxmlformats.org/drawingml/2006/main">
            <a:off x="7924800" y="1504950"/>
            <a:ext cx="2057400" cy="105727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19" name="">
            <a:extLst xmlns:a="http://schemas.openxmlformats.org/drawingml/2006/main">
              <a:ext uri="{FF2B5EF4-FFF2-40B4-BE49-F238E27FC236}">
                <a16:creationId xmlns:a16="http://schemas.microsoft.com/office/drawing/2014/main" id="{7815454A-E8F2-439C-A3A9-3CD910747413}"/>
              </a:ext>
            </a:extLst>
          </p:cNvPr>
          <p:cNvSpPr>
            <a:spLocks xmlns:a="http://schemas.openxmlformats.org/drawingml/2006/main" noGrp="1"/>
          </p:cNvSpPr>
          <p:nvPr/>
        </p:nvSpPr>
        <p:spPr>
          <a:xfrm xmlns:a="http://schemas.openxmlformats.org/drawingml/2006/main">
            <a:off x="8096250" y="1676400"/>
            <a:ext cx="1714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7B2DAF"/>
                </a:solidFill>
                <a:latin typeface="Yu Gothic"/>
                <a:ea typeface="Yu Gothic"/>
                <a:cs typeface="Yu Gothic"/>
              </a:defRPr>
            </a:pPr>
            <a:r>
              <a:rPr sz="1275" b="1" i="0">
                <a:solidFill>
                  <a:srgbClr val="7B2DAF"/>
                </a:solidFill>
                <a:latin typeface="Yu Gothic"/>
                <a:ea typeface="Yu Gothic"/>
                <a:cs typeface="Yu Gothic"/>
              </a:rPr>
              <a:t>Artifact</a:t>
            </a:r>
          </a:p>
        </p:txBody>
      </p:sp>
      <p:sp>
        <p:nvSpPr>
          <p:cNvPr id="20" name="">
            <a:extLst xmlns:a="http://schemas.openxmlformats.org/drawingml/2006/main">
              <a:ext uri="{FF2B5EF4-FFF2-40B4-BE49-F238E27FC236}">
                <a16:creationId xmlns:a16="http://schemas.microsoft.com/office/drawing/2014/main" id="{5E9845B7-FAB8-4EE8-9B6D-2CE889EC0251}"/>
              </a:ext>
            </a:extLst>
          </p:cNvPr>
          <p:cNvSpPr>
            <a:spLocks xmlns:a="http://schemas.openxmlformats.org/drawingml/2006/main" noGrp="1"/>
          </p:cNvSpPr>
          <p:nvPr/>
        </p:nvSpPr>
        <p:spPr>
          <a:xfrm xmlns:a="http://schemas.openxmlformats.org/drawingml/2006/main">
            <a:off x="8096250" y="2028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state + system + metadata</a:t>
            </a:r>
          </a:p>
          <a:p xmlns:a="http://schemas.openxmlformats.org/drawingml/2006/main">
            <a:pPr algn="ctr">
              <a:lnSpc>
                <a:spcPct val="106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portable directory</a:t>
            </a:r>
          </a:p>
        </p:txBody>
      </p:sp>
      <p:sp>
        <p:nvSpPr>
          <p:cNvPr id="21" name="">
            <a:extLst xmlns:a="http://schemas.openxmlformats.org/drawingml/2006/main">
              <a:ext uri="{FF2B5EF4-FFF2-40B4-BE49-F238E27FC236}">
                <a16:creationId xmlns:a16="http://schemas.microsoft.com/office/drawing/2014/main" id="{7E3BC9F9-87D8-4AB4-8D00-D6CAA104084B}"/>
              </a:ext>
            </a:extLst>
          </p:cNvPr>
          <p:cNvSpPr>
            <a:spLocks xmlns:a="http://schemas.openxmlformats.org/drawingml/2006/main" noGrp="1"/>
          </p:cNvSpPr>
          <p:nvPr/>
        </p:nvSpPr>
        <p:spPr>
          <a:xfrm xmlns:a="http://schemas.openxmlformats.org/drawingml/2006/main">
            <a:off x="10382250" y="1504950"/>
            <a:ext cx="1257300" cy="10572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8DDE626-E752-4DAD-A69C-ABD6077BC5AE}"/>
              </a:ext>
            </a:extLst>
          </p:cNvPr>
          <p:cNvSpPr>
            <a:spLocks xmlns:a="http://schemas.openxmlformats.org/drawingml/2006/main" noGrp="1"/>
          </p:cNvSpPr>
          <p:nvPr/>
        </p:nvSpPr>
        <p:spPr>
          <a:xfrm xmlns:a="http://schemas.openxmlformats.org/drawingml/2006/main">
            <a:off x="10477500" y="1685925"/>
            <a:ext cx="1066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75" b="1" i="0">
                <a:solidFill>
                  <a:srgbClr val="FFFFFF"/>
                </a:solidFill>
                <a:latin typeface="Yu Gothic"/>
                <a:ea typeface="Yu Gothic"/>
                <a:cs typeface="Yu Gothic"/>
              </a:defRPr>
            </a:pPr>
            <a:r>
              <a:rPr sz="1275" b="1" i="0">
                <a:solidFill>
                  <a:srgbClr val="FFFFFF"/>
                </a:solidFill>
                <a:latin typeface="Yu Gothic"/>
                <a:ea typeface="Yu Gothic"/>
                <a:cs typeface="Yu Gothic"/>
              </a:rPr>
              <a:t>Results</a:t>
            </a:r>
          </a:p>
        </p:txBody>
      </p:sp>
      <p:sp>
        <p:nvSpPr>
          <p:cNvPr id="23" name="">
            <a:extLst xmlns:a="http://schemas.openxmlformats.org/drawingml/2006/main">
              <a:ext uri="{FF2B5EF4-FFF2-40B4-BE49-F238E27FC236}">
                <a16:creationId xmlns:a16="http://schemas.microsoft.com/office/drawing/2014/main" id="{AA880930-EB5F-42E5-8A7B-491AAF6E5A5C}"/>
              </a:ext>
            </a:extLst>
          </p:cNvPr>
          <p:cNvSpPr>
            <a:spLocks xmlns:a="http://schemas.openxmlformats.org/drawingml/2006/main" noGrp="1"/>
          </p:cNvSpPr>
          <p:nvPr/>
        </p:nvSpPr>
        <p:spPr>
          <a:xfrm xmlns:a="http://schemas.openxmlformats.org/drawingml/2006/main">
            <a:off x="10477500" y="2038350"/>
            <a:ext cx="1066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0" i="0">
                <a:solidFill>
                  <a:srgbClr val="D8D0E8"/>
                </a:solidFill>
                <a:latin typeface="Yu Gothic"/>
                <a:ea typeface="Yu Gothic"/>
                <a:cs typeface="Yu Gothic"/>
              </a:defRPr>
            </a:pPr>
            <a:r>
              <a:rPr sz="863" b="0" i="0">
                <a:solidFill>
                  <a:srgbClr val="D8D0E8"/>
                </a:solidFill>
                <a:latin typeface="Yu Gothic"/>
                <a:ea typeface="Yu Gothic"/>
                <a:cs typeface="Yu Gothic"/>
              </a:rPr>
              <a:t>CSV / JSON</a:t>
            </a:r>
          </a:p>
          <a:p xmlns:a="http://schemas.openxmlformats.org/drawingml/2006/main">
            <a:pPr algn="ctr">
              <a:lnSpc>
                <a:spcPct val="100000"/>
              </a:lnSpc>
              <a:buNone/>
              <a:defRPr sz="863" b="0" i="0">
                <a:solidFill>
                  <a:srgbClr val="D8D0E8"/>
                </a:solidFill>
                <a:latin typeface="Yu Gothic"/>
                <a:ea typeface="Yu Gothic"/>
                <a:cs typeface="Yu Gothic"/>
              </a:defRPr>
            </a:pPr>
            <a:r>
              <a:rPr sz="863" b="0" i="0">
                <a:solidFill>
                  <a:srgbClr val="D8D0E8"/>
                </a:solidFill>
                <a:latin typeface="Yu Gothic"/>
                <a:ea typeface="Yu Gothic"/>
                <a:cs typeface="Yu Gothic"/>
              </a:rPr>
              <a:t>manifest</a:t>
            </a:r>
          </a:p>
        </p:txBody>
      </p:sp>
      <p:cxnSp>
        <p:nvCxnSpPr>
          <p:cNvPr id="54" name=""/>
          <p:cNvCxnSpPr>
            <a:stCxn xmlns:a="http://schemas.openxmlformats.org/drawingml/2006/main" id="9" idx="3"/>
            <a:endCxn xmlns:a="http://schemas.openxmlformats.org/drawingml/2006/main" id="12" idx="1"/>
          </p:cNvCxnSpPr>
          <p:nvPr/>
        </p:nvCxnSpPr>
        <p:spPr>
          <a:xfrm xmlns:a="http://schemas.openxmlformats.org/drawingml/2006/main">
            <a:off x="260985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5" name=""/>
          <p:cNvCxnSpPr>
            <a:stCxn xmlns:a="http://schemas.openxmlformats.org/drawingml/2006/main" id="12" idx="3"/>
            <a:endCxn xmlns:a="http://schemas.openxmlformats.org/drawingml/2006/main" id="15" idx="1"/>
          </p:cNvCxnSpPr>
          <p:nvPr/>
        </p:nvCxnSpPr>
        <p:spPr>
          <a:xfrm xmlns:a="http://schemas.openxmlformats.org/drawingml/2006/main">
            <a:off x="506730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6" name=""/>
          <p:cNvCxnSpPr>
            <a:stCxn xmlns:a="http://schemas.openxmlformats.org/drawingml/2006/main" id="15" idx="3"/>
            <a:endCxn xmlns:a="http://schemas.openxmlformats.org/drawingml/2006/main" id="18" idx="1"/>
          </p:cNvCxnSpPr>
          <p:nvPr/>
        </p:nvCxnSpPr>
        <p:spPr>
          <a:xfrm xmlns:a="http://schemas.openxmlformats.org/drawingml/2006/main">
            <a:off x="752475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57" name=""/>
          <p:cNvCxnSpPr>
            <a:stCxn xmlns:a="http://schemas.openxmlformats.org/drawingml/2006/main" id="18" idx="3"/>
            <a:endCxn xmlns:a="http://schemas.openxmlformats.org/drawingml/2006/main" id="21" idx="1"/>
          </p:cNvCxnSpPr>
          <p:nvPr/>
        </p:nvCxnSpPr>
        <p:spPr>
          <a:xfrm xmlns:a="http://schemas.openxmlformats.org/drawingml/2006/main">
            <a:off x="9982200" y="2033588"/>
            <a:ext cx="40005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graphicFrame>
        <p:nvGraphicFramePr>
          <p:cNvPr id="58" name=""/>
          <p:cNvGraphicFramePr/>
          <p:nvPr/>
        </p:nvGraphicFramePr>
        <p:xfrm>
          <a:off xmlns:a="http://schemas.openxmlformats.org/drawingml/2006/main" x="552450" y="2867025"/>
          <a:ext xmlns:a="http://schemas.openxmlformats.org/drawingml/2006/main" cx="11087100" cy="2800350"/>
        </p:xfrm>
        <a:graphic xmlns:a="http://schemas.openxmlformats.org/drawingml/2006/main">
          <a:graphicData uri="http://schemas.openxmlformats.org/drawingml/2006/table">
            <a:tbl>
              <a:tblPr/>
              <a:tblGrid>
                <a:gridCol w="1952625"/>
                <a:gridCol w="2781300"/>
                <a:gridCol w="3362325"/>
                <a:gridCol w="2990850"/>
              </a:tblGrid>
              <a:tr h="466725">
                <a:tc>
                  <a:txBody>
                    <a:bodyPr/>
                    <a:lstStyle/>
                    <a:p>
                      <a:r>
                        <a:rPr sz="938" b="1">
                          <a:solidFill>
                            <a:srgbClr val="FFFFFF"/>
                          </a:solidFill>
                          <a:latin typeface="Yu Gothic"/>
                          <a:ea typeface="Yu Gothic"/>
                          <a:cs typeface="Yu Gothic"/>
                        </a:rPr>
                        <a:t>contract</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shape / files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必須規約</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検証・来歴</a:t>
                      </a:r>
                    </a:p>
                  </a:txBody>
                  <a:tcPr marL="91440" marR="91440" marT="45720" marB="45720">
                    <a:solidFill>
                      <a:srgbClr val="007FA8"/>
                    </a:solidFill>
                  </a:tcPr>
                </a:tc>
              </a:tr>
              <a:tr h="466725">
                <a:tc>
                  <a:txBody>
                    <a:bodyPr/>
                    <a:lstStyle/>
                    <a:p>
                      <a:r>
                        <a:rPr sz="840" b="1">
                          <a:solidFill>
                            <a:srgbClr val="007FA8"/>
                          </a:solidFill>
                          <a:latin typeface="Yu Gothic"/>
                          <a:ea typeface="Yu Gothic"/>
                          <a:cs typeface="Yu Gothic"/>
                        </a:rPr>
                        <a:t>trajectory</a:t>
                      </a:r>
                    </a:p>
                  </a:txBody>
                  <a:tcPr marL="91440" marR="91440" marT="45720" marB="45720">
                    <a:solidFill>
                      <a:srgbClr val="FFFFFF"/>
                    </a:solidFill>
                  </a:tcPr>
                </a:tc>
                <a:tc>
                  <a:txBody>
                    <a:bodyPr/>
                    <a:lstStyle/>
                    <a:p>
                      <a:r>
                        <a:rPr sz="840">
                          <a:solidFill>
                            <a:srgbClr val="5B5B5B"/>
                          </a:solidFill>
                          <a:latin typeface="Yu Gothic"/>
                          <a:ea typeface="Yu Gothic"/>
                          <a:cs typeface="Yu Gothic"/>
                        </a:rPr>
                        <a:t>time[N], temperature[N,S]</a:t>
                      </a:r>
                    </a:p>
                  </a:txBody>
                  <a:tcPr marL="91440" marR="91440" marT="45720" marB="45720">
                    <a:solidFill>
                      <a:srgbClr val="FFFFFF"/>
                    </a:solidFill>
                  </a:tcPr>
                </a:tc>
                <a:tc>
                  <a:txBody>
                    <a:bodyPr/>
                    <a:lstStyle/>
                    <a:p>
                      <a:r>
                        <a:rPr sz="840">
                          <a:solidFill>
                            <a:srgbClr val="5B5B5B"/>
                          </a:solidFill>
                          <a:latin typeface="Yu Gothic"/>
                          <a:ea typeface="Yu Gothic"/>
                          <a:cs typeface="Yu Gothic"/>
                        </a:rPr>
                        <a:t>timeはstrict増加、温度単位を統一</a:t>
                      </a:r>
                    </a:p>
                  </a:txBody>
                  <a:tcPr marL="91440" marR="91440" marT="45720" marB="45720">
                    <a:solidFill>
                      <a:srgbClr val="FFFFFF"/>
                    </a:solidFill>
                  </a:tcPr>
                </a:tc>
                <a:tc>
                  <a:txBody>
                    <a:bodyPr/>
                    <a:lstStyle/>
                    <a:p>
                      <a:r>
                        <a:rPr sz="840">
                          <a:solidFill>
                            <a:srgbClr val="5B5B5B"/>
                          </a:solidFill>
                          <a:latin typeface="Yu Gothic"/>
                          <a:ea typeface="Yu Gothic"/>
                          <a:cs typeface="Yu Gothic"/>
                        </a:rPr>
                        <a:t>range / missing / layout validation</a:t>
                      </a:r>
                    </a:p>
                  </a:txBody>
                  <a:tcPr marL="91440" marR="91440" marT="45720" marB="45720">
                    <a:solidFill>
                      <a:srgbClr val="FFFFFF"/>
                    </a:solidFill>
                  </a:tcPr>
                </a:tc>
              </a:tr>
              <a:tr h="466725">
                <a:tc>
                  <a:txBody>
                    <a:bodyPr/>
                    <a:lstStyle/>
                    <a:p>
                      <a:r>
                        <a:rPr sz="840" b="1">
                          <a:solidFill>
                            <a:srgbClr val="007FA8"/>
                          </a:solidFill>
                          <a:latin typeface="Yu Gothic"/>
                          <a:ea typeface="Yu Gothic"/>
                          <a:cs typeface="Yu Gothic"/>
                        </a:rPr>
                        <a:t>command</a:t>
                      </a:r>
                    </a:p>
                  </a:txBody>
                  <a:tcPr marL="91440" marR="91440" marT="45720" marB="45720">
                    <a:solidFill>
                      <a:srgbClr val="F8F8F8"/>
                    </a:solidFill>
                  </a:tcPr>
                </a:tc>
                <a:tc>
                  <a:txBody>
                    <a:bodyPr/>
                    <a:lstStyle/>
                    <a:p>
                      <a:r>
                        <a:rPr sz="840">
                          <a:solidFill>
                            <a:srgbClr val="5B5B5B"/>
                          </a:solidFill>
                          <a:latin typeface="Yu Gothic"/>
                          <a:ea typeface="Yu Gothic"/>
                          <a:cs typeface="Yu Gothic"/>
                        </a:rPr>
                        <a:t>commands[N−1,U]</a:t>
                      </a:r>
                    </a:p>
                  </a:txBody>
                  <a:tcPr marL="91440" marR="91440" marT="45720" marB="45720">
                    <a:solidFill>
                      <a:srgbClr val="F8F8F8"/>
                    </a:solidFill>
                  </a:tcPr>
                </a:tc>
                <a:tc>
                  <a:txBody>
                    <a:bodyPr/>
                    <a:lstStyle/>
                    <a:p>
                      <a:r>
                        <a:rPr sz="840">
                          <a:solidFill>
                            <a:srgbClr val="5B5B5B"/>
                          </a:solidFill>
                          <a:latin typeface="Yu Gothic"/>
                          <a:ea typeface="Yu Gothic"/>
                          <a:cs typeface="Yu Gothic"/>
                        </a:rPr>
                        <a:t>u[k]は[time[k],time[k+1])へ適用</a:t>
                      </a:r>
                    </a:p>
                  </a:txBody>
                  <a:tcPr marL="91440" marR="91440" marT="45720" marB="45720">
                    <a:solidFill>
                      <a:srgbClr val="F8F8F8"/>
                    </a:solidFill>
                  </a:tcPr>
                </a:tc>
                <a:tc>
                  <a:txBody>
                    <a:bodyPr/>
                    <a:lstStyle/>
                    <a:p>
                      <a:r>
                        <a:rPr sz="840">
                          <a:solidFill>
                            <a:srgbClr val="5B5B5B"/>
                          </a:solidFill>
                          <a:latin typeface="Yu Gothic"/>
                          <a:ea typeface="Yu Gothic"/>
                          <a:cs typeface="Yu Gothic"/>
                        </a:rPr>
                        <a:t>left ZOH；right指定も可能</a:t>
                      </a:r>
                    </a:p>
                  </a:txBody>
                  <a:tcPr marL="91440" marR="91440" marT="45720" marB="45720">
                    <a:solidFill>
                      <a:srgbClr val="F8F8F8"/>
                    </a:solidFill>
                  </a:tcPr>
                </a:tc>
              </a:tr>
              <a:tr h="466725">
                <a:tc>
                  <a:txBody>
                    <a:bodyPr/>
                    <a:lstStyle/>
                    <a:p>
                      <a:r>
                        <a:rPr sz="840" b="1">
                          <a:solidFill>
                            <a:srgbClr val="007FA8"/>
                          </a:solidFill>
                          <a:latin typeface="Yu Gothic"/>
                          <a:ea typeface="Yu Gothic"/>
                          <a:cs typeface="Yu Gothic"/>
                        </a:rPr>
                        <a:t>forecast boundary</a:t>
                      </a:r>
                    </a:p>
                  </a:txBody>
                  <a:tcPr marL="91440" marR="91440" marT="45720" marB="45720">
                    <a:solidFill>
                      <a:srgbClr val="FFFFFF"/>
                    </a:solidFill>
                  </a:tcPr>
                </a:tc>
                <a:tc>
                  <a:txBody>
                    <a:bodyPr/>
                    <a:lstStyle/>
                    <a:p>
                      <a:r>
                        <a:rPr sz="840">
                          <a:solidFill>
                            <a:srgbClr val="5B5B5B"/>
                          </a:solidFill>
                          <a:latin typeface="Yu Gothic"/>
                          <a:ea typeface="Yu Gothic"/>
                          <a:cs typeface="Yu Gothic"/>
                        </a:rPr>
                        <a:t>観測prefix → 全sensor blank future</a:t>
                      </a:r>
                    </a:p>
                  </a:txBody>
                  <a:tcPr marL="91440" marR="91440" marT="45720" marB="45720">
                    <a:solidFill>
                      <a:srgbClr val="FFFFFF"/>
                    </a:solidFill>
                  </a:tcPr>
                </a:tc>
                <a:tc>
                  <a:txBody>
                    <a:bodyPr/>
                    <a:lstStyle/>
                    <a:p>
                      <a:r>
                        <a:rPr sz="840">
                          <a:solidFill>
                            <a:srgbClr val="5B5B5B"/>
                          </a:solidFill>
                          <a:latin typeface="Yu Gothic"/>
                          <a:ea typeface="Yu Gothic"/>
                          <a:cs typeface="Yu Gothic"/>
                        </a:rPr>
                        <a:t>future開始後の観測再登場を拒否</a:t>
                      </a:r>
                    </a:p>
                  </a:txBody>
                  <a:tcPr marL="91440" marR="91440" marT="45720" marB="45720">
                    <a:solidFill>
                      <a:srgbClr val="FFFFFF"/>
                    </a:solidFill>
                  </a:tcPr>
                </a:tc>
                <a:tc>
                  <a:txBody>
                    <a:bodyPr/>
                    <a:lstStyle/>
                    <a:p>
                      <a:r>
                        <a:rPr sz="840">
                          <a:solidFill>
                            <a:srgbClr val="5B5B5B"/>
                          </a:solidFill>
                          <a:latin typeface="Yu Gothic"/>
                          <a:ea typeface="Yu Gothic"/>
                          <a:cs typeface="Yu Gothic"/>
                        </a:rPr>
                        <a:t>forecast_origin_indexを保存</a:t>
                      </a:r>
                    </a:p>
                  </a:txBody>
                  <a:tcPr marL="91440" marR="91440" marT="45720" marB="45720">
                    <a:solidFill>
                      <a:srgbClr val="FFFFFF"/>
                    </a:solidFill>
                  </a:tcPr>
                </a:tc>
              </a:tr>
              <a:tr h="466725">
                <a:tc>
                  <a:txBody>
                    <a:bodyPr/>
                    <a:lstStyle/>
                    <a:p>
                      <a:r>
                        <a:rPr sz="840" b="1">
                          <a:solidFill>
                            <a:srgbClr val="007FA8"/>
                          </a:solidFill>
                          <a:latin typeface="Yu Gothic"/>
                          <a:ea typeface="Yu Gothic"/>
                          <a:cs typeface="Yu Gothic"/>
                        </a:rPr>
                        <a:t>artifact</a:t>
                      </a:r>
                    </a:p>
                  </a:txBody>
                  <a:tcPr marL="91440" marR="91440" marT="45720" marB="45720">
                    <a:solidFill>
                      <a:srgbClr val="F8F8F8"/>
                    </a:solidFill>
                  </a:tcPr>
                </a:tc>
                <a:tc>
                  <a:txBody>
                    <a:bodyPr/>
                    <a:lstStyle/>
                    <a:p>
                      <a:r>
                        <a:rPr sz="840">
                          <a:solidFill>
                            <a:srgbClr val="5B5B5B"/>
                          </a:solidFill>
                          <a:latin typeface="Yu Gothic"/>
                          <a:ea typeface="Yu Gothic"/>
                          <a:cs typeface="Yu Gothic"/>
                        </a:rPr>
                        <a:t>model.pt / system.yaml / metadata.json</a:t>
                      </a:r>
                    </a:p>
                  </a:txBody>
                  <a:tcPr marL="91440" marR="91440" marT="45720" marB="45720">
                    <a:solidFill>
                      <a:srgbClr val="F8F8F8"/>
                    </a:solidFill>
                  </a:tcPr>
                </a:tc>
                <a:tc>
                  <a:txBody>
                    <a:bodyPr/>
                    <a:lstStyle/>
                    <a:p>
                      <a:r>
                        <a:rPr sz="840">
                          <a:solidFill>
                            <a:srgbClr val="5B5B5B"/>
                          </a:solidFill>
                          <a:latin typeface="Yu Gothic"/>
                          <a:ea typeface="Yu Gothic"/>
                          <a:cs typeface="Yu Gothic"/>
                        </a:rPr>
                        <a:t>schema 4、weights_only load</a:t>
                      </a:r>
                    </a:p>
                  </a:txBody>
                  <a:tcPr marL="91440" marR="91440" marT="45720" marB="45720">
                    <a:solidFill>
                      <a:srgbClr val="F8F8F8"/>
                    </a:solidFill>
                  </a:tcPr>
                </a:tc>
                <a:tc>
                  <a:txBody>
                    <a:bodyPr/>
                    <a:lstStyle/>
                    <a:p>
                      <a:r>
                        <a:rPr sz="840">
                          <a:solidFill>
                            <a:srgbClr val="5B5B5B"/>
                          </a:solidFill>
                          <a:latin typeface="Yu Gothic"/>
                          <a:ea typeface="Yu Gothic"/>
                          <a:cs typeface="Yu Gothic"/>
                        </a:rPr>
                        <a:t>derived buffer・fitted値・SHA-256照合</a:t>
                      </a:r>
                    </a:p>
                  </a:txBody>
                  <a:tcPr marL="91440" marR="91440" marT="45720" marB="45720">
                    <a:solidFill>
                      <a:srgbClr val="F8F8F8"/>
                    </a:solidFill>
                  </a:tcPr>
                </a:tc>
              </a:tr>
              <a:tr h="466725">
                <a:tc>
                  <a:txBody>
                    <a:bodyPr/>
                    <a:lstStyle/>
                    <a:p>
                      <a:r>
                        <a:rPr sz="840" b="1">
                          <a:solidFill>
                            <a:srgbClr val="007FA8"/>
                          </a:solidFill>
                          <a:latin typeface="Yu Gothic"/>
                          <a:ea typeface="Yu Gothic"/>
                          <a:cs typeface="Yu Gothic"/>
                        </a:rPr>
                        <a:t>runtime output</a:t>
                      </a:r>
                    </a:p>
                  </a:txBody>
                  <a:tcPr marL="91440" marR="91440" marT="45720" marB="45720">
                    <a:solidFill>
                      <a:srgbClr val="FFFFFF"/>
                    </a:solidFill>
                  </a:tcPr>
                </a:tc>
                <a:tc>
                  <a:txBody>
                    <a:bodyPr/>
                    <a:lstStyle/>
                    <a:p>
                      <a:r>
                        <a:rPr sz="840">
                          <a:solidFill>
                            <a:srgbClr val="5B5B5B"/>
                          </a:solidFill>
                          <a:latin typeface="Yu Gothic"/>
                          <a:ea typeface="Yu Gothic"/>
                          <a:cs typeface="Yu Gothic"/>
                        </a:rPr>
                        <a:t>case CSV + run_manifest.json</a:t>
                      </a:r>
                    </a:p>
                  </a:txBody>
                  <a:tcPr marL="91440" marR="91440" marT="45720" marB="45720">
                    <a:solidFill>
                      <a:srgbClr val="FFFFFF"/>
                    </a:solidFill>
                  </a:tcPr>
                </a:tc>
                <a:tc>
                  <a:txBody>
                    <a:bodyPr/>
                    <a:lstStyle/>
                    <a:p>
                      <a:r>
                        <a:rPr sz="840">
                          <a:solidFill>
                            <a:srgbClr val="5B5B5B"/>
                          </a:solidFill>
                          <a:latin typeface="Yu Gothic"/>
                          <a:ea typeface="Yu Gothic"/>
                          <a:cs typeface="Yu Gothic"/>
                        </a:rPr>
                        <a:t>resolved observer設定を保存</a:t>
                      </a:r>
                    </a:p>
                  </a:txBody>
                  <a:tcPr marL="91440" marR="91440" marT="45720" marB="45720">
                    <a:solidFill>
                      <a:srgbClr val="FFFFFF"/>
                    </a:solidFill>
                  </a:tcPr>
                </a:tc>
                <a:tc>
                  <a:txBody>
                    <a:bodyPr/>
                    <a:lstStyle/>
                    <a:p>
                      <a:r>
                        <a:rPr sz="840">
                          <a:solidFill>
                            <a:srgbClr val="5B5B5B"/>
                          </a:solidFill>
                          <a:latin typeface="Yu Gothic"/>
                          <a:ea typeface="Yu Gothic"/>
                          <a:cs typeface="Yu Gothic"/>
                        </a:rPr>
                        <a:t>input/config/artifact hash</a:t>
                      </a:r>
                    </a:p>
                  </a:txBody>
                  <a:tcPr marL="91440" marR="91440" marT="45720" marB="45720">
                    <a:solidFill>
                      <a:srgbClr val="FFFFFF"/>
                    </a:solidFill>
                  </a:tcPr>
                </a:tc>
              </a:tr>
            </a:tbl>
          </a:graphicData>
        </a:graphic>
      </p:graphicFrame>
      <p:sp>
        <p:nvSpPr>
          <p:cNvPr id="29" name="">
            <a:extLst xmlns:a="http://schemas.openxmlformats.org/drawingml/2006/main">
              <a:ext uri="{FF2B5EF4-FFF2-40B4-BE49-F238E27FC236}">
                <a16:creationId xmlns:a16="http://schemas.microsoft.com/office/drawing/2014/main" id="{4BA92B0F-00E1-43C3-9388-22C701F4E10A}"/>
              </a:ext>
            </a:extLst>
          </p:cNvPr>
          <p:cNvSpPr>
            <a:spLocks xmlns:a="http://schemas.openxmlformats.org/drawingml/2006/main" noGrp="1"/>
          </p:cNvSpPr>
          <p:nvPr/>
        </p:nvSpPr>
        <p:spPr>
          <a:xfrm xmlns:a="http://schemas.openxmlformats.org/drawingml/2006/main">
            <a:off x="552450" y="5848350"/>
            <a:ext cx="11087100" cy="400050"/>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30" name="">
            <a:extLst xmlns:a="http://schemas.openxmlformats.org/drawingml/2006/main">
              <a:ext uri="{FF2B5EF4-FFF2-40B4-BE49-F238E27FC236}">
                <a16:creationId xmlns:a16="http://schemas.microsoft.com/office/drawing/2014/main" id="{8B144298-C45D-4327-8F71-C8EC012B706D}"/>
              </a:ext>
            </a:extLst>
          </p:cNvPr>
          <p:cNvSpPr>
            <a:spLocks xmlns:a="http://schemas.openxmlformats.org/drawingml/2006/main" noGrp="1"/>
          </p:cNvSpPr>
          <p:nvPr/>
        </p:nvSpPr>
        <p:spPr>
          <a:xfrm xmlns:a="http://schemas.openxmlformats.org/drawingml/2006/main">
            <a:off x="695325" y="5915025"/>
            <a:ext cx="1080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00" b="1" i="0">
                <a:solidFill>
                  <a:srgbClr val="806000"/>
                </a:solidFill>
                <a:latin typeface="Yu Gothic"/>
                <a:ea typeface="Yu Gothic"/>
                <a:cs typeface="Yu Gothic"/>
              </a:defRPr>
            </a:pPr>
            <a:r>
              <a:rPr sz="900" b="1" i="0">
                <a:solidFill>
                  <a:srgbClr val="806000"/>
                </a:solidFill>
                <a:latin typeface="Yu Gothic"/>
                <a:ea typeface="Yu Gothic"/>
                <a:cs typeface="Yu Gothic"/>
              </a:rPr>
              <a:t>atomic publish：隣接staging directoryへ全成果物を生成し、成功時のみ既存runと置換する。</a:t>
            </a:r>
          </a:p>
        </p:txBody>
      </p:sp>
    </p:spTree>
    <p:extLst>
      <p:ext uri="{BB962C8B-B14F-4D97-AF65-F5344CB8AC3E}">
        <p14:creationId xmlns:p14="http://schemas.microsoft.com/office/powerpoint/2010/main" val="12390234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CED8FFBC-3738-4693-A2A2-3E6254BBAAE0}"/>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ADB6BA-D1B6-4ABC-BF6D-266DBA726BA2}"/>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WORKFLOW / TRAIN</a:t>
            </a:r>
          </a:p>
        </p:txBody>
      </p:sp>
      <p:sp>
        <p:nvSpPr>
          <p:cNvPr id="3" name="">
            <a:extLst xmlns:a="http://schemas.openxmlformats.org/drawingml/2006/main">
              <a:ext uri="{FF2B5EF4-FFF2-40B4-BE49-F238E27FC236}">
                <a16:creationId xmlns:a16="http://schemas.microsoft.com/office/drawing/2014/main" id="{AE1A6919-CA5F-487D-AA45-29511B11B32B}"/>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setupからartifact公開までを一つの再現可能なrunとして固定する</a:t>
            </a:r>
          </a:p>
        </p:txBody>
      </p:sp>
      <p:sp>
        <p:nvSpPr>
          <p:cNvPr id="4" name="">
            <a:extLst xmlns:a="http://schemas.openxmlformats.org/drawingml/2006/main">
              <a:ext uri="{FF2B5EF4-FFF2-40B4-BE49-F238E27FC236}">
                <a16:creationId xmlns:a16="http://schemas.microsoft.com/office/drawing/2014/main" id="{2DC97014-6B1E-4FEF-8DF8-769CDDF85846}"/>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設定・split・学習履歴・holdout予測を同じrun directoryへ保存する</a:t>
            </a:r>
          </a:p>
        </p:txBody>
      </p:sp>
      <p:sp>
        <p:nvSpPr>
          <p:cNvPr id="5" name="">
            <a:extLst xmlns:a="http://schemas.openxmlformats.org/drawingml/2006/main">
              <a:ext uri="{FF2B5EF4-FFF2-40B4-BE49-F238E27FC236}">
                <a16:creationId xmlns:a16="http://schemas.microsoft.com/office/drawing/2014/main" id="{20782ADB-EA3C-4AAD-83AB-A6B349751CEA}"/>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5CAAEF1-14A2-4667-BC7D-E546062A0DFB}"/>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19A2162-187F-45AE-9CC3-24AAA3BF497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7456A516-8324-4E53-A1A3-F7D976875619}"/>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18</a:t>
            </a:r>
          </a:p>
        </p:txBody>
      </p:sp>
      <p:sp>
        <p:nvSpPr>
          <p:cNvPr id="9" name="">
            <a:extLst xmlns:a="http://schemas.openxmlformats.org/drawingml/2006/main">
              <a:ext uri="{FF2B5EF4-FFF2-40B4-BE49-F238E27FC236}">
                <a16:creationId xmlns:a16="http://schemas.microsoft.com/office/drawing/2014/main" id="{C501E64C-C0C0-4AD5-A903-009632B898FC}"/>
              </a:ext>
            </a:extLst>
          </p:cNvPr>
          <p:cNvSpPr>
            <a:spLocks xmlns:a="http://schemas.openxmlformats.org/drawingml/2006/main" noGrp="1"/>
          </p:cNvSpPr>
          <p:nvPr/>
        </p:nvSpPr>
        <p:spPr>
          <a:xfrm xmlns:a="http://schemas.openxmlformats.org/drawingml/2006/main">
            <a:off x="552450" y="1381125"/>
            <a:ext cx="11087100" cy="4095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F2F3E05F-FE13-4964-9299-D06BB7C20620}"/>
              </a:ext>
            </a:extLst>
          </p:cNvPr>
          <p:cNvSpPr>
            <a:spLocks xmlns:a="http://schemas.openxmlformats.org/drawingml/2006/main" noGrp="1"/>
          </p:cNvSpPr>
          <p:nvPr/>
        </p:nvSpPr>
        <p:spPr>
          <a:xfrm xmlns:a="http://schemas.openxmlformats.org/drawingml/2006/main">
            <a:off x="723900" y="1466850"/>
            <a:ext cx="4953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1" i="0">
                <a:solidFill>
                  <a:srgbClr val="007FA8"/>
                </a:solidFill>
                <a:latin typeface="Yu Gothic"/>
                <a:ea typeface="Yu Gothic"/>
                <a:cs typeface="Yu Gothic"/>
              </a:defRPr>
            </a:pPr>
            <a:r>
              <a:rPr sz="863" b="1" i="0">
                <a:solidFill>
                  <a:srgbClr val="007FA8"/>
                </a:solidFill>
                <a:latin typeface="Yu Gothic"/>
                <a:ea typeface="Yu Gothic"/>
                <a:cs typeface="Yu Gothic"/>
              </a:rPr>
              <a:t>CLI</a:t>
            </a:r>
          </a:p>
        </p:txBody>
      </p:sp>
      <p:sp>
        <p:nvSpPr>
          <p:cNvPr id="11" name="">
            <a:extLst xmlns:a="http://schemas.openxmlformats.org/drawingml/2006/main">
              <a:ext uri="{FF2B5EF4-FFF2-40B4-BE49-F238E27FC236}">
                <a16:creationId xmlns:a16="http://schemas.microsoft.com/office/drawing/2014/main" id="{E5838D9C-0715-4723-940E-F4A343599488}"/>
              </a:ext>
            </a:extLst>
          </p:cNvPr>
          <p:cNvSpPr>
            <a:spLocks xmlns:a="http://schemas.openxmlformats.org/drawingml/2006/main" noGrp="1"/>
          </p:cNvSpPr>
          <p:nvPr/>
        </p:nvSpPr>
        <p:spPr>
          <a:xfrm xmlns:a="http://schemas.openxmlformats.org/drawingml/2006/main">
            <a:off x="1285875" y="1428750"/>
            <a:ext cx="101822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3F3F3F"/>
                </a:solidFill>
                <a:latin typeface="Cambria Math"/>
                <a:ea typeface="Cambria Math"/>
                <a:cs typeface="Cambria Math"/>
              </a:defRPr>
            </a:pPr>
            <a:r>
              <a:rPr sz="1125" b="1" i="0">
                <a:solidFill>
                  <a:srgbClr val="3F3F3F"/>
                </a:solidFill>
                <a:latin typeface="Cambria Math"/>
                <a:ea typeface="Cambria Math"/>
                <a:cs typeface="Cambria Math"/>
              </a:rPr>
              <a:t>python -m celltemp.cli train --config &lt;project&gt;/config.yaml</a:t>
            </a:r>
          </a:p>
        </p:txBody>
      </p:sp>
      <p:sp>
        <p:nvSpPr>
          <p:cNvPr id="12" name="">
            <a:extLst xmlns:a="http://schemas.openxmlformats.org/drawingml/2006/main">
              <a:ext uri="{FF2B5EF4-FFF2-40B4-BE49-F238E27FC236}">
                <a16:creationId xmlns:a16="http://schemas.microsoft.com/office/drawing/2014/main" id="{66AA3093-7A81-4BBA-AEFF-85BA15D79BD8}"/>
              </a:ext>
            </a:extLst>
          </p:cNvPr>
          <p:cNvSpPr>
            <a:spLocks xmlns:a="http://schemas.openxmlformats.org/drawingml/2006/main" noGrp="1"/>
          </p:cNvSpPr>
          <p:nvPr/>
        </p:nvSpPr>
        <p:spPr>
          <a:xfrm xmlns:a="http://schemas.openxmlformats.org/drawingml/2006/main">
            <a:off x="5524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4D53166C-689F-46F4-8C41-D98F5DED0784}"/>
              </a:ext>
            </a:extLst>
          </p:cNvPr>
          <p:cNvSpPr>
            <a:spLocks xmlns:a="http://schemas.openxmlformats.org/drawingml/2006/main" noGrp="1"/>
          </p:cNvSpPr>
          <p:nvPr/>
        </p:nvSpPr>
        <p:spPr>
          <a:xfrm xmlns:a="http://schemas.openxmlformats.org/drawingml/2006/main">
            <a:off x="552450" y="2066925"/>
            <a:ext cx="1371600" cy="666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ADC8C5F-29A3-4FDE-9283-5DA72D6459EC}"/>
              </a:ext>
            </a:extLst>
          </p:cNvPr>
          <p:cNvSpPr>
            <a:spLocks xmlns:a="http://schemas.openxmlformats.org/drawingml/2006/main" noGrp="1"/>
          </p:cNvSpPr>
          <p:nvPr/>
        </p:nvSpPr>
        <p:spPr>
          <a:xfrm xmlns:a="http://schemas.openxmlformats.org/drawingml/2006/main">
            <a:off x="6381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A5D8"/>
                </a:solidFill>
                <a:latin typeface="Yu Gothic"/>
                <a:ea typeface="Yu Gothic"/>
                <a:cs typeface="Yu Gothic"/>
              </a:defRPr>
            </a:pPr>
            <a:r>
              <a:rPr sz="1013" b="1" i="0">
                <a:solidFill>
                  <a:srgbClr val="00A5D8"/>
                </a:solidFill>
                <a:latin typeface="Yu Gothic"/>
                <a:ea typeface="Yu Gothic"/>
                <a:cs typeface="Yu Gothic"/>
              </a:rPr>
              <a:t>1  resolve</a:t>
            </a:r>
          </a:p>
        </p:txBody>
      </p:sp>
      <p:sp>
        <p:nvSpPr>
          <p:cNvPr id="15" name="">
            <a:extLst xmlns:a="http://schemas.openxmlformats.org/drawingml/2006/main">
              <a:ext uri="{FF2B5EF4-FFF2-40B4-BE49-F238E27FC236}">
                <a16:creationId xmlns:a16="http://schemas.microsoft.com/office/drawing/2014/main" id="{76E80020-8489-47E1-B556-6EFB95A16662}"/>
              </a:ext>
            </a:extLst>
          </p:cNvPr>
          <p:cNvSpPr>
            <a:spLocks xmlns:a="http://schemas.openxmlformats.org/drawingml/2006/main" noGrp="1"/>
          </p:cNvSpPr>
          <p:nvPr/>
        </p:nvSpPr>
        <p:spPr>
          <a:xfrm xmlns:a="http://schemas.openxmlformats.org/drawingml/2006/main">
            <a:off x="6667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5C410924-8C08-4487-92C7-9F5C90833509}"/>
              </a:ext>
            </a:extLst>
          </p:cNvPr>
          <p:cNvSpPr>
            <a:spLocks xmlns:a="http://schemas.openxmlformats.org/drawingml/2006/main" noGrp="1"/>
          </p:cNvSpPr>
          <p:nvPr/>
        </p:nvSpPr>
        <p:spPr>
          <a:xfrm xmlns:a="http://schemas.openxmlformats.org/drawingml/2006/main">
            <a:off x="6381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config基準で</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path / override解決</a:t>
            </a:r>
          </a:p>
        </p:txBody>
      </p:sp>
      <p:sp>
        <p:nvSpPr>
          <p:cNvPr id="17" name="">
            <a:extLst xmlns:a="http://schemas.openxmlformats.org/drawingml/2006/main">
              <a:ext uri="{FF2B5EF4-FFF2-40B4-BE49-F238E27FC236}">
                <a16:creationId xmlns:a16="http://schemas.microsoft.com/office/drawing/2014/main" id="{6B344057-8D61-419E-88BD-F61378076A6B}"/>
              </a:ext>
            </a:extLst>
          </p:cNvPr>
          <p:cNvSpPr>
            <a:spLocks xmlns:a="http://schemas.openxmlformats.org/drawingml/2006/main" noGrp="1"/>
          </p:cNvSpPr>
          <p:nvPr/>
        </p:nvSpPr>
        <p:spPr>
          <a:xfrm xmlns:a="http://schemas.openxmlformats.org/drawingml/2006/main">
            <a:off x="21526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8" name="">
            <a:extLst xmlns:a="http://schemas.openxmlformats.org/drawingml/2006/main">
              <a:ext uri="{FF2B5EF4-FFF2-40B4-BE49-F238E27FC236}">
                <a16:creationId xmlns:a16="http://schemas.microsoft.com/office/drawing/2014/main" id="{598F2E42-B9D9-48D7-B774-FCA0E199633A}"/>
              </a:ext>
            </a:extLst>
          </p:cNvPr>
          <p:cNvSpPr>
            <a:spLocks xmlns:a="http://schemas.openxmlformats.org/drawingml/2006/main" noGrp="1"/>
          </p:cNvSpPr>
          <p:nvPr/>
        </p:nvSpPr>
        <p:spPr>
          <a:xfrm xmlns:a="http://schemas.openxmlformats.org/drawingml/2006/main">
            <a:off x="2152650" y="2066925"/>
            <a:ext cx="1371600" cy="666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6581B43-6078-4098-88DE-304B9EFDB4E2}"/>
              </a:ext>
            </a:extLst>
          </p:cNvPr>
          <p:cNvSpPr>
            <a:spLocks xmlns:a="http://schemas.openxmlformats.org/drawingml/2006/main" noGrp="1"/>
          </p:cNvSpPr>
          <p:nvPr/>
        </p:nvSpPr>
        <p:spPr>
          <a:xfrm xmlns:a="http://schemas.openxmlformats.org/drawingml/2006/main">
            <a:off x="22383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76BE18"/>
                </a:solidFill>
                <a:latin typeface="Yu Gothic"/>
                <a:ea typeface="Yu Gothic"/>
                <a:cs typeface="Yu Gothic"/>
              </a:defRPr>
            </a:pPr>
            <a:r>
              <a:rPr sz="1013" b="1" i="0">
                <a:solidFill>
                  <a:srgbClr val="76BE18"/>
                </a:solidFill>
                <a:latin typeface="Yu Gothic"/>
                <a:ea typeface="Yu Gothic"/>
                <a:cs typeface="Yu Gothic"/>
              </a:rPr>
              <a:t>2  validate</a:t>
            </a:r>
          </a:p>
        </p:txBody>
      </p:sp>
      <p:sp>
        <p:nvSpPr>
          <p:cNvPr id="20" name="">
            <a:extLst xmlns:a="http://schemas.openxmlformats.org/drawingml/2006/main">
              <a:ext uri="{FF2B5EF4-FFF2-40B4-BE49-F238E27FC236}">
                <a16:creationId xmlns:a16="http://schemas.microsoft.com/office/drawing/2014/main" id="{4DCA1F6E-48A4-443B-99BC-DD09A4AE126B}"/>
              </a:ext>
            </a:extLst>
          </p:cNvPr>
          <p:cNvSpPr>
            <a:spLocks xmlns:a="http://schemas.openxmlformats.org/drawingml/2006/main" noGrp="1"/>
          </p:cNvSpPr>
          <p:nvPr/>
        </p:nvSpPr>
        <p:spPr>
          <a:xfrm xmlns:a="http://schemas.openxmlformats.org/drawingml/2006/main">
            <a:off x="22669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5C4E4876-3017-4B56-AD42-100CCFE8B7F2}"/>
              </a:ext>
            </a:extLst>
          </p:cNvPr>
          <p:cNvSpPr>
            <a:spLocks xmlns:a="http://schemas.openxmlformats.org/drawingml/2006/main" noGrp="1"/>
          </p:cNvSpPr>
          <p:nvPr/>
        </p:nvSpPr>
        <p:spPr>
          <a:xfrm xmlns:a="http://schemas.openxmlformats.org/drawingml/2006/main">
            <a:off x="22383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system.yaml</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単位・参照整合</a:t>
            </a:r>
          </a:p>
        </p:txBody>
      </p:sp>
      <p:sp>
        <p:nvSpPr>
          <p:cNvPr id="22" name="">
            <a:extLst xmlns:a="http://schemas.openxmlformats.org/drawingml/2006/main">
              <a:ext uri="{FF2B5EF4-FFF2-40B4-BE49-F238E27FC236}">
                <a16:creationId xmlns:a16="http://schemas.microsoft.com/office/drawing/2014/main" id="{7312D008-28D3-421F-A9C5-AB8A0E56BD11}"/>
              </a:ext>
            </a:extLst>
          </p:cNvPr>
          <p:cNvSpPr>
            <a:spLocks xmlns:a="http://schemas.openxmlformats.org/drawingml/2006/main" noGrp="1"/>
          </p:cNvSpPr>
          <p:nvPr/>
        </p:nvSpPr>
        <p:spPr>
          <a:xfrm xmlns:a="http://schemas.openxmlformats.org/drawingml/2006/main">
            <a:off x="37528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79640F89-A3CE-4547-920E-F07A37270CE9}"/>
              </a:ext>
            </a:extLst>
          </p:cNvPr>
          <p:cNvSpPr>
            <a:spLocks xmlns:a="http://schemas.openxmlformats.org/drawingml/2006/main" noGrp="1"/>
          </p:cNvSpPr>
          <p:nvPr/>
        </p:nvSpPr>
        <p:spPr>
          <a:xfrm xmlns:a="http://schemas.openxmlformats.org/drawingml/2006/main">
            <a:off x="3752850" y="2066925"/>
            <a:ext cx="1371600" cy="666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189DB1D-79F9-4BFE-BAAA-C2E6E3FE75E9}"/>
              </a:ext>
            </a:extLst>
          </p:cNvPr>
          <p:cNvSpPr>
            <a:spLocks xmlns:a="http://schemas.openxmlformats.org/drawingml/2006/main" noGrp="1"/>
          </p:cNvSpPr>
          <p:nvPr/>
        </p:nvSpPr>
        <p:spPr>
          <a:xfrm xmlns:a="http://schemas.openxmlformats.org/drawingml/2006/main">
            <a:off x="38385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7B2DAF"/>
                </a:solidFill>
                <a:latin typeface="Yu Gothic"/>
                <a:ea typeface="Yu Gothic"/>
                <a:cs typeface="Yu Gothic"/>
              </a:defRPr>
            </a:pPr>
            <a:r>
              <a:rPr sz="1013" b="1" i="0">
                <a:solidFill>
                  <a:srgbClr val="7B2DAF"/>
                </a:solidFill>
                <a:latin typeface="Yu Gothic"/>
                <a:ea typeface="Yu Gothic"/>
                <a:cs typeface="Yu Gothic"/>
              </a:rPr>
              <a:t>3  discover</a:t>
            </a:r>
          </a:p>
        </p:txBody>
      </p:sp>
      <p:sp>
        <p:nvSpPr>
          <p:cNvPr id="25" name="">
            <a:extLst xmlns:a="http://schemas.openxmlformats.org/drawingml/2006/main">
              <a:ext uri="{FF2B5EF4-FFF2-40B4-BE49-F238E27FC236}">
                <a16:creationId xmlns:a16="http://schemas.microsoft.com/office/drawing/2014/main" id="{69759185-B732-42F7-BBCB-72A0BBF8B212}"/>
              </a:ext>
            </a:extLst>
          </p:cNvPr>
          <p:cNvSpPr>
            <a:spLocks xmlns:a="http://schemas.openxmlformats.org/drawingml/2006/main" noGrp="1"/>
          </p:cNvSpPr>
          <p:nvPr/>
        </p:nvSpPr>
        <p:spPr>
          <a:xfrm xmlns:a="http://schemas.openxmlformats.org/drawingml/2006/main">
            <a:off x="38671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32FEF4C0-88A9-4712-A831-DC9A5DDA9EAD}"/>
              </a:ext>
            </a:extLst>
          </p:cNvPr>
          <p:cNvSpPr>
            <a:spLocks xmlns:a="http://schemas.openxmlformats.org/drawingml/2006/main" noGrp="1"/>
          </p:cNvSpPr>
          <p:nvPr/>
        </p:nvSpPr>
        <p:spPr>
          <a:xfrm xmlns:a="http://schemas.openxmlformats.org/drawingml/2006/main">
            <a:off x="38385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CSV自動検出</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Trajectory化</a:t>
            </a:r>
          </a:p>
        </p:txBody>
      </p:sp>
      <p:sp>
        <p:nvSpPr>
          <p:cNvPr id="27" name="">
            <a:extLst xmlns:a="http://schemas.openxmlformats.org/drawingml/2006/main">
              <a:ext uri="{FF2B5EF4-FFF2-40B4-BE49-F238E27FC236}">
                <a16:creationId xmlns:a16="http://schemas.microsoft.com/office/drawing/2014/main" id="{C96125F8-15AB-432C-9FF8-E6B77919B5EB}"/>
              </a:ext>
            </a:extLst>
          </p:cNvPr>
          <p:cNvSpPr>
            <a:spLocks xmlns:a="http://schemas.openxmlformats.org/drawingml/2006/main" noGrp="1"/>
          </p:cNvSpPr>
          <p:nvPr/>
        </p:nvSpPr>
        <p:spPr>
          <a:xfrm xmlns:a="http://schemas.openxmlformats.org/drawingml/2006/main">
            <a:off x="53530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09B7F006-642F-4697-A843-7644FA4F530C}"/>
              </a:ext>
            </a:extLst>
          </p:cNvPr>
          <p:cNvSpPr>
            <a:spLocks xmlns:a="http://schemas.openxmlformats.org/drawingml/2006/main" noGrp="1"/>
          </p:cNvSpPr>
          <p:nvPr/>
        </p:nvSpPr>
        <p:spPr>
          <a:xfrm xmlns:a="http://schemas.openxmlformats.org/drawingml/2006/main">
            <a:off x="5353050" y="2066925"/>
            <a:ext cx="1371600" cy="666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A8F4297-22A8-4E65-8700-159F86C355BC}"/>
              </a:ext>
            </a:extLst>
          </p:cNvPr>
          <p:cNvSpPr>
            <a:spLocks xmlns:a="http://schemas.openxmlformats.org/drawingml/2006/main" noGrp="1"/>
          </p:cNvSpPr>
          <p:nvPr/>
        </p:nvSpPr>
        <p:spPr>
          <a:xfrm xmlns:a="http://schemas.openxmlformats.org/drawingml/2006/main">
            <a:off x="54387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E5A900"/>
                </a:solidFill>
                <a:latin typeface="Yu Gothic"/>
                <a:ea typeface="Yu Gothic"/>
                <a:cs typeface="Yu Gothic"/>
              </a:defRPr>
            </a:pPr>
            <a:r>
              <a:rPr sz="1013" b="1" i="0">
                <a:solidFill>
                  <a:srgbClr val="E5A900"/>
                </a:solidFill>
                <a:latin typeface="Yu Gothic"/>
                <a:ea typeface="Yu Gothic"/>
                <a:cs typeface="Yu Gothic"/>
              </a:rPr>
              <a:t>4  split</a:t>
            </a:r>
          </a:p>
        </p:txBody>
      </p:sp>
      <p:sp>
        <p:nvSpPr>
          <p:cNvPr id="30" name="">
            <a:extLst xmlns:a="http://schemas.openxmlformats.org/drawingml/2006/main">
              <a:ext uri="{FF2B5EF4-FFF2-40B4-BE49-F238E27FC236}">
                <a16:creationId xmlns:a16="http://schemas.microsoft.com/office/drawing/2014/main" id="{82A22994-D6E5-41BE-BDDC-C1776B90145E}"/>
              </a:ext>
            </a:extLst>
          </p:cNvPr>
          <p:cNvSpPr>
            <a:spLocks xmlns:a="http://schemas.openxmlformats.org/drawingml/2006/main" noGrp="1"/>
          </p:cNvSpPr>
          <p:nvPr/>
        </p:nvSpPr>
        <p:spPr>
          <a:xfrm xmlns:a="http://schemas.openxmlformats.org/drawingml/2006/main">
            <a:off x="54673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05EF6A2C-1379-4D4B-A417-121534BE4F32}"/>
              </a:ext>
            </a:extLst>
          </p:cNvPr>
          <p:cNvSpPr>
            <a:spLocks xmlns:a="http://schemas.openxmlformats.org/drawingml/2006/main" noGrp="1"/>
          </p:cNvSpPr>
          <p:nvPr/>
        </p:nvSpPr>
        <p:spPr>
          <a:xfrm xmlns:a="http://schemas.openxmlformats.org/drawingml/2006/main">
            <a:off x="54387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同一recipeを</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同一groupへ</a:t>
            </a:r>
          </a:p>
        </p:txBody>
      </p:sp>
      <p:sp>
        <p:nvSpPr>
          <p:cNvPr id="32" name="">
            <a:extLst xmlns:a="http://schemas.openxmlformats.org/drawingml/2006/main">
              <a:ext uri="{FF2B5EF4-FFF2-40B4-BE49-F238E27FC236}">
                <a16:creationId xmlns:a16="http://schemas.microsoft.com/office/drawing/2014/main" id="{FF8B8783-A7BF-4B31-A62E-CBCFA9BA96AC}"/>
              </a:ext>
            </a:extLst>
          </p:cNvPr>
          <p:cNvSpPr>
            <a:spLocks xmlns:a="http://schemas.openxmlformats.org/drawingml/2006/main" noGrp="1"/>
          </p:cNvSpPr>
          <p:nvPr/>
        </p:nvSpPr>
        <p:spPr>
          <a:xfrm xmlns:a="http://schemas.openxmlformats.org/drawingml/2006/main">
            <a:off x="69532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09967277-470B-4D8C-A10E-EB67EC2DCCF8}"/>
              </a:ext>
            </a:extLst>
          </p:cNvPr>
          <p:cNvSpPr>
            <a:spLocks xmlns:a="http://schemas.openxmlformats.org/drawingml/2006/main" noGrp="1"/>
          </p:cNvSpPr>
          <p:nvPr/>
        </p:nvSpPr>
        <p:spPr>
          <a:xfrm xmlns:a="http://schemas.openxmlformats.org/drawingml/2006/main">
            <a:off x="6953250" y="2066925"/>
            <a:ext cx="1371600" cy="66675"/>
          </a:xfrm>
          <a:prstGeom xmlns:a="http://schemas.openxmlformats.org/drawingml/2006/main" prst="rect">
            <a:avLst/>
          </a:prstGeom>
          <a:solidFill xmlns:a="http://schemas.openxmlformats.org/drawingml/2006/main">
            <a:srgbClr val="00A89D"/>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92A3893A-2E8B-45F5-9BE0-D8371A0731EA}"/>
              </a:ext>
            </a:extLst>
          </p:cNvPr>
          <p:cNvSpPr>
            <a:spLocks xmlns:a="http://schemas.openxmlformats.org/drawingml/2006/main" noGrp="1"/>
          </p:cNvSpPr>
          <p:nvPr/>
        </p:nvSpPr>
        <p:spPr>
          <a:xfrm xmlns:a="http://schemas.openxmlformats.org/drawingml/2006/main">
            <a:off x="70389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A89D"/>
                </a:solidFill>
                <a:latin typeface="Yu Gothic"/>
                <a:ea typeface="Yu Gothic"/>
                <a:cs typeface="Yu Gothic"/>
              </a:defRPr>
            </a:pPr>
            <a:r>
              <a:rPr sz="1013" b="1" i="0">
                <a:solidFill>
                  <a:srgbClr val="00A89D"/>
                </a:solidFill>
                <a:latin typeface="Yu Gothic"/>
                <a:ea typeface="Yu Gothic"/>
                <a:cs typeface="Yu Gothic"/>
              </a:rPr>
              <a:t>5  optimize</a:t>
            </a:r>
          </a:p>
        </p:txBody>
      </p:sp>
      <p:sp>
        <p:nvSpPr>
          <p:cNvPr id="35" name="">
            <a:extLst xmlns:a="http://schemas.openxmlformats.org/drawingml/2006/main">
              <a:ext uri="{FF2B5EF4-FFF2-40B4-BE49-F238E27FC236}">
                <a16:creationId xmlns:a16="http://schemas.microsoft.com/office/drawing/2014/main" id="{4943A2A3-9921-4209-9755-731B927AC1B7}"/>
              </a:ext>
            </a:extLst>
          </p:cNvPr>
          <p:cNvSpPr>
            <a:spLocks xmlns:a="http://schemas.openxmlformats.org/drawingml/2006/main" noGrp="1"/>
          </p:cNvSpPr>
          <p:nvPr/>
        </p:nvSpPr>
        <p:spPr>
          <a:xfrm xmlns:a="http://schemas.openxmlformats.org/drawingml/2006/main">
            <a:off x="70675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6" name="">
            <a:extLst xmlns:a="http://schemas.openxmlformats.org/drawingml/2006/main">
              <a:ext uri="{FF2B5EF4-FFF2-40B4-BE49-F238E27FC236}">
                <a16:creationId xmlns:a16="http://schemas.microsoft.com/office/drawing/2014/main" id="{1A17664F-8E4B-4DC0-99FA-A1504F138E47}"/>
              </a:ext>
            </a:extLst>
          </p:cNvPr>
          <p:cNvSpPr>
            <a:spLocks xmlns:a="http://schemas.openxmlformats.org/drawingml/2006/main" noGrp="1"/>
          </p:cNvSpPr>
          <p:nvPr/>
        </p:nvSpPr>
        <p:spPr>
          <a:xfrm xmlns:a="http://schemas.openxmlformats.org/drawingml/2006/main">
            <a:off x="70389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case-balanced</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rollout learning</a:t>
            </a:r>
          </a:p>
        </p:txBody>
      </p:sp>
      <p:sp>
        <p:nvSpPr>
          <p:cNvPr id="37" name="">
            <a:extLst xmlns:a="http://schemas.openxmlformats.org/drawingml/2006/main">
              <a:ext uri="{FF2B5EF4-FFF2-40B4-BE49-F238E27FC236}">
                <a16:creationId xmlns:a16="http://schemas.microsoft.com/office/drawing/2014/main" id="{EB36A73D-4268-4238-AE96-F28E0D54C5E3}"/>
              </a:ext>
            </a:extLst>
          </p:cNvPr>
          <p:cNvSpPr>
            <a:spLocks xmlns:a="http://schemas.openxmlformats.org/drawingml/2006/main" noGrp="1"/>
          </p:cNvSpPr>
          <p:nvPr/>
        </p:nvSpPr>
        <p:spPr>
          <a:xfrm xmlns:a="http://schemas.openxmlformats.org/drawingml/2006/main">
            <a:off x="8553450" y="2066925"/>
            <a:ext cx="13716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0289F966-29D7-418C-8FB7-96D5F1FEC60E}"/>
              </a:ext>
            </a:extLst>
          </p:cNvPr>
          <p:cNvSpPr>
            <a:spLocks xmlns:a="http://schemas.openxmlformats.org/drawingml/2006/main" noGrp="1"/>
          </p:cNvSpPr>
          <p:nvPr/>
        </p:nvSpPr>
        <p:spPr>
          <a:xfrm xmlns:a="http://schemas.openxmlformats.org/drawingml/2006/main">
            <a:off x="8553450" y="2066925"/>
            <a:ext cx="1371600" cy="66675"/>
          </a:xfrm>
          <a:prstGeom xmlns:a="http://schemas.openxmlformats.org/drawingml/2006/main" prst="rect">
            <a:avLst/>
          </a:prstGeom>
          <a:solidFill xmlns:a="http://schemas.openxmlformats.org/drawingml/2006/main">
            <a:srgbClr val="007FA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DC10EB6-ADF9-48F6-B37F-41E334F9BF79}"/>
              </a:ext>
            </a:extLst>
          </p:cNvPr>
          <p:cNvSpPr>
            <a:spLocks xmlns:a="http://schemas.openxmlformats.org/drawingml/2006/main" noGrp="1"/>
          </p:cNvSpPr>
          <p:nvPr/>
        </p:nvSpPr>
        <p:spPr>
          <a:xfrm xmlns:a="http://schemas.openxmlformats.org/drawingml/2006/main">
            <a:off x="8639175" y="2276475"/>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007FA8"/>
                </a:solidFill>
                <a:latin typeface="Yu Gothic"/>
                <a:ea typeface="Yu Gothic"/>
                <a:cs typeface="Yu Gothic"/>
              </a:defRPr>
            </a:pPr>
            <a:r>
              <a:rPr sz="1013" b="1" i="0">
                <a:solidFill>
                  <a:srgbClr val="007FA8"/>
                </a:solidFill>
                <a:latin typeface="Yu Gothic"/>
                <a:ea typeface="Yu Gothic"/>
                <a:cs typeface="Yu Gothic"/>
              </a:rPr>
              <a:t>6  evaluate</a:t>
            </a:r>
          </a:p>
        </p:txBody>
      </p:sp>
      <p:sp>
        <p:nvSpPr>
          <p:cNvPr id="40" name="">
            <a:extLst xmlns:a="http://schemas.openxmlformats.org/drawingml/2006/main">
              <a:ext uri="{FF2B5EF4-FFF2-40B4-BE49-F238E27FC236}">
                <a16:creationId xmlns:a16="http://schemas.microsoft.com/office/drawing/2014/main" id="{7994C1B3-74FC-4766-81C5-9059E0B3CBE2}"/>
              </a:ext>
            </a:extLst>
          </p:cNvPr>
          <p:cNvSpPr>
            <a:spLocks xmlns:a="http://schemas.openxmlformats.org/drawingml/2006/main" noGrp="1"/>
          </p:cNvSpPr>
          <p:nvPr/>
        </p:nvSpPr>
        <p:spPr>
          <a:xfrm xmlns:a="http://schemas.openxmlformats.org/drawingml/2006/main">
            <a:off x="8667750" y="2609850"/>
            <a:ext cx="11430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EBC7DE32-ABAF-4E05-9F1F-2A14BB4CECAF}"/>
              </a:ext>
            </a:extLst>
          </p:cNvPr>
          <p:cNvSpPr>
            <a:spLocks xmlns:a="http://schemas.openxmlformats.org/drawingml/2006/main" noGrp="1"/>
          </p:cNvSpPr>
          <p:nvPr/>
        </p:nvSpPr>
        <p:spPr>
          <a:xfrm xmlns:a="http://schemas.openxmlformats.org/drawingml/2006/main">
            <a:off x="8639175" y="2724150"/>
            <a:ext cx="12001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conditional +</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causal holdout</a:t>
            </a:r>
          </a:p>
        </p:txBody>
      </p:sp>
      <p:sp>
        <p:nvSpPr>
          <p:cNvPr id="42" name="">
            <a:extLst xmlns:a="http://schemas.openxmlformats.org/drawingml/2006/main">
              <a:ext uri="{FF2B5EF4-FFF2-40B4-BE49-F238E27FC236}">
                <a16:creationId xmlns:a16="http://schemas.microsoft.com/office/drawing/2014/main" id="{B62413E3-DDD4-4FCD-BC34-AC4DA7B52350}"/>
              </a:ext>
            </a:extLst>
          </p:cNvPr>
          <p:cNvSpPr>
            <a:spLocks xmlns:a="http://schemas.openxmlformats.org/drawingml/2006/main" noGrp="1"/>
          </p:cNvSpPr>
          <p:nvPr/>
        </p:nvSpPr>
        <p:spPr>
          <a:xfrm xmlns:a="http://schemas.openxmlformats.org/drawingml/2006/main">
            <a:off x="10153650" y="2066925"/>
            <a:ext cx="14859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3" name="">
            <a:extLst xmlns:a="http://schemas.openxmlformats.org/drawingml/2006/main">
              <a:ext uri="{FF2B5EF4-FFF2-40B4-BE49-F238E27FC236}">
                <a16:creationId xmlns:a16="http://schemas.microsoft.com/office/drawing/2014/main" id="{DCBA8C5E-623B-4A77-BEE2-BCF6E4AE45E8}"/>
              </a:ext>
            </a:extLst>
          </p:cNvPr>
          <p:cNvSpPr>
            <a:spLocks xmlns:a="http://schemas.openxmlformats.org/drawingml/2006/main" noGrp="1"/>
          </p:cNvSpPr>
          <p:nvPr/>
        </p:nvSpPr>
        <p:spPr>
          <a:xfrm xmlns:a="http://schemas.openxmlformats.org/drawingml/2006/main">
            <a:off x="10153650" y="2066925"/>
            <a:ext cx="1485900" cy="666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7D1E54A8-13C5-491B-B60D-BC89EF8A0F68}"/>
              </a:ext>
            </a:extLst>
          </p:cNvPr>
          <p:cNvSpPr>
            <a:spLocks xmlns:a="http://schemas.openxmlformats.org/drawingml/2006/main" noGrp="1"/>
          </p:cNvSpPr>
          <p:nvPr/>
        </p:nvSpPr>
        <p:spPr>
          <a:xfrm xmlns:a="http://schemas.openxmlformats.org/drawingml/2006/main">
            <a:off x="10239375" y="2276475"/>
            <a:ext cx="1314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013" b="1" i="0">
                <a:solidFill>
                  <a:srgbClr val="201445"/>
                </a:solidFill>
                <a:latin typeface="Yu Gothic"/>
                <a:ea typeface="Yu Gothic"/>
                <a:cs typeface="Yu Gothic"/>
              </a:defRPr>
            </a:pPr>
            <a:r>
              <a:rPr sz="1013" b="1" i="0">
                <a:solidFill>
                  <a:srgbClr val="201445"/>
                </a:solidFill>
                <a:latin typeface="Yu Gothic"/>
                <a:ea typeface="Yu Gothic"/>
                <a:cs typeface="Yu Gothic"/>
              </a:rPr>
              <a:t>7  publish</a:t>
            </a:r>
          </a:p>
        </p:txBody>
      </p:sp>
      <p:sp>
        <p:nvSpPr>
          <p:cNvPr id="45" name="">
            <a:extLst xmlns:a="http://schemas.openxmlformats.org/drawingml/2006/main">
              <a:ext uri="{FF2B5EF4-FFF2-40B4-BE49-F238E27FC236}">
                <a16:creationId xmlns:a16="http://schemas.microsoft.com/office/drawing/2014/main" id="{D753BB39-311B-4BB2-84DA-B78042B7FE75}"/>
              </a:ext>
            </a:extLst>
          </p:cNvPr>
          <p:cNvSpPr>
            <a:spLocks xmlns:a="http://schemas.openxmlformats.org/drawingml/2006/main" noGrp="1"/>
          </p:cNvSpPr>
          <p:nvPr/>
        </p:nvSpPr>
        <p:spPr>
          <a:xfrm xmlns:a="http://schemas.openxmlformats.org/drawingml/2006/main">
            <a:off x="10267950" y="2609850"/>
            <a:ext cx="12573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46" name="">
            <a:extLst xmlns:a="http://schemas.openxmlformats.org/drawingml/2006/main">
              <a:ext uri="{FF2B5EF4-FFF2-40B4-BE49-F238E27FC236}">
                <a16:creationId xmlns:a16="http://schemas.microsoft.com/office/drawing/2014/main" id="{E2C0139B-CD83-415A-A642-E9D9D40A546E}"/>
              </a:ext>
            </a:extLst>
          </p:cNvPr>
          <p:cNvSpPr>
            <a:spLocks xmlns:a="http://schemas.openxmlformats.org/drawingml/2006/main" noGrp="1"/>
          </p:cNvSpPr>
          <p:nvPr/>
        </p:nvSpPr>
        <p:spPr>
          <a:xfrm xmlns:a="http://schemas.openxmlformats.org/drawingml/2006/main">
            <a:off x="10239375" y="2724150"/>
            <a:ext cx="13144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atomic run +</a:t>
            </a:r>
          </a:p>
          <a:p xmlns:a="http://schemas.openxmlformats.org/drawingml/2006/main">
            <a:pPr algn="ctr">
              <a:lnSpc>
                <a:spcPct val="110000"/>
              </a:lnSpc>
              <a:buNone/>
              <a:defRPr sz="810" b="0" i="0">
                <a:solidFill>
                  <a:srgbClr val="5B5B5B"/>
                </a:solidFill>
                <a:latin typeface="Yu Gothic"/>
                <a:ea typeface="Yu Gothic"/>
                <a:cs typeface="Yu Gothic"/>
              </a:defRPr>
            </a:pPr>
            <a:r>
              <a:rPr sz="810" b="0" i="0">
                <a:solidFill>
                  <a:srgbClr val="5B5B5B"/>
                </a:solidFill>
                <a:latin typeface="Yu Gothic"/>
                <a:ea typeface="Yu Gothic"/>
                <a:cs typeface="Yu Gothic"/>
              </a:rPr>
              <a:t>portable artifact</a:t>
            </a:r>
          </a:p>
        </p:txBody>
      </p:sp>
      <p:cxnSp>
        <p:nvCxnSpPr>
          <p:cNvPr id="101" name=""/>
          <p:cNvCxnSpPr>
            <a:stCxn xmlns:a="http://schemas.openxmlformats.org/drawingml/2006/main" id="12" idx="3"/>
            <a:endCxn xmlns:a="http://schemas.openxmlformats.org/drawingml/2006/main" id="17" idx="1"/>
          </p:cNvCxnSpPr>
          <p:nvPr/>
        </p:nvCxnSpPr>
        <p:spPr>
          <a:xfrm xmlns:a="http://schemas.openxmlformats.org/drawingml/2006/main">
            <a:off x="19240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2" name=""/>
          <p:cNvCxnSpPr>
            <a:stCxn xmlns:a="http://schemas.openxmlformats.org/drawingml/2006/main" id="17" idx="3"/>
            <a:endCxn xmlns:a="http://schemas.openxmlformats.org/drawingml/2006/main" id="22" idx="1"/>
          </p:cNvCxnSpPr>
          <p:nvPr/>
        </p:nvCxnSpPr>
        <p:spPr>
          <a:xfrm xmlns:a="http://schemas.openxmlformats.org/drawingml/2006/main">
            <a:off x="35242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3" name=""/>
          <p:cNvCxnSpPr>
            <a:stCxn xmlns:a="http://schemas.openxmlformats.org/drawingml/2006/main" id="22" idx="3"/>
            <a:endCxn xmlns:a="http://schemas.openxmlformats.org/drawingml/2006/main" id="27" idx="1"/>
          </p:cNvCxnSpPr>
          <p:nvPr/>
        </p:nvCxnSpPr>
        <p:spPr>
          <a:xfrm xmlns:a="http://schemas.openxmlformats.org/drawingml/2006/main">
            <a:off x="51244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4" name=""/>
          <p:cNvCxnSpPr>
            <a:stCxn xmlns:a="http://schemas.openxmlformats.org/drawingml/2006/main" id="27" idx="3"/>
            <a:endCxn xmlns:a="http://schemas.openxmlformats.org/drawingml/2006/main" id="32" idx="1"/>
          </p:cNvCxnSpPr>
          <p:nvPr/>
        </p:nvCxnSpPr>
        <p:spPr>
          <a:xfrm xmlns:a="http://schemas.openxmlformats.org/drawingml/2006/main">
            <a:off x="67246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5" name=""/>
          <p:cNvCxnSpPr>
            <a:stCxn xmlns:a="http://schemas.openxmlformats.org/drawingml/2006/main" id="32" idx="3"/>
            <a:endCxn xmlns:a="http://schemas.openxmlformats.org/drawingml/2006/main" id="37" idx="1"/>
          </p:cNvCxnSpPr>
          <p:nvPr/>
        </p:nvCxnSpPr>
        <p:spPr>
          <a:xfrm xmlns:a="http://schemas.openxmlformats.org/drawingml/2006/main">
            <a:off x="83248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cxnSp>
        <p:nvCxnSpPr>
          <p:cNvPr id="106" name=""/>
          <p:cNvCxnSpPr>
            <a:stCxn xmlns:a="http://schemas.openxmlformats.org/drawingml/2006/main" id="37" idx="3"/>
            <a:endCxn xmlns:a="http://schemas.openxmlformats.org/drawingml/2006/main" id="42" idx="1"/>
          </p:cNvCxnSpPr>
          <p:nvPr/>
        </p:nvCxnSpPr>
        <p:spPr>
          <a:xfrm xmlns:a="http://schemas.openxmlformats.org/drawingml/2006/main">
            <a:off x="9925050" y="2757488"/>
            <a:ext cx="228600" cy="0"/>
          </a:xfrm>
          <a:prstGeom xmlns:a="http://schemas.openxmlformats.org/drawingml/2006/main" prst="straightConnector1">
            <a:avLst/>
          </a:prstGeom>
          <a:ln xmlns:a="http://schemas.openxmlformats.org/drawingml/2006/main" w="14288">
            <a:solidFill>
              <a:srgbClr val="007FA8"/>
            </a:solidFill>
            <a:prstDash val="solid"/>
            <a:tailEnd type="triangle" w="sm" len="sm"/>
          </a:ln>
        </p:spPr>
      </p:cxnSp>
      <p:graphicFrame>
        <p:nvGraphicFramePr>
          <p:cNvPr id="107" name=""/>
          <p:cNvGraphicFramePr/>
          <p:nvPr/>
        </p:nvGraphicFramePr>
        <p:xfrm>
          <a:off xmlns:a="http://schemas.openxmlformats.org/drawingml/2006/main" x="552450" y="3752850"/>
          <a:ext xmlns:a="http://schemas.openxmlformats.org/drawingml/2006/main" cx="11087100" cy="2000250"/>
        </p:xfrm>
        <a:graphic xmlns:a="http://schemas.openxmlformats.org/drawingml/2006/main">
          <a:graphicData uri="http://schemas.openxmlformats.org/drawingml/2006/table">
            <a:tbl>
              <a:tblPr/>
              <a:tblGrid>
                <a:gridCol w="2333625"/>
                <a:gridCol w="5095875"/>
                <a:gridCol w="3657600"/>
              </a:tblGrid>
              <a:tr h="400050">
                <a:tc>
                  <a:txBody>
                    <a:bodyPr/>
                    <a:lstStyle/>
                    <a:p>
                      <a:r>
                        <a:rPr sz="938" b="1">
                          <a:solidFill>
                            <a:srgbClr val="FFFFFF"/>
                          </a:solidFill>
                          <a:latin typeface="Yu Gothic"/>
                          <a:ea typeface="Yu Gothic"/>
                          <a:cs typeface="Yu Gothic"/>
                        </a:rPr>
                        <a:t>保存先</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主な内容</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用途</a:t>
                      </a:r>
                    </a:p>
                  </a:txBody>
                  <a:tcPr marL="91440" marR="91440" marT="45720" marB="45720">
                    <a:solidFill>
                      <a:srgbClr val="00A5D8"/>
                    </a:solidFill>
                  </a:tcPr>
                </a:tc>
              </a:tr>
              <a:tr h="400050">
                <a:tc>
                  <a:txBody>
                    <a:bodyPr/>
                    <a:lstStyle/>
                    <a:p>
                      <a:r>
                        <a:rPr sz="878" b="1">
                          <a:solidFill>
                            <a:srgbClr val="007FA8"/>
                          </a:solidFill>
                          <a:latin typeface="Yu Gothic"/>
                          <a:ea typeface="Yu Gothic"/>
                          <a:cs typeface="Yu Gothic"/>
                        </a:rPr>
                        <a:t>run root</a:t>
                      </a:r>
                    </a:p>
                  </a:txBody>
                  <a:tcPr marL="91440" marR="91440" marT="45720" marB="45720">
                    <a:solidFill>
                      <a:srgbClr val="FFFFFF"/>
                    </a:solidFill>
                  </a:tcPr>
                </a:tc>
                <a:tc>
                  <a:txBody>
                    <a:bodyPr/>
                    <a:lstStyle/>
                    <a:p>
                      <a:r>
                        <a:rPr sz="878">
                          <a:solidFill>
                            <a:srgbClr val="5B5B5B"/>
                          </a:solidFill>
                          <a:latin typeface="Yu Gothic"/>
                          <a:ea typeface="Yu Gothic"/>
                          <a:cs typeface="Yu Gothic"/>
                        </a:rPr>
                        <a:t>metrics_by_case/sensor, metrics_summary, training_history</a:t>
                      </a:r>
                    </a:p>
                  </a:txBody>
                  <a:tcPr marL="91440" marR="91440" marT="45720" marB="45720">
                    <a:solidFill>
                      <a:srgbClr val="FFFFFF"/>
                    </a:solidFill>
                  </a:tcPr>
                </a:tc>
                <a:tc>
                  <a:txBody>
                    <a:bodyPr/>
                    <a:lstStyle/>
                    <a:p>
                      <a:r>
                        <a:rPr sz="878">
                          <a:solidFill>
                            <a:srgbClr val="5B5B5B"/>
                          </a:solidFill>
                          <a:latin typeface="Yu Gothic"/>
                          <a:ea typeface="Yu Gothic"/>
                          <a:cs typeface="Yu Gothic"/>
                        </a:rPr>
                        <a:t>性能・収束・worst case監査</a:t>
                      </a:r>
                    </a:p>
                  </a:txBody>
                  <a:tcPr marL="91440" marR="91440" marT="45720" marB="45720">
                    <a:solidFill>
                      <a:srgbClr val="FFFFFF"/>
                    </a:solidFill>
                  </a:tcPr>
                </a:tc>
              </a:tr>
              <a:tr h="400050">
                <a:tc>
                  <a:txBody>
                    <a:bodyPr/>
                    <a:lstStyle/>
                    <a:p>
                      <a:r>
                        <a:rPr sz="878" b="1">
                          <a:solidFill>
                            <a:srgbClr val="007FA8"/>
                          </a:solidFill>
                          <a:latin typeface="Yu Gothic"/>
                          <a:ea typeface="Yu Gothic"/>
                          <a:cs typeface="Yu Gothic"/>
                        </a:rPr>
                        <a:t>split / data summary</a:t>
                      </a:r>
                    </a:p>
                  </a:txBody>
                  <a:tcPr marL="91440" marR="91440" marT="45720" marB="45720">
                    <a:solidFill>
                      <a:srgbClr val="F8F8F8"/>
                    </a:solidFill>
                  </a:tcPr>
                </a:tc>
                <a:tc>
                  <a:txBody>
                    <a:bodyPr/>
                    <a:lstStyle/>
                    <a:p>
                      <a:r>
                        <a:rPr sz="878">
                          <a:solidFill>
                            <a:srgbClr val="5B5B5B"/>
                          </a:solidFill>
                          <a:latin typeface="Yu Gothic"/>
                          <a:ea typeface="Yu Gothic"/>
                          <a:cs typeface="Yu Gothic"/>
                        </a:rPr>
                        <a:t>split.csv, data_summary.csv, config.snapshot.yaml</a:t>
                      </a:r>
                    </a:p>
                  </a:txBody>
                  <a:tcPr marL="91440" marR="91440" marT="45720" marB="45720">
                    <a:solidFill>
                      <a:srgbClr val="F8F8F8"/>
                    </a:solidFill>
                  </a:tcPr>
                </a:tc>
                <a:tc>
                  <a:txBody>
                    <a:bodyPr/>
                    <a:lstStyle/>
                    <a:p>
                      <a:r>
                        <a:rPr sz="878">
                          <a:solidFill>
                            <a:srgbClr val="5B5B5B"/>
                          </a:solidFill>
                          <a:latin typeface="Yu Gothic"/>
                          <a:ea typeface="Yu Gothic"/>
                          <a:cs typeface="Yu Gothic"/>
                        </a:rPr>
                        <a:t>データ境界と設定再現</a:t>
                      </a:r>
                    </a:p>
                  </a:txBody>
                  <a:tcPr marL="91440" marR="91440" marT="45720" marB="45720">
                    <a:solidFill>
                      <a:srgbClr val="F8F8F8"/>
                    </a:solidFill>
                  </a:tcPr>
                </a:tc>
              </a:tr>
              <a:tr h="400050">
                <a:tc>
                  <a:txBody>
                    <a:bodyPr/>
                    <a:lstStyle/>
                    <a:p>
                      <a:r>
                        <a:rPr sz="878" b="1">
                          <a:solidFill>
                            <a:srgbClr val="007FA8"/>
                          </a:solidFill>
                          <a:latin typeface="Yu Gothic"/>
                          <a:ea typeface="Yu Gothic"/>
                          <a:cs typeface="Yu Gothic"/>
                        </a:rPr>
                        <a:t>test_predictions/</a:t>
                      </a:r>
                    </a:p>
                  </a:txBody>
                  <a:tcPr marL="91440" marR="91440" marT="45720" marB="45720">
                    <a:solidFill>
                      <a:srgbClr val="FFFFFF"/>
                    </a:solidFill>
                  </a:tcPr>
                </a:tc>
                <a:tc>
                  <a:txBody>
                    <a:bodyPr/>
                    <a:lstStyle/>
                    <a:p>
                      <a:r>
                        <a:rPr sz="878">
                          <a:solidFill>
                            <a:srgbClr val="5B5B5B"/>
                          </a:solidFill>
                          <a:latin typeface="Yu Gothic"/>
                          <a:ea typeface="Yu Gothic"/>
                          <a:cs typeface="Yu Gothic"/>
                        </a:rPr>
                        <a:t>held-out observed / predicted / residual</a:t>
                      </a:r>
                    </a:p>
                  </a:txBody>
                  <a:tcPr marL="91440" marR="91440" marT="45720" marB="45720">
                    <a:solidFill>
                      <a:srgbClr val="FFFFFF"/>
                    </a:solidFill>
                  </a:tcPr>
                </a:tc>
                <a:tc>
                  <a:txBody>
                    <a:bodyPr/>
                    <a:lstStyle/>
                    <a:p>
                      <a:r>
                        <a:rPr sz="878">
                          <a:solidFill>
                            <a:srgbClr val="5B5B5B"/>
                          </a:solidFill>
                          <a:latin typeface="Yu Gothic"/>
                          <a:ea typeface="Yu Gothic"/>
                          <a:cs typeface="Yu Gothic"/>
                        </a:rPr>
                        <a:t>再描画・残差診断</a:t>
                      </a:r>
                    </a:p>
                  </a:txBody>
                  <a:tcPr marL="91440" marR="91440" marT="45720" marB="45720">
                    <a:solidFill>
                      <a:srgbClr val="FFFFFF"/>
                    </a:solidFill>
                  </a:tcPr>
                </a:tc>
              </a:tr>
              <a:tr h="400050">
                <a:tc>
                  <a:txBody>
                    <a:bodyPr/>
                    <a:lstStyle/>
                    <a:p>
                      <a:r>
                        <a:rPr sz="878" b="1">
                          <a:solidFill>
                            <a:srgbClr val="007FA8"/>
                          </a:solidFill>
                          <a:latin typeface="Yu Gothic"/>
                          <a:ea typeface="Yu Gothic"/>
                          <a:cs typeface="Yu Gothic"/>
                        </a:rPr>
                        <a:t>artifact/</a:t>
                      </a:r>
                    </a:p>
                  </a:txBody>
                  <a:tcPr marL="91440" marR="91440" marT="45720" marB="45720">
                    <a:solidFill>
                      <a:srgbClr val="F8F8F8"/>
                    </a:solidFill>
                  </a:tcPr>
                </a:tc>
                <a:tc>
                  <a:txBody>
                    <a:bodyPr/>
                    <a:lstStyle/>
                    <a:p>
                      <a:r>
                        <a:rPr sz="878">
                          <a:solidFill>
                            <a:srgbClr val="5B5B5B"/>
                          </a:solidFill>
                          <a:latin typeface="Yu Gothic"/>
                          <a:ea typeface="Yu Gothic"/>
                          <a:cs typeface="Yu Gothic"/>
                        </a:rPr>
                        <a:t>model.pt, system.yaml, metadata.json</a:t>
                      </a:r>
                    </a:p>
                  </a:txBody>
                  <a:tcPr marL="91440" marR="91440" marT="45720" marB="45720">
                    <a:solidFill>
                      <a:srgbClr val="F8F8F8"/>
                    </a:solidFill>
                  </a:tcPr>
                </a:tc>
                <a:tc>
                  <a:txBody>
                    <a:bodyPr/>
                    <a:lstStyle/>
                    <a:p>
                      <a:r>
                        <a:rPr sz="878">
                          <a:solidFill>
                            <a:srgbClr val="5B5B5B"/>
                          </a:solidFill>
                          <a:latin typeface="Yu Gothic"/>
                          <a:ea typeface="Yu Gothic"/>
                          <a:cs typeface="Yu Gothic"/>
                        </a:rPr>
                        <a:t>forecast / monitorへ配備</a:t>
                      </a:r>
                    </a:p>
                  </a:txBody>
                  <a:tcPr marL="91440" marR="91440" marT="45720" marB="45720">
                    <a:solidFill>
                      <a:srgbClr val="F8F8F8"/>
                    </a:solidFill>
                  </a:tcPr>
                </a:tc>
              </a:tr>
            </a:tbl>
          </a:graphicData>
        </a:graphic>
      </p:graphicFrame>
      <p:sp>
        <p:nvSpPr>
          <p:cNvPr id="54" name="">
            <a:extLst xmlns:a="http://schemas.openxmlformats.org/drawingml/2006/main">
              <a:ext uri="{FF2B5EF4-FFF2-40B4-BE49-F238E27FC236}">
                <a16:creationId xmlns:a16="http://schemas.microsoft.com/office/drawing/2014/main" id="{FF3FCC61-5A3E-4C4B-923E-5CC48DC81D20}"/>
              </a:ext>
            </a:extLst>
          </p:cNvPr>
          <p:cNvSpPr>
            <a:spLocks xmlns:a="http://schemas.openxmlformats.org/drawingml/2006/main" noGrp="1"/>
          </p:cNvSpPr>
          <p:nvPr/>
        </p:nvSpPr>
        <p:spPr>
          <a:xfrm xmlns:a="http://schemas.openxmlformats.org/drawingml/2006/main">
            <a:off x="552450" y="5934075"/>
            <a:ext cx="110871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15" b="1" i="0">
                <a:solidFill>
                  <a:srgbClr val="4D8710"/>
                </a:solidFill>
                <a:latin typeface="Yu Gothic"/>
                <a:ea typeface="Yu Gothic"/>
                <a:cs typeface="Yu Gothic"/>
              </a:defRPr>
            </a:pPr>
            <a:r>
              <a:rPr sz="915" b="1" i="0">
                <a:solidFill>
                  <a:srgbClr val="4D8710"/>
                </a:solidFill>
                <a:latin typeface="Yu Gothic"/>
                <a:ea typeface="Yu Gothic"/>
                <a:cs typeface="Yu Gothic"/>
              </a:rPr>
              <a:t>公開済みartifactだけをruntimeへ渡し、学習用profile stateやoptimizer stateは配備しない。</a:t>
            </a:r>
          </a:p>
        </p:txBody>
      </p:sp>
    </p:spTree>
    <p:extLst>
      <p:ext uri="{BB962C8B-B14F-4D97-AF65-F5344CB8AC3E}">
        <p14:creationId xmlns:p14="http://schemas.microsoft.com/office/powerpoint/2010/main" val="187964953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1D04391E-6999-4844-805D-4FAF90D08B13}"/>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7438F38-A28E-4749-BDE2-DD9A938F678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CAUSAL FORECAST</a:t>
            </a:r>
          </a:p>
        </p:txBody>
      </p:sp>
      <p:sp>
        <p:nvSpPr>
          <p:cNvPr id="3" name="">
            <a:extLst xmlns:a="http://schemas.openxmlformats.org/drawingml/2006/main">
              <a:ext uri="{FF2B5EF4-FFF2-40B4-BE49-F238E27FC236}">
                <a16:creationId xmlns:a16="http://schemas.microsoft.com/office/drawing/2014/main" id="{5D90180F-49B6-4E2A-B2A7-E8F907E70597}"/>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予測開始時刻Hまでだけを同化し、その後は入力suffixで開ループ予測する</a:t>
            </a:r>
          </a:p>
        </p:txBody>
      </p:sp>
      <p:sp>
        <p:nvSpPr>
          <p:cNvPr id="4" name="">
            <a:extLst xmlns:a="http://schemas.openxmlformats.org/drawingml/2006/main">
              <a:ext uri="{FF2B5EF4-FFF2-40B4-BE49-F238E27FC236}">
                <a16:creationId xmlns:a16="http://schemas.microsoft.com/office/drawing/2014/main" id="{DEEF0422-C577-497E-904D-647794001182}"/>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未来観測を初期状態推定へ混入させないことを、workflowのデータ契約として固定する</a:t>
            </a:r>
          </a:p>
        </p:txBody>
      </p:sp>
      <p:sp>
        <p:nvSpPr>
          <p:cNvPr id="5" name="">
            <a:extLst xmlns:a="http://schemas.openxmlformats.org/drawingml/2006/main">
              <a:ext uri="{FF2B5EF4-FFF2-40B4-BE49-F238E27FC236}">
                <a16:creationId xmlns:a16="http://schemas.microsoft.com/office/drawing/2014/main" id="{D272C637-9FBF-4013-A854-C6E28F4E587D}"/>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4D928C3F-7A47-4D73-B070-2D39EAF039D8}"/>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357B505-52DC-4C62-B225-0E4FBAF73547}"/>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C84CDA44-A6FA-4BB6-AF30-72163B40AB29}"/>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19</a:t>
            </a:r>
          </a:p>
        </p:txBody>
      </p:sp>
      <p:sp>
        <p:nvSpPr>
          <p:cNvPr id="9" name="">
            <a:extLst xmlns:a="http://schemas.openxmlformats.org/drawingml/2006/main">
              <a:ext uri="{FF2B5EF4-FFF2-40B4-BE49-F238E27FC236}">
                <a16:creationId xmlns:a16="http://schemas.microsoft.com/office/drawing/2014/main" id="{256D550D-7FEC-4196-902D-118AF7207F3C}"/>
              </a:ext>
            </a:extLst>
          </p:cNvPr>
          <p:cNvSpPr>
            <a:spLocks xmlns:a="http://schemas.openxmlformats.org/drawingml/2006/main" noGrp="1"/>
          </p:cNvSpPr>
          <p:nvPr/>
        </p:nvSpPr>
        <p:spPr>
          <a:xfrm xmlns:a="http://schemas.openxmlformats.org/drawingml/2006/main">
            <a:off x="5524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19AAAED1-2AAB-4268-AFA9-C5983A04F941}"/>
              </a:ext>
            </a:extLst>
          </p:cNvPr>
          <p:cNvSpPr>
            <a:spLocks xmlns:a="http://schemas.openxmlformats.org/drawingml/2006/main" noGrp="1"/>
          </p:cNvSpPr>
          <p:nvPr/>
        </p:nvSpPr>
        <p:spPr>
          <a:xfrm xmlns:a="http://schemas.openxmlformats.org/drawingml/2006/main">
            <a:off x="552450" y="1743075"/>
            <a:ext cx="209550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EFC186-64F1-4898-AD5A-100289F17A92}"/>
              </a:ext>
            </a:extLst>
          </p:cNvPr>
          <p:cNvSpPr>
            <a:spLocks xmlns:a="http://schemas.openxmlformats.org/drawingml/2006/main" noGrp="1"/>
          </p:cNvSpPr>
          <p:nvPr/>
        </p:nvSpPr>
        <p:spPr>
          <a:xfrm xmlns:a="http://schemas.openxmlformats.org/drawingml/2006/main">
            <a:off x="7239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00A5D8"/>
                </a:solidFill>
                <a:latin typeface="Yu Gothic"/>
                <a:ea typeface="Yu Gothic"/>
                <a:cs typeface="Yu Gothic"/>
              </a:defRPr>
            </a:pPr>
            <a:r>
              <a:rPr sz="1350" b="1" i="0">
                <a:solidFill>
                  <a:srgbClr val="00A5D8"/>
                </a:solidFill>
                <a:latin typeface="Yu Gothic"/>
                <a:ea typeface="Yu Gothic"/>
                <a:cs typeface="Yu Gothic"/>
              </a:rPr>
              <a:t>history</a:t>
            </a:r>
          </a:p>
        </p:txBody>
      </p:sp>
      <p:sp>
        <p:nvSpPr>
          <p:cNvPr id="12" name="">
            <a:extLst xmlns:a="http://schemas.openxmlformats.org/drawingml/2006/main">
              <a:ext uri="{FF2B5EF4-FFF2-40B4-BE49-F238E27FC236}">
                <a16:creationId xmlns:a16="http://schemas.microsoft.com/office/drawing/2014/main" id="{1CA3ACE6-CC3D-4D6E-B69D-04B9F210B8D5}"/>
              </a:ext>
            </a:extLst>
          </p:cNvPr>
          <p:cNvSpPr>
            <a:spLocks xmlns:a="http://schemas.openxmlformats.org/drawingml/2006/main" noGrp="1"/>
          </p:cNvSpPr>
          <p:nvPr/>
        </p:nvSpPr>
        <p:spPr>
          <a:xfrm xmlns:a="http://schemas.openxmlformats.org/drawingml/2006/main">
            <a:off x="7239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 ≤ H</a:t>
            </a:r>
          </a:p>
        </p:txBody>
      </p:sp>
      <p:sp>
        <p:nvSpPr>
          <p:cNvPr id="13" name="">
            <a:extLst xmlns:a="http://schemas.openxmlformats.org/drawingml/2006/main">
              <a:ext uri="{FF2B5EF4-FFF2-40B4-BE49-F238E27FC236}">
                <a16:creationId xmlns:a16="http://schemas.microsoft.com/office/drawing/2014/main" id="{E6342093-33AF-4143-A170-6F90DC32DB62}"/>
              </a:ext>
            </a:extLst>
          </p:cNvPr>
          <p:cNvSpPr>
            <a:spLocks xmlns:a="http://schemas.openxmlformats.org/drawingml/2006/main" noGrp="1"/>
          </p:cNvSpPr>
          <p:nvPr/>
        </p:nvSpPr>
        <p:spPr>
          <a:xfrm xmlns:a="http://schemas.openxmlformats.org/drawingml/2006/main">
            <a:off x="7239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38684E39-CF4F-48E5-887B-6A8075D20928}"/>
              </a:ext>
            </a:extLst>
          </p:cNvPr>
          <p:cNvSpPr>
            <a:spLocks xmlns:a="http://schemas.openxmlformats.org/drawingml/2006/main" noGrp="1"/>
          </p:cNvSpPr>
          <p:nvPr/>
        </p:nvSpPr>
        <p:spPr>
          <a:xfrm xmlns:a="http://schemas.openxmlformats.org/drawingml/2006/main">
            <a:off x="7239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6618"/>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temperature</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controls</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mask</a:t>
            </a:r>
          </a:p>
        </p:txBody>
      </p:sp>
      <p:sp>
        <p:nvSpPr>
          <p:cNvPr id="15" name="">
            <a:extLst xmlns:a="http://schemas.openxmlformats.org/drawingml/2006/main">
              <a:ext uri="{FF2B5EF4-FFF2-40B4-BE49-F238E27FC236}">
                <a16:creationId xmlns:a16="http://schemas.microsoft.com/office/drawing/2014/main" id="{3A491868-2EB3-4E80-A7DE-24CC41CA6D2B}"/>
              </a:ext>
            </a:extLst>
          </p:cNvPr>
          <p:cNvSpPr>
            <a:spLocks xmlns:a="http://schemas.openxmlformats.org/drawingml/2006/main" noGrp="1"/>
          </p:cNvSpPr>
          <p:nvPr/>
        </p:nvSpPr>
        <p:spPr>
          <a:xfrm xmlns:a="http://schemas.openxmlformats.org/drawingml/2006/main">
            <a:off x="31051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4EB5256B-D59D-45CD-886F-12DF43D37648}"/>
              </a:ext>
            </a:extLst>
          </p:cNvPr>
          <p:cNvSpPr>
            <a:spLocks xmlns:a="http://schemas.openxmlformats.org/drawingml/2006/main" noGrp="1"/>
          </p:cNvSpPr>
          <p:nvPr/>
        </p:nvSpPr>
        <p:spPr>
          <a:xfrm xmlns:a="http://schemas.openxmlformats.org/drawingml/2006/main">
            <a:off x="3105150" y="1743075"/>
            <a:ext cx="209550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339BD58-01DE-4024-813A-73D4FB15F98D}"/>
              </a:ext>
            </a:extLst>
          </p:cNvPr>
          <p:cNvSpPr>
            <a:spLocks xmlns:a="http://schemas.openxmlformats.org/drawingml/2006/main" noGrp="1"/>
          </p:cNvSpPr>
          <p:nvPr/>
        </p:nvSpPr>
        <p:spPr>
          <a:xfrm xmlns:a="http://schemas.openxmlformats.org/drawingml/2006/main">
            <a:off x="32766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6BE18"/>
                </a:solidFill>
                <a:latin typeface="Yu Gothic"/>
                <a:ea typeface="Yu Gothic"/>
                <a:cs typeface="Yu Gothic"/>
              </a:defRPr>
            </a:pPr>
            <a:r>
              <a:rPr sz="1350" b="1" i="0">
                <a:solidFill>
                  <a:srgbClr val="76BE18"/>
                </a:solidFill>
                <a:latin typeface="Yu Gothic"/>
                <a:ea typeface="Yu Gothic"/>
                <a:cs typeface="Yu Gothic"/>
              </a:rPr>
              <a:t>state assimilation</a:t>
            </a:r>
          </a:p>
        </p:txBody>
      </p:sp>
      <p:sp>
        <p:nvSpPr>
          <p:cNvPr id="18" name="">
            <a:extLst xmlns:a="http://schemas.openxmlformats.org/drawingml/2006/main">
              <a:ext uri="{FF2B5EF4-FFF2-40B4-BE49-F238E27FC236}">
                <a16:creationId xmlns:a16="http://schemas.microsoft.com/office/drawing/2014/main" id="{1C887DA2-4091-4F23-A525-F663AD810491}"/>
              </a:ext>
            </a:extLst>
          </p:cNvPr>
          <p:cNvSpPr>
            <a:spLocks xmlns:a="http://schemas.openxmlformats.org/drawingml/2006/main" noGrp="1"/>
          </p:cNvSpPr>
          <p:nvPr/>
        </p:nvSpPr>
        <p:spPr>
          <a:xfrm xmlns:a="http://schemas.openxmlformats.org/drawingml/2006/main">
            <a:off x="32766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posterior at H</a:t>
            </a:r>
          </a:p>
        </p:txBody>
      </p:sp>
      <p:sp>
        <p:nvSpPr>
          <p:cNvPr id="19" name="">
            <a:extLst xmlns:a="http://schemas.openxmlformats.org/drawingml/2006/main">
              <a:ext uri="{FF2B5EF4-FFF2-40B4-BE49-F238E27FC236}">
                <a16:creationId xmlns:a16="http://schemas.microsoft.com/office/drawing/2014/main" id="{2A06C614-A493-4915-8993-C2E5C3CCE724}"/>
              </a:ext>
            </a:extLst>
          </p:cNvPr>
          <p:cNvSpPr>
            <a:spLocks xmlns:a="http://schemas.openxmlformats.org/drawingml/2006/main" noGrp="1"/>
          </p:cNvSpPr>
          <p:nvPr/>
        </p:nvSpPr>
        <p:spPr>
          <a:xfrm xmlns:a="http://schemas.openxmlformats.org/drawingml/2006/main">
            <a:off x="32766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E4D197AE-4604-44BF-A40A-1EE1BED3F955}"/>
              </a:ext>
            </a:extLst>
          </p:cNvPr>
          <p:cNvSpPr>
            <a:spLocks xmlns:a="http://schemas.openxmlformats.org/drawingml/2006/main" noGrp="1"/>
          </p:cNvSpPr>
          <p:nvPr/>
        </p:nvSpPr>
        <p:spPr>
          <a:xfrm xmlns:a="http://schemas.openxmlformats.org/drawingml/2006/main">
            <a:off x="32766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state mean at H</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covariance P(H)</a:t>
            </a:r>
          </a:p>
        </p:txBody>
      </p:sp>
      <p:sp>
        <p:nvSpPr>
          <p:cNvPr id="21" name="">
            <a:extLst xmlns:a="http://schemas.openxmlformats.org/drawingml/2006/main">
              <a:ext uri="{FF2B5EF4-FFF2-40B4-BE49-F238E27FC236}">
                <a16:creationId xmlns:a16="http://schemas.microsoft.com/office/drawing/2014/main" id="{3DF15440-D62C-4822-AD70-8B8212A615EA}"/>
              </a:ext>
            </a:extLst>
          </p:cNvPr>
          <p:cNvSpPr>
            <a:spLocks xmlns:a="http://schemas.openxmlformats.org/drawingml/2006/main" noGrp="1"/>
          </p:cNvSpPr>
          <p:nvPr/>
        </p:nvSpPr>
        <p:spPr>
          <a:xfrm xmlns:a="http://schemas.openxmlformats.org/drawingml/2006/main">
            <a:off x="5657850" y="1743075"/>
            <a:ext cx="20955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C67F1C68-AFFA-4F3F-A360-83C6E15AE944}"/>
              </a:ext>
            </a:extLst>
          </p:cNvPr>
          <p:cNvSpPr>
            <a:spLocks xmlns:a="http://schemas.openxmlformats.org/drawingml/2006/main" noGrp="1"/>
          </p:cNvSpPr>
          <p:nvPr/>
        </p:nvSpPr>
        <p:spPr>
          <a:xfrm xmlns:a="http://schemas.openxmlformats.org/drawingml/2006/main">
            <a:off x="5657850" y="1743075"/>
            <a:ext cx="209550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EFB6AAB-FEF7-41AB-A180-3D0C0BD9A054}"/>
              </a:ext>
            </a:extLst>
          </p:cNvPr>
          <p:cNvSpPr>
            <a:spLocks xmlns:a="http://schemas.openxmlformats.org/drawingml/2006/main" noGrp="1"/>
          </p:cNvSpPr>
          <p:nvPr/>
        </p:nvSpPr>
        <p:spPr>
          <a:xfrm xmlns:a="http://schemas.openxmlformats.org/drawingml/2006/main">
            <a:off x="5829300" y="1990725"/>
            <a:ext cx="1752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7B2DAF"/>
                </a:solidFill>
                <a:latin typeface="Yu Gothic"/>
                <a:ea typeface="Yu Gothic"/>
                <a:cs typeface="Yu Gothic"/>
              </a:defRPr>
            </a:pPr>
            <a:r>
              <a:rPr sz="1350" b="1" i="0">
                <a:solidFill>
                  <a:srgbClr val="7B2DAF"/>
                </a:solidFill>
                <a:latin typeface="Yu Gothic"/>
                <a:ea typeface="Yu Gothic"/>
                <a:cs typeface="Yu Gothic"/>
              </a:rPr>
              <a:t>open-loop rollout</a:t>
            </a:r>
          </a:p>
        </p:txBody>
      </p:sp>
      <p:sp>
        <p:nvSpPr>
          <p:cNvPr id="24" name="">
            <a:extLst xmlns:a="http://schemas.openxmlformats.org/drawingml/2006/main">
              <a:ext uri="{FF2B5EF4-FFF2-40B4-BE49-F238E27FC236}">
                <a16:creationId xmlns:a16="http://schemas.microsoft.com/office/drawing/2014/main" id="{1AE76F4D-BFFA-4AD4-9708-6DE7910544D1}"/>
              </a:ext>
            </a:extLst>
          </p:cNvPr>
          <p:cNvSpPr>
            <a:spLocks xmlns:a="http://schemas.openxmlformats.org/drawingml/2006/main" noGrp="1"/>
          </p:cNvSpPr>
          <p:nvPr/>
        </p:nvSpPr>
        <p:spPr>
          <a:xfrm xmlns:a="http://schemas.openxmlformats.org/drawingml/2006/main">
            <a:off x="5829300" y="23241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 &gt; H</a:t>
            </a:r>
          </a:p>
        </p:txBody>
      </p:sp>
      <p:sp>
        <p:nvSpPr>
          <p:cNvPr id="25" name="">
            <a:extLst xmlns:a="http://schemas.openxmlformats.org/drawingml/2006/main">
              <a:ext uri="{FF2B5EF4-FFF2-40B4-BE49-F238E27FC236}">
                <a16:creationId xmlns:a16="http://schemas.microsoft.com/office/drawing/2014/main" id="{EEE6F9DD-D278-4CFA-8976-9BEE9E820218}"/>
              </a:ext>
            </a:extLst>
          </p:cNvPr>
          <p:cNvSpPr>
            <a:spLocks xmlns:a="http://schemas.openxmlformats.org/drawingml/2006/main" noGrp="1"/>
          </p:cNvSpPr>
          <p:nvPr/>
        </p:nvSpPr>
        <p:spPr>
          <a:xfrm xmlns:a="http://schemas.openxmlformats.org/drawingml/2006/main">
            <a:off x="5829300" y="2638425"/>
            <a:ext cx="17526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D15FCB0D-13E8-408F-962D-3CE8FD669EC5}"/>
              </a:ext>
            </a:extLst>
          </p:cNvPr>
          <p:cNvSpPr>
            <a:spLocks xmlns:a="http://schemas.openxmlformats.org/drawingml/2006/main" noGrp="1"/>
          </p:cNvSpPr>
          <p:nvPr/>
        </p:nvSpPr>
        <p:spPr>
          <a:xfrm xmlns:a="http://schemas.openxmlformats.org/drawingml/2006/main">
            <a:off x="5829300" y="2790825"/>
            <a:ext cx="1752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known/planned inputs</a:t>
            </a:r>
          </a:p>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no future y</a:t>
            </a:r>
          </a:p>
        </p:txBody>
      </p:sp>
      <p:sp>
        <p:nvSpPr>
          <p:cNvPr id="27" name="">
            <a:extLst xmlns:a="http://schemas.openxmlformats.org/drawingml/2006/main">
              <a:ext uri="{FF2B5EF4-FFF2-40B4-BE49-F238E27FC236}">
                <a16:creationId xmlns:a16="http://schemas.microsoft.com/office/drawing/2014/main" id="{8D1847C8-2CF6-4BE7-92B9-70142AB53977}"/>
              </a:ext>
            </a:extLst>
          </p:cNvPr>
          <p:cNvSpPr>
            <a:spLocks xmlns:a="http://schemas.openxmlformats.org/drawingml/2006/main" noGrp="1"/>
          </p:cNvSpPr>
          <p:nvPr/>
        </p:nvSpPr>
        <p:spPr>
          <a:xfrm xmlns:a="http://schemas.openxmlformats.org/drawingml/2006/main">
            <a:off x="8210550" y="1743075"/>
            <a:ext cx="34290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177E3C9A-4184-4762-B732-5CA7B0508B96}"/>
              </a:ext>
            </a:extLst>
          </p:cNvPr>
          <p:cNvSpPr>
            <a:spLocks xmlns:a="http://schemas.openxmlformats.org/drawingml/2006/main" noGrp="1"/>
          </p:cNvSpPr>
          <p:nvPr/>
        </p:nvSpPr>
        <p:spPr>
          <a:xfrm xmlns:a="http://schemas.openxmlformats.org/drawingml/2006/main">
            <a:off x="8210550" y="1743075"/>
            <a:ext cx="342900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79A75C7-0269-4DEE-8495-90D4460221A6}"/>
              </a:ext>
            </a:extLst>
          </p:cNvPr>
          <p:cNvSpPr>
            <a:spLocks xmlns:a="http://schemas.openxmlformats.org/drawingml/2006/main" noGrp="1"/>
          </p:cNvSpPr>
          <p:nvPr/>
        </p:nvSpPr>
        <p:spPr>
          <a:xfrm xmlns:a="http://schemas.openxmlformats.org/drawingml/2006/main">
            <a:off x="8382000" y="1990725"/>
            <a:ext cx="3086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E5A900"/>
                </a:solidFill>
                <a:latin typeface="Yu Gothic"/>
                <a:ea typeface="Yu Gothic"/>
                <a:cs typeface="Yu Gothic"/>
              </a:defRPr>
            </a:pPr>
            <a:r>
              <a:rPr sz="1350" b="1" i="0">
                <a:solidFill>
                  <a:srgbClr val="E5A900"/>
                </a:solidFill>
                <a:latin typeface="Yu Gothic"/>
                <a:ea typeface="Yu Gothic"/>
                <a:cs typeface="Yu Gothic"/>
              </a:rPr>
              <a:t>forecast product</a:t>
            </a:r>
          </a:p>
        </p:txBody>
      </p:sp>
      <p:sp>
        <p:nvSpPr>
          <p:cNvPr id="30" name="">
            <a:extLst xmlns:a="http://schemas.openxmlformats.org/drawingml/2006/main">
              <a:ext uri="{FF2B5EF4-FFF2-40B4-BE49-F238E27FC236}">
                <a16:creationId xmlns:a16="http://schemas.microsoft.com/office/drawing/2014/main" id="{2BD404DE-CF0F-4663-B24E-1DDB14D645C4}"/>
              </a:ext>
            </a:extLst>
          </p:cNvPr>
          <p:cNvSpPr>
            <a:spLocks xmlns:a="http://schemas.openxmlformats.org/drawingml/2006/main" noGrp="1"/>
          </p:cNvSpPr>
          <p:nvPr/>
        </p:nvSpPr>
        <p:spPr>
          <a:xfrm xmlns:a="http://schemas.openxmlformats.org/drawingml/2006/main">
            <a:off x="8382000" y="232410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777777"/>
                </a:solidFill>
                <a:latin typeface="Yu Gothic"/>
                <a:ea typeface="Yu Gothic"/>
                <a:cs typeface="Yu Gothic"/>
              </a:defRPr>
            </a:pPr>
            <a:r>
              <a:rPr sz="825" b="1" i="0">
                <a:solidFill>
                  <a:srgbClr val="777777"/>
                </a:solidFill>
                <a:latin typeface="Yu Gothic"/>
                <a:ea typeface="Yu Gothic"/>
                <a:cs typeface="Yu Gothic"/>
              </a:rPr>
              <a:t>temperature + uncertainty</a:t>
            </a:r>
          </a:p>
        </p:txBody>
      </p:sp>
      <p:sp>
        <p:nvSpPr>
          <p:cNvPr id="31" name="">
            <a:extLst xmlns:a="http://schemas.openxmlformats.org/drawingml/2006/main">
              <a:ext uri="{FF2B5EF4-FFF2-40B4-BE49-F238E27FC236}">
                <a16:creationId xmlns:a16="http://schemas.microsoft.com/office/drawing/2014/main" id="{A0916ECB-7149-45EA-9AB5-8B6FA182CC1A}"/>
              </a:ext>
            </a:extLst>
          </p:cNvPr>
          <p:cNvSpPr>
            <a:spLocks xmlns:a="http://schemas.openxmlformats.org/drawingml/2006/main" noGrp="1"/>
          </p:cNvSpPr>
          <p:nvPr/>
        </p:nvSpPr>
        <p:spPr>
          <a:xfrm xmlns:a="http://schemas.openxmlformats.org/drawingml/2006/main">
            <a:off x="8382000" y="2638425"/>
            <a:ext cx="3086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1B1DD190-1551-40F1-B985-9287DF7D7612}"/>
              </a:ext>
            </a:extLst>
          </p:cNvPr>
          <p:cNvSpPr>
            <a:spLocks xmlns:a="http://schemas.openxmlformats.org/drawingml/2006/main" noGrp="1"/>
          </p:cNvSpPr>
          <p:nvPr/>
        </p:nvSpPr>
        <p:spPr>
          <a:xfrm xmlns:a="http://schemas.openxmlformats.org/drawingml/2006/main">
            <a:off x="8382000" y="2790825"/>
            <a:ext cx="3086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15000"/>
              </a:lnSpc>
              <a:buNone/>
              <a:defRPr sz="1125" b="0" i="0">
                <a:solidFill>
                  <a:srgbClr val="5B5B5B"/>
                </a:solidFill>
                <a:latin typeface="Yu Gothic"/>
                <a:ea typeface="Yu Gothic"/>
                <a:cs typeface="Yu Gothic"/>
              </a:defRPr>
            </a:pPr>
            <a:r>
              <a:rPr sz="1125" b="0" i="0">
                <a:solidFill>
                  <a:srgbClr val="5B5B5B"/>
                </a:solidFill>
                <a:latin typeface="Yu Gothic"/>
                <a:ea typeface="Yu Gothic"/>
                <a:cs typeface="Yu Gothic"/>
              </a:rPr>
              <a:t>mean / covariance / threshold risk</a:t>
            </a:r>
          </a:p>
        </p:txBody>
      </p:sp>
      <p:cxnSp>
        <p:nvCxnSpPr>
          <p:cNvPr id="85" name=""/>
          <p:cNvCxnSpPr>
            <a:stCxn xmlns:a="http://schemas.openxmlformats.org/drawingml/2006/main" id="9" idx="3"/>
            <a:endCxn xmlns:a="http://schemas.openxmlformats.org/drawingml/2006/main" id="15" idx="1"/>
          </p:cNvCxnSpPr>
          <p:nvPr/>
        </p:nvCxnSpPr>
        <p:spPr>
          <a:xfrm xmlns:a="http://schemas.openxmlformats.org/drawingml/2006/main">
            <a:off x="26479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6" name=""/>
          <p:cNvCxnSpPr>
            <a:stCxn xmlns:a="http://schemas.openxmlformats.org/drawingml/2006/main" id="15" idx="3"/>
            <a:endCxn xmlns:a="http://schemas.openxmlformats.org/drawingml/2006/main" id="21" idx="1"/>
          </p:cNvCxnSpPr>
          <p:nvPr/>
        </p:nvCxnSpPr>
        <p:spPr>
          <a:xfrm xmlns:a="http://schemas.openxmlformats.org/drawingml/2006/main">
            <a:off x="52006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7" name=""/>
          <p:cNvCxnSpPr>
            <a:stCxn xmlns:a="http://schemas.openxmlformats.org/drawingml/2006/main" id="21" idx="3"/>
            <a:endCxn xmlns:a="http://schemas.openxmlformats.org/drawingml/2006/main" id="27" idx="1"/>
          </p:cNvCxnSpPr>
          <p:nvPr/>
        </p:nvCxnSpPr>
        <p:spPr>
          <a:xfrm xmlns:a="http://schemas.openxmlformats.org/drawingml/2006/main">
            <a:off x="7753350" y="2676525"/>
            <a:ext cx="4572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E901ED7E-A26C-42A1-900A-75C4BFEE9B64}"/>
              </a:ext>
            </a:extLst>
          </p:cNvPr>
          <p:cNvSpPr>
            <a:spLocks xmlns:a="http://schemas.openxmlformats.org/drawingml/2006/main" noGrp="1"/>
          </p:cNvSpPr>
          <p:nvPr/>
        </p:nvSpPr>
        <p:spPr>
          <a:xfrm xmlns:a="http://schemas.openxmlformats.org/drawingml/2006/main">
            <a:off x="552450" y="38957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44EB0774-C3FD-40E7-8C4D-43ACE8E56A61}"/>
              </a:ext>
            </a:extLst>
          </p:cNvPr>
          <p:cNvSpPr>
            <a:spLocks xmlns:a="http://schemas.openxmlformats.org/drawingml/2006/main" noGrp="1"/>
          </p:cNvSpPr>
          <p:nvPr/>
        </p:nvSpPr>
        <p:spPr>
          <a:xfrm xmlns:a="http://schemas.openxmlformats.org/drawingml/2006/main">
            <a:off x="552450" y="4095750"/>
            <a:ext cx="1809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75" b="1" i="0">
                <a:solidFill>
                  <a:srgbClr val="3F3F3F"/>
                </a:solidFill>
                <a:latin typeface="Yu Gothic"/>
                <a:ea typeface="Yu Gothic"/>
                <a:cs typeface="Yu Gothic"/>
              </a:defRPr>
            </a:pPr>
            <a:r>
              <a:rPr sz="1275" b="1" i="0">
                <a:solidFill>
                  <a:srgbClr val="3F3F3F"/>
                </a:solidFill>
                <a:latin typeface="Yu Gothic"/>
                <a:ea typeface="Yu Gothic"/>
                <a:cs typeface="Yu Gothic"/>
              </a:rPr>
              <a:t>状態・観測分布</a:t>
            </a:r>
          </a:p>
        </p:txBody>
      </p:sp>
      <p:sp>
        <p:nvSpPr>
          <p:cNvPr id="38" name="">
            <a:extLst xmlns:a="http://schemas.openxmlformats.org/drawingml/2006/main">
              <a:ext uri="{FF2B5EF4-FFF2-40B4-BE49-F238E27FC236}">
                <a16:creationId xmlns:a16="http://schemas.microsoft.com/office/drawing/2014/main" id="{A0A59FD6-1620-4ACB-9340-6574C5B0AD14}"/>
              </a:ext>
            </a:extLst>
          </p:cNvPr>
          <p:cNvSpPr>
            <a:spLocks xmlns:a="http://schemas.openxmlformats.org/drawingml/2006/main" noGrp="1"/>
          </p:cNvSpPr>
          <p:nvPr/>
        </p:nvSpPr>
        <p:spPr>
          <a:xfrm xmlns:a="http://schemas.openxmlformats.org/drawingml/2006/main">
            <a:off x="2381250" y="4029075"/>
            <a:ext cx="714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725" b="1" i="0">
                <a:solidFill>
                  <a:srgbClr val="3F3F3F"/>
                </a:solidFill>
                <a:latin typeface="Cambria Math"/>
                <a:ea typeface="Cambria Math"/>
                <a:cs typeface="Cambria Math"/>
              </a:defRPr>
            </a:pPr>
            <a:r>
              <a:rPr sz="1725" b="1" i="0">
                <a:solidFill>
                  <a:srgbClr val="3F3F3F"/>
                </a:solidFill>
                <a:latin typeface="Cambria Math"/>
                <a:ea typeface="Cambria Math"/>
                <a:cs typeface="Cambria Math"/>
              </a:rPr>
              <a:t>xₖ ∼ N(x̂ₖ, Pₖ),     ŷₖ = Hx̂ₖ,     Σy,ₖ = HPₖHᵀ + R</a:t>
            </a:r>
          </a:p>
        </p:txBody>
      </p:sp>
      <p:sp>
        <p:nvSpPr>
          <p:cNvPr id="39" name="">
            <a:extLst xmlns:a="http://schemas.openxmlformats.org/drawingml/2006/main">
              <a:ext uri="{FF2B5EF4-FFF2-40B4-BE49-F238E27FC236}">
                <a16:creationId xmlns:a16="http://schemas.microsoft.com/office/drawing/2014/main" id="{B537FF6E-A236-49BD-8B4E-C1BF97FA9004}"/>
              </a:ext>
            </a:extLst>
          </p:cNvPr>
          <p:cNvSpPr>
            <a:spLocks xmlns:a="http://schemas.openxmlformats.org/drawingml/2006/main" noGrp="1"/>
          </p:cNvSpPr>
          <p:nvPr/>
        </p:nvSpPr>
        <p:spPr>
          <a:xfrm xmlns:a="http://schemas.openxmlformats.org/drawingml/2006/main">
            <a:off x="552450" y="4476750"/>
            <a:ext cx="11087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Pは初期状態・process noise・sensor noiseを伝播。parameter uncertaintyとmodel discrepancyは別途ensemble/校正で加える。</a:t>
            </a:r>
          </a:p>
        </p:txBody>
      </p:sp>
      <p:sp>
        <p:nvSpPr>
          <p:cNvPr id="40" name="">
            <a:extLst xmlns:a="http://schemas.openxmlformats.org/drawingml/2006/main">
              <a:ext uri="{FF2B5EF4-FFF2-40B4-BE49-F238E27FC236}">
                <a16:creationId xmlns:a16="http://schemas.microsoft.com/office/drawing/2014/main" id="{B361287B-65C3-417C-A9CF-4EEA8F77C85F}"/>
              </a:ext>
            </a:extLst>
          </p:cNvPr>
          <p:cNvSpPr>
            <a:spLocks xmlns:a="http://schemas.openxmlformats.org/drawingml/2006/main" noGrp="1"/>
          </p:cNvSpPr>
          <p:nvPr/>
        </p:nvSpPr>
        <p:spPr>
          <a:xfrm xmlns:a="http://schemas.openxmlformats.org/drawingml/2006/main">
            <a:off x="552450"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1" name="">
            <a:extLst xmlns:a="http://schemas.openxmlformats.org/drawingml/2006/main">
              <a:ext uri="{FF2B5EF4-FFF2-40B4-BE49-F238E27FC236}">
                <a16:creationId xmlns:a16="http://schemas.microsoft.com/office/drawing/2014/main" id="{27A297BC-2BD4-4F92-9D64-0C2B7AD4D49A}"/>
              </a:ext>
            </a:extLst>
          </p:cNvPr>
          <p:cNvSpPr>
            <a:spLocks xmlns:a="http://schemas.openxmlformats.org/drawingml/2006/main" noGrp="1"/>
          </p:cNvSpPr>
          <p:nvPr/>
        </p:nvSpPr>
        <p:spPr>
          <a:xfrm xmlns:a="http://schemas.openxmlformats.org/drawingml/2006/main">
            <a:off x="704850"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00A5D8"/>
                </a:solidFill>
                <a:latin typeface="Yu Gothic"/>
                <a:ea typeface="Yu Gothic"/>
                <a:cs typeface="Yu Gothic"/>
              </a:defRPr>
            </a:pPr>
            <a:r>
              <a:rPr sz="900" b="1" i="0">
                <a:solidFill>
                  <a:srgbClr val="00A5D8"/>
                </a:solidFill>
                <a:latin typeface="Yu Gothic"/>
                <a:ea typeface="Yu Gothic"/>
                <a:cs typeface="Yu Gothic"/>
              </a:rPr>
              <a:t>cutoff</a:t>
            </a:r>
          </a:p>
        </p:txBody>
      </p:sp>
      <p:sp>
        <p:nvSpPr>
          <p:cNvPr id="42" name="">
            <a:extLst xmlns:a="http://schemas.openxmlformats.org/drawingml/2006/main">
              <a:ext uri="{FF2B5EF4-FFF2-40B4-BE49-F238E27FC236}">
                <a16:creationId xmlns:a16="http://schemas.microsoft.com/office/drawing/2014/main" id="{3082DA13-F020-4B6E-87DD-C18A743445E8}"/>
              </a:ext>
            </a:extLst>
          </p:cNvPr>
          <p:cNvSpPr>
            <a:spLocks xmlns:a="http://schemas.openxmlformats.org/drawingml/2006/main" noGrp="1"/>
          </p:cNvSpPr>
          <p:nvPr/>
        </p:nvSpPr>
        <p:spPr>
          <a:xfrm xmlns:a="http://schemas.openxmlformats.org/drawingml/2006/main">
            <a:off x="704850"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各case固有のHを保存</a:t>
            </a:r>
          </a:p>
        </p:txBody>
      </p:sp>
      <p:sp>
        <p:nvSpPr>
          <p:cNvPr id="43" name="">
            <a:extLst xmlns:a="http://schemas.openxmlformats.org/drawingml/2006/main">
              <a:ext uri="{FF2B5EF4-FFF2-40B4-BE49-F238E27FC236}">
                <a16:creationId xmlns:a16="http://schemas.microsoft.com/office/drawing/2014/main" id="{50D6D99D-2991-498C-BC25-FF40A75A24D6}"/>
              </a:ext>
            </a:extLst>
          </p:cNvPr>
          <p:cNvSpPr>
            <a:spLocks xmlns:a="http://schemas.openxmlformats.org/drawingml/2006/main" noGrp="1"/>
          </p:cNvSpPr>
          <p:nvPr/>
        </p:nvSpPr>
        <p:spPr>
          <a:xfrm xmlns:a="http://schemas.openxmlformats.org/drawingml/2006/main">
            <a:off x="3324225"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4" name="">
            <a:extLst xmlns:a="http://schemas.openxmlformats.org/drawingml/2006/main">
              <a:ext uri="{FF2B5EF4-FFF2-40B4-BE49-F238E27FC236}">
                <a16:creationId xmlns:a16="http://schemas.microsoft.com/office/drawing/2014/main" id="{B41DA88D-F7EC-4CD0-9DEB-66FBA57350DF}"/>
              </a:ext>
            </a:extLst>
          </p:cNvPr>
          <p:cNvSpPr>
            <a:spLocks xmlns:a="http://schemas.openxmlformats.org/drawingml/2006/main" noGrp="1"/>
          </p:cNvSpPr>
          <p:nvPr/>
        </p:nvSpPr>
        <p:spPr>
          <a:xfrm xmlns:a="http://schemas.openxmlformats.org/drawingml/2006/main">
            <a:off x="3476625"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6BE18"/>
                </a:solidFill>
                <a:latin typeface="Yu Gothic"/>
                <a:ea typeface="Yu Gothic"/>
                <a:cs typeface="Yu Gothic"/>
              </a:defRPr>
            </a:pPr>
            <a:r>
              <a:rPr sz="900" b="1" i="0">
                <a:solidFill>
                  <a:srgbClr val="76BE18"/>
                </a:solidFill>
                <a:latin typeface="Yu Gothic"/>
                <a:ea typeface="Yu Gothic"/>
                <a:cs typeface="Yu Gothic"/>
              </a:rPr>
              <a:t>input</a:t>
            </a:r>
          </a:p>
        </p:txBody>
      </p:sp>
      <p:sp>
        <p:nvSpPr>
          <p:cNvPr id="45" name="">
            <a:extLst xmlns:a="http://schemas.openxmlformats.org/drawingml/2006/main">
              <a:ext uri="{FF2B5EF4-FFF2-40B4-BE49-F238E27FC236}">
                <a16:creationId xmlns:a16="http://schemas.microsoft.com/office/drawing/2014/main" id="{91B1F93D-3D49-40DF-B082-783ABFD4FC9E}"/>
              </a:ext>
            </a:extLst>
          </p:cNvPr>
          <p:cNvSpPr>
            <a:spLocks xmlns:a="http://schemas.openxmlformats.org/drawingml/2006/main" noGrp="1"/>
          </p:cNvSpPr>
          <p:nvPr/>
        </p:nvSpPr>
        <p:spPr>
          <a:xfrm xmlns:a="http://schemas.openxmlformats.org/drawingml/2006/main">
            <a:off x="3476625"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left zero-order hold</a:t>
            </a:r>
          </a:p>
        </p:txBody>
      </p:sp>
      <p:sp>
        <p:nvSpPr>
          <p:cNvPr id="46" name="">
            <a:extLst xmlns:a="http://schemas.openxmlformats.org/drawingml/2006/main">
              <a:ext uri="{FF2B5EF4-FFF2-40B4-BE49-F238E27FC236}">
                <a16:creationId xmlns:a16="http://schemas.microsoft.com/office/drawing/2014/main" id="{52F43598-A590-4B96-AE71-D7C87EAE2DF4}"/>
              </a:ext>
            </a:extLst>
          </p:cNvPr>
          <p:cNvSpPr>
            <a:spLocks xmlns:a="http://schemas.openxmlformats.org/drawingml/2006/main" noGrp="1"/>
          </p:cNvSpPr>
          <p:nvPr/>
        </p:nvSpPr>
        <p:spPr>
          <a:xfrm xmlns:a="http://schemas.openxmlformats.org/drawingml/2006/main">
            <a:off x="6096000"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47" name="">
            <a:extLst xmlns:a="http://schemas.openxmlformats.org/drawingml/2006/main">
              <a:ext uri="{FF2B5EF4-FFF2-40B4-BE49-F238E27FC236}">
                <a16:creationId xmlns:a16="http://schemas.microsoft.com/office/drawing/2014/main" id="{89471610-3FC2-4962-AF79-1666B1527AA0}"/>
              </a:ext>
            </a:extLst>
          </p:cNvPr>
          <p:cNvSpPr>
            <a:spLocks xmlns:a="http://schemas.openxmlformats.org/drawingml/2006/main" noGrp="1"/>
          </p:cNvSpPr>
          <p:nvPr/>
        </p:nvSpPr>
        <p:spPr>
          <a:xfrm xmlns:a="http://schemas.openxmlformats.org/drawingml/2006/main">
            <a:off x="6248400"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B2DAF"/>
                </a:solidFill>
                <a:latin typeface="Yu Gothic"/>
                <a:ea typeface="Yu Gothic"/>
                <a:cs typeface="Yu Gothic"/>
              </a:defRPr>
            </a:pPr>
            <a:r>
              <a:rPr sz="900" b="1" i="0">
                <a:solidFill>
                  <a:srgbClr val="7B2DAF"/>
                </a:solidFill>
                <a:latin typeface="Yu Gothic"/>
                <a:ea typeface="Yu Gothic"/>
                <a:cs typeface="Yu Gothic"/>
              </a:rPr>
              <a:t>missing</a:t>
            </a:r>
          </a:p>
        </p:txBody>
      </p:sp>
      <p:sp>
        <p:nvSpPr>
          <p:cNvPr id="48" name="">
            <a:extLst xmlns:a="http://schemas.openxmlformats.org/drawingml/2006/main">
              <a:ext uri="{FF2B5EF4-FFF2-40B4-BE49-F238E27FC236}">
                <a16:creationId xmlns:a16="http://schemas.microsoft.com/office/drawing/2014/main" id="{2CF23E92-93A6-40E6-B21F-3A1C4FF56E72}"/>
              </a:ext>
            </a:extLst>
          </p:cNvPr>
          <p:cNvSpPr>
            <a:spLocks xmlns:a="http://schemas.openxmlformats.org/drawingml/2006/main" noGrp="1"/>
          </p:cNvSpPr>
          <p:nvPr/>
        </p:nvSpPr>
        <p:spPr>
          <a:xfrm xmlns:a="http://schemas.openxmlformats.org/drawingml/2006/main">
            <a:off x="6248400"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maskで観測行を縮約</a:t>
            </a:r>
          </a:p>
        </p:txBody>
      </p:sp>
      <p:sp>
        <p:nvSpPr>
          <p:cNvPr id="49" name="">
            <a:extLst xmlns:a="http://schemas.openxmlformats.org/drawingml/2006/main">
              <a:ext uri="{FF2B5EF4-FFF2-40B4-BE49-F238E27FC236}">
                <a16:creationId xmlns:a16="http://schemas.microsoft.com/office/drawing/2014/main" id="{C33CDE4E-7F26-4AD0-A386-7D278D41D2D1}"/>
              </a:ext>
            </a:extLst>
          </p:cNvPr>
          <p:cNvSpPr>
            <a:spLocks xmlns:a="http://schemas.openxmlformats.org/drawingml/2006/main" noGrp="1"/>
          </p:cNvSpPr>
          <p:nvPr/>
        </p:nvSpPr>
        <p:spPr>
          <a:xfrm xmlns:a="http://schemas.openxmlformats.org/drawingml/2006/main">
            <a:off x="8867775" y="5057775"/>
            <a:ext cx="2581275" cy="8667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50" name="">
            <a:extLst xmlns:a="http://schemas.openxmlformats.org/drawingml/2006/main">
              <a:ext uri="{FF2B5EF4-FFF2-40B4-BE49-F238E27FC236}">
                <a16:creationId xmlns:a16="http://schemas.microsoft.com/office/drawing/2014/main" id="{F8BED70B-6667-45E3-8E26-C9A5E70D2406}"/>
              </a:ext>
            </a:extLst>
          </p:cNvPr>
          <p:cNvSpPr>
            <a:spLocks xmlns:a="http://schemas.openxmlformats.org/drawingml/2006/main" noGrp="1"/>
          </p:cNvSpPr>
          <p:nvPr/>
        </p:nvSpPr>
        <p:spPr>
          <a:xfrm xmlns:a="http://schemas.openxmlformats.org/drawingml/2006/main">
            <a:off x="9020175" y="5181600"/>
            <a:ext cx="723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E5A900"/>
                </a:solidFill>
                <a:latin typeface="Yu Gothic"/>
                <a:ea typeface="Yu Gothic"/>
                <a:cs typeface="Yu Gothic"/>
              </a:defRPr>
            </a:pPr>
            <a:r>
              <a:rPr sz="900" b="1" i="0">
                <a:solidFill>
                  <a:srgbClr val="E5A900"/>
                </a:solidFill>
                <a:latin typeface="Yu Gothic"/>
                <a:ea typeface="Yu Gothic"/>
                <a:cs typeface="Yu Gothic"/>
              </a:rPr>
              <a:t>report</a:t>
            </a:r>
          </a:p>
        </p:txBody>
      </p:sp>
      <p:sp>
        <p:nvSpPr>
          <p:cNvPr id="51" name="">
            <a:extLst xmlns:a="http://schemas.openxmlformats.org/drawingml/2006/main">
              <a:ext uri="{FF2B5EF4-FFF2-40B4-BE49-F238E27FC236}">
                <a16:creationId xmlns:a16="http://schemas.microsoft.com/office/drawing/2014/main" id="{7F0CE59B-A897-4670-B0CB-5648E36578B1}"/>
              </a:ext>
            </a:extLst>
          </p:cNvPr>
          <p:cNvSpPr>
            <a:spLocks xmlns:a="http://schemas.openxmlformats.org/drawingml/2006/main" noGrp="1"/>
          </p:cNvSpPr>
          <p:nvPr/>
        </p:nvSpPr>
        <p:spPr>
          <a:xfrm xmlns:a="http://schemas.openxmlformats.org/drawingml/2006/main">
            <a:off x="9020175" y="5448300"/>
            <a:ext cx="22764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 worst / phaseを併記</a:t>
            </a:r>
          </a:p>
        </p:txBody>
      </p:sp>
      <p:sp>
        <p:nvSpPr>
          <p:cNvPr id="52" name="">
            <a:extLst xmlns:a="http://schemas.openxmlformats.org/drawingml/2006/main">
              <a:ext uri="{FF2B5EF4-FFF2-40B4-BE49-F238E27FC236}">
                <a16:creationId xmlns:a16="http://schemas.microsoft.com/office/drawing/2014/main" id="{E2C994D7-DB07-4641-ADB0-BB388E1636D4}"/>
              </a:ext>
            </a:extLst>
          </p:cNvPr>
          <p:cNvSpPr>
            <a:spLocks xmlns:a="http://schemas.openxmlformats.org/drawingml/2006/main" noGrp="1"/>
          </p:cNvSpPr>
          <p:nvPr/>
        </p:nvSpPr>
        <p:spPr>
          <a:xfrm xmlns:a="http://schemas.openxmlformats.org/drawingml/2006/main">
            <a:off x="552450" y="607695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C4493D"/>
                </a:solidFill>
                <a:latin typeface="Yu Gothic"/>
                <a:ea typeface="Yu Gothic"/>
                <a:cs typeface="Yu Gothic"/>
              </a:defRPr>
            </a:pPr>
            <a:r>
              <a:rPr sz="863" b="1" i="0">
                <a:solidFill>
                  <a:srgbClr val="C4493D"/>
                </a:solidFill>
                <a:latin typeface="Yu Gothic"/>
                <a:ea typeface="Yu Gothic"/>
                <a:cs typeface="Yu Gothic"/>
              </a:rPr>
              <a:t>禁止事項：全trajectoryで初期状態を最適化してからsuffix誤差を測る — 未来情報のleakageになる。</a:t>
            </a:r>
          </a:p>
        </p:txBody>
      </p:sp>
    </p:spTree>
    <p:extLst>
      <p:ext uri="{BB962C8B-B14F-4D97-AF65-F5344CB8AC3E}">
        <p14:creationId xmlns:p14="http://schemas.microsoft.com/office/powerpoint/2010/main" val="17343469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CB9B5C5A-34CE-4C9C-91E9-985DF279C6A2}"/>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401819C-D34B-4747-BE4B-19D8228EE0FF}"/>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STATE MONITORING</a:t>
            </a:r>
          </a:p>
        </p:txBody>
      </p:sp>
      <p:sp>
        <p:nvSpPr>
          <p:cNvPr id="3" name="">
            <a:extLst xmlns:a="http://schemas.openxmlformats.org/drawingml/2006/main">
              <a:ext uri="{FF2B5EF4-FFF2-40B4-BE49-F238E27FC236}">
                <a16:creationId xmlns:a16="http://schemas.microsoft.com/office/drawing/2014/main" id="{6D05235C-09D8-42CA-AE11-B129338C36BC}"/>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温度・未知熱・相対sensor biasを拡張状態として推定し、innovationを診断量にする</a:t>
            </a:r>
          </a:p>
        </p:txBody>
      </p:sp>
      <p:sp>
        <p:nvSpPr>
          <p:cNvPr id="4" name="">
            <a:extLst xmlns:a="http://schemas.openxmlformats.org/drawingml/2006/main">
              <a:ext uri="{FF2B5EF4-FFF2-40B4-BE49-F238E27FC236}">
                <a16:creationId xmlns:a16="http://schemas.microsoft.com/office/drawing/2014/main" id="{BA3A4F39-E59A-4509-A03A-D762814A6C84}"/>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故障名を直接分類するのではなく、物理的に解釈できる偏差channelへ分解する</a:t>
            </a:r>
          </a:p>
        </p:txBody>
      </p:sp>
      <p:sp>
        <p:nvSpPr>
          <p:cNvPr id="5" name="">
            <a:extLst xmlns:a="http://schemas.openxmlformats.org/drawingml/2006/main">
              <a:ext uri="{FF2B5EF4-FFF2-40B4-BE49-F238E27FC236}">
                <a16:creationId xmlns:a16="http://schemas.microsoft.com/office/drawing/2014/main" id="{B25A87CE-6674-45F3-B67E-5DB271BB4C77}"/>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AF686CEE-0ECF-43B4-97B9-1A304A85B70C}"/>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C65CB44-0605-434D-B9E8-53FF507861F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FE488FF8-625E-4379-8FDB-20A007762052}"/>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20</a:t>
            </a:r>
          </a:p>
        </p:txBody>
      </p:sp>
      <p:sp>
        <p:nvSpPr>
          <p:cNvPr id="9" name="">
            <a:extLst xmlns:a="http://schemas.openxmlformats.org/drawingml/2006/main">
              <a:ext uri="{FF2B5EF4-FFF2-40B4-BE49-F238E27FC236}">
                <a16:creationId xmlns:a16="http://schemas.microsoft.com/office/drawing/2014/main" id="{8DA9F3B5-F2AF-4B84-8590-CC6C051E2B2E}"/>
              </a:ext>
            </a:extLst>
          </p:cNvPr>
          <p:cNvSpPr>
            <a:spLocks xmlns:a="http://schemas.openxmlformats.org/drawingml/2006/main" noGrp="1"/>
          </p:cNvSpPr>
          <p:nvPr/>
        </p:nvSpPr>
        <p:spPr>
          <a:xfrm xmlns:a="http://schemas.openxmlformats.org/drawingml/2006/main">
            <a:off x="552450" y="1438275"/>
            <a:ext cx="3067050" cy="223837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929B14-3C0B-4C78-AB6B-9613B6CA79C6}"/>
              </a:ext>
            </a:extLst>
          </p:cNvPr>
          <p:cNvSpPr>
            <a:spLocks xmlns:a="http://schemas.openxmlformats.org/drawingml/2006/main" noGrp="1"/>
          </p:cNvSpPr>
          <p:nvPr/>
        </p:nvSpPr>
        <p:spPr>
          <a:xfrm xmlns:a="http://schemas.openxmlformats.org/drawingml/2006/main">
            <a:off x="762000" y="16192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76BE18"/>
                </a:solidFill>
                <a:latin typeface="Yu Gothic"/>
                <a:ea typeface="Yu Gothic"/>
                <a:cs typeface="Yu Gothic"/>
              </a:defRPr>
            </a:pPr>
            <a:r>
              <a:rPr sz="1050" b="1" i="0">
                <a:solidFill>
                  <a:srgbClr val="76BE18"/>
                </a:solidFill>
                <a:latin typeface="Yu Gothic"/>
                <a:ea typeface="Yu Gothic"/>
                <a:cs typeface="Yu Gothic"/>
              </a:rPr>
              <a:t>augmented state</a:t>
            </a:r>
          </a:p>
        </p:txBody>
      </p:sp>
      <p:sp>
        <p:nvSpPr>
          <p:cNvPr id="11" name="">
            <a:extLst xmlns:a="http://schemas.openxmlformats.org/drawingml/2006/main">
              <a:ext uri="{FF2B5EF4-FFF2-40B4-BE49-F238E27FC236}">
                <a16:creationId xmlns:a16="http://schemas.microsoft.com/office/drawing/2014/main" id="{7CEC8F36-BB7D-4941-8F95-23811B022ED2}"/>
              </a:ext>
            </a:extLst>
          </p:cNvPr>
          <p:cNvSpPr>
            <a:spLocks xmlns:a="http://schemas.openxmlformats.org/drawingml/2006/main" noGrp="1"/>
          </p:cNvSpPr>
          <p:nvPr/>
        </p:nvSpPr>
        <p:spPr>
          <a:xfrm xmlns:a="http://schemas.openxmlformats.org/drawingml/2006/main">
            <a:off x="762000" y="2019300"/>
            <a:ext cx="26479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2250" b="1" i="0">
                <a:solidFill>
                  <a:srgbClr val="FFFFFF"/>
                </a:solidFill>
                <a:latin typeface="Cambria Math"/>
                <a:ea typeface="Cambria Math"/>
                <a:cs typeface="Cambria Math"/>
              </a:defRPr>
            </a:pPr>
            <a:r>
              <a:rPr sz="2250" b="1" i="0">
                <a:solidFill>
                  <a:srgbClr val="FFFFFF"/>
                </a:solidFill>
                <a:latin typeface="Cambria Math"/>
                <a:ea typeface="Cambria Math"/>
                <a:cs typeface="Cambria Math"/>
              </a:rPr>
              <a:t>z = [T; d; β]</a:t>
            </a:r>
          </a:p>
        </p:txBody>
      </p:sp>
      <p:sp>
        <p:nvSpPr>
          <p:cNvPr id="12" name="">
            <a:extLst xmlns:a="http://schemas.openxmlformats.org/drawingml/2006/main">
              <a:ext uri="{FF2B5EF4-FFF2-40B4-BE49-F238E27FC236}">
                <a16:creationId xmlns:a16="http://schemas.microsoft.com/office/drawing/2014/main" id="{3E030CEC-4E67-4334-9309-FD2259761FD7}"/>
              </a:ext>
            </a:extLst>
          </p:cNvPr>
          <p:cNvSpPr>
            <a:spLocks xmlns:a="http://schemas.openxmlformats.org/drawingml/2006/main" noGrp="1"/>
          </p:cNvSpPr>
          <p:nvPr/>
        </p:nvSpPr>
        <p:spPr>
          <a:xfrm xmlns:a="http://schemas.openxmlformats.org/drawingml/2006/main">
            <a:off x="847725" y="2647950"/>
            <a:ext cx="2476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T  physical temperature</a:t>
            </a:r>
          </a:p>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d  unknown heat [W]</a:t>
            </a:r>
          </a:p>
          <a:p xmlns:a="http://schemas.openxmlformats.org/drawingml/2006/main">
            <a:pPr algn="l">
              <a:lnSpc>
                <a:spcPct val="118000"/>
              </a:lnSpc>
              <a:buNone/>
              <a:defRPr sz="975" b="0" i="0">
                <a:solidFill>
                  <a:srgbClr val="DCD5EA"/>
                </a:solidFill>
                <a:latin typeface="Yu Gothic"/>
                <a:ea typeface="Yu Gothic"/>
                <a:cs typeface="Yu Gothic"/>
              </a:defRPr>
            </a:pPr>
            <a:r>
              <a:rPr sz="975" b="0" i="0">
                <a:solidFill>
                  <a:srgbClr val="DCD5EA"/>
                </a:solidFill>
                <a:latin typeface="Yu Gothic"/>
                <a:ea typeface="Yu Gothic"/>
                <a:cs typeface="Yu Gothic"/>
              </a:rPr>
              <a:t>β  identifiable relative bias [K]</a:t>
            </a:r>
          </a:p>
        </p:txBody>
      </p:sp>
      <p:sp>
        <p:nvSpPr>
          <p:cNvPr id="13" name="">
            <a:extLst xmlns:a="http://schemas.openxmlformats.org/drawingml/2006/main">
              <a:ext uri="{FF2B5EF4-FFF2-40B4-BE49-F238E27FC236}">
                <a16:creationId xmlns:a16="http://schemas.microsoft.com/office/drawing/2014/main" id="{D6EB851A-099E-467F-AAD7-7502B6BAD5AA}"/>
              </a:ext>
            </a:extLst>
          </p:cNvPr>
          <p:cNvSpPr>
            <a:spLocks xmlns:a="http://schemas.openxmlformats.org/drawingml/2006/main" noGrp="1"/>
          </p:cNvSpPr>
          <p:nvPr/>
        </p:nvSpPr>
        <p:spPr>
          <a:xfrm xmlns:a="http://schemas.openxmlformats.org/drawingml/2006/main">
            <a:off x="4162425" y="1666875"/>
            <a:ext cx="1885950" cy="800100"/>
          </a:xfrm>
          <a:prstGeom xmlns:a="http://schemas.openxmlformats.org/drawingml/2006/main" prst="rect">
            <a:avLst/>
          </a:prstGeom>
          <a:solidFill xmlns:a="http://schemas.openxmlformats.org/drawingml/2006/main">
            <a:srgbClr val="E5F6FB"/>
          </a:solidFill>
          <a:ln xmlns:a="http://schemas.openxmlformats.org/drawingml/2006/main" w="19050">
            <a:solidFill>
              <a:srgbClr val="00A5D8"/>
            </a:solidFill>
            <a:prstDash val="solid"/>
          </a:ln>
        </p:spPr>
      </p:sp>
      <p:sp>
        <p:nvSpPr>
          <p:cNvPr id="14" name="">
            <a:extLst xmlns:a="http://schemas.openxmlformats.org/drawingml/2006/main">
              <a:ext uri="{FF2B5EF4-FFF2-40B4-BE49-F238E27FC236}">
                <a16:creationId xmlns:a16="http://schemas.microsoft.com/office/drawing/2014/main" id="{8146B558-12F6-40C9-A698-8EB2175FD57E}"/>
              </a:ext>
            </a:extLst>
          </p:cNvPr>
          <p:cNvSpPr>
            <a:spLocks xmlns:a="http://schemas.openxmlformats.org/drawingml/2006/main" noGrp="1"/>
          </p:cNvSpPr>
          <p:nvPr/>
        </p:nvSpPr>
        <p:spPr>
          <a:xfrm xmlns:a="http://schemas.openxmlformats.org/drawingml/2006/main">
            <a:off x="4324350"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007FA8"/>
                </a:solidFill>
                <a:latin typeface="Yu Gothic"/>
                <a:ea typeface="Yu Gothic"/>
                <a:cs typeface="Yu Gothic"/>
              </a:defRPr>
            </a:pPr>
            <a:r>
              <a:rPr sz="1275" b="1" i="0">
                <a:solidFill>
                  <a:srgbClr val="007FA8"/>
                </a:solidFill>
                <a:latin typeface="Yu Gothic"/>
                <a:ea typeface="Yu Gothic"/>
                <a:cs typeface="Yu Gothic"/>
              </a:rPr>
              <a:t>predict</a:t>
            </a:r>
          </a:p>
        </p:txBody>
      </p:sp>
      <p:sp>
        <p:nvSpPr>
          <p:cNvPr id="15" name="">
            <a:extLst xmlns:a="http://schemas.openxmlformats.org/drawingml/2006/main">
              <a:ext uri="{FF2B5EF4-FFF2-40B4-BE49-F238E27FC236}">
                <a16:creationId xmlns:a16="http://schemas.microsoft.com/office/drawing/2014/main" id="{922A836F-55AD-4481-94B3-430A019028ED}"/>
              </a:ext>
            </a:extLst>
          </p:cNvPr>
          <p:cNvSpPr>
            <a:spLocks xmlns:a="http://schemas.openxmlformats.org/drawingml/2006/main" noGrp="1"/>
          </p:cNvSpPr>
          <p:nvPr/>
        </p:nvSpPr>
        <p:spPr>
          <a:xfrm xmlns:a="http://schemas.openxmlformats.org/drawingml/2006/main">
            <a:off x="4324350"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909"/>
          </a:bodyPr>
          <a:lstStyle xmlns:a="http://schemas.openxmlformats.org/drawingml/2006/main"/>
          <a:p xmlns:a="http://schemas.openxmlformats.org/drawingml/2006/main">
            <a:pPr algn="ctr">
              <a:lnSpc>
                <a:spcPct val="100000"/>
              </a:lnSpc>
              <a:buNone/>
              <a:defRPr sz="1650" b="0" i="0">
                <a:solidFill>
                  <a:srgbClr val="3F3F3F"/>
                </a:solidFill>
                <a:latin typeface="Cambria Math"/>
                <a:ea typeface="Cambria Math"/>
                <a:cs typeface="Cambria Math"/>
              </a:defRPr>
            </a:pPr>
            <a:r>
              <a:rPr sz="1650" b="0" i="0">
                <a:solidFill>
                  <a:srgbClr val="3F3F3F"/>
                </a:solidFill>
                <a:latin typeface="Cambria Math"/>
                <a:ea typeface="Cambria Math"/>
                <a:cs typeface="Cambria Math"/>
              </a:rPr>
              <a:t>z⁻, P⁻</a:t>
            </a:r>
          </a:p>
        </p:txBody>
      </p:sp>
      <p:sp>
        <p:nvSpPr>
          <p:cNvPr id="16" name="">
            <a:extLst xmlns:a="http://schemas.openxmlformats.org/drawingml/2006/main">
              <a:ext uri="{FF2B5EF4-FFF2-40B4-BE49-F238E27FC236}">
                <a16:creationId xmlns:a16="http://schemas.microsoft.com/office/drawing/2014/main" id="{20C7B5C7-3367-4A5A-AC7E-365EAF595E1F}"/>
              </a:ext>
            </a:extLst>
          </p:cNvPr>
          <p:cNvSpPr>
            <a:spLocks xmlns:a="http://schemas.openxmlformats.org/drawingml/2006/main" noGrp="1"/>
          </p:cNvSpPr>
          <p:nvPr/>
        </p:nvSpPr>
        <p:spPr>
          <a:xfrm xmlns:a="http://schemas.openxmlformats.org/drawingml/2006/main">
            <a:off x="6629400" y="1666875"/>
            <a:ext cx="1885950" cy="800100"/>
          </a:xfrm>
          <a:prstGeom xmlns:a="http://schemas.openxmlformats.org/drawingml/2006/main" prst="rect">
            <a:avLst/>
          </a:prstGeom>
          <a:solidFill xmlns:a="http://schemas.openxmlformats.org/drawingml/2006/main">
            <a:srgbClr val="FFF5D7"/>
          </a:solidFill>
          <a:ln xmlns:a="http://schemas.openxmlformats.org/drawingml/2006/main" w="19050">
            <a:solidFill>
              <a:srgbClr val="E5A900"/>
            </a:solidFill>
            <a:prstDash val="solid"/>
          </a:ln>
        </p:spPr>
      </p:sp>
      <p:sp>
        <p:nvSpPr>
          <p:cNvPr id="17" name="">
            <a:extLst xmlns:a="http://schemas.openxmlformats.org/drawingml/2006/main">
              <a:ext uri="{FF2B5EF4-FFF2-40B4-BE49-F238E27FC236}">
                <a16:creationId xmlns:a16="http://schemas.microsoft.com/office/drawing/2014/main" id="{3D37C62A-447E-43F1-A288-27A84D5F8C04}"/>
              </a:ext>
            </a:extLst>
          </p:cNvPr>
          <p:cNvSpPr>
            <a:spLocks xmlns:a="http://schemas.openxmlformats.org/drawingml/2006/main" noGrp="1"/>
          </p:cNvSpPr>
          <p:nvPr/>
        </p:nvSpPr>
        <p:spPr>
          <a:xfrm xmlns:a="http://schemas.openxmlformats.org/drawingml/2006/main">
            <a:off x="6791325"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806000"/>
                </a:solidFill>
                <a:latin typeface="Yu Gothic"/>
                <a:ea typeface="Yu Gothic"/>
                <a:cs typeface="Yu Gothic"/>
              </a:defRPr>
            </a:pPr>
            <a:r>
              <a:rPr sz="1275" b="1" i="0">
                <a:solidFill>
                  <a:srgbClr val="806000"/>
                </a:solidFill>
                <a:latin typeface="Yu Gothic"/>
                <a:ea typeface="Yu Gothic"/>
                <a:cs typeface="Yu Gothic"/>
              </a:rPr>
              <a:t>innovation</a:t>
            </a:r>
          </a:p>
        </p:txBody>
      </p:sp>
      <p:sp>
        <p:nvSpPr>
          <p:cNvPr id="18" name="">
            <a:extLst xmlns:a="http://schemas.openxmlformats.org/drawingml/2006/main">
              <a:ext uri="{FF2B5EF4-FFF2-40B4-BE49-F238E27FC236}">
                <a16:creationId xmlns:a16="http://schemas.microsoft.com/office/drawing/2014/main" id="{8B60E0A6-F28E-4C2B-8B20-B3FC978B47B0}"/>
              </a:ext>
            </a:extLst>
          </p:cNvPr>
          <p:cNvSpPr>
            <a:spLocks xmlns:a="http://schemas.openxmlformats.org/drawingml/2006/main" noGrp="1"/>
          </p:cNvSpPr>
          <p:nvPr/>
        </p:nvSpPr>
        <p:spPr>
          <a:xfrm xmlns:a="http://schemas.openxmlformats.org/drawingml/2006/main">
            <a:off x="6791325"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425" b="0" i="0">
                <a:solidFill>
                  <a:srgbClr val="3F3F3F"/>
                </a:solidFill>
                <a:latin typeface="Cambria Math"/>
                <a:ea typeface="Cambria Math"/>
                <a:cs typeface="Cambria Math"/>
              </a:defRPr>
            </a:pPr>
            <a:r>
              <a:rPr sz="1425" b="0" i="0">
                <a:solidFill>
                  <a:srgbClr val="3F3F3F"/>
                </a:solidFill>
                <a:latin typeface="Cambria Math"/>
                <a:ea typeface="Cambria Math"/>
                <a:cs typeface="Cambria Math"/>
              </a:rPr>
              <a:t>ν = y − Hz⁻</a:t>
            </a:r>
          </a:p>
        </p:txBody>
      </p:sp>
      <p:sp>
        <p:nvSpPr>
          <p:cNvPr id="19" name="">
            <a:extLst xmlns:a="http://schemas.openxmlformats.org/drawingml/2006/main">
              <a:ext uri="{FF2B5EF4-FFF2-40B4-BE49-F238E27FC236}">
                <a16:creationId xmlns:a16="http://schemas.microsoft.com/office/drawing/2014/main" id="{2E6759D8-E42F-4372-9D35-AA12104B2956}"/>
              </a:ext>
            </a:extLst>
          </p:cNvPr>
          <p:cNvSpPr>
            <a:spLocks xmlns:a="http://schemas.openxmlformats.org/drawingml/2006/main" noGrp="1"/>
          </p:cNvSpPr>
          <p:nvPr/>
        </p:nvSpPr>
        <p:spPr>
          <a:xfrm xmlns:a="http://schemas.openxmlformats.org/drawingml/2006/main">
            <a:off x="9096375" y="1666875"/>
            <a:ext cx="1885950" cy="800100"/>
          </a:xfrm>
          <a:prstGeom xmlns:a="http://schemas.openxmlformats.org/drawingml/2006/main" prst="rect">
            <a:avLst/>
          </a:prstGeom>
          <a:solidFill xmlns:a="http://schemas.openxmlformats.org/drawingml/2006/main">
            <a:srgbClr val="EEF7DF"/>
          </a:solidFill>
          <a:ln xmlns:a="http://schemas.openxmlformats.org/drawingml/2006/main" w="19050">
            <a:solidFill>
              <a:srgbClr val="76BE18"/>
            </a:solidFill>
            <a:prstDash val="solid"/>
          </a:ln>
        </p:spPr>
      </p:sp>
      <p:sp>
        <p:nvSpPr>
          <p:cNvPr id="20" name="">
            <a:extLst xmlns:a="http://schemas.openxmlformats.org/drawingml/2006/main">
              <a:ext uri="{FF2B5EF4-FFF2-40B4-BE49-F238E27FC236}">
                <a16:creationId xmlns:a16="http://schemas.microsoft.com/office/drawing/2014/main" id="{F87EDE5B-3DF8-44D2-B7CC-F637DC0D134C}"/>
              </a:ext>
            </a:extLst>
          </p:cNvPr>
          <p:cNvSpPr>
            <a:spLocks xmlns:a="http://schemas.openxmlformats.org/drawingml/2006/main" noGrp="1"/>
          </p:cNvSpPr>
          <p:nvPr/>
        </p:nvSpPr>
        <p:spPr>
          <a:xfrm xmlns:a="http://schemas.openxmlformats.org/drawingml/2006/main">
            <a:off x="9258300" y="1781175"/>
            <a:ext cx="1562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8039"/>
          </a:bodyPr>
          <a:lstStyle xmlns:a="http://schemas.openxmlformats.org/drawingml/2006/main"/>
          <a:p xmlns:a="http://schemas.openxmlformats.org/drawingml/2006/main">
            <a:pPr algn="ctr">
              <a:lnSpc>
                <a:spcPct val="100000"/>
              </a:lnSpc>
              <a:buNone/>
              <a:defRPr sz="1275" b="1" i="0">
                <a:solidFill>
                  <a:srgbClr val="4D8710"/>
                </a:solidFill>
                <a:latin typeface="Yu Gothic"/>
                <a:ea typeface="Yu Gothic"/>
                <a:cs typeface="Yu Gothic"/>
              </a:defRPr>
            </a:pPr>
            <a:r>
              <a:rPr sz="1275" b="1" i="0">
                <a:solidFill>
                  <a:srgbClr val="4D8710"/>
                </a:solidFill>
                <a:latin typeface="Yu Gothic"/>
                <a:ea typeface="Yu Gothic"/>
                <a:cs typeface="Yu Gothic"/>
              </a:rPr>
              <a:t>robust update</a:t>
            </a:r>
          </a:p>
        </p:txBody>
      </p:sp>
      <p:sp>
        <p:nvSpPr>
          <p:cNvPr id="21" name="">
            <a:extLst xmlns:a="http://schemas.openxmlformats.org/drawingml/2006/main">
              <a:ext uri="{FF2B5EF4-FFF2-40B4-BE49-F238E27FC236}">
                <a16:creationId xmlns:a16="http://schemas.microsoft.com/office/drawing/2014/main" id="{9A55EFAF-E9E3-4CF1-BA40-47DA467B73C4}"/>
              </a:ext>
            </a:extLst>
          </p:cNvPr>
          <p:cNvSpPr>
            <a:spLocks xmlns:a="http://schemas.openxmlformats.org/drawingml/2006/main" noGrp="1"/>
          </p:cNvSpPr>
          <p:nvPr/>
        </p:nvSpPr>
        <p:spPr>
          <a:xfrm xmlns:a="http://schemas.openxmlformats.org/drawingml/2006/main">
            <a:off x="9258300" y="2076450"/>
            <a:ext cx="1562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0909"/>
          </a:bodyPr>
          <a:lstStyle xmlns:a="http://schemas.openxmlformats.org/drawingml/2006/main"/>
          <a:p xmlns:a="http://schemas.openxmlformats.org/drawingml/2006/main">
            <a:pPr algn="ctr">
              <a:lnSpc>
                <a:spcPct val="100000"/>
              </a:lnSpc>
              <a:buNone/>
              <a:defRPr sz="1650" b="0" i="0">
                <a:solidFill>
                  <a:srgbClr val="3F3F3F"/>
                </a:solidFill>
                <a:latin typeface="Cambria Math"/>
                <a:ea typeface="Cambria Math"/>
                <a:cs typeface="Cambria Math"/>
              </a:defRPr>
            </a:pPr>
            <a:r>
              <a:rPr sz="1650" b="0" i="0">
                <a:solidFill>
                  <a:srgbClr val="3F3F3F"/>
                </a:solidFill>
                <a:latin typeface="Cambria Math"/>
                <a:ea typeface="Cambria Math"/>
                <a:cs typeface="Cambria Math"/>
              </a:rPr>
              <a:t>z⁺, P⁺</a:t>
            </a:r>
          </a:p>
        </p:txBody>
      </p:sp>
      <p:cxnSp>
        <p:nvCxnSpPr>
          <p:cNvPr id="69" name=""/>
          <p:cNvCxnSpPr>
            <a:stCxn xmlns:a="http://schemas.openxmlformats.org/drawingml/2006/main" id="13" idx="3"/>
            <a:endCxn xmlns:a="http://schemas.openxmlformats.org/drawingml/2006/main" id="16" idx="1"/>
          </p:cNvCxnSpPr>
          <p:nvPr/>
        </p:nvCxnSpPr>
        <p:spPr>
          <a:xfrm xmlns:a="http://schemas.openxmlformats.org/drawingml/2006/main">
            <a:off x="6048375" y="2066925"/>
            <a:ext cx="581025"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70" name=""/>
          <p:cNvCxnSpPr>
            <a:stCxn xmlns:a="http://schemas.openxmlformats.org/drawingml/2006/main" id="16" idx="3"/>
            <a:endCxn xmlns:a="http://schemas.openxmlformats.org/drawingml/2006/main" id="19" idx="1"/>
          </p:cNvCxnSpPr>
          <p:nvPr/>
        </p:nvCxnSpPr>
        <p:spPr>
          <a:xfrm xmlns:a="http://schemas.openxmlformats.org/drawingml/2006/main">
            <a:off x="8515350" y="2066925"/>
            <a:ext cx="581025"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24" name="">
            <a:extLst xmlns:a="http://schemas.openxmlformats.org/drawingml/2006/main">
              <a:ext uri="{FF2B5EF4-FFF2-40B4-BE49-F238E27FC236}">
                <a16:creationId xmlns:a16="http://schemas.microsoft.com/office/drawing/2014/main" id="{0E938805-C204-4800-B53C-0242E2DB0A93}"/>
              </a:ext>
            </a:extLst>
          </p:cNvPr>
          <p:cNvSpPr>
            <a:spLocks xmlns:a="http://schemas.openxmlformats.org/drawingml/2006/main" noGrp="1"/>
          </p:cNvSpPr>
          <p:nvPr/>
        </p:nvSpPr>
        <p:spPr>
          <a:xfrm xmlns:a="http://schemas.openxmlformats.org/drawingml/2006/main">
            <a:off x="4248150"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Van Loan / implicit Qd</a:t>
            </a:r>
          </a:p>
        </p:txBody>
      </p:sp>
      <p:sp>
        <p:nvSpPr>
          <p:cNvPr id="25" name="">
            <a:extLst xmlns:a="http://schemas.openxmlformats.org/drawingml/2006/main">
              <a:ext uri="{FF2B5EF4-FFF2-40B4-BE49-F238E27FC236}">
                <a16:creationId xmlns:a16="http://schemas.microsoft.com/office/drawing/2014/main" id="{6734330A-D34D-4D24-945B-1149B79FAFA4}"/>
              </a:ext>
            </a:extLst>
          </p:cNvPr>
          <p:cNvSpPr>
            <a:spLocks xmlns:a="http://schemas.openxmlformats.org/drawingml/2006/main" noGrp="1"/>
          </p:cNvSpPr>
          <p:nvPr/>
        </p:nvSpPr>
        <p:spPr>
          <a:xfrm xmlns:a="http://schemas.openxmlformats.org/drawingml/2006/main">
            <a:off x="6715125"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missing rows removed</a:t>
            </a:r>
          </a:p>
        </p:txBody>
      </p:sp>
      <p:sp>
        <p:nvSpPr>
          <p:cNvPr id="26" name="">
            <a:extLst xmlns:a="http://schemas.openxmlformats.org/drawingml/2006/main">
              <a:ext uri="{FF2B5EF4-FFF2-40B4-BE49-F238E27FC236}">
                <a16:creationId xmlns:a16="http://schemas.microsoft.com/office/drawing/2014/main" id="{2F15474D-71D7-411B-ACCA-1014E5DC0FD3}"/>
              </a:ext>
            </a:extLst>
          </p:cNvPr>
          <p:cNvSpPr>
            <a:spLocks xmlns:a="http://schemas.openxmlformats.org/drawingml/2006/main" noGrp="1"/>
          </p:cNvSpPr>
          <p:nvPr/>
        </p:nvSpPr>
        <p:spPr>
          <a:xfrm xmlns:a="http://schemas.openxmlformats.org/drawingml/2006/main">
            <a:off x="9182100" y="25908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50" b="0" i="0">
                <a:solidFill>
                  <a:srgbClr val="777777"/>
                </a:solidFill>
                <a:latin typeface="Yu Gothic"/>
                <a:ea typeface="Yu Gothic"/>
                <a:cs typeface="Yu Gothic"/>
              </a:defRPr>
            </a:pPr>
            <a:r>
              <a:rPr sz="750" b="0" i="0">
                <a:solidFill>
                  <a:srgbClr val="777777"/>
                </a:solidFill>
                <a:latin typeface="Yu Gothic"/>
                <a:ea typeface="Yu Gothic"/>
                <a:cs typeface="Yu Gothic"/>
              </a:rPr>
              <a:t>Joseph covariance</a:t>
            </a:r>
          </a:p>
        </p:txBody>
      </p:sp>
      <p:sp>
        <p:nvSpPr>
          <p:cNvPr id="27" name="">
            <a:extLst xmlns:a="http://schemas.openxmlformats.org/drawingml/2006/main">
              <a:ext uri="{FF2B5EF4-FFF2-40B4-BE49-F238E27FC236}">
                <a16:creationId xmlns:a16="http://schemas.microsoft.com/office/drawing/2014/main" id="{F838FC21-87E6-47CC-A4F4-03A28360AABA}"/>
              </a:ext>
            </a:extLst>
          </p:cNvPr>
          <p:cNvSpPr>
            <a:spLocks xmlns:a="http://schemas.openxmlformats.org/drawingml/2006/main" noGrp="1"/>
          </p:cNvSpPr>
          <p:nvPr/>
        </p:nvSpPr>
        <p:spPr>
          <a:xfrm xmlns:a="http://schemas.openxmlformats.org/drawingml/2006/main">
            <a:off x="4162425" y="2952750"/>
            <a:ext cx="6819900" cy="723900"/>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60E74CF3-7D43-4397-B56F-9915DCE7D127}"/>
              </a:ext>
            </a:extLst>
          </p:cNvPr>
          <p:cNvSpPr>
            <a:spLocks xmlns:a="http://schemas.openxmlformats.org/drawingml/2006/main" noGrp="1"/>
          </p:cNvSpPr>
          <p:nvPr/>
        </p:nvSpPr>
        <p:spPr>
          <a:xfrm xmlns:a="http://schemas.openxmlformats.org/drawingml/2006/main">
            <a:off x="4362450" y="310515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875" b="1" i="0">
                <a:solidFill>
                  <a:srgbClr val="3F3F3F"/>
                </a:solidFill>
                <a:latin typeface="Cambria Math"/>
                <a:ea typeface="Cambria Math"/>
                <a:cs typeface="Cambria Math"/>
              </a:defRPr>
            </a:pPr>
            <a:r>
              <a:rPr sz="1875" b="1" i="0">
                <a:solidFill>
                  <a:srgbClr val="3F3F3F"/>
                </a:solidFill>
                <a:latin typeface="Cambria Math"/>
                <a:ea typeface="Cambria Math"/>
                <a:cs typeface="Cambria Math"/>
              </a:rPr>
              <a:t>NISₖ = νₖᵀ Sₖ⁻¹νₖ</a:t>
            </a:r>
          </a:p>
        </p:txBody>
      </p:sp>
      <p:sp>
        <p:nvSpPr>
          <p:cNvPr id="29" name="">
            <a:extLst xmlns:a="http://schemas.openxmlformats.org/drawingml/2006/main">
              <a:ext uri="{FF2B5EF4-FFF2-40B4-BE49-F238E27FC236}">
                <a16:creationId xmlns:a16="http://schemas.microsoft.com/office/drawing/2014/main" id="{3C872644-9C1F-4F9A-AC67-5A68E2AC0318}"/>
              </a:ext>
            </a:extLst>
          </p:cNvPr>
          <p:cNvSpPr>
            <a:spLocks xmlns:a="http://schemas.openxmlformats.org/drawingml/2006/main" noGrp="1"/>
          </p:cNvSpPr>
          <p:nvPr/>
        </p:nvSpPr>
        <p:spPr>
          <a:xfrm xmlns:a="http://schemas.openxmlformats.org/drawingml/2006/main">
            <a:off x="7448550" y="3048000"/>
            <a:ext cx="1543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777777"/>
                </a:solidFill>
                <a:latin typeface="Yu Gothic"/>
                <a:ea typeface="Yu Gothic"/>
                <a:cs typeface="Yu Gothic"/>
              </a:defRPr>
            </a:pPr>
            <a:r>
              <a:rPr sz="788" b="1" i="0">
                <a:solidFill>
                  <a:srgbClr val="777777"/>
                </a:solidFill>
                <a:latin typeface="Yu Gothic"/>
                <a:ea typeface="Yu Gothic"/>
                <a:cs typeface="Yu Gothic"/>
              </a:rPr>
              <a:t>χ² 99.99% threshold</a:t>
            </a:r>
          </a:p>
        </p:txBody>
      </p:sp>
      <p:sp>
        <p:nvSpPr>
          <p:cNvPr id="30" name="">
            <a:extLst xmlns:a="http://schemas.openxmlformats.org/drawingml/2006/main">
              <a:ext uri="{FF2B5EF4-FFF2-40B4-BE49-F238E27FC236}">
                <a16:creationId xmlns:a16="http://schemas.microsoft.com/office/drawing/2014/main" id="{F2E81D2B-23D6-435B-AAD2-1F4524BF3ED3}"/>
              </a:ext>
            </a:extLst>
          </p:cNvPr>
          <p:cNvSpPr>
            <a:spLocks xmlns:a="http://schemas.openxmlformats.org/drawingml/2006/main" noGrp="1"/>
          </p:cNvSpPr>
          <p:nvPr/>
        </p:nvSpPr>
        <p:spPr>
          <a:xfrm xmlns:a="http://schemas.openxmlformats.org/drawingml/2006/main">
            <a:off x="7258050" y="3286125"/>
            <a:ext cx="3429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938" b="1" i="0">
                <a:solidFill>
                  <a:srgbClr val="007FA8"/>
                </a:solidFill>
                <a:latin typeface="Yu Gothic"/>
                <a:ea typeface="Yu Gothic"/>
                <a:cs typeface="Yu Gothic"/>
              </a:defRPr>
            </a:pPr>
            <a:r>
              <a:rPr sz="938" b="1" i="0">
                <a:solidFill>
                  <a:srgbClr val="007FA8"/>
                </a:solidFill>
                <a:latin typeface="Yu Gothic"/>
                <a:ea typeface="Yu Gothic"/>
                <a:cs typeface="Yu Gothic"/>
              </a:rPr>
              <a:t>1 dof  15.14   /   2 dof  18.42   /   3 dof  21.11</a:t>
            </a:r>
          </a:p>
        </p:txBody>
      </p:sp>
      <p:sp>
        <p:nvSpPr>
          <p:cNvPr id="31" name="">
            <a:extLst xmlns:a="http://schemas.openxmlformats.org/drawingml/2006/main">
              <a:ext uri="{FF2B5EF4-FFF2-40B4-BE49-F238E27FC236}">
                <a16:creationId xmlns:a16="http://schemas.microsoft.com/office/drawing/2014/main" id="{27412B9F-F19C-4B7E-A1CE-7AE7A2141750}"/>
              </a:ext>
            </a:extLst>
          </p:cNvPr>
          <p:cNvSpPr>
            <a:spLocks xmlns:a="http://schemas.openxmlformats.org/drawingml/2006/main" noGrp="1"/>
          </p:cNvSpPr>
          <p:nvPr/>
        </p:nvSpPr>
        <p:spPr>
          <a:xfrm xmlns:a="http://schemas.openxmlformats.org/drawingml/2006/main">
            <a:off x="552450" y="39814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偏差の解釈</a:t>
            </a:r>
          </a:p>
        </p:txBody>
      </p:sp>
      <p:sp>
        <p:nvSpPr>
          <p:cNvPr id="32" name="">
            <a:extLst xmlns:a="http://schemas.openxmlformats.org/drawingml/2006/main">
              <a:ext uri="{FF2B5EF4-FFF2-40B4-BE49-F238E27FC236}">
                <a16:creationId xmlns:a16="http://schemas.microsoft.com/office/drawing/2014/main" id="{A0A7DAEA-6229-4E3B-AD9B-CCD7A754B8F4}"/>
              </a:ext>
            </a:extLst>
          </p:cNvPr>
          <p:cNvSpPr>
            <a:spLocks xmlns:a="http://schemas.openxmlformats.org/drawingml/2006/main" noGrp="1"/>
          </p:cNvSpPr>
          <p:nvPr/>
        </p:nvSpPr>
        <p:spPr>
          <a:xfrm xmlns:a="http://schemas.openxmlformats.org/drawingml/2006/main">
            <a:off x="5524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3" name="">
            <a:extLst xmlns:a="http://schemas.openxmlformats.org/drawingml/2006/main">
              <a:ext uri="{FF2B5EF4-FFF2-40B4-BE49-F238E27FC236}">
                <a16:creationId xmlns:a16="http://schemas.microsoft.com/office/drawing/2014/main" id="{7AADF03A-8989-4BED-BA63-A05E30A19F78}"/>
              </a:ext>
            </a:extLst>
          </p:cNvPr>
          <p:cNvSpPr>
            <a:spLocks xmlns:a="http://schemas.openxmlformats.org/drawingml/2006/main" noGrp="1"/>
          </p:cNvSpPr>
          <p:nvPr/>
        </p:nvSpPr>
        <p:spPr>
          <a:xfrm xmlns:a="http://schemas.openxmlformats.org/drawingml/2006/main">
            <a:off x="552450" y="4371975"/>
            <a:ext cx="76200" cy="14382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A64FD4E3-4D22-4DD7-9BC8-A5F238E36CEF}"/>
              </a:ext>
            </a:extLst>
          </p:cNvPr>
          <p:cNvSpPr>
            <a:spLocks xmlns:a="http://schemas.openxmlformats.org/drawingml/2006/main" noGrp="1"/>
          </p:cNvSpPr>
          <p:nvPr/>
        </p:nvSpPr>
        <p:spPr>
          <a:xfrm xmlns:a="http://schemas.openxmlformats.org/drawingml/2006/main">
            <a:off x="7620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7B2DAF"/>
                </a:solidFill>
                <a:latin typeface="Cambria Math"/>
                <a:ea typeface="Cambria Math"/>
                <a:cs typeface="Cambria Math"/>
              </a:defRPr>
            </a:pPr>
            <a:r>
              <a:rPr sz="1125" b="1" i="0">
                <a:solidFill>
                  <a:srgbClr val="7B2DAF"/>
                </a:solidFill>
                <a:latin typeface="Cambria Math"/>
                <a:ea typeface="Cambria Math"/>
                <a:cs typeface="Cambria Math"/>
              </a:rPr>
              <a:t>β rises / d ≈ 0</a:t>
            </a:r>
          </a:p>
        </p:txBody>
      </p:sp>
      <p:sp>
        <p:nvSpPr>
          <p:cNvPr id="35" name="">
            <a:extLst xmlns:a="http://schemas.openxmlformats.org/drawingml/2006/main">
              <a:ext uri="{FF2B5EF4-FFF2-40B4-BE49-F238E27FC236}">
                <a16:creationId xmlns:a16="http://schemas.microsoft.com/office/drawing/2014/main" id="{A7CD5D49-9827-44ED-B7AB-AF274D562712}"/>
              </a:ext>
            </a:extLst>
          </p:cNvPr>
          <p:cNvSpPr>
            <a:spLocks xmlns:a="http://schemas.openxmlformats.org/drawingml/2006/main" noGrp="1"/>
          </p:cNvSpPr>
          <p:nvPr/>
        </p:nvSpPr>
        <p:spPr>
          <a:xfrm xmlns:a="http://schemas.openxmlformats.org/drawingml/2006/main">
            <a:off x="7620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sensor offset・校正ずれ</a:t>
            </a:r>
          </a:p>
        </p:txBody>
      </p:sp>
      <p:sp>
        <p:nvSpPr>
          <p:cNvPr id="36" name="">
            <a:extLst xmlns:a="http://schemas.openxmlformats.org/drawingml/2006/main">
              <a:ext uri="{FF2B5EF4-FFF2-40B4-BE49-F238E27FC236}">
                <a16:creationId xmlns:a16="http://schemas.microsoft.com/office/drawing/2014/main" id="{F2B86BC7-84FB-4B80-BD6C-95E06207A39C}"/>
              </a:ext>
            </a:extLst>
          </p:cNvPr>
          <p:cNvSpPr>
            <a:spLocks xmlns:a="http://schemas.openxmlformats.org/drawingml/2006/main" noGrp="1"/>
          </p:cNvSpPr>
          <p:nvPr/>
        </p:nvSpPr>
        <p:spPr>
          <a:xfrm xmlns:a="http://schemas.openxmlformats.org/drawingml/2006/main">
            <a:off x="7620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他sensorとの相対整合、gauge固定</a:t>
            </a:r>
          </a:p>
        </p:txBody>
      </p:sp>
      <p:sp>
        <p:nvSpPr>
          <p:cNvPr id="37" name="">
            <a:extLst xmlns:a="http://schemas.openxmlformats.org/drawingml/2006/main">
              <a:ext uri="{FF2B5EF4-FFF2-40B4-BE49-F238E27FC236}">
                <a16:creationId xmlns:a16="http://schemas.microsoft.com/office/drawing/2014/main" id="{312A424E-A736-4F44-A44E-CAF2562E1C9B}"/>
              </a:ext>
            </a:extLst>
          </p:cNvPr>
          <p:cNvSpPr>
            <a:spLocks xmlns:a="http://schemas.openxmlformats.org/drawingml/2006/main" noGrp="1"/>
          </p:cNvSpPr>
          <p:nvPr/>
        </p:nvSpPr>
        <p:spPr>
          <a:xfrm xmlns:a="http://schemas.openxmlformats.org/drawingml/2006/main">
            <a:off x="42481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8" name="">
            <a:extLst xmlns:a="http://schemas.openxmlformats.org/drawingml/2006/main">
              <a:ext uri="{FF2B5EF4-FFF2-40B4-BE49-F238E27FC236}">
                <a16:creationId xmlns:a16="http://schemas.microsoft.com/office/drawing/2014/main" id="{7CE467EE-E864-4CC3-94F2-002C2FCF0C2D}"/>
              </a:ext>
            </a:extLst>
          </p:cNvPr>
          <p:cNvSpPr>
            <a:spLocks xmlns:a="http://schemas.openxmlformats.org/drawingml/2006/main" noGrp="1"/>
          </p:cNvSpPr>
          <p:nvPr/>
        </p:nvSpPr>
        <p:spPr>
          <a:xfrm xmlns:a="http://schemas.openxmlformats.org/drawingml/2006/main">
            <a:off x="4248150" y="4371975"/>
            <a:ext cx="76200" cy="14382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6141FFD-400C-4EB1-8937-9C0A7E5CBEBA}"/>
              </a:ext>
            </a:extLst>
          </p:cNvPr>
          <p:cNvSpPr>
            <a:spLocks xmlns:a="http://schemas.openxmlformats.org/drawingml/2006/main" noGrp="1"/>
          </p:cNvSpPr>
          <p:nvPr/>
        </p:nvSpPr>
        <p:spPr>
          <a:xfrm xmlns:a="http://schemas.openxmlformats.org/drawingml/2006/main">
            <a:off x="44577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E5A900"/>
                </a:solidFill>
                <a:latin typeface="Cambria Math"/>
                <a:ea typeface="Cambria Math"/>
                <a:cs typeface="Cambria Math"/>
              </a:defRPr>
            </a:pPr>
            <a:r>
              <a:rPr sz="1125" b="1" i="0">
                <a:solidFill>
                  <a:srgbClr val="E5A900"/>
                </a:solidFill>
                <a:latin typeface="Cambria Math"/>
                <a:ea typeface="Cambria Math"/>
                <a:cs typeface="Cambria Math"/>
              </a:rPr>
              <a:t>d rises / β small</a:t>
            </a:r>
          </a:p>
        </p:txBody>
      </p:sp>
      <p:sp>
        <p:nvSpPr>
          <p:cNvPr id="40" name="">
            <a:extLst xmlns:a="http://schemas.openxmlformats.org/drawingml/2006/main">
              <a:ext uri="{FF2B5EF4-FFF2-40B4-BE49-F238E27FC236}">
                <a16:creationId xmlns:a16="http://schemas.microsoft.com/office/drawing/2014/main" id="{2830185A-99F6-4165-B4FB-D8B79E0F20A9}"/>
              </a:ext>
            </a:extLst>
          </p:cNvPr>
          <p:cNvSpPr>
            <a:spLocks xmlns:a="http://schemas.openxmlformats.org/drawingml/2006/main" noGrp="1"/>
          </p:cNvSpPr>
          <p:nvPr/>
        </p:nvSpPr>
        <p:spPr>
          <a:xfrm xmlns:a="http://schemas.openxmlformats.org/drawingml/2006/main">
            <a:off x="44577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未指令発熱・冷却損失</a:t>
            </a:r>
          </a:p>
        </p:txBody>
      </p:sp>
      <p:sp>
        <p:nvSpPr>
          <p:cNvPr id="41" name="">
            <a:extLst xmlns:a="http://schemas.openxmlformats.org/drawingml/2006/main">
              <a:ext uri="{FF2B5EF4-FFF2-40B4-BE49-F238E27FC236}">
                <a16:creationId xmlns:a16="http://schemas.microsoft.com/office/drawing/2014/main" id="{F6BDDDCB-F23F-4669-A5EA-26E7C1D7347E}"/>
              </a:ext>
            </a:extLst>
          </p:cNvPr>
          <p:cNvSpPr>
            <a:spLocks xmlns:a="http://schemas.openxmlformats.org/drawingml/2006/main" noGrp="1"/>
          </p:cNvSpPr>
          <p:nvPr/>
        </p:nvSpPr>
        <p:spPr>
          <a:xfrm xmlns:a="http://schemas.openxmlformats.org/drawingml/2006/main">
            <a:off x="44577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複数nodeの整合した温度上昇</a:t>
            </a:r>
          </a:p>
        </p:txBody>
      </p:sp>
      <p:sp>
        <p:nvSpPr>
          <p:cNvPr id="42" name="">
            <a:extLst xmlns:a="http://schemas.openxmlformats.org/drawingml/2006/main">
              <a:ext uri="{FF2B5EF4-FFF2-40B4-BE49-F238E27FC236}">
                <a16:creationId xmlns:a16="http://schemas.microsoft.com/office/drawing/2014/main" id="{A4EF39DF-4384-4973-A59F-CA473A5BB61A}"/>
              </a:ext>
            </a:extLst>
          </p:cNvPr>
          <p:cNvSpPr>
            <a:spLocks xmlns:a="http://schemas.openxmlformats.org/drawingml/2006/main" noGrp="1"/>
          </p:cNvSpPr>
          <p:nvPr/>
        </p:nvSpPr>
        <p:spPr>
          <a:xfrm xmlns:a="http://schemas.openxmlformats.org/drawingml/2006/main">
            <a:off x="7943850" y="4371975"/>
            <a:ext cx="35052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3" name="">
            <a:extLst xmlns:a="http://schemas.openxmlformats.org/drawingml/2006/main">
              <a:ext uri="{FF2B5EF4-FFF2-40B4-BE49-F238E27FC236}">
                <a16:creationId xmlns:a16="http://schemas.microsoft.com/office/drawing/2014/main" id="{EE413F73-97AB-472C-BAF3-4B32A2A0DE08}"/>
              </a:ext>
            </a:extLst>
          </p:cNvPr>
          <p:cNvSpPr>
            <a:spLocks xmlns:a="http://schemas.openxmlformats.org/drawingml/2006/main" noGrp="1"/>
          </p:cNvSpPr>
          <p:nvPr/>
        </p:nvSpPr>
        <p:spPr>
          <a:xfrm xmlns:a="http://schemas.openxmlformats.org/drawingml/2006/main">
            <a:off x="7943850" y="4371975"/>
            <a:ext cx="76200" cy="1438275"/>
          </a:xfrm>
          <a:prstGeom xmlns:a="http://schemas.openxmlformats.org/drawingml/2006/main" prst="rect">
            <a:avLst/>
          </a:prstGeom>
          <a:solidFill xmlns:a="http://schemas.openxmlformats.org/drawingml/2006/main">
            <a:srgbClr val="C4493D"/>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F51F46CB-7350-4BDD-A576-24546B201DC3}"/>
              </a:ext>
            </a:extLst>
          </p:cNvPr>
          <p:cNvSpPr>
            <a:spLocks xmlns:a="http://schemas.openxmlformats.org/drawingml/2006/main" noGrp="1"/>
          </p:cNvSpPr>
          <p:nvPr/>
        </p:nvSpPr>
        <p:spPr>
          <a:xfrm xmlns:a="http://schemas.openxmlformats.org/drawingml/2006/main">
            <a:off x="8153400" y="451485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125" b="1" i="0">
                <a:solidFill>
                  <a:srgbClr val="C4493D"/>
                </a:solidFill>
                <a:latin typeface="Cambria Math"/>
                <a:ea typeface="Cambria Math"/>
                <a:cs typeface="Cambria Math"/>
              </a:defRPr>
            </a:pPr>
            <a:r>
              <a:rPr sz="1125" b="1" i="0">
                <a:solidFill>
                  <a:srgbClr val="C4493D"/>
                </a:solidFill>
                <a:latin typeface="Cambria Math"/>
                <a:ea typeface="Cambria Math"/>
                <a:cs typeface="Cambria Math"/>
              </a:rPr>
              <a:t>NIS only</a:t>
            </a:r>
          </a:p>
        </p:txBody>
      </p:sp>
      <p:sp>
        <p:nvSpPr>
          <p:cNvPr id="45" name="">
            <a:extLst xmlns:a="http://schemas.openxmlformats.org/drawingml/2006/main">
              <a:ext uri="{FF2B5EF4-FFF2-40B4-BE49-F238E27FC236}">
                <a16:creationId xmlns:a16="http://schemas.microsoft.com/office/drawing/2014/main" id="{4288FC3A-E3D9-49B9-9221-E6B64897F5D4}"/>
              </a:ext>
            </a:extLst>
          </p:cNvPr>
          <p:cNvSpPr>
            <a:spLocks xmlns:a="http://schemas.openxmlformats.org/drawingml/2006/main" noGrp="1"/>
          </p:cNvSpPr>
          <p:nvPr/>
        </p:nvSpPr>
        <p:spPr>
          <a:xfrm xmlns:a="http://schemas.openxmlformats.org/drawingml/2006/main">
            <a:off x="8153400" y="4848225"/>
            <a:ext cx="31051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50" b="1" i="0">
                <a:solidFill>
                  <a:srgbClr val="3F3F3F"/>
                </a:solidFill>
                <a:latin typeface="Yu Gothic"/>
                <a:ea typeface="Yu Gothic"/>
                <a:cs typeface="Yu Gothic"/>
              </a:defRPr>
            </a:pPr>
            <a:r>
              <a:rPr sz="1050" b="1" i="0">
                <a:solidFill>
                  <a:srgbClr val="3F3F3F"/>
                </a:solidFill>
                <a:latin typeface="Yu Gothic"/>
                <a:ea typeface="Yu Gothic"/>
                <a:cs typeface="Yu Gothic"/>
              </a:rPr>
              <a:t>model mismatch・同期ずれ</a:t>
            </a:r>
          </a:p>
        </p:txBody>
      </p:sp>
      <p:sp>
        <p:nvSpPr>
          <p:cNvPr id="46" name="">
            <a:extLst xmlns:a="http://schemas.openxmlformats.org/drawingml/2006/main">
              <a:ext uri="{FF2B5EF4-FFF2-40B4-BE49-F238E27FC236}">
                <a16:creationId xmlns:a16="http://schemas.microsoft.com/office/drawing/2014/main" id="{2A57194A-BD84-4B5D-844F-63DB753E2F1F}"/>
              </a:ext>
            </a:extLst>
          </p:cNvPr>
          <p:cNvSpPr>
            <a:spLocks xmlns:a="http://schemas.openxmlformats.org/drawingml/2006/main" noGrp="1"/>
          </p:cNvSpPr>
          <p:nvPr/>
        </p:nvSpPr>
        <p:spPr>
          <a:xfrm xmlns:a="http://schemas.openxmlformats.org/drawingml/2006/main">
            <a:off x="8153400" y="5219700"/>
            <a:ext cx="3105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8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持続性、自己相関、運転域で再校正</a:t>
            </a:r>
          </a:p>
        </p:txBody>
      </p:sp>
      <p:sp>
        <p:nvSpPr>
          <p:cNvPr id="47" name="">
            <a:extLst xmlns:a="http://schemas.openxmlformats.org/drawingml/2006/main">
              <a:ext uri="{FF2B5EF4-FFF2-40B4-BE49-F238E27FC236}">
                <a16:creationId xmlns:a16="http://schemas.microsoft.com/office/drawing/2014/main" id="{43A2F204-E408-4D24-A38C-3C7D8C6F6C5F}"/>
              </a:ext>
            </a:extLst>
          </p:cNvPr>
          <p:cNvSpPr>
            <a:spLocks xmlns:a="http://schemas.openxmlformats.org/drawingml/2006/main" noGrp="1"/>
          </p:cNvSpPr>
          <p:nvPr/>
        </p:nvSpPr>
        <p:spPr>
          <a:xfrm xmlns:a="http://schemas.openxmlformats.org/drawingml/2006/main">
            <a:off x="552450" y="5981700"/>
            <a:ext cx="11087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5B5B5B"/>
                </a:solidFill>
                <a:latin typeface="Yu Gothic"/>
                <a:ea typeface="Yu Gothic"/>
                <a:cs typeface="Yu Gothic"/>
              </a:defRPr>
            </a:pPr>
            <a:r>
              <a:rPr sz="863" b="1" i="0">
                <a:solidFill>
                  <a:srgbClr val="5B5B5B"/>
                </a:solidFill>
                <a:latin typeface="Yu Gothic"/>
                <a:ea typeface="Yu Gothic"/>
                <a:cs typeface="Yu Gothic"/>
              </a:rPr>
              <a:t>運用閾値はχ²理論値を初期値とし、正常保持データの自己相関・multiple testing・model errorで校正する。</a:t>
            </a:r>
          </a:p>
        </p:txBody>
      </p:sp>
    </p:spTree>
    <p:extLst>
      <p:ext uri="{BB962C8B-B14F-4D97-AF65-F5344CB8AC3E}">
        <p14:creationId xmlns:p14="http://schemas.microsoft.com/office/powerpoint/2010/main" val="11481560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AA295C9-AA17-4EF7-93F6-0E9C521FA4C0}"/>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D25A61-727A-4A15-8AE1-A7A78438BD0D}"/>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WORKFLOW / EVALUATE</a:t>
            </a:r>
          </a:p>
        </p:txBody>
      </p:sp>
      <p:sp>
        <p:nvSpPr>
          <p:cNvPr id="3" name="">
            <a:extLst xmlns:a="http://schemas.openxmlformats.org/drawingml/2006/main">
              <a:ext uri="{FF2B5EF4-FFF2-40B4-BE49-F238E27FC236}">
                <a16:creationId xmlns:a16="http://schemas.microsoft.com/office/drawing/2014/main" id="{F2105387-287C-4451-A7FC-9BF6D7DC0AB7}"/>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処理例ごとに生成・同定・推論・評価を分離し、評価dataを学習directoryへ戻さない</a:t>
            </a:r>
          </a:p>
        </p:txBody>
      </p:sp>
      <p:sp>
        <p:nvSpPr>
          <p:cNvPr id="4" name="">
            <a:extLst xmlns:a="http://schemas.openxmlformats.org/drawingml/2006/main">
              <a:ext uri="{FF2B5EF4-FFF2-40B4-BE49-F238E27FC236}">
                <a16:creationId xmlns:a16="http://schemas.microsoft.com/office/drawing/2014/main" id="{9FF83B79-2DD3-4ECD-BEF6-F367E1579628}"/>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benchmarkとCAE reportは、公開workflowの出力をcanonical source dataへ集約する</a:t>
            </a:r>
          </a:p>
        </p:txBody>
      </p:sp>
      <p:sp>
        <p:nvSpPr>
          <p:cNvPr id="5" name="">
            <a:extLst xmlns:a="http://schemas.openxmlformats.org/drawingml/2006/main">
              <a:ext uri="{FF2B5EF4-FFF2-40B4-BE49-F238E27FC236}">
                <a16:creationId xmlns:a16="http://schemas.microsoft.com/office/drawing/2014/main" id="{85C26F51-8EFF-4883-A9FB-4D9D43C30208}"/>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4919A4F6-97EF-4DAC-9581-A1FA8551D124}"/>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F4A9302-C382-4177-AC1C-B0A114A67153}"/>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E8B8E8DD-41D9-40FA-A1A4-A4D18381C3B6}"/>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21</a:t>
            </a:r>
          </a:p>
        </p:txBody>
      </p:sp>
      <p:sp>
        <p:nvSpPr>
          <p:cNvPr id="9" name="">
            <a:extLst xmlns:a="http://schemas.openxmlformats.org/drawingml/2006/main">
              <a:ext uri="{FF2B5EF4-FFF2-40B4-BE49-F238E27FC236}">
                <a16:creationId xmlns:a16="http://schemas.microsoft.com/office/drawing/2014/main" id="{0CCFF28E-954F-4087-9216-13BE2D36DA59}"/>
              </a:ext>
            </a:extLst>
          </p:cNvPr>
          <p:cNvSpPr>
            <a:spLocks xmlns:a="http://schemas.openxmlformats.org/drawingml/2006/main" noGrp="1"/>
          </p:cNvSpPr>
          <p:nvPr/>
        </p:nvSpPr>
        <p:spPr>
          <a:xfrm xmlns:a="http://schemas.openxmlformats.org/drawingml/2006/main">
            <a:off x="552450" y="1476375"/>
            <a:ext cx="1581150" cy="962025"/>
          </a:xfrm>
          <a:prstGeom xmlns:a="http://schemas.openxmlformats.org/drawingml/2006/main" prst="rect">
            <a:avLst/>
          </a:prstGeom>
          <a:solidFill xmlns:a="http://schemas.openxmlformats.org/drawingml/2006/main">
            <a:srgbClr val="EEF7DF"/>
          </a:solidFill>
          <a:ln xmlns:a="http://schemas.openxmlformats.org/drawingml/2006/main" w="9525">
            <a:solidFill>
              <a:srgbClr val="76BE18"/>
            </a:solidFill>
            <a:prstDash val="solid"/>
          </a:ln>
        </p:spPr>
      </p:sp>
      <p:sp>
        <p:nvSpPr>
          <p:cNvPr id="10" name="">
            <a:extLst xmlns:a="http://schemas.openxmlformats.org/drawingml/2006/main">
              <a:ext uri="{FF2B5EF4-FFF2-40B4-BE49-F238E27FC236}">
                <a16:creationId xmlns:a16="http://schemas.microsoft.com/office/drawing/2014/main" id="{032FAC05-FDE0-4386-A6C5-796E2AA35A2A}"/>
              </a:ext>
            </a:extLst>
          </p:cNvPr>
          <p:cNvSpPr>
            <a:spLocks xmlns:a="http://schemas.openxmlformats.org/drawingml/2006/main" noGrp="1"/>
          </p:cNvSpPr>
          <p:nvPr/>
        </p:nvSpPr>
        <p:spPr>
          <a:xfrm xmlns:a="http://schemas.openxmlformats.org/drawingml/2006/main">
            <a:off x="695325" y="160972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6BE18"/>
                </a:solidFill>
                <a:latin typeface="Yu Gothic"/>
                <a:ea typeface="Yu Gothic"/>
                <a:cs typeface="Yu Gothic"/>
              </a:defRPr>
            </a:pPr>
            <a:r>
              <a:rPr sz="1200" b="1" i="0">
                <a:solidFill>
                  <a:srgbClr val="76BE18"/>
                </a:solidFill>
                <a:latin typeface="Yu Gothic"/>
                <a:ea typeface="Yu Gothic"/>
                <a:cs typeface="Yu Gothic"/>
              </a:rPr>
              <a:t>TopCell</a:t>
            </a:r>
          </a:p>
        </p:txBody>
      </p:sp>
      <p:sp>
        <p:nvSpPr>
          <p:cNvPr id="11" name="">
            <a:extLst xmlns:a="http://schemas.openxmlformats.org/drawingml/2006/main">
              <a:ext uri="{FF2B5EF4-FFF2-40B4-BE49-F238E27FC236}">
                <a16:creationId xmlns:a16="http://schemas.microsoft.com/office/drawing/2014/main" id="{0FF271A5-1768-44D5-B1C2-CC4B1C0A170A}"/>
              </a:ext>
            </a:extLst>
          </p:cNvPr>
          <p:cNvSpPr>
            <a:spLocks xmlns:a="http://schemas.openxmlformats.org/drawingml/2006/main" noGrp="1"/>
          </p:cNvSpPr>
          <p:nvPr/>
        </p:nvSpPr>
        <p:spPr>
          <a:xfrm xmlns:a="http://schemas.openxmlformats.org/drawingml/2006/main">
            <a:off x="695325" y="193357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228 train / 12 forecast / 5 monitor</a:t>
            </a:r>
          </a:p>
        </p:txBody>
      </p:sp>
      <p:sp>
        <p:nvSpPr>
          <p:cNvPr id="12" name="">
            <a:extLst xmlns:a="http://schemas.openxmlformats.org/drawingml/2006/main">
              <a:ext uri="{FF2B5EF4-FFF2-40B4-BE49-F238E27FC236}">
                <a16:creationId xmlns:a16="http://schemas.microsoft.com/office/drawing/2014/main" id="{6823F900-BD2C-42CA-B4EA-AF0A385E166A}"/>
              </a:ext>
            </a:extLst>
          </p:cNvPr>
          <p:cNvSpPr>
            <a:spLocks xmlns:a="http://schemas.openxmlformats.org/drawingml/2006/main" noGrp="1"/>
          </p:cNvSpPr>
          <p:nvPr/>
        </p:nvSpPr>
        <p:spPr>
          <a:xfrm xmlns:a="http://schemas.openxmlformats.org/drawingml/2006/main">
            <a:off x="253365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3" name="">
            <a:extLst xmlns:a="http://schemas.openxmlformats.org/drawingml/2006/main">
              <a:ext uri="{FF2B5EF4-FFF2-40B4-BE49-F238E27FC236}">
                <a16:creationId xmlns:a16="http://schemas.microsoft.com/office/drawing/2014/main" id="{B0482EAC-DE21-4548-B385-5E444C831D9C}"/>
              </a:ext>
            </a:extLst>
          </p:cNvPr>
          <p:cNvSpPr>
            <a:spLocks xmlns:a="http://schemas.openxmlformats.org/drawingml/2006/main" noGrp="1"/>
          </p:cNvSpPr>
          <p:nvPr/>
        </p:nvSpPr>
        <p:spPr>
          <a:xfrm xmlns:a="http://schemas.openxmlformats.org/drawingml/2006/main">
            <a:off x="253365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2A3FC4E-BB5A-4A21-9A9B-E6D3ADC81FBB}"/>
              </a:ext>
            </a:extLst>
          </p:cNvPr>
          <p:cNvSpPr>
            <a:spLocks xmlns:a="http://schemas.openxmlformats.org/drawingml/2006/main" noGrp="1"/>
          </p:cNvSpPr>
          <p:nvPr/>
        </p:nvSpPr>
        <p:spPr>
          <a:xfrm xmlns:a="http://schemas.openxmlformats.org/drawingml/2006/main">
            <a:off x="269557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synthetic truth</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generate</a:t>
            </a:r>
          </a:p>
        </p:txBody>
      </p:sp>
      <p:sp>
        <p:nvSpPr>
          <p:cNvPr id="15" name="">
            <a:extLst xmlns:a="http://schemas.openxmlformats.org/drawingml/2006/main">
              <a:ext uri="{FF2B5EF4-FFF2-40B4-BE49-F238E27FC236}">
                <a16:creationId xmlns:a16="http://schemas.microsoft.com/office/drawing/2014/main" id="{D850C7D0-3BAF-45EF-97FD-BABFAC482FF9}"/>
              </a:ext>
            </a:extLst>
          </p:cNvPr>
          <p:cNvSpPr>
            <a:spLocks xmlns:a="http://schemas.openxmlformats.org/drawingml/2006/main" noGrp="1"/>
          </p:cNvSpPr>
          <p:nvPr/>
        </p:nvSpPr>
        <p:spPr>
          <a:xfrm xmlns:a="http://schemas.openxmlformats.org/drawingml/2006/main">
            <a:off x="480060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F79A9614-329C-4349-AF34-13CDDD9D618F}"/>
              </a:ext>
            </a:extLst>
          </p:cNvPr>
          <p:cNvSpPr>
            <a:spLocks xmlns:a="http://schemas.openxmlformats.org/drawingml/2006/main" noGrp="1"/>
          </p:cNvSpPr>
          <p:nvPr/>
        </p:nvSpPr>
        <p:spPr>
          <a:xfrm xmlns:a="http://schemas.openxmlformats.org/drawingml/2006/main">
            <a:off x="480060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B8F9F94-A5FC-421C-994B-DC22208A3783}"/>
              </a:ext>
            </a:extLst>
          </p:cNvPr>
          <p:cNvSpPr>
            <a:spLocks xmlns:a="http://schemas.openxmlformats.org/drawingml/2006/main" noGrp="1"/>
          </p:cNvSpPr>
          <p:nvPr/>
        </p:nvSpPr>
        <p:spPr>
          <a:xfrm xmlns:a="http://schemas.openxmlformats.org/drawingml/2006/main">
            <a:off x="496252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celltemp train</a:t>
            </a:r>
          </a:p>
        </p:txBody>
      </p:sp>
      <p:sp>
        <p:nvSpPr>
          <p:cNvPr id="18" name="">
            <a:extLst xmlns:a="http://schemas.openxmlformats.org/drawingml/2006/main">
              <a:ext uri="{FF2B5EF4-FFF2-40B4-BE49-F238E27FC236}">
                <a16:creationId xmlns:a16="http://schemas.microsoft.com/office/drawing/2014/main" id="{DAA894A1-1B30-4803-9B34-50FD036BFFE0}"/>
              </a:ext>
            </a:extLst>
          </p:cNvPr>
          <p:cNvSpPr>
            <a:spLocks xmlns:a="http://schemas.openxmlformats.org/drawingml/2006/main" noGrp="1"/>
          </p:cNvSpPr>
          <p:nvPr/>
        </p:nvSpPr>
        <p:spPr>
          <a:xfrm xmlns:a="http://schemas.openxmlformats.org/drawingml/2006/main">
            <a:off x="706755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7A74084B-B997-4B49-847B-50F271F988B1}"/>
              </a:ext>
            </a:extLst>
          </p:cNvPr>
          <p:cNvSpPr>
            <a:spLocks xmlns:a="http://schemas.openxmlformats.org/drawingml/2006/main" noGrp="1"/>
          </p:cNvSpPr>
          <p:nvPr/>
        </p:nvSpPr>
        <p:spPr>
          <a:xfrm xmlns:a="http://schemas.openxmlformats.org/drawingml/2006/main">
            <a:off x="706755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D5E65CF-57D4-4DFB-A23D-CF8893E82DFD}"/>
              </a:ext>
            </a:extLst>
          </p:cNvPr>
          <p:cNvSpPr>
            <a:spLocks xmlns:a="http://schemas.openxmlformats.org/drawingml/2006/main" noGrp="1"/>
          </p:cNvSpPr>
          <p:nvPr/>
        </p:nvSpPr>
        <p:spPr>
          <a:xfrm xmlns:a="http://schemas.openxmlformats.org/drawingml/2006/main">
            <a:off x="722947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forecast +</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monitor</a:t>
            </a:r>
          </a:p>
        </p:txBody>
      </p:sp>
      <p:sp>
        <p:nvSpPr>
          <p:cNvPr id="21" name="">
            <a:extLst xmlns:a="http://schemas.openxmlformats.org/drawingml/2006/main">
              <a:ext uri="{FF2B5EF4-FFF2-40B4-BE49-F238E27FC236}">
                <a16:creationId xmlns:a16="http://schemas.microsoft.com/office/drawing/2014/main" id="{E5E72D04-052B-463D-BD6E-6736004B5399}"/>
              </a:ext>
            </a:extLst>
          </p:cNvPr>
          <p:cNvSpPr>
            <a:spLocks xmlns:a="http://schemas.openxmlformats.org/drawingml/2006/main" noGrp="1"/>
          </p:cNvSpPr>
          <p:nvPr/>
        </p:nvSpPr>
        <p:spPr>
          <a:xfrm xmlns:a="http://schemas.openxmlformats.org/drawingml/2006/main">
            <a:off x="9334500" y="14763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8680CE7F-942F-4D9C-BF5D-6A10FC5260E2}"/>
              </a:ext>
            </a:extLst>
          </p:cNvPr>
          <p:cNvSpPr>
            <a:spLocks xmlns:a="http://schemas.openxmlformats.org/drawingml/2006/main" noGrp="1"/>
          </p:cNvSpPr>
          <p:nvPr/>
        </p:nvSpPr>
        <p:spPr>
          <a:xfrm xmlns:a="http://schemas.openxmlformats.org/drawingml/2006/main">
            <a:off x="9334500" y="1476375"/>
            <a:ext cx="57150" cy="96202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5836A9D-B8DD-4A0D-9069-0FA05A8DEC7E}"/>
              </a:ext>
            </a:extLst>
          </p:cNvPr>
          <p:cNvSpPr>
            <a:spLocks xmlns:a="http://schemas.openxmlformats.org/drawingml/2006/main" noGrp="1"/>
          </p:cNvSpPr>
          <p:nvPr/>
        </p:nvSpPr>
        <p:spPr>
          <a:xfrm xmlns:a="http://schemas.openxmlformats.org/drawingml/2006/main">
            <a:off x="9496425" y="16287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evaluate</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benchmark</a:t>
            </a:r>
          </a:p>
        </p:txBody>
      </p:sp>
      <p:cxnSp>
        <p:nvCxnSpPr>
          <p:cNvPr id="87" name=""/>
          <p:cNvCxnSpPr>
            <a:stCxn xmlns:a="http://schemas.openxmlformats.org/drawingml/2006/main" id="12" idx="3"/>
            <a:endCxn xmlns:a="http://schemas.openxmlformats.org/drawingml/2006/main" id="15" idx="1"/>
          </p:cNvCxnSpPr>
          <p:nvPr/>
        </p:nvCxnSpPr>
        <p:spPr>
          <a:xfrm xmlns:a="http://schemas.openxmlformats.org/drawingml/2006/main">
            <a:off x="440055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cxnSp>
        <p:nvCxnSpPr>
          <p:cNvPr id="88" name=""/>
          <p:cNvCxnSpPr>
            <a:stCxn xmlns:a="http://schemas.openxmlformats.org/drawingml/2006/main" id="15" idx="3"/>
            <a:endCxn xmlns:a="http://schemas.openxmlformats.org/drawingml/2006/main" id="18" idx="1"/>
          </p:cNvCxnSpPr>
          <p:nvPr/>
        </p:nvCxnSpPr>
        <p:spPr>
          <a:xfrm xmlns:a="http://schemas.openxmlformats.org/drawingml/2006/main">
            <a:off x="666750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cxnSp>
        <p:nvCxnSpPr>
          <p:cNvPr id="89" name=""/>
          <p:cNvCxnSpPr>
            <a:stCxn xmlns:a="http://schemas.openxmlformats.org/drawingml/2006/main" id="18" idx="3"/>
            <a:endCxn xmlns:a="http://schemas.openxmlformats.org/drawingml/2006/main" id="21" idx="1"/>
          </p:cNvCxnSpPr>
          <p:nvPr/>
        </p:nvCxnSpPr>
        <p:spPr>
          <a:xfrm xmlns:a="http://schemas.openxmlformats.org/drawingml/2006/main">
            <a:off x="8934450" y="1957388"/>
            <a:ext cx="400050" cy="0"/>
          </a:xfrm>
          <a:prstGeom xmlns:a="http://schemas.openxmlformats.org/drawingml/2006/main" prst="straightConnector1">
            <a:avLst/>
          </a:prstGeom>
          <a:ln xmlns:a="http://schemas.openxmlformats.org/drawingml/2006/main" w="14288">
            <a:solidFill>
              <a:srgbClr val="76BE18"/>
            </a:solidFill>
            <a:prstDash val="solid"/>
            <a:tailEnd type="triangle" w="sm" len="sm"/>
          </a:ln>
        </p:spPr>
      </p:cxnSp>
      <p:sp>
        <p:nvSpPr>
          <p:cNvPr id="27" name="">
            <a:extLst xmlns:a="http://schemas.openxmlformats.org/drawingml/2006/main">
              <a:ext uri="{FF2B5EF4-FFF2-40B4-BE49-F238E27FC236}">
                <a16:creationId xmlns:a16="http://schemas.microsoft.com/office/drawing/2014/main" id="{B859DA28-80B2-4AD8-AD63-0378E94CB8AC}"/>
              </a:ext>
            </a:extLst>
          </p:cNvPr>
          <p:cNvSpPr>
            <a:spLocks xmlns:a="http://schemas.openxmlformats.org/drawingml/2006/main" noGrp="1"/>
          </p:cNvSpPr>
          <p:nvPr/>
        </p:nvSpPr>
        <p:spPr>
          <a:xfrm xmlns:a="http://schemas.openxmlformats.org/drawingml/2006/main">
            <a:off x="552450" y="2714625"/>
            <a:ext cx="1581150" cy="962025"/>
          </a:xfrm>
          <a:prstGeom xmlns:a="http://schemas.openxmlformats.org/drawingml/2006/main" prst="rect">
            <a:avLst/>
          </a:prstGeom>
          <a:solidFill xmlns:a="http://schemas.openxmlformats.org/drawingml/2006/main">
            <a:srgbClr val="E5F6FB"/>
          </a:solidFill>
          <a:ln xmlns:a="http://schemas.openxmlformats.org/drawingml/2006/main" w="9525">
            <a:solidFill>
              <a:srgbClr val="00A5D8"/>
            </a:solidFill>
            <a:prstDash val="solid"/>
          </a:ln>
        </p:spPr>
      </p:sp>
      <p:sp>
        <p:nvSpPr>
          <p:cNvPr id="28" name="">
            <a:extLst xmlns:a="http://schemas.openxmlformats.org/drawingml/2006/main">
              <a:ext uri="{FF2B5EF4-FFF2-40B4-BE49-F238E27FC236}">
                <a16:creationId xmlns:a16="http://schemas.microsoft.com/office/drawing/2014/main" id="{A67BE406-6E73-4679-A5F4-DCB27A5DF4B3}"/>
              </a:ext>
            </a:extLst>
          </p:cNvPr>
          <p:cNvSpPr>
            <a:spLocks xmlns:a="http://schemas.openxmlformats.org/drawingml/2006/main" noGrp="1"/>
          </p:cNvSpPr>
          <p:nvPr/>
        </p:nvSpPr>
        <p:spPr>
          <a:xfrm xmlns:a="http://schemas.openxmlformats.org/drawingml/2006/main">
            <a:off x="695325" y="284797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00A5D8"/>
                </a:solidFill>
                <a:latin typeface="Yu Gothic"/>
                <a:ea typeface="Yu Gothic"/>
                <a:cs typeface="Yu Gothic"/>
              </a:defRPr>
            </a:pPr>
            <a:r>
              <a:rPr sz="1200" b="1" i="0">
                <a:solidFill>
                  <a:srgbClr val="00A5D8"/>
                </a:solidFill>
                <a:latin typeface="Yu Gothic"/>
                <a:ea typeface="Yu Gothic"/>
                <a:cs typeface="Yu Gothic"/>
              </a:rPr>
              <a:t>Linear COMSOL</a:t>
            </a:r>
          </a:p>
        </p:txBody>
      </p:sp>
      <p:sp>
        <p:nvSpPr>
          <p:cNvPr id="29" name="">
            <a:extLst xmlns:a="http://schemas.openxmlformats.org/drawingml/2006/main">
              <a:ext uri="{FF2B5EF4-FFF2-40B4-BE49-F238E27FC236}">
                <a16:creationId xmlns:a16="http://schemas.microsoft.com/office/drawing/2014/main" id="{AF262BB7-0A62-4B1F-9A7B-7FAF4B68C937}"/>
              </a:ext>
            </a:extLst>
          </p:cNvPr>
          <p:cNvSpPr>
            <a:spLocks xmlns:a="http://schemas.openxmlformats.org/drawingml/2006/main" noGrp="1"/>
          </p:cNvSpPr>
          <p:nvPr/>
        </p:nvSpPr>
        <p:spPr>
          <a:xfrm xmlns:a="http://schemas.openxmlformats.org/drawingml/2006/main">
            <a:off x="695325" y="317182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8 forecast cases; volume-average target</a:t>
            </a:r>
          </a:p>
        </p:txBody>
      </p:sp>
      <p:sp>
        <p:nvSpPr>
          <p:cNvPr id="30" name="">
            <a:extLst xmlns:a="http://schemas.openxmlformats.org/drawingml/2006/main">
              <a:ext uri="{FF2B5EF4-FFF2-40B4-BE49-F238E27FC236}">
                <a16:creationId xmlns:a16="http://schemas.microsoft.com/office/drawing/2014/main" id="{EF507A31-372A-420A-9F6E-A505730102F9}"/>
              </a:ext>
            </a:extLst>
          </p:cNvPr>
          <p:cNvSpPr>
            <a:spLocks xmlns:a="http://schemas.openxmlformats.org/drawingml/2006/main" noGrp="1"/>
          </p:cNvSpPr>
          <p:nvPr/>
        </p:nvSpPr>
        <p:spPr>
          <a:xfrm xmlns:a="http://schemas.openxmlformats.org/drawingml/2006/main">
            <a:off x="253365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1DCA25FE-BCEE-43B9-BE0F-CE5BE2D4A121}"/>
              </a:ext>
            </a:extLst>
          </p:cNvPr>
          <p:cNvSpPr>
            <a:spLocks xmlns:a="http://schemas.openxmlformats.org/drawingml/2006/main" noGrp="1"/>
          </p:cNvSpPr>
          <p:nvPr/>
        </p:nvSpPr>
        <p:spPr>
          <a:xfrm xmlns:a="http://schemas.openxmlformats.org/drawingml/2006/main">
            <a:off x="253365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8524F40-7BD3-4DFA-B2DC-B833F38FB167}"/>
              </a:ext>
            </a:extLst>
          </p:cNvPr>
          <p:cNvSpPr>
            <a:spLocks xmlns:a="http://schemas.openxmlformats.org/drawingml/2006/main" noGrp="1"/>
          </p:cNvSpPr>
          <p:nvPr/>
        </p:nvSpPr>
        <p:spPr>
          <a:xfrm xmlns:a="http://schemas.openxmlformats.org/drawingml/2006/main">
            <a:off x="269557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COMSOL export</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 QA</a:t>
            </a:r>
          </a:p>
        </p:txBody>
      </p:sp>
      <p:sp>
        <p:nvSpPr>
          <p:cNvPr id="33" name="">
            <a:extLst xmlns:a="http://schemas.openxmlformats.org/drawingml/2006/main">
              <a:ext uri="{FF2B5EF4-FFF2-40B4-BE49-F238E27FC236}">
                <a16:creationId xmlns:a16="http://schemas.microsoft.com/office/drawing/2014/main" id="{7BEEE08D-B9A0-4B6A-9E62-707F96F61A3A}"/>
              </a:ext>
            </a:extLst>
          </p:cNvPr>
          <p:cNvSpPr>
            <a:spLocks xmlns:a="http://schemas.openxmlformats.org/drawingml/2006/main" noGrp="1"/>
          </p:cNvSpPr>
          <p:nvPr/>
        </p:nvSpPr>
        <p:spPr>
          <a:xfrm xmlns:a="http://schemas.openxmlformats.org/drawingml/2006/main">
            <a:off x="480060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4" name="">
            <a:extLst xmlns:a="http://schemas.openxmlformats.org/drawingml/2006/main">
              <a:ext uri="{FF2B5EF4-FFF2-40B4-BE49-F238E27FC236}">
                <a16:creationId xmlns:a16="http://schemas.microsoft.com/office/drawing/2014/main" id="{20743544-3F3B-4FCC-9F2B-703B9ED053AA}"/>
              </a:ext>
            </a:extLst>
          </p:cNvPr>
          <p:cNvSpPr>
            <a:spLocks xmlns:a="http://schemas.openxmlformats.org/drawingml/2006/main" noGrp="1"/>
          </p:cNvSpPr>
          <p:nvPr/>
        </p:nvSpPr>
        <p:spPr>
          <a:xfrm xmlns:a="http://schemas.openxmlformats.org/drawingml/2006/main">
            <a:off x="480060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19488EB-376F-47D8-87C1-A6C8655B2783}"/>
              </a:ext>
            </a:extLst>
          </p:cNvPr>
          <p:cNvSpPr>
            <a:spLocks xmlns:a="http://schemas.openxmlformats.org/drawingml/2006/main" noGrp="1"/>
          </p:cNvSpPr>
          <p:nvPr/>
        </p:nvSpPr>
        <p:spPr>
          <a:xfrm xmlns:a="http://schemas.openxmlformats.org/drawingml/2006/main">
            <a:off x="496252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celltemp train</a:t>
            </a:r>
          </a:p>
        </p:txBody>
      </p:sp>
      <p:sp>
        <p:nvSpPr>
          <p:cNvPr id="36" name="">
            <a:extLst xmlns:a="http://schemas.openxmlformats.org/drawingml/2006/main">
              <a:ext uri="{FF2B5EF4-FFF2-40B4-BE49-F238E27FC236}">
                <a16:creationId xmlns:a16="http://schemas.microsoft.com/office/drawing/2014/main" id="{DEA98271-2F7C-46DE-A959-26003DB34928}"/>
              </a:ext>
            </a:extLst>
          </p:cNvPr>
          <p:cNvSpPr>
            <a:spLocks xmlns:a="http://schemas.openxmlformats.org/drawingml/2006/main" noGrp="1"/>
          </p:cNvSpPr>
          <p:nvPr/>
        </p:nvSpPr>
        <p:spPr>
          <a:xfrm xmlns:a="http://schemas.openxmlformats.org/drawingml/2006/main">
            <a:off x="706755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7" name="">
            <a:extLst xmlns:a="http://schemas.openxmlformats.org/drawingml/2006/main">
              <a:ext uri="{FF2B5EF4-FFF2-40B4-BE49-F238E27FC236}">
                <a16:creationId xmlns:a16="http://schemas.microsoft.com/office/drawing/2014/main" id="{A0C4393A-C635-4345-956E-67EFF8EDDDD3}"/>
              </a:ext>
            </a:extLst>
          </p:cNvPr>
          <p:cNvSpPr>
            <a:spLocks xmlns:a="http://schemas.openxmlformats.org/drawingml/2006/main" noGrp="1"/>
          </p:cNvSpPr>
          <p:nvPr/>
        </p:nvSpPr>
        <p:spPr>
          <a:xfrm xmlns:a="http://schemas.openxmlformats.org/drawingml/2006/main">
            <a:off x="706755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2F6433B-4B26-4B23-9C4E-0E60AA1619C4}"/>
              </a:ext>
            </a:extLst>
          </p:cNvPr>
          <p:cNvSpPr>
            <a:spLocks xmlns:a="http://schemas.openxmlformats.org/drawingml/2006/main" noGrp="1"/>
          </p:cNvSpPr>
          <p:nvPr/>
        </p:nvSpPr>
        <p:spPr>
          <a:xfrm xmlns:a="http://schemas.openxmlformats.org/drawingml/2006/main">
            <a:off x="722947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external holdout</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forecast / monitor</a:t>
            </a:r>
          </a:p>
        </p:txBody>
      </p:sp>
      <p:sp>
        <p:nvSpPr>
          <p:cNvPr id="39" name="">
            <a:extLst xmlns:a="http://schemas.openxmlformats.org/drawingml/2006/main">
              <a:ext uri="{FF2B5EF4-FFF2-40B4-BE49-F238E27FC236}">
                <a16:creationId xmlns:a16="http://schemas.microsoft.com/office/drawing/2014/main" id="{40DF0677-0A3B-4A2C-80F9-C2B65F1F3D1C}"/>
              </a:ext>
            </a:extLst>
          </p:cNvPr>
          <p:cNvSpPr>
            <a:spLocks xmlns:a="http://schemas.openxmlformats.org/drawingml/2006/main" noGrp="1"/>
          </p:cNvSpPr>
          <p:nvPr/>
        </p:nvSpPr>
        <p:spPr>
          <a:xfrm xmlns:a="http://schemas.openxmlformats.org/drawingml/2006/main">
            <a:off x="9334500" y="271462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0" name="">
            <a:extLst xmlns:a="http://schemas.openxmlformats.org/drawingml/2006/main">
              <a:ext uri="{FF2B5EF4-FFF2-40B4-BE49-F238E27FC236}">
                <a16:creationId xmlns:a16="http://schemas.microsoft.com/office/drawing/2014/main" id="{7A34699E-B7D1-4B5D-9FC7-D5FE669A4B4C}"/>
              </a:ext>
            </a:extLst>
          </p:cNvPr>
          <p:cNvSpPr>
            <a:spLocks xmlns:a="http://schemas.openxmlformats.org/drawingml/2006/main" noGrp="1"/>
          </p:cNvSpPr>
          <p:nvPr/>
        </p:nvSpPr>
        <p:spPr>
          <a:xfrm xmlns:a="http://schemas.openxmlformats.org/drawingml/2006/main">
            <a:off x="9334500" y="2714625"/>
            <a:ext cx="57150" cy="96202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0719DB78-9F22-450B-A097-8E719FF66422}"/>
              </a:ext>
            </a:extLst>
          </p:cNvPr>
          <p:cNvSpPr>
            <a:spLocks xmlns:a="http://schemas.openxmlformats.org/drawingml/2006/main" noGrp="1"/>
          </p:cNvSpPr>
          <p:nvPr/>
        </p:nvSpPr>
        <p:spPr>
          <a:xfrm xmlns:a="http://schemas.openxmlformats.org/drawingml/2006/main">
            <a:off x="9496425" y="286702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evaluate.py</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metrics</a:t>
            </a:r>
          </a:p>
        </p:txBody>
      </p:sp>
      <p:cxnSp>
        <p:nvCxnSpPr>
          <p:cNvPr id="105" name=""/>
          <p:cNvCxnSpPr>
            <a:stCxn xmlns:a="http://schemas.openxmlformats.org/drawingml/2006/main" id="30" idx="3"/>
            <a:endCxn xmlns:a="http://schemas.openxmlformats.org/drawingml/2006/main" id="33" idx="1"/>
          </p:cNvCxnSpPr>
          <p:nvPr/>
        </p:nvCxnSpPr>
        <p:spPr>
          <a:xfrm xmlns:a="http://schemas.openxmlformats.org/drawingml/2006/main">
            <a:off x="440055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cxnSp>
        <p:nvCxnSpPr>
          <p:cNvPr id="106" name=""/>
          <p:cNvCxnSpPr>
            <a:stCxn xmlns:a="http://schemas.openxmlformats.org/drawingml/2006/main" id="33" idx="3"/>
            <a:endCxn xmlns:a="http://schemas.openxmlformats.org/drawingml/2006/main" id="36" idx="1"/>
          </p:cNvCxnSpPr>
          <p:nvPr/>
        </p:nvCxnSpPr>
        <p:spPr>
          <a:xfrm xmlns:a="http://schemas.openxmlformats.org/drawingml/2006/main">
            <a:off x="666750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cxnSp>
        <p:nvCxnSpPr>
          <p:cNvPr id="107" name=""/>
          <p:cNvCxnSpPr>
            <a:stCxn xmlns:a="http://schemas.openxmlformats.org/drawingml/2006/main" id="36" idx="3"/>
            <a:endCxn xmlns:a="http://schemas.openxmlformats.org/drawingml/2006/main" id="39" idx="1"/>
          </p:cNvCxnSpPr>
          <p:nvPr/>
        </p:nvCxnSpPr>
        <p:spPr>
          <a:xfrm xmlns:a="http://schemas.openxmlformats.org/drawingml/2006/main">
            <a:off x="8934450" y="3195638"/>
            <a:ext cx="400050" cy="0"/>
          </a:xfrm>
          <a:prstGeom xmlns:a="http://schemas.openxmlformats.org/drawingml/2006/main" prst="straightConnector1">
            <a:avLst/>
          </a:prstGeom>
          <a:ln xmlns:a="http://schemas.openxmlformats.org/drawingml/2006/main" w="14288">
            <a:solidFill>
              <a:srgbClr val="00A5D8"/>
            </a:solidFill>
            <a:prstDash val="solid"/>
            <a:tailEnd type="triangle" w="sm" len="sm"/>
          </a:ln>
        </p:spPr>
      </p:cxnSp>
      <p:sp>
        <p:nvSpPr>
          <p:cNvPr id="45" name="">
            <a:extLst xmlns:a="http://schemas.openxmlformats.org/drawingml/2006/main">
              <a:ext uri="{FF2B5EF4-FFF2-40B4-BE49-F238E27FC236}">
                <a16:creationId xmlns:a16="http://schemas.microsoft.com/office/drawing/2014/main" id="{F688CFFD-3E44-4C89-BBE5-90C3941D07FB}"/>
              </a:ext>
            </a:extLst>
          </p:cNvPr>
          <p:cNvSpPr>
            <a:spLocks xmlns:a="http://schemas.openxmlformats.org/drawingml/2006/main" noGrp="1"/>
          </p:cNvSpPr>
          <p:nvPr/>
        </p:nvSpPr>
        <p:spPr>
          <a:xfrm xmlns:a="http://schemas.openxmlformats.org/drawingml/2006/main">
            <a:off x="552450" y="3952875"/>
            <a:ext cx="1581150" cy="96202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46" name="">
            <a:extLst xmlns:a="http://schemas.openxmlformats.org/drawingml/2006/main">
              <a:ext uri="{FF2B5EF4-FFF2-40B4-BE49-F238E27FC236}">
                <a16:creationId xmlns:a16="http://schemas.microsoft.com/office/drawing/2014/main" id="{8E2017F6-3459-4A75-B5A1-0094E07EB000}"/>
              </a:ext>
            </a:extLst>
          </p:cNvPr>
          <p:cNvSpPr>
            <a:spLocks xmlns:a="http://schemas.openxmlformats.org/drawingml/2006/main" noGrp="1"/>
          </p:cNvSpPr>
          <p:nvPr/>
        </p:nvSpPr>
        <p:spPr>
          <a:xfrm xmlns:a="http://schemas.openxmlformats.org/drawingml/2006/main">
            <a:off x="695325" y="4086225"/>
            <a:ext cx="1295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1200" b="1" i="0">
                <a:solidFill>
                  <a:srgbClr val="7B2DAF"/>
                </a:solidFill>
                <a:latin typeface="Yu Gothic"/>
                <a:ea typeface="Yu Gothic"/>
                <a:cs typeface="Yu Gothic"/>
              </a:defRPr>
            </a:pPr>
            <a:r>
              <a:rPr sz="1200" b="1" i="0">
                <a:solidFill>
                  <a:srgbClr val="7B2DAF"/>
                </a:solidFill>
                <a:latin typeface="Yu Gothic"/>
                <a:ea typeface="Yu Gothic"/>
                <a:cs typeface="Yu Gothic"/>
              </a:rPr>
              <a:t>High fidelity</a:t>
            </a:r>
          </a:p>
        </p:txBody>
      </p:sp>
      <p:sp>
        <p:nvSpPr>
          <p:cNvPr id="47" name="">
            <a:extLst xmlns:a="http://schemas.openxmlformats.org/drawingml/2006/main">
              <a:ext uri="{FF2B5EF4-FFF2-40B4-BE49-F238E27FC236}">
                <a16:creationId xmlns:a16="http://schemas.microsoft.com/office/drawing/2014/main" id="{26D1B013-BE7B-4DF8-B2A5-875950F2FD82}"/>
              </a:ext>
            </a:extLst>
          </p:cNvPr>
          <p:cNvSpPr>
            <a:spLocks xmlns:a="http://schemas.openxmlformats.org/drawingml/2006/main" noGrp="1"/>
          </p:cNvSpPr>
          <p:nvPr/>
        </p:nvSpPr>
        <p:spPr>
          <a:xfrm xmlns:a="http://schemas.openxmlformats.org/drawingml/2006/main">
            <a:off x="695325" y="4410075"/>
            <a:ext cx="129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3000"/>
              </a:lnSpc>
              <a:buNone/>
              <a:defRPr sz="728" b="0" i="0">
                <a:solidFill>
                  <a:srgbClr val="5B5B5B"/>
                </a:solidFill>
                <a:latin typeface="Yu Gothic"/>
                <a:ea typeface="Yu Gothic"/>
                <a:cs typeface="Yu Gothic"/>
              </a:defRPr>
            </a:pPr>
            <a:r>
              <a:rPr sz="728" b="0" i="0">
                <a:solidFill>
                  <a:srgbClr val="5B5B5B"/>
                </a:solidFill>
                <a:latin typeface="Yu Gothic"/>
                <a:ea typeface="Yu Gothic"/>
                <a:cs typeface="Yu Gothic"/>
              </a:rPr>
              <a:t>ordinary report refresh does not rerun COMSOL</a:t>
            </a:r>
          </a:p>
        </p:txBody>
      </p:sp>
      <p:sp>
        <p:nvSpPr>
          <p:cNvPr id="48" name="">
            <a:extLst xmlns:a="http://schemas.openxmlformats.org/drawingml/2006/main">
              <a:ext uri="{FF2B5EF4-FFF2-40B4-BE49-F238E27FC236}">
                <a16:creationId xmlns:a16="http://schemas.microsoft.com/office/drawing/2014/main" id="{CA8F973A-62F8-48EA-9EA3-527A1AC23B33}"/>
              </a:ext>
            </a:extLst>
          </p:cNvPr>
          <p:cNvSpPr>
            <a:spLocks xmlns:a="http://schemas.openxmlformats.org/drawingml/2006/main" noGrp="1"/>
          </p:cNvSpPr>
          <p:nvPr/>
        </p:nvSpPr>
        <p:spPr>
          <a:xfrm xmlns:a="http://schemas.openxmlformats.org/drawingml/2006/main">
            <a:off x="253365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49" name="">
            <a:extLst xmlns:a="http://schemas.openxmlformats.org/drawingml/2006/main">
              <a:ext uri="{FF2B5EF4-FFF2-40B4-BE49-F238E27FC236}">
                <a16:creationId xmlns:a16="http://schemas.microsoft.com/office/drawing/2014/main" id="{E4DF7CCB-DA0E-4514-965C-06988B88BBE8}"/>
              </a:ext>
            </a:extLst>
          </p:cNvPr>
          <p:cNvSpPr>
            <a:spLocks xmlns:a="http://schemas.openxmlformats.org/drawingml/2006/main" noGrp="1"/>
          </p:cNvSpPr>
          <p:nvPr/>
        </p:nvSpPr>
        <p:spPr>
          <a:xfrm xmlns:a="http://schemas.openxmlformats.org/drawingml/2006/main">
            <a:off x="253365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6831E3C-9D13-4CC8-9D39-64C473DC2908}"/>
              </a:ext>
            </a:extLst>
          </p:cNvPr>
          <p:cNvSpPr>
            <a:spLocks xmlns:a="http://schemas.openxmlformats.org/drawingml/2006/main" noGrp="1"/>
          </p:cNvSpPr>
          <p:nvPr/>
        </p:nvSpPr>
        <p:spPr>
          <a:xfrm xmlns:a="http://schemas.openxmlformats.org/drawingml/2006/main">
            <a:off x="269557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mesh / time /</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radiation evidence</a:t>
            </a:r>
          </a:p>
        </p:txBody>
      </p:sp>
      <p:sp>
        <p:nvSpPr>
          <p:cNvPr id="51" name="">
            <a:extLst xmlns:a="http://schemas.openxmlformats.org/drawingml/2006/main">
              <a:ext uri="{FF2B5EF4-FFF2-40B4-BE49-F238E27FC236}">
                <a16:creationId xmlns:a16="http://schemas.microsoft.com/office/drawing/2014/main" id="{2A5C4AC8-53E4-4128-8356-3784036CC2F3}"/>
              </a:ext>
            </a:extLst>
          </p:cNvPr>
          <p:cNvSpPr>
            <a:spLocks xmlns:a="http://schemas.openxmlformats.org/drawingml/2006/main" noGrp="1"/>
          </p:cNvSpPr>
          <p:nvPr/>
        </p:nvSpPr>
        <p:spPr>
          <a:xfrm xmlns:a="http://schemas.openxmlformats.org/drawingml/2006/main">
            <a:off x="480060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2" name="">
            <a:extLst xmlns:a="http://schemas.openxmlformats.org/drawingml/2006/main">
              <a:ext uri="{FF2B5EF4-FFF2-40B4-BE49-F238E27FC236}">
                <a16:creationId xmlns:a16="http://schemas.microsoft.com/office/drawing/2014/main" id="{E9072F41-1080-4862-BF30-51BABEB065B2}"/>
              </a:ext>
            </a:extLst>
          </p:cNvPr>
          <p:cNvSpPr>
            <a:spLocks xmlns:a="http://schemas.openxmlformats.org/drawingml/2006/main" noGrp="1"/>
          </p:cNvSpPr>
          <p:nvPr/>
        </p:nvSpPr>
        <p:spPr>
          <a:xfrm xmlns:a="http://schemas.openxmlformats.org/drawingml/2006/main">
            <a:off x="480060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AC8253A6-9D50-4132-B34C-5EA725049B61}"/>
              </a:ext>
            </a:extLst>
          </p:cNvPr>
          <p:cNvSpPr>
            <a:spLocks xmlns:a="http://schemas.openxmlformats.org/drawingml/2006/main" noGrp="1"/>
          </p:cNvSpPr>
          <p:nvPr/>
        </p:nvSpPr>
        <p:spPr>
          <a:xfrm xmlns:a="http://schemas.openxmlformats.org/drawingml/2006/main">
            <a:off x="496252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benchmark_</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high_fidelity.py</a:t>
            </a:r>
          </a:p>
        </p:txBody>
      </p:sp>
      <p:sp>
        <p:nvSpPr>
          <p:cNvPr id="54" name="">
            <a:extLst xmlns:a="http://schemas.openxmlformats.org/drawingml/2006/main">
              <a:ext uri="{FF2B5EF4-FFF2-40B4-BE49-F238E27FC236}">
                <a16:creationId xmlns:a16="http://schemas.microsoft.com/office/drawing/2014/main" id="{A390C3A8-E035-437A-A904-D266A5E4882E}"/>
              </a:ext>
            </a:extLst>
          </p:cNvPr>
          <p:cNvSpPr>
            <a:spLocks xmlns:a="http://schemas.openxmlformats.org/drawingml/2006/main" noGrp="1"/>
          </p:cNvSpPr>
          <p:nvPr/>
        </p:nvSpPr>
        <p:spPr>
          <a:xfrm xmlns:a="http://schemas.openxmlformats.org/drawingml/2006/main">
            <a:off x="706755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5" name="">
            <a:extLst xmlns:a="http://schemas.openxmlformats.org/drawingml/2006/main">
              <a:ext uri="{FF2B5EF4-FFF2-40B4-BE49-F238E27FC236}">
                <a16:creationId xmlns:a16="http://schemas.microsoft.com/office/drawing/2014/main" id="{5105D267-859E-4CA7-8D8A-B4833332A409}"/>
              </a:ext>
            </a:extLst>
          </p:cNvPr>
          <p:cNvSpPr>
            <a:spLocks xmlns:a="http://schemas.openxmlformats.org/drawingml/2006/main" noGrp="1"/>
          </p:cNvSpPr>
          <p:nvPr/>
        </p:nvSpPr>
        <p:spPr>
          <a:xfrm xmlns:a="http://schemas.openxmlformats.org/drawingml/2006/main">
            <a:off x="706755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EDAAF4B-1F3D-445B-A4F3-BF8C288C1D9A}"/>
              </a:ext>
            </a:extLst>
          </p:cNvPr>
          <p:cNvSpPr>
            <a:spLocks xmlns:a="http://schemas.openxmlformats.org/drawingml/2006/main" noGrp="1"/>
          </p:cNvSpPr>
          <p:nvPr/>
        </p:nvSpPr>
        <p:spPr>
          <a:xfrm xmlns:a="http://schemas.openxmlformats.org/drawingml/2006/main">
            <a:off x="722947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canonical</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source_data</a:t>
            </a:r>
          </a:p>
        </p:txBody>
      </p:sp>
      <p:sp>
        <p:nvSpPr>
          <p:cNvPr id="57" name="">
            <a:extLst xmlns:a="http://schemas.openxmlformats.org/drawingml/2006/main">
              <a:ext uri="{FF2B5EF4-FFF2-40B4-BE49-F238E27FC236}">
                <a16:creationId xmlns:a16="http://schemas.microsoft.com/office/drawing/2014/main" id="{16BE90C5-6ACE-4F8E-9D58-D91330945CC2}"/>
              </a:ext>
            </a:extLst>
          </p:cNvPr>
          <p:cNvSpPr>
            <a:spLocks xmlns:a="http://schemas.openxmlformats.org/drawingml/2006/main" noGrp="1"/>
          </p:cNvSpPr>
          <p:nvPr/>
        </p:nvSpPr>
        <p:spPr>
          <a:xfrm xmlns:a="http://schemas.openxmlformats.org/drawingml/2006/main">
            <a:off x="9334500" y="3952875"/>
            <a:ext cx="1866900" cy="96202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58" name="">
            <a:extLst xmlns:a="http://schemas.openxmlformats.org/drawingml/2006/main">
              <a:ext uri="{FF2B5EF4-FFF2-40B4-BE49-F238E27FC236}">
                <a16:creationId xmlns:a16="http://schemas.microsoft.com/office/drawing/2014/main" id="{CAF1F5EA-82A6-41E7-B42E-FE8165894D9D}"/>
              </a:ext>
            </a:extLst>
          </p:cNvPr>
          <p:cNvSpPr>
            <a:spLocks xmlns:a="http://schemas.openxmlformats.org/drawingml/2006/main" noGrp="1"/>
          </p:cNvSpPr>
          <p:nvPr/>
        </p:nvSpPr>
        <p:spPr>
          <a:xfrm xmlns:a="http://schemas.openxmlformats.org/drawingml/2006/main">
            <a:off x="9334500" y="3952875"/>
            <a:ext cx="57150" cy="96202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59" name="">
            <a:extLst xmlns:a="http://schemas.openxmlformats.org/drawingml/2006/main">
              <a:ext uri="{FF2B5EF4-FFF2-40B4-BE49-F238E27FC236}">
                <a16:creationId xmlns:a16="http://schemas.microsoft.com/office/drawing/2014/main" id="{4F49EC0E-53F8-4DD1-8DFE-7B2BE3637CC4}"/>
              </a:ext>
            </a:extLst>
          </p:cNvPr>
          <p:cNvSpPr>
            <a:spLocks xmlns:a="http://schemas.openxmlformats.org/drawingml/2006/main" noGrp="1"/>
          </p:cNvSpPr>
          <p:nvPr/>
        </p:nvSpPr>
        <p:spPr>
          <a:xfrm xmlns:a="http://schemas.openxmlformats.org/drawingml/2006/main">
            <a:off x="9496425" y="4105275"/>
            <a:ext cx="15430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build_report.py</a:t>
            </a:r>
          </a:p>
          <a:p xmlns:a="http://schemas.openxmlformats.org/drawingml/2006/main">
            <a:pPr algn="ctr">
              <a:lnSpc>
                <a:spcPct val="108000"/>
              </a:lnSpc>
              <a:buNone/>
              <a:defRPr sz="938" b="1" i="0">
                <a:solidFill>
                  <a:srgbClr val="5B5B5B"/>
                </a:solidFill>
                <a:latin typeface="Yu Gothic"/>
                <a:ea typeface="Yu Gothic"/>
                <a:cs typeface="Yu Gothic"/>
              </a:defRPr>
            </a:pPr>
            <a:r>
              <a:rPr sz="938" b="1" i="0">
                <a:solidFill>
                  <a:srgbClr val="5B5B5B"/>
                </a:solidFill>
                <a:latin typeface="Yu Gothic"/>
                <a:ea typeface="Yu Gothic"/>
                <a:cs typeface="Yu Gothic"/>
              </a:rPr>
              <a:t>CAE report</a:t>
            </a:r>
          </a:p>
        </p:txBody>
      </p:sp>
      <p:cxnSp>
        <p:nvCxnSpPr>
          <p:cNvPr id="123" name=""/>
          <p:cNvCxnSpPr>
            <a:stCxn xmlns:a="http://schemas.openxmlformats.org/drawingml/2006/main" id="48" idx="3"/>
            <a:endCxn xmlns:a="http://schemas.openxmlformats.org/drawingml/2006/main" id="51" idx="1"/>
          </p:cNvCxnSpPr>
          <p:nvPr/>
        </p:nvCxnSpPr>
        <p:spPr>
          <a:xfrm xmlns:a="http://schemas.openxmlformats.org/drawingml/2006/main">
            <a:off x="440055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cxnSp>
        <p:nvCxnSpPr>
          <p:cNvPr id="124" name=""/>
          <p:cNvCxnSpPr>
            <a:stCxn xmlns:a="http://schemas.openxmlformats.org/drawingml/2006/main" id="51" idx="3"/>
            <a:endCxn xmlns:a="http://schemas.openxmlformats.org/drawingml/2006/main" id="54" idx="1"/>
          </p:cNvCxnSpPr>
          <p:nvPr/>
        </p:nvCxnSpPr>
        <p:spPr>
          <a:xfrm xmlns:a="http://schemas.openxmlformats.org/drawingml/2006/main">
            <a:off x="666750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cxnSp>
        <p:nvCxnSpPr>
          <p:cNvPr id="125" name=""/>
          <p:cNvCxnSpPr>
            <a:stCxn xmlns:a="http://schemas.openxmlformats.org/drawingml/2006/main" id="54" idx="3"/>
            <a:endCxn xmlns:a="http://schemas.openxmlformats.org/drawingml/2006/main" id="57" idx="1"/>
          </p:cNvCxnSpPr>
          <p:nvPr/>
        </p:nvCxnSpPr>
        <p:spPr>
          <a:xfrm xmlns:a="http://schemas.openxmlformats.org/drawingml/2006/main">
            <a:off x="8934450" y="4433888"/>
            <a:ext cx="400050" cy="0"/>
          </a:xfrm>
          <a:prstGeom xmlns:a="http://schemas.openxmlformats.org/drawingml/2006/main" prst="straightConnector1">
            <a:avLst/>
          </a:prstGeom>
          <a:ln xmlns:a="http://schemas.openxmlformats.org/drawingml/2006/main" w="14288">
            <a:solidFill>
              <a:srgbClr val="7B2DAF"/>
            </a:solidFill>
            <a:prstDash val="solid"/>
            <a:tailEnd type="triangle" w="sm" len="sm"/>
          </a:ln>
        </p:spPr>
      </p:cxnSp>
      <p:graphicFrame>
        <p:nvGraphicFramePr>
          <p:cNvPr id="126" name=""/>
          <p:cNvGraphicFramePr/>
          <p:nvPr/>
        </p:nvGraphicFramePr>
        <p:xfrm>
          <a:off xmlns:a="http://schemas.openxmlformats.org/drawingml/2006/main" x="552450" y="5181600"/>
          <a:ext xmlns:a="http://schemas.openxmlformats.org/drawingml/2006/main" cx="11087100" cy="1057275"/>
        </p:xfrm>
        <a:graphic xmlns:a="http://schemas.openxmlformats.org/drawingml/2006/main">
          <a:graphicData uri="http://schemas.openxmlformats.org/drawingml/2006/table">
            <a:tbl>
              <a:tblPr/>
              <a:tblGrid>
                <a:gridCol w="1924050"/>
                <a:gridCol w="2790825"/>
                <a:gridCol w="3419475"/>
                <a:gridCol w="2952750"/>
              </a:tblGrid>
              <a:tr h="264319">
                <a:tc>
                  <a:txBody>
                    <a:bodyPr/>
                    <a:lstStyle/>
                    <a:p>
                      <a:r>
                        <a:rPr sz="788" b="1">
                          <a:solidFill>
                            <a:srgbClr val="FFFFFF"/>
                          </a:solidFill>
                          <a:latin typeface="Yu Gothic"/>
                          <a:ea typeface="Yu Gothic"/>
                          <a:cs typeface="Yu Gothic"/>
                        </a:rPr>
                        <a:t>evidence layer</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primary output</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主張できる範囲</a:t>
                      </a:r>
                    </a:p>
                  </a:txBody>
                  <a:tcPr marL="91440" marR="91440" marT="45720" marB="45720">
                    <a:solidFill>
                      <a:srgbClr val="007FA8"/>
                    </a:solidFill>
                  </a:tcPr>
                </a:tc>
                <a:tc>
                  <a:txBody>
                    <a:bodyPr/>
                    <a:lstStyle/>
                    <a:p>
                      <a:r>
                        <a:rPr sz="788" b="1">
                          <a:solidFill>
                            <a:srgbClr val="FFFFFF"/>
                          </a:solidFill>
                          <a:latin typeface="Yu Gothic"/>
                          <a:ea typeface="Yu Gothic"/>
                          <a:cs typeface="Yu Gothic"/>
                        </a:rPr>
                        <a:t>停止条件 / 再評価条件</a:t>
                      </a:r>
                    </a:p>
                  </a:txBody>
                  <a:tcPr marL="91440" marR="91440" marT="45720" marB="45720">
                    <a:solidFill>
                      <a:srgbClr val="007FA8"/>
                    </a:solidFill>
                  </a:tcPr>
                </a:tc>
              </a:tr>
              <a:tr h="264319">
                <a:tc>
                  <a:txBody>
                    <a:bodyPr/>
                    <a:lstStyle/>
                    <a:p>
                      <a:r>
                        <a:rPr sz="743" b="1">
                          <a:solidFill>
                            <a:srgbClr val="4D8710"/>
                          </a:solidFill>
                          <a:latin typeface="Yu Gothic"/>
                          <a:ea typeface="Yu Gothic"/>
                          <a:cs typeface="Yu Gothic"/>
                        </a:rPr>
                        <a:t>TopCell</a:t>
                      </a:r>
                    </a:p>
                  </a:txBody>
                  <a:tcPr marL="91440" marR="91440" marT="45720" marB="45720">
                    <a:solidFill>
                      <a:srgbClr val="FFFFFF"/>
                    </a:solidFill>
                  </a:tcPr>
                </a:tc>
                <a:tc>
                  <a:txBody>
                    <a:bodyPr/>
                    <a:lstStyle/>
                    <a:p>
                      <a:r>
                        <a:rPr sz="743">
                          <a:solidFill>
                            <a:srgbClr val="5B5B5B"/>
                          </a:solidFill>
                          <a:latin typeface="Yu Gothic"/>
                          <a:ea typeface="Yu Gothic"/>
                          <a:cs typeface="Yu Gothic"/>
                        </a:rPr>
                        <a:t>benchmark_summary.json</a:t>
                      </a:r>
                    </a:p>
                  </a:txBody>
                  <a:tcPr marL="91440" marR="91440" marT="45720" marB="45720">
                    <a:solidFill>
                      <a:srgbClr val="FFFFFF"/>
                    </a:solidFill>
                  </a:tcPr>
                </a:tc>
                <a:tc>
                  <a:txBody>
                    <a:bodyPr/>
                    <a:lstStyle/>
                    <a:p>
                      <a:r>
                        <a:rPr sz="743">
                          <a:solidFill>
                            <a:srgbClr val="5B5B5B"/>
                          </a:solidFill>
                          <a:latin typeface="Yu Gothic"/>
                          <a:ea typeface="Yu Gothic"/>
                          <a:cs typeface="Yu Gothic"/>
                        </a:rPr>
                        <a:t>既知truth内の回帰・model gap検出</a:t>
                      </a:r>
                    </a:p>
                  </a:txBody>
                  <a:tcPr marL="91440" marR="91440" marT="45720" marB="45720">
                    <a:solidFill>
                      <a:srgbClr val="FFFFFF"/>
                    </a:solidFill>
                  </a:tcPr>
                </a:tc>
                <a:tc>
                  <a:txBody>
                    <a:bodyPr/>
                    <a:lstStyle/>
                    <a:p>
                      <a:r>
                        <a:rPr sz="743">
                          <a:solidFill>
                            <a:srgbClr val="5B5B5B"/>
                          </a:solidFill>
                          <a:latin typeface="Yu Gothic"/>
                          <a:ea typeface="Yu Gothic"/>
                          <a:cs typeface="Yu Gothic"/>
                        </a:rPr>
                        <a:t>core threshold逸脱 / negative control改善</a:t>
                      </a:r>
                    </a:p>
                  </a:txBody>
                  <a:tcPr marL="91440" marR="91440" marT="45720" marB="45720">
                    <a:solidFill>
                      <a:srgbClr val="FFFFFF"/>
                    </a:solidFill>
                  </a:tcPr>
                </a:tc>
              </a:tr>
              <a:tr h="264319">
                <a:tc>
                  <a:txBody>
                    <a:bodyPr/>
                    <a:lstStyle/>
                    <a:p>
                      <a:r>
                        <a:rPr sz="743" b="1">
                          <a:solidFill>
                            <a:srgbClr val="007FA8"/>
                          </a:solidFill>
                          <a:latin typeface="Yu Gothic"/>
                          <a:ea typeface="Yu Gothic"/>
                          <a:cs typeface="Yu Gothic"/>
                        </a:rPr>
                        <a:t>Linear COMSOL</a:t>
                      </a:r>
                    </a:p>
                  </a:txBody>
                  <a:tcPr marL="91440" marR="91440" marT="45720" marB="45720">
                    <a:solidFill>
                      <a:srgbClr val="F8F8F8"/>
                    </a:solidFill>
                  </a:tcPr>
                </a:tc>
                <a:tc>
                  <a:txBody>
                    <a:bodyPr/>
                    <a:lstStyle/>
                    <a:p>
                      <a:r>
                        <a:rPr sz="743">
                          <a:solidFill>
                            <a:srgbClr val="5B5B5B"/>
                          </a:solidFill>
                          <a:latin typeface="Yu Gothic"/>
                          <a:ea typeface="Yu Gothic"/>
                          <a:cs typeface="Yu Gothic"/>
                        </a:rPr>
                        <a:t>forecast_cases.csv / monitor metrics</a:t>
                      </a:r>
                    </a:p>
                  </a:txBody>
                  <a:tcPr marL="91440" marR="91440" marT="45720" marB="45720">
                    <a:solidFill>
                      <a:srgbClr val="F8F8F8"/>
                    </a:solidFill>
                  </a:tcPr>
                </a:tc>
                <a:tc>
                  <a:txBody>
                    <a:bodyPr/>
                    <a:lstStyle/>
                    <a:p>
                      <a:r>
                        <a:rPr sz="743">
                          <a:solidFill>
                            <a:srgbClr val="5B5B5B"/>
                          </a:solidFill>
                          <a:latin typeface="Yu Gothic"/>
                          <a:ea typeface="Yu Gothic"/>
                          <a:cs typeface="Yu Gothic"/>
                        </a:rPr>
                        <a:t>線形境界・領域平均への外部転移</a:t>
                      </a:r>
                    </a:p>
                  </a:txBody>
                  <a:tcPr marL="91440" marR="91440" marT="45720" marB="45720">
                    <a:solidFill>
                      <a:srgbClr val="F8F8F8"/>
                    </a:solidFill>
                  </a:tcPr>
                </a:tc>
                <a:tc>
                  <a:txBody>
                    <a:bodyPr/>
                    <a:lstStyle/>
                    <a:p>
                      <a:r>
                        <a:rPr sz="743">
                          <a:solidFill>
                            <a:srgbClr val="5B5B5B"/>
                          </a:solidFill>
                          <a:latin typeface="Yu Gothic"/>
                          <a:ea typeface="Yu Gothic"/>
                          <a:cs typeface="Yu Gothic"/>
                        </a:rPr>
                        <a:t>geometry・material・boundary変更</a:t>
                      </a:r>
                    </a:p>
                  </a:txBody>
                  <a:tcPr marL="91440" marR="91440" marT="45720" marB="45720">
                    <a:solidFill>
                      <a:srgbClr val="F8F8F8"/>
                    </a:solidFill>
                  </a:tcPr>
                </a:tc>
              </a:tr>
              <a:tr h="264319">
                <a:tc>
                  <a:txBody>
                    <a:bodyPr/>
                    <a:lstStyle/>
                    <a:p>
                      <a:r>
                        <a:rPr sz="743" b="1">
                          <a:solidFill>
                            <a:srgbClr val="7B2DAF"/>
                          </a:solidFill>
                          <a:latin typeface="Yu Gothic"/>
                          <a:ea typeface="Yu Gothic"/>
                          <a:cs typeface="Yu Gothic"/>
                        </a:rPr>
                        <a:t>High fidelity</a:t>
                      </a:r>
                    </a:p>
                  </a:txBody>
                  <a:tcPr marL="91440" marR="91440" marT="45720" marB="45720">
                    <a:solidFill>
                      <a:srgbClr val="FFFFFF"/>
                    </a:solidFill>
                  </a:tcPr>
                </a:tc>
                <a:tc>
                  <a:txBody>
                    <a:bodyPr/>
                    <a:lstStyle/>
                    <a:p>
                      <a:r>
                        <a:rPr sz="743">
                          <a:solidFill>
                            <a:srgbClr val="5B5B5B"/>
                          </a:solidFill>
                          <a:latin typeface="Yu Gothic"/>
                          <a:ea typeface="Yu Gothic"/>
                          <a:cs typeface="Yu Gothic"/>
                        </a:rPr>
                        <a:t>canonical source_data + report</a:t>
                      </a:r>
                    </a:p>
                  </a:txBody>
                  <a:tcPr marL="91440" marR="91440" marT="45720" marB="45720">
                    <a:solidFill>
                      <a:srgbClr val="FFFFFF"/>
                    </a:solidFill>
                  </a:tcPr>
                </a:tc>
                <a:tc>
                  <a:txBody>
                    <a:bodyPr/>
                    <a:lstStyle/>
                    <a:p>
                      <a:r>
                        <a:rPr sz="743">
                          <a:solidFill>
                            <a:srgbClr val="5B5B5B"/>
                          </a:solidFill>
                          <a:latin typeface="Yu Gothic"/>
                          <a:ea typeface="Yu Gothic"/>
                          <a:cs typeface="Yu Gothic"/>
                        </a:rPr>
                        <a:t>mesh/time/model-form screening</a:t>
                      </a:r>
                    </a:p>
                  </a:txBody>
                  <a:tcPr marL="91440" marR="91440" marT="45720" marB="45720">
                    <a:solidFill>
                      <a:srgbClr val="FFFFFF"/>
                    </a:solidFill>
                  </a:tcPr>
                </a:tc>
                <a:tc>
                  <a:txBody>
                    <a:bodyPr/>
                    <a:lstStyle/>
                    <a:p>
                      <a:r>
                        <a:rPr sz="743">
                          <a:solidFill>
                            <a:srgbClr val="5B5B5B"/>
                          </a:solidFill>
                          <a:latin typeface="Yu Gothic"/>
                          <a:ea typeface="Yu Gothic"/>
                          <a:cs typeface="Yu Gothic"/>
                        </a:rPr>
                        <a:t>mesh未収束 / radiation sensitivity不一致</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30440585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660F5B7-938A-4277-AD05-84ED45F573E5}"/>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8539AA9-B318-49FC-9EBB-082AFC1299F4}"/>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MONITORING EVIDENCE</a:t>
            </a:r>
          </a:p>
        </p:txBody>
      </p:sp>
      <p:sp>
        <p:nvSpPr>
          <p:cNvPr id="3" name="">
            <a:extLst xmlns:a="http://schemas.openxmlformats.org/drawingml/2006/main">
              <a:ext uri="{FF2B5EF4-FFF2-40B4-BE49-F238E27FC236}">
                <a16:creationId xmlns:a16="http://schemas.microsoft.com/office/drawing/2014/main" id="{1777EA29-B312-4195-A5BC-A53F360406DF}"/>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sensor offsetは即時検知、3 W未指令発熱は10 sで検知した</a:t>
            </a:r>
          </a:p>
        </p:txBody>
      </p:sp>
      <p:sp>
        <p:nvSpPr>
          <p:cNvPr id="4" name="">
            <a:extLst xmlns:a="http://schemas.openxmlformats.org/drawingml/2006/main">
              <a:ext uri="{FF2B5EF4-FFF2-40B4-BE49-F238E27FC236}">
                <a16:creationId xmlns:a16="http://schemas.microsoft.com/office/drawing/2014/main" id="{BB7B0A4D-1461-42D8-AE41-767D3522FE75}"/>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同じobserverが欠測中もposteriorを維持し、故障channelを分離する</a:t>
            </a:r>
          </a:p>
        </p:txBody>
      </p:sp>
      <p:sp>
        <p:nvSpPr>
          <p:cNvPr id="5" name="">
            <a:extLst xmlns:a="http://schemas.openxmlformats.org/drawingml/2006/main">
              <a:ext uri="{FF2B5EF4-FFF2-40B4-BE49-F238E27FC236}">
                <a16:creationId xmlns:a16="http://schemas.microsoft.com/office/drawing/2014/main" id="{CA727C63-DE7D-4600-AA83-2B6FAFBCBB57}"/>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90162B3-2E95-4422-BFAB-64992E75AD72}"/>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EC01CA3E-17A3-4E3F-9E20-1A688F991204}"/>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ED715460-78BC-4E97-8EA7-EA0EF7A14BC4}"/>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22</a:t>
            </a:r>
          </a:p>
        </p:txBody>
      </p:sp>
      <p:sp>
        <p:nvSpPr>
          <p:cNvPr id="9" name="">
            <a:extLst xmlns:a="http://schemas.openxmlformats.org/drawingml/2006/main">
              <a:ext uri="{FF2B5EF4-FFF2-40B4-BE49-F238E27FC236}">
                <a16:creationId xmlns:a16="http://schemas.microsoft.com/office/drawing/2014/main" id="{13ED0723-215B-4718-9FCE-5A64D1FEB198}"/>
              </a:ext>
            </a:extLst>
          </p:cNvPr>
          <p:cNvSpPr>
            <a:spLocks xmlns:a="http://schemas.openxmlformats.org/drawingml/2006/main" noGrp="1"/>
          </p:cNvSpPr>
          <p:nvPr/>
        </p:nvSpPr>
        <p:spPr>
          <a:xfrm xmlns:a="http://schemas.openxmlformats.org/drawingml/2006/main">
            <a:off x="552450" y="1381125"/>
            <a:ext cx="523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M03  +3 K chip sensor offset</a:t>
            </a:r>
          </a:p>
        </p:txBody>
      </p:sp>
      <p:graphicFrame>
        <p:nvGraphicFramePr>
          <p:cNvPr id="44" name="Chart"/>
          <p:cNvGraphicFramePr/>
          <p:nvPr/>
        </p:nvGraphicFramePr>
        <p:xfrm>
          <a:off xmlns:a="http://schemas.openxmlformats.org/drawingml/2006/main" x="552450" y="1657350"/>
          <a:ext xmlns:a="http://schemas.openxmlformats.org/drawingml/2006/main" cx="5257800" cy="2971800"/>
        </p:xfrm>
        <a:graphic xmlns:a="http://schemas.openxmlformats.org/drawingml/2006/main">
          <a:graphicData uri="http://schemas.openxmlformats.org/drawingml/2006/chart">
            <c:chart xmlns:r="http://schemas.openxmlformats.org/officeDocument/2006/relationships" xmlns:c="http://schemas.openxmlformats.org/drawingml/2006/chart" r:id="R807b8603cbb24788"/>
          </a:graphicData>
        </a:graphic>
      </p:graphicFrame>
      <p:sp>
        <p:nvSpPr>
          <p:cNvPr id="11" name="">
            <a:extLst xmlns:a="http://schemas.openxmlformats.org/drawingml/2006/main">
              <a:ext uri="{FF2B5EF4-FFF2-40B4-BE49-F238E27FC236}">
                <a16:creationId xmlns:a16="http://schemas.microsoft.com/office/drawing/2014/main" id="{76359E79-4396-4FAD-8E02-666AC9FE51D5}"/>
              </a:ext>
            </a:extLst>
          </p:cNvPr>
          <p:cNvSpPr>
            <a:spLocks xmlns:a="http://schemas.openxmlformats.org/drawingml/2006/main" noGrp="1"/>
          </p:cNvSpPr>
          <p:nvPr/>
        </p:nvSpPr>
        <p:spPr>
          <a:xfrm xmlns:a="http://schemas.openxmlformats.org/drawingml/2006/main">
            <a:off x="552450" y="465772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7B2DAF"/>
                </a:solidFill>
                <a:latin typeface="Yu Gothic"/>
                <a:ea typeface="Yu Gothic"/>
                <a:cs typeface="Yu Gothic"/>
              </a:defRPr>
            </a:pPr>
            <a:r>
              <a:rPr sz="788" b="1" i="0">
                <a:solidFill>
                  <a:srgbClr val="7B2DAF"/>
                </a:solidFill>
                <a:latin typeface="Yu Gothic"/>
                <a:ea typeface="Yu Gothic"/>
                <a:cs typeface="Yu Gothic"/>
              </a:rPr>
              <a:t>event start = first detection = 300 s</a:t>
            </a:r>
          </a:p>
        </p:txBody>
      </p:sp>
      <p:sp>
        <p:nvSpPr>
          <p:cNvPr id="12" name="">
            <a:extLst xmlns:a="http://schemas.openxmlformats.org/drawingml/2006/main">
              <a:ext uri="{FF2B5EF4-FFF2-40B4-BE49-F238E27FC236}">
                <a16:creationId xmlns:a16="http://schemas.microsoft.com/office/drawing/2014/main" id="{2296D8E5-659A-414B-9B58-9A61300BF982}"/>
              </a:ext>
            </a:extLst>
          </p:cNvPr>
          <p:cNvSpPr>
            <a:spLocks xmlns:a="http://schemas.openxmlformats.org/drawingml/2006/main" noGrp="1"/>
          </p:cNvSpPr>
          <p:nvPr/>
        </p:nvSpPr>
        <p:spPr>
          <a:xfrm xmlns:a="http://schemas.openxmlformats.org/drawingml/2006/main">
            <a:off x="63817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M05  3 W hidden heat</a:t>
            </a:r>
          </a:p>
        </p:txBody>
      </p:sp>
      <p:graphicFrame>
        <p:nvGraphicFramePr>
          <p:cNvPr id="47" name="Chart"/>
          <p:cNvGraphicFramePr/>
          <p:nvPr/>
        </p:nvGraphicFramePr>
        <p:xfrm>
          <a:off xmlns:a="http://schemas.openxmlformats.org/drawingml/2006/main" x="6381750" y="1657350"/>
          <a:ext xmlns:a="http://schemas.openxmlformats.org/drawingml/2006/main" cx="5257800" cy="2971800"/>
        </p:xfrm>
        <a:graphic xmlns:a="http://schemas.openxmlformats.org/drawingml/2006/main">
          <a:graphicData uri="http://schemas.openxmlformats.org/drawingml/2006/chart">
            <c:chart xmlns:r="http://schemas.openxmlformats.org/officeDocument/2006/relationships" xmlns:c="http://schemas.openxmlformats.org/drawingml/2006/chart" r:id="R45568f540ae94749"/>
          </a:graphicData>
        </a:graphic>
      </p:graphicFrame>
      <p:sp>
        <p:nvSpPr>
          <p:cNvPr id="14" name="">
            <a:extLst xmlns:a="http://schemas.openxmlformats.org/drawingml/2006/main">
              <a:ext uri="{FF2B5EF4-FFF2-40B4-BE49-F238E27FC236}">
                <a16:creationId xmlns:a16="http://schemas.microsoft.com/office/drawing/2014/main" id="{A8E13814-3D81-4801-BCC9-AB06759E2DB4}"/>
              </a:ext>
            </a:extLst>
          </p:cNvPr>
          <p:cNvSpPr>
            <a:spLocks xmlns:a="http://schemas.openxmlformats.org/drawingml/2006/main" noGrp="1"/>
          </p:cNvSpPr>
          <p:nvPr/>
        </p:nvSpPr>
        <p:spPr>
          <a:xfrm xmlns:a="http://schemas.openxmlformats.org/drawingml/2006/main">
            <a:off x="6381750" y="465772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88" b="1" i="0">
                <a:solidFill>
                  <a:srgbClr val="007FA8"/>
                </a:solidFill>
                <a:latin typeface="Yu Gothic"/>
                <a:ea typeface="Yu Gothic"/>
                <a:cs typeface="Yu Gothic"/>
              </a:defRPr>
            </a:pPr>
            <a:r>
              <a:rPr sz="788" b="1" i="0">
                <a:solidFill>
                  <a:srgbClr val="007FA8"/>
                </a:solidFill>
                <a:latin typeface="Yu Gothic"/>
                <a:ea typeface="Yu Gothic"/>
                <a:cs typeface="Yu Gothic"/>
              </a:rPr>
              <a:t>event 282–380 s / first detection 292 s</a:t>
            </a:r>
          </a:p>
        </p:txBody>
      </p:sp>
      <p:sp>
        <p:nvSpPr>
          <p:cNvPr id="15" name="">
            <a:extLst xmlns:a="http://schemas.openxmlformats.org/drawingml/2006/main">
              <a:ext uri="{FF2B5EF4-FFF2-40B4-BE49-F238E27FC236}">
                <a16:creationId xmlns:a16="http://schemas.microsoft.com/office/drawing/2014/main" id="{C11A3754-84B2-49F8-B40E-A17C82877F47}"/>
              </a:ext>
            </a:extLst>
          </p:cNvPr>
          <p:cNvSpPr>
            <a:spLocks xmlns:a="http://schemas.openxmlformats.org/drawingml/2006/main" noGrp="1"/>
          </p:cNvSpPr>
          <p:nvPr/>
        </p:nvSpPr>
        <p:spPr>
          <a:xfrm xmlns:a="http://schemas.openxmlformats.org/drawingml/2006/main">
            <a:off x="552450"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18B52A92-3174-458C-8E12-174935C3FD4A}"/>
              </a:ext>
            </a:extLst>
          </p:cNvPr>
          <p:cNvSpPr>
            <a:spLocks xmlns:a="http://schemas.openxmlformats.org/drawingml/2006/main" noGrp="1"/>
          </p:cNvSpPr>
          <p:nvPr/>
        </p:nvSpPr>
        <p:spPr>
          <a:xfrm xmlns:a="http://schemas.openxmlformats.org/drawingml/2006/main">
            <a:off x="552450" y="5067300"/>
            <a:ext cx="66675" cy="10572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70412D7-AE98-4418-B620-0079DE921A22}"/>
              </a:ext>
            </a:extLst>
          </p:cNvPr>
          <p:cNvSpPr>
            <a:spLocks xmlns:a="http://schemas.openxmlformats.org/drawingml/2006/main" noGrp="1"/>
          </p:cNvSpPr>
          <p:nvPr/>
        </p:nvSpPr>
        <p:spPr>
          <a:xfrm xmlns:a="http://schemas.openxmlformats.org/drawingml/2006/main">
            <a:off x="742950"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 s</a:t>
            </a:r>
          </a:p>
        </p:txBody>
      </p:sp>
      <p:sp>
        <p:nvSpPr>
          <p:cNvPr id="18" name="">
            <a:extLst xmlns:a="http://schemas.openxmlformats.org/drawingml/2006/main">
              <a:ext uri="{FF2B5EF4-FFF2-40B4-BE49-F238E27FC236}">
                <a16:creationId xmlns:a16="http://schemas.microsoft.com/office/drawing/2014/main" id="{8AF8DE92-D9A9-4808-8DA5-9F084DF6CC43}"/>
              </a:ext>
            </a:extLst>
          </p:cNvPr>
          <p:cNvSpPr>
            <a:spLocks xmlns:a="http://schemas.openxmlformats.org/drawingml/2006/main" noGrp="1"/>
          </p:cNvSpPr>
          <p:nvPr/>
        </p:nvSpPr>
        <p:spPr>
          <a:xfrm xmlns:a="http://schemas.openxmlformats.org/drawingml/2006/main">
            <a:off x="742950"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M03 detection delay</a:t>
            </a:r>
          </a:p>
        </p:txBody>
      </p:sp>
      <p:sp>
        <p:nvSpPr>
          <p:cNvPr id="19" name="">
            <a:extLst xmlns:a="http://schemas.openxmlformats.org/drawingml/2006/main">
              <a:ext uri="{FF2B5EF4-FFF2-40B4-BE49-F238E27FC236}">
                <a16:creationId xmlns:a16="http://schemas.microsoft.com/office/drawing/2014/main" id="{D3CEF528-CB8B-4CD1-A269-C8DF04372ECD}"/>
              </a:ext>
            </a:extLst>
          </p:cNvPr>
          <p:cNvSpPr>
            <a:spLocks xmlns:a="http://schemas.openxmlformats.org/drawingml/2006/main" noGrp="1"/>
          </p:cNvSpPr>
          <p:nvPr/>
        </p:nvSpPr>
        <p:spPr>
          <a:xfrm xmlns:a="http://schemas.openxmlformats.org/drawingml/2006/main">
            <a:off x="742950"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max NIS 403.305</a:t>
            </a:r>
          </a:p>
        </p:txBody>
      </p:sp>
      <p:sp>
        <p:nvSpPr>
          <p:cNvPr id="20" name="">
            <a:extLst xmlns:a="http://schemas.openxmlformats.org/drawingml/2006/main">
              <a:ext uri="{FF2B5EF4-FFF2-40B4-BE49-F238E27FC236}">
                <a16:creationId xmlns:a16="http://schemas.microsoft.com/office/drawing/2014/main" id="{59B0C482-F205-40FF-89C8-F9B95006B7CA}"/>
              </a:ext>
            </a:extLst>
          </p:cNvPr>
          <p:cNvSpPr>
            <a:spLocks xmlns:a="http://schemas.openxmlformats.org/drawingml/2006/main" noGrp="1"/>
          </p:cNvSpPr>
          <p:nvPr/>
        </p:nvSpPr>
        <p:spPr>
          <a:xfrm xmlns:a="http://schemas.openxmlformats.org/drawingml/2006/main">
            <a:off x="3324225"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1" name="">
            <a:extLst xmlns:a="http://schemas.openxmlformats.org/drawingml/2006/main">
              <a:ext uri="{FF2B5EF4-FFF2-40B4-BE49-F238E27FC236}">
                <a16:creationId xmlns:a16="http://schemas.microsoft.com/office/drawing/2014/main" id="{9F3D1D50-581B-4862-A225-79C6F050ADFD}"/>
              </a:ext>
            </a:extLst>
          </p:cNvPr>
          <p:cNvSpPr>
            <a:spLocks xmlns:a="http://schemas.openxmlformats.org/drawingml/2006/main" noGrp="1"/>
          </p:cNvSpPr>
          <p:nvPr/>
        </p:nvSpPr>
        <p:spPr>
          <a:xfrm xmlns:a="http://schemas.openxmlformats.org/drawingml/2006/main">
            <a:off x="3324225" y="5067300"/>
            <a:ext cx="66675" cy="10572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21FF27B-9FBC-487F-A33C-F65CBD7C62E2}"/>
              </a:ext>
            </a:extLst>
          </p:cNvPr>
          <p:cNvSpPr>
            <a:spLocks xmlns:a="http://schemas.openxmlformats.org/drawingml/2006/main" noGrp="1"/>
          </p:cNvSpPr>
          <p:nvPr/>
        </p:nvSpPr>
        <p:spPr>
          <a:xfrm xmlns:a="http://schemas.openxmlformats.org/drawingml/2006/main">
            <a:off x="3514725"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0.040 K</a:t>
            </a:r>
          </a:p>
        </p:txBody>
      </p:sp>
      <p:sp>
        <p:nvSpPr>
          <p:cNvPr id="23" name="">
            <a:extLst xmlns:a="http://schemas.openxmlformats.org/drawingml/2006/main">
              <a:ext uri="{FF2B5EF4-FFF2-40B4-BE49-F238E27FC236}">
                <a16:creationId xmlns:a16="http://schemas.microsoft.com/office/drawing/2014/main" id="{F1663B5E-4791-4CA7-AF53-137036124BC0}"/>
              </a:ext>
            </a:extLst>
          </p:cNvPr>
          <p:cNvSpPr>
            <a:spLocks xmlns:a="http://schemas.openxmlformats.org/drawingml/2006/main" noGrp="1"/>
          </p:cNvSpPr>
          <p:nvPr/>
        </p:nvSpPr>
        <p:spPr>
          <a:xfrm xmlns:a="http://schemas.openxmlformats.org/drawingml/2006/main">
            <a:off x="3514725"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M04 missing-window RMSE</a:t>
            </a:r>
          </a:p>
        </p:txBody>
      </p:sp>
      <p:sp>
        <p:nvSpPr>
          <p:cNvPr id="24" name="">
            <a:extLst xmlns:a="http://schemas.openxmlformats.org/drawingml/2006/main">
              <a:ext uri="{FF2B5EF4-FFF2-40B4-BE49-F238E27FC236}">
                <a16:creationId xmlns:a16="http://schemas.microsoft.com/office/drawing/2014/main" id="{DB140607-AFDA-4C21-AA23-4249D7FBA316}"/>
              </a:ext>
            </a:extLst>
          </p:cNvPr>
          <p:cNvSpPr>
            <a:spLocks xmlns:a="http://schemas.openxmlformats.org/drawingml/2006/main" noGrp="1"/>
          </p:cNvSpPr>
          <p:nvPr/>
        </p:nvSpPr>
        <p:spPr>
          <a:xfrm xmlns:a="http://schemas.openxmlformats.org/drawingml/2006/main">
            <a:off x="3514725"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posterior remains finite</a:t>
            </a:r>
          </a:p>
        </p:txBody>
      </p:sp>
      <p:sp>
        <p:nvSpPr>
          <p:cNvPr id="25" name="">
            <a:extLst xmlns:a="http://schemas.openxmlformats.org/drawingml/2006/main">
              <a:ext uri="{FF2B5EF4-FFF2-40B4-BE49-F238E27FC236}">
                <a16:creationId xmlns:a16="http://schemas.microsoft.com/office/drawing/2014/main" id="{F0B85A6F-8634-42D4-AE19-C3204EF8F245}"/>
              </a:ext>
            </a:extLst>
          </p:cNvPr>
          <p:cNvSpPr>
            <a:spLocks xmlns:a="http://schemas.openxmlformats.org/drawingml/2006/main" noGrp="1"/>
          </p:cNvSpPr>
          <p:nvPr/>
        </p:nvSpPr>
        <p:spPr>
          <a:xfrm xmlns:a="http://schemas.openxmlformats.org/drawingml/2006/main">
            <a:off x="6096000" y="5067300"/>
            <a:ext cx="257175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D3517A20-0A6D-4114-8394-088C709AD25B}"/>
              </a:ext>
            </a:extLst>
          </p:cNvPr>
          <p:cNvSpPr>
            <a:spLocks xmlns:a="http://schemas.openxmlformats.org/drawingml/2006/main" noGrp="1"/>
          </p:cNvSpPr>
          <p:nvPr/>
        </p:nvSpPr>
        <p:spPr>
          <a:xfrm xmlns:a="http://schemas.openxmlformats.org/drawingml/2006/main">
            <a:off x="6096000" y="5067300"/>
            <a:ext cx="66675" cy="10572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A24D419-8944-4539-8C53-6A9A5BD8C5CD}"/>
              </a:ext>
            </a:extLst>
          </p:cNvPr>
          <p:cNvSpPr>
            <a:spLocks xmlns:a="http://schemas.openxmlformats.org/drawingml/2006/main" noGrp="1"/>
          </p:cNvSpPr>
          <p:nvPr/>
        </p:nvSpPr>
        <p:spPr>
          <a:xfrm xmlns:a="http://schemas.openxmlformats.org/drawingml/2006/main">
            <a:off x="6286500" y="51625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10 s</a:t>
            </a:r>
          </a:p>
        </p:txBody>
      </p:sp>
      <p:sp>
        <p:nvSpPr>
          <p:cNvPr id="28" name="">
            <a:extLst xmlns:a="http://schemas.openxmlformats.org/drawingml/2006/main">
              <a:ext uri="{FF2B5EF4-FFF2-40B4-BE49-F238E27FC236}">
                <a16:creationId xmlns:a16="http://schemas.microsoft.com/office/drawing/2014/main" id="{C08E3E1B-EFEA-4D65-9357-77780C3A898C}"/>
              </a:ext>
            </a:extLst>
          </p:cNvPr>
          <p:cNvSpPr>
            <a:spLocks xmlns:a="http://schemas.openxmlformats.org/drawingml/2006/main" noGrp="1"/>
          </p:cNvSpPr>
          <p:nvPr/>
        </p:nvSpPr>
        <p:spPr>
          <a:xfrm xmlns:a="http://schemas.openxmlformats.org/drawingml/2006/main">
            <a:off x="6286500" y="5543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M05 detection delay</a:t>
            </a:r>
          </a:p>
        </p:txBody>
      </p:sp>
      <p:sp>
        <p:nvSpPr>
          <p:cNvPr id="29" name="">
            <a:extLst xmlns:a="http://schemas.openxmlformats.org/drawingml/2006/main">
              <a:ext uri="{FF2B5EF4-FFF2-40B4-BE49-F238E27FC236}">
                <a16:creationId xmlns:a16="http://schemas.microsoft.com/office/drawing/2014/main" id="{0BFFC79D-C12C-4093-B504-254939C8191A}"/>
              </a:ext>
            </a:extLst>
          </p:cNvPr>
          <p:cNvSpPr>
            <a:spLocks xmlns:a="http://schemas.openxmlformats.org/drawingml/2006/main" noGrp="1"/>
          </p:cNvSpPr>
          <p:nvPr/>
        </p:nvSpPr>
        <p:spPr>
          <a:xfrm xmlns:a="http://schemas.openxmlformats.org/drawingml/2006/main">
            <a:off x="6286500" y="582930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3 W uncommanded heat</a:t>
            </a:r>
          </a:p>
        </p:txBody>
      </p:sp>
      <p:sp>
        <p:nvSpPr>
          <p:cNvPr id="30" name="">
            <a:extLst xmlns:a="http://schemas.openxmlformats.org/drawingml/2006/main">
              <a:ext uri="{FF2B5EF4-FFF2-40B4-BE49-F238E27FC236}">
                <a16:creationId xmlns:a16="http://schemas.microsoft.com/office/drawing/2014/main" id="{506C09F5-98A7-4C0F-8FB4-9E0D3FCBD723}"/>
              </a:ext>
            </a:extLst>
          </p:cNvPr>
          <p:cNvSpPr>
            <a:spLocks xmlns:a="http://schemas.openxmlformats.org/drawingml/2006/main" noGrp="1"/>
          </p:cNvSpPr>
          <p:nvPr/>
        </p:nvSpPr>
        <p:spPr>
          <a:xfrm xmlns:a="http://schemas.openxmlformats.org/drawingml/2006/main">
            <a:off x="8867775" y="5067300"/>
            <a:ext cx="2771775"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1E538ABE-3619-4DD6-BFB2-C7EB0E456280}"/>
              </a:ext>
            </a:extLst>
          </p:cNvPr>
          <p:cNvSpPr>
            <a:spLocks xmlns:a="http://schemas.openxmlformats.org/drawingml/2006/main" noGrp="1"/>
          </p:cNvSpPr>
          <p:nvPr/>
        </p:nvSpPr>
        <p:spPr>
          <a:xfrm xmlns:a="http://schemas.openxmlformats.org/drawingml/2006/main">
            <a:off x="8867775" y="5067300"/>
            <a:ext cx="66675" cy="10572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7DA52D3-D812-4018-8E00-FF91ADC7926E}"/>
              </a:ext>
            </a:extLst>
          </p:cNvPr>
          <p:cNvSpPr>
            <a:spLocks xmlns:a="http://schemas.openxmlformats.org/drawingml/2006/main" noGrp="1"/>
          </p:cNvSpPr>
          <p:nvPr/>
        </p:nvSpPr>
        <p:spPr>
          <a:xfrm xmlns:a="http://schemas.openxmlformats.org/drawingml/2006/main">
            <a:off x="9058275" y="5162550"/>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3.182 W</a:t>
            </a:r>
          </a:p>
        </p:txBody>
      </p:sp>
      <p:sp>
        <p:nvSpPr>
          <p:cNvPr id="33" name="">
            <a:extLst xmlns:a="http://schemas.openxmlformats.org/drawingml/2006/main">
              <a:ext uri="{FF2B5EF4-FFF2-40B4-BE49-F238E27FC236}">
                <a16:creationId xmlns:a16="http://schemas.microsoft.com/office/drawing/2014/main" id="{0B053A26-D21C-4B56-88BA-0D4C976A86C1}"/>
              </a:ext>
            </a:extLst>
          </p:cNvPr>
          <p:cNvSpPr>
            <a:spLocks xmlns:a="http://schemas.openxmlformats.org/drawingml/2006/main" noGrp="1"/>
          </p:cNvSpPr>
          <p:nvPr/>
        </p:nvSpPr>
        <p:spPr>
          <a:xfrm xmlns:a="http://schemas.openxmlformats.org/drawingml/2006/main">
            <a:off x="9058275" y="5543550"/>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M05 estimated peak</a:t>
            </a:r>
          </a:p>
        </p:txBody>
      </p:sp>
      <p:sp>
        <p:nvSpPr>
          <p:cNvPr id="34" name="">
            <a:extLst xmlns:a="http://schemas.openxmlformats.org/drawingml/2006/main">
              <a:ext uri="{FF2B5EF4-FFF2-40B4-BE49-F238E27FC236}">
                <a16:creationId xmlns:a16="http://schemas.microsoft.com/office/drawing/2014/main" id="{66F50D2A-50CB-4D1A-A2C6-F26BDAA3AC8B}"/>
              </a:ext>
            </a:extLst>
          </p:cNvPr>
          <p:cNvSpPr>
            <a:spLocks xmlns:a="http://schemas.openxmlformats.org/drawingml/2006/main" noGrp="1"/>
          </p:cNvSpPr>
          <p:nvPr/>
        </p:nvSpPr>
        <p:spPr>
          <a:xfrm xmlns:a="http://schemas.openxmlformats.org/drawingml/2006/main">
            <a:off x="9058275" y="5829300"/>
            <a:ext cx="24860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event sensor bias ≤ 0.061 K</a:t>
            </a:r>
          </a:p>
        </p:txBody>
      </p:sp>
    </p:spTree>
    <p:extLst>
      <p:ext uri="{BB962C8B-B14F-4D97-AF65-F5344CB8AC3E}">
        <p14:creationId xmlns:p14="http://schemas.microsoft.com/office/powerpoint/2010/main" val="209702254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5BF88973-7628-439B-99C2-588CDB648AEA}"/>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D05F9DE-A90C-43DE-8B38-49F1FDD1DBA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SYNTHETIC BENCHMARK</a:t>
            </a:r>
          </a:p>
        </p:txBody>
      </p:sp>
      <p:sp>
        <p:nvSpPr>
          <p:cNvPr id="3" name="">
            <a:extLst xmlns:a="http://schemas.openxmlformats.org/drawingml/2006/main">
              <a:ext uri="{FF2B5EF4-FFF2-40B4-BE49-F238E27FC236}">
                <a16:creationId xmlns:a16="http://schemas.microsoft.com/office/drawing/2014/main" id="{107BA3F4-10BF-461F-AC93-C4D7C52D0CC8}"/>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TopCellは通常条件で安定する一方、初期観測の疎さが最大誤差を支配した</a:t>
            </a:r>
          </a:p>
        </p:txBody>
      </p:sp>
      <p:sp>
        <p:nvSpPr>
          <p:cNvPr id="4" name="">
            <a:extLst xmlns:a="http://schemas.openxmlformats.org/drawingml/2006/main">
              <a:ext uri="{FF2B5EF4-FFF2-40B4-BE49-F238E27FC236}">
                <a16:creationId xmlns:a16="http://schemas.microsoft.com/office/drawing/2014/main" id="{A765B22E-78F8-41DE-9C94-2F032DC9A388}"/>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意図的model gapはcore scoreから分離し、失敗を隠さない</a:t>
            </a:r>
          </a:p>
        </p:txBody>
      </p:sp>
      <p:sp>
        <p:nvSpPr>
          <p:cNvPr id="5" name="">
            <a:extLst xmlns:a="http://schemas.openxmlformats.org/drawingml/2006/main">
              <a:ext uri="{FF2B5EF4-FFF2-40B4-BE49-F238E27FC236}">
                <a16:creationId xmlns:a16="http://schemas.microsoft.com/office/drawing/2014/main" id="{62A2D627-88F5-4653-A4E8-74A99C45E51F}"/>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8B231DDD-7264-4E1E-A86D-3EA7FC76A0C8}"/>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A493802-8167-4DB7-9E19-5FFD48F1BD99}"/>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30C0357D-ED16-42C9-90DC-062255A9008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23</a:t>
            </a:r>
          </a:p>
        </p:txBody>
      </p:sp>
      <p:sp>
        <p:nvSpPr>
          <p:cNvPr id="9" name="">
            <a:extLst xmlns:a="http://schemas.openxmlformats.org/drawingml/2006/main">
              <a:ext uri="{FF2B5EF4-FFF2-40B4-BE49-F238E27FC236}">
                <a16:creationId xmlns:a16="http://schemas.microsoft.com/office/drawing/2014/main" id="{1E0FBB63-61EB-4C3D-AAD5-6C7C2C58ADFF}"/>
              </a:ext>
            </a:extLst>
          </p:cNvPr>
          <p:cNvSpPr>
            <a:spLocks xmlns:a="http://schemas.openxmlformats.org/drawingml/2006/main" noGrp="1"/>
          </p:cNvSpPr>
          <p:nvPr/>
        </p:nvSpPr>
        <p:spPr>
          <a:xfrm xmlns:a="http://schemas.openxmlformats.org/drawingml/2006/main">
            <a:off x="5524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core group mean RMSE</a:t>
            </a:r>
          </a:p>
        </p:txBody>
      </p:sp>
      <p:graphicFrame>
        <p:nvGraphicFramePr>
          <p:cNvPr id="40" name="Chart"/>
          <p:cNvGraphicFramePr/>
          <p:nvPr/>
        </p:nvGraphicFramePr>
        <p:xfrm>
          <a:off xmlns:a="http://schemas.openxmlformats.org/drawingml/2006/main" x="552450" y="1657350"/>
          <a:ext xmlns:a="http://schemas.openxmlformats.org/drawingml/2006/main" cx="5257800" cy="3124200"/>
        </p:xfrm>
        <a:graphic xmlns:a="http://schemas.openxmlformats.org/drawingml/2006/main">
          <a:graphicData uri="http://schemas.openxmlformats.org/drawingml/2006/chart">
            <c:chart xmlns:r="http://schemas.openxmlformats.org/officeDocument/2006/relationships" xmlns:c="http://schemas.openxmlformats.org/drawingml/2006/chart" r:id="Rc69db61bfda5475e"/>
          </a:graphicData>
        </a:graphic>
      </p:graphicFrame>
      <p:sp>
        <p:nvSpPr>
          <p:cNvPr id="11" name="">
            <a:extLst xmlns:a="http://schemas.openxmlformats.org/drawingml/2006/main">
              <a:ext uri="{FF2B5EF4-FFF2-40B4-BE49-F238E27FC236}">
                <a16:creationId xmlns:a16="http://schemas.microsoft.com/office/drawing/2014/main" id="{4BBC08A4-FA8D-4FE0-A444-5F24E0E92010}"/>
              </a:ext>
            </a:extLst>
          </p:cNvPr>
          <p:cNvSpPr>
            <a:spLocks xmlns:a="http://schemas.openxmlformats.org/drawingml/2006/main" noGrp="1"/>
          </p:cNvSpPr>
          <p:nvPr/>
        </p:nvSpPr>
        <p:spPr>
          <a:xfrm xmlns:a="http://schemas.openxmlformats.org/drawingml/2006/main">
            <a:off x="6381750" y="1381125"/>
            <a:ext cx="5257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初期化ケースの改善</a:t>
            </a:r>
          </a:p>
        </p:txBody>
      </p:sp>
      <p:graphicFrame>
        <p:nvGraphicFramePr>
          <p:cNvPr id="42" name="Chart"/>
          <p:cNvGraphicFramePr/>
          <p:nvPr/>
        </p:nvGraphicFramePr>
        <p:xfrm>
          <a:off xmlns:a="http://schemas.openxmlformats.org/drawingml/2006/main" x="6381750" y="1657350"/>
          <a:ext xmlns:a="http://schemas.openxmlformats.org/drawingml/2006/main" cx="5257800" cy="3124200"/>
        </p:xfrm>
        <a:graphic xmlns:a="http://schemas.openxmlformats.org/drawingml/2006/main">
          <a:graphicData uri="http://schemas.openxmlformats.org/drawingml/2006/chart">
            <c:chart xmlns:r="http://schemas.openxmlformats.org/officeDocument/2006/relationships" xmlns:c="http://schemas.openxmlformats.org/drawingml/2006/chart" r:id="R29ad4e0e9ce445ff"/>
          </a:graphicData>
        </a:graphic>
      </p:graphicFrame>
      <p:sp>
        <p:nvSpPr>
          <p:cNvPr id="13" name="">
            <a:extLst xmlns:a="http://schemas.openxmlformats.org/drawingml/2006/main">
              <a:ext uri="{FF2B5EF4-FFF2-40B4-BE49-F238E27FC236}">
                <a16:creationId xmlns:a16="http://schemas.microsoft.com/office/drawing/2014/main" id="{4C62B074-0E83-4838-A65B-789F7663EB55}"/>
              </a:ext>
            </a:extLst>
          </p:cNvPr>
          <p:cNvSpPr>
            <a:spLocks xmlns:a="http://schemas.openxmlformats.org/drawingml/2006/main" noGrp="1"/>
          </p:cNvSpPr>
          <p:nvPr/>
        </p:nvSpPr>
        <p:spPr>
          <a:xfrm xmlns:a="http://schemas.openxmlformats.org/drawingml/2006/main">
            <a:off x="6381750" y="4676775"/>
            <a:ext cx="5257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history同化により 97.1%低減</a:t>
            </a:r>
          </a:p>
        </p:txBody>
      </p:sp>
      <p:sp>
        <p:nvSpPr>
          <p:cNvPr id="14" name="">
            <a:extLst xmlns:a="http://schemas.openxmlformats.org/drawingml/2006/main">
              <a:ext uri="{FF2B5EF4-FFF2-40B4-BE49-F238E27FC236}">
                <a16:creationId xmlns:a16="http://schemas.microsoft.com/office/drawing/2014/main" id="{D616AFC2-D3AD-4959-A3DA-7B9A2F6A62C0}"/>
              </a:ext>
            </a:extLst>
          </p:cNvPr>
          <p:cNvSpPr>
            <a:spLocks xmlns:a="http://schemas.openxmlformats.org/drawingml/2006/main" noGrp="1"/>
          </p:cNvSpPr>
          <p:nvPr/>
        </p:nvSpPr>
        <p:spPr>
          <a:xfrm xmlns:a="http://schemas.openxmlformats.org/drawingml/2006/main">
            <a:off x="552450"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5" name="">
            <a:extLst xmlns:a="http://schemas.openxmlformats.org/drawingml/2006/main">
              <a:ext uri="{FF2B5EF4-FFF2-40B4-BE49-F238E27FC236}">
                <a16:creationId xmlns:a16="http://schemas.microsoft.com/office/drawing/2014/main" id="{7D8387D1-9AB3-4BD6-B5EB-81F32B9DA62E}"/>
              </a:ext>
            </a:extLst>
          </p:cNvPr>
          <p:cNvSpPr>
            <a:spLocks xmlns:a="http://schemas.openxmlformats.org/drawingml/2006/main" noGrp="1"/>
          </p:cNvSpPr>
          <p:nvPr/>
        </p:nvSpPr>
        <p:spPr>
          <a:xfrm xmlns:a="http://schemas.openxmlformats.org/drawingml/2006/main">
            <a:off x="552450" y="5105400"/>
            <a:ext cx="66675" cy="10287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1EC65C2-3AC4-44B6-940D-068565BB6C53}"/>
              </a:ext>
            </a:extLst>
          </p:cNvPr>
          <p:cNvSpPr>
            <a:spLocks xmlns:a="http://schemas.openxmlformats.org/drawingml/2006/main" noGrp="1"/>
          </p:cNvSpPr>
          <p:nvPr/>
        </p:nvSpPr>
        <p:spPr>
          <a:xfrm xmlns:a="http://schemas.openxmlformats.org/drawingml/2006/main">
            <a:off x="742950"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0.143 K</a:t>
            </a:r>
          </a:p>
        </p:txBody>
      </p:sp>
      <p:sp>
        <p:nvSpPr>
          <p:cNvPr id="17" name="">
            <a:extLst xmlns:a="http://schemas.openxmlformats.org/drawingml/2006/main">
              <a:ext uri="{FF2B5EF4-FFF2-40B4-BE49-F238E27FC236}">
                <a16:creationId xmlns:a16="http://schemas.microsoft.com/office/drawing/2014/main" id="{AFF7710F-AF52-4E55-9B9C-626DA74829B6}"/>
              </a:ext>
            </a:extLst>
          </p:cNvPr>
          <p:cNvSpPr>
            <a:spLocks xmlns:a="http://schemas.openxmlformats.org/drawingml/2006/main" noGrp="1"/>
          </p:cNvSpPr>
          <p:nvPr/>
        </p:nvSpPr>
        <p:spPr>
          <a:xfrm xmlns:a="http://schemas.openxmlformats.org/drawingml/2006/main">
            <a:off x="742950"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core 11ケース平均</a:t>
            </a:r>
          </a:p>
        </p:txBody>
      </p:sp>
      <p:sp>
        <p:nvSpPr>
          <p:cNvPr id="18" name="">
            <a:extLst xmlns:a="http://schemas.openxmlformats.org/drawingml/2006/main">
              <a:ext uri="{FF2B5EF4-FFF2-40B4-BE49-F238E27FC236}">
                <a16:creationId xmlns:a16="http://schemas.microsoft.com/office/drawing/2014/main" id="{016E6B1E-605B-4075-9C39-19565D3548F7}"/>
              </a:ext>
            </a:extLst>
          </p:cNvPr>
          <p:cNvSpPr>
            <a:spLocks xmlns:a="http://schemas.openxmlformats.org/drawingml/2006/main" noGrp="1"/>
          </p:cNvSpPr>
          <p:nvPr/>
        </p:nvSpPr>
        <p:spPr>
          <a:xfrm xmlns:a="http://schemas.openxmlformats.org/drawingml/2006/main">
            <a:off x="3324225"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D612D8A0-892D-4E34-B95A-1E80189EE77D}"/>
              </a:ext>
            </a:extLst>
          </p:cNvPr>
          <p:cNvSpPr>
            <a:spLocks xmlns:a="http://schemas.openxmlformats.org/drawingml/2006/main" noGrp="1"/>
          </p:cNvSpPr>
          <p:nvPr/>
        </p:nvSpPr>
        <p:spPr>
          <a:xfrm xmlns:a="http://schemas.openxmlformats.org/drawingml/2006/main">
            <a:off x="3324225" y="5105400"/>
            <a:ext cx="66675" cy="10287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B6623DE-2324-4B5E-A9DE-D818F59324C0}"/>
              </a:ext>
            </a:extLst>
          </p:cNvPr>
          <p:cNvSpPr>
            <a:spLocks xmlns:a="http://schemas.openxmlformats.org/drawingml/2006/main" noGrp="1"/>
          </p:cNvSpPr>
          <p:nvPr/>
        </p:nvSpPr>
        <p:spPr>
          <a:xfrm xmlns:a="http://schemas.openxmlformats.org/drawingml/2006/main">
            <a:off x="3514725"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7.185 K</a:t>
            </a:r>
          </a:p>
        </p:txBody>
      </p:sp>
      <p:sp>
        <p:nvSpPr>
          <p:cNvPr id="21" name="">
            <a:extLst xmlns:a="http://schemas.openxmlformats.org/drawingml/2006/main">
              <a:ext uri="{FF2B5EF4-FFF2-40B4-BE49-F238E27FC236}">
                <a16:creationId xmlns:a16="http://schemas.microsoft.com/office/drawing/2014/main" id="{36BD1953-199C-4A3C-97FF-2DBDB12B3370}"/>
              </a:ext>
            </a:extLst>
          </p:cNvPr>
          <p:cNvSpPr>
            <a:spLocks xmlns:a="http://schemas.openxmlformats.org/drawingml/2006/main" noGrp="1"/>
          </p:cNvSpPr>
          <p:nvPr/>
        </p:nvSpPr>
        <p:spPr>
          <a:xfrm xmlns:a="http://schemas.openxmlformats.org/drawingml/2006/main">
            <a:off x="3514725"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prior平均</a:t>
            </a:r>
          </a:p>
        </p:txBody>
      </p:sp>
      <p:sp>
        <p:nvSpPr>
          <p:cNvPr id="22" name="">
            <a:extLst xmlns:a="http://schemas.openxmlformats.org/drawingml/2006/main">
              <a:ext uri="{FF2B5EF4-FFF2-40B4-BE49-F238E27FC236}">
                <a16:creationId xmlns:a16="http://schemas.microsoft.com/office/drawing/2014/main" id="{46AFEC93-461D-4EE2-8FF1-1B158B9FA264}"/>
              </a:ext>
            </a:extLst>
          </p:cNvPr>
          <p:cNvSpPr>
            <a:spLocks xmlns:a="http://schemas.openxmlformats.org/drawingml/2006/main" noGrp="1"/>
          </p:cNvSpPr>
          <p:nvPr/>
        </p:nvSpPr>
        <p:spPr>
          <a:xfrm xmlns:a="http://schemas.openxmlformats.org/drawingml/2006/main">
            <a:off x="6096000" y="5105400"/>
            <a:ext cx="257175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A924D597-78B5-4B16-8061-9DA8C8FC1BEE}"/>
              </a:ext>
            </a:extLst>
          </p:cNvPr>
          <p:cNvSpPr>
            <a:spLocks xmlns:a="http://schemas.openxmlformats.org/drawingml/2006/main" noGrp="1"/>
          </p:cNvSpPr>
          <p:nvPr/>
        </p:nvSpPr>
        <p:spPr>
          <a:xfrm xmlns:a="http://schemas.openxmlformats.org/drawingml/2006/main">
            <a:off x="6096000" y="5105400"/>
            <a:ext cx="66675" cy="10287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E4BCD7C-7C5E-4297-8A10-C27B39BC6E90}"/>
              </a:ext>
            </a:extLst>
          </p:cNvPr>
          <p:cNvSpPr>
            <a:spLocks xmlns:a="http://schemas.openxmlformats.org/drawingml/2006/main" noGrp="1"/>
          </p:cNvSpPr>
          <p:nvPr/>
        </p:nvSpPr>
        <p:spPr>
          <a:xfrm xmlns:a="http://schemas.openxmlformats.org/drawingml/2006/main">
            <a:off x="6286500" y="5200650"/>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1.303 K</a:t>
            </a:r>
          </a:p>
        </p:txBody>
      </p:sp>
      <p:sp>
        <p:nvSpPr>
          <p:cNvPr id="25" name="">
            <a:extLst xmlns:a="http://schemas.openxmlformats.org/drawingml/2006/main">
              <a:ext uri="{FF2B5EF4-FFF2-40B4-BE49-F238E27FC236}">
                <a16:creationId xmlns:a16="http://schemas.microsoft.com/office/drawing/2014/main" id="{BE40F420-7B65-4F25-83BE-C220B4C4EFE4}"/>
              </a:ext>
            </a:extLst>
          </p:cNvPr>
          <p:cNvSpPr>
            <a:spLocks xmlns:a="http://schemas.openxmlformats.org/drawingml/2006/main" noGrp="1"/>
          </p:cNvSpPr>
          <p:nvPr/>
        </p:nvSpPr>
        <p:spPr>
          <a:xfrm xmlns:a="http://schemas.openxmlformats.org/drawingml/2006/main">
            <a:off x="6286500" y="5581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worst F09</a:t>
            </a:r>
          </a:p>
        </p:txBody>
      </p:sp>
      <p:sp>
        <p:nvSpPr>
          <p:cNvPr id="26" name="">
            <a:extLst xmlns:a="http://schemas.openxmlformats.org/drawingml/2006/main">
              <a:ext uri="{FF2B5EF4-FFF2-40B4-BE49-F238E27FC236}">
                <a16:creationId xmlns:a16="http://schemas.microsoft.com/office/drawing/2014/main" id="{099E8FA2-ABAA-4C2C-966A-6E6BA72BF1D1}"/>
              </a:ext>
            </a:extLst>
          </p:cNvPr>
          <p:cNvSpPr>
            <a:spLocks xmlns:a="http://schemas.openxmlformats.org/drawingml/2006/main" noGrp="1"/>
          </p:cNvSpPr>
          <p:nvPr/>
        </p:nvSpPr>
        <p:spPr>
          <a:xfrm xmlns:a="http://schemas.openxmlformats.org/drawingml/2006/main">
            <a:off x="8867775" y="5105400"/>
            <a:ext cx="2771775"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C19E4D21-F0FF-4023-8021-ADDDE8B2439B}"/>
              </a:ext>
            </a:extLst>
          </p:cNvPr>
          <p:cNvSpPr>
            <a:spLocks xmlns:a="http://schemas.openxmlformats.org/drawingml/2006/main" noGrp="1"/>
          </p:cNvSpPr>
          <p:nvPr/>
        </p:nvSpPr>
        <p:spPr>
          <a:xfrm xmlns:a="http://schemas.openxmlformats.org/drawingml/2006/main">
            <a:off x="8867775" y="5105400"/>
            <a:ext cx="66675" cy="1028700"/>
          </a:xfrm>
          <a:prstGeom xmlns:a="http://schemas.openxmlformats.org/drawingml/2006/main" prst="rect">
            <a:avLst/>
          </a:prstGeom>
          <a:solidFill xmlns:a="http://schemas.openxmlformats.org/drawingml/2006/main">
            <a:srgbClr val="C4493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152637F-FE8C-4408-A72D-4AFD07BB84C9}"/>
              </a:ext>
            </a:extLst>
          </p:cNvPr>
          <p:cNvSpPr>
            <a:spLocks xmlns:a="http://schemas.openxmlformats.org/drawingml/2006/main" noGrp="1"/>
          </p:cNvSpPr>
          <p:nvPr/>
        </p:nvSpPr>
        <p:spPr>
          <a:xfrm xmlns:a="http://schemas.openxmlformats.org/drawingml/2006/main">
            <a:off x="9058275" y="5200650"/>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9.823 K</a:t>
            </a:r>
          </a:p>
        </p:txBody>
      </p:sp>
      <p:sp>
        <p:nvSpPr>
          <p:cNvPr id="29" name="">
            <a:extLst xmlns:a="http://schemas.openxmlformats.org/drawingml/2006/main">
              <a:ext uri="{FF2B5EF4-FFF2-40B4-BE49-F238E27FC236}">
                <a16:creationId xmlns:a16="http://schemas.microsoft.com/office/drawing/2014/main" id="{8322068D-A41A-43DF-AFF3-BC18C0614BB8}"/>
              </a:ext>
            </a:extLst>
          </p:cNvPr>
          <p:cNvSpPr>
            <a:spLocks xmlns:a="http://schemas.openxmlformats.org/drawingml/2006/main" noGrp="1"/>
          </p:cNvSpPr>
          <p:nvPr/>
        </p:nvSpPr>
        <p:spPr>
          <a:xfrm xmlns:a="http://schemas.openxmlformats.org/drawingml/2006/main">
            <a:off x="9058275" y="5581650"/>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F11 intentional gap</a:t>
            </a:r>
          </a:p>
        </p:txBody>
      </p:sp>
      <p:sp>
        <p:nvSpPr>
          <p:cNvPr id="30" name="">
            <a:extLst xmlns:a="http://schemas.openxmlformats.org/drawingml/2006/main">
              <a:ext uri="{FF2B5EF4-FFF2-40B4-BE49-F238E27FC236}">
                <a16:creationId xmlns:a16="http://schemas.microsoft.com/office/drawing/2014/main" id="{29783F08-4BEA-4365-8C12-EA6CC5B472BA}"/>
              </a:ext>
            </a:extLst>
          </p:cNvPr>
          <p:cNvSpPr>
            <a:spLocks xmlns:a="http://schemas.openxmlformats.org/drawingml/2006/main" noGrp="1"/>
          </p:cNvSpPr>
          <p:nvPr/>
        </p:nvSpPr>
        <p:spPr>
          <a:xfrm xmlns:a="http://schemas.openxmlformats.org/drawingml/2006/main">
            <a:off x="9058275" y="5867400"/>
            <a:ext cx="24860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温度依存heat lossを未表現</a:t>
            </a:r>
          </a:p>
        </p:txBody>
      </p:sp>
    </p:spTree>
    <p:extLst>
      <p:ext uri="{BB962C8B-B14F-4D97-AF65-F5344CB8AC3E}">
        <p14:creationId xmlns:p14="http://schemas.microsoft.com/office/powerpoint/2010/main" val="67896359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892090D-6079-46A1-B336-0D225B2F73D7}"/>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0F8E8A-B5B7-49ED-B988-45CBD7216B60}"/>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LINEAR COMSOL</a:t>
            </a:r>
          </a:p>
        </p:txBody>
      </p:sp>
      <p:sp>
        <p:nvSpPr>
          <p:cNvPr id="3" name="">
            <a:extLst xmlns:a="http://schemas.openxmlformats.org/drawingml/2006/main">
              <a:ext uri="{FF2B5EF4-FFF2-40B4-BE49-F238E27FC236}">
                <a16:creationId xmlns:a16="http://schemas.microsoft.com/office/drawing/2014/main" id="{E3CD05E4-F311-41BD-B8FB-A8B8F9B19034}"/>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外部8ケースの平均RMSEは0.036 K、worstはshort-pulse条件の0.083 K</a:t>
            </a:r>
          </a:p>
        </p:txBody>
      </p:sp>
      <p:sp>
        <p:nvSpPr>
          <p:cNvPr id="4" name="">
            <a:extLst xmlns:a="http://schemas.openxmlformats.org/drawingml/2006/main">
              <a:ext uri="{FF2B5EF4-FFF2-40B4-BE49-F238E27FC236}">
                <a16:creationId xmlns:a16="http://schemas.microsoft.com/office/drawing/2014/main" id="{FDBECEDA-1EF3-453D-B4E3-A7800CAF3530}"/>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体積平均温度に対する結果であり、局所hotspotの安全余裕は別に設定する</a:t>
            </a:r>
          </a:p>
        </p:txBody>
      </p:sp>
      <p:sp>
        <p:nvSpPr>
          <p:cNvPr id="5" name="">
            <a:extLst xmlns:a="http://schemas.openxmlformats.org/drawingml/2006/main">
              <a:ext uri="{FF2B5EF4-FFF2-40B4-BE49-F238E27FC236}">
                <a16:creationId xmlns:a16="http://schemas.microsoft.com/office/drawing/2014/main" id="{1A0AFA1F-AD82-44EF-B5FB-7522EB0F8C3C}"/>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72F5C7E8-0580-49B6-92D0-7666983B52B9}"/>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1D018E5C-45B4-4CA1-9045-933B0C6AEFAC}"/>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93400437-6DA2-416A-859D-552F5F3EA61F}"/>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24</a:t>
            </a:r>
          </a:p>
        </p:txBody>
      </p:sp>
      <p:graphicFrame>
        <p:nvGraphicFramePr>
          <p:cNvPr id="42" name="Chart"/>
          <p:cNvGraphicFramePr/>
          <p:nvPr/>
        </p:nvGraphicFramePr>
        <p:xfrm>
          <a:off xmlns:a="http://schemas.openxmlformats.org/drawingml/2006/main" x="552450" y="1438275"/>
          <a:ext xmlns:a="http://schemas.openxmlformats.org/drawingml/2006/main" cx="7219950" cy="3619500"/>
        </p:xfrm>
        <a:graphic xmlns:a="http://schemas.openxmlformats.org/drawingml/2006/main">
          <a:graphicData uri="http://schemas.openxmlformats.org/drawingml/2006/chart">
            <c:chart xmlns:r="http://schemas.openxmlformats.org/officeDocument/2006/relationships" xmlns:c="http://schemas.openxmlformats.org/drawingml/2006/chart" r:id="Rfa9dc4b31d594495"/>
          </a:graphicData>
        </a:graphic>
      </p:graphicFrame>
      <p:sp>
        <p:nvSpPr>
          <p:cNvPr id="10" name="">
            <a:extLst xmlns:a="http://schemas.openxmlformats.org/drawingml/2006/main">
              <a:ext uri="{FF2B5EF4-FFF2-40B4-BE49-F238E27FC236}">
                <a16:creationId xmlns:a16="http://schemas.microsoft.com/office/drawing/2014/main" id="{B6AF99F3-3532-4F8B-8D3B-2676E932CAFB}"/>
              </a:ext>
            </a:extLst>
          </p:cNvPr>
          <p:cNvSpPr>
            <a:spLocks xmlns:a="http://schemas.openxmlformats.org/drawingml/2006/main" noGrp="1"/>
          </p:cNvSpPr>
          <p:nvPr/>
        </p:nvSpPr>
        <p:spPr>
          <a:xfrm xmlns:a="http://schemas.openxmlformats.org/drawingml/2006/main">
            <a:off x="8058150" y="1438275"/>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同定パラメータ</a:t>
            </a:r>
          </a:p>
        </p:txBody>
      </p:sp>
      <p:graphicFrame>
        <p:nvGraphicFramePr>
          <p:cNvPr id="44" name=""/>
          <p:cNvGraphicFramePr/>
          <p:nvPr/>
        </p:nvGraphicFramePr>
        <p:xfrm>
          <a:off xmlns:a="http://schemas.openxmlformats.org/drawingml/2006/main" x="8058150" y="1781175"/>
          <a:ext xmlns:a="http://schemas.openxmlformats.org/drawingml/2006/main" cx="3581400" cy="1657350"/>
        </p:xfrm>
        <a:graphic xmlns:a="http://schemas.openxmlformats.org/drawingml/2006/main">
          <a:graphicData uri="http://schemas.openxmlformats.org/drawingml/2006/table">
            <a:tbl>
              <a:tblPr/>
              <a:tblGrid>
                <a:gridCol w="1619250"/>
                <a:gridCol w="933450"/>
                <a:gridCol w="1028700"/>
              </a:tblGrid>
              <a:tr h="414338">
                <a:tc>
                  <a:txBody>
                    <a:bodyPr/>
                    <a:lstStyle/>
                    <a:p>
                      <a:r>
                        <a:rPr sz="938" b="1">
                          <a:solidFill>
                            <a:srgbClr val="FFFFFF"/>
                          </a:solidFill>
                          <a:latin typeface="Yu Gothic"/>
                          <a:ea typeface="Yu Gothic"/>
                          <a:cs typeface="Yu Gothic"/>
                        </a:rPr>
                        <a:t>parameter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prior</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fitted</a:t>
                      </a:r>
                    </a:p>
                  </a:txBody>
                  <a:tcPr marL="91440" marR="91440" marT="45720" marB="45720">
                    <a:solidFill>
                      <a:srgbClr val="007FA8"/>
                    </a:solidFill>
                  </a:tcPr>
                </a:tc>
              </a:tr>
              <a:tr h="414338">
                <a:tc>
                  <a:txBody>
                    <a:bodyPr/>
                    <a:lstStyle/>
                    <a:p>
                      <a:r>
                        <a:rPr sz="863">
                          <a:solidFill>
                            <a:srgbClr val="5B5B5B"/>
                          </a:solidFill>
                          <a:latin typeface="Yu Gothic"/>
                          <a:ea typeface="Yu Gothic"/>
                          <a:cs typeface="Yu Gothic"/>
                        </a:rPr>
                        <a:t>G chip–base</a:t>
                      </a:r>
                    </a:p>
                  </a:txBody>
                  <a:tcPr marL="91440" marR="91440" marT="45720" marB="45720">
                    <a:solidFill>
                      <a:srgbClr val="FFFFFF"/>
                    </a:solidFill>
                  </a:tcPr>
                </a:tc>
                <a:tc>
                  <a:txBody>
                    <a:bodyPr/>
                    <a:lstStyle/>
                    <a:p>
                      <a:r>
                        <a:rPr sz="863">
                          <a:solidFill>
                            <a:srgbClr val="5B5B5B"/>
                          </a:solidFill>
                          <a:latin typeface="Yu Gothic"/>
                          <a:ea typeface="Yu Gothic"/>
                          <a:cs typeface="Yu Gothic"/>
                        </a:rPr>
                        <a:t>40.000</a:t>
                      </a:r>
                    </a:p>
                  </a:txBody>
                  <a:tcPr marL="91440" marR="91440" marT="45720" marB="45720">
                    <a:solidFill>
                      <a:srgbClr val="FFFFFF"/>
                    </a:solidFill>
                  </a:tcPr>
                </a:tc>
                <a:tc>
                  <a:txBody>
                    <a:bodyPr/>
                    <a:lstStyle/>
                    <a:p>
                      <a:r>
                        <a:rPr sz="863">
                          <a:solidFill>
                            <a:srgbClr val="5B5B5B"/>
                          </a:solidFill>
                          <a:latin typeface="Yu Gothic"/>
                          <a:ea typeface="Yu Gothic"/>
                          <a:cs typeface="Yu Gothic"/>
                        </a:rPr>
                        <a:t>38.220</a:t>
                      </a:r>
                    </a:p>
                  </a:txBody>
                  <a:tcPr marL="91440" marR="91440" marT="45720" marB="45720">
                    <a:solidFill>
                      <a:srgbClr val="FFFFFF"/>
                    </a:solidFill>
                  </a:tcPr>
                </a:tc>
              </a:tr>
              <a:tr h="414338">
                <a:tc>
                  <a:txBody>
                    <a:bodyPr/>
                    <a:lstStyle/>
                    <a:p>
                      <a:r>
                        <a:rPr sz="863">
                          <a:solidFill>
                            <a:srgbClr val="5B5B5B"/>
                          </a:solidFill>
                          <a:latin typeface="Yu Gothic"/>
                          <a:ea typeface="Yu Gothic"/>
                          <a:cs typeface="Yu Gothic"/>
                        </a:rPr>
                        <a:t>G base–fins</a:t>
                      </a:r>
                    </a:p>
                  </a:txBody>
                  <a:tcPr marL="91440" marR="91440" marT="45720" marB="45720">
                    <a:solidFill>
                      <a:srgbClr val="F8F8F8"/>
                    </a:solidFill>
                  </a:tcPr>
                </a:tc>
                <a:tc>
                  <a:txBody>
                    <a:bodyPr/>
                    <a:lstStyle/>
                    <a:p>
                      <a:r>
                        <a:rPr sz="863">
                          <a:solidFill>
                            <a:srgbClr val="5B5B5B"/>
                          </a:solidFill>
                          <a:latin typeface="Yu Gothic"/>
                          <a:ea typeface="Yu Gothic"/>
                          <a:cs typeface="Yu Gothic"/>
                        </a:rPr>
                        <a:t>12.000</a:t>
                      </a:r>
                    </a:p>
                  </a:txBody>
                  <a:tcPr marL="91440" marR="91440" marT="45720" marB="45720">
                    <a:solidFill>
                      <a:srgbClr val="F8F8F8"/>
                    </a:solidFill>
                  </a:tcPr>
                </a:tc>
                <a:tc>
                  <a:txBody>
                    <a:bodyPr/>
                    <a:lstStyle/>
                    <a:p>
                      <a:r>
                        <a:rPr sz="863">
                          <a:solidFill>
                            <a:srgbClr val="5B5B5B"/>
                          </a:solidFill>
                          <a:latin typeface="Yu Gothic"/>
                          <a:ea typeface="Yu Gothic"/>
                          <a:cs typeface="Yu Gothic"/>
                        </a:rPr>
                        <a:t>9.992</a:t>
                      </a:r>
                    </a:p>
                  </a:txBody>
                  <a:tcPr marL="91440" marR="91440" marT="45720" marB="45720">
                    <a:solidFill>
                      <a:srgbClr val="F8F8F8"/>
                    </a:solidFill>
                  </a:tcPr>
                </a:tc>
              </a:tr>
              <a:tr h="414338">
                <a:tc>
                  <a:txBody>
                    <a:bodyPr/>
                    <a:lstStyle/>
                    <a:p>
                      <a:r>
                        <a:rPr sz="863">
                          <a:solidFill>
                            <a:srgbClr val="5B5B5B"/>
                          </a:solidFill>
                          <a:latin typeface="Yu Gothic"/>
                          <a:ea typeface="Yu Gothic"/>
                          <a:cs typeface="Yu Gothic"/>
                        </a:rPr>
                        <a:t>hA coolant</a:t>
                      </a:r>
                    </a:p>
                  </a:txBody>
                  <a:tcPr marL="91440" marR="91440" marT="45720" marB="45720">
                    <a:solidFill>
                      <a:srgbClr val="FFFFFF"/>
                    </a:solidFill>
                  </a:tcPr>
                </a:tc>
                <a:tc>
                  <a:txBody>
                    <a:bodyPr/>
                    <a:lstStyle/>
                    <a:p>
                      <a:r>
                        <a:rPr sz="863">
                          <a:solidFill>
                            <a:srgbClr val="5B5B5B"/>
                          </a:solidFill>
                          <a:latin typeface="Yu Gothic"/>
                          <a:ea typeface="Yu Gothic"/>
                          <a:cs typeface="Yu Gothic"/>
                        </a:rPr>
                        <a:t>0.440</a:t>
                      </a:r>
                    </a:p>
                  </a:txBody>
                  <a:tcPr marL="91440" marR="91440" marT="45720" marB="45720">
                    <a:solidFill>
                      <a:srgbClr val="FFFFFF"/>
                    </a:solidFill>
                  </a:tcPr>
                </a:tc>
                <a:tc>
                  <a:txBody>
                    <a:bodyPr/>
                    <a:lstStyle/>
                    <a:p>
                      <a:r>
                        <a:rPr sz="863">
                          <a:solidFill>
                            <a:srgbClr val="5B5B5B"/>
                          </a:solidFill>
                          <a:latin typeface="Yu Gothic"/>
                          <a:ea typeface="Yu Gothic"/>
                          <a:cs typeface="Yu Gothic"/>
                        </a:rPr>
                        <a:t>0.1906</a:t>
                      </a:r>
                    </a:p>
                  </a:txBody>
                  <a:tcPr marL="91440" marR="91440" marT="45720" marB="45720">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8C85875C-3074-474F-805A-C8959D45FA62}"/>
              </a:ext>
            </a:extLst>
          </p:cNvPr>
          <p:cNvSpPr>
            <a:spLocks xmlns:a="http://schemas.openxmlformats.org/drawingml/2006/main" noGrp="1"/>
          </p:cNvSpPr>
          <p:nvPr/>
        </p:nvSpPr>
        <p:spPr>
          <a:xfrm xmlns:a="http://schemas.openxmlformats.org/drawingml/2006/main">
            <a:off x="8058150" y="3638550"/>
            <a:ext cx="3581400" cy="141922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3" name="">
            <a:extLst xmlns:a="http://schemas.openxmlformats.org/drawingml/2006/main">
              <a:ext uri="{FF2B5EF4-FFF2-40B4-BE49-F238E27FC236}">
                <a16:creationId xmlns:a16="http://schemas.microsoft.com/office/drawing/2014/main" id="{0649B536-C0B7-4B1F-9C90-847DE58E5C07}"/>
              </a:ext>
            </a:extLst>
          </p:cNvPr>
          <p:cNvSpPr>
            <a:spLocks xmlns:a="http://schemas.openxmlformats.org/drawingml/2006/main" noGrp="1"/>
          </p:cNvSpPr>
          <p:nvPr/>
        </p:nvSpPr>
        <p:spPr>
          <a:xfrm xmlns:a="http://schemas.openxmlformats.org/drawingml/2006/main">
            <a:off x="8239125" y="3781425"/>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hotspot check</a:t>
            </a:r>
          </a:p>
        </p:txBody>
      </p:sp>
      <p:sp>
        <p:nvSpPr>
          <p:cNvPr id="14" name="">
            <a:extLst xmlns:a="http://schemas.openxmlformats.org/drawingml/2006/main">
              <a:ext uri="{FF2B5EF4-FFF2-40B4-BE49-F238E27FC236}">
                <a16:creationId xmlns:a16="http://schemas.microsoft.com/office/drawing/2014/main" id="{0BFCE0D9-92A0-4358-AEE2-452E55E2DC77}"/>
              </a:ext>
            </a:extLst>
          </p:cNvPr>
          <p:cNvSpPr>
            <a:spLocks xmlns:a="http://schemas.openxmlformats.org/drawingml/2006/main" noGrp="1"/>
          </p:cNvSpPr>
          <p:nvPr/>
        </p:nvSpPr>
        <p:spPr>
          <a:xfrm xmlns:a="http://schemas.openxmlformats.org/drawingml/2006/main">
            <a:off x="8239125" y="4114800"/>
            <a:ext cx="24765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最大 average–hotspot gap</a:t>
            </a:r>
          </a:p>
        </p:txBody>
      </p:sp>
      <p:sp>
        <p:nvSpPr>
          <p:cNvPr id="15" name="">
            <a:extLst xmlns:a="http://schemas.openxmlformats.org/drawingml/2006/main">
              <a:ext uri="{FF2B5EF4-FFF2-40B4-BE49-F238E27FC236}">
                <a16:creationId xmlns:a16="http://schemas.microsoft.com/office/drawing/2014/main" id="{39143031-D4C5-46B6-9E23-C4C357ADE13F}"/>
              </a:ext>
            </a:extLst>
          </p:cNvPr>
          <p:cNvSpPr>
            <a:spLocks xmlns:a="http://schemas.openxmlformats.org/drawingml/2006/main" noGrp="1"/>
          </p:cNvSpPr>
          <p:nvPr/>
        </p:nvSpPr>
        <p:spPr>
          <a:xfrm xmlns:a="http://schemas.openxmlformats.org/drawingml/2006/main">
            <a:off x="10306050" y="4038600"/>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0.238 K</a:t>
            </a:r>
          </a:p>
        </p:txBody>
      </p:sp>
      <p:sp>
        <p:nvSpPr>
          <p:cNvPr id="16" name="">
            <a:extLst xmlns:a="http://schemas.openxmlformats.org/drawingml/2006/main">
              <a:ext uri="{FF2B5EF4-FFF2-40B4-BE49-F238E27FC236}">
                <a16:creationId xmlns:a16="http://schemas.microsoft.com/office/drawing/2014/main" id="{D838165C-3D6E-4021-BF7C-946B66CE8EFD}"/>
              </a:ext>
            </a:extLst>
          </p:cNvPr>
          <p:cNvSpPr>
            <a:spLocks xmlns:a="http://schemas.openxmlformats.org/drawingml/2006/main" noGrp="1"/>
          </p:cNvSpPr>
          <p:nvPr/>
        </p:nvSpPr>
        <p:spPr>
          <a:xfrm xmlns:a="http://schemas.openxmlformats.org/drawingml/2006/main">
            <a:off x="8239125" y="4467225"/>
            <a:ext cx="24765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最大 hotspot 過小評価</a:t>
            </a:r>
          </a:p>
        </p:txBody>
      </p:sp>
      <p:sp>
        <p:nvSpPr>
          <p:cNvPr id="17" name="">
            <a:extLst xmlns:a="http://schemas.openxmlformats.org/drawingml/2006/main">
              <a:ext uri="{FF2B5EF4-FFF2-40B4-BE49-F238E27FC236}">
                <a16:creationId xmlns:a16="http://schemas.microsoft.com/office/drawing/2014/main" id="{B2C79BCB-52F5-4550-AB0F-1354699F112C}"/>
              </a:ext>
            </a:extLst>
          </p:cNvPr>
          <p:cNvSpPr>
            <a:spLocks xmlns:a="http://schemas.openxmlformats.org/drawingml/2006/main" noGrp="1"/>
          </p:cNvSpPr>
          <p:nvPr/>
        </p:nvSpPr>
        <p:spPr>
          <a:xfrm xmlns:a="http://schemas.openxmlformats.org/drawingml/2006/main">
            <a:off x="10306050" y="43910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0.328 K</a:t>
            </a:r>
          </a:p>
        </p:txBody>
      </p:sp>
      <p:sp>
        <p:nvSpPr>
          <p:cNvPr id="18" name="">
            <a:extLst xmlns:a="http://schemas.openxmlformats.org/drawingml/2006/main">
              <a:ext uri="{FF2B5EF4-FFF2-40B4-BE49-F238E27FC236}">
                <a16:creationId xmlns:a16="http://schemas.microsoft.com/office/drawing/2014/main" id="{8B2DE547-99FF-4461-8F85-D92279C1F7F7}"/>
              </a:ext>
            </a:extLst>
          </p:cNvPr>
          <p:cNvSpPr>
            <a:spLocks xmlns:a="http://schemas.openxmlformats.org/drawingml/2006/main" noGrp="1"/>
          </p:cNvSpPr>
          <p:nvPr/>
        </p:nvSpPr>
        <p:spPr>
          <a:xfrm xmlns:a="http://schemas.openxmlformats.org/drawingml/2006/main">
            <a:off x="552450"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DFCC90D3-22E1-465D-A1AB-4A2E51B36598}"/>
              </a:ext>
            </a:extLst>
          </p:cNvPr>
          <p:cNvSpPr>
            <a:spLocks xmlns:a="http://schemas.openxmlformats.org/drawingml/2006/main" noGrp="1"/>
          </p:cNvSpPr>
          <p:nvPr/>
        </p:nvSpPr>
        <p:spPr>
          <a:xfrm xmlns:a="http://schemas.openxmlformats.org/drawingml/2006/main">
            <a:off x="552450" y="5267325"/>
            <a:ext cx="66675" cy="8667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D648D90-85B4-4B91-9684-327B1747FBB0}"/>
              </a:ext>
            </a:extLst>
          </p:cNvPr>
          <p:cNvSpPr>
            <a:spLocks xmlns:a="http://schemas.openxmlformats.org/drawingml/2006/main" noGrp="1"/>
          </p:cNvSpPr>
          <p:nvPr/>
        </p:nvSpPr>
        <p:spPr>
          <a:xfrm xmlns:a="http://schemas.openxmlformats.org/drawingml/2006/main">
            <a:off x="742950"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0.036 K</a:t>
            </a:r>
          </a:p>
        </p:txBody>
      </p:sp>
      <p:sp>
        <p:nvSpPr>
          <p:cNvPr id="21" name="">
            <a:extLst xmlns:a="http://schemas.openxmlformats.org/drawingml/2006/main">
              <a:ext uri="{FF2B5EF4-FFF2-40B4-BE49-F238E27FC236}">
                <a16:creationId xmlns:a16="http://schemas.microsoft.com/office/drawing/2014/main" id="{D81A6442-D31A-4260-A9E9-9854ECDB3692}"/>
              </a:ext>
            </a:extLst>
          </p:cNvPr>
          <p:cNvSpPr>
            <a:spLocks xmlns:a="http://schemas.openxmlformats.org/drawingml/2006/main" noGrp="1"/>
          </p:cNvSpPr>
          <p:nvPr/>
        </p:nvSpPr>
        <p:spPr>
          <a:xfrm xmlns:a="http://schemas.openxmlformats.org/drawingml/2006/main">
            <a:off x="742950"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RMSE</a:t>
            </a:r>
          </a:p>
        </p:txBody>
      </p:sp>
      <p:sp>
        <p:nvSpPr>
          <p:cNvPr id="22" name="">
            <a:extLst xmlns:a="http://schemas.openxmlformats.org/drawingml/2006/main">
              <a:ext uri="{FF2B5EF4-FFF2-40B4-BE49-F238E27FC236}">
                <a16:creationId xmlns:a16="http://schemas.microsoft.com/office/drawing/2014/main" id="{02CCA2EE-E46F-415E-8ADB-2ED83EDDB48C}"/>
              </a:ext>
            </a:extLst>
          </p:cNvPr>
          <p:cNvSpPr>
            <a:spLocks xmlns:a="http://schemas.openxmlformats.org/drawingml/2006/main" noGrp="1"/>
          </p:cNvSpPr>
          <p:nvPr/>
        </p:nvSpPr>
        <p:spPr>
          <a:xfrm xmlns:a="http://schemas.openxmlformats.org/drawingml/2006/main">
            <a:off x="3324225"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3" name="">
            <a:extLst xmlns:a="http://schemas.openxmlformats.org/drawingml/2006/main">
              <a:ext uri="{FF2B5EF4-FFF2-40B4-BE49-F238E27FC236}">
                <a16:creationId xmlns:a16="http://schemas.microsoft.com/office/drawing/2014/main" id="{9F8A4FA4-B247-4C46-9BC8-4CE80FAB56B5}"/>
              </a:ext>
            </a:extLst>
          </p:cNvPr>
          <p:cNvSpPr>
            <a:spLocks xmlns:a="http://schemas.openxmlformats.org/drawingml/2006/main" noGrp="1"/>
          </p:cNvSpPr>
          <p:nvPr/>
        </p:nvSpPr>
        <p:spPr>
          <a:xfrm xmlns:a="http://schemas.openxmlformats.org/drawingml/2006/main">
            <a:off x="3324225" y="5267325"/>
            <a:ext cx="66675" cy="8667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DAC3211-1360-4AC2-8775-2AE77BCF3660}"/>
              </a:ext>
            </a:extLst>
          </p:cNvPr>
          <p:cNvSpPr>
            <a:spLocks xmlns:a="http://schemas.openxmlformats.org/drawingml/2006/main" noGrp="1"/>
          </p:cNvSpPr>
          <p:nvPr/>
        </p:nvSpPr>
        <p:spPr>
          <a:xfrm xmlns:a="http://schemas.openxmlformats.org/drawingml/2006/main">
            <a:off x="3514725"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0.083 K</a:t>
            </a:r>
          </a:p>
        </p:txBody>
      </p:sp>
      <p:sp>
        <p:nvSpPr>
          <p:cNvPr id="25" name="">
            <a:extLst xmlns:a="http://schemas.openxmlformats.org/drawingml/2006/main">
              <a:ext uri="{FF2B5EF4-FFF2-40B4-BE49-F238E27FC236}">
                <a16:creationId xmlns:a16="http://schemas.microsoft.com/office/drawing/2014/main" id="{B87D9FFC-1414-4511-8D3E-5D7DC0329F1C}"/>
              </a:ext>
            </a:extLst>
          </p:cNvPr>
          <p:cNvSpPr>
            <a:spLocks xmlns:a="http://schemas.openxmlformats.org/drawingml/2006/main" noGrp="1"/>
          </p:cNvSpPr>
          <p:nvPr/>
        </p:nvSpPr>
        <p:spPr>
          <a:xfrm xmlns:a="http://schemas.openxmlformats.org/drawingml/2006/main">
            <a:off x="3514725"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worst F05</a:t>
            </a:r>
          </a:p>
        </p:txBody>
      </p:sp>
      <p:sp>
        <p:nvSpPr>
          <p:cNvPr id="26" name="">
            <a:extLst xmlns:a="http://schemas.openxmlformats.org/drawingml/2006/main">
              <a:ext uri="{FF2B5EF4-FFF2-40B4-BE49-F238E27FC236}">
                <a16:creationId xmlns:a16="http://schemas.microsoft.com/office/drawing/2014/main" id="{96625122-E033-48ED-A683-1EEE67425CDB}"/>
              </a:ext>
            </a:extLst>
          </p:cNvPr>
          <p:cNvSpPr>
            <a:spLocks xmlns:a="http://schemas.openxmlformats.org/drawingml/2006/main" noGrp="1"/>
          </p:cNvSpPr>
          <p:nvPr/>
        </p:nvSpPr>
        <p:spPr>
          <a:xfrm xmlns:a="http://schemas.openxmlformats.org/drawingml/2006/main">
            <a:off x="6096000" y="5267325"/>
            <a:ext cx="257175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7" name="">
            <a:extLst xmlns:a="http://schemas.openxmlformats.org/drawingml/2006/main">
              <a:ext uri="{FF2B5EF4-FFF2-40B4-BE49-F238E27FC236}">
                <a16:creationId xmlns:a16="http://schemas.microsoft.com/office/drawing/2014/main" id="{96FE0487-0119-44B1-8F78-704FDD257E11}"/>
              </a:ext>
            </a:extLst>
          </p:cNvPr>
          <p:cNvSpPr>
            <a:spLocks xmlns:a="http://schemas.openxmlformats.org/drawingml/2006/main" noGrp="1"/>
          </p:cNvSpPr>
          <p:nvPr/>
        </p:nvSpPr>
        <p:spPr>
          <a:xfrm xmlns:a="http://schemas.openxmlformats.org/drawingml/2006/main">
            <a:off x="6096000" y="5267325"/>
            <a:ext cx="66675" cy="8667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526DC56-5BFF-47DB-BBAE-6FB5CF17260B}"/>
              </a:ext>
            </a:extLst>
          </p:cNvPr>
          <p:cNvSpPr>
            <a:spLocks xmlns:a="http://schemas.openxmlformats.org/drawingml/2006/main" noGrp="1"/>
          </p:cNvSpPr>
          <p:nvPr/>
        </p:nvSpPr>
        <p:spPr>
          <a:xfrm xmlns:a="http://schemas.openxmlformats.org/drawingml/2006/main">
            <a:off x="6286500" y="53625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7.362 K</a:t>
            </a:r>
          </a:p>
        </p:txBody>
      </p:sp>
      <p:sp>
        <p:nvSpPr>
          <p:cNvPr id="29" name="">
            <a:extLst xmlns:a="http://schemas.openxmlformats.org/drawingml/2006/main">
              <a:ext uri="{FF2B5EF4-FFF2-40B4-BE49-F238E27FC236}">
                <a16:creationId xmlns:a16="http://schemas.microsoft.com/office/drawing/2014/main" id="{7E9DD805-05B2-46B7-A330-67E1BB2C9404}"/>
              </a:ext>
            </a:extLst>
          </p:cNvPr>
          <p:cNvSpPr>
            <a:spLocks xmlns:a="http://schemas.openxmlformats.org/drawingml/2006/main" noGrp="1"/>
          </p:cNvSpPr>
          <p:nvPr/>
        </p:nvSpPr>
        <p:spPr>
          <a:xfrm xmlns:a="http://schemas.openxmlformats.org/drawingml/2006/main">
            <a:off x="6286500" y="57435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prior mean</a:t>
            </a:r>
          </a:p>
        </p:txBody>
      </p:sp>
      <p:sp>
        <p:nvSpPr>
          <p:cNvPr id="30" name="">
            <a:extLst xmlns:a="http://schemas.openxmlformats.org/drawingml/2006/main">
              <a:ext uri="{FF2B5EF4-FFF2-40B4-BE49-F238E27FC236}">
                <a16:creationId xmlns:a16="http://schemas.microsoft.com/office/drawing/2014/main" id="{471CB79A-3B2B-4FC2-8CDF-8EAA42E57844}"/>
              </a:ext>
            </a:extLst>
          </p:cNvPr>
          <p:cNvSpPr>
            <a:spLocks xmlns:a="http://schemas.openxmlformats.org/drawingml/2006/main" noGrp="1"/>
          </p:cNvSpPr>
          <p:nvPr/>
        </p:nvSpPr>
        <p:spPr>
          <a:xfrm xmlns:a="http://schemas.openxmlformats.org/drawingml/2006/main">
            <a:off x="8867775" y="5267325"/>
            <a:ext cx="2771775"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31" name="">
            <a:extLst xmlns:a="http://schemas.openxmlformats.org/drawingml/2006/main">
              <a:ext uri="{FF2B5EF4-FFF2-40B4-BE49-F238E27FC236}">
                <a16:creationId xmlns:a16="http://schemas.microsoft.com/office/drawing/2014/main" id="{C90CA94E-F5A9-4210-8FD7-5B466606CE54}"/>
              </a:ext>
            </a:extLst>
          </p:cNvPr>
          <p:cNvSpPr>
            <a:spLocks xmlns:a="http://schemas.openxmlformats.org/drawingml/2006/main" noGrp="1"/>
          </p:cNvSpPr>
          <p:nvPr/>
        </p:nvSpPr>
        <p:spPr>
          <a:xfrm xmlns:a="http://schemas.openxmlformats.org/drawingml/2006/main">
            <a:off x="8867775" y="5267325"/>
            <a:ext cx="66675" cy="8667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9F00D9F-01A1-44B5-9967-B7B52F65EE74}"/>
              </a:ext>
            </a:extLst>
          </p:cNvPr>
          <p:cNvSpPr>
            <a:spLocks xmlns:a="http://schemas.openxmlformats.org/drawingml/2006/main" noGrp="1"/>
          </p:cNvSpPr>
          <p:nvPr/>
        </p:nvSpPr>
        <p:spPr>
          <a:xfrm xmlns:a="http://schemas.openxmlformats.org/drawingml/2006/main">
            <a:off x="9058275" y="5362575"/>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99.06%</a:t>
            </a:r>
          </a:p>
        </p:txBody>
      </p:sp>
      <p:sp>
        <p:nvSpPr>
          <p:cNvPr id="33" name="">
            <a:extLst xmlns:a="http://schemas.openxmlformats.org/drawingml/2006/main">
              <a:ext uri="{FF2B5EF4-FFF2-40B4-BE49-F238E27FC236}">
                <a16:creationId xmlns:a16="http://schemas.microsoft.com/office/drawing/2014/main" id="{AEAAA393-4590-4E76-B701-D57517D82D55}"/>
              </a:ext>
            </a:extLst>
          </p:cNvPr>
          <p:cNvSpPr>
            <a:spLocks xmlns:a="http://schemas.openxmlformats.org/drawingml/2006/main" noGrp="1"/>
          </p:cNvSpPr>
          <p:nvPr/>
        </p:nvSpPr>
        <p:spPr>
          <a:xfrm xmlns:a="http://schemas.openxmlformats.org/drawingml/2006/main">
            <a:off x="9058275" y="5743575"/>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mean improvement</a:t>
            </a:r>
          </a:p>
        </p:txBody>
      </p:sp>
    </p:spTree>
    <p:extLst>
      <p:ext uri="{BB962C8B-B14F-4D97-AF65-F5344CB8AC3E}">
        <p14:creationId xmlns:p14="http://schemas.microsoft.com/office/powerpoint/2010/main" val="5142634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E5C5776-49BF-425D-BFE4-D9B0E2604DFC}"/>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BB7E188-2251-4E3F-97F3-0A9D10791F1C}"/>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CAE CREDIBILITY</a:t>
            </a:r>
          </a:p>
        </p:txBody>
      </p:sp>
      <p:sp>
        <p:nvSpPr>
          <p:cNvPr id="3" name="">
            <a:extLst xmlns:a="http://schemas.openxmlformats.org/drawingml/2006/main">
              <a:ext uri="{FF2B5EF4-FFF2-40B4-BE49-F238E27FC236}">
                <a16:creationId xmlns:a16="http://schemas.microsoft.com/office/drawing/2014/main" id="{E463FC49-DD32-499D-960F-F1398665872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0.1 K級のモデル誤差を議論する前に、同程度のメッシュ不確かさを収束させる</a:t>
            </a:r>
          </a:p>
        </p:txBody>
      </p:sp>
      <p:sp>
        <p:nvSpPr>
          <p:cNvPr id="4" name="">
            <a:extLst xmlns:a="http://schemas.openxmlformats.org/drawingml/2006/main">
              <a:ext uri="{FF2B5EF4-FFF2-40B4-BE49-F238E27FC236}">
                <a16:creationId xmlns:a16="http://schemas.microsoft.com/office/drawing/2014/main" id="{5C68478A-133D-4740-9DE0-6B0497B5B42B}"/>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medium→fineのchip平均差はMC01で0.496 K、MC02で0.154 K</a:t>
            </a:r>
          </a:p>
        </p:txBody>
      </p:sp>
      <p:sp>
        <p:nvSpPr>
          <p:cNvPr id="5" name="">
            <a:extLst xmlns:a="http://schemas.openxmlformats.org/drawingml/2006/main">
              <a:ext uri="{FF2B5EF4-FFF2-40B4-BE49-F238E27FC236}">
                <a16:creationId xmlns:a16="http://schemas.microsoft.com/office/drawing/2014/main" id="{3551F7E9-304F-4670-B901-73E791EB5086}"/>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AA2F32B-5696-4E5E-88EB-EDF466AAFCDF}"/>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202BD040-CDB5-4ABE-9950-A3E0F37AA88B}"/>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90F9F14-0877-4278-A83C-25714628180A}"/>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25</a:t>
            </a:r>
          </a:p>
        </p:txBody>
      </p:sp>
      <p:sp>
        <p:nvSpPr>
          <p:cNvPr id="9" name="">
            <a:extLst xmlns:a="http://schemas.openxmlformats.org/drawingml/2006/main">
              <a:ext uri="{FF2B5EF4-FFF2-40B4-BE49-F238E27FC236}">
                <a16:creationId xmlns:a16="http://schemas.microsoft.com/office/drawing/2014/main" id="{C95F7DA1-BBCF-4F5C-A868-5B9E78CA5DCB}"/>
              </a:ext>
            </a:extLst>
          </p:cNvPr>
          <p:cNvSpPr>
            <a:spLocks xmlns:a="http://schemas.openxmlformats.org/drawingml/2006/main" noGrp="1"/>
          </p:cNvSpPr>
          <p:nvPr/>
        </p:nvSpPr>
        <p:spPr>
          <a:xfrm xmlns:a="http://schemas.openxmlformats.org/drawingml/2006/main">
            <a:off x="552450" y="1381125"/>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adjacent mesh difference</a:t>
            </a:r>
          </a:p>
        </p:txBody>
      </p:sp>
      <p:graphicFrame>
        <p:nvGraphicFramePr>
          <p:cNvPr id="40" name="Chart"/>
          <p:cNvGraphicFramePr/>
          <p:nvPr/>
        </p:nvGraphicFramePr>
        <p:xfrm>
          <a:off xmlns:a="http://schemas.openxmlformats.org/drawingml/2006/main" x="552450" y="1657350"/>
          <a:ext xmlns:a="http://schemas.openxmlformats.org/drawingml/2006/main" cx="5219700" cy="3238500"/>
        </p:xfrm>
        <a:graphic xmlns:a="http://schemas.openxmlformats.org/drawingml/2006/main">
          <a:graphicData uri="http://schemas.openxmlformats.org/drawingml/2006/chart">
            <c:chart xmlns:r="http://schemas.openxmlformats.org/officeDocument/2006/relationships" xmlns:c="http://schemas.openxmlformats.org/drawingml/2006/chart" r:id="R57889adcef0744e3"/>
          </a:graphicData>
        </a:graphic>
      </p:graphicFrame>
      <p:sp>
        <p:nvSpPr>
          <p:cNvPr id="11" name="">
            <a:extLst xmlns:a="http://schemas.openxmlformats.org/drawingml/2006/main">
              <a:ext uri="{FF2B5EF4-FFF2-40B4-BE49-F238E27FC236}">
                <a16:creationId xmlns:a16="http://schemas.microsoft.com/office/drawing/2014/main" id="{4CDB5B10-13E4-4B12-9FCA-A70F5075F578}"/>
              </a:ext>
            </a:extLst>
          </p:cNvPr>
          <p:cNvSpPr>
            <a:spLocks xmlns:a="http://schemas.openxmlformats.org/drawingml/2006/main" noGrp="1"/>
          </p:cNvSpPr>
          <p:nvPr/>
        </p:nvSpPr>
        <p:spPr>
          <a:xfrm xmlns:a="http://schemas.openxmlformats.org/drawingml/2006/main">
            <a:off x="1009650" y="3514725"/>
            <a:ext cx="4305300" cy="0"/>
          </a:xfrm>
          <a:prstGeom xmlns:a="http://schemas.openxmlformats.org/drawingml/2006/main" prst="line">
            <a:avLst/>
          </a:prstGeom>
          <a:noFill xmlns:a="http://schemas.openxmlformats.org/drawingml/2006/main"/>
          <a:ln xmlns:a="http://schemas.openxmlformats.org/drawingml/2006/main" w="14288">
            <a:solidFill>
              <a:srgbClr val="C4493D"/>
            </a:solidFill>
            <a:prstDash val="dash"/>
          </a:ln>
        </p:spPr>
      </p:sp>
      <p:sp>
        <p:nvSpPr>
          <p:cNvPr id="12" name="">
            <a:extLst xmlns:a="http://schemas.openxmlformats.org/drawingml/2006/main">
              <a:ext uri="{FF2B5EF4-FFF2-40B4-BE49-F238E27FC236}">
                <a16:creationId xmlns:a16="http://schemas.microsoft.com/office/drawing/2014/main" id="{FEE4B04D-9C27-4005-AA65-B011BEB821FC}"/>
              </a:ext>
            </a:extLst>
          </p:cNvPr>
          <p:cNvSpPr>
            <a:spLocks xmlns:a="http://schemas.openxmlformats.org/drawingml/2006/main" noGrp="1"/>
          </p:cNvSpPr>
          <p:nvPr/>
        </p:nvSpPr>
        <p:spPr>
          <a:xfrm xmlns:a="http://schemas.openxmlformats.org/drawingml/2006/main">
            <a:off x="3619500" y="33242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713" b="1" i="0">
                <a:solidFill>
                  <a:srgbClr val="C4493D"/>
                </a:solidFill>
                <a:latin typeface="Yu Gothic"/>
                <a:ea typeface="Yu Gothic"/>
                <a:cs typeface="Yu Gothic"/>
              </a:defRPr>
            </a:pPr>
            <a:r>
              <a:rPr sz="713" b="1" i="0">
                <a:solidFill>
                  <a:srgbClr val="C4493D"/>
                </a:solidFill>
                <a:latin typeface="Yu Gothic"/>
                <a:ea typeface="Yu Gothic"/>
                <a:cs typeface="Yu Gothic"/>
              </a:rPr>
              <a:t>strict criterion 0.25 K</a:t>
            </a:r>
          </a:p>
        </p:txBody>
      </p:sp>
      <p:sp>
        <p:nvSpPr>
          <p:cNvPr id="13" name="">
            <a:extLst xmlns:a="http://schemas.openxmlformats.org/drawingml/2006/main">
              <a:ext uri="{FF2B5EF4-FFF2-40B4-BE49-F238E27FC236}">
                <a16:creationId xmlns:a16="http://schemas.microsoft.com/office/drawing/2014/main" id="{4F9D170A-1AF9-4189-9FBB-CF31304A0EAB}"/>
              </a:ext>
            </a:extLst>
          </p:cNvPr>
          <p:cNvSpPr>
            <a:spLocks xmlns:a="http://schemas.openxmlformats.org/drawingml/2006/main" noGrp="1"/>
          </p:cNvSpPr>
          <p:nvPr/>
        </p:nvSpPr>
        <p:spPr>
          <a:xfrm xmlns:a="http://schemas.openxmlformats.org/drawingml/2006/main">
            <a:off x="6153150" y="1381125"/>
            <a:ext cx="5486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mesh / solve cost</a:t>
            </a:r>
          </a:p>
        </p:txBody>
      </p:sp>
      <p:graphicFrame>
        <p:nvGraphicFramePr>
          <p:cNvPr id="44" name=""/>
          <p:cNvGraphicFramePr/>
          <p:nvPr/>
        </p:nvGraphicFramePr>
        <p:xfrm>
          <a:off xmlns:a="http://schemas.openxmlformats.org/drawingml/2006/main" x="6153150" y="1724025"/>
          <a:ext xmlns:a="http://schemas.openxmlformats.org/drawingml/2006/main" cx="5486400" cy="2276475"/>
        </p:xfrm>
        <a:graphic xmlns:a="http://schemas.openxmlformats.org/drawingml/2006/main">
          <a:graphicData uri="http://schemas.openxmlformats.org/drawingml/2006/table">
            <a:tbl>
              <a:tblPr/>
              <a:tblGrid>
                <a:gridCol w="1676400"/>
                <a:gridCol w="1524000"/>
                <a:gridCol w="1143000"/>
                <a:gridCol w="1143000"/>
              </a:tblGrid>
              <a:tr h="455295">
                <a:tc>
                  <a:txBody>
                    <a:bodyPr/>
                    <a:lstStyle/>
                    <a:p>
                      <a:r>
                        <a:rPr sz="938" b="1">
                          <a:solidFill>
                            <a:srgbClr val="FFFFFF"/>
                          </a:solidFill>
                          <a:latin typeface="Yu Gothic"/>
                          <a:ea typeface="Yu Gothic"/>
                          <a:cs typeface="Yu Gothic"/>
                        </a:rPr>
                        <a:t>mesh</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elements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MC01 [s]</a:t>
                      </a:r>
                    </a:p>
                  </a:txBody>
                  <a:tcPr marL="91440" marR="91440" marT="45720" marB="45720">
                    <a:solidFill>
                      <a:srgbClr val="007FA8"/>
                    </a:solidFill>
                  </a:tcPr>
                </a:tc>
                <a:tc>
                  <a:txBody>
                    <a:bodyPr/>
                    <a:lstStyle/>
                    <a:p>
                      <a:r>
                        <a:rPr sz="938" b="1">
                          <a:solidFill>
                            <a:srgbClr val="FFFFFF"/>
                          </a:solidFill>
                          <a:latin typeface="Yu Gothic"/>
                          <a:ea typeface="Yu Gothic"/>
                          <a:cs typeface="Yu Gothic"/>
                        </a:rPr>
                        <a:t>MC02 [s]</a:t>
                      </a:r>
                    </a:p>
                  </a:txBody>
                  <a:tcPr marL="91440" marR="91440" marT="45720" marB="45720">
                    <a:solidFill>
                      <a:srgbClr val="007FA8"/>
                    </a:solidFill>
                  </a:tcPr>
                </a:tc>
              </a:tr>
              <a:tr h="455295">
                <a:tc>
                  <a:txBody>
                    <a:bodyPr/>
                    <a:lstStyle/>
                    <a:p>
                      <a:r>
                        <a:rPr sz="900">
                          <a:solidFill>
                            <a:srgbClr val="5B5B5B"/>
                          </a:solidFill>
                          <a:latin typeface="Yu Gothic"/>
                          <a:ea typeface="Yu Gothic"/>
                          <a:cs typeface="Yu Gothic"/>
                        </a:rPr>
                        <a:t>global-8</a:t>
                      </a:r>
                    </a:p>
                  </a:txBody>
                  <a:tcPr marL="91440" marR="91440" marT="45720" marB="45720">
                    <a:solidFill>
                      <a:srgbClr val="FFFFFF"/>
                    </a:solidFill>
                  </a:tcPr>
                </a:tc>
                <a:tc>
                  <a:txBody>
                    <a:bodyPr/>
                    <a:lstStyle/>
                    <a:p>
                      <a:r>
                        <a:rPr sz="900">
                          <a:solidFill>
                            <a:srgbClr val="5B5B5B"/>
                          </a:solidFill>
                          <a:latin typeface="Yu Gothic"/>
                          <a:ea typeface="Yu Gothic"/>
                          <a:cs typeface="Yu Gothic"/>
                        </a:rPr>
                        <a:t>48,870</a:t>
                      </a:r>
                    </a:p>
                  </a:txBody>
                  <a:tcPr marL="91440" marR="91440" marT="45720" marB="45720">
                    <a:solidFill>
                      <a:srgbClr val="FFFFFF"/>
                    </a:solidFill>
                  </a:tcPr>
                </a:tc>
                <a:tc>
                  <a:txBody>
                    <a:bodyPr/>
                    <a:lstStyle/>
                    <a:p>
                      <a:r>
                        <a:rPr sz="900">
                          <a:solidFill>
                            <a:srgbClr val="5B5B5B"/>
                          </a:solidFill>
                          <a:latin typeface="Yu Gothic"/>
                          <a:ea typeface="Yu Gothic"/>
                          <a:cs typeface="Yu Gothic"/>
                        </a:rPr>
                        <a:t>30</a:t>
                      </a:r>
                    </a:p>
                  </a:txBody>
                  <a:tcPr marL="91440" marR="91440" marT="45720" marB="45720">
                    <a:solidFill>
                      <a:srgbClr val="FFFFFF"/>
                    </a:solidFill>
                  </a:tcPr>
                </a:tc>
                <a:tc>
                  <a:txBody>
                    <a:bodyPr/>
                    <a:lstStyle/>
                    <a:p>
                      <a:r>
                        <a:rPr sz="900">
                          <a:solidFill>
                            <a:srgbClr val="5B5B5B"/>
                          </a:solidFill>
                          <a:latin typeface="Yu Gothic"/>
                          <a:ea typeface="Yu Gothic"/>
                          <a:cs typeface="Yu Gothic"/>
                        </a:rPr>
                        <a:t>62</a:t>
                      </a:r>
                    </a:p>
                  </a:txBody>
                  <a:tcPr marL="91440" marR="91440" marT="45720" marB="45720">
                    <a:solidFill>
                      <a:srgbClr val="FFFFFF"/>
                    </a:solidFill>
                  </a:tcPr>
                </a:tc>
              </a:tr>
              <a:tr h="455295">
                <a:tc>
                  <a:txBody>
                    <a:bodyPr/>
                    <a:lstStyle/>
                    <a:p>
                      <a:r>
                        <a:rPr sz="900">
                          <a:solidFill>
                            <a:srgbClr val="5B5B5B"/>
                          </a:solidFill>
                          <a:latin typeface="Yu Gothic"/>
                          <a:ea typeface="Yu Gothic"/>
                          <a:cs typeface="Yu Gothic"/>
                        </a:rPr>
                        <a:t>local-coarse</a:t>
                      </a:r>
                    </a:p>
                  </a:txBody>
                  <a:tcPr marL="91440" marR="91440" marT="45720" marB="45720">
                    <a:solidFill>
                      <a:srgbClr val="F8F8F8"/>
                    </a:solidFill>
                  </a:tcPr>
                </a:tc>
                <a:tc>
                  <a:txBody>
                    <a:bodyPr/>
                    <a:lstStyle/>
                    <a:p>
                      <a:r>
                        <a:rPr sz="900">
                          <a:solidFill>
                            <a:srgbClr val="5B5B5B"/>
                          </a:solidFill>
                          <a:latin typeface="Yu Gothic"/>
                          <a:ea typeface="Yu Gothic"/>
                          <a:cs typeface="Yu Gothic"/>
                        </a:rPr>
                        <a:t>837,644</a:t>
                      </a:r>
                    </a:p>
                  </a:txBody>
                  <a:tcPr marL="91440" marR="91440" marT="45720" marB="45720">
                    <a:solidFill>
                      <a:srgbClr val="F8F8F8"/>
                    </a:solidFill>
                  </a:tcPr>
                </a:tc>
                <a:tc>
                  <a:txBody>
                    <a:bodyPr/>
                    <a:lstStyle/>
                    <a:p>
                      <a:r>
                        <a:rPr sz="900">
                          <a:solidFill>
                            <a:srgbClr val="5B5B5B"/>
                          </a:solidFill>
                          <a:latin typeface="Yu Gothic"/>
                          <a:ea typeface="Yu Gothic"/>
                          <a:cs typeface="Yu Gothic"/>
                        </a:rPr>
                        <a:t>223</a:t>
                      </a:r>
                    </a:p>
                  </a:txBody>
                  <a:tcPr marL="91440" marR="91440" marT="45720" marB="45720">
                    <a:solidFill>
                      <a:srgbClr val="F8F8F8"/>
                    </a:solidFill>
                  </a:tcPr>
                </a:tc>
                <a:tc>
                  <a:txBody>
                    <a:bodyPr/>
                    <a:lstStyle/>
                    <a:p>
                      <a:r>
                        <a:rPr sz="900">
                          <a:solidFill>
                            <a:srgbClr val="5B5B5B"/>
                          </a:solidFill>
                          <a:latin typeface="Yu Gothic"/>
                          <a:ea typeface="Yu Gothic"/>
                          <a:cs typeface="Yu Gothic"/>
                        </a:rPr>
                        <a:t>537</a:t>
                      </a:r>
                    </a:p>
                  </a:txBody>
                  <a:tcPr marL="91440" marR="91440" marT="45720" marB="45720">
                    <a:solidFill>
                      <a:srgbClr val="F8F8F8"/>
                    </a:solidFill>
                  </a:tcPr>
                </a:tc>
              </a:tr>
              <a:tr h="455295">
                <a:tc>
                  <a:txBody>
                    <a:bodyPr/>
                    <a:lstStyle/>
                    <a:p>
                      <a:r>
                        <a:rPr sz="900">
                          <a:solidFill>
                            <a:srgbClr val="5B5B5B"/>
                          </a:solidFill>
                          <a:latin typeface="Yu Gothic"/>
                          <a:ea typeface="Yu Gothic"/>
                          <a:cs typeface="Yu Gothic"/>
                        </a:rPr>
                        <a:t>local-medium</a:t>
                      </a:r>
                    </a:p>
                  </a:txBody>
                  <a:tcPr marL="91440" marR="91440" marT="45720" marB="45720">
                    <a:solidFill>
                      <a:srgbClr val="FFFFFF"/>
                    </a:solidFill>
                  </a:tcPr>
                </a:tc>
                <a:tc>
                  <a:txBody>
                    <a:bodyPr/>
                    <a:lstStyle/>
                    <a:p>
                      <a:r>
                        <a:rPr sz="900">
                          <a:solidFill>
                            <a:srgbClr val="5B5B5B"/>
                          </a:solidFill>
                          <a:latin typeface="Yu Gothic"/>
                          <a:ea typeface="Yu Gothic"/>
                          <a:cs typeface="Yu Gothic"/>
                        </a:rPr>
                        <a:t>1,748,906</a:t>
                      </a:r>
                    </a:p>
                  </a:txBody>
                  <a:tcPr marL="91440" marR="91440" marT="45720" marB="45720">
                    <a:solidFill>
                      <a:srgbClr val="FFFFFF"/>
                    </a:solidFill>
                  </a:tcPr>
                </a:tc>
                <a:tc>
                  <a:txBody>
                    <a:bodyPr/>
                    <a:lstStyle/>
                    <a:p>
                      <a:r>
                        <a:rPr sz="900">
                          <a:solidFill>
                            <a:srgbClr val="5B5B5B"/>
                          </a:solidFill>
                          <a:latin typeface="Yu Gothic"/>
                          <a:ea typeface="Yu Gothic"/>
                          <a:cs typeface="Yu Gothic"/>
                        </a:rPr>
                        <a:t>492</a:t>
                      </a:r>
                    </a:p>
                  </a:txBody>
                  <a:tcPr marL="91440" marR="91440" marT="45720" marB="45720">
                    <a:solidFill>
                      <a:srgbClr val="FFFFFF"/>
                    </a:solidFill>
                  </a:tcPr>
                </a:tc>
                <a:tc>
                  <a:txBody>
                    <a:bodyPr/>
                    <a:lstStyle/>
                    <a:p>
                      <a:r>
                        <a:rPr sz="900">
                          <a:solidFill>
                            <a:srgbClr val="5B5B5B"/>
                          </a:solidFill>
                          <a:latin typeface="Yu Gothic"/>
                          <a:ea typeface="Yu Gothic"/>
                          <a:cs typeface="Yu Gothic"/>
                        </a:rPr>
                        <a:t>1,380</a:t>
                      </a:r>
                    </a:p>
                  </a:txBody>
                  <a:tcPr marL="91440" marR="91440" marT="45720" marB="45720">
                    <a:solidFill>
                      <a:srgbClr val="FFFFFF"/>
                    </a:solidFill>
                  </a:tcPr>
                </a:tc>
              </a:tr>
              <a:tr h="455295">
                <a:tc>
                  <a:txBody>
                    <a:bodyPr/>
                    <a:lstStyle/>
                    <a:p>
                      <a:r>
                        <a:rPr sz="900">
                          <a:solidFill>
                            <a:srgbClr val="5B5B5B"/>
                          </a:solidFill>
                          <a:latin typeface="Yu Gothic"/>
                          <a:ea typeface="Yu Gothic"/>
                          <a:cs typeface="Yu Gothic"/>
                        </a:rPr>
                        <a:t>local-fine</a:t>
                      </a:r>
                    </a:p>
                  </a:txBody>
                  <a:tcPr marL="91440" marR="91440" marT="45720" marB="45720">
                    <a:solidFill>
                      <a:srgbClr val="F8F8F8"/>
                    </a:solidFill>
                  </a:tcPr>
                </a:tc>
                <a:tc>
                  <a:txBody>
                    <a:bodyPr/>
                    <a:lstStyle/>
                    <a:p>
                      <a:r>
                        <a:rPr sz="900">
                          <a:solidFill>
                            <a:srgbClr val="5B5B5B"/>
                          </a:solidFill>
                          <a:latin typeface="Yu Gothic"/>
                          <a:ea typeface="Yu Gothic"/>
                          <a:cs typeface="Yu Gothic"/>
                        </a:rPr>
                        <a:t>3,587,721</a:t>
                      </a:r>
                    </a:p>
                  </a:txBody>
                  <a:tcPr marL="91440" marR="91440" marT="45720" marB="45720">
                    <a:solidFill>
                      <a:srgbClr val="F8F8F8"/>
                    </a:solidFill>
                  </a:tcPr>
                </a:tc>
                <a:tc>
                  <a:txBody>
                    <a:bodyPr/>
                    <a:lstStyle/>
                    <a:p>
                      <a:r>
                        <a:rPr sz="900">
                          <a:solidFill>
                            <a:srgbClr val="5B5B5B"/>
                          </a:solidFill>
                          <a:latin typeface="Yu Gothic"/>
                          <a:ea typeface="Yu Gothic"/>
                          <a:cs typeface="Yu Gothic"/>
                        </a:rPr>
                        <a:t>1,169</a:t>
                      </a:r>
                    </a:p>
                  </a:txBody>
                  <a:tcPr marL="91440" marR="91440" marT="45720" marB="45720">
                    <a:solidFill>
                      <a:srgbClr val="F8F8F8"/>
                    </a:solidFill>
                  </a:tcPr>
                </a:tc>
                <a:tc>
                  <a:txBody>
                    <a:bodyPr/>
                    <a:lstStyle/>
                    <a:p>
                      <a:r>
                        <a:rPr sz="900">
                          <a:solidFill>
                            <a:srgbClr val="5B5B5B"/>
                          </a:solidFill>
                          <a:latin typeface="Yu Gothic"/>
                          <a:ea typeface="Yu Gothic"/>
                          <a:cs typeface="Yu Gothic"/>
                        </a:rPr>
                        <a:t>3,950</a:t>
                      </a:r>
                    </a:p>
                  </a:txBody>
                  <a:tcPr marL="91440" marR="91440" marT="45720" marB="45720">
                    <a:solidFill>
                      <a:srgbClr val="F8F8F8"/>
                    </a:solidFill>
                  </a:tcPr>
                </a:tc>
              </a:tr>
            </a:tbl>
          </a:graphicData>
        </a:graphic>
      </p:graphicFrame>
      <p:sp>
        <p:nvSpPr>
          <p:cNvPr id="15" name="">
            <a:extLst xmlns:a="http://schemas.openxmlformats.org/drawingml/2006/main">
              <a:ext uri="{FF2B5EF4-FFF2-40B4-BE49-F238E27FC236}">
                <a16:creationId xmlns:a16="http://schemas.microsoft.com/office/drawing/2014/main" id="{98A0D2E3-7D00-4AF7-B255-21CF78898B83}"/>
              </a:ext>
            </a:extLst>
          </p:cNvPr>
          <p:cNvSpPr>
            <a:spLocks xmlns:a="http://schemas.openxmlformats.org/drawingml/2006/main" noGrp="1"/>
          </p:cNvSpPr>
          <p:nvPr/>
        </p:nvSpPr>
        <p:spPr>
          <a:xfrm xmlns:a="http://schemas.openxmlformats.org/drawingml/2006/main">
            <a:off x="6153150" y="4210050"/>
            <a:ext cx="5486400" cy="685800"/>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16" name="">
            <a:extLst xmlns:a="http://schemas.openxmlformats.org/drawingml/2006/main">
              <a:ext uri="{FF2B5EF4-FFF2-40B4-BE49-F238E27FC236}">
                <a16:creationId xmlns:a16="http://schemas.microsoft.com/office/drawing/2014/main" id="{959986A0-B059-4060-BE61-9503CB4ABD4B}"/>
              </a:ext>
            </a:extLst>
          </p:cNvPr>
          <p:cNvSpPr>
            <a:spLocks xmlns:a="http://schemas.openxmlformats.org/drawingml/2006/main" noGrp="1"/>
          </p:cNvSpPr>
          <p:nvPr/>
        </p:nvSpPr>
        <p:spPr>
          <a:xfrm xmlns:a="http://schemas.openxmlformats.org/drawingml/2006/main">
            <a:off x="6334125" y="4324350"/>
            <a:ext cx="2238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global-8 → local-coarse</a:t>
            </a:r>
          </a:p>
        </p:txBody>
      </p:sp>
      <p:sp>
        <p:nvSpPr>
          <p:cNvPr id="17" name="">
            <a:extLst xmlns:a="http://schemas.openxmlformats.org/drawingml/2006/main">
              <a:ext uri="{FF2B5EF4-FFF2-40B4-BE49-F238E27FC236}">
                <a16:creationId xmlns:a16="http://schemas.microsoft.com/office/drawing/2014/main" id="{5EE7576F-985E-4190-83EE-F57B07D49388}"/>
              </a:ext>
            </a:extLst>
          </p:cNvPr>
          <p:cNvSpPr>
            <a:spLocks xmlns:a="http://schemas.openxmlformats.org/drawingml/2006/main" noGrp="1"/>
          </p:cNvSpPr>
          <p:nvPr/>
        </p:nvSpPr>
        <p:spPr>
          <a:xfrm xmlns:a="http://schemas.openxmlformats.org/drawingml/2006/main">
            <a:off x="8858250" y="4276725"/>
            <a:ext cx="2552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97826"/>
          </a:bodyPr>
          <a:lstStyle xmlns:a="http://schemas.openxmlformats.org/drawingml/2006/main"/>
          <a:p xmlns:a="http://schemas.openxmlformats.org/drawingml/2006/main">
            <a:pPr algn="r">
              <a:lnSpc>
                <a:spcPct val="100000"/>
              </a:lnSpc>
              <a:buNone/>
              <a:defRPr sz="1725" b="1" i="0">
                <a:solidFill>
                  <a:srgbClr val="C4493D"/>
                </a:solidFill>
                <a:latin typeface="Yu Gothic"/>
                <a:ea typeface="Yu Gothic"/>
                <a:cs typeface="Yu Gothic"/>
              </a:defRPr>
            </a:pPr>
            <a:r>
              <a:rPr sz="1725" b="1" i="0">
                <a:solidFill>
                  <a:srgbClr val="C4493D"/>
                </a:solidFill>
                <a:latin typeface="Yu Gothic"/>
                <a:ea typeface="Yu Gothic"/>
                <a:cs typeface="Yu Gothic"/>
              </a:rPr>
              <a:t>+15.913 K</a:t>
            </a:r>
          </a:p>
        </p:txBody>
      </p:sp>
      <p:sp>
        <p:nvSpPr>
          <p:cNvPr id="18" name="">
            <a:extLst xmlns:a="http://schemas.openxmlformats.org/drawingml/2006/main">
              <a:ext uri="{FF2B5EF4-FFF2-40B4-BE49-F238E27FC236}">
                <a16:creationId xmlns:a16="http://schemas.microsoft.com/office/drawing/2014/main" id="{895BD85A-8657-4E93-9948-F2CAC07DBD23}"/>
              </a:ext>
            </a:extLst>
          </p:cNvPr>
          <p:cNvSpPr>
            <a:spLocks xmlns:a="http://schemas.openxmlformats.org/drawingml/2006/main" noGrp="1"/>
          </p:cNvSpPr>
          <p:nvPr/>
        </p:nvSpPr>
        <p:spPr>
          <a:xfrm xmlns:a="http://schemas.openxmlformats.org/drawingml/2006/main">
            <a:off x="6334125" y="4591050"/>
            <a:ext cx="507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5B5B5B"/>
                </a:solidFill>
                <a:latin typeface="Yu Gothic"/>
                <a:ea typeface="Yu Gothic"/>
                <a:cs typeface="Yu Gothic"/>
              </a:defRPr>
            </a:pPr>
            <a:r>
              <a:rPr sz="788" b="0" i="0">
                <a:solidFill>
                  <a:srgbClr val="5B5B5B"/>
                </a:solidFill>
                <a:latin typeface="Yu Gothic"/>
                <a:ea typeface="Yu Gothic"/>
                <a:cs typeface="Yu Gothic"/>
              </a:rPr>
              <a:t>MC01 chip平均。global meshは局所熱勾配を解像できない。</a:t>
            </a:r>
          </a:p>
        </p:txBody>
      </p:sp>
      <p:sp>
        <p:nvSpPr>
          <p:cNvPr id="19" name="">
            <a:extLst xmlns:a="http://schemas.openxmlformats.org/drawingml/2006/main">
              <a:ext uri="{FF2B5EF4-FFF2-40B4-BE49-F238E27FC236}">
                <a16:creationId xmlns:a16="http://schemas.microsoft.com/office/drawing/2014/main" id="{322037D1-0C79-424F-8D1B-1B720E66EC57}"/>
              </a:ext>
            </a:extLst>
          </p:cNvPr>
          <p:cNvSpPr>
            <a:spLocks xmlns:a="http://schemas.openxmlformats.org/drawingml/2006/main" noGrp="1"/>
          </p:cNvSpPr>
          <p:nvPr/>
        </p:nvSpPr>
        <p:spPr>
          <a:xfrm xmlns:a="http://schemas.openxmlformats.org/drawingml/2006/main">
            <a:off x="552450" y="5191125"/>
            <a:ext cx="3505200" cy="942975"/>
          </a:xfrm>
          <a:prstGeom xmlns:a="http://schemas.openxmlformats.org/drawingml/2006/main" prst="rect">
            <a:avLst/>
          </a:prstGeom>
          <a:solidFill xmlns:a="http://schemas.openxmlformats.org/drawingml/2006/main">
            <a:srgbClr val="FFF5D7"/>
          </a:solidFill>
          <a:ln xmlns:a="http://schemas.openxmlformats.org/drawingml/2006/main" w="9525">
            <a:solidFill>
              <a:srgbClr val="E5A900"/>
            </a:solidFill>
            <a:prstDash val="solid"/>
          </a:ln>
        </p:spPr>
      </p:sp>
      <p:sp>
        <p:nvSpPr>
          <p:cNvPr id="20" name="">
            <a:extLst xmlns:a="http://schemas.openxmlformats.org/drawingml/2006/main">
              <a:ext uri="{FF2B5EF4-FFF2-40B4-BE49-F238E27FC236}">
                <a16:creationId xmlns:a16="http://schemas.microsoft.com/office/drawing/2014/main" id="{73C0474B-60D6-481A-81A7-8ADEAFB43326}"/>
              </a:ext>
            </a:extLst>
          </p:cNvPr>
          <p:cNvSpPr>
            <a:spLocks xmlns:a="http://schemas.openxmlformats.org/drawingml/2006/main" noGrp="1"/>
          </p:cNvSpPr>
          <p:nvPr/>
        </p:nvSpPr>
        <p:spPr>
          <a:xfrm xmlns:a="http://schemas.openxmlformats.org/drawingml/2006/main">
            <a:off x="7239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E5A900"/>
                </a:solidFill>
                <a:latin typeface="Yu Gothic"/>
                <a:ea typeface="Yu Gothic"/>
                <a:cs typeface="Yu Gothic"/>
              </a:defRPr>
            </a:pPr>
            <a:r>
              <a:rPr sz="900" b="1" i="0">
                <a:solidFill>
                  <a:srgbClr val="E5A900"/>
                </a:solidFill>
                <a:latin typeface="Yu Gothic"/>
                <a:ea typeface="Yu Gothic"/>
                <a:cs typeface="Yu Gothic"/>
              </a:rPr>
              <a:t>screening</a:t>
            </a:r>
          </a:p>
        </p:txBody>
      </p:sp>
      <p:sp>
        <p:nvSpPr>
          <p:cNvPr id="21" name="">
            <a:extLst xmlns:a="http://schemas.openxmlformats.org/drawingml/2006/main">
              <a:ext uri="{FF2B5EF4-FFF2-40B4-BE49-F238E27FC236}">
                <a16:creationId xmlns:a16="http://schemas.microsoft.com/office/drawing/2014/main" id="{F42DF5E8-FCAA-48DE-AE31-AE93EAA79AA2}"/>
              </a:ext>
            </a:extLst>
          </p:cNvPr>
          <p:cNvSpPr>
            <a:spLocks xmlns:a="http://schemas.openxmlformats.org/drawingml/2006/main" noGrp="1"/>
          </p:cNvSpPr>
          <p:nvPr/>
        </p:nvSpPr>
        <p:spPr>
          <a:xfrm xmlns:a="http://schemas.openxmlformats.org/drawingml/2006/main">
            <a:off x="18478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 0.50 K</a:t>
            </a:r>
          </a:p>
        </p:txBody>
      </p:sp>
      <p:sp>
        <p:nvSpPr>
          <p:cNvPr id="22" name="">
            <a:extLst xmlns:a="http://schemas.openxmlformats.org/drawingml/2006/main">
              <a:ext uri="{FF2B5EF4-FFF2-40B4-BE49-F238E27FC236}">
                <a16:creationId xmlns:a16="http://schemas.microsoft.com/office/drawing/2014/main" id="{F5718CB9-8330-41A2-86F9-CBD0EB901C70}"/>
              </a:ext>
            </a:extLst>
          </p:cNvPr>
          <p:cNvSpPr>
            <a:spLocks xmlns:a="http://schemas.openxmlformats.org/drawingml/2006/main" noGrp="1"/>
          </p:cNvSpPr>
          <p:nvPr/>
        </p:nvSpPr>
        <p:spPr>
          <a:xfrm xmlns:a="http://schemas.openxmlformats.org/drawingml/2006/main">
            <a:off x="7239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MC01 ぎりぎり / MC02 pass</a:t>
            </a:r>
          </a:p>
        </p:txBody>
      </p:sp>
      <p:sp>
        <p:nvSpPr>
          <p:cNvPr id="23" name="">
            <a:extLst xmlns:a="http://schemas.openxmlformats.org/drawingml/2006/main">
              <a:ext uri="{FF2B5EF4-FFF2-40B4-BE49-F238E27FC236}">
                <a16:creationId xmlns:a16="http://schemas.microsoft.com/office/drawing/2014/main" id="{650E33E1-6F84-45EC-8476-EDBB6B0EA3BE}"/>
              </a:ext>
            </a:extLst>
          </p:cNvPr>
          <p:cNvSpPr>
            <a:spLocks xmlns:a="http://schemas.openxmlformats.org/drawingml/2006/main" noGrp="1"/>
          </p:cNvSpPr>
          <p:nvPr/>
        </p:nvSpPr>
        <p:spPr>
          <a:xfrm xmlns:a="http://schemas.openxmlformats.org/drawingml/2006/main">
            <a:off x="4248150" y="5191125"/>
            <a:ext cx="3505200" cy="942975"/>
          </a:xfrm>
          <a:prstGeom xmlns:a="http://schemas.openxmlformats.org/drawingml/2006/main" prst="rect">
            <a:avLst/>
          </a:prstGeom>
          <a:solidFill xmlns:a="http://schemas.openxmlformats.org/drawingml/2006/main">
            <a:srgbClr val="FBE9E7"/>
          </a:solidFill>
          <a:ln xmlns:a="http://schemas.openxmlformats.org/drawingml/2006/main" w="9525">
            <a:solidFill>
              <a:srgbClr val="C4493D"/>
            </a:solidFill>
            <a:prstDash val="solid"/>
          </a:ln>
        </p:spPr>
      </p:sp>
      <p:sp>
        <p:nvSpPr>
          <p:cNvPr id="24" name="">
            <a:extLst xmlns:a="http://schemas.openxmlformats.org/drawingml/2006/main">
              <a:ext uri="{FF2B5EF4-FFF2-40B4-BE49-F238E27FC236}">
                <a16:creationId xmlns:a16="http://schemas.microsoft.com/office/drawing/2014/main" id="{D54DA268-F769-4E7B-8604-EBE51B63287E}"/>
              </a:ext>
            </a:extLst>
          </p:cNvPr>
          <p:cNvSpPr>
            <a:spLocks xmlns:a="http://schemas.openxmlformats.org/drawingml/2006/main" noGrp="1"/>
          </p:cNvSpPr>
          <p:nvPr/>
        </p:nvSpPr>
        <p:spPr>
          <a:xfrm xmlns:a="http://schemas.openxmlformats.org/drawingml/2006/main">
            <a:off x="44196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C4493D"/>
                </a:solidFill>
                <a:latin typeface="Yu Gothic"/>
                <a:ea typeface="Yu Gothic"/>
                <a:cs typeface="Yu Gothic"/>
              </a:defRPr>
            </a:pPr>
            <a:r>
              <a:rPr sz="900" b="1" i="0">
                <a:solidFill>
                  <a:srgbClr val="C4493D"/>
                </a:solidFill>
                <a:latin typeface="Yu Gothic"/>
                <a:ea typeface="Yu Gothic"/>
                <a:cs typeface="Yu Gothic"/>
              </a:rPr>
              <a:t>strict average</a:t>
            </a:r>
          </a:p>
        </p:txBody>
      </p:sp>
      <p:sp>
        <p:nvSpPr>
          <p:cNvPr id="25" name="">
            <a:extLst xmlns:a="http://schemas.openxmlformats.org/drawingml/2006/main">
              <a:ext uri="{FF2B5EF4-FFF2-40B4-BE49-F238E27FC236}">
                <a16:creationId xmlns:a16="http://schemas.microsoft.com/office/drawing/2014/main" id="{ACCB2A3E-1C08-4421-A80A-4BEB222E2021}"/>
              </a:ext>
            </a:extLst>
          </p:cNvPr>
          <p:cNvSpPr>
            <a:spLocks xmlns:a="http://schemas.openxmlformats.org/drawingml/2006/main" noGrp="1"/>
          </p:cNvSpPr>
          <p:nvPr/>
        </p:nvSpPr>
        <p:spPr>
          <a:xfrm xmlns:a="http://schemas.openxmlformats.org/drawingml/2006/main">
            <a:off x="55435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 0.25 K</a:t>
            </a:r>
          </a:p>
        </p:txBody>
      </p:sp>
      <p:sp>
        <p:nvSpPr>
          <p:cNvPr id="26" name="">
            <a:extLst xmlns:a="http://schemas.openxmlformats.org/drawingml/2006/main">
              <a:ext uri="{FF2B5EF4-FFF2-40B4-BE49-F238E27FC236}">
                <a16:creationId xmlns:a16="http://schemas.microsoft.com/office/drawing/2014/main" id="{B2A19106-3197-4EA7-B64B-E71E31EB3567}"/>
              </a:ext>
            </a:extLst>
          </p:cNvPr>
          <p:cNvSpPr>
            <a:spLocks xmlns:a="http://schemas.openxmlformats.org/drawingml/2006/main" noGrp="1"/>
          </p:cNvSpPr>
          <p:nvPr/>
        </p:nvSpPr>
        <p:spPr>
          <a:xfrm xmlns:a="http://schemas.openxmlformats.org/drawingml/2006/main">
            <a:off x="44196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MC01 fail / MC02 pass</a:t>
            </a:r>
          </a:p>
        </p:txBody>
      </p:sp>
      <p:sp>
        <p:nvSpPr>
          <p:cNvPr id="27" name="">
            <a:extLst xmlns:a="http://schemas.openxmlformats.org/drawingml/2006/main">
              <a:ext uri="{FF2B5EF4-FFF2-40B4-BE49-F238E27FC236}">
                <a16:creationId xmlns:a16="http://schemas.microsoft.com/office/drawing/2014/main" id="{9836CF6F-BEB8-4AEE-8EEA-7418C9DBDA6C}"/>
              </a:ext>
            </a:extLst>
          </p:cNvPr>
          <p:cNvSpPr>
            <a:spLocks xmlns:a="http://schemas.openxmlformats.org/drawingml/2006/main" noGrp="1"/>
          </p:cNvSpPr>
          <p:nvPr/>
        </p:nvSpPr>
        <p:spPr>
          <a:xfrm xmlns:a="http://schemas.openxmlformats.org/drawingml/2006/main">
            <a:off x="7943850" y="5191125"/>
            <a:ext cx="3505200" cy="942975"/>
          </a:xfrm>
          <a:prstGeom xmlns:a="http://schemas.openxmlformats.org/drawingml/2006/main" prst="rect">
            <a:avLst/>
          </a:prstGeom>
          <a:solidFill xmlns:a="http://schemas.openxmlformats.org/drawingml/2006/main">
            <a:srgbClr val="EFE5F6"/>
          </a:solidFill>
          <a:ln xmlns:a="http://schemas.openxmlformats.org/drawingml/2006/main" w="9525">
            <a:solidFill>
              <a:srgbClr val="7B2DAF"/>
            </a:solidFill>
            <a:prstDash val="solid"/>
          </a:ln>
        </p:spPr>
      </p:sp>
      <p:sp>
        <p:nvSpPr>
          <p:cNvPr id="28" name="">
            <a:extLst xmlns:a="http://schemas.openxmlformats.org/drawingml/2006/main">
              <a:ext uri="{FF2B5EF4-FFF2-40B4-BE49-F238E27FC236}">
                <a16:creationId xmlns:a16="http://schemas.microsoft.com/office/drawing/2014/main" id="{98615F4A-E1FC-47A3-895C-438DDBD758EF}"/>
              </a:ext>
            </a:extLst>
          </p:cNvPr>
          <p:cNvSpPr>
            <a:spLocks xmlns:a="http://schemas.openxmlformats.org/drawingml/2006/main" noGrp="1"/>
          </p:cNvSpPr>
          <p:nvPr/>
        </p:nvSpPr>
        <p:spPr>
          <a:xfrm xmlns:a="http://schemas.openxmlformats.org/drawingml/2006/main">
            <a:off x="8115300" y="5295900"/>
            <a:ext cx="1066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00" b="1" i="0">
                <a:solidFill>
                  <a:srgbClr val="7B2DAF"/>
                </a:solidFill>
                <a:latin typeface="Yu Gothic"/>
                <a:ea typeface="Yu Gothic"/>
                <a:cs typeface="Yu Gothic"/>
              </a:defRPr>
            </a:pPr>
            <a:r>
              <a:rPr sz="900" b="1" i="0">
                <a:solidFill>
                  <a:srgbClr val="7B2DAF"/>
                </a:solidFill>
                <a:latin typeface="Yu Gothic"/>
                <a:ea typeface="Yu Gothic"/>
                <a:cs typeface="Yu Gothic"/>
              </a:rPr>
              <a:t>current status</a:t>
            </a:r>
          </a:p>
        </p:txBody>
      </p:sp>
      <p:sp>
        <p:nvSpPr>
          <p:cNvPr id="29" name="">
            <a:extLst xmlns:a="http://schemas.openxmlformats.org/drawingml/2006/main">
              <a:ext uri="{FF2B5EF4-FFF2-40B4-BE49-F238E27FC236}">
                <a16:creationId xmlns:a16="http://schemas.microsoft.com/office/drawing/2014/main" id="{31120421-C393-4172-B5F9-FC4AA2977267}"/>
              </a:ext>
            </a:extLst>
          </p:cNvPr>
          <p:cNvSpPr>
            <a:spLocks xmlns:a="http://schemas.openxmlformats.org/drawingml/2006/main" noGrp="1"/>
          </p:cNvSpPr>
          <p:nvPr/>
        </p:nvSpPr>
        <p:spPr>
          <a:xfrm xmlns:a="http://schemas.openxmlformats.org/drawingml/2006/main">
            <a:off x="9239250" y="5257800"/>
            <a:ext cx="2000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r">
              <a:lnSpc>
                <a:spcPct val="100000"/>
              </a:lnSpc>
              <a:buNone/>
              <a:defRPr sz="1500" b="1" i="0">
                <a:solidFill>
                  <a:srgbClr val="3F3F3F"/>
                </a:solidFill>
                <a:latin typeface="Yu Gothic"/>
                <a:ea typeface="Yu Gothic"/>
                <a:cs typeface="Yu Gothic"/>
              </a:defRPr>
            </a:pPr>
            <a:r>
              <a:rPr sz="1500" b="1" i="0">
                <a:solidFill>
                  <a:srgbClr val="3F3F3F"/>
                </a:solidFill>
                <a:latin typeface="Yu Gothic"/>
                <a:ea typeface="Yu Gothic"/>
                <a:cs typeface="Yu Gothic"/>
              </a:rPr>
              <a:t>not qualified</a:t>
            </a:r>
          </a:p>
        </p:txBody>
      </p:sp>
      <p:sp>
        <p:nvSpPr>
          <p:cNvPr id="30" name="">
            <a:extLst xmlns:a="http://schemas.openxmlformats.org/drawingml/2006/main">
              <a:ext uri="{FF2B5EF4-FFF2-40B4-BE49-F238E27FC236}">
                <a16:creationId xmlns:a16="http://schemas.microsoft.com/office/drawing/2014/main" id="{8F884967-E6AB-41AF-9BD3-D65CD51496B9}"/>
              </a:ext>
            </a:extLst>
          </p:cNvPr>
          <p:cNvSpPr>
            <a:spLocks xmlns:a="http://schemas.openxmlformats.org/drawingml/2006/main" noGrp="1"/>
          </p:cNvSpPr>
          <p:nvPr/>
        </p:nvSpPr>
        <p:spPr>
          <a:xfrm xmlns:a="http://schemas.openxmlformats.org/drawingml/2006/main">
            <a:off x="8115300" y="5638800"/>
            <a:ext cx="312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temporal convergence・実験比較も未完</a:t>
            </a:r>
          </a:p>
        </p:txBody>
      </p:sp>
    </p:spTree>
    <p:extLst>
      <p:ext uri="{BB962C8B-B14F-4D97-AF65-F5344CB8AC3E}">
        <p14:creationId xmlns:p14="http://schemas.microsoft.com/office/powerpoint/2010/main" val="147428550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9D5FC3C-C22E-41DE-B6DD-87295FED3465}"/>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D41CF1B-92B8-4615-A4FD-955C1F40CDFB}"/>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HIGH-FIDELITY SCREENING</a:t>
            </a:r>
          </a:p>
        </p:txBody>
      </p:sp>
      <p:sp>
        <p:nvSpPr>
          <p:cNvPr id="3" name="">
            <a:extLst xmlns:a="http://schemas.openxmlformats.org/drawingml/2006/main">
              <a:ext uri="{FF2B5EF4-FFF2-40B4-BE49-F238E27FC236}">
                <a16:creationId xmlns:a16="http://schemas.microsoft.com/office/drawing/2014/main" id="{7E3F7AB4-6FD5-4425-B0B0-12DF201DD9E2}"/>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平均RMSEは改善したが、放射感度の大きさは再現できていない</a:t>
            </a:r>
          </a:p>
        </p:txBody>
      </p:sp>
      <p:sp>
        <p:nvSpPr>
          <p:cNvPr id="4" name="">
            <a:extLst xmlns:a="http://schemas.openxmlformats.org/drawingml/2006/main">
              <a:ext uri="{FF2B5EF4-FFF2-40B4-BE49-F238E27FC236}">
                <a16:creationId xmlns:a16="http://schemas.microsoft.com/office/drawing/2014/main" id="{1E83BB43-6138-486C-BBAA-F8B26006C211}"/>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良い総合誤差と正しい物理感度は別の検証項目である</a:t>
            </a:r>
          </a:p>
        </p:txBody>
      </p:sp>
      <p:sp>
        <p:nvSpPr>
          <p:cNvPr id="5" name="">
            <a:extLst xmlns:a="http://schemas.openxmlformats.org/drawingml/2006/main">
              <a:ext uri="{FF2B5EF4-FFF2-40B4-BE49-F238E27FC236}">
                <a16:creationId xmlns:a16="http://schemas.microsoft.com/office/drawing/2014/main" id="{F7651A0E-18E5-47FE-8FAF-D71305066884}"/>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3AA27671-D025-4944-B345-907BA1E2C701}"/>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5D1A81D3-59EF-483A-8203-6FF542CE231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22693EA5-7262-41AD-A3C0-553A73D983D3}"/>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26</a:t>
            </a:r>
          </a:p>
        </p:txBody>
      </p:sp>
      <p:sp>
        <p:nvSpPr>
          <p:cNvPr id="9" name="">
            <a:extLst xmlns:a="http://schemas.openxmlformats.org/drawingml/2006/main">
              <a:ext uri="{FF2B5EF4-FFF2-40B4-BE49-F238E27FC236}">
                <a16:creationId xmlns:a16="http://schemas.microsoft.com/office/drawing/2014/main" id="{0DA90324-0223-4C68-B888-C8837DB62C20}"/>
              </a:ext>
            </a:extLst>
          </p:cNvPr>
          <p:cNvSpPr>
            <a:spLocks xmlns:a="http://schemas.openxmlformats.org/drawingml/2006/main" noGrp="1"/>
          </p:cNvSpPr>
          <p:nvPr/>
        </p:nvSpPr>
        <p:spPr>
          <a:xfrm xmlns:a="http://schemas.openxmlformats.org/drawingml/2006/main">
            <a:off x="552450" y="1381125"/>
            <a:ext cx="514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external RMSE</a:t>
            </a:r>
          </a:p>
        </p:txBody>
      </p:sp>
      <p:graphicFrame>
        <p:nvGraphicFramePr>
          <p:cNvPr id="42" name="Chart"/>
          <p:cNvGraphicFramePr/>
          <p:nvPr/>
        </p:nvGraphicFramePr>
        <p:xfrm>
          <a:off xmlns:a="http://schemas.openxmlformats.org/drawingml/2006/main" x="552450" y="1657350"/>
          <a:ext xmlns:a="http://schemas.openxmlformats.org/drawingml/2006/main" cx="5143500" cy="3133725"/>
        </p:xfrm>
        <a:graphic xmlns:a="http://schemas.openxmlformats.org/drawingml/2006/main">
          <a:graphicData uri="http://schemas.openxmlformats.org/drawingml/2006/chart">
            <c:chart xmlns:r="http://schemas.openxmlformats.org/officeDocument/2006/relationships" xmlns:c="http://schemas.openxmlformats.org/drawingml/2006/chart" r:id="Rd438537cf1924d21"/>
          </a:graphicData>
        </a:graphic>
      </p:graphicFrame>
      <p:sp>
        <p:nvSpPr>
          <p:cNvPr id="11" name="">
            <a:extLst xmlns:a="http://schemas.openxmlformats.org/drawingml/2006/main">
              <a:ext uri="{FF2B5EF4-FFF2-40B4-BE49-F238E27FC236}">
                <a16:creationId xmlns:a16="http://schemas.microsoft.com/office/drawing/2014/main" id="{A6C2DCF3-E8D3-4F70-B6AC-9E40C91E2DEA}"/>
              </a:ext>
            </a:extLst>
          </p:cNvPr>
          <p:cNvSpPr>
            <a:spLocks xmlns:a="http://schemas.openxmlformats.org/drawingml/2006/main" noGrp="1"/>
          </p:cNvSpPr>
          <p:nvPr/>
        </p:nvSpPr>
        <p:spPr>
          <a:xfrm xmlns:a="http://schemas.openxmlformats.org/drawingml/2006/main">
            <a:off x="6076950" y="1381125"/>
            <a:ext cx="5562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200" b="1" i="0">
                <a:solidFill>
                  <a:srgbClr val="3F3F3F"/>
                </a:solidFill>
                <a:latin typeface="Yu Gothic"/>
                <a:ea typeface="Yu Gothic"/>
                <a:cs typeface="Yu Gothic"/>
              </a:defRPr>
            </a:pPr>
            <a:r>
              <a:rPr sz="1200" b="1" i="0">
                <a:solidFill>
                  <a:srgbClr val="3F3F3F"/>
                </a:solidFill>
                <a:latin typeface="Yu Gothic"/>
                <a:ea typeface="Yu Gothic"/>
                <a:cs typeface="Yu Gothic"/>
              </a:rPr>
              <a:t>radiation pair: chip temperature delta</a:t>
            </a:r>
          </a:p>
        </p:txBody>
      </p:sp>
      <p:graphicFrame>
        <p:nvGraphicFramePr>
          <p:cNvPr id="44" name="Chart"/>
          <p:cNvGraphicFramePr/>
          <p:nvPr/>
        </p:nvGraphicFramePr>
        <p:xfrm>
          <a:off xmlns:a="http://schemas.openxmlformats.org/drawingml/2006/main" x="6076950" y="1657350"/>
          <a:ext xmlns:a="http://schemas.openxmlformats.org/drawingml/2006/main" cx="5562600" cy="3133725"/>
        </p:xfrm>
        <a:graphic xmlns:a="http://schemas.openxmlformats.org/drawingml/2006/main">
          <a:graphicData uri="http://schemas.openxmlformats.org/drawingml/2006/chart">
            <c:chart xmlns:r="http://schemas.openxmlformats.org/officeDocument/2006/relationships" xmlns:c="http://schemas.openxmlformats.org/drawingml/2006/chart" r:id="Ra428246f8cdd48c6"/>
          </a:graphicData>
        </a:graphic>
      </p:graphicFrame>
      <p:sp>
        <p:nvSpPr>
          <p:cNvPr id="13" name="">
            <a:extLst xmlns:a="http://schemas.openxmlformats.org/drawingml/2006/main">
              <a:ext uri="{FF2B5EF4-FFF2-40B4-BE49-F238E27FC236}">
                <a16:creationId xmlns:a16="http://schemas.microsoft.com/office/drawing/2014/main" id="{A24FA1F7-4B5D-4F48-9A41-17245435894D}"/>
              </a:ext>
            </a:extLst>
          </p:cNvPr>
          <p:cNvSpPr>
            <a:spLocks xmlns:a="http://schemas.openxmlformats.org/drawingml/2006/main" noGrp="1"/>
          </p:cNvSpPr>
          <p:nvPr/>
        </p:nvSpPr>
        <p:spPr>
          <a:xfrm xmlns:a="http://schemas.openxmlformats.org/drawingml/2006/main">
            <a:off x="552450"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25774B5E-FEAC-4A64-B9BE-4751B5AF021F}"/>
              </a:ext>
            </a:extLst>
          </p:cNvPr>
          <p:cNvSpPr>
            <a:spLocks xmlns:a="http://schemas.openxmlformats.org/drawingml/2006/main" noGrp="1"/>
          </p:cNvSpPr>
          <p:nvPr/>
        </p:nvSpPr>
        <p:spPr>
          <a:xfrm xmlns:a="http://schemas.openxmlformats.org/drawingml/2006/main">
            <a:off x="552450" y="5038725"/>
            <a:ext cx="66675" cy="1095375"/>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CCA26A8-3D9B-4A4A-AC9A-7603E591D362}"/>
              </a:ext>
            </a:extLst>
          </p:cNvPr>
          <p:cNvSpPr>
            <a:spLocks xmlns:a="http://schemas.openxmlformats.org/drawingml/2006/main" noGrp="1"/>
          </p:cNvSpPr>
          <p:nvPr/>
        </p:nvSpPr>
        <p:spPr>
          <a:xfrm xmlns:a="http://schemas.openxmlformats.org/drawingml/2006/main">
            <a:off x="742950"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0.0956 K</a:t>
            </a:r>
          </a:p>
        </p:txBody>
      </p:sp>
      <p:sp>
        <p:nvSpPr>
          <p:cNvPr id="16" name="">
            <a:extLst xmlns:a="http://schemas.openxmlformats.org/drawingml/2006/main">
              <a:ext uri="{FF2B5EF4-FFF2-40B4-BE49-F238E27FC236}">
                <a16:creationId xmlns:a16="http://schemas.microsoft.com/office/drawing/2014/main" id="{A22CD20B-5C59-41E5-B9CA-BBCEC69D7E32}"/>
              </a:ext>
            </a:extLst>
          </p:cNvPr>
          <p:cNvSpPr>
            <a:spLocks xmlns:a="http://schemas.openxmlformats.org/drawingml/2006/main" noGrp="1"/>
          </p:cNvSpPr>
          <p:nvPr/>
        </p:nvSpPr>
        <p:spPr>
          <a:xfrm xmlns:a="http://schemas.openxmlformats.org/drawingml/2006/main">
            <a:off x="742950"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learned mean RMSE</a:t>
            </a:r>
          </a:p>
        </p:txBody>
      </p:sp>
      <p:sp>
        <p:nvSpPr>
          <p:cNvPr id="17" name="">
            <a:extLst xmlns:a="http://schemas.openxmlformats.org/drawingml/2006/main">
              <a:ext uri="{FF2B5EF4-FFF2-40B4-BE49-F238E27FC236}">
                <a16:creationId xmlns:a16="http://schemas.microsoft.com/office/drawing/2014/main" id="{3EA1006C-9A56-4B46-8745-E9C4C0B9CEFC}"/>
              </a:ext>
            </a:extLst>
          </p:cNvPr>
          <p:cNvSpPr>
            <a:spLocks xmlns:a="http://schemas.openxmlformats.org/drawingml/2006/main" noGrp="1"/>
          </p:cNvSpPr>
          <p:nvPr/>
        </p:nvSpPr>
        <p:spPr>
          <a:xfrm xmlns:a="http://schemas.openxmlformats.org/drawingml/2006/main">
            <a:off x="742950"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prior mean 0.8889 K</a:t>
            </a:r>
          </a:p>
        </p:txBody>
      </p:sp>
      <p:sp>
        <p:nvSpPr>
          <p:cNvPr id="18" name="">
            <a:extLst xmlns:a="http://schemas.openxmlformats.org/drawingml/2006/main">
              <a:ext uri="{FF2B5EF4-FFF2-40B4-BE49-F238E27FC236}">
                <a16:creationId xmlns:a16="http://schemas.microsoft.com/office/drawing/2014/main" id="{C9D50EA7-3EFA-4642-8174-2BFD93A5E693}"/>
              </a:ext>
            </a:extLst>
          </p:cNvPr>
          <p:cNvSpPr>
            <a:spLocks xmlns:a="http://schemas.openxmlformats.org/drawingml/2006/main" noGrp="1"/>
          </p:cNvSpPr>
          <p:nvPr/>
        </p:nvSpPr>
        <p:spPr>
          <a:xfrm xmlns:a="http://schemas.openxmlformats.org/drawingml/2006/main">
            <a:off x="3324225"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9" name="">
            <a:extLst xmlns:a="http://schemas.openxmlformats.org/drawingml/2006/main">
              <a:ext uri="{FF2B5EF4-FFF2-40B4-BE49-F238E27FC236}">
                <a16:creationId xmlns:a16="http://schemas.microsoft.com/office/drawing/2014/main" id="{5ECF2445-2753-4D98-911B-9732B7BF0D41}"/>
              </a:ext>
            </a:extLst>
          </p:cNvPr>
          <p:cNvSpPr>
            <a:spLocks xmlns:a="http://schemas.openxmlformats.org/drawingml/2006/main" noGrp="1"/>
          </p:cNvSpPr>
          <p:nvPr/>
        </p:nvSpPr>
        <p:spPr>
          <a:xfrm xmlns:a="http://schemas.openxmlformats.org/drawingml/2006/main">
            <a:off x="3324225" y="5038725"/>
            <a:ext cx="66675" cy="10953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683872C-8CD6-40C1-8F97-247E0DE85A68}"/>
              </a:ext>
            </a:extLst>
          </p:cNvPr>
          <p:cNvSpPr>
            <a:spLocks xmlns:a="http://schemas.openxmlformats.org/drawingml/2006/main" noGrp="1"/>
          </p:cNvSpPr>
          <p:nvPr/>
        </p:nvSpPr>
        <p:spPr>
          <a:xfrm xmlns:a="http://schemas.openxmlformats.org/drawingml/2006/main">
            <a:off x="3514725"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33 / 33</a:t>
            </a:r>
          </a:p>
        </p:txBody>
      </p:sp>
      <p:sp>
        <p:nvSpPr>
          <p:cNvPr id="21" name="">
            <a:extLst xmlns:a="http://schemas.openxmlformats.org/drawingml/2006/main">
              <a:ext uri="{FF2B5EF4-FFF2-40B4-BE49-F238E27FC236}">
                <a16:creationId xmlns:a16="http://schemas.microsoft.com/office/drawing/2014/main" id="{CA4AAEEB-615F-42ED-BB96-271912401852}"/>
              </a:ext>
            </a:extLst>
          </p:cNvPr>
          <p:cNvSpPr>
            <a:spLocks xmlns:a="http://schemas.openxmlformats.org/drawingml/2006/main" noGrp="1"/>
          </p:cNvSpPr>
          <p:nvPr/>
        </p:nvSpPr>
        <p:spPr>
          <a:xfrm xmlns:a="http://schemas.openxmlformats.org/drawingml/2006/main">
            <a:off x="3514725"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scalar errors ≤ mesh diff</a:t>
            </a:r>
          </a:p>
        </p:txBody>
      </p:sp>
      <p:sp>
        <p:nvSpPr>
          <p:cNvPr id="22" name="">
            <a:extLst xmlns:a="http://schemas.openxmlformats.org/drawingml/2006/main">
              <a:ext uri="{FF2B5EF4-FFF2-40B4-BE49-F238E27FC236}">
                <a16:creationId xmlns:a16="http://schemas.microsoft.com/office/drawing/2014/main" id="{B1FB0706-E1C7-490A-AE2E-0C988FC2DBC6}"/>
              </a:ext>
            </a:extLst>
          </p:cNvPr>
          <p:cNvSpPr>
            <a:spLocks xmlns:a="http://schemas.openxmlformats.org/drawingml/2006/main" noGrp="1"/>
          </p:cNvSpPr>
          <p:nvPr/>
        </p:nvSpPr>
        <p:spPr>
          <a:xfrm xmlns:a="http://schemas.openxmlformats.org/drawingml/2006/main">
            <a:off x="3514725"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conservative adjacent-mesh bound</a:t>
            </a:r>
          </a:p>
        </p:txBody>
      </p:sp>
      <p:sp>
        <p:nvSpPr>
          <p:cNvPr id="23" name="">
            <a:extLst xmlns:a="http://schemas.openxmlformats.org/drawingml/2006/main">
              <a:ext uri="{FF2B5EF4-FFF2-40B4-BE49-F238E27FC236}">
                <a16:creationId xmlns:a16="http://schemas.microsoft.com/office/drawing/2014/main" id="{FE67300F-D4A3-41BF-8FDA-BF85D3663852}"/>
              </a:ext>
            </a:extLst>
          </p:cNvPr>
          <p:cNvSpPr>
            <a:spLocks xmlns:a="http://schemas.openxmlformats.org/drawingml/2006/main" noGrp="1"/>
          </p:cNvSpPr>
          <p:nvPr/>
        </p:nvSpPr>
        <p:spPr>
          <a:xfrm xmlns:a="http://schemas.openxmlformats.org/drawingml/2006/main">
            <a:off x="6096000" y="5038725"/>
            <a:ext cx="2571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4" name="">
            <a:extLst xmlns:a="http://schemas.openxmlformats.org/drawingml/2006/main">
              <a:ext uri="{FF2B5EF4-FFF2-40B4-BE49-F238E27FC236}">
                <a16:creationId xmlns:a16="http://schemas.microsoft.com/office/drawing/2014/main" id="{178203EF-D780-4F82-8DD5-E5D1AD77F465}"/>
              </a:ext>
            </a:extLst>
          </p:cNvPr>
          <p:cNvSpPr>
            <a:spLocks xmlns:a="http://schemas.openxmlformats.org/drawingml/2006/main" noGrp="1"/>
          </p:cNvSpPr>
          <p:nvPr/>
        </p:nvSpPr>
        <p:spPr>
          <a:xfrm xmlns:a="http://schemas.openxmlformats.org/drawingml/2006/main">
            <a:off x="6096000" y="5038725"/>
            <a:ext cx="66675" cy="1095375"/>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7854BCF-8490-4EA0-92A1-58FA6B3E3581}"/>
              </a:ext>
            </a:extLst>
          </p:cNvPr>
          <p:cNvSpPr>
            <a:spLocks xmlns:a="http://schemas.openxmlformats.org/drawingml/2006/main" noGrp="1"/>
          </p:cNvSpPr>
          <p:nvPr/>
        </p:nvSpPr>
        <p:spPr>
          <a:xfrm xmlns:a="http://schemas.openxmlformats.org/drawingml/2006/main">
            <a:off x="6286500" y="5133975"/>
            <a:ext cx="2286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−0.381 K</a:t>
            </a:r>
          </a:p>
        </p:txBody>
      </p:sp>
      <p:sp>
        <p:nvSpPr>
          <p:cNvPr id="26" name="">
            <a:extLst xmlns:a="http://schemas.openxmlformats.org/drawingml/2006/main">
              <a:ext uri="{FF2B5EF4-FFF2-40B4-BE49-F238E27FC236}">
                <a16:creationId xmlns:a16="http://schemas.microsoft.com/office/drawing/2014/main" id="{06DB7A7D-7CA7-472C-AC49-0C4BF1019FB3}"/>
              </a:ext>
            </a:extLst>
          </p:cNvPr>
          <p:cNvSpPr>
            <a:spLocks xmlns:a="http://schemas.openxmlformats.org/drawingml/2006/main" noGrp="1"/>
          </p:cNvSpPr>
          <p:nvPr/>
        </p:nvSpPr>
        <p:spPr>
          <a:xfrm xmlns:a="http://schemas.openxmlformats.org/drawingml/2006/main">
            <a:off x="6286500" y="5514975"/>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truth radiation effect @220 s</a:t>
            </a:r>
          </a:p>
        </p:txBody>
      </p:sp>
      <p:sp>
        <p:nvSpPr>
          <p:cNvPr id="27" name="">
            <a:extLst xmlns:a="http://schemas.openxmlformats.org/drawingml/2006/main">
              <a:ext uri="{FF2B5EF4-FFF2-40B4-BE49-F238E27FC236}">
                <a16:creationId xmlns:a16="http://schemas.microsoft.com/office/drawing/2014/main" id="{DF90D0AE-EAC1-42E9-BD24-D81C944E284C}"/>
              </a:ext>
            </a:extLst>
          </p:cNvPr>
          <p:cNvSpPr>
            <a:spLocks xmlns:a="http://schemas.openxmlformats.org/drawingml/2006/main" noGrp="1"/>
          </p:cNvSpPr>
          <p:nvPr/>
        </p:nvSpPr>
        <p:spPr>
          <a:xfrm xmlns:a="http://schemas.openxmlformats.org/drawingml/2006/main">
            <a:off x="6286500" y="5800725"/>
            <a:ext cx="228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model prediction −0.001 K</a:t>
            </a:r>
          </a:p>
        </p:txBody>
      </p:sp>
      <p:sp>
        <p:nvSpPr>
          <p:cNvPr id="28" name="">
            <a:extLst xmlns:a="http://schemas.openxmlformats.org/drawingml/2006/main">
              <a:ext uri="{FF2B5EF4-FFF2-40B4-BE49-F238E27FC236}">
                <a16:creationId xmlns:a16="http://schemas.microsoft.com/office/drawing/2014/main" id="{292EA803-193E-48DB-8DB9-B8C88F8273D8}"/>
              </a:ext>
            </a:extLst>
          </p:cNvPr>
          <p:cNvSpPr>
            <a:spLocks xmlns:a="http://schemas.openxmlformats.org/drawingml/2006/main" noGrp="1"/>
          </p:cNvSpPr>
          <p:nvPr/>
        </p:nvSpPr>
        <p:spPr>
          <a:xfrm xmlns:a="http://schemas.openxmlformats.org/drawingml/2006/main">
            <a:off x="8867775" y="5038725"/>
            <a:ext cx="2771775"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9" name="">
            <a:extLst xmlns:a="http://schemas.openxmlformats.org/drawingml/2006/main">
              <a:ext uri="{FF2B5EF4-FFF2-40B4-BE49-F238E27FC236}">
                <a16:creationId xmlns:a16="http://schemas.microsoft.com/office/drawing/2014/main" id="{F3FC4390-F711-4F70-8C57-E1B268759B9C}"/>
              </a:ext>
            </a:extLst>
          </p:cNvPr>
          <p:cNvSpPr>
            <a:spLocks xmlns:a="http://schemas.openxmlformats.org/drawingml/2006/main" noGrp="1"/>
          </p:cNvSpPr>
          <p:nvPr/>
        </p:nvSpPr>
        <p:spPr>
          <a:xfrm xmlns:a="http://schemas.openxmlformats.org/drawingml/2006/main">
            <a:off x="8867775" y="5038725"/>
            <a:ext cx="66675" cy="1095375"/>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ED44D73-1325-4E8C-991A-27661BAA8468}"/>
              </a:ext>
            </a:extLst>
          </p:cNvPr>
          <p:cNvSpPr>
            <a:spLocks xmlns:a="http://schemas.openxmlformats.org/drawingml/2006/main" noGrp="1"/>
          </p:cNvSpPr>
          <p:nvPr/>
        </p:nvSpPr>
        <p:spPr>
          <a:xfrm xmlns:a="http://schemas.openxmlformats.org/drawingml/2006/main">
            <a:off x="9058275" y="5133975"/>
            <a:ext cx="24860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2025" b="1" i="0">
                <a:solidFill>
                  <a:srgbClr val="3F3F3F"/>
                </a:solidFill>
                <a:latin typeface="Yu Gothic"/>
                <a:ea typeface="Yu Gothic"/>
                <a:cs typeface="Yu Gothic"/>
              </a:defRPr>
            </a:pPr>
            <a:r>
              <a:rPr sz="2025" b="1" i="0">
                <a:solidFill>
                  <a:srgbClr val="3F3F3F"/>
                </a:solidFill>
                <a:latin typeface="Yu Gothic"/>
                <a:ea typeface="Yu Gothic"/>
                <a:cs typeface="Yu Gothic"/>
              </a:rPr>
              <a:t>0.496 K</a:t>
            </a:r>
          </a:p>
        </p:txBody>
      </p:sp>
      <p:sp>
        <p:nvSpPr>
          <p:cNvPr id="31" name="">
            <a:extLst xmlns:a="http://schemas.openxmlformats.org/drawingml/2006/main">
              <a:ext uri="{FF2B5EF4-FFF2-40B4-BE49-F238E27FC236}">
                <a16:creationId xmlns:a16="http://schemas.microsoft.com/office/drawing/2014/main" id="{C68F7334-2ADA-43C4-B85E-9D6A0D234876}"/>
              </a:ext>
            </a:extLst>
          </p:cNvPr>
          <p:cNvSpPr>
            <a:spLocks xmlns:a="http://schemas.openxmlformats.org/drawingml/2006/main" noGrp="1"/>
          </p:cNvSpPr>
          <p:nvPr/>
        </p:nvSpPr>
        <p:spPr>
          <a:xfrm xmlns:a="http://schemas.openxmlformats.org/drawingml/2006/main">
            <a:off x="9058275" y="5514975"/>
            <a:ext cx="24860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mesh difference</a:t>
            </a:r>
          </a:p>
        </p:txBody>
      </p:sp>
      <p:sp>
        <p:nvSpPr>
          <p:cNvPr id="32" name="">
            <a:extLst xmlns:a="http://schemas.openxmlformats.org/drawingml/2006/main">
              <a:ext uri="{FF2B5EF4-FFF2-40B4-BE49-F238E27FC236}">
                <a16:creationId xmlns:a16="http://schemas.microsoft.com/office/drawing/2014/main" id="{EF9BC341-4018-4BA5-8EAC-DFAC0A77D66E}"/>
              </a:ext>
            </a:extLst>
          </p:cNvPr>
          <p:cNvSpPr>
            <a:spLocks xmlns:a="http://schemas.openxmlformats.org/drawingml/2006/main" noGrp="1"/>
          </p:cNvSpPr>
          <p:nvPr/>
        </p:nvSpPr>
        <p:spPr>
          <a:xfrm xmlns:a="http://schemas.openxmlformats.org/drawingml/2006/main">
            <a:off x="9058275" y="5800725"/>
            <a:ext cx="24860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6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radiation effect itself is unresolved</a:t>
            </a:r>
          </a:p>
        </p:txBody>
      </p:sp>
    </p:spTree>
    <p:extLst>
      <p:ext uri="{BB962C8B-B14F-4D97-AF65-F5344CB8AC3E}">
        <p14:creationId xmlns:p14="http://schemas.microsoft.com/office/powerpoint/2010/main" val="176507193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A6A63B1-C48A-451F-8FE2-187994BFF6DE}"/>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CDCBEE5-4607-47E9-B7E9-8BCFF0F7F790}"/>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EQUIPMENT VALUE</a:t>
            </a:r>
          </a:p>
        </p:txBody>
      </p:sp>
      <p:sp>
        <p:nvSpPr>
          <p:cNvPr id="3" name="">
            <a:extLst xmlns:a="http://schemas.openxmlformats.org/drawingml/2006/main">
              <a:ext uri="{FF2B5EF4-FFF2-40B4-BE49-F238E27FC236}">
                <a16:creationId xmlns:a16="http://schemas.microsoft.com/office/drawing/2014/main" id="{EBC56607-5492-43D1-952B-DD073FF8782C}"/>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高速な物理surrogateとして、CAEと装置データの間の判断を短周期化する</a:t>
            </a:r>
          </a:p>
        </p:txBody>
      </p:sp>
      <p:sp>
        <p:nvSpPr>
          <p:cNvPr id="4" name="">
            <a:extLst xmlns:a="http://schemas.openxmlformats.org/drawingml/2006/main">
              <a:ext uri="{FF2B5EF4-FFF2-40B4-BE49-F238E27FC236}">
                <a16:creationId xmlns:a16="http://schemas.microsoft.com/office/drawing/2014/main" id="{73FFF31E-A339-4778-9654-DCD34FB35E68}"/>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有用性は精度だけでなく、どの意思決定を安全に支援できるかで定義する</a:t>
            </a:r>
          </a:p>
        </p:txBody>
      </p:sp>
      <p:sp>
        <p:nvSpPr>
          <p:cNvPr id="5" name="">
            <a:extLst xmlns:a="http://schemas.openxmlformats.org/drawingml/2006/main">
              <a:ext uri="{FF2B5EF4-FFF2-40B4-BE49-F238E27FC236}">
                <a16:creationId xmlns:a16="http://schemas.microsoft.com/office/drawing/2014/main" id="{5DCEA3B2-B9A5-4782-A857-2CA788B3275F}"/>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C57D0B28-57D0-4705-AC24-0EF688D426D4}"/>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A32E160D-FD32-48ED-8A98-17AA1D320380}"/>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0C2C3F2F-1FDD-494B-B859-2B549B3E881C}"/>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27</a:t>
            </a:r>
          </a:p>
        </p:txBody>
      </p:sp>
      <p:graphicFrame>
        <p:nvGraphicFramePr>
          <p:cNvPr id="28" name=""/>
          <p:cNvGraphicFramePr/>
          <p:nvPr/>
        </p:nvGraphicFramePr>
        <p:xfrm>
          <a:off xmlns:a="http://schemas.openxmlformats.org/drawingml/2006/main" x="552450" y="1438275"/>
          <a:ext xmlns:a="http://schemas.openxmlformats.org/drawingml/2006/main" cx="11087100" cy="3533775"/>
        </p:xfrm>
        <a:graphic xmlns:a="http://schemas.openxmlformats.org/drawingml/2006/main">
          <a:graphicData uri="http://schemas.openxmlformats.org/drawingml/2006/table">
            <a:tbl>
              <a:tblPr/>
              <a:tblGrid>
                <a:gridCol w="2000250"/>
                <a:gridCol w="2190750"/>
                <a:gridCol w="2857500"/>
                <a:gridCol w="2571750"/>
                <a:gridCol w="1466850"/>
              </a:tblGrid>
              <a:tr h="588963">
                <a:tc>
                  <a:txBody>
                    <a:bodyPr/>
                    <a:lstStyle/>
                    <a:p>
                      <a:r>
                        <a:rPr sz="938" b="1">
                          <a:solidFill>
                            <a:srgbClr val="FFFFFF"/>
                          </a:solidFill>
                          <a:latin typeface="Yu Gothic"/>
                          <a:ea typeface="Yu Gothic"/>
                          <a:cs typeface="Yu Gothic"/>
                        </a:rPr>
                        <a:t>装置ユースケース</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モデル出力</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技術的な有用性</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採用gate</a:t>
                      </a:r>
                    </a:p>
                  </a:txBody>
                  <a:tcPr marL="91440" marR="91440" marT="45720" marB="45720">
                    <a:solidFill>
                      <a:srgbClr val="00A5D8"/>
                    </a:solidFill>
                  </a:tcPr>
                </a:tc>
                <a:tc>
                  <a:txBody>
                    <a:bodyPr/>
                    <a:lstStyle/>
                    <a:p>
                      <a:r>
                        <a:rPr sz="938" b="1">
                          <a:solidFill>
                            <a:srgbClr val="FFFFFF"/>
                          </a:solidFill>
                          <a:latin typeface="Yu Gothic"/>
                          <a:ea typeface="Yu Gothic"/>
                          <a:cs typeface="Yu Gothic"/>
                        </a:rPr>
                        <a:t>現状</a:t>
                      </a:r>
                    </a:p>
                  </a:txBody>
                  <a:tcPr marL="91440" marR="91440" marT="45720" marB="45720">
                    <a:solidFill>
                      <a:srgbClr val="00A5D8"/>
                    </a:solidFill>
                  </a:tcPr>
                </a:tc>
              </a:tr>
              <a:tr h="588963">
                <a:tc>
                  <a:txBody>
                    <a:bodyPr/>
                    <a:lstStyle/>
                    <a:p>
                      <a:r>
                        <a:rPr sz="848" b="1">
                          <a:solidFill>
                            <a:srgbClr val="5B5B5B"/>
                          </a:solidFill>
                          <a:latin typeface="Yu Gothic"/>
                          <a:ea typeface="Yu Gothic"/>
                          <a:cs typeface="Yu Gothic"/>
                        </a:rPr>
                        <a:t>warm-up / cool-down</a:t>
                      </a:r>
                    </a:p>
                  </a:txBody>
                  <a:tcPr marL="91440" marR="91440" marT="45720" marB="45720">
                    <a:solidFill>
                      <a:srgbClr val="FFFFFF"/>
                    </a:solidFill>
                  </a:tcPr>
                </a:tc>
                <a:tc>
                  <a:txBody>
                    <a:bodyPr/>
                    <a:lstStyle/>
                    <a:p>
                      <a:r>
                        <a:rPr sz="848">
                          <a:solidFill>
                            <a:srgbClr val="5B5B5B"/>
                          </a:solidFill>
                          <a:latin typeface="Yu Gothic"/>
                          <a:ea typeface="Yu Gothic"/>
                          <a:cs typeface="Yu Gothic"/>
                        </a:rPr>
                        <a:t>将来温度・到達時間</a:t>
                      </a:r>
                    </a:p>
                  </a:txBody>
                  <a:tcPr marL="91440" marR="91440" marT="45720" marB="45720">
                    <a:solidFill>
                      <a:srgbClr val="FFFFFF"/>
                    </a:solidFill>
                  </a:tcPr>
                </a:tc>
                <a:tc>
                  <a:txBody>
                    <a:bodyPr/>
                    <a:lstStyle/>
                    <a:p>
                      <a:r>
                        <a:rPr sz="848">
                          <a:solidFill>
                            <a:srgbClr val="5B5B5B"/>
                          </a:solidFill>
                          <a:latin typeface="Yu Gothic"/>
                          <a:ea typeface="Yu Gothic"/>
                          <a:cs typeface="Yu Gothic"/>
                        </a:rPr>
                        <a:t>recipe待ち時間とthermal soakの比較</a:t>
                      </a:r>
                    </a:p>
                  </a:txBody>
                  <a:tcPr marL="91440" marR="91440" marT="45720" marB="45720">
                    <a:solidFill>
                      <a:srgbClr val="FFFFFF"/>
                    </a:solidFill>
                  </a:tcPr>
                </a:tc>
                <a:tc>
                  <a:txBody>
                    <a:bodyPr/>
                    <a:lstStyle/>
                    <a:p>
                      <a:r>
                        <a:rPr sz="848">
                          <a:solidFill>
                            <a:srgbClr val="5B5B5B"/>
                          </a:solidFill>
                          <a:latin typeface="Yu Gothic"/>
                          <a:ea typeface="Yu Gothic"/>
                          <a:cs typeface="Yu Gothic"/>
                        </a:rPr>
                        <a:t>運転域holdout、worst error</a:t>
                      </a:r>
                    </a:p>
                  </a:txBody>
                  <a:tcPr marL="91440" marR="91440" marT="45720" marB="45720">
                    <a:solidFill>
                      <a:srgbClr val="FFFFFF"/>
                    </a:solidFill>
                  </a:tcPr>
                </a:tc>
                <a:tc>
                  <a:txBody>
                    <a:bodyPr/>
                    <a:lstStyle/>
                    <a:p>
                      <a:r>
                        <a:rPr sz="848" b="1">
                          <a:solidFill>
                            <a:srgbClr val="4D8710"/>
                          </a:solidFill>
                          <a:latin typeface="Yu Gothic"/>
                          <a:ea typeface="Yu Gothic"/>
                          <a:cs typeface="Yu Gothic"/>
                        </a:rPr>
                        <a:t>screening可</a:t>
                      </a:r>
                    </a:p>
                  </a:txBody>
                  <a:tcPr marL="91440" marR="91440" marT="45720" marB="45720">
                    <a:solidFill>
                      <a:srgbClr val="EEF7DF"/>
                    </a:solidFill>
                  </a:tcPr>
                </a:tc>
              </a:tr>
              <a:tr h="588963">
                <a:tc>
                  <a:txBody>
                    <a:bodyPr/>
                    <a:lstStyle/>
                    <a:p>
                      <a:r>
                        <a:rPr sz="848" b="1">
                          <a:solidFill>
                            <a:srgbClr val="5B5B5B"/>
                          </a:solidFill>
                          <a:latin typeface="Yu Gothic"/>
                          <a:ea typeface="Yu Gothic"/>
                          <a:cs typeface="Yu Gothic"/>
                        </a:rPr>
                        <a:t>virtual sensor</a:t>
                      </a:r>
                    </a:p>
                  </a:txBody>
                  <a:tcPr marL="91440" marR="91440" marT="45720" marB="45720">
                    <a:solidFill>
                      <a:srgbClr val="F8F8F8"/>
                    </a:solidFill>
                  </a:tcPr>
                </a:tc>
                <a:tc>
                  <a:txBody>
                    <a:bodyPr/>
                    <a:lstStyle/>
                    <a:p>
                      <a:r>
                        <a:rPr sz="848">
                          <a:solidFill>
                            <a:srgbClr val="5B5B5B"/>
                          </a:solidFill>
                          <a:latin typeface="Yu Gothic"/>
                          <a:ea typeface="Yu Gothic"/>
                          <a:cs typeface="Yu Gothic"/>
                        </a:rPr>
                        <a:t>未計測node温度・共分散</a:t>
                      </a:r>
                    </a:p>
                  </a:txBody>
                  <a:tcPr marL="91440" marR="91440" marT="45720" marB="45720">
                    <a:solidFill>
                      <a:srgbClr val="F8F8F8"/>
                    </a:solidFill>
                  </a:tcPr>
                </a:tc>
                <a:tc>
                  <a:txBody>
                    <a:bodyPr/>
                    <a:lstStyle/>
                    <a:p>
                      <a:r>
                        <a:rPr sz="848">
                          <a:solidFill>
                            <a:srgbClr val="5B5B5B"/>
                          </a:solidFill>
                          <a:latin typeface="Yu Gothic"/>
                          <a:ea typeface="Yu Gothic"/>
                          <a:cs typeface="Yu Gothic"/>
                        </a:rPr>
                        <a:t>sensor削減検討、欠測補完</a:t>
                      </a:r>
                    </a:p>
                  </a:txBody>
                  <a:tcPr marL="91440" marR="91440" marT="45720" marB="45720">
                    <a:solidFill>
                      <a:srgbClr val="F8F8F8"/>
                    </a:solidFill>
                  </a:tcPr>
                </a:tc>
                <a:tc>
                  <a:txBody>
                    <a:bodyPr/>
                    <a:lstStyle/>
                    <a:p>
                      <a:r>
                        <a:rPr sz="848">
                          <a:solidFill>
                            <a:srgbClr val="5B5B5B"/>
                          </a:solidFill>
                          <a:latin typeface="Yu Gothic"/>
                          <a:ea typeface="Yu Gothic"/>
                          <a:cs typeface="Yu Gothic"/>
                        </a:rPr>
                        <a:t>observability、校正、bandwidth</a:t>
                      </a:r>
                    </a:p>
                  </a:txBody>
                  <a:tcPr marL="91440" marR="91440" marT="45720" marB="45720">
                    <a:solidFill>
                      <a:srgbClr val="F8F8F8"/>
                    </a:solidFill>
                  </a:tcPr>
                </a:tc>
                <a:tc>
                  <a:txBody>
                    <a:bodyPr/>
                    <a:lstStyle/>
                    <a:p>
                      <a:r>
                        <a:rPr sz="848" b="1">
                          <a:solidFill>
                            <a:srgbClr val="806000"/>
                          </a:solidFill>
                          <a:latin typeface="Yu Gothic"/>
                          <a:ea typeface="Yu Gothic"/>
                          <a:cs typeface="Yu Gothic"/>
                        </a:rPr>
                        <a:t>条件付</a:t>
                      </a:r>
                    </a:p>
                  </a:txBody>
                  <a:tcPr marL="91440" marR="91440" marT="45720" marB="45720">
                    <a:solidFill>
                      <a:srgbClr val="FFF5D7"/>
                    </a:solidFill>
                  </a:tcPr>
                </a:tc>
              </a:tr>
              <a:tr h="588963">
                <a:tc>
                  <a:txBody>
                    <a:bodyPr/>
                    <a:lstStyle/>
                    <a:p>
                      <a:r>
                        <a:rPr sz="848" b="1">
                          <a:solidFill>
                            <a:srgbClr val="5B5B5B"/>
                          </a:solidFill>
                          <a:latin typeface="Yu Gothic"/>
                          <a:ea typeface="Yu Gothic"/>
                          <a:cs typeface="Yu Gothic"/>
                        </a:rPr>
                        <a:t>異常検知</a:t>
                      </a:r>
                    </a:p>
                  </a:txBody>
                  <a:tcPr marL="91440" marR="91440" marT="45720" marB="45720">
                    <a:solidFill>
                      <a:srgbClr val="FFFFFF"/>
                    </a:solidFill>
                  </a:tcPr>
                </a:tc>
                <a:tc>
                  <a:txBody>
                    <a:bodyPr/>
                    <a:lstStyle/>
                    <a:p>
                      <a:r>
                        <a:rPr sz="848">
                          <a:solidFill>
                            <a:srgbClr val="5B5B5B"/>
                          </a:solidFill>
                          <a:latin typeface="Yu Gothic"/>
                          <a:ea typeface="Yu Gothic"/>
                          <a:cs typeface="Yu Gothic"/>
                        </a:rPr>
                        <a:t>NIS、未知熱d、bias β</a:t>
                      </a:r>
                    </a:p>
                  </a:txBody>
                  <a:tcPr marL="91440" marR="91440" marT="45720" marB="45720">
                    <a:solidFill>
                      <a:srgbClr val="FFFFFF"/>
                    </a:solidFill>
                  </a:tcPr>
                </a:tc>
                <a:tc>
                  <a:txBody>
                    <a:bodyPr/>
                    <a:lstStyle/>
                    <a:p>
                      <a:r>
                        <a:rPr sz="848">
                          <a:solidFill>
                            <a:srgbClr val="5B5B5B"/>
                          </a:solidFill>
                          <a:latin typeface="Yu Gothic"/>
                          <a:ea typeface="Yu Gothic"/>
                          <a:cs typeface="Yu Gothic"/>
                        </a:rPr>
                        <a:t>未指令発熱とsensorずれの切分け</a:t>
                      </a:r>
                    </a:p>
                  </a:txBody>
                  <a:tcPr marL="91440" marR="91440" marT="45720" marB="45720">
                    <a:solidFill>
                      <a:srgbClr val="FFFFFF"/>
                    </a:solidFill>
                  </a:tcPr>
                </a:tc>
                <a:tc>
                  <a:txBody>
                    <a:bodyPr/>
                    <a:lstStyle/>
                    <a:p>
                      <a:r>
                        <a:rPr sz="848">
                          <a:solidFill>
                            <a:srgbClr val="5B5B5B"/>
                          </a:solidFill>
                          <a:latin typeface="Yu Gothic"/>
                          <a:ea typeface="Yu Gothic"/>
                          <a:cs typeface="Yu Gothic"/>
                        </a:rPr>
                        <a:t>false alert/hour、fault DOE</a:t>
                      </a:r>
                    </a:p>
                  </a:txBody>
                  <a:tcPr marL="91440" marR="91440" marT="45720" marB="45720">
                    <a:solidFill>
                      <a:srgbClr val="FFFFFF"/>
                    </a:solidFill>
                  </a:tcPr>
                </a:tc>
                <a:tc>
                  <a:txBody>
                    <a:bodyPr/>
                    <a:lstStyle/>
                    <a:p>
                      <a:r>
                        <a:rPr sz="848" b="1">
                          <a:solidFill>
                            <a:srgbClr val="806000"/>
                          </a:solidFill>
                          <a:latin typeface="Yu Gothic"/>
                          <a:ea typeface="Yu Gothic"/>
                          <a:cs typeface="Yu Gothic"/>
                        </a:rPr>
                        <a:t>CAE evidence有</a:t>
                      </a:r>
                    </a:p>
                  </a:txBody>
                  <a:tcPr marL="91440" marR="91440" marT="45720" marB="45720">
                    <a:solidFill>
                      <a:srgbClr val="FFF5D7"/>
                    </a:solidFill>
                  </a:tcPr>
                </a:tc>
              </a:tr>
              <a:tr h="588963">
                <a:tc>
                  <a:txBody>
                    <a:bodyPr/>
                    <a:lstStyle/>
                    <a:p>
                      <a:r>
                        <a:rPr sz="848" b="1">
                          <a:solidFill>
                            <a:srgbClr val="5B5B5B"/>
                          </a:solidFill>
                          <a:latin typeface="Yu Gothic"/>
                          <a:ea typeface="Yu Gothic"/>
                          <a:cs typeface="Yu Gothic"/>
                        </a:rPr>
                        <a:t>recipe / cooling設計</a:t>
                      </a:r>
                    </a:p>
                  </a:txBody>
                  <a:tcPr marL="91440" marR="91440" marT="45720" marB="45720">
                    <a:solidFill>
                      <a:srgbClr val="F8F8F8"/>
                    </a:solidFill>
                  </a:tcPr>
                </a:tc>
                <a:tc>
                  <a:txBody>
                    <a:bodyPr/>
                    <a:lstStyle/>
                    <a:p>
                      <a:r>
                        <a:rPr sz="848">
                          <a:solidFill>
                            <a:srgbClr val="5B5B5B"/>
                          </a:solidFill>
                          <a:latin typeface="Yu Gothic"/>
                          <a:ea typeface="Yu Gothic"/>
                          <a:cs typeface="Yu Gothic"/>
                        </a:rPr>
                        <a:t>parameter sweep・感度</a:t>
                      </a:r>
                    </a:p>
                  </a:txBody>
                  <a:tcPr marL="91440" marR="91440" marT="45720" marB="45720">
                    <a:solidFill>
                      <a:srgbClr val="F8F8F8"/>
                    </a:solidFill>
                  </a:tcPr>
                </a:tc>
                <a:tc>
                  <a:txBody>
                    <a:bodyPr/>
                    <a:lstStyle/>
                    <a:p>
                      <a:r>
                        <a:rPr sz="848">
                          <a:solidFill>
                            <a:srgbClr val="5B5B5B"/>
                          </a:solidFill>
                          <a:latin typeface="Yu Gothic"/>
                          <a:ea typeface="Yu Gothic"/>
                          <a:cs typeface="Yu Gothic"/>
                        </a:rPr>
                        <a:t>CAE実行前の候補絞込み</a:t>
                      </a:r>
                    </a:p>
                  </a:txBody>
                  <a:tcPr marL="91440" marR="91440" marT="45720" marB="45720">
                    <a:solidFill>
                      <a:srgbClr val="F8F8F8"/>
                    </a:solidFill>
                  </a:tcPr>
                </a:tc>
                <a:tc>
                  <a:txBody>
                    <a:bodyPr/>
                    <a:lstStyle/>
                    <a:p>
                      <a:r>
                        <a:rPr sz="848">
                          <a:solidFill>
                            <a:srgbClr val="5B5B5B"/>
                          </a:solidFill>
                          <a:latin typeface="Yu Gothic"/>
                          <a:ea typeface="Yu Gothic"/>
                          <a:cs typeface="Yu Gothic"/>
                        </a:rPr>
                        <a:t>外挿禁止、parameter uncertainty</a:t>
                      </a:r>
                    </a:p>
                  </a:txBody>
                  <a:tcPr marL="91440" marR="91440" marT="45720" marB="45720">
                    <a:solidFill>
                      <a:srgbClr val="F8F8F8"/>
                    </a:solidFill>
                  </a:tcPr>
                </a:tc>
                <a:tc>
                  <a:txBody>
                    <a:bodyPr/>
                    <a:lstStyle/>
                    <a:p>
                      <a:r>
                        <a:rPr sz="848" b="1">
                          <a:solidFill>
                            <a:srgbClr val="4D8710"/>
                          </a:solidFill>
                          <a:latin typeface="Yu Gothic"/>
                          <a:ea typeface="Yu Gothic"/>
                          <a:cs typeface="Yu Gothic"/>
                        </a:rPr>
                        <a:t>screening可</a:t>
                      </a:r>
                    </a:p>
                  </a:txBody>
                  <a:tcPr marL="91440" marR="91440" marT="45720" marB="45720">
                    <a:solidFill>
                      <a:srgbClr val="EEF7DF"/>
                    </a:solidFill>
                  </a:tcPr>
                </a:tc>
              </a:tr>
              <a:tr h="588963">
                <a:tc>
                  <a:txBody>
                    <a:bodyPr/>
                    <a:lstStyle/>
                    <a:p>
                      <a:r>
                        <a:rPr sz="848" b="1">
                          <a:solidFill>
                            <a:srgbClr val="5B5B5B"/>
                          </a:solidFill>
                          <a:latin typeface="Yu Gothic"/>
                          <a:ea typeface="Yu Gothic"/>
                          <a:cs typeface="Yu Gothic"/>
                        </a:rPr>
                        <a:t>hardware change</a:t>
                      </a:r>
                    </a:p>
                  </a:txBody>
                  <a:tcPr marL="91440" marR="91440" marT="45720" marB="45720">
                    <a:solidFill>
                      <a:srgbClr val="FFFFFF"/>
                    </a:solidFill>
                  </a:tcPr>
                </a:tc>
                <a:tc>
                  <a:txBody>
                    <a:bodyPr/>
                    <a:lstStyle/>
                    <a:p>
                      <a:r>
                        <a:rPr sz="848">
                          <a:solidFill>
                            <a:srgbClr val="5B5B5B"/>
                          </a:solidFill>
                          <a:latin typeface="Yu Gothic"/>
                          <a:ea typeface="Yu Gothic"/>
                          <a:cs typeface="Yu Gothic"/>
                        </a:rPr>
                        <a:t>再同定係数・残差</a:t>
                      </a:r>
                    </a:p>
                  </a:txBody>
                  <a:tcPr marL="91440" marR="91440" marT="45720" marB="45720">
                    <a:solidFill>
                      <a:srgbClr val="FFFFFF"/>
                    </a:solidFill>
                  </a:tcPr>
                </a:tc>
                <a:tc>
                  <a:txBody>
                    <a:bodyPr/>
                    <a:lstStyle/>
                    <a:p>
                      <a:r>
                        <a:rPr sz="848">
                          <a:solidFill>
                            <a:srgbClr val="5B5B5B"/>
                          </a:solidFill>
                          <a:latin typeface="Yu Gothic"/>
                          <a:ea typeface="Yu Gothic"/>
                          <a:cs typeface="Yu Gothic"/>
                        </a:rPr>
                        <a:t>接触・冷却経路変更の比較</a:t>
                      </a:r>
                    </a:p>
                  </a:txBody>
                  <a:tcPr marL="91440" marR="91440" marT="45720" marB="45720">
                    <a:solidFill>
                      <a:srgbClr val="FFFFFF"/>
                    </a:solidFill>
                  </a:tcPr>
                </a:tc>
                <a:tc>
                  <a:txBody>
                    <a:bodyPr/>
                    <a:lstStyle/>
                    <a:p>
                      <a:r>
                        <a:rPr sz="848">
                          <a:solidFill>
                            <a:srgbClr val="5B5B5B"/>
                          </a:solidFill>
                          <a:latin typeface="Yu Gothic"/>
                          <a:ea typeface="Yu Gothic"/>
                          <a:cs typeface="Yu Gothic"/>
                        </a:rPr>
                        <a:t>topology再確認、CAE/実験再V&amp;V</a:t>
                      </a:r>
                    </a:p>
                  </a:txBody>
                  <a:tcPr marL="91440" marR="91440" marT="45720" marB="45720">
                    <a:solidFill>
                      <a:srgbClr val="FFFFFF"/>
                    </a:solidFill>
                  </a:tcPr>
                </a:tc>
                <a:tc>
                  <a:txBody>
                    <a:bodyPr/>
                    <a:lstStyle/>
                    <a:p>
                      <a:r>
                        <a:rPr sz="848" b="1">
                          <a:solidFill>
                            <a:srgbClr val="C4493D"/>
                          </a:solidFill>
                          <a:latin typeface="Yu Gothic"/>
                          <a:ea typeface="Yu Gothic"/>
                          <a:cs typeface="Yu Gothic"/>
                        </a:rPr>
                        <a:t>要再検証</a:t>
                      </a:r>
                    </a:p>
                  </a:txBody>
                  <a:tcPr marL="91440" marR="91440" marT="45720" marB="45720">
                    <a:solidFill>
                      <a:srgbClr val="FBE9E7"/>
                    </a:solidFill>
                  </a:tcPr>
                </a:tc>
              </a:tr>
            </a:tbl>
          </a:graphicData>
        </a:graphic>
      </p:graphicFrame>
      <p:sp>
        <p:nvSpPr>
          <p:cNvPr id="10" name="">
            <a:extLst xmlns:a="http://schemas.openxmlformats.org/drawingml/2006/main">
              <a:ext uri="{FF2B5EF4-FFF2-40B4-BE49-F238E27FC236}">
                <a16:creationId xmlns:a16="http://schemas.microsoft.com/office/drawing/2014/main" id="{248D7D31-1475-470D-AD6E-473EEA71DB60}"/>
              </a:ext>
            </a:extLst>
          </p:cNvPr>
          <p:cNvSpPr>
            <a:spLocks xmlns:a="http://schemas.openxmlformats.org/drawingml/2006/main" noGrp="1"/>
          </p:cNvSpPr>
          <p:nvPr/>
        </p:nvSpPr>
        <p:spPr>
          <a:xfrm xmlns:a="http://schemas.openxmlformats.org/drawingml/2006/main">
            <a:off x="5524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1" name="">
            <a:extLst xmlns:a="http://schemas.openxmlformats.org/drawingml/2006/main">
              <a:ext uri="{FF2B5EF4-FFF2-40B4-BE49-F238E27FC236}">
                <a16:creationId xmlns:a16="http://schemas.microsoft.com/office/drawing/2014/main" id="{FA1D57CE-2C68-41CE-AC0F-FC79C4CEEC75}"/>
              </a:ext>
            </a:extLst>
          </p:cNvPr>
          <p:cNvSpPr>
            <a:spLocks xmlns:a="http://schemas.openxmlformats.org/drawingml/2006/main" noGrp="1"/>
          </p:cNvSpPr>
          <p:nvPr/>
        </p:nvSpPr>
        <p:spPr>
          <a:xfrm xmlns:a="http://schemas.openxmlformats.org/drawingml/2006/main">
            <a:off x="7239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CAE</a:t>
            </a:r>
          </a:p>
        </p:txBody>
      </p:sp>
      <p:sp>
        <p:nvSpPr>
          <p:cNvPr id="12" name="">
            <a:extLst xmlns:a="http://schemas.openxmlformats.org/drawingml/2006/main">
              <a:ext uri="{FF2B5EF4-FFF2-40B4-BE49-F238E27FC236}">
                <a16:creationId xmlns:a16="http://schemas.microsoft.com/office/drawing/2014/main" id="{1645CAF8-A697-4C88-94AD-7CB25020B461}"/>
              </a:ext>
            </a:extLst>
          </p:cNvPr>
          <p:cNvSpPr>
            <a:spLocks xmlns:a="http://schemas.openxmlformats.org/drawingml/2006/main" noGrp="1"/>
          </p:cNvSpPr>
          <p:nvPr/>
        </p:nvSpPr>
        <p:spPr>
          <a:xfrm xmlns:a="http://schemas.openxmlformats.org/drawingml/2006/main">
            <a:off x="7239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全caseを高忠実度で解く前に、感度とworst候補を選別</a:t>
            </a:r>
          </a:p>
        </p:txBody>
      </p:sp>
      <p:sp>
        <p:nvSpPr>
          <p:cNvPr id="13" name="">
            <a:extLst xmlns:a="http://schemas.openxmlformats.org/drawingml/2006/main">
              <a:ext uri="{FF2B5EF4-FFF2-40B4-BE49-F238E27FC236}">
                <a16:creationId xmlns:a16="http://schemas.microsoft.com/office/drawing/2014/main" id="{4102A826-BE58-410F-87C0-E5125E618935}"/>
              </a:ext>
            </a:extLst>
          </p:cNvPr>
          <p:cNvSpPr>
            <a:spLocks xmlns:a="http://schemas.openxmlformats.org/drawingml/2006/main" noGrp="1"/>
          </p:cNvSpPr>
          <p:nvPr/>
        </p:nvSpPr>
        <p:spPr>
          <a:xfrm xmlns:a="http://schemas.openxmlformats.org/drawingml/2006/main">
            <a:off x="42481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802855F0-0E08-4096-AC6C-EC2D5E1BF9E2}"/>
              </a:ext>
            </a:extLst>
          </p:cNvPr>
          <p:cNvSpPr>
            <a:spLocks xmlns:a="http://schemas.openxmlformats.org/drawingml/2006/main" noGrp="1"/>
          </p:cNvSpPr>
          <p:nvPr/>
        </p:nvSpPr>
        <p:spPr>
          <a:xfrm xmlns:a="http://schemas.openxmlformats.org/drawingml/2006/main">
            <a:off x="44196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Control</a:t>
            </a:r>
          </a:p>
        </p:txBody>
      </p:sp>
      <p:sp>
        <p:nvSpPr>
          <p:cNvPr id="15" name="">
            <a:extLst xmlns:a="http://schemas.openxmlformats.org/drawingml/2006/main">
              <a:ext uri="{FF2B5EF4-FFF2-40B4-BE49-F238E27FC236}">
                <a16:creationId xmlns:a16="http://schemas.microsoft.com/office/drawing/2014/main" id="{1E4E321E-1350-4DB5-BBE2-EF2263871879}"/>
              </a:ext>
            </a:extLst>
          </p:cNvPr>
          <p:cNvSpPr>
            <a:spLocks xmlns:a="http://schemas.openxmlformats.org/drawingml/2006/main" noGrp="1"/>
          </p:cNvSpPr>
          <p:nvPr/>
        </p:nvSpPr>
        <p:spPr>
          <a:xfrm xmlns:a="http://schemas.openxmlformats.org/drawingml/2006/main">
            <a:off x="44196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同じ状態定義をforecastとmonitorで共有し、handoffを削減</a:t>
            </a:r>
          </a:p>
        </p:txBody>
      </p:sp>
      <p:sp>
        <p:nvSpPr>
          <p:cNvPr id="16" name="">
            <a:extLst xmlns:a="http://schemas.openxmlformats.org/drawingml/2006/main">
              <a:ext uri="{FF2B5EF4-FFF2-40B4-BE49-F238E27FC236}">
                <a16:creationId xmlns:a16="http://schemas.microsoft.com/office/drawing/2014/main" id="{32BBF45A-4E1F-4841-B739-F7D7A526B1D6}"/>
              </a:ext>
            </a:extLst>
          </p:cNvPr>
          <p:cNvSpPr>
            <a:spLocks xmlns:a="http://schemas.openxmlformats.org/drawingml/2006/main" noGrp="1"/>
          </p:cNvSpPr>
          <p:nvPr/>
        </p:nvSpPr>
        <p:spPr>
          <a:xfrm xmlns:a="http://schemas.openxmlformats.org/drawingml/2006/main">
            <a:off x="7943850" y="5229225"/>
            <a:ext cx="3505200" cy="88582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17" name="">
            <a:extLst xmlns:a="http://schemas.openxmlformats.org/drawingml/2006/main">
              <a:ext uri="{FF2B5EF4-FFF2-40B4-BE49-F238E27FC236}">
                <a16:creationId xmlns:a16="http://schemas.microsoft.com/office/drawing/2014/main" id="{ACF80519-1D45-484C-A354-80F620DB34ED}"/>
              </a:ext>
            </a:extLst>
          </p:cNvPr>
          <p:cNvSpPr>
            <a:spLocks xmlns:a="http://schemas.openxmlformats.org/drawingml/2006/main" noGrp="1"/>
          </p:cNvSpPr>
          <p:nvPr/>
        </p:nvSpPr>
        <p:spPr>
          <a:xfrm xmlns:a="http://schemas.openxmlformats.org/drawingml/2006/main">
            <a:off x="8115300" y="534352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FMEA</a:t>
            </a:r>
          </a:p>
        </p:txBody>
      </p:sp>
      <p:sp>
        <p:nvSpPr>
          <p:cNvPr id="18" name="">
            <a:extLst xmlns:a="http://schemas.openxmlformats.org/drawingml/2006/main">
              <a:ext uri="{FF2B5EF4-FFF2-40B4-BE49-F238E27FC236}">
                <a16:creationId xmlns:a16="http://schemas.microsoft.com/office/drawing/2014/main" id="{E51D053F-2B95-47A9-A881-5A84328E0A97}"/>
              </a:ext>
            </a:extLst>
          </p:cNvPr>
          <p:cNvSpPr>
            <a:spLocks xmlns:a="http://schemas.openxmlformats.org/drawingml/2006/main" noGrp="1"/>
          </p:cNvSpPr>
          <p:nvPr/>
        </p:nvSpPr>
        <p:spPr>
          <a:xfrm xmlns:a="http://schemas.openxmlformats.org/drawingml/2006/main">
            <a:off x="8115300" y="5610225"/>
            <a:ext cx="31432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07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hidden heat / bias / model gapを別channelで記録</a:t>
            </a:r>
          </a:p>
        </p:txBody>
      </p:sp>
      <p:sp>
        <p:nvSpPr>
          <p:cNvPr id="19" name="">
            <a:extLst xmlns:a="http://schemas.openxmlformats.org/drawingml/2006/main">
              <a:ext uri="{FF2B5EF4-FFF2-40B4-BE49-F238E27FC236}">
                <a16:creationId xmlns:a16="http://schemas.microsoft.com/office/drawing/2014/main" id="{3B107927-ABE1-40AF-ABE9-EC49E520BBE4}"/>
              </a:ext>
            </a:extLst>
          </p:cNvPr>
          <p:cNvSpPr>
            <a:spLocks xmlns:a="http://schemas.openxmlformats.org/drawingml/2006/main" noGrp="1"/>
          </p:cNvSpPr>
          <p:nvPr/>
        </p:nvSpPr>
        <p:spPr>
          <a:xfrm xmlns:a="http://schemas.openxmlformats.org/drawingml/2006/main">
            <a:off x="552450" y="6200775"/>
            <a:ext cx="11087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注：計算時間短縮率は本benchmarkでは計測していない。価値は実装後にCAE回数・DOE回数・alarm対応時間で定量化する。</a:t>
            </a:r>
          </a:p>
        </p:txBody>
      </p:sp>
    </p:spTree>
    <p:extLst>
      <p:ext uri="{BB962C8B-B14F-4D97-AF65-F5344CB8AC3E}">
        <p14:creationId xmlns:p14="http://schemas.microsoft.com/office/powerpoint/2010/main" val="53941202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1" name="">
            <a:extLst xmlns:a="http://schemas.openxmlformats.org/drawingml/2006/main">
              <a:ext uri="{FF2B5EF4-FFF2-40B4-BE49-F238E27FC236}">
                <a16:creationId xmlns:a16="http://schemas.microsoft.com/office/drawing/2014/main" id="{5A0F22FD-2E25-4A5D-878B-B6529D3E75B0}"/>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B3ED8E9-B0F6-44FE-BF13-7F2E457CF4B5}"/>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VALIDATION PLAN</a:t>
            </a:r>
          </a:p>
        </p:txBody>
      </p:sp>
      <p:sp>
        <p:nvSpPr>
          <p:cNvPr id="3" name="">
            <a:extLst xmlns:a="http://schemas.openxmlformats.org/drawingml/2006/main">
              <a:ext uri="{FF2B5EF4-FFF2-40B4-BE49-F238E27FC236}">
                <a16:creationId xmlns:a16="http://schemas.microsoft.com/office/drawing/2014/main" id="{9FB84E37-9BA4-441E-A669-987D615799DA}"/>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装置採用は4段階のgateで進め、各段階の不確かさと再評価条件を残す</a:t>
            </a:r>
          </a:p>
        </p:txBody>
      </p:sp>
      <p:sp>
        <p:nvSpPr>
          <p:cNvPr id="4" name="">
            <a:extLst xmlns:a="http://schemas.openxmlformats.org/drawingml/2006/main">
              <a:ext uri="{FF2B5EF4-FFF2-40B4-BE49-F238E27FC236}">
                <a16:creationId xmlns:a16="http://schemas.microsoft.com/office/drawing/2014/main" id="{57CDD36C-5A5E-4551-922D-7A02C7BD95E7}"/>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合格基準はFMEA・制御仕様・thermal budgetと結び付けて事前に固定する</a:t>
            </a:r>
          </a:p>
        </p:txBody>
      </p:sp>
      <p:sp>
        <p:nvSpPr>
          <p:cNvPr id="5" name="">
            <a:extLst xmlns:a="http://schemas.openxmlformats.org/drawingml/2006/main">
              <a:ext uri="{FF2B5EF4-FFF2-40B4-BE49-F238E27FC236}">
                <a16:creationId xmlns:a16="http://schemas.microsoft.com/office/drawing/2014/main" id="{9430DA70-2171-4478-BABB-F2F07F71C1A3}"/>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B4F59189-10E3-4434-B254-6AB37D666C96}"/>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4E7F7105-3F29-4568-9A60-CA1E6D011C9E}"/>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1EF6A3A5-D281-4E57-9C7C-4F394C15BE34}"/>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28</a:t>
            </a:r>
          </a:p>
        </p:txBody>
      </p:sp>
      <p:sp>
        <p:nvSpPr>
          <p:cNvPr id="9" name="">
            <a:extLst xmlns:a="http://schemas.openxmlformats.org/drawingml/2006/main">
              <a:ext uri="{FF2B5EF4-FFF2-40B4-BE49-F238E27FC236}">
                <a16:creationId xmlns:a16="http://schemas.microsoft.com/office/drawing/2014/main" id="{334C5159-4175-4651-BE5F-F6BBDB89B0D0}"/>
              </a:ext>
            </a:extLst>
          </p:cNvPr>
          <p:cNvSpPr>
            <a:spLocks xmlns:a="http://schemas.openxmlformats.org/drawingml/2006/main" noGrp="1"/>
          </p:cNvSpPr>
          <p:nvPr/>
        </p:nvSpPr>
        <p:spPr>
          <a:xfrm xmlns:a="http://schemas.openxmlformats.org/drawingml/2006/main">
            <a:off x="55245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0" name="">
            <a:extLst xmlns:a="http://schemas.openxmlformats.org/drawingml/2006/main">
              <a:ext uri="{FF2B5EF4-FFF2-40B4-BE49-F238E27FC236}">
                <a16:creationId xmlns:a16="http://schemas.microsoft.com/office/drawing/2014/main" id="{E36C6763-FF71-46B5-A7AC-0C1B0E97C241}"/>
              </a:ext>
            </a:extLst>
          </p:cNvPr>
          <p:cNvSpPr>
            <a:spLocks xmlns:a="http://schemas.openxmlformats.org/drawingml/2006/main" noGrp="1"/>
          </p:cNvSpPr>
          <p:nvPr/>
        </p:nvSpPr>
        <p:spPr>
          <a:xfrm xmlns:a="http://schemas.openxmlformats.org/drawingml/2006/main">
            <a:off x="552450" y="1628775"/>
            <a:ext cx="2571750" cy="76200"/>
          </a:xfrm>
          <a:prstGeom xmlns:a="http://schemas.openxmlformats.org/drawingml/2006/main" prst="rect">
            <a:avLst/>
          </a:prstGeom>
          <a:solidFill xmlns:a="http://schemas.openxmlformats.org/drawingml/2006/main">
            <a:srgbClr val="00A5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277ABF8-8A32-4A38-B135-A2AB0400E770}"/>
              </a:ext>
            </a:extLst>
          </p:cNvPr>
          <p:cNvSpPr>
            <a:spLocks xmlns:a="http://schemas.openxmlformats.org/drawingml/2006/main" noGrp="1"/>
          </p:cNvSpPr>
          <p:nvPr/>
        </p:nvSpPr>
        <p:spPr>
          <a:xfrm xmlns:a="http://schemas.openxmlformats.org/drawingml/2006/main">
            <a:off x="72390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01</a:t>
            </a:r>
          </a:p>
        </p:txBody>
      </p:sp>
      <p:sp>
        <p:nvSpPr>
          <p:cNvPr id="12" name="">
            <a:extLst xmlns:a="http://schemas.openxmlformats.org/drawingml/2006/main">
              <a:ext uri="{FF2B5EF4-FFF2-40B4-BE49-F238E27FC236}">
                <a16:creationId xmlns:a16="http://schemas.microsoft.com/office/drawing/2014/main" id="{3A9F23E8-A204-4681-A781-AE802FD18313}"/>
              </a:ext>
            </a:extLst>
          </p:cNvPr>
          <p:cNvSpPr>
            <a:spLocks xmlns:a="http://schemas.openxmlformats.org/drawingml/2006/main" noGrp="1"/>
          </p:cNvSpPr>
          <p:nvPr/>
        </p:nvSpPr>
        <p:spPr>
          <a:xfrm xmlns:a="http://schemas.openxmlformats.org/drawingml/2006/main">
            <a:off x="72390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計測契約</a:t>
            </a:r>
          </a:p>
        </p:txBody>
      </p:sp>
      <p:sp>
        <p:nvSpPr>
          <p:cNvPr id="13" name="">
            <a:extLst xmlns:a="http://schemas.openxmlformats.org/drawingml/2006/main">
              <a:ext uri="{FF2B5EF4-FFF2-40B4-BE49-F238E27FC236}">
                <a16:creationId xmlns:a16="http://schemas.microsoft.com/office/drawing/2014/main" id="{AD5EA79E-D94D-4DAF-A2EF-8B1ED3A08E09}"/>
              </a:ext>
            </a:extLst>
          </p:cNvPr>
          <p:cNvSpPr>
            <a:spLocks xmlns:a="http://schemas.openxmlformats.org/drawingml/2006/main" noGrp="1"/>
          </p:cNvSpPr>
          <p:nvPr/>
        </p:nvSpPr>
        <p:spPr>
          <a:xfrm xmlns:a="http://schemas.openxmlformats.org/drawingml/2006/main">
            <a:off x="72390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14" name="">
            <a:extLst xmlns:a="http://schemas.openxmlformats.org/drawingml/2006/main">
              <a:ext uri="{FF2B5EF4-FFF2-40B4-BE49-F238E27FC236}">
                <a16:creationId xmlns:a16="http://schemas.microsoft.com/office/drawing/2014/main" id="{2DE9A53C-3F97-48E1-9BAF-38396805A0AD}"/>
              </a:ext>
            </a:extLst>
          </p:cNvPr>
          <p:cNvSpPr>
            <a:spLocks xmlns:a="http://schemas.openxmlformats.org/drawingml/2006/main" noGrp="1"/>
          </p:cNvSpPr>
          <p:nvPr/>
        </p:nvSpPr>
        <p:spPr>
          <a:xfrm xmlns:a="http://schemas.openxmlformats.org/drawingml/2006/main">
            <a:off x="72390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sensor位置・応答・校正</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時刻同期 / ZOH / 欠測</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単位・heat input accounting</a:t>
            </a:r>
          </a:p>
        </p:txBody>
      </p:sp>
      <p:sp>
        <p:nvSpPr>
          <p:cNvPr id="15" name="">
            <a:extLst xmlns:a="http://schemas.openxmlformats.org/drawingml/2006/main">
              <a:ext uri="{FF2B5EF4-FFF2-40B4-BE49-F238E27FC236}">
                <a16:creationId xmlns:a16="http://schemas.microsoft.com/office/drawing/2014/main" id="{EFDA05D1-739E-4E3D-B257-93C56029718F}"/>
              </a:ext>
            </a:extLst>
          </p:cNvPr>
          <p:cNvSpPr>
            <a:spLocks xmlns:a="http://schemas.openxmlformats.org/drawingml/2006/main" noGrp="1"/>
          </p:cNvSpPr>
          <p:nvPr/>
        </p:nvSpPr>
        <p:spPr>
          <a:xfrm xmlns:a="http://schemas.openxmlformats.org/drawingml/2006/main">
            <a:off x="339090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16" name="">
            <a:extLst xmlns:a="http://schemas.openxmlformats.org/drawingml/2006/main">
              <a:ext uri="{FF2B5EF4-FFF2-40B4-BE49-F238E27FC236}">
                <a16:creationId xmlns:a16="http://schemas.microsoft.com/office/drawing/2014/main" id="{9E8958EB-050E-492E-BE65-514D92BC885D}"/>
              </a:ext>
            </a:extLst>
          </p:cNvPr>
          <p:cNvSpPr>
            <a:spLocks xmlns:a="http://schemas.openxmlformats.org/drawingml/2006/main" noGrp="1"/>
          </p:cNvSpPr>
          <p:nvPr/>
        </p:nvSpPr>
        <p:spPr>
          <a:xfrm xmlns:a="http://schemas.openxmlformats.org/drawingml/2006/main">
            <a:off x="3390900" y="1628775"/>
            <a:ext cx="2571750" cy="76200"/>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E7F70-B319-44D5-A91B-02D2F8D90889}"/>
              </a:ext>
            </a:extLst>
          </p:cNvPr>
          <p:cNvSpPr>
            <a:spLocks xmlns:a="http://schemas.openxmlformats.org/drawingml/2006/main" noGrp="1"/>
          </p:cNvSpPr>
          <p:nvPr/>
        </p:nvSpPr>
        <p:spPr>
          <a:xfrm xmlns:a="http://schemas.openxmlformats.org/drawingml/2006/main">
            <a:off x="356235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02</a:t>
            </a:r>
          </a:p>
        </p:txBody>
      </p:sp>
      <p:sp>
        <p:nvSpPr>
          <p:cNvPr id="18" name="">
            <a:extLst xmlns:a="http://schemas.openxmlformats.org/drawingml/2006/main">
              <a:ext uri="{FF2B5EF4-FFF2-40B4-BE49-F238E27FC236}">
                <a16:creationId xmlns:a16="http://schemas.microsoft.com/office/drawing/2014/main" id="{D57253A0-E098-4777-A678-EC38DAFAAFBF}"/>
              </a:ext>
            </a:extLst>
          </p:cNvPr>
          <p:cNvSpPr>
            <a:spLocks xmlns:a="http://schemas.openxmlformats.org/drawingml/2006/main" noGrp="1"/>
          </p:cNvSpPr>
          <p:nvPr/>
        </p:nvSpPr>
        <p:spPr>
          <a:xfrm xmlns:a="http://schemas.openxmlformats.org/drawingml/2006/main">
            <a:off x="356235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識別DOE</a:t>
            </a:r>
          </a:p>
        </p:txBody>
      </p:sp>
      <p:sp>
        <p:nvSpPr>
          <p:cNvPr id="19" name="">
            <a:extLst xmlns:a="http://schemas.openxmlformats.org/drawingml/2006/main">
              <a:ext uri="{FF2B5EF4-FFF2-40B4-BE49-F238E27FC236}">
                <a16:creationId xmlns:a16="http://schemas.microsoft.com/office/drawing/2014/main" id="{7578232B-5AA1-4AB6-A1E8-EB17859A0266}"/>
              </a:ext>
            </a:extLst>
          </p:cNvPr>
          <p:cNvSpPr>
            <a:spLocks xmlns:a="http://schemas.openxmlformats.org/drawingml/2006/main" noGrp="1"/>
          </p:cNvSpPr>
          <p:nvPr/>
        </p:nvSpPr>
        <p:spPr>
          <a:xfrm xmlns:a="http://schemas.openxmlformats.org/drawingml/2006/main">
            <a:off x="356235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0" name="">
            <a:extLst xmlns:a="http://schemas.openxmlformats.org/drawingml/2006/main">
              <a:ext uri="{FF2B5EF4-FFF2-40B4-BE49-F238E27FC236}">
                <a16:creationId xmlns:a16="http://schemas.microsoft.com/office/drawing/2014/main" id="{C4D3B9F3-3456-487F-BC6D-F47765BA1F31}"/>
              </a:ext>
            </a:extLst>
          </p:cNvPr>
          <p:cNvSpPr>
            <a:spLocks xmlns:a="http://schemas.openxmlformats.org/drawingml/2006/main" noGrp="1"/>
          </p:cNvSpPr>
          <p:nvPr/>
        </p:nvSpPr>
        <p:spPr>
          <a:xfrm xmlns:a="http://schemas.openxmlformats.org/drawingml/2006/main">
            <a:off x="356235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短・中・長pulse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heater / coolantを分離励振</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rank・profile・seed安定性</a:t>
            </a:r>
          </a:p>
        </p:txBody>
      </p:sp>
      <p:sp>
        <p:nvSpPr>
          <p:cNvPr id="21" name="">
            <a:extLst xmlns:a="http://schemas.openxmlformats.org/drawingml/2006/main">
              <a:ext uri="{FF2B5EF4-FFF2-40B4-BE49-F238E27FC236}">
                <a16:creationId xmlns:a16="http://schemas.microsoft.com/office/drawing/2014/main" id="{F3143FCF-18DD-4492-90BA-EA56DB12E3BB}"/>
              </a:ext>
            </a:extLst>
          </p:cNvPr>
          <p:cNvSpPr>
            <a:spLocks xmlns:a="http://schemas.openxmlformats.org/drawingml/2006/main" noGrp="1"/>
          </p:cNvSpPr>
          <p:nvPr/>
        </p:nvSpPr>
        <p:spPr>
          <a:xfrm xmlns:a="http://schemas.openxmlformats.org/drawingml/2006/main">
            <a:off x="622935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2" name="">
            <a:extLst xmlns:a="http://schemas.openxmlformats.org/drawingml/2006/main">
              <a:ext uri="{FF2B5EF4-FFF2-40B4-BE49-F238E27FC236}">
                <a16:creationId xmlns:a16="http://schemas.microsoft.com/office/drawing/2014/main" id="{C7525AC4-2D35-4B11-B0F9-55DAB6EF2EC3}"/>
              </a:ext>
            </a:extLst>
          </p:cNvPr>
          <p:cNvSpPr>
            <a:spLocks xmlns:a="http://schemas.openxmlformats.org/drawingml/2006/main" noGrp="1"/>
          </p:cNvSpPr>
          <p:nvPr/>
        </p:nvSpPr>
        <p:spPr>
          <a:xfrm xmlns:a="http://schemas.openxmlformats.org/drawingml/2006/main">
            <a:off x="6229350" y="1628775"/>
            <a:ext cx="2571750" cy="76200"/>
          </a:xfrm>
          <a:prstGeom xmlns:a="http://schemas.openxmlformats.org/drawingml/2006/main" prst="rect">
            <a:avLst/>
          </a:prstGeom>
          <a:solidFill xmlns:a="http://schemas.openxmlformats.org/drawingml/2006/main">
            <a:srgbClr val="7B2DA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11F9E52-A9FC-4326-A694-1981E59DF3D4}"/>
              </a:ext>
            </a:extLst>
          </p:cNvPr>
          <p:cNvSpPr>
            <a:spLocks xmlns:a="http://schemas.openxmlformats.org/drawingml/2006/main" noGrp="1"/>
          </p:cNvSpPr>
          <p:nvPr/>
        </p:nvSpPr>
        <p:spPr>
          <a:xfrm xmlns:a="http://schemas.openxmlformats.org/drawingml/2006/main">
            <a:off x="640080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03</a:t>
            </a:r>
          </a:p>
        </p:txBody>
      </p:sp>
      <p:sp>
        <p:nvSpPr>
          <p:cNvPr id="24" name="">
            <a:extLst xmlns:a="http://schemas.openxmlformats.org/drawingml/2006/main">
              <a:ext uri="{FF2B5EF4-FFF2-40B4-BE49-F238E27FC236}">
                <a16:creationId xmlns:a16="http://schemas.microsoft.com/office/drawing/2014/main" id="{DF4E0A26-0B55-4E0F-871E-B9FCC0507021}"/>
              </a:ext>
            </a:extLst>
          </p:cNvPr>
          <p:cNvSpPr>
            <a:spLocks xmlns:a="http://schemas.openxmlformats.org/drawingml/2006/main" noGrp="1"/>
          </p:cNvSpPr>
          <p:nvPr/>
        </p:nvSpPr>
        <p:spPr>
          <a:xfrm xmlns:a="http://schemas.openxmlformats.org/drawingml/2006/main">
            <a:off x="640080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CAE / 実験V&amp;V</a:t>
            </a:r>
          </a:p>
        </p:txBody>
      </p:sp>
      <p:sp>
        <p:nvSpPr>
          <p:cNvPr id="25" name="">
            <a:extLst xmlns:a="http://schemas.openxmlformats.org/drawingml/2006/main">
              <a:ext uri="{FF2B5EF4-FFF2-40B4-BE49-F238E27FC236}">
                <a16:creationId xmlns:a16="http://schemas.microsoft.com/office/drawing/2014/main" id="{44C3625F-28D4-4B30-B293-8B53AD0C71EE}"/>
              </a:ext>
            </a:extLst>
          </p:cNvPr>
          <p:cNvSpPr>
            <a:spLocks xmlns:a="http://schemas.openxmlformats.org/drawingml/2006/main" noGrp="1"/>
          </p:cNvSpPr>
          <p:nvPr/>
        </p:nvSpPr>
        <p:spPr>
          <a:xfrm xmlns:a="http://schemas.openxmlformats.org/drawingml/2006/main">
            <a:off x="640080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26" name="">
            <a:extLst xmlns:a="http://schemas.openxmlformats.org/drawingml/2006/main">
              <a:ext uri="{FF2B5EF4-FFF2-40B4-BE49-F238E27FC236}">
                <a16:creationId xmlns:a16="http://schemas.microsoft.com/office/drawing/2014/main" id="{9A0750F0-C4A3-445A-8AA7-6A9AD92F9087}"/>
              </a:ext>
            </a:extLst>
          </p:cNvPr>
          <p:cNvSpPr>
            <a:spLocks xmlns:a="http://schemas.openxmlformats.org/drawingml/2006/main" noGrp="1"/>
          </p:cNvSpPr>
          <p:nvPr/>
        </p:nvSpPr>
        <p:spPr>
          <a:xfrm xmlns:a="http://schemas.openxmlformats.org/drawingml/2006/main">
            <a:off x="640080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mesh / time convergence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hotspot・放射・contact</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独立recipe / hardware holdout</a:t>
            </a:r>
          </a:p>
        </p:txBody>
      </p:sp>
      <p:sp>
        <p:nvSpPr>
          <p:cNvPr id="27" name="">
            <a:extLst xmlns:a="http://schemas.openxmlformats.org/drawingml/2006/main">
              <a:ext uri="{FF2B5EF4-FFF2-40B4-BE49-F238E27FC236}">
                <a16:creationId xmlns:a16="http://schemas.microsoft.com/office/drawing/2014/main" id="{69491693-3A5D-43DE-BD26-A18CCEFD1623}"/>
              </a:ext>
            </a:extLst>
          </p:cNvPr>
          <p:cNvSpPr>
            <a:spLocks xmlns:a="http://schemas.openxmlformats.org/drawingml/2006/main" noGrp="1"/>
          </p:cNvSpPr>
          <p:nvPr/>
        </p:nvSpPr>
        <p:spPr>
          <a:xfrm xmlns:a="http://schemas.openxmlformats.org/drawingml/2006/main">
            <a:off x="9067800" y="1628775"/>
            <a:ext cx="2571750" cy="2162175"/>
          </a:xfrm>
          <a:prstGeom xmlns:a="http://schemas.openxmlformats.org/drawingml/2006/main" prst="rect">
            <a:avLst/>
          </a:prstGeom>
          <a:solidFill xmlns:a="http://schemas.openxmlformats.org/drawingml/2006/main">
            <a:srgbClr val="FFFFFF"/>
          </a:solidFill>
          <a:ln xmlns:a="http://schemas.openxmlformats.org/drawingml/2006/main" w="9525">
            <a:solidFill>
              <a:srgbClr val="D6D6D6"/>
            </a:solidFill>
            <a:prstDash val="solid"/>
          </a:ln>
        </p:spPr>
      </p:sp>
      <p:sp>
        <p:nvSpPr>
          <p:cNvPr id="28" name="">
            <a:extLst xmlns:a="http://schemas.openxmlformats.org/drawingml/2006/main">
              <a:ext uri="{FF2B5EF4-FFF2-40B4-BE49-F238E27FC236}">
                <a16:creationId xmlns:a16="http://schemas.microsoft.com/office/drawing/2014/main" id="{790DC940-D82E-441E-B474-C36782D3A907}"/>
              </a:ext>
            </a:extLst>
          </p:cNvPr>
          <p:cNvSpPr>
            <a:spLocks xmlns:a="http://schemas.openxmlformats.org/drawingml/2006/main" noGrp="1"/>
          </p:cNvSpPr>
          <p:nvPr/>
        </p:nvSpPr>
        <p:spPr>
          <a:xfrm xmlns:a="http://schemas.openxmlformats.org/drawingml/2006/main">
            <a:off x="9067800" y="1628775"/>
            <a:ext cx="2571750" cy="76200"/>
          </a:xfrm>
          <a:prstGeom xmlns:a="http://schemas.openxmlformats.org/drawingml/2006/main" prst="rect">
            <a:avLst/>
          </a:prstGeom>
          <a:solidFill xmlns:a="http://schemas.openxmlformats.org/drawingml/2006/main">
            <a:srgbClr val="E5A90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729524D-22F8-4610-B24D-DF6F6592CF01}"/>
              </a:ext>
            </a:extLst>
          </p:cNvPr>
          <p:cNvSpPr>
            <a:spLocks xmlns:a="http://schemas.openxmlformats.org/drawingml/2006/main" noGrp="1"/>
          </p:cNvSpPr>
          <p:nvPr/>
        </p:nvSpPr>
        <p:spPr>
          <a:xfrm xmlns:a="http://schemas.openxmlformats.org/drawingml/2006/main">
            <a:off x="9239250" y="18192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E5A900"/>
                </a:solidFill>
                <a:latin typeface="Yu Gothic"/>
                <a:ea typeface="Yu Gothic"/>
                <a:cs typeface="Yu Gothic"/>
              </a:defRPr>
            </a:pPr>
            <a:r>
              <a:rPr sz="975" b="1" i="0">
                <a:solidFill>
                  <a:srgbClr val="E5A900"/>
                </a:solidFill>
                <a:latin typeface="Yu Gothic"/>
                <a:ea typeface="Yu Gothic"/>
                <a:cs typeface="Yu Gothic"/>
              </a:rPr>
              <a:t>04</a:t>
            </a:r>
          </a:p>
        </p:txBody>
      </p:sp>
      <p:sp>
        <p:nvSpPr>
          <p:cNvPr id="30" name="">
            <a:extLst xmlns:a="http://schemas.openxmlformats.org/drawingml/2006/main">
              <a:ext uri="{FF2B5EF4-FFF2-40B4-BE49-F238E27FC236}">
                <a16:creationId xmlns:a16="http://schemas.microsoft.com/office/drawing/2014/main" id="{747CC633-B7FB-4CF6-8E46-F5DECCB13D23}"/>
              </a:ext>
            </a:extLst>
          </p:cNvPr>
          <p:cNvSpPr>
            <a:spLocks xmlns:a="http://schemas.openxmlformats.org/drawingml/2006/main" noGrp="1"/>
          </p:cNvSpPr>
          <p:nvPr/>
        </p:nvSpPr>
        <p:spPr>
          <a:xfrm xmlns:a="http://schemas.openxmlformats.org/drawingml/2006/main">
            <a:off x="9239250" y="2133600"/>
            <a:ext cx="22288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425" b="1" i="0">
                <a:solidFill>
                  <a:srgbClr val="3F3F3F"/>
                </a:solidFill>
                <a:latin typeface="Yu Gothic"/>
                <a:ea typeface="Yu Gothic"/>
                <a:cs typeface="Yu Gothic"/>
              </a:defRPr>
            </a:pPr>
            <a:r>
              <a:rPr sz="1425" b="1" i="0">
                <a:solidFill>
                  <a:srgbClr val="3F3F3F"/>
                </a:solidFill>
                <a:latin typeface="Yu Gothic"/>
                <a:ea typeface="Yu Gothic"/>
                <a:cs typeface="Yu Gothic"/>
              </a:rPr>
              <a:t>shadow operation</a:t>
            </a:r>
          </a:p>
        </p:txBody>
      </p:sp>
      <p:sp>
        <p:nvSpPr>
          <p:cNvPr id="31" name="">
            <a:extLst xmlns:a="http://schemas.openxmlformats.org/drawingml/2006/main">
              <a:ext uri="{FF2B5EF4-FFF2-40B4-BE49-F238E27FC236}">
                <a16:creationId xmlns:a16="http://schemas.microsoft.com/office/drawing/2014/main" id="{46890F45-F44D-4896-B3C0-51D23140BE61}"/>
              </a:ext>
            </a:extLst>
          </p:cNvPr>
          <p:cNvSpPr>
            <a:spLocks xmlns:a="http://schemas.openxmlformats.org/drawingml/2006/main" noGrp="1"/>
          </p:cNvSpPr>
          <p:nvPr/>
        </p:nvSpPr>
        <p:spPr>
          <a:xfrm xmlns:a="http://schemas.openxmlformats.org/drawingml/2006/main">
            <a:off x="9239250" y="2543175"/>
            <a:ext cx="222885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32" name="">
            <a:extLst xmlns:a="http://schemas.openxmlformats.org/drawingml/2006/main">
              <a:ext uri="{FF2B5EF4-FFF2-40B4-BE49-F238E27FC236}">
                <a16:creationId xmlns:a16="http://schemas.microsoft.com/office/drawing/2014/main" id="{5F0D3DF4-AAAF-4360-A5B2-350629D80EA4}"/>
              </a:ext>
            </a:extLst>
          </p:cNvPr>
          <p:cNvSpPr>
            <a:spLocks xmlns:a="http://schemas.openxmlformats.org/drawingml/2006/main" noGrp="1"/>
          </p:cNvSpPr>
          <p:nvPr/>
        </p:nvSpPr>
        <p:spPr>
          <a:xfrm xmlns:a="http://schemas.openxmlformats.org/drawingml/2006/main">
            <a:off x="9239250" y="2695575"/>
            <a:ext cx="22288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t">
            <a:normAutofit fontScale="100000"/>
          </a:bodyPr>
          <a:lstStyle xmlns:a="http://schemas.openxmlformats.org/drawingml/2006/main"/>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alarm校正・false rate</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drift / retrain条件</a:t>
            </a:r>
          </a:p>
          <a:p xmlns:a="http://schemas.openxmlformats.org/drawingml/2006/main">
            <a:pPr algn="l">
              <a:lnSpc>
                <a:spcPct val="135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 interlockとは独立運用</a:t>
            </a:r>
          </a:p>
        </p:txBody>
      </p:sp>
      <p:cxnSp>
        <p:nvCxnSpPr>
          <p:cNvPr id="83" name=""/>
          <p:cNvCxnSpPr>
            <a:stCxn xmlns:a="http://schemas.openxmlformats.org/drawingml/2006/main" id="9" idx="3"/>
            <a:endCxn xmlns:a="http://schemas.openxmlformats.org/drawingml/2006/main" id="15" idx="1"/>
          </p:cNvCxnSpPr>
          <p:nvPr/>
        </p:nvCxnSpPr>
        <p:spPr>
          <a:xfrm xmlns:a="http://schemas.openxmlformats.org/drawingml/2006/main">
            <a:off x="312420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4" name=""/>
          <p:cNvCxnSpPr>
            <a:stCxn xmlns:a="http://schemas.openxmlformats.org/drawingml/2006/main" id="15" idx="3"/>
            <a:endCxn xmlns:a="http://schemas.openxmlformats.org/drawingml/2006/main" id="21" idx="1"/>
          </p:cNvCxnSpPr>
          <p:nvPr/>
        </p:nvCxnSpPr>
        <p:spPr>
          <a:xfrm xmlns:a="http://schemas.openxmlformats.org/drawingml/2006/main">
            <a:off x="596265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cxnSp>
        <p:nvCxnSpPr>
          <p:cNvPr id="85" name=""/>
          <p:cNvCxnSpPr>
            <a:stCxn xmlns:a="http://schemas.openxmlformats.org/drawingml/2006/main" id="21" idx="3"/>
            <a:endCxn xmlns:a="http://schemas.openxmlformats.org/drawingml/2006/main" id="27" idx="1"/>
          </p:cNvCxnSpPr>
          <p:nvPr/>
        </p:nvCxnSpPr>
        <p:spPr>
          <a:xfrm xmlns:a="http://schemas.openxmlformats.org/drawingml/2006/main">
            <a:off x="8801100" y="2709863"/>
            <a:ext cx="266700" cy="0"/>
          </a:xfrm>
          <a:prstGeom xmlns:a="http://schemas.openxmlformats.org/drawingml/2006/main" prst="straightConnector1">
            <a:avLst/>
          </a:prstGeom>
          <a:ln xmlns:a="http://schemas.openxmlformats.org/drawingml/2006/main" w="19050">
            <a:solidFill>
              <a:srgbClr val="007FA8"/>
            </a:solidFill>
            <a:prstDash val="solid"/>
            <a:tailEnd type="triangle" w="sm" len="sm"/>
          </a:ln>
        </p:spPr>
      </p:cxnSp>
      <p:sp>
        <p:nvSpPr>
          <p:cNvPr id="36" name="">
            <a:extLst xmlns:a="http://schemas.openxmlformats.org/drawingml/2006/main">
              <a:ext uri="{FF2B5EF4-FFF2-40B4-BE49-F238E27FC236}">
                <a16:creationId xmlns:a16="http://schemas.microsoft.com/office/drawing/2014/main" id="{08871473-A27C-4DD8-A60B-C1829E6605B2}"/>
              </a:ext>
            </a:extLst>
          </p:cNvPr>
          <p:cNvSpPr>
            <a:spLocks xmlns:a="http://schemas.openxmlformats.org/drawingml/2006/main" noGrp="1"/>
          </p:cNvSpPr>
          <p:nvPr/>
        </p:nvSpPr>
        <p:spPr>
          <a:xfrm xmlns:a="http://schemas.openxmlformats.org/drawingml/2006/main">
            <a:off x="552450" y="4114800"/>
            <a:ext cx="11087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release gateで固定する指標</a:t>
            </a:r>
          </a:p>
        </p:txBody>
      </p:sp>
      <p:sp>
        <p:nvSpPr>
          <p:cNvPr id="37" name="">
            <a:extLst xmlns:a="http://schemas.openxmlformats.org/drawingml/2006/main">
              <a:ext uri="{FF2B5EF4-FFF2-40B4-BE49-F238E27FC236}">
                <a16:creationId xmlns:a16="http://schemas.microsoft.com/office/drawing/2014/main" id="{59A072F9-F113-4F34-B99F-8ABC9D5A96AF}"/>
              </a:ext>
            </a:extLst>
          </p:cNvPr>
          <p:cNvSpPr>
            <a:spLocks xmlns:a="http://schemas.openxmlformats.org/drawingml/2006/main" noGrp="1"/>
          </p:cNvSpPr>
          <p:nvPr/>
        </p:nvSpPr>
        <p:spPr>
          <a:xfrm xmlns:a="http://schemas.openxmlformats.org/drawingml/2006/main">
            <a:off x="552450" y="44958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00A5D8"/>
                </a:solidFill>
                <a:latin typeface="Yu Gothic"/>
                <a:ea typeface="Yu Gothic"/>
                <a:cs typeface="Yu Gothic"/>
              </a:defRPr>
            </a:pPr>
            <a:r>
              <a:rPr sz="975" b="1" i="0">
                <a:solidFill>
                  <a:srgbClr val="00A5D8"/>
                </a:solidFill>
                <a:latin typeface="Yu Gothic"/>
                <a:ea typeface="Yu Gothic"/>
                <a:cs typeface="Yu Gothic"/>
              </a:rPr>
              <a:t>Prediction</a:t>
            </a:r>
          </a:p>
        </p:txBody>
      </p:sp>
      <p:sp>
        <p:nvSpPr>
          <p:cNvPr id="38" name="">
            <a:extLst xmlns:a="http://schemas.openxmlformats.org/drawingml/2006/main">
              <a:ext uri="{FF2B5EF4-FFF2-40B4-BE49-F238E27FC236}">
                <a16:creationId xmlns:a16="http://schemas.microsoft.com/office/drawing/2014/main" id="{6AB275A5-5696-4DCA-B006-5AAAFB0EB15B}"/>
              </a:ext>
            </a:extLst>
          </p:cNvPr>
          <p:cNvSpPr>
            <a:spLocks xmlns:a="http://schemas.openxmlformats.org/drawingml/2006/main" noGrp="1"/>
          </p:cNvSpPr>
          <p:nvPr/>
        </p:nvSpPr>
        <p:spPr>
          <a:xfrm xmlns:a="http://schemas.openxmlformats.org/drawingml/2006/main">
            <a:off x="1952625" y="4629150"/>
            <a:ext cx="523875" cy="0"/>
          </a:xfrm>
          <a:prstGeom xmlns:a="http://schemas.openxmlformats.org/drawingml/2006/main" prst="line">
            <a:avLst/>
          </a:prstGeom>
          <a:noFill xmlns:a="http://schemas.openxmlformats.org/drawingml/2006/main"/>
          <a:ln xmlns:a="http://schemas.openxmlformats.org/drawingml/2006/main" w="28575">
            <a:solidFill>
              <a:srgbClr val="00A5D8"/>
            </a:solidFill>
            <a:prstDash val="solid"/>
          </a:ln>
        </p:spPr>
      </p:sp>
      <p:sp>
        <p:nvSpPr>
          <p:cNvPr id="39" name="">
            <a:extLst xmlns:a="http://schemas.openxmlformats.org/drawingml/2006/main">
              <a:ext uri="{FF2B5EF4-FFF2-40B4-BE49-F238E27FC236}">
                <a16:creationId xmlns:a16="http://schemas.microsoft.com/office/drawing/2014/main" id="{54DA9673-1FF1-48B5-B3C3-5D24604A37BE}"/>
              </a:ext>
            </a:extLst>
          </p:cNvPr>
          <p:cNvSpPr>
            <a:spLocks xmlns:a="http://schemas.openxmlformats.org/drawingml/2006/main" noGrp="1"/>
          </p:cNvSpPr>
          <p:nvPr/>
        </p:nvSpPr>
        <p:spPr>
          <a:xfrm xmlns:a="http://schemas.openxmlformats.org/drawingml/2006/main">
            <a:off x="2647950" y="4495800"/>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mean / P95 / worst RMSE, phase lag, operating-envelope coverage</a:t>
            </a:r>
          </a:p>
        </p:txBody>
      </p:sp>
      <p:sp>
        <p:nvSpPr>
          <p:cNvPr id="40" name="">
            <a:extLst xmlns:a="http://schemas.openxmlformats.org/drawingml/2006/main">
              <a:ext uri="{FF2B5EF4-FFF2-40B4-BE49-F238E27FC236}">
                <a16:creationId xmlns:a16="http://schemas.microsoft.com/office/drawing/2014/main" id="{653F0FC8-0E6D-43D0-B810-1DE0D2F901A4}"/>
              </a:ext>
            </a:extLst>
          </p:cNvPr>
          <p:cNvSpPr>
            <a:spLocks xmlns:a="http://schemas.openxmlformats.org/drawingml/2006/main" noGrp="1"/>
          </p:cNvSpPr>
          <p:nvPr/>
        </p:nvSpPr>
        <p:spPr>
          <a:xfrm xmlns:a="http://schemas.openxmlformats.org/drawingml/2006/main">
            <a:off x="552450" y="488632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C4493D"/>
                </a:solidFill>
                <a:latin typeface="Yu Gothic"/>
                <a:ea typeface="Yu Gothic"/>
                <a:cs typeface="Yu Gothic"/>
              </a:defRPr>
            </a:pPr>
            <a:r>
              <a:rPr sz="975" b="1" i="0">
                <a:solidFill>
                  <a:srgbClr val="C4493D"/>
                </a:solidFill>
                <a:latin typeface="Yu Gothic"/>
                <a:ea typeface="Yu Gothic"/>
                <a:cs typeface="Yu Gothic"/>
              </a:rPr>
              <a:t>Safety</a:t>
            </a:r>
          </a:p>
        </p:txBody>
      </p:sp>
      <p:sp>
        <p:nvSpPr>
          <p:cNvPr id="41" name="">
            <a:extLst xmlns:a="http://schemas.openxmlformats.org/drawingml/2006/main">
              <a:ext uri="{FF2B5EF4-FFF2-40B4-BE49-F238E27FC236}">
                <a16:creationId xmlns:a16="http://schemas.microsoft.com/office/drawing/2014/main" id="{D1F0E28B-B844-4F47-B012-05714EE3AD68}"/>
              </a:ext>
            </a:extLst>
          </p:cNvPr>
          <p:cNvSpPr>
            <a:spLocks xmlns:a="http://schemas.openxmlformats.org/drawingml/2006/main" noGrp="1"/>
          </p:cNvSpPr>
          <p:nvPr/>
        </p:nvSpPr>
        <p:spPr>
          <a:xfrm xmlns:a="http://schemas.openxmlformats.org/drawingml/2006/main">
            <a:off x="1952625" y="5019675"/>
            <a:ext cx="523875" cy="0"/>
          </a:xfrm>
          <a:prstGeom xmlns:a="http://schemas.openxmlformats.org/drawingml/2006/main" prst="line">
            <a:avLst/>
          </a:prstGeom>
          <a:noFill xmlns:a="http://schemas.openxmlformats.org/drawingml/2006/main"/>
          <a:ln xmlns:a="http://schemas.openxmlformats.org/drawingml/2006/main" w="28575">
            <a:solidFill>
              <a:srgbClr val="C4493D"/>
            </a:solidFill>
            <a:prstDash val="solid"/>
          </a:ln>
        </p:spPr>
      </p:sp>
      <p:sp>
        <p:nvSpPr>
          <p:cNvPr id="42" name="">
            <a:extLst xmlns:a="http://schemas.openxmlformats.org/drawingml/2006/main">
              <a:ext uri="{FF2B5EF4-FFF2-40B4-BE49-F238E27FC236}">
                <a16:creationId xmlns:a16="http://schemas.microsoft.com/office/drawing/2014/main" id="{F9F744F3-85E0-4341-9D85-D9A47663CF12}"/>
              </a:ext>
            </a:extLst>
          </p:cNvPr>
          <p:cNvSpPr>
            <a:spLocks xmlns:a="http://schemas.openxmlformats.org/drawingml/2006/main" noGrp="1"/>
          </p:cNvSpPr>
          <p:nvPr/>
        </p:nvSpPr>
        <p:spPr>
          <a:xfrm xmlns:a="http://schemas.openxmlformats.org/drawingml/2006/main">
            <a:off x="2647950" y="4886325"/>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hotspot conservative bound, mesh/time uncertainty, thermal margin</a:t>
            </a:r>
          </a:p>
        </p:txBody>
      </p:sp>
      <p:sp>
        <p:nvSpPr>
          <p:cNvPr id="43" name="">
            <a:extLst xmlns:a="http://schemas.openxmlformats.org/drawingml/2006/main">
              <a:ext uri="{FF2B5EF4-FFF2-40B4-BE49-F238E27FC236}">
                <a16:creationId xmlns:a16="http://schemas.microsoft.com/office/drawing/2014/main" id="{B1DE22F5-4681-4EBD-9AED-1699F28C2C44}"/>
              </a:ext>
            </a:extLst>
          </p:cNvPr>
          <p:cNvSpPr>
            <a:spLocks xmlns:a="http://schemas.openxmlformats.org/drawingml/2006/main" noGrp="1"/>
          </p:cNvSpPr>
          <p:nvPr/>
        </p:nvSpPr>
        <p:spPr>
          <a:xfrm xmlns:a="http://schemas.openxmlformats.org/drawingml/2006/main">
            <a:off x="552450" y="52768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B2DAF"/>
                </a:solidFill>
                <a:latin typeface="Yu Gothic"/>
                <a:ea typeface="Yu Gothic"/>
                <a:cs typeface="Yu Gothic"/>
              </a:defRPr>
            </a:pPr>
            <a:r>
              <a:rPr sz="975" b="1" i="0">
                <a:solidFill>
                  <a:srgbClr val="7B2DAF"/>
                </a:solidFill>
                <a:latin typeface="Yu Gothic"/>
                <a:ea typeface="Yu Gothic"/>
                <a:cs typeface="Yu Gothic"/>
              </a:rPr>
              <a:t>Monitoring</a:t>
            </a:r>
          </a:p>
        </p:txBody>
      </p:sp>
      <p:sp>
        <p:nvSpPr>
          <p:cNvPr id="44" name="">
            <a:extLst xmlns:a="http://schemas.openxmlformats.org/drawingml/2006/main">
              <a:ext uri="{FF2B5EF4-FFF2-40B4-BE49-F238E27FC236}">
                <a16:creationId xmlns:a16="http://schemas.microsoft.com/office/drawing/2014/main" id="{C5BF9F2B-FB6B-4356-827F-862359EBBE25}"/>
              </a:ext>
            </a:extLst>
          </p:cNvPr>
          <p:cNvSpPr>
            <a:spLocks xmlns:a="http://schemas.openxmlformats.org/drawingml/2006/main" noGrp="1"/>
          </p:cNvSpPr>
          <p:nvPr/>
        </p:nvSpPr>
        <p:spPr>
          <a:xfrm xmlns:a="http://schemas.openxmlformats.org/drawingml/2006/main">
            <a:off x="1952625" y="5410200"/>
            <a:ext cx="523875" cy="0"/>
          </a:xfrm>
          <a:prstGeom xmlns:a="http://schemas.openxmlformats.org/drawingml/2006/main" prst="line">
            <a:avLst/>
          </a:prstGeom>
          <a:noFill xmlns:a="http://schemas.openxmlformats.org/drawingml/2006/main"/>
          <a:ln xmlns:a="http://schemas.openxmlformats.org/drawingml/2006/main" w="28575">
            <a:solidFill>
              <a:srgbClr val="7B2DAF"/>
            </a:solidFill>
            <a:prstDash val="solid"/>
          </a:ln>
        </p:spPr>
      </p:sp>
      <p:sp>
        <p:nvSpPr>
          <p:cNvPr id="45" name="">
            <a:extLst xmlns:a="http://schemas.openxmlformats.org/drawingml/2006/main">
              <a:ext uri="{FF2B5EF4-FFF2-40B4-BE49-F238E27FC236}">
                <a16:creationId xmlns:a16="http://schemas.microsoft.com/office/drawing/2014/main" id="{790EE153-0F9B-4CDD-A4F3-0931C3EB1437}"/>
              </a:ext>
            </a:extLst>
          </p:cNvPr>
          <p:cNvSpPr>
            <a:spLocks xmlns:a="http://schemas.openxmlformats.org/drawingml/2006/main" noGrp="1"/>
          </p:cNvSpPr>
          <p:nvPr/>
        </p:nvSpPr>
        <p:spPr>
          <a:xfrm xmlns:a="http://schemas.openxmlformats.org/drawingml/2006/main">
            <a:off x="2647950" y="5276850"/>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detection delay, false alerts/hour, missed faults, attribution error</a:t>
            </a:r>
          </a:p>
        </p:txBody>
      </p:sp>
      <p:sp>
        <p:nvSpPr>
          <p:cNvPr id="46" name="">
            <a:extLst xmlns:a="http://schemas.openxmlformats.org/drawingml/2006/main">
              <a:ext uri="{FF2B5EF4-FFF2-40B4-BE49-F238E27FC236}">
                <a16:creationId xmlns:a16="http://schemas.microsoft.com/office/drawing/2014/main" id="{1440CB5A-CBA6-411E-A7F3-680313D8582A}"/>
              </a:ext>
            </a:extLst>
          </p:cNvPr>
          <p:cNvSpPr>
            <a:spLocks xmlns:a="http://schemas.openxmlformats.org/drawingml/2006/main" noGrp="1"/>
          </p:cNvSpPr>
          <p:nvPr/>
        </p:nvSpPr>
        <p:spPr>
          <a:xfrm xmlns:a="http://schemas.openxmlformats.org/drawingml/2006/main">
            <a:off x="552450" y="56673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76BE18"/>
                </a:solidFill>
                <a:latin typeface="Yu Gothic"/>
                <a:ea typeface="Yu Gothic"/>
                <a:cs typeface="Yu Gothic"/>
              </a:defRPr>
            </a:pPr>
            <a:r>
              <a:rPr sz="975" b="1" i="0">
                <a:solidFill>
                  <a:srgbClr val="76BE18"/>
                </a:solidFill>
                <a:latin typeface="Yu Gothic"/>
                <a:ea typeface="Yu Gothic"/>
                <a:cs typeface="Yu Gothic"/>
              </a:rPr>
              <a:t>Lifecycle</a:t>
            </a:r>
          </a:p>
        </p:txBody>
      </p:sp>
      <p:sp>
        <p:nvSpPr>
          <p:cNvPr id="47" name="">
            <a:extLst xmlns:a="http://schemas.openxmlformats.org/drawingml/2006/main">
              <a:ext uri="{FF2B5EF4-FFF2-40B4-BE49-F238E27FC236}">
                <a16:creationId xmlns:a16="http://schemas.microsoft.com/office/drawing/2014/main" id="{01DB9187-2885-4282-99FD-CD48329F6F57}"/>
              </a:ext>
            </a:extLst>
          </p:cNvPr>
          <p:cNvSpPr>
            <a:spLocks xmlns:a="http://schemas.openxmlformats.org/drawingml/2006/main" noGrp="1"/>
          </p:cNvSpPr>
          <p:nvPr/>
        </p:nvSpPr>
        <p:spPr>
          <a:xfrm xmlns:a="http://schemas.openxmlformats.org/drawingml/2006/main">
            <a:off x="1952625" y="5800725"/>
            <a:ext cx="523875" cy="0"/>
          </a:xfrm>
          <a:prstGeom xmlns:a="http://schemas.openxmlformats.org/drawingml/2006/main" prst="line">
            <a:avLst/>
          </a:prstGeom>
          <a:noFill xmlns:a="http://schemas.openxmlformats.org/drawingml/2006/main"/>
          <a:ln xmlns:a="http://schemas.openxmlformats.org/drawingml/2006/main" w="28575">
            <a:solidFill>
              <a:srgbClr val="76BE18"/>
            </a:solidFill>
            <a:prstDash val="solid"/>
          </a:ln>
        </p:spPr>
      </p:sp>
      <p:sp>
        <p:nvSpPr>
          <p:cNvPr id="48" name="">
            <a:extLst xmlns:a="http://schemas.openxmlformats.org/drawingml/2006/main">
              <a:ext uri="{FF2B5EF4-FFF2-40B4-BE49-F238E27FC236}">
                <a16:creationId xmlns:a16="http://schemas.microsoft.com/office/drawing/2014/main" id="{06FE9503-3A5C-40D4-86B9-3F6DB9B84DD5}"/>
              </a:ext>
            </a:extLst>
          </p:cNvPr>
          <p:cNvSpPr>
            <a:spLocks xmlns:a="http://schemas.openxmlformats.org/drawingml/2006/main" noGrp="1"/>
          </p:cNvSpPr>
          <p:nvPr/>
        </p:nvSpPr>
        <p:spPr>
          <a:xfrm xmlns:a="http://schemas.openxmlformats.org/drawingml/2006/main">
            <a:off x="2647950" y="5667375"/>
            <a:ext cx="8991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38" b="0" i="0">
                <a:solidFill>
                  <a:srgbClr val="5B5B5B"/>
                </a:solidFill>
                <a:latin typeface="Yu Gothic"/>
                <a:ea typeface="Yu Gothic"/>
                <a:cs typeface="Yu Gothic"/>
              </a:defRPr>
            </a:pPr>
            <a:r>
              <a:rPr sz="938" b="0" i="0">
                <a:solidFill>
                  <a:srgbClr val="5B5B5B"/>
                </a:solidFill>
                <a:latin typeface="Yu Gothic"/>
                <a:ea typeface="Yu Gothic"/>
                <a:cs typeface="Yu Gothic"/>
              </a:rPr>
              <a:t>drift threshold, retrain trigger, configuration &amp; data lineage</a:t>
            </a:r>
          </a:p>
        </p:txBody>
      </p:sp>
      <p:sp>
        <p:nvSpPr>
          <p:cNvPr id="49" name="">
            <a:extLst xmlns:a="http://schemas.openxmlformats.org/drawingml/2006/main">
              <a:ext uri="{FF2B5EF4-FFF2-40B4-BE49-F238E27FC236}">
                <a16:creationId xmlns:a16="http://schemas.microsoft.com/office/drawing/2014/main" id="{D6C6F14C-D580-42D4-9046-3B8F5A785D13}"/>
              </a:ext>
            </a:extLst>
          </p:cNvPr>
          <p:cNvSpPr>
            <a:spLocks xmlns:a="http://schemas.openxmlformats.org/drawingml/2006/main" noGrp="1"/>
          </p:cNvSpPr>
          <p:nvPr/>
        </p:nvSpPr>
        <p:spPr>
          <a:xfrm xmlns:a="http://schemas.openxmlformats.org/drawingml/2006/main">
            <a:off x="552450" y="6105525"/>
            <a:ext cx="11087100" cy="238125"/>
          </a:xfrm>
          <a:prstGeom xmlns:a="http://schemas.openxmlformats.org/drawingml/2006/main" prst="rect">
            <a:avLst/>
          </a:prstGeom>
          <a:solidFill xmlns:a="http://schemas.openxmlformats.org/drawingml/2006/main">
            <a:srgbClr val="201445"/>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12D2F90-7C09-4D9D-ACDF-DE857A16127D}"/>
              </a:ext>
            </a:extLst>
          </p:cNvPr>
          <p:cNvSpPr>
            <a:spLocks xmlns:a="http://schemas.openxmlformats.org/drawingml/2006/main" noGrp="1"/>
          </p:cNvSpPr>
          <p:nvPr/>
        </p:nvSpPr>
        <p:spPr>
          <a:xfrm xmlns:a="http://schemas.openxmlformats.org/drawingml/2006/main">
            <a:off x="666750" y="6115050"/>
            <a:ext cx="1085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ctr">
              <a:lnSpc>
                <a:spcPct val="100000"/>
              </a:lnSpc>
              <a:buNone/>
              <a:defRPr sz="863" b="1" i="0">
                <a:solidFill>
                  <a:srgbClr val="FFFFFF"/>
                </a:solidFill>
                <a:latin typeface="Yu Gothic"/>
                <a:ea typeface="Yu Gothic"/>
                <a:cs typeface="Yu Gothic"/>
              </a:defRPr>
            </a:pPr>
            <a:r>
              <a:rPr sz="863" b="1" i="0">
                <a:solidFill>
                  <a:srgbClr val="FFFFFF"/>
                </a:solidFill>
                <a:latin typeface="Yu Gothic"/>
                <a:ea typeface="Yu Gothic"/>
                <a:cs typeface="Yu Gothic"/>
              </a:rPr>
              <a:t>完了条件：適用運転域・性能限界・再評価条件・責任分界が同一release recordに記録されていること。</a:t>
            </a:r>
          </a:p>
        </p:txBody>
      </p:sp>
    </p:spTree>
    <p:extLst>
      <p:ext uri="{BB962C8B-B14F-4D97-AF65-F5344CB8AC3E}">
        <p14:creationId xmlns:p14="http://schemas.microsoft.com/office/powerpoint/2010/main" val="163891131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BF4F3502-3759-4993-BB5D-0EDE230BC027}"/>
              </a:ext>
            </a:extLst>
          </p:cNvPr>
          <p:cNvSpPr>
            <a:spLocks xmlns:a="http://schemas.openxmlformats.org/drawingml/2006/main" noGrp="1"/>
          </p:cNvSpPr>
          <p:nvPr/>
        </p:nvSpPr>
        <p:spPr>
          <a:xfrm xmlns:a="http://schemas.openxmlformats.org/drawingml/2006/main">
            <a:off x="552450" y="190500"/>
            <a:ext cx="76200" cy="142875"/>
          </a:xfrm>
          <a:prstGeom xmlns:a="http://schemas.openxmlformats.org/drawingml/2006/main" prst="rect">
            <a:avLst/>
          </a:prstGeom>
          <a:solidFill xmlns:a="http://schemas.openxmlformats.org/drawingml/2006/main">
            <a:srgbClr val="76BE1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9CA259C-6812-40B1-9BF8-3B3688132C34}"/>
              </a:ext>
            </a:extLst>
          </p:cNvPr>
          <p:cNvSpPr>
            <a:spLocks xmlns:a="http://schemas.openxmlformats.org/drawingml/2006/main" noGrp="1"/>
          </p:cNvSpPr>
          <p:nvPr/>
        </p:nvSpPr>
        <p:spPr>
          <a:xfrm xmlns:a="http://schemas.openxmlformats.org/drawingml/2006/main">
            <a:off x="704850" y="16192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REFERENCES</a:t>
            </a:r>
          </a:p>
        </p:txBody>
      </p:sp>
      <p:sp>
        <p:nvSpPr>
          <p:cNvPr id="3" name="">
            <a:extLst xmlns:a="http://schemas.openxmlformats.org/drawingml/2006/main">
              <a:ext uri="{FF2B5EF4-FFF2-40B4-BE49-F238E27FC236}">
                <a16:creationId xmlns:a16="http://schemas.microsoft.com/office/drawing/2014/main" id="{5DB206D5-87FF-422C-8489-1BFAA4F7C1B6}"/>
              </a:ext>
            </a:extLst>
          </p:cNvPr>
          <p:cNvSpPr>
            <a:spLocks xmlns:a="http://schemas.openxmlformats.org/drawingml/2006/main" noGrp="1"/>
          </p:cNvSpPr>
          <p:nvPr/>
        </p:nvSpPr>
        <p:spPr>
          <a:xfrm xmlns:a="http://schemas.openxmlformats.org/drawingml/2006/main">
            <a:off x="552450" y="400050"/>
            <a:ext cx="11001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19050" tIns="0" rIns="19050" bIns="0" anchor="ctr">
            <a:normAutofit fontScale="100000"/>
          </a:bodyPr>
          <a:lstStyle xmlns:a="http://schemas.openxmlformats.org/drawingml/2006/main"/>
          <a:p xmlns:a="http://schemas.openxmlformats.org/drawingml/2006/main">
            <a:pPr algn="l">
              <a:lnSpc>
                <a:spcPct val="100000"/>
              </a:lnSpc>
              <a:buNone/>
              <a:defRPr sz="2175" b="1" i="0">
                <a:solidFill>
                  <a:srgbClr val="00A5D8"/>
                </a:solidFill>
                <a:latin typeface="Yu Gothic"/>
                <a:ea typeface="Yu Gothic"/>
                <a:cs typeface="Yu Gothic"/>
              </a:defRPr>
            </a:pPr>
            <a:r>
              <a:rPr sz="2175" b="1" i="0">
                <a:solidFill>
                  <a:srgbClr val="00A5D8"/>
                </a:solidFill>
                <a:latin typeface="Yu Gothic"/>
                <a:ea typeface="Yu Gothic"/>
                <a:cs typeface="Yu Gothic"/>
              </a:rPr>
              <a:t>理論、実装、CAE評価の根拠</a:t>
            </a:r>
          </a:p>
        </p:txBody>
      </p:sp>
      <p:sp>
        <p:nvSpPr>
          <p:cNvPr id="4" name="">
            <a:extLst xmlns:a="http://schemas.openxmlformats.org/drawingml/2006/main">
              <a:ext uri="{FF2B5EF4-FFF2-40B4-BE49-F238E27FC236}">
                <a16:creationId xmlns:a16="http://schemas.microsoft.com/office/drawing/2014/main" id="{B8470FC3-1B02-4AB8-A5B5-E30E722C1BED}"/>
              </a:ext>
            </a:extLst>
          </p:cNvPr>
          <p:cNvSpPr>
            <a:spLocks xmlns:a="http://schemas.openxmlformats.org/drawingml/2006/main" noGrp="1"/>
          </p:cNvSpPr>
          <p:nvPr/>
        </p:nvSpPr>
        <p:spPr>
          <a:xfrm xmlns:a="http://schemas.openxmlformats.org/drawingml/2006/main">
            <a:off x="571500" y="838200"/>
            <a:ext cx="10906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975" b="0" i="0">
                <a:solidFill>
                  <a:srgbClr val="5B5B5B"/>
                </a:solidFill>
                <a:latin typeface="Yu Gothic"/>
                <a:ea typeface="Yu Gothic"/>
                <a:cs typeface="Yu Gothic"/>
              </a:defRPr>
            </a:pPr>
            <a:r>
              <a:rPr sz="975" b="0" i="0">
                <a:solidFill>
                  <a:srgbClr val="5B5B5B"/>
                </a:solidFill>
                <a:latin typeface="Yu Gothic"/>
                <a:ea typeface="Yu Gothic"/>
                <a:cs typeface="Yu Gothic"/>
              </a:rPr>
              <a:t>各グラフの完全な出典パスと数値条件はspeaker notesに記載</a:t>
            </a:r>
          </a:p>
        </p:txBody>
      </p:sp>
      <p:sp>
        <p:nvSpPr>
          <p:cNvPr id="5" name="">
            <a:extLst xmlns:a="http://schemas.openxmlformats.org/drawingml/2006/main">
              <a:ext uri="{FF2B5EF4-FFF2-40B4-BE49-F238E27FC236}">
                <a16:creationId xmlns:a16="http://schemas.microsoft.com/office/drawing/2014/main" id="{7A339199-DF63-4D1A-AF5F-86F281B3BD3A}"/>
              </a:ext>
            </a:extLst>
          </p:cNvPr>
          <p:cNvSpPr>
            <a:spLocks xmlns:a="http://schemas.openxmlformats.org/drawingml/2006/main" noGrp="1"/>
          </p:cNvSpPr>
          <p:nvPr/>
        </p:nvSpPr>
        <p:spPr>
          <a:xfrm xmlns:a="http://schemas.openxmlformats.org/drawingml/2006/main">
            <a:off x="552450" y="1152525"/>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6" name="">
            <a:extLst xmlns:a="http://schemas.openxmlformats.org/drawingml/2006/main">
              <a:ext uri="{FF2B5EF4-FFF2-40B4-BE49-F238E27FC236}">
                <a16:creationId xmlns:a16="http://schemas.microsoft.com/office/drawing/2014/main" id="{0FD64371-8CD8-4688-8E0E-74A6B9DA97A5}"/>
              </a:ext>
            </a:extLst>
          </p:cNvPr>
          <p:cNvSpPr>
            <a:spLocks xmlns:a="http://schemas.openxmlformats.org/drawingml/2006/main" noGrp="1"/>
          </p:cNvSpPr>
          <p:nvPr/>
        </p:nvSpPr>
        <p:spPr>
          <a:xfrm xmlns:a="http://schemas.openxmlformats.org/drawingml/2006/main">
            <a:off x="552450" y="6438900"/>
            <a:ext cx="11087100" cy="0"/>
          </a:xfrm>
          <a:prstGeom xmlns:a="http://schemas.openxmlformats.org/drawingml/2006/main" prst="line">
            <a:avLst/>
          </a:prstGeom>
          <a:noFill xmlns:a="http://schemas.openxmlformats.org/drawingml/2006/main"/>
          <a:ln xmlns:a="http://schemas.openxmlformats.org/drawingml/2006/main" w="9525">
            <a:solidFill>
              <a:srgbClr val="D6D6D6"/>
            </a:solidFill>
            <a:prstDash val="solid"/>
          </a:ln>
        </p:spPr>
      </p:sp>
      <p:sp>
        <p:nvSpPr>
          <p:cNvPr id="7" name="">
            <a:extLst xmlns:a="http://schemas.openxmlformats.org/drawingml/2006/main">
              <a:ext uri="{FF2B5EF4-FFF2-40B4-BE49-F238E27FC236}">
                <a16:creationId xmlns:a16="http://schemas.microsoft.com/office/drawing/2014/main" id="{C371135F-3891-4803-AD8B-9AD16314F13A}"/>
              </a:ext>
            </a:extLst>
          </p:cNvPr>
          <p:cNvSpPr>
            <a:spLocks xmlns:a="http://schemas.openxmlformats.org/drawingml/2006/main" noGrp="1"/>
          </p:cNvSpPr>
          <p:nvPr/>
        </p:nvSpPr>
        <p:spPr>
          <a:xfrm xmlns:a="http://schemas.openxmlformats.org/drawingml/2006/main">
            <a:off x="571500" y="650557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28575" tIns="19050" rIns="28575" bIns="19050" anchor="ctr">
            <a:noAutofit/>
          </a:bodyPr>
          <a:lstStyle xmlns:a="http://schemas.openxmlformats.org/drawingml/2006/main"/>
          <a:p xmlns:a="http://schemas.openxmlformats.org/drawingml/2006/main">
            <a:pPr algn="l">
              <a:lnSpc>
                <a:spcPct val="100000"/>
              </a:lnSpc>
              <a:buNone/>
              <a:defRPr sz="713" b="0" i="0">
                <a:solidFill>
                  <a:srgbClr val="777777"/>
                </a:solidFill>
                <a:latin typeface="Yu Gothic"/>
                <a:ea typeface="Yu Gothic"/>
                <a:cs typeface="Yu Gothic"/>
              </a:defRPr>
            </a:pPr>
            <a:r>
              <a:rPr sz="713" b="0" i="0">
                <a:solidFill>
                  <a:srgbClr val="777777"/>
                </a:solidFill>
                <a:latin typeface="Yu Gothic"/>
                <a:ea typeface="Yu Gothic"/>
                <a:cs typeface="Yu Gothic"/>
              </a:rPr>
              <a:t>THERMAL RC / EQUIPMENT ENGINEERING REVIEW  ·  2026-09-17</a:t>
            </a:r>
          </a:p>
        </p:txBody>
      </p:sp>
      <p:sp>
        <p:nvSpPr>
          <p:cNvPr id="8" name="">
            <a:extLst xmlns:a="http://schemas.openxmlformats.org/drawingml/2006/main">
              <a:ext uri="{FF2B5EF4-FFF2-40B4-BE49-F238E27FC236}">
                <a16:creationId xmlns:a16="http://schemas.microsoft.com/office/drawing/2014/main" id="{6A16D634-D057-48B8-8C28-8B9A1F5C957A}"/>
              </a:ext>
            </a:extLst>
          </p:cNvPr>
          <p:cNvSpPr>
            <a:spLocks xmlns:a="http://schemas.openxmlformats.org/drawingml/2006/main" noGrp="1"/>
          </p:cNvSpPr>
          <p:nvPr/>
        </p:nvSpPr>
        <p:spPr>
          <a:xfrm xmlns:a="http://schemas.openxmlformats.org/drawingml/2006/main">
            <a:off x="11125200" y="6496050"/>
            <a:ext cx="47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Autofit/>
          </a:bodyPr>
          <a:lstStyle xmlns:a="http://schemas.openxmlformats.org/drawingml/2006/main"/>
          <a:p xmlns:a="http://schemas.openxmlformats.org/drawingml/2006/main">
            <a:pPr algn="r">
              <a:lnSpc>
                <a:spcPct val="100000"/>
              </a:lnSpc>
              <a:buNone/>
              <a:defRPr sz="750" b="1" i="0">
                <a:solidFill>
                  <a:srgbClr val="777777"/>
                </a:solidFill>
                <a:latin typeface="Yu Gothic"/>
                <a:ea typeface="Yu Gothic"/>
                <a:cs typeface="Yu Gothic"/>
              </a:defRPr>
            </a:pPr>
            <a:r>
              <a:rPr sz="750" b="1" i="0">
                <a:solidFill>
                  <a:srgbClr val="777777"/>
                </a:solidFill>
                <a:latin typeface="Yu Gothic"/>
                <a:ea typeface="Yu Gothic"/>
                <a:cs typeface="Yu Gothic"/>
              </a:rPr>
              <a:t>29</a:t>
            </a:r>
          </a:p>
        </p:txBody>
      </p:sp>
      <p:sp>
        <p:nvSpPr>
          <p:cNvPr id="9" name="">
            <a:extLst xmlns:a="http://schemas.openxmlformats.org/drawingml/2006/main">
              <a:ext uri="{FF2B5EF4-FFF2-40B4-BE49-F238E27FC236}">
                <a16:creationId xmlns:a16="http://schemas.microsoft.com/office/drawing/2014/main" id="{802ED198-C423-4DE0-8E7F-00A57846EB55}"/>
              </a:ext>
            </a:extLst>
          </p:cNvPr>
          <p:cNvSpPr>
            <a:spLocks xmlns:a="http://schemas.openxmlformats.org/drawingml/2006/main" noGrp="1"/>
          </p:cNvSpPr>
          <p:nvPr/>
        </p:nvSpPr>
        <p:spPr>
          <a:xfrm xmlns:a="http://schemas.openxmlformats.org/drawingml/2006/main">
            <a:off x="552450" y="1381125"/>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Repository evidence</a:t>
            </a:r>
          </a:p>
        </p:txBody>
      </p:sp>
      <p:sp>
        <p:nvSpPr>
          <p:cNvPr id="10" name="">
            <a:extLst xmlns:a="http://schemas.openxmlformats.org/drawingml/2006/main">
              <a:ext uri="{FF2B5EF4-FFF2-40B4-BE49-F238E27FC236}">
                <a16:creationId xmlns:a16="http://schemas.microsoft.com/office/drawing/2014/main" id="{9245BEE4-DA77-4A53-8B8A-227E250E42D0}"/>
              </a:ext>
            </a:extLst>
          </p:cNvPr>
          <p:cNvSpPr>
            <a:spLocks xmlns:a="http://schemas.openxmlformats.org/drawingml/2006/main" noGrp="1"/>
          </p:cNvSpPr>
          <p:nvPr/>
        </p:nvSpPr>
        <p:spPr>
          <a:xfrm xmlns:a="http://schemas.openxmlformats.org/drawingml/2006/main">
            <a:off x="552450" y="17716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[E1]</a:t>
            </a:r>
          </a:p>
        </p:txBody>
      </p:sp>
      <p:sp>
        <p:nvSpPr>
          <p:cNvPr id="11" name="">
            <a:extLst xmlns:a="http://schemas.openxmlformats.org/drawingml/2006/main">
              <a:ext uri="{FF2B5EF4-FFF2-40B4-BE49-F238E27FC236}">
                <a16:creationId xmlns:a16="http://schemas.microsoft.com/office/drawing/2014/main" id="{49170425-2A64-4BA7-AF13-3622B4136C64}"/>
              </a:ext>
            </a:extLst>
          </p:cNvPr>
          <p:cNvSpPr>
            <a:spLocks xmlns:a="http://schemas.openxmlformats.org/drawingml/2006/main" noGrp="1"/>
          </p:cNvSpPr>
          <p:nvPr/>
        </p:nvSpPr>
        <p:spPr>
          <a:xfrm xmlns:a="http://schemas.openxmlformats.org/drawingml/2006/main">
            <a:off x="1200150" y="17716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Technical specification</a:t>
            </a:r>
          </a:p>
        </p:txBody>
      </p:sp>
      <p:sp>
        <p:nvSpPr>
          <p:cNvPr id="12" name="">
            <a:extLst xmlns:a="http://schemas.openxmlformats.org/drawingml/2006/main">
              <a:ext uri="{FF2B5EF4-FFF2-40B4-BE49-F238E27FC236}">
                <a16:creationId xmlns:a16="http://schemas.microsoft.com/office/drawing/2014/main" id="{0E2A94AC-4AFB-42C5-BDE9-CDE4BA1F9B92}"/>
              </a:ext>
            </a:extLst>
          </p:cNvPr>
          <p:cNvSpPr>
            <a:spLocks xmlns:a="http://schemas.openxmlformats.org/drawingml/2006/main" noGrp="1"/>
          </p:cNvSpPr>
          <p:nvPr/>
        </p:nvSpPr>
        <p:spPr>
          <a:xfrm xmlns:a="http://schemas.openxmlformats.org/drawingml/2006/main">
            <a:off x="1200150" y="20097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docs/technical_specification.md</a:t>
            </a:r>
          </a:p>
        </p:txBody>
      </p:sp>
      <p:sp>
        <p:nvSpPr>
          <p:cNvPr id="13" name="">
            <a:extLst xmlns:a="http://schemas.openxmlformats.org/drawingml/2006/main">
              <a:ext uri="{FF2B5EF4-FFF2-40B4-BE49-F238E27FC236}">
                <a16:creationId xmlns:a16="http://schemas.microsoft.com/office/drawing/2014/main" id="{CC30C29C-6766-4B95-8CA9-4DAB4C7931E7}"/>
              </a:ext>
            </a:extLst>
          </p:cNvPr>
          <p:cNvSpPr>
            <a:spLocks xmlns:a="http://schemas.openxmlformats.org/drawingml/2006/main" noGrp="1"/>
          </p:cNvSpPr>
          <p:nvPr/>
        </p:nvSpPr>
        <p:spPr>
          <a:xfrm xmlns:a="http://schemas.openxmlformats.org/drawingml/2006/main">
            <a:off x="552450" y="23812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[E2]</a:t>
            </a:r>
          </a:p>
        </p:txBody>
      </p:sp>
      <p:sp>
        <p:nvSpPr>
          <p:cNvPr id="14" name="">
            <a:extLst xmlns:a="http://schemas.openxmlformats.org/drawingml/2006/main">
              <a:ext uri="{FF2B5EF4-FFF2-40B4-BE49-F238E27FC236}">
                <a16:creationId xmlns:a16="http://schemas.microsoft.com/office/drawing/2014/main" id="{F24901FC-00AB-4FE5-8334-981BD84DE86E}"/>
              </a:ext>
            </a:extLst>
          </p:cNvPr>
          <p:cNvSpPr>
            <a:spLocks xmlns:a="http://schemas.openxmlformats.org/drawingml/2006/main" noGrp="1"/>
          </p:cNvSpPr>
          <p:nvPr/>
        </p:nvSpPr>
        <p:spPr>
          <a:xfrm xmlns:a="http://schemas.openxmlformats.org/drawingml/2006/main">
            <a:off x="1200150" y="23812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TopCell benchmark</a:t>
            </a:r>
          </a:p>
        </p:txBody>
      </p:sp>
      <p:sp>
        <p:nvSpPr>
          <p:cNvPr id="15" name="">
            <a:extLst xmlns:a="http://schemas.openxmlformats.org/drawingml/2006/main">
              <a:ext uri="{FF2B5EF4-FFF2-40B4-BE49-F238E27FC236}">
                <a16:creationId xmlns:a16="http://schemas.microsoft.com/office/drawing/2014/main" id="{46687DE5-DDF1-4366-88CB-9B9F4652466C}"/>
              </a:ext>
            </a:extLst>
          </p:cNvPr>
          <p:cNvSpPr>
            <a:spLocks xmlns:a="http://schemas.openxmlformats.org/drawingml/2006/main" noGrp="1"/>
          </p:cNvSpPr>
          <p:nvPr/>
        </p:nvSpPr>
        <p:spPr>
          <a:xfrm xmlns:a="http://schemas.openxmlformats.org/drawingml/2006/main">
            <a:off x="1200150" y="26193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benchmarks/topcell/work/outputs/benchmark/</a:t>
            </a:r>
          </a:p>
        </p:txBody>
      </p:sp>
      <p:sp>
        <p:nvSpPr>
          <p:cNvPr id="16" name="">
            <a:extLst xmlns:a="http://schemas.openxmlformats.org/drawingml/2006/main">
              <a:ext uri="{FF2B5EF4-FFF2-40B4-BE49-F238E27FC236}">
                <a16:creationId xmlns:a16="http://schemas.microsoft.com/office/drawing/2014/main" id="{8922F23B-5691-496F-A176-67D605549B4C}"/>
              </a:ext>
            </a:extLst>
          </p:cNvPr>
          <p:cNvSpPr>
            <a:spLocks xmlns:a="http://schemas.openxmlformats.org/drawingml/2006/main" noGrp="1"/>
          </p:cNvSpPr>
          <p:nvPr/>
        </p:nvSpPr>
        <p:spPr>
          <a:xfrm xmlns:a="http://schemas.openxmlformats.org/drawingml/2006/main">
            <a:off x="552450" y="29908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[E3]</a:t>
            </a:r>
          </a:p>
        </p:txBody>
      </p:sp>
      <p:sp>
        <p:nvSpPr>
          <p:cNvPr id="17" name="">
            <a:extLst xmlns:a="http://schemas.openxmlformats.org/drawingml/2006/main">
              <a:ext uri="{FF2B5EF4-FFF2-40B4-BE49-F238E27FC236}">
                <a16:creationId xmlns:a16="http://schemas.microsoft.com/office/drawing/2014/main" id="{B6C0BDD2-20A8-4B78-990D-165274569823}"/>
              </a:ext>
            </a:extLst>
          </p:cNvPr>
          <p:cNvSpPr>
            <a:spLocks xmlns:a="http://schemas.openxmlformats.org/drawingml/2006/main" noGrp="1"/>
          </p:cNvSpPr>
          <p:nvPr/>
        </p:nvSpPr>
        <p:spPr>
          <a:xfrm xmlns:a="http://schemas.openxmlformats.org/drawingml/2006/main">
            <a:off x="1200150" y="29908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Linear COMSOL evaluation</a:t>
            </a:r>
          </a:p>
        </p:txBody>
      </p:sp>
      <p:sp>
        <p:nvSpPr>
          <p:cNvPr id="18" name="">
            <a:extLst xmlns:a="http://schemas.openxmlformats.org/drawingml/2006/main">
              <a:ext uri="{FF2B5EF4-FFF2-40B4-BE49-F238E27FC236}">
                <a16:creationId xmlns:a16="http://schemas.microsoft.com/office/drawing/2014/main" id="{8B0680ED-575F-408A-8919-99E6ECCB177C}"/>
              </a:ext>
            </a:extLst>
          </p:cNvPr>
          <p:cNvSpPr>
            <a:spLocks xmlns:a="http://schemas.openxmlformats.org/drawingml/2006/main" noGrp="1"/>
          </p:cNvSpPr>
          <p:nvPr/>
        </p:nvSpPr>
        <p:spPr>
          <a:xfrm xmlns:a="http://schemas.openxmlformats.org/drawingml/2006/main">
            <a:off x="1200150" y="32289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external_tools/comsol_chip_cooling/work/evaluation/</a:t>
            </a:r>
          </a:p>
        </p:txBody>
      </p:sp>
      <p:sp>
        <p:nvSpPr>
          <p:cNvPr id="19" name="">
            <a:extLst xmlns:a="http://schemas.openxmlformats.org/drawingml/2006/main">
              <a:ext uri="{FF2B5EF4-FFF2-40B4-BE49-F238E27FC236}">
                <a16:creationId xmlns:a16="http://schemas.microsoft.com/office/drawing/2014/main" id="{283C19ED-C622-419A-B021-DA1940CCF6E3}"/>
              </a:ext>
            </a:extLst>
          </p:cNvPr>
          <p:cNvSpPr>
            <a:spLocks xmlns:a="http://schemas.openxmlformats.org/drawingml/2006/main" noGrp="1"/>
          </p:cNvSpPr>
          <p:nvPr/>
        </p:nvSpPr>
        <p:spPr>
          <a:xfrm xmlns:a="http://schemas.openxmlformats.org/drawingml/2006/main">
            <a:off x="552450" y="36004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[E4]</a:t>
            </a:r>
          </a:p>
        </p:txBody>
      </p:sp>
      <p:sp>
        <p:nvSpPr>
          <p:cNvPr id="20" name="">
            <a:extLst xmlns:a="http://schemas.openxmlformats.org/drawingml/2006/main">
              <a:ext uri="{FF2B5EF4-FFF2-40B4-BE49-F238E27FC236}">
                <a16:creationId xmlns:a16="http://schemas.microsoft.com/office/drawing/2014/main" id="{C3757D6C-E1E9-4229-9455-E641C671E10A}"/>
              </a:ext>
            </a:extLst>
          </p:cNvPr>
          <p:cNvSpPr>
            <a:spLocks xmlns:a="http://schemas.openxmlformats.org/drawingml/2006/main" noGrp="1"/>
          </p:cNvSpPr>
          <p:nvPr/>
        </p:nvSpPr>
        <p:spPr>
          <a:xfrm xmlns:a="http://schemas.openxmlformats.org/drawingml/2006/main">
            <a:off x="1200150" y="36004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Monitor traces</a:t>
            </a:r>
          </a:p>
        </p:txBody>
      </p:sp>
      <p:sp>
        <p:nvSpPr>
          <p:cNvPr id="21" name="">
            <a:extLst xmlns:a="http://schemas.openxmlformats.org/drawingml/2006/main">
              <a:ext uri="{FF2B5EF4-FFF2-40B4-BE49-F238E27FC236}">
                <a16:creationId xmlns:a16="http://schemas.microsoft.com/office/drawing/2014/main" id="{294FF4F3-A2ED-49C1-A04E-5726001E42EA}"/>
              </a:ext>
            </a:extLst>
          </p:cNvPr>
          <p:cNvSpPr>
            <a:spLocks xmlns:a="http://schemas.openxmlformats.org/drawingml/2006/main" noGrp="1"/>
          </p:cNvSpPr>
          <p:nvPr/>
        </p:nvSpPr>
        <p:spPr>
          <a:xfrm xmlns:a="http://schemas.openxmlformats.org/drawingml/2006/main">
            <a:off x="1200150" y="38385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external_tools/comsol_chip_cooling/work/outputs/monitor/</a:t>
            </a:r>
          </a:p>
        </p:txBody>
      </p:sp>
      <p:sp>
        <p:nvSpPr>
          <p:cNvPr id="22" name="">
            <a:extLst xmlns:a="http://schemas.openxmlformats.org/drawingml/2006/main">
              <a:ext uri="{FF2B5EF4-FFF2-40B4-BE49-F238E27FC236}">
                <a16:creationId xmlns:a16="http://schemas.microsoft.com/office/drawing/2014/main" id="{8E4200B8-9A40-438A-A24A-1ABFBDF4836A}"/>
              </a:ext>
            </a:extLst>
          </p:cNvPr>
          <p:cNvSpPr>
            <a:spLocks xmlns:a="http://schemas.openxmlformats.org/drawingml/2006/main" noGrp="1"/>
          </p:cNvSpPr>
          <p:nvPr/>
        </p:nvSpPr>
        <p:spPr>
          <a:xfrm xmlns:a="http://schemas.openxmlformats.org/drawingml/2006/main">
            <a:off x="552450" y="4210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[E5]</a:t>
            </a:r>
          </a:p>
        </p:txBody>
      </p:sp>
      <p:sp>
        <p:nvSpPr>
          <p:cNvPr id="23" name="">
            <a:extLst xmlns:a="http://schemas.openxmlformats.org/drawingml/2006/main">
              <a:ext uri="{FF2B5EF4-FFF2-40B4-BE49-F238E27FC236}">
                <a16:creationId xmlns:a16="http://schemas.microsoft.com/office/drawing/2014/main" id="{1B2972AA-0FC1-47FD-90CC-3CBE745BA497}"/>
              </a:ext>
            </a:extLst>
          </p:cNvPr>
          <p:cNvSpPr>
            <a:spLocks xmlns:a="http://schemas.openxmlformats.org/drawingml/2006/main" noGrp="1"/>
          </p:cNvSpPr>
          <p:nvPr/>
        </p:nvSpPr>
        <p:spPr>
          <a:xfrm xmlns:a="http://schemas.openxmlformats.org/drawingml/2006/main">
            <a:off x="1200150" y="42100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CAE report source data</a:t>
            </a:r>
          </a:p>
        </p:txBody>
      </p:sp>
      <p:sp>
        <p:nvSpPr>
          <p:cNvPr id="24" name="">
            <a:extLst xmlns:a="http://schemas.openxmlformats.org/drawingml/2006/main">
              <a:ext uri="{FF2B5EF4-FFF2-40B4-BE49-F238E27FC236}">
                <a16:creationId xmlns:a16="http://schemas.microsoft.com/office/drawing/2014/main" id="{985CD244-0CFF-45B5-B3C3-33E6D5B2F58E}"/>
              </a:ext>
            </a:extLst>
          </p:cNvPr>
          <p:cNvSpPr>
            <a:spLocks xmlns:a="http://schemas.openxmlformats.org/drawingml/2006/main" noGrp="1"/>
          </p:cNvSpPr>
          <p:nvPr/>
        </p:nvSpPr>
        <p:spPr>
          <a:xfrm xmlns:a="http://schemas.openxmlformats.org/drawingml/2006/main">
            <a:off x="1200150" y="44481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external_tools/.../reports/cae_benchmark_report/source_data/</a:t>
            </a:r>
          </a:p>
        </p:txBody>
      </p:sp>
      <p:sp>
        <p:nvSpPr>
          <p:cNvPr id="25" name="">
            <a:extLst xmlns:a="http://schemas.openxmlformats.org/drawingml/2006/main">
              <a:ext uri="{FF2B5EF4-FFF2-40B4-BE49-F238E27FC236}">
                <a16:creationId xmlns:a16="http://schemas.microsoft.com/office/drawing/2014/main" id="{D886B7F1-41AC-4079-B991-962D9462E93C}"/>
              </a:ext>
            </a:extLst>
          </p:cNvPr>
          <p:cNvSpPr>
            <a:spLocks xmlns:a="http://schemas.openxmlformats.org/drawingml/2006/main" noGrp="1"/>
          </p:cNvSpPr>
          <p:nvPr/>
        </p:nvSpPr>
        <p:spPr>
          <a:xfrm xmlns:a="http://schemas.openxmlformats.org/drawingml/2006/main">
            <a:off x="552450" y="48196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007FA8"/>
                </a:solidFill>
                <a:latin typeface="Yu Gothic"/>
                <a:ea typeface="Yu Gothic"/>
                <a:cs typeface="Yu Gothic"/>
              </a:defRPr>
            </a:pPr>
            <a:r>
              <a:rPr sz="825" b="1" i="0">
                <a:solidFill>
                  <a:srgbClr val="007FA8"/>
                </a:solidFill>
                <a:latin typeface="Yu Gothic"/>
                <a:ea typeface="Yu Gothic"/>
                <a:cs typeface="Yu Gothic"/>
              </a:rPr>
              <a:t>[E6]</a:t>
            </a:r>
          </a:p>
        </p:txBody>
      </p:sp>
      <p:sp>
        <p:nvSpPr>
          <p:cNvPr id="26" name="">
            <a:extLst xmlns:a="http://schemas.openxmlformats.org/drawingml/2006/main">
              <a:ext uri="{FF2B5EF4-FFF2-40B4-BE49-F238E27FC236}">
                <a16:creationId xmlns:a16="http://schemas.microsoft.com/office/drawing/2014/main" id="{90D08A74-A60F-47F3-94EE-B0E05071BF1F}"/>
              </a:ext>
            </a:extLst>
          </p:cNvPr>
          <p:cNvSpPr>
            <a:spLocks xmlns:a="http://schemas.openxmlformats.org/drawingml/2006/main" noGrp="1"/>
          </p:cNvSpPr>
          <p:nvPr/>
        </p:nvSpPr>
        <p:spPr>
          <a:xfrm xmlns:a="http://schemas.openxmlformats.org/drawingml/2006/main">
            <a:off x="1200150" y="4819650"/>
            <a:ext cx="433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013" b="1" i="0">
                <a:solidFill>
                  <a:srgbClr val="5B5B5B"/>
                </a:solidFill>
                <a:latin typeface="Yu Gothic"/>
                <a:ea typeface="Yu Gothic"/>
                <a:cs typeface="Yu Gothic"/>
              </a:defRPr>
            </a:pPr>
            <a:r>
              <a:rPr sz="1013" b="1" i="0">
                <a:solidFill>
                  <a:srgbClr val="5B5B5B"/>
                </a:solidFill>
                <a:latin typeface="Yu Gothic"/>
                <a:ea typeface="Yu Gothic"/>
                <a:cs typeface="Yu Gothic"/>
              </a:rPr>
              <a:t>High-fidelity validation</a:t>
            </a:r>
          </a:p>
        </p:txBody>
      </p:sp>
      <p:sp>
        <p:nvSpPr>
          <p:cNvPr id="27" name="">
            <a:extLst xmlns:a="http://schemas.openxmlformats.org/drawingml/2006/main">
              <a:ext uri="{FF2B5EF4-FFF2-40B4-BE49-F238E27FC236}">
                <a16:creationId xmlns:a16="http://schemas.microsoft.com/office/drawing/2014/main" id="{4BE3C2EC-1BD0-44E9-8E28-A27F17FBA174}"/>
              </a:ext>
            </a:extLst>
          </p:cNvPr>
          <p:cNvSpPr>
            <a:spLocks xmlns:a="http://schemas.openxmlformats.org/drawingml/2006/main" noGrp="1"/>
          </p:cNvSpPr>
          <p:nvPr/>
        </p:nvSpPr>
        <p:spPr>
          <a:xfrm xmlns:a="http://schemas.openxmlformats.org/drawingml/2006/main">
            <a:off x="1200150" y="5057775"/>
            <a:ext cx="43338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35" b="0" i="0">
                <a:solidFill>
                  <a:srgbClr val="777777"/>
                </a:solidFill>
                <a:latin typeface="Yu Gothic"/>
                <a:ea typeface="Yu Gothic"/>
                <a:cs typeface="Yu Gothic"/>
              </a:defRPr>
            </a:pPr>
            <a:r>
              <a:rPr sz="735" b="0" i="0">
                <a:solidFill>
                  <a:srgbClr val="777777"/>
                </a:solidFill>
                <a:latin typeface="Yu Gothic"/>
                <a:ea typeface="Yu Gothic"/>
                <a:cs typeface="Yu Gothic"/>
              </a:rPr>
              <a:t>external_tools/comsol_chip_cooling/docs/high_fidelity_validation.md</a:t>
            </a:r>
          </a:p>
        </p:txBody>
      </p:sp>
      <p:sp>
        <p:nvSpPr>
          <p:cNvPr id="28" name="">
            <a:extLst xmlns:a="http://schemas.openxmlformats.org/drawingml/2006/main">
              <a:ext uri="{FF2B5EF4-FFF2-40B4-BE49-F238E27FC236}">
                <a16:creationId xmlns:a16="http://schemas.microsoft.com/office/drawing/2014/main" id="{7E1E51BD-74E6-40EE-90EE-A5C3764D0791}"/>
              </a:ext>
            </a:extLst>
          </p:cNvPr>
          <p:cNvSpPr>
            <a:spLocks xmlns:a="http://schemas.openxmlformats.org/drawingml/2006/main" noGrp="1"/>
          </p:cNvSpPr>
          <p:nvPr/>
        </p:nvSpPr>
        <p:spPr>
          <a:xfrm xmlns:a="http://schemas.openxmlformats.org/drawingml/2006/main">
            <a:off x="6381750" y="1381125"/>
            <a:ext cx="525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1350" b="1" i="0">
                <a:solidFill>
                  <a:srgbClr val="3F3F3F"/>
                </a:solidFill>
                <a:latin typeface="Yu Gothic"/>
                <a:ea typeface="Yu Gothic"/>
                <a:cs typeface="Yu Gothic"/>
              </a:defRPr>
            </a:pPr>
            <a:r>
              <a:rPr sz="1350" b="1" i="0">
                <a:solidFill>
                  <a:srgbClr val="3F3F3F"/>
                </a:solidFill>
                <a:latin typeface="Yu Gothic"/>
                <a:ea typeface="Yu Gothic"/>
                <a:cs typeface="Yu Gothic"/>
              </a:rPr>
              <a:t>Theory and methods</a:t>
            </a:r>
          </a:p>
        </p:txBody>
      </p:sp>
      <p:sp>
        <p:nvSpPr>
          <p:cNvPr id="29" name="">
            <a:extLst xmlns:a="http://schemas.openxmlformats.org/drawingml/2006/main">
              <a:ext uri="{FF2B5EF4-FFF2-40B4-BE49-F238E27FC236}">
                <a16:creationId xmlns:a16="http://schemas.microsoft.com/office/drawing/2014/main" id="{35EB3E04-AA44-4EC9-ADD5-FC289663DB1D}"/>
              </a:ext>
            </a:extLst>
          </p:cNvPr>
          <p:cNvSpPr>
            <a:spLocks xmlns:a="http://schemas.openxmlformats.org/drawingml/2006/main" noGrp="1"/>
          </p:cNvSpPr>
          <p:nvPr/>
        </p:nvSpPr>
        <p:spPr>
          <a:xfrm xmlns:a="http://schemas.openxmlformats.org/drawingml/2006/main">
            <a:off x="6381750" y="17430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[R1]</a:t>
            </a:r>
          </a:p>
        </p:txBody>
      </p:sp>
      <p:sp>
        <p:nvSpPr>
          <p:cNvPr id="30" name="">
            <a:extLst xmlns:a="http://schemas.openxmlformats.org/drawingml/2006/main">
              <a:ext uri="{FF2B5EF4-FFF2-40B4-BE49-F238E27FC236}">
                <a16:creationId xmlns:a16="http://schemas.microsoft.com/office/drawing/2014/main" id="{643C2655-D456-4E63-912A-D3F85C02ED78}"/>
              </a:ext>
            </a:extLst>
          </p:cNvPr>
          <p:cNvSpPr>
            <a:spLocks xmlns:a="http://schemas.openxmlformats.org/drawingml/2006/main" noGrp="1"/>
          </p:cNvSpPr>
          <p:nvPr/>
        </p:nvSpPr>
        <p:spPr>
          <a:xfrm xmlns:a="http://schemas.openxmlformats.org/drawingml/2006/main">
            <a:off x="7029450" y="17430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Huang et al. (2006)</a:t>
            </a:r>
          </a:p>
        </p:txBody>
      </p:sp>
      <p:sp>
        <p:nvSpPr>
          <p:cNvPr id="31" name="">
            <a:extLst xmlns:a="http://schemas.openxmlformats.org/drawingml/2006/main">
              <a:ext uri="{FF2B5EF4-FFF2-40B4-BE49-F238E27FC236}">
                <a16:creationId xmlns:a16="http://schemas.microsoft.com/office/drawing/2014/main" id="{815C2E22-5555-408C-BEAB-03132C214F0D}"/>
              </a:ext>
            </a:extLst>
          </p:cNvPr>
          <p:cNvSpPr>
            <a:spLocks xmlns:a="http://schemas.openxmlformats.org/drawingml/2006/main" noGrp="1"/>
          </p:cNvSpPr>
          <p:nvPr/>
        </p:nvSpPr>
        <p:spPr>
          <a:xfrm xmlns:a="http://schemas.openxmlformats.org/drawingml/2006/main">
            <a:off x="7029450" y="19621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HotSpot compact thermal modeling, IEEE TVLSI</a:t>
            </a:r>
          </a:p>
        </p:txBody>
      </p:sp>
      <p:sp>
        <p:nvSpPr>
          <p:cNvPr id="32" name="">
            <a:extLst xmlns:a="http://schemas.openxmlformats.org/drawingml/2006/main">
              <a:ext uri="{FF2B5EF4-FFF2-40B4-BE49-F238E27FC236}">
                <a16:creationId xmlns:a16="http://schemas.microsoft.com/office/drawing/2014/main" id="{CCFE8C11-1408-4D85-A6EC-D3E3BD68B6AA}"/>
              </a:ext>
            </a:extLst>
          </p:cNvPr>
          <p:cNvSpPr>
            <a:spLocks xmlns:a="http://schemas.openxmlformats.org/drawingml/2006/main" noGrp="1"/>
          </p:cNvSpPr>
          <p:nvPr/>
        </p:nvSpPr>
        <p:spPr>
          <a:xfrm xmlns:a="http://schemas.openxmlformats.org/drawingml/2006/main">
            <a:off x="6381750" y="22383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[R2]</a:t>
            </a:r>
          </a:p>
        </p:txBody>
      </p:sp>
      <p:sp>
        <p:nvSpPr>
          <p:cNvPr id="33" name="">
            <a:extLst xmlns:a="http://schemas.openxmlformats.org/drawingml/2006/main">
              <a:ext uri="{FF2B5EF4-FFF2-40B4-BE49-F238E27FC236}">
                <a16:creationId xmlns:a16="http://schemas.microsoft.com/office/drawing/2014/main" id="{A76A5134-E453-4E47-9672-6CB99530DE84}"/>
              </a:ext>
            </a:extLst>
          </p:cNvPr>
          <p:cNvSpPr>
            <a:spLocks xmlns:a="http://schemas.openxmlformats.org/drawingml/2006/main" noGrp="1"/>
          </p:cNvSpPr>
          <p:nvPr/>
        </p:nvSpPr>
        <p:spPr>
          <a:xfrm xmlns:a="http://schemas.openxmlformats.org/drawingml/2006/main">
            <a:off x="7029450" y="22383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Farina &amp; Rinaldi (2000)</a:t>
            </a:r>
          </a:p>
        </p:txBody>
      </p:sp>
      <p:sp>
        <p:nvSpPr>
          <p:cNvPr id="34" name="">
            <a:extLst xmlns:a="http://schemas.openxmlformats.org/drawingml/2006/main">
              <a:ext uri="{FF2B5EF4-FFF2-40B4-BE49-F238E27FC236}">
                <a16:creationId xmlns:a16="http://schemas.microsoft.com/office/drawing/2014/main" id="{ABFC9E93-5E35-47BF-8AF8-863E96413580}"/>
              </a:ext>
            </a:extLst>
          </p:cNvPr>
          <p:cNvSpPr>
            <a:spLocks xmlns:a="http://schemas.openxmlformats.org/drawingml/2006/main" noGrp="1"/>
          </p:cNvSpPr>
          <p:nvPr/>
        </p:nvSpPr>
        <p:spPr>
          <a:xfrm xmlns:a="http://schemas.openxmlformats.org/drawingml/2006/main">
            <a:off x="7029450" y="24574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Positive Linear Systems</a:t>
            </a:r>
          </a:p>
        </p:txBody>
      </p:sp>
      <p:sp>
        <p:nvSpPr>
          <p:cNvPr id="35" name="">
            <a:extLst xmlns:a="http://schemas.openxmlformats.org/drawingml/2006/main">
              <a:ext uri="{FF2B5EF4-FFF2-40B4-BE49-F238E27FC236}">
                <a16:creationId xmlns:a16="http://schemas.microsoft.com/office/drawing/2014/main" id="{5654B47D-D330-4A1A-B3DA-27ED47B27A96}"/>
              </a:ext>
            </a:extLst>
          </p:cNvPr>
          <p:cNvSpPr>
            <a:spLocks xmlns:a="http://schemas.openxmlformats.org/drawingml/2006/main" noGrp="1"/>
          </p:cNvSpPr>
          <p:nvPr/>
        </p:nvSpPr>
        <p:spPr>
          <a:xfrm xmlns:a="http://schemas.openxmlformats.org/drawingml/2006/main">
            <a:off x="6381750" y="27336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[R3]</a:t>
            </a:r>
          </a:p>
        </p:txBody>
      </p:sp>
      <p:sp>
        <p:nvSpPr>
          <p:cNvPr id="36" name="">
            <a:extLst xmlns:a="http://schemas.openxmlformats.org/drawingml/2006/main">
              <a:ext uri="{FF2B5EF4-FFF2-40B4-BE49-F238E27FC236}">
                <a16:creationId xmlns:a16="http://schemas.microsoft.com/office/drawing/2014/main" id="{FE041BDF-BB7A-4B8A-A4E8-823505C6F1F7}"/>
              </a:ext>
            </a:extLst>
          </p:cNvPr>
          <p:cNvSpPr>
            <a:spLocks xmlns:a="http://schemas.openxmlformats.org/drawingml/2006/main" noGrp="1"/>
          </p:cNvSpPr>
          <p:nvPr/>
        </p:nvSpPr>
        <p:spPr>
          <a:xfrm xmlns:a="http://schemas.openxmlformats.org/drawingml/2006/main">
            <a:off x="7029450" y="27336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Kalman (1960)</a:t>
            </a:r>
          </a:p>
        </p:txBody>
      </p:sp>
      <p:sp>
        <p:nvSpPr>
          <p:cNvPr id="37" name="">
            <a:extLst xmlns:a="http://schemas.openxmlformats.org/drawingml/2006/main">
              <a:ext uri="{FF2B5EF4-FFF2-40B4-BE49-F238E27FC236}">
                <a16:creationId xmlns:a16="http://schemas.microsoft.com/office/drawing/2014/main" id="{DF51FAE0-9E45-4F72-85C8-0944B551D35D}"/>
              </a:ext>
            </a:extLst>
          </p:cNvPr>
          <p:cNvSpPr>
            <a:spLocks xmlns:a="http://schemas.openxmlformats.org/drawingml/2006/main" noGrp="1"/>
          </p:cNvSpPr>
          <p:nvPr/>
        </p:nvSpPr>
        <p:spPr>
          <a:xfrm xmlns:a="http://schemas.openxmlformats.org/drawingml/2006/main">
            <a:off x="7029450" y="29527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Linear filtering and prediction</a:t>
            </a:r>
          </a:p>
        </p:txBody>
      </p:sp>
      <p:sp>
        <p:nvSpPr>
          <p:cNvPr id="38" name="">
            <a:extLst xmlns:a="http://schemas.openxmlformats.org/drawingml/2006/main">
              <a:ext uri="{FF2B5EF4-FFF2-40B4-BE49-F238E27FC236}">
                <a16:creationId xmlns:a16="http://schemas.microsoft.com/office/drawing/2014/main" id="{41C814B5-FCDA-43A1-A3B2-CAF3744D5932}"/>
              </a:ext>
            </a:extLst>
          </p:cNvPr>
          <p:cNvSpPr>
            <a:spLocks xmlns:a="http://schemas.openxmlformats.org/drawingml/2006/main" noGrp="1"/>
          </p:cNvSpPr>
          <p:nvPr/>
        </p:nvSpPr>
        <p:spPr>
          <a:xfrm xmlns:a="http://schemas.openxmlformats.org/drawingml/2006/main">
            <a:off x="6381750" y="32289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[R4]</a:t>
            </a:r>
          </a:p>
        </p:txBody>
      </p:sp>
      <p:sp>
        <p:nvSpPr>
          <p:cNvPr id="39" name="">
            <a:extLst xmlns:a="http://schemas.openxmlformats.org/drawingml/2006/main">
              <a:ext uri="{FF2B5EF4-FFF2-40B4-BE49-F238E27FC236}">
                <a16:creationId xmlns:a16="http://schemas.microsoft.com/office/drawing/2014/main" id="{5EA4C9CF-C544-4231-A67B-307C04B65A3B}"/>
              </a:ext>
            </a:extLst>
          </p:cNvPr>
          <p:cNvSpPr>
            <a:spLocks xmlns:a="http://schemas.openxmlformats.org/drawingml/2006/main" noGrp="1"/>
          </p:cNvSpPr>
          <p:nvPr/>
        </p:nvSpPr>
        <p:spPr>
          <a:xfrm xmlns:a="http://schemas.openxmlformats.org/drawingml/2006/main">
            <a:off x="7029450" y="32289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Van Loan (1978)</a:t>
            </a:r>
          </a:p>
        </p:txBody>
      </p:sp>
      <p:sp>
        <p:nvSpPr>
          <p:cNvPr id="40" name="">
            <a:extLst xmlns:a="http://schemas.openxmlformats.org/drawingml/2006/main">
              <a:ext uri="{FF2B5EF4-FFF2-40B4-BE49-F238E27FC236}">
                <a16:creationId xmlns:a16="http://schemas.microsoft.com/office/drawing/2014/main" id="{7D0AB6D7-EE68-488E-A212-271A03ABF747}"/>
              </a:ext>
            </a:extLst>
          </p:cNvPr>
          <p:cNvSpPr>
            <a:spLocks xmlns:a="http://schemas.openxmlformats.org/drawingml/2006/main" noGrp="1"/>
          </p:cNvSpPr>
          <p:nvPr/>
        </p:nvSpPr>
        <p:spPr>
          <a:xfrm xmlns:a="http://schemas.openxmlformats.org/drawingml/2006/main">
            <a:off x="7029450" y="34480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Computing integrals involving the matrix exponential</a:t>
            </a:r>
          </a:p>
        </p:txBody>
      </p:sp>
      <p:sp>
        <p:nvSpPr>
          <p:cNvPr id="41" name="">
            <a:extLst xmlns:a="http://schemas.openxmlformats.org/drawingml/2006/main">
              <a:ext uri="{FF2B5EF4-FFF2-40B4-BE49-F238E27FC236}">
                <a16:creationId xmlns:a16="http://schemas.microsoft.com/office/drawing/2014/main" id="{3144D49E-B7A8-431B-BEC6-FA243101416F}"/>
              </a:ext>
            </a:extLst>
          </p:cNvPr>
          <p:cNvSpPr>
            <a:spLocks xmlns:a="http://schemas.openxmlformats.org/drawingml/2006/main" noGrp="1"/>
          </p:cNvSpPr>
          <p:nvPr/>
        </p:nvSpPr>
        <p:spPr>
          <a:xfrm xmlns:a="http://schemas.openxmlformats.org/drawingml/2006/main">
            <a:off x="6381750" y="37242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[R5]</a:t>
            </a:r>
          </a:p>
        </p:txBody>
      </p:sp>
      <p:sp>
        <p:nvSpPr>
          <p:cNvPr id="42" name="">
            <a:extLst xmlns:a="http://schemas.openxmlformats.org/drawingml/2006/main">
              <a:ext uri="{FF2B5EF4-FFF2-40B4-BE49-F238E27FC236}">
                <a16:creationId xmlns:a16="http://schemas.microsoft.com/office/drawing/2014/main" id="{04354236-2883-48D8-AB23-D05B96D93243}"/>
              </a:ext>
            </a:extLst>
          </p:cNvPr>
          <p:cNvSpPr>
            <a:spLocks xmlns:a="http://schemas.openxmlformats.org/drawingml/2006/main" noGrp="1"/>
          </p:cNvSpPr>
          <p:nvPr/>
        </p:nvSpPr>
        <p:spPr>
          <a:xfrm xmlns:a="http://schemas.openxmlformats.org/drawingml/2006/main">
            <a:off x="7029450" y="37242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Higham (2005)</a:t>
            </a:r>
          </a:p>
        </p:txBody>
      </p:sp>
      <p:sp>
        <p:nvSpPr>
          <p:cNvPr id="43" name="">
            <a:extLst xmlns:a="http://schemas.openxmlformats.org/drawingml/2006/main">
              <a:ext uri="{FF2B5EF4-FFF2-40B4-BE49-F238E27FC236}">
                <a16:creationId xmlns:a16="http://schemas.microsoft.com/office/drawing/2014/main" id="{28234564-4125-4E54-AC0E-9376D245DF44}"/>
              </a:ext>
            </a:extLst>
          </p:cNvPr>
          <p:cNvSpPr>
            <a:spLocks xmlns:a="http://schemas.openxmlformats.org/drawingml/2006/main" noGrp="1"/>
          </p:cNvSpPr>
          <p:nvPr/>
        </p:nvSpPr>
        <p:spPr>
          <a:xfrm xmlns:a="http://schemas.openxmlformats.org/drawingml/2006/main">
            <a:off x="7029450" y="39433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Scaling and squaring for the matrix exponential</a:t>
            </a:r>
          </a:p>
        </p:txBody>
      </p:sp>
      <p:sp>
        <p:nvSpPr>
          <p:cNvPr id="44" name="">
            <a:extLst xmlns:a="http://schemas.openxmlformats.org/drawingml/2006/main">
              <a:ext uri="{FF2B5EF4-FFF2-40B4-BE49-F238E27FC236}">
                <a16:creationId xmlns:a16="http://schemas.microsoft.com/office/drawing/2014/main" id="{B69DE550-0E8F-4160-8C1E-6C862E6FB8CF}"/>
              </a:ext>
            </a:extLst>
          </p:cNvPr>
          <p:cNvSpPr>
            <a:spLocks xmlns:a="http://schemas.openxmlformats.org/drawingml/2006/main" noGrp="1"/>
          </p:cNvSpPr>
          <p:nvPr/>
        </p:nvSpPr>
        <p:spPr>
          <a:xfrm xmlns:a="http://schemas.openxmlformats.org/drawingml/2006/main">
            <a:off x="6381750" y="42195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[R6]</a:t>
            </a:r>
          </a:p>
        </p:txBody>
      </p:sp>
      <p:sp>
        <p:nvSpPr>
          <p:cNvPr id="45" name="">
            <a:extLst xmlns:a="http://schemas.openxmlformats.org/drawingml/2006/main">
              <a:ext uri="{FF2B5EF4-FFF2-40B4-BE49-F238E27FC236}">
                <a16:creationId xmlns:a16="http://schemas.microsoft.com/office/drawing/2014/main" id="{3A346272-255F-463E-AD6A-46EB5C255D15}"/>
              </a:ext>
            </a:extLst>
          </p:cNvPr>
          <p:cNvSpPr>
            <a:spLocks xmlns:a="http://schemas.openxmlformats.org/drawingml/2006/main" noGrp="1"/>
          </p:cNvSpPr>
          <p:nvPr/>
        </p:nvSpPr>
        <p:spPr>
          <a:xfrm xmlns:a="http://schemas.openxmlformats.org/drawingml/2006/main">
            <a:off x="7029450" y="42195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Huber (1964)</a:t>
            </a:r>
          </a:p>
        </p:txBody>
      </p:sp>
      <p:sp>
        <p:nvSpPr>
          <p:cNvPr id="46" name="">
            <a:extLst xmlns:a="http://schemas.openxmlformats.org/drawingml/2006/main">
              <a:ext uri="{FF2B5EF4-FFF2-40B4-BE49-F238E27FC236}">
                <a16:creationId xmlns:a16="http://schemas.microsoft.com/office/drawing/2014/main" id="{5FFB483E-5FE9-43F5-B426-DCA2AD5DE40D}"/>
              </a:ext>
            </a:extLst>
          </p:cNvPr>
          <p:cNvSpPr>
            <a:spLocks xmlns:a="http://schemas.openxmlformats.org/drawingml/2006/main" noGrp="1"/>
          </p:cNvSpPr>
          <p:nvPr/>
        </p:nvSpPr>
        <p:spPr>
          <a:xfrm xmlns:a="http://schemas.openxmlformats.org/drawingml/2006/main">
            <a:off x="7029450" y="44386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Robust estimation of a location parameter</a:t>
            </a:r>
          </a:p>
        </p:txBody>
      </p:sp>
      <p:sp>
        <p:nvSpPr>
          <p:cNvPr id="47" name="">
            <a:extLst xmlns:a="http://schemas.openxmlformats.org/drawingml/2006/main">
              <a:ext uri="{FF2B5EF4-FFF2-40B4-BE49-F238E27FC236}">
                <a16:creationId xmlns:a16="http://schemas.microsoft.com/office/drawing/2014/main" id="{FCC6B751-840E-4358-8B06-D14DA119BE3F}"/>
              </a:ext>
            </a:extLst>
          </p:cNvPr>
          <p:cNvSpPr>
            <a:spLocks xmlns:a="http://schemas.openxmlformats.org/drawingml/2006/main" noGrp="1"/>
          </p:cNvSpPr>
          <p:nvPr/>
        </p:nvSpPr>
        <p:spPr>
          <a:xfrm xmlns:a="http://schemas.openxmlformats.org/drawingml/2006/main">
            <a:off x="6381750" y="47148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[R7]</a:t>
            </a:r>
          </a:p>
        </p:txBody>
      </p:sp>
      <p:sp>
        <p:nvSpPr>
          <p:cNvPr id="48" name="">
            <a:extLst xmlns:a="http://schemas.openxmlformats.org/drawingml/2006/main">
              <a:ext uri="{FF2B5EF4-FFF2-40B4-BE49-F238E27FC236}">
                <a16:creationId xmlns:a16="http://schemas.microsoft.com/office/drawing/2014/main" id="{DB7BD1BB-F99B-478C-8E60-274E8C480229}"/>
              </a:ext>
            </a:extLst>
          </p:cNvPr>
          <p:cNvSpPr>
            <a:spLocks xmlns:a="http://schemas.openxmlformats.org/drawingml/2006/main" noGrp="1"/>
          </p:cNvSpPr>
          <p:nvPr/>
        </p:nvSpPr>
        <p:spPr>
          <a:xfrm xmlns:a="http://schemas.openxmlformats.org/drawingml/2006/main">
            <a:off x="7029450" y="47148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Kingma &amp; Ba (2014)</a:t>
            </a:r>
          </a:p>
        </p:txBody>
      </p:sp>
      <p:sp>
        <p:nvSpPr>
          <p:cNvPr id="49" name="">
            <a:extLst xmlns:a="http://schemas.openxmlformats.org/drawingml/2006/main">
              <a:ext uri="{FF2B5EF4-FFF2-40B4-BE49-F238E27FC236}">
                <a16:creationId xmlns:a16="http://schemas.microsoft.com/office/drawing/2014/main" id="{277A5948-77DD-46EF-9036-EDFC41A09857}"/>
              </a:ext>
            </a:extLst>
          </p:cNvPr>
          <p:cNvSpPr>
            <a:spLocks xmlns:a="http://schemas.openxmlformats.org/drawingml/2006/main" noGrp="1"/>
          </p:cNvSpPr>
          <p:nvPr/>
        </p:nvSpPr>
        <p:spPr>
          <a:xfrm xmlns:a="http://schemas.openxmlformats.org/drawingml/2006/main">
            <a:off x="7029450" y="49339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Adam: A Method for Stochastic Optimization</a:t>
            </a:r>
          </a:p>
        </p:txBody>
      </p:sp>
      <p:sp>
        <p:nvSpPr>
          <p:cNvPr id="50" name="">
            <a:extLst xmlns:a="http://schemas.openxmlformats.org/drawingml/2006/main">
              <a:ext uri="{FF2B5EF4-FFF2-40B4-BE49-F238E27FC236}">
                <a16:creationId xmlns:a16="http://schemas.microsoft.com/office/drawing/2014/main" id="{D7639314-2ECA-442A-8D28-79C4D422C8BD}"/>
              </a:ext>
            </a:extLst>
          </p:cNvPr>
          <p:cNvSpPr>
            <a:spLocks xmlns:a="http://schemas.openxmlformats.org/drawingml/2006/main" noGrp="1"/>
          </p:cNvSpPr>
          <p:nvPr/>
        </p:nvSpPr>
        <p:spPr>
          <a:xfrm xmlns:a="http://schemas.openxmlformats.org/drawingml/2006/main">
            <a:off x="6381750" y="5210175"/>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25" b="1" i="0">
                <a:solidFill>
                  <a:srgbClr val="4D8710"/>
                </a:solidFill>
                <a:latin typeface="Yu Gothic"/>
                <a:ea typeface="Yu Gothic"/>
                <a:cs typeface="Yu Gothic"/>
              </a:defRPr>
            </a:pPr>
            <a:r>
              <a:rPr sz="825" b="1" i="0">
                <a:solidFill>
                  <a:srgbClr val="4D8710"/>
                </a:solidFill>
                <a:latin typeface="Yu Gothic"/>
                <a:ea typeface="Yu Gothic"/>
                <a:cs typeface="Yu Gothic"/>
              </a:rPr>
              <a:t>[R8]</a:t>
            </a:r>
          </a:p>
        </p:txBody>
      </p:sp>
      <p:sp>
        <p:nvSpPr>
          <p:cNvPr id="51" name="">
            <a:extLst xmlns:a="http://schemas.openxmlformats.org/drawingml/2006/main">
              <a:ext uri="{FF2B5EF4-FFF2-40B4-BE49-F238E27FC236}">
                <a16:creationId xmlns:a16="http://schemas.microsoft.com/office/drawing/2014/main" id="{887B88CF-EAC7-48BB-9541-E01129B4808D}"/>
              </a:ext>
            </a:extLst>
          </p:cNvPr>
          <p:cNvSpPr>
            <a:spLocks xmlns:a="http://schemas.openxmlformats.org/drawingml/2006/main" noGrp="1"/>
          </p:cNvSpPr>
          <p:nvPr/>
        </p:nvSpPr>
        <p:spPr>
          <a:xfrm xmlns:a="http://schemas.openxmlformats.org/drawingml/2006/main">
            <a:off x="7029450" y="52101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975" b="1" i="0">
                <a:solidFill>
                  <a:srgbClr val="5B5B5B"/>
                </a:solidFill>
                <a:latin typeface="Yu Gothic"/>
                <a:ea typeface="Yu Gothic"/>
                <a:cs typeface="Yu Gothic"/>
              </a:defRPr>
            </a:pPr>
            <a:r>
              <a:rPr sz="975" b="1" i="0">
                <a:solidFill>
                  <a:srgbClr val="5B5B5B"/>
                </a:solidFill>
                <a:latin typeface="Yu Gothic"/>
                <a:ea typeface="Yu Gothic"/>
                <a:cs typeface="Yu Gothic"/>
              </a:rPr>
              <a:t>COMSOL documentation</a:t>
            </a:r>
          </a:p>
        </p:txBody>
      </p:sp>
      <p:sp>
        <p:nvSpPr>
          <p:cNvPr id="52" name="">
            <a:extLst xmlns:a="http://schemas.openxmlformats.org/drawingml/2006/main">
              <a:ext uri="{FF2B5EF4-FFF2-40B4-BE49-F238E27FC236}">
                <a16:creationId xmlns:a16="http://schemas.microsoft.com/office/drawing/2014/main" id="{BE2E97E6-5253-4603-85C1-1F11FC7EE29F}"/>
              </a:ext>
            </a:extLst>
          </p:cNvPr>
          <p:cNvSpPr>
            <a:spLocks xmlns:a="http://schemas.openxmlformats.org/drawingml/2006/main" noGrp="1"/>
          </p:cNvSpPr>
          <p:nvPr/>
        </p:nvSpPr>
        <p:spPr>
          <a:xfrm xmlns:a="http://schemas.openxmlformats.org/drawingml/2006/main">
            <a:off x="7029450" y="5429250"/>
            <a:ext cx="4286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788" b="0" i="0">
                <a:solidFill>
                  <a:srgbClr val="777777"/>
                </a:solidFill>
                <a:latin typeface="Yu Gothic"/>
                <a:ea typeface="Yu Gothic"/>
                <a:cs typeface="Yu Gothic"/>
              </a:defRPr>
            </a:pPr>
            <a:r>
              <a:rPr sz="788" b="0" i="0">
                <a:solidFill>
                  <a:srgbClr val="777777"/>
                </a:solidFill>
                <a:latin typeface="Yu Gothic"/>
                <a:ea typeface="Yu Gothic"/>
                <a:cs typeface="Yu Gothic"/>
              </a:rPr>
              <a:t>Electronic Chip Cooling / Nonisothermal Flow</a:t>
            </a:r>
          </a:p>
        </p:txBody>
      </p:sp>
      <p:sp>
        <p:nvSpPr>
          <p:cNvPr id="53" name="">
            <a:extLst xmlns:a="http://schemas.openxmlformats.org/drawingml/2006/main">
              <a:ext uri="{FF2B5EF4-FFF2-40B4-BE49-F238E27FC236}">
                <a16:creationId xmlns:a16="http://schemas.microsoft.com/office/drawing/2014/main" id="{6DF9F39F-3662-41E3-AC88-D957D4A75046}"/>
              </a:ext>
            </a:extLst>
          </p:cNvPr>
          <p:cNvSpPr>
            <a:spLocks xmlns:a="http://schemas.openxmlformats.org/drawingml/2006/main" noGrp="1"/>
          </p:cNvSpPr>
          <p:nvPr/>
        </p:nvSpPr>
        <p:spPr>
          <a:xfrm xmlns:a="http://schemas.openxmlformats.org/drawingml/2006/main">
            <a:off x="552450" y="5695950"/>
            <a:ext cx="11087100" cy="523875"/>
          </a:xfrm>
          <a:prstGeom xmlns:a="http://schemas.openxmlformats.org/drawingml/2006/main" prst="rect">
            <a:avLst/>
          </a:prstGeom>
          <a:solidFill xmlns:a="http://schemas.openxmlformats.org/drawingml/2006/main">
            <a:srgbClr val="F8F8F8"/>
          </a:solidFill>
          <a:ln xmlns:a="http://schemas.openxmlformats.org/drawingml/2006/main" w="9525">
            <a:solidFill>
              <a:srgbClr val="D6D6D6"/>
            </a:solidFill>
            <a:prstDash val="solid"/>
          </a:ln>
        </p:spPr>
      </p:sp>
      <p:sp>
        <p:nvSpPr>
          <p:cNvPr id="54" name="">
            <a:extLst xmlns:a="http://schemas.openxmlformats.org/drawingml/2006/main">
              <a:ext uri="{FF2B5EF4-FFF2-40B4-BE49-F238E27FC236}">
                <a16:creationId xmlns:a16="http://schemas.microsoft.com/office/drawing/2014/main" id="{F384879D-BD6D-4394-BB79-7CF8DAE3A0DC}"/>
              </a:ext>
            </a:extLst>
          </p:cNvPr>
          <p:cNvSpPr>
            <a:spLocks xmlns:a="http://schemas.openxmlformats.org/drawingml/2006/main" noGrp="1"/>
          </p:cNvSpPr>
          <p:nvPr/>
        </p:nvSpPr>
        <p:spPr>
          <a:xfrm xmlns:a="http://schemas.openxmlformats.org/drawingml/2006/main">
            <a:off x="723900" y="58102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1" i="0">
                <a:solidFill>
                  <a:srgbClr val="7B2DAF"/>
                </a:solidFill>
                <a:latin typeface="Yu Gothic"/>
                <a:ea typeface="Yu Gothic"/>
                <a:cs typeface="Yu Gothic"/>
              </a:defRPr>
            </a:pPr>
            <a:r>
              <a:rPr sz="863" b="1" i="0">
                <a:solidFill>
                  <a:srgbClr val="7B2DAF"/>
                </a:solidFill>
                <a:latin typeface="Yu Gothic"/>
                <a:ea typeface="Yu Gothic"/>
                <a:cs typeface="Yu Gothic"/>
              </a:rPr>
              <a:t>Design reference</a:t>
            </a:r>
          </a:p>
        </p:txBody>
      </p:sp>
      <p:sp>
        <p:nvSpPr>
          <p:cNvPr id="55" name="">
            <a:extLst xmlns:a="http://schemas.openxmlformats.org/drawingml/2006/main">
              <a:ext uri="{FF2B5EF4-FFF2-40B4-BE49-F238E27FC236}">
                <a16:creationId xmlns:a16="http://schemas.microsoft.com/office/drawing/2014/main" id="{6F4E6758-FD0E-4EC2-8A4C-52386F5F74A3}"/>
              </a:ext>
            </a:extLst>
          </p:cNvPr>
          <p:cNvSpPr>
            <a:spLocks xmlns:a="http://schemas.openxmlformats.org/drawingml/2006/main" noGrp="1"/>
          </p:cNvSpPr>
          <p:nvPr/>
        </p:nvSpPr>
        <p:spPr>
          <a:xfrm xmlns:a="http://schemas.openxmlformats.org/drawingml/2006/main">
            <a:off x="2038350" y="57912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19050" rIns="28575" bIns="19050" anchor="ctr">
            <a:normAutofit fontScale="100000"/>
          </a:bodyPr>
          <a:lstStyle xmlns:a="http://schemas.openxmlformats.org/drawingml/2006/main"/>
          <a:p xmlns:a="http://schemas.openxmlformats.org/drawingml/2006/main">
            <a:pPr algn="l">
              <a:lnSpc>
                <a:spcPct val="100000"/>
              </a:lnSpc>
              <a:buNone/>
              <a:defRPr sz="863" b="0" i="0">
                <a:solidFill>
                  <a:srgbClr val="5B5B5B"/>
                </a:solidFill>
                <a:latin typeface="Yu Gothic"/>
                <a:ea typeface="Yu Gothic"/>
                <a:cs typeface="Yu Gothic"/>
              </a:defRPr>
            </a:pPr>
            <a:r>
              <a:rPr sz="863" b="0" i="0">
                <a:solidFill>
                  <a:srgbClr val="5B5B5B"/>
                </a:solidFill>
                <a:latin typeface="Yu Gothic"/>
                <a:ea typeface="Yu Gothic"/>
                <a:cs typeface="Yu Gothic"/>
              </a:rPr>
              <a:t>Tokyo Electron public IR presentation (visual language only; no logo/template reuse)</a:t>
            </a:r>
          </a:p>
        </p:txBody>
      </p:sp>
    </p:spTree>
    <p:extLst>
      <p:ext uri="{BB962C8B-B14F-4D97-AF65-F5344CB8AC3E}">
        <p14:creationId xmlns:p14="http://schemas.microsoft.com/office/powerpoint/2010/main" val="1904822111"/>
      </p:ext>
    </p:extLst>
  </p:cSld>
</p:sld>
</file>

<file path=ppt/theme/theme1.xml><?xml version="1.0" encoding="utf-8"?>
<a:theme xmlns:a="http://schemas.openxmlformats.org/drawingml/2006/main" name="ChatGPT">
  <a:themeElements>
    <a:clrScheme name="Equipment Engineering Review">
      <a:dk1>
        <a:srgbClr val="1B1B1B"/>
      </a:dk1>
      <a:lt1>
        <a:srgbClr val="FFFFFF"/>
      </a:lt1>
      <a:dk2>
        <a:srgbClr val="201445"/>
      </a:dk2>
      <a:lt2>
        <a:srgbClr val="D6D6D6"/>
      </a:lt2>
      <a:accent1>
        <a:srgbClr val="00A5D8"/>
      </a:accent1>
      <a:accent2>
        <a:srgbClr val="76BE18"/>
      </a:accent2>
      <a:accent3>
        <a:srgbClr val="7B2DAF"/>
      </a:accent3>
      <a:accent4>
        <a:srgbClr val="00A89D"/>
      </a:accent4>
      <a:accent5>
        <a:srgbClr val="E5A900"/>
      </a:accent5>
      <a:accent6>
        <a:srgbClr val="C4493D"/>
      </a:accent6>
      <a:hlink>
        <a:srgbClr val="007FA8"/>
      </a:hlink>
      <a:folHlink>
        <a:srgbClr val="7B2DAF"/>
      </a:folHlink>
    </a:clrScheme>
    <a:fontScheme name="Office">
      <a:majorFont>
        <a:latin typeface="Calibri Light"/>
        <a:ea typeface="Calibri Light"/>
        <a:cs typeface="Calibri Light"/>
      </a:majorFont>
      <a:minorFont>
        <a:latin typeface="Calibri"/>
        <a:ea typeface="Calibri"/>
        <a:cs typeface="Calibri"/>
      </a:minorFont>
    </a:fontScheme>
    <a:fmtScheme name="Equipment Engineering Review">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2026-09-17T04:15:45.9580000Z</dcterms:created>
  <dcterms:modified xsi:type="dcterms:W3CDTF">2026-09-17T04:15:45.9590000Z</dcterms:modified>
</coreProperties>
</file>