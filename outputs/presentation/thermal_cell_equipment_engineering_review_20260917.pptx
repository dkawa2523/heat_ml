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NIS / threshold</c:v>
          </c:tx>
          <c:spPr>
            <a:ln w="28575">
              <a:solidFill>
                <a:srgbClr val="7B2DAF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7B2DAF"/>
              </a:solidFill>
            </c:spPr>
          </c:marker>
          <c:cat>
            <c:numLit>
              <c:formatCode>General</c:formatCode>
              <c:ptCount val="7"/>
              <c:pt idx="0">
                <c:v>270</c:v>
              </c:pt>
              <c:pt idx="1">
                <c:v>280</c:v>
              </c:pt>
              <c:pt idx="2">
                <c:v>290</c:v>
              </c:pt>
              <c:pt idx="3">
                <c:v>300</c:v>
              </c:pt>
              <c:pt idx="4">
                <c:v>310</c:v>
              </c:pt>
              <c:pt idx="5">
                <c:v>320</c:v>
              </c:pt>
              <c:pt idx="6">
                <c:v>330</c:v>
              </c:pt>
            </c:numLit>
          </c:cat>
          <c:val>
            <c:numLit>
              <c:formatCode>0</c:formatCode>
              <c:ptCount val="7"/>
              <c:pt idx="0">
                <c:v>0.14996139382261342</c:v>
              </c:pt>
              <c:pt idx="1">
                <c:v>7.1175750200796001E-2</c:v>
              </c:pt>
              <c:pt idx="2">
                <c:v>0.11192551014700317</c:v>
              </c:pt>
              <c:pt idx="3">
                <c:v>19.107189007272705</c:v>
              </c:pt>
              <c:pt idx="4">
                <c:v>18.749142383005655</c:v>
              </c:pt>
              <c:pt idx="5">
                <c:v>16.301546321778073</c:v>
              </c:pt>
              <c:pt idx="6">
                <c:v>12.866841582465351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684-4053-9F36-3562A85ADC3E}"/>
            </c:ext>
          </c:extLst>
        </c:ser>
        <c:ser>
          <c:idx val="1"/>
          <c:order val="1"/>
          <c:tx>
            <c:v>alarm threshold</c:v>
          </c:tx>
          <c:spPr>
            <a:ln w="19050">
              <a:solidFill>
                <a:srgbClr val="C449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7"/>
              <c:pt idx="0">
                <c:v>270</c:v>
              </c:pt>
              <c:pt idx="1">
                <c:v>280</c:v>
              </c:pt>
              <c:pt idx="2">
                <c:v>290</c:v>
              </c:pt>
              <c:pt idx="3">
                <c:v>300</c:v>
              </c:pt>
              <c:pt idx="4">
                <c:v>310</c:v>
              </c:pt>
              <c:pt idx="5">
                <c:v>320</c:v>
              </c:pt>
              <c:pt idx="6">
                <c:v>330</c:v>
              </c:pt>
            </c:numLit>
          </c:cat>
          <c:val>
            <c:numLit>
              <c:formatCode>0</c:formatCode>
              <c:ptCount val="7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D684-4053-9F36-3562A85ADC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time [s]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normalized NIS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>
              <a:solidFill>
                <a:srgbClr val="5B5B5B"/>
              </a:solidFill>
              <a:latin typeface="Yu Gothic"/>
              <a:ea typeface="Yu Gothic"/>
              <a:cs typeface="Yu Gothic"/>
            </a:defRPr>
          </a:pPr>
          <a:endParaRPr lang="ja-JP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truth hidden heat</c:v>
          </c:tx>
          <c:spPr>
            <a:ln w="28575">
              <a:solidFill>
                <a:srgbClr val="3F3F3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1"/>
              <c:pt idx="0">
                <c:v>250</c:v>
              </c:pt>
              <c:pt idx="1">
                <c:v>260</c:v>
              </c:pt>
              <c:pt idx="2">
                <c:v>270</c:v>
              </c:pt>
              <c:pt idx="3">
                <c:v>280</c:v>
              </c:pt>
              <c:pt idx="4">
                <c:v>282</c:v>
              </c:pt>
              <c:pt idx="5">
                <c:v>290</c:v>
              </c:pt>
              <c:pt idx="6">
                <c:v>292</c:v>
              </c:pt>
              <c:pt idx="7">
                <c:v>300</c:v>
              </c:pt>
              <c:pt idx="8">
                <c:v>310</c:v>
              </c:pt>
              <c:pt idx="9">
                <c:v>320</c:v>
              </c:pt>
              <c:pt idx="10">
                <c:v>330</c:v>
              </c:pt>
              <c:pt idx="11">
                <c:v>340</c:v>
              </c:pt>
              <c:pt idx="12">
                <c:v>350</c:v>
              </c:pt>
              <c:pt idx="13">
                <c:v>360</c:v>
              </c:pt>
              <c:pt idx="14">
                <c:v>370</c:v>
              </c:pt>
              <c:pt idx="15">
                <c:v>380</c:v>
              </c:pt>
              <c:pt idx="16">
                <c:v>382</c:v>
              </c:pt>
              <c:pt idx="17">
                <c:v>390</c:v>
              </c:pt>
              <c:pt idx="18">
                <c:v>400</c:v>
              </c:pt>
              <c:pt idx="19">
                <c:v>410</c:v>
              </c:pt>
              <c:pt idx="20">
                <c:v>420</c:v>
              </c:pt>
            </c:numLit>
          </c:cat>
          <c:val>
            <c:numLit>
              <c:formatCode>0.0</c:formatCode>
              <c:ptCount val="2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3</c:v>
              </c:pt>
              <c:pt idx="5">
                <c:v>3</c:v>
              </c:pt>
              <c:pt idx="6">
                <c:v>3</c:v>
              </c:pt>
              <c:pt idx="7">
                <c:v>3</c:v>
              </c:pt>
              <c:pt idx="8">
                <c:v>3</c:v>
              </c:pt>
              <c:pt idx="9">
                <c:v>3</c:v>
              </c:pt>
              <c:pt idx="10">
                <c:v>3</c:v>
              </c:pt>
              <c:pt idx="11">
                <c:v>3</c:v>
              </c:pt>
              <c:pt idx="12">
                <c:v>3</c:v>
              </c:pt>
              <c:pt idx="13">
                <c:v>3</c:v>
              </c:pt>
              <c:pt idx="14">
                <c:v>3</c:v>
              </c:pt>
              <c:pt idx="15">
                <c:v>3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7BE-4C02-9DF5-A2C0C7BC2480}"/>
            </c:ext>
          </c:extLst>
        </c:ser>
        <c:ser>
          <c:idx val="1"/>
          <c:order val="1"/>
          <c:tx>
            <c:v>estimated disturbance</c:v>
          </c:tx>
          <c:spPr>
            <a:ln w="28575">
              <a:solidFill>
                <a:srgbClr val="00A5D8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00A5D8"/>
              </a:solidFill>
            </c:spPr>
          </c:marker>
          <c:cat>
            <c:numLit>
              <c:formatCode>General</c:formatCode>
              <c:ptCount val="21"/>
              <c:pt idx="0">
                <c:v>250</c:v>
              </c:pt>
              <c:pt idx="1">
                <c:v>260</c:v>
              </c:pt>
              <c:pt idx="2">
                <c:v>270</c:v>
              </c:pt>
              <c:pt idx="3">
                <c:v>280</c:v>
              </c:pt>
              <c:pt idx="4">
                <c:v>282</c:v>
              </c:pt>
              <c:pt idx="5">
                <c:v>290</c:v>
              </c:pt>
              <c:pt idx="6">
                <c:v>292</c:v>
              </c:pt>
              <c:pt idx="7">
                <c:v>300</c:v>
              </c:pt>
              <c:pt idx="8">
                <c:v>310</c:v>
              </c:pt>
              <c:pt idx="9">
                <c:v>320</c:v>
              </c:pt>
              <c:pt idx="10">
                <c:v>330</c:v>
              </c:pt>
              <c:pt idx="11">
                <c:v>340</c:v>
              </c:pt>
              <c:pt idx="12">
                <c:v>350</c:v>
              </c:pt>
              <c:pt idx="13">
                <c:v>360</c:v>
              </c:pt>
              <c:pt idx="14">
                <c:v>370</c:v>
              </c:pt>
              <c:pt idx="15">
                <c:v>380</c:v>
              </c:pt>
              <c:pt idx="16">
                <c:v>382</c:v>
              </c:pt>
              <c:pt idx="17">
                <c:v>390</c:v>
              </c:pt>
              <c:pt idx="18">
                <c:v>400</c:v>
              </c:pt>
              <c:pt idx="19">
                <c:v>410</c:v>
              </c:pt>
              <c:pt idx="20">
                <c:v>420</c:v>
              </c:pt>
            </c:numLit>
          </c:cat>
          <c:val>
            <c:numLit>
              <c:formatCode>0.0</c:formatCode>
              <c:ptCount val="21"/>
              <c:pt idx="0">
                <c:v>3.3609681471935438E-2</c:v>
              </c:pt>
              <c:pt idx="1">
                <c:v>-3.5886283053816324E-2</c:v>
              </c:pt>
              <c:pt idx="2">
                <c:v>-3.7419491955870521E-2</c:v>
              </c:pt>
              <c:pt idx="3">
                <c:v>-6.1647723741180147E-2</c:v>
              </c:pt>
              <c:pt idx="4">
                <c:v>-7.1469554557021545E-2</c:v>
              </c:pt>
              <c:pt idx="5">
                <c:v>0.11469420860490795</c:v>
              </c:pt>
              <c:pt idx="6">
                <c:v>0.24686282424242165</c:v>
              </c:pt>
              <c:pt idx="7">
                <c:v>0.63656371175540905</c:v>
              </c:pt>
              <c:pt idx="8">
                <c:v>1.2844757448911741</c:v>
              </c:pt>
              <c:pt idx="9">
                <c:v>1.8948691173207985</c:v>
              </c:pt>
              <c:pt idx="10">
                <c:v>2.2668685000112023</c:v>
              </c:pt>
              <c:pt idx="11">
                <c:v>2.5700216887680107</c:v>
              </c:pt>
              <c:pt idx="12">
                <c:v>2.7862118092493575</c:v>
              </c:pt>
              <c:pt idx="13">
                <c:v>3.0754272736641157</c:v>
              </c:pt>
              <c:pt idx="14">
                <c:v>3.1695509773601676</c:v>
              </c:pt>
              <c:pt idx="15">
                <c:v>3.1324595955393257</c:v>
              </c:pt>
              <c:pt idx="16">
                <c:v>3.1212384113914857</c:v>
              </c:pt>
              <c:pt idx="17">
                <c:v>2.9825803590187938</c:v>
              </c:pt>
              <c:pt idx="18">
                <c:v>2.5002193451574688</c:v>
              </c:pt>
              <c:pt idx="19">
                <c:v>1.876142783364904</c:v>
              </c:pt>
              <c:pt idx="20">
                <c:v>1.2955912969540631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7BE-4C02-9DF5-A2C0C7BC24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time [s]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heat [W]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>
              <a:solidFill>
                <a:srgbClr val="5B5B5B"/>
              </a:solidFill>
              <a:latin typeface="Yu Gothic"/>
              <a:ea typeface="Yu Gothic"/>
              <a:cs typeface="Yu Gothic"/>
            </a:defRPr>
          </a:pPr>
          <a:endParaRPr lang="ja-JP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mean RMSE</c:v>
          </c:tx>
          <c:spPr>
            <a:solidFill>
              <a:srgbClr val="00A5D8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469-48C2-9A54-01E98940603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469-48C2-9A54-01E98940603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469-48C2-9A54-01E989406036}"/>
              </c:ext>
            </c:extLst>
          </c:dPt>
          <c:dPt>
            <c:idx val="3"/>
            <c:invertIfNegative val="0"/>
            <c:bubble3D val="0"/>
            <c:spPr>
              <a:solidFill>
                <a:srgbClr val="7B2DAF"/>
              </a:solidFill>
            </c:spPr>
            <c:extLst>
              <c:ext xmlns:c16="http://schemas.microsoft.com/office/drawing/2014/chart" uri="{C3380CC4-5D6E-409C-BE32-E72D297353CC}">
                <c16:uniqueId val="{00000007-4469-48C2-9A54-01E98940603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469-48C2-9A54-01E98940603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 b="1">
                    <a:solidFill>
                      <a:srgbClr val="5B5B5B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interpolation</c:v>
              </c:pt>
              <c:pt idx="1">
                <c:v>extrapolation</c:v>
              </c:pt>
              <c:pt idx="2">
                <c:v>dynamics</c:v>
              </c:pt>
              <c:pt idx="3">
                <c:v>initialization</c:v>
              </c:pt>
              <c:pt idx="4">
                <c:v>sampling</c:v>
              </c:pt>
            </c:strLit>
          </c:cat>
          <c:val>
            <c:numLit>
              <c:formatCode>0.000</c:formatCode>
              <c:ptCount val="5"/>
              <c:pt idx="0">
                <c:v>2.1449300000000001E-2</c:v>
              </c:pt>
              <c:pt idx="1">
                <c:v>1.6240500000000001E-2</c:v>
              </c:pt>
              <c:pt idx="2">
                <c:v>3.1637699999999998E-2</c:v>
              </c:pt>
              <c:pt idx="3">
                <c:v>0.4505383</c:v>
              </c:pt>
              <c:pt idx="4">
                <c:v>5.0123300000000003E-2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4469-48C2-9A54-01E98940603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RMSE</c:v>
          </c:tx>
          <c:spPr>
            <a:solidFill>
              <a:srgbClr val="7B2DAF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93F-4B02-8583-288395108A54}"/>
              </c:ext>
            </c:extLst>
          </c:dPt>
          <c:dPt>
            <c:idx val="1"/>
            <c:invertIfNegative val="0"/>
            <c:bubble3D val="0"/>
            <c:spPr>
              <a:solidFill>
                <a:srgbClr val="76BE18"/>
              </a:solidFill>
            </c:spPr>
            <c:extLst>
              <c:ext xmlns:c16="http://schemas.microsoft.com/office/drawing/2014/chart" uri="{C3380CC4-5D6E-409C-BE32-E72D297353CC}">
                <c16:uniqueId val="{00000003-993F-4B02-8583-288395108A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5B5B5B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F09
sparse initial</c:v>
              </c:pt>
              <c:pt idx="1">
                <c:v>F12
history initialized</c:v>
              </c:pt>
            </c:strLit>
          </c:cat>
          <c:val>
            <c:numLit>
              <c:formatCode>0.000</c:formatCode>
              <c:ptCount val="2"/>
              <c:pt idx="0">
                <c:v>1.3026766000000001</c:v>
              </c:pt>
              <c:pt idx="1">
                <c:v>3.80944E-2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993F-4B02-8583-288395108A5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788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r>
              <a:rPr sz="1050" b="1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external forecast RMSE [K]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RMSE</c:v>
          </c:tx>
          <c:spPr>
            <a:solidFill>
              <a:srgbClr val="00A5D8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91-45CB-A6D6-9463882D57B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691-45CB-A6D6-9463882D57B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691-45CB-A6D6-9463882D57B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691-45CB-A6D6-9463882D57B9}"/>
              </c:ext>
            </c:extLst>
          </c:dPt>
          <c:dPt>
            <c:idx val="4"/>
            <c:invertIfNegative val="0"/>
            <c:bubble3D val="0"/>
            <c:spPr>
              <a:solidFill>
                <a:srgbClr val="7B2DAF"/>
              </a:solidFill>
            </c:spPr>
            <c:extLst>
              <c:ext xmlns:c16="http://schemas.microsoft.com/office/drawing/2014/chart" uri="{C3380CC4-5D6E-409C-BE32-E72D297353CC}">
                <c16:uniqueId val="{00000009-9691-45CB-A6D6-9463882D57B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9691-45CB-A6D6-9463882D57B9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9691-45CB-A6D6-9463882D57B9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9691-45CB-A6D6-9463882D57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13" b="1">
                    <a:solidFill>
                      <a:srgbClr val="5B5B5B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F01</c:v>
              </c:pt>
              <c:pt idx="1">
                <c:v>F02</c:v>
              </c:pt>
              <c:pt idx="2">
                <c:v>F03</c:v>
              </c:pt>
              <c:pt idx="3">
                <c:v>F04</c:v>
              </c:pt>
              <c:pt idx="4">
                <c:v>F05</c:v>
              </c:pt>
              <c:pt idx="5">
                <c:v>F06</c:v>
              </c:pt>
              <c:pt idx="6">
                <c:v>F07</c:v>
              </c:pt>
              <c:pt idx="7">
                <c:v>F08</c:v>
              </c:pt>
            </c:strLit>
          </c:cat>
          <c:val>
            <c:numLit>
              <c:formatCode>0.000</c:formatCode>
              <c:ptCount val="8"/>
              <c:pt idx="0">
                <c:v>6.3957049999999998E-3</c:v>
              </c:pt>
              <c:pt idx="1">
                <c:v>2.4712003999999999E-2</c:v>
              </c:pt>
              <c:pt idx="2">
                <c:v>1.4252666000000001E-2</c:v>
              </c:pt>
              <c:pt idx="3">
                <c:v>2.0676292999999998E-2</c:v>
              </c:pt>
              <c:pt idx="4">
                <c:v>8.2973699999999997E-2</c:v>
              </c:pt>
              <c:pt idx="5">
                <c:v>5.8981351000000001E-2</c:v>
              </c:pt>
              <c:pt idx="6">
                <c:v>3.8589825000000001E-2</c:v>
              </c:pt>
              <c:pt idx="7">
                <c:v>4.3629309999999998E-2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9691-45CB-A6D6-9463882D57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0.02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|medium − fine|</c:v>
          </c:tx>
          <c:spPr>
            <a:solidFill>
              <a:srgbClr val="E5A900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1F-43AB-99B1-8E779EFD38A0}"/>
              </c:ext>
            </c:extLst>
          </c:dPt>
          <c:dPt>
            <c:idx val="1"/>
            <c:invertIfNegative val="0"/>
            <c:bubble3D val="0"/>
            <c:spPr>
              <a:solidFill>
                <a:srgbClr val="76BE18"/>
              </a:solidFill>
            </c:spPr>
            <c:extLst>
              <c:ext xmlns:c16="http://schemas.microsoft.com/office/drawing/2014/chart" uri="{C3380CC4-5D6E-409C-BE32-E72D297353CC}">
                <c16:uniqueId val="{00000003-F31F-43AB-99B1-8E779EFD38A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5B5B5B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MC01</c:v>
              </c:pt>
              <c:pt idx="1">
                <c:v>MC02</c:v>
              </c:pt>
            </c:strLit>
          </c:cat>
          <c:val>
            <c:numLit>
              <c:formatCode>0.000</c:formatCode>
              <c:ptCount val="2"/>
              <c:pt idx="0">
                <c:v>0.4962086</c:v>
              </c:pt>
              <c:pt idx="1">
                <c:v>0.1544275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F31F-43AB-99B1-8E779EFD38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chip-average ΔT [K]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learned</c:v>
          </c:tx>
          <c:spPr>
            <a:solidFill>
              <a:srgbClr val="00A5D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13" b="1">
                    <a:solidFill>
                      <a:srgbClr val="5B5B5B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HV01
conjugate</c:v>
              </c:pt>
              <c:pt idx="1">
                <c:v>HV02
radiation</c:v>
              </c:pt>
            </c:strLit>
          </c:cat>
          <c:val>
            <c:numLit>
              <c:formatCode>0.000</c:formatCode>
              <c:ptCount val="2"/>
              <c:pt idx="0">
                <c:v>4.7653000000000001E-2</c:v>
              </c:pt>
              <c:pt idx="1">
                <c:v>0.14358399999999999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F02-48EC-A811-B6349AFBACF1}"/>
            </c:ext>
          </c:extLst>
        </c:ser>
        <c:ser>
          <c:idx val="1"/>
          <c:order val="1"/>
          <c:tx>
            <c:v>prior</c:v>
          </c:tx>
          <c:spPr>
            <a:solidFill>
              <a:srgbClr val="D6D6D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13" b="1">
                    <a:solidFill>
                      <a:srgbClr val="5B5B5B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HV01
conjugate</c:v>
              </c:pt>
              <c:pt idx="1">
                <c:v>HV02
radiation</c:v>
              </c:pt>
            </c:strLit>
          </c:cat>
          <c:val>
            <c:numLit>
              <c:formatCode>0.000</c:formatCode>
              <c:ptCount val="2"/>
              <c:pt idx="0">
                <c:v>0.97693200000000002</c:v>
              </c:pt>
              <c:pt idx="1">
                <c:v>0.80090600000000001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F02-48EC-A811-B6349AFBAC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RMSE [K]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>
              <a:solidFill>
                <a:srgbClr val="5B5B5B"/>
              </a:solidFill>
              <a:latin typeface="Yu Gothic"/>
              <a:ea typeface="Yu Gothic"/>
              <a:cs typeface="Yu Gothic"/>
            </a:defRPr>
          </a:pPr>
          <a:endParaRPr lang="ja-JP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truth ΔT with radiation</c:v>
          </c:tx>
          <c:spPr>
            <a:ln w="28575">
              <a:solidFill>
                <a:srgbClr val="7B2DAF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7B2DAF"/>
              </a:solidFill>
            </c:spPr>
          </c:marker>
          <c:cat>
            <c:numLit>
              <c:formatCode>General</c:formatCode>
              <c:ptCount val="12"/>
              <c:pt idx="0">
                <c:v>0</c:v>
              </c:pt>
              <c:pt idx="1">
                <c:v>20</c:v>
              </c:pt>
              <c:pt idx="2">
                <c:v>40</c:v>
              </c:pt>
              <c:pt idx="3">
                <c:v>60</c:v>
              </c:pt>
              <c:pt idx="4">
                <c:v>80</c:v>
              </c:pt>
              <c:pt idx="5">
                <c:v>100</c:v>
              </c:pt>
              <c:pt idx="6">
                <c:v>120</c:v>
              </c:pt>
              <c:pt idx="7">
                <c:v>140</c:v>
              </c:pt>
              <c:pt idx="8">
                <c:v>160</c:v>
              </c:pt>
              <c:pt idx="9">
                <c:v>180</c:v>
              </c:pt>
              <c:pt idx="10">
                <c:v>200</c:v>
              </c:pt>
              <c:pt idx="11">
                <c:v>220</c:v>
              </c:pt>
            </c:numLit>
          </c:cat>
          <c:val>
            <c:numLit>
              <c:formatCode>0.0</c:formatCode>
              <c:ptCount val="12"/>
              <c:pt idx="0">
                <c:v>-1.8545700000025533E-3</c:v>
              </c:pt>
              <c:pt idx="1">
                <c:v>-1.8549800000009498E-3</c:v>
              </c:pt>
              <c:pt idx="2">
                <c:v>-1.8553600000004167E-3</c:v>
              </c:pt>
              <c:pt idx="3">
                <c:v>-1.8556099999997855E-3</c:v>
              </c:pt>
              <c:pt idx="4">
                <c:v>-7.4855300000002956E-3</c:v>
              </c:pt>
              <c:pt idx="5">
                <c:v>-1.1850699999982339E-3</c:v>
              </c:pt>
              <c:pt idx="6">
                <c:v>-2.2883150000001962E-2</c:v>
              </c:pt>
              <c:pt idx="7">
                <c:v>-8.4162999999996657E-2</c:v>
              </c:pt>
              <c:pt idx="8">
                <c:v>-0.16855853000000565</c:v>
              </c:pt>
              <c:pt idx="9">
                <c:v>-0.24409413000000058</c:v>
              </c:pt>
              <c:pt idx="10">
                <c:v>-0.31718865999999935</c:v>
              </c:pt>
              <c:pt idx="11">
                <c:v>-0.38133367000000362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041-422E-9DA5-9DFA5E2C4114}"/>
            </c:ext>
          </c:extLst>
        </c:ser>
        <c:ser>
          <c:idx val="1"/>
          <c:order val="1"/>
          <c:tx>
            <c:v>model predicted ΔT</c:v>
          </c:tx>
          <c:spPr>
            <a:ln w="28575">
              <a:solidFill>
                <a:srgbClr val="00A5D8"/>
              </a:solidFill>
              <a:prstDash val="solid"/>
            </a:ln>
          </c:spPr>
          <c:marker>
            <c:symbol val="square"/>
            <c:size val="4"/>
            <c:spPr>
              <a:solidFill>
                <a:srgbClr val="00A5D8"/>
              </a:solidFill>
            </c:spPr>
          </c:marker>
          <c:cat>
            <c:numLit>
              <c:formatCode>General</c:formatCode>
              <c:ptCount val="12"/>
              <c:pt idx="0">
                <c:v>0</c:v>
              </c:pt>
              <c:pt idx="1">
                <c:v>20</c:v>
              </c:pt>
              <c:pt idx="2">
                <c:v>40</c:v>
              </c:pt>
              <c:pt idx="3">
                <c:v>60</c:v>
              </c:pt>
              <c:pt idx="4">
                <c:v>80</c:v>
              </c:pt>
              <c:pt idx="5">
                <c:v>100</c:v>
              </c:pt>
              <c:pt idx="6">
                <c:v>120</c:v>
              </c:pt>
              <c:pt idx="7">
                <c:v>140</c:v>
              </c:pt>
              <c:pt idx="8">
                <c:v>160</c:v>
              </c:pt>
              <c:pt idx="9">
                <c:v>180</c:v>
              </c:pt>
              <c:pt idx="10">
                <c:v>200</c:v>
              </c:pt>
              <c:pt idx="11">
                <c:v>220</c:v>
              </c:pt>
            </c:numLit>
          </c:cat>
          <c:val>
            <c:numLit>
              <c:formatCode>0.0</c:formatCode>
              <c:ptCount val="12"/>
              <c:pt idx="0">
                <c:v>-1.8545700000025533E-3</c:v>
              </c:pt>
              <c:pt idx="1">
                <c:v>-1.777789999998447E-3</c:v>
              </c:pt>
              <c:pt idx="2">
                <c:v>-1.7016000000005249E-3</c:v>
              </c:pt>
              <c:pt idx="3">
                <c:v>-1.6286799999996049E-3</c:v>
              </c:pt>
              <c:pt idx="4">
                <c:v>-1.5588800000010394E-3</c:v>
              </c:pt>
              <c:pt idx="5">
                <c:v>-1.492069999997625E-3</c:v>
              </c:pt>
              <c:pt idx="6">
                <c:v>-1.4281300000007491E-3</c:v>
              </c:pt>
              <c:pt idx="7">
                <c:v>-1.3735799999992082E-3</c:v>
              </c:pt>
              <c:pt idx="8">
                <c:v>-1.3282800000027351E-3</c:v>
              </c:pt>
              <c:pt idx="9">
                <c:v>-1.2915400000039767E-3</c:v>
              </c:pt>
              <c:pt idx="10">
                <c:v>-1.2564700000012863E-3</c:v>
              </c:pt>
              <c:pt idx="11">
                <c:v>-1.2223400000053175E-3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041-422E-9DA5-9DFA5E2C41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time [s]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638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05"/>
          <c:min val="-0.45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ΔT chip [K]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6D6D6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13">
              <a:solidFill>
                <a:srgbClr val="5B5B5B"/>
              </a:solidFill>
              <a:latin typeface="Yu Gothic"/>
              <a:ea typeface="Yu Gothic"/>
              <a:cs typeface="Yu Gothic"/>
            </a:defRPr>
          </a:pPr>
          <a:endParaRPr lang="ja-JP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source: docs/technical_specification.md</a:t>
            </a:r>
          </a:p>
          <a:p>
            <a:r>
              <a:t>Visual design reference only: Tokyo Electron FY2027 Q1 Financial Announcement, https://www.tel.com/ir/library/report/i242su0000000goz-att/fy27q1presentations-e.pdf</a:t>
            </a:r>
          </a:p>
          <a:p>
            <a:r>
              <a:t>Tokyo Electron logo, trademark lockup, and official slide master are not used.</a:t>
            </a:r>
          </a:p>
          <a:p>
            <a:r>
              <a:t>Repository: thermal-cell-practical.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benchmarks/topcell/work/outputs/benchmark/benchmark_summary.json</a:t>
            </a:r>
          </a:p>
          <a:p>
            <a:r>
              <a:t>Sources: external_tools/comsol_chip_cooling/work/evaluation/forecast_cases.csv</a:t>
            </a:r>
          </a:p>
          <a:p>
            <a:r>
              <a:t>Sources: external_tools/comsol_chip_cooling/reports/cae_benchmark_report/source_data/high_fidelity_case_metrics.csv</a:t>
            </a:r>
          </a:p>
          <a:p>
            <a:r>
              <a:t>Hotspot gap source: external_tools/comsol_chip_cooling/data/qa_summary.csv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Conceptual semiconductor-equipment mapping; no proprietary equipment geometry is represented.</a:t>
            </a:r>
          </a:p>
          <a:p>
            <a:r>
              <a:t>Physics source: docs/technical_specification.md sections 4 and 6.</a:t>
            </a:r>
          </a:p>
          <a:p>
            <a:r>
              <a:t>System mapping source: external_tools/comsol_chip_cooling/system.yaml.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docs/technical_specification.md sections 11 and 12.</a:t>
            </a:r>
          </a:p>
          <a:p>
            <a:r>
              <a:t>TopCell: benchmarks/topcell/work/outputs/benchmark/benchmark_summary.json.</a:t>
            </a:r>
          </a:p>
          <a:p>
            <a:r>
              <a:t>Linear COMSOL: external_tools/comsol_chip_cooling/work/evaluation/forecast_cases.csv.</a:t>
            </a:r>
          </a:p>
          <a:p>
            <a:r>
              <a:t>High fidelity: external_tools/comsol_chip_cooling/docs/high_fidelity_validation.md.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external_tools/comsol_chip_cooling/system.yaml.</a:t>
            </a:r>
          </a:p>
          <a:p>
            <a:r>
              <a:t>Fitted values: external_tools/comsol_chip_cooling/work/evaluation/fitted_parameters.csv.</a:t>
            </a:r>
          </a:p>
          <a:p>
            <a:r>
              <a:t>Boundary node weights are fixed at base 0.090909 and fins 0.909091.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sections 4.2, 4.3, 4.8, and 4.10.</a:t>
            </a:r>
          </a:p>
          <a:p>
            <a:r>
              <a:t>Compact thermal modeling reference: Huang et al., IEEE TVLSI 2006, doi:10.1109/TVLSI.2006.876103.</a:t>
            </a:r>
          </a:p>
          <a:p>
            <a:r>
              <a:t>Biot-number criterion is an engineering screening criterion for lumped-capacitance validity; node adequacy must be checked against local gradients.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Derived calculation using external_tools/comsol_chip_cooling/system.yaml and fitted_parameters.csv.</a:t>
            </a:r>
          </a:p>
          <a:p>
            <a:r>
              <a:t>Generalized eigenproblem K phi = lambda C phi at the nominal fitted linear condition.</a:t>
            </a:r>
          </a:p>
          <a:p>
            <a:r>
              <a:t>Derived modal time constants: 0.186 s, 2.028 s, and 425.354 s. These are model modes, not directly measured equipment constants.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 5.</a:t>
            </a:r>
          </a:p>
          <a:p>
            <a:r>
              <a:t>References: Van Loan (1978), Higham (2005), Dahlquist (1963).</a:t>
            </a:r>
          </a:p>
          <a:p>
            <a:r>
              <a:t>The exact-affine solver removes time-discretization error only under the piecewise-constant coefficient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sections 6 and 7.</a:t>
            </a:r>
          </a:p>
          <a:p>
            <a:r>
              <a:t>Parameter-specific DOE recommendations are engineering implications of the fitted three-mode time constants shown on slide 7.</a:t>
            </a:r>
          </a:p>
          <a:p>
            <a:r>
              <a:t>Robust loss reference: Huber (1964). Optimizer reference: Kingma and Ba (2014).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 7.</a:t>
            </a:r>
          </a:p>
          <a:p>
            <a:r>
              <a:t>The causal cutoff is a data-contract requirement, not a presentation-only convention.</a:t>
            </a:r>
          </a:p>
          <a:p>
            <a:r>
              <a:t>Uncertainty scope distinguishes propagated state covariance from parameter and model-form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 8.</a:t>
            </a:r>
          </a:p>
          <a:p>
            <a:r>
              <a:t>Thresholds: chi-square quantiles at confidence 0.9999 used by external_tools/comsol_chip_cooling/evaluate.py.</a:t>
            </a:r>
          </a:p>
          <a:p>
            <a:r>
              <a:t>References: Kalman (1960), Van Loan (1978), Bar-Shalom et al. (2001).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M03 trace: external_tools/comsol_chip_cooling/work/outputs/monitor/M03_sensor_offset.csv.</a:t>
            </a:r>
          </a:p>
          <a:p>
            <a:r>
              <a:t>M05 estimate: external_tools/comsol_chip_cooling/work/outputs/monitor/M05_uncommanded_heat.csv.</a:t>
            </a:r>
          </a:p>
          <a:p>
            <a:r>
              <a:t>M05 truth: external_tools/comsol_chip_cooling/data/eval/monitor/M05_uncommanded_heat.csv.</a:t>
            </a:r>
          </a:p>
          <a:p>
            <a:r>
              <a:t>Metrics/events: external_tools/comsol_chip_cooling/work/evaluation/monitor_cases.csv and monitor_events.csv.</a:t>
            </a:r>
          </a:p>
          <a:p>
            <a:r>
              <a:t>Charts use downsampled display points while preserving event start and first-detection timestamps.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benchmarks/topcell/work/outputs/benchmark/forecast_by_group.csv.</a:t>
            </a:r>
          </a:p>
          <a:p>
            <a:r>
              <a:t>Source: benchmarks/topcell/work/outputs/benchmark/forecast_by_case.csv.</a:t>
            </a:r>
          </a:p>
          <a:p>
            <a:r>
              <a:t>Source: benchmarks/topcell/work/outputs/benchmark/benchmark_summary.json.</a:t>
            </a:r>
          </a:p>
          <a:p>
            <a:r>
              <a:t>F11 is an intentional model-form-gap case and is excluded from the core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external_tools/comsol_chip_cooling/work/evaluation/forecast_cases.csv.</a:t>
            </a:r>
          </a:p>
          <a:p>
            <a:r>
              <a:t>Parameters: external_tools/comsol_chip_cooling/work/evaluation/fitted_parameters.csv.</a:t>
            </a:r>
          </a:p>
          <a:p>
            <a:r>
              <a:t>Hotspot metrics: external_tools/comsol_chip_cooling/data/qa_summary.csv and CAE report source data.</a:t>
            </a:r>
          </a:p>
          <a:p>
            <a:r>
              <a:t>Reported model outputs are volume-average node temperatures; hotspot metrics are separate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external_tools/comsol_chip_cooling/reports/cae_benchmark_report/source_data/mesh_convergence.csv.</a:t>
            </a:r>
          </a:p>
          <a:p>
            <a:r>
              <a:t>Source: external_tools/comsol_chip_cooling/docs/high_fidelity_validation.md.</a:t>
            </a:r>
          </a:p>
          <a:p>
            <a:r>
              <a:t>The red dashed line is a visual guide for the documented strict-average criterion of 0.25 K.</a:t>
            </a:r>
          </a:p>
          <a:p>
            <a:r>
              <a:t>Global-8 to local-coarse MC01 chip-average difference is 15.9128095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High-fidelity metrics: external_tools/comsol_chip_cooling/reports/cae_benchmark_report/source_data/high_fidelity_case_metrics.csv.</a:t>
            </a:r>
          </a:p>
          <a:p>
            <a:r>
              <a:t>Radiation trace: external_tools/comsol_chip_cooling/reports/cae_benchmark_report/source_data/high_fidelity_radiation_trace.csv.</a:t>
            </a:r>
          </a:p>
          <a:p>
            <a:r>
              <a:t>At 220 s: truth radiation delta = -0.38133367 K; model delta = -0.00122234 K; conservative mesh difference = 0.4962085957 K.</a:t>
            </a:r>
          </a:p>
          <a:p>
            <a:r>
              <a:t>Interpretation: absolute forecast screening improved, but the radiation sensitivity magnitude is not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cases are derived from the implemented forecast and monitor workflows documented in docs/technical_specification.md.</a:t>
            </a:r>
          </a:p>
          <a:p>
            <a:r>
              <a:t>No runtime-speedup or cost-saving figure is claimed because the current benchmark does not report an end-to-end operational baseline.</a:t>
            </a:r>
          </a:p>
          <a:p>
            <a:r>
              <a:t>Adoption gates are engineering recommendations for semiconductor-equipment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sections 11 and 12.</a:t>
            </a:r>
          </a:p>
          <a:p>
            <a:r>
              <a:t>Validation stages are an equipment-engineering implementation plan derived from the current evidence gaps.</a:t>
            </a:r>
          </a:p>
          <a:p>
            <a:r>
              <a:t>Acceptance thresholds must be agreed from FMEA, control specifications, and the product thermal budget before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R1 doi:10.1109/TVLSI.2006.876103.</a:t>
            </a:r>
          </a:p>
          <a:p>
            <a:r>
              <a:t>R2 Farina and Rinaldi, Positive Linear Systems, Wiley.</a:t>
            </a:r>
          </a:p>
          <a:p>
            <a:r>
              <a:t>R3 doi:10.1115/1.3662552.</a:t>
            </a:r>
          </a:p>
          <a:p>
            <a:r>
              <a:t>R4 IEEE Transactions on Automatic Control 23(3), 1978.</a:t>
            </a:r>
          </a:p>
          <a:p>
            <a:r>
              <a:t>R5 SIAM Journal on Matrix Analysis and Applications 26(4), 2005.</a:t>
            </a:r>
          </a:p>
          <a:p>
            <a:r>
              <a:t>R6 doi:10.1214/aoms/1177703732.</a:t>
            </a:r>
          </a:p>
          <a:p>
            <a:r>
              <a:t>R7 https://arxiv.org/abs/1412.6980.</a:t>
            </a:r>
          </a:p>
          <a:p>
            <a:r>
              <a:t>Visual reference: https://www.tel.com/ir/library/report/i242su0000000goz-att/fy27q1presentations-e.pdf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4CD145A-4C37-4740-A254-377B62B9EF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08B032C-AC0F-44BC-92A6-2DEAEFF4CCC3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561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THERMAL MODEL / EQUIPMENT ENGINEERING REVIEW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514732A-0055-4AD0-AB1E-3DBD17881417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9525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熱RCモデルによる</a:t>
            </a:r>
          </a:p>
          <a:p>
            <a:pPr algn="l">
              <a:lnSpc>
                <a:spcPct val="98000"/>
              </a:lnSpc>
              <a:buNone/>
              <a:def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半導体装置の温度予測・状態監視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253300D-126C-41A4-96FE-7F888FCC00ED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866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D9D2EA"/>
                </a:solidFill>
                <a:latin typeface="Yu Gothic"/>
                <a:ea typeface="Yu Gothic"/>
                <a:cs typeface="Yu Gothic"/>
              </a:defRPr>
            </a:pPr>
            <a:r>
              <a:rPr sz="1500" b="0" i="0">
                <a:solidFill>
                  <a:srgbClr val="D9D2EA"/>
                </a:solidFill>
                <a:latin typeface="Yu Gothic"/>
                <a:ea typeface="Yu Gothic"/>
                <a:cs typeface="Yu Gothic"/>
              </a:rPr>
              <a:t>物理妥当性、同定可能性、数値安定性、CAEベンチマークを一体で評価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FDDC70-AF28-432D-A30B-E0C082F810B2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BFB7D2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BFB7D2"/>
                </a:solidFill>
                <a:latin typeface="Yu Gothic"/>
                <a:ea typeface="Yu Gothic"/>
                <a:cs typeface="Yu Gothic"/>
              </a:rPr>
              <a:t>Technical review  /  thermal-cell-practical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8C47BC-CE82-4045-89FF-3D007443FFAC}"/>
              </a:ext>
            </a:extLst>
          </p:cNvPr>
          <p:cNvSpPr>
            <a:spLocks noGrp="1"/>
          </p:cNvSpPr>
          <p:nvPr/>
        </p:nvSpPr>
        <p:spPr>
          <a:xfrm>
            <a:off x="0" y="4619625"/>
            <a:ext cx="12192000" cy="2238375"/>
          </a:xfrm>
          <a:prstGeom prst="rect">
            <a:avLst/>
          </a:prstGeom>
          <a:solidFill>
            <a:srgbClr val="3B1F68"/>
          </a:solidFill>
          <a:ln w="0">
            <a:noFill/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1B25ED9-3701-4D2E-8A49-95C92CCD14AF}"/>
              </a:ext>
            </a:extLst>
          </p:cNvPr>
          <p:cNvSpPr>
            <a:spLocks noGrp="1"/>
          </p:cNvSpPr>
          <p:nvPr/>
        </p:nvSpPr>
        <p:spPr>
          <a:xfrm>
            <a:off x="0" y="4619625"/>
            <a:ext cx="3476625" cy="2238375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47CC6EF-FD06-42B1-B5EE-E0518B8B4F7B}"/>
              </a:ext>
            </a:extLst>
          </p:cNvPr>
          <p:cNvSpPr>
            <a:spLocks noGrp="1"/>
          </p:cNvSpPr>
          <p:nvPr/>
        </p:nvSpPr>
        <p:spPr>
          <a:xfrm>
            <a:off x="3476625" y="4619625"/>
            <a:ext cx="2952750" cy="2238375"/>
          </a:xfrm>
          <a:prstGeom prst="rect">
            <a:avLst/>
          </a:prstGeom>
          <a:solidFill>
            <a:srgbClr val="007FA8"/>
          </a:solidFill>
          <a:ln w="0">
            <a:noFill/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51A3538-050C-45CF-95F7-08B4F36BE5C3}"/>
              </a:ext>
            </a:extLst>
          </p:cNvPr>
          <p:cNvSpPr>
            <a:spLocks noGrp="1"/>
          </p:cNvSpPr>
          <p:nvPr/>
        </p:nvSpPr>
        <p:spPr>
          <a:xfrm>
            <a:off x="6429375" y="4619625"/>
            <a:ext cx="1714500" cy="2238375"/>
          </a:xfrm>
          <a:prstGeom prst="rect">
            <a:avLst/>
          </a:prstGeom>
          <a:solidFill>
            <a:srgbClr val="4D8710"/>
          </a:solidFill>
          <a:ln w="0">
            <a:noFill/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D1DC40F-4C31-40C6-B41B-13D955F5D999}"/>
              </a:ext>
            </a:extLst>
          </p:cNvPr>
          <p:cNvSpPr>
            <a:spLocks noGrp="1"/>
          </p:cNvSpPr>
          <p:nvPr/>
        </p:nvSpPr>
        <p:spPr>
          <a:xfrm>
            <a:off x="8143875" y="4619625"/>
            <a:ext cx="4048125" cy="2238375"/>
          </a:xfrm>
          <a:prstGeom prst="rect">
            <a:avLst/>
          </a:prstGeom>
          <a:solidFill>
            <a:srgbClr val="2A2050"/>
          </a:solidFill>
          <a:ln w="0">
            <a:noFill/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739B30C-8FF7-4CDA-9F92-0B51064006ED}"/>
              </a:ext>
            </a:extLst>
          </p:cNvPr>
          <p:cNvSpPr>
            <a:spLocks noGrp="1"/>
          </p:cNvSpPr>
          <p:nvPr/>
        </p:nvSpPr>
        <p:spPr>
          <a:xfrm>
            <a:off x="981075" y="5124450"/>
            <a:ext cx="1047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465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465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Q̇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A0185EA-01D2-4612-8EA4-639AFB49810B}"/>
              </a:ext>
            </a:extLst>
          </p:cNvPr>
          <p:cNvSpPr>
            <a:spLocks noGrp="1"/>
          </p:cNvSpPr>
          <p:nvPr/>
        </p:nvSpPr>
        <p:spPr>
          <a:xfrm>
            <a:off x="3724275" y="521970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C Ṫ = −L T + b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2465D8C-729E-491D-BF29-C5F9B0BE4880}"/>
              </a:ext>
            </a:extLst>
          </p:cNvPr>
          <p:cNvSpPr>
            <a:spLocks noGrp="1"/>
          </p:cNvSpPr>
          <p:nvPr/>
        </p:nvSpPr>
        <p:spPr>
          <a:xfrm>
            <a:off x="6724650" y="5219700"/>
            <a:ext cx="1162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9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ΔT</a:t>
            </a:r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5664BC84-55DA-453C-BF7B-91D03E4C2D51}"/>
              </a:ext>
            </a:extLst>
          </p:cNvPr>
          <p:cNvSpPr>
            <a:spLocks noGrp="1"/>
          </p:cNvSpPr>
          <p:nvPr/>
        </p:nvSpPr>
        <p:spPr>
          <a:xfrm>
            <a:off x="8667750" y="5057775"/>
            <a:ext cx="0" cy="1123950"/>
          </a:xfrm>
          <a:prstGeom prst="line">
            <a:avLst/>
          </a:prstGeom>
          <a:noFill/>
          <a:ln w="9525">
            <a:solidFill>
              <a:srgbClr val="665A86"/>
            </a:solidFill>
            <a:prstDash val="solid"/>
          </a:ln>
        </p:spPr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4CC17BDB-E362-4C0B-B373-CC48979DEFE2}"/>
              </a:ext>
            </a:extLst>
          </p:cNvPr>
          <p:cNvSpPr>
            <a:spLocks noGrp="1"/>
          </p:cNvSpPr>
          <p:nvPr/>
        </p:nvSpPr>
        <p:spPr>
          <a:xfrm>
            <a:off x="9220200" y="5057775"/>
            <a:ext cx="0" cy="1123950"/>
          </a:xfrm>
          <a:prstGeom prst="line">
            <a:avLst/>
          </a:prstGeom>
          <a:noFill/>
          <a:ln w="9525">
            <a:solidFill>
              <a:srgbClr val="665A86"/>
            </a:solidFill>
            <a:prstDash val="solid"/>
          </a:ln>
        </p:spPr>
      </p:sp>
      <p:sp>
        <p:nvSpPr>
          <p:cNvPr id="16" name="直線コネクタ 15">
            <a:extLst>
              <a:ext uri="{FF2B5EF4-FFF2-40B4-BE49-F238E27FC236}">
                <a16:creationId xmlns:a16="http://schemas.microsoft.com/office/drawing/2014/main" id="{CDF17E24-2C6C-416F-8B40-C7F5E7368CD0}"/>
              </a:ext>
            </a:extLst>
          </p:cNvPr>
          <p:cNvSpPr>
            <a:spLocks noGrp="1"/>
          </p:cNvSpPr>
          <p:nvPr/>
        </p:nvSpPr>
        <p:spPr>
          <a:xfrm>
            <a:off x="9772650" y="5057775"/>
            <a:ext cx="0" cy="1123950"/>
          </a:xfrm>
          <a:prstGeom prst="line">
            <a:avLst/>
          </a:prstGeom>
          <a:noFill/>
          <a:ln w="9525">
            <a:solidFill>
              <a:srgbClr val="665A86"/>
            </a:solidFill>
            <a:prstDash val="solid"/>
          </a:ln>
        </p:spPr>
      </p:sp>
      <p:sp>
        <p:nvSpPr>
          <p:cNvPr id="17" name="直線コネクタ 16">
            <a:extLst>
              <a:ext uri="{FF2B5EF4-FFF2-40B4-BE49-F238E27FC236}">
                <a16:creationId xmlns:a16="http://schemas.microsoft.com/office/drawing/2014/main" id="{3A885004-5EBE-48BB-A100-3439FE9D21BF}"/>
              </a:ext>
            </a:extLst>
          </p:cNvPr>
          <p:cNvSpPr>
            <a:spLocks noGrp="1"/>
          </p:cNvSpPr>
          <p:nvPr/>
        </p:nvSpPr>
        <p:spPr>
          <a:xfrm>
            <a:off x="10325100" y="5057775"/>
            <a:ext cx="0" cy="1123950"/>
          </a:xfrm>
          <a:prstGeom prst="line">
            <a:avLst/>
          </a:prstGeom>
          <a:noFill/>
          <a:ln w="9525">
            <a:solidFill>
              <a:srgbClr val="665A86"/>
            </a:solidFill>
            <a:prstDash val="solid"/>
          </a:ln>
        </p:spPr>
      </p:sp>
      <p:sp>
        <p:nvSpPr>
          <p:cNvPr id="18" name="直線コネクタ 17">
            <a:extLst>
              <a:ext uri="{FF2B5EF4-FFF2-40B4-BE49-F238E27FC236}">
                <a16:creationId xmlns:a16="http://schemas.microsoft.com/office/drawing/2014/main" id="{3BF761A4-B7DB-4793-BD61-B833EDEE9E0E}"/>
              </a:ext>
            </a:extLst>
          </p:cNvPr>
          <p:cNvSpPr>
            <a:spLocks noGrp="1"/>
          </p:cNvSpPr>
          <p:nvPr/>
        </p:nvSpPr>
        <p:spPr>
          <a:xfrm>
            <a:off x="10877550" y="5057775"/>
            <a:ext cx="0" cy="1123950"/>
          </a:xfrm>
          <a:prstGeom prst="line">
            <a:avLst/>
          </a:prstGeom>
          <a:noFill/>
          <a:ln w="9525">
            <a:solidFill>
              <a:srgbClr val="665A86"/>
            </a:solidFill>
            <a:prstDash val="solid"/>
          </a:ln>
        </p:spPr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00AC089A-6005-4202-8525-504335CF1839}"/>
              </a:ext>
            </a:extLst>
          </p:cNvPr>
          <p:cNvSpPr>
            <a:spLocks noGrp="1"/>
          </p:cNvSpPr>
          <p:nvPr/>
        </p:nvSpPr>
        <p:spPr>
          <a:xfrm>
            <a:off x="8496300" y="5219700"/>
            <a:ext cx="2857500" cy="0"/>
          </a:xfrm>
          <a:prstGeom prst="line">
            <a:avLst/>
          </a:prstGeom>
          <a:noFill/>
          <a:ln w="9525">
            <a:solidFill>
              <a:srgbClr val="665A86"/>
            </a:solidFill>
            <a:prstDash val="solid"/>
          </a:ln>
        </p:spPr>
      </p:sp>
      <p:sp>
        <p:nvSpPr>
          <p:cNvPr id="20" name="直線コネクタ 19">
            <a:extLst>
              <a:ext uri="{FF2B5EF4-FFF2-40B4-BE49-F238E27FC236}">
                <a16:creationId xmlns:a16="http://schemas.microsoft.com/office/drawing/2014/main" id="{F635D4C2-FA56-456A-B606-7C991E941289}"/>
              </a:ext>
            </a:extLst>
          </p:cNvPr>
          <p:cNvSpPr>
            <a:spLocks noGrp="1"/>
          </p:cNvSpPr>
          <p:nvPr/>
        </p:nvSpPr>
        <p:spPr>
          <a:xfrm>
            <a:off x="8496300" y="5619750"/>
            <a:ext cx="2857500" cy="0"/>
          </a:xfrm>
          <a:prstGeom prst="line">
            <a:avLst/>
          </a:prstGeom>
          <a:noFill/>
          <a:ln w="9525">
            <a:solidFill>
              <a:srgbClr val="665A86"/>
            </a:solidFill>
            <a:prstDash val="solid"/>
          </a:ln>
        </p:spPr>
      </p:sp>
      <p:sp>
        <p:nvSpPr>
          <p:cNvPr id="21" name="直線コネクタ 20">
            <a:extLst>
              <a:ext uri="{FF2B5EF4-FFF2-40B4-BE49-F238E27FC236}">
                <a16:creationId xmlns:a16="http://schemas.microsoft.com/office/drawing/2014/main" id="{9ADEC339-35C2-4BB1-8813-7BFCE9B23058}"/>
              </a:ext>
            </a:extLst>
          </p:cNvPr>
          <p:cNvSpPr>
            <a:spLocks noGrp="1"/>
          </p:cNvSpPr>
          <p:nvPr/>
        </p:nvSpPr>
        <p:spPr>
          <a:xfrm>
            <a:off x="8496300" y="6019800"/>
            <a:ext cx="2857500" cy="0"/>
          </a:xfrm>
          <a:prstGeom prst="line">
            <a:avLst/>
          </a:prstGeom>
          <a:noFill/>
          <a:ln w="9525">
            <a:solidFill>
              <a:srgbClr val="665A86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7D45007-BD54-4F91-98B7-CFF3E05CA240}"/>
              </a:ext>
            </a:extLst>
          </p:cNvPr>
          <p:cNvSpPr>
            <a:spLocks noGrp="1"/>
          </p:cNvSpPr>
          <p:nvPr/>
        </p:nvSpPr>
        <p:spPr>
          <a:xfrm>
            <a:off x="8991600" y="5381625"/>
            <a:ext cx="552450" cy="400050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51BFC6D-236A-4713-A771-315F3F7F6B0A}"/>
              </a:ext>
            </a:extLst>
          </p:cNvPr>
          <p:cNvSpPr>
            <a:spLocks noGrp="1"/>
          </p:cNvSpPr>
          <p:nvPr/>
        </p:nvSpPr>
        <p:spPr>
          <a:xfrm>
            <a:off x="10096500" y="4981575"/>
            <a:ext cx="552450" cy="800100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6C51816-295C-41D3-8291-2DF0FC4F1E9D}"/>
              </a:ext>
            </a:extLst>
          </p:cNvPr>
          <p:cNvSpPr>
            <a:spLocks noGrp="1"/>
          </p:cNvSpPr>
          <p:nvPr/>
        </p:nvSpPr>
        <p:spPr>
          <a:xfrm>
            <a:off x="9544050" y="5781675"/>
            <a:ext cx="552450" cy="400050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5ACF4A8-7284-4A93-93FC-98FE7351962A}"/>
              </a:ext>
            </a:extLst>
          </p:cNvPr>
          <p:cNvSpPr>
            <a:spLocks noGrp="1"/>
          </p:cNvSpPr>
          <p:nvPr/>
        </p:nvSpPr>
        <p:spPr>
          <a:xfrm>
            <a:off x="10287000" y="6438900"/>
            <a:ext cx="1352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825" b="0" i="0">
                <a:solidFill>
                  <a:srgbClr val="C6BFDA"/>
                </a:solidFill>
                <a:latin typeface="Yu Gothic"/>
                <a:ea typeface="Yu Gothic"/>
                <a:cs typeface="Yu Gothic"/>
              </a:defRPr>
            </a:pPr>
            <a:r>
              <a:rPr sz="825" b="0" i="0">
                <a:solidFill>
                  <a:srgbClr val="C6BFDA"/>
                </a:solidFill>
                <a:latin typeface="Yu Gothic"/>
                <a:ea typeface="Yu Gothic"/>
                <a:cs typeface="Yu Gothic"/>
              </a:rPr>
              <a:t>2026-09-17</a:t>
            </a:r>
          </a:p>
        </p:txBody>
      </p:sp>
    </p:spTree>
    <p:extLst>
      <p:ext uri="{BB962C8B-B14F-4D97-AF65-F5344CB8AC3E}">
        <p14:creationId xmlns:p14="http://schemas.microsoft.com/office/powerpoint/2010/main" val="101179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C48A3396-5C97-4C07-86FC-66A8BCFFA1D6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2656F12-DDA5-45C3-83C4-48EC502D0B82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EXECUTIVE VIEW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FA9CBDD-CD4C-4F63-996B-9EC2D047924D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装置適用の価値は高いが、平均温度精度と局所安全性は分けて判定する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968F564-8A35-46E6-8398-E7F924F98145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結論は「screeningに有効、製品保証には装置別V&amp;Vが必要」である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85821950-643D-43AA-8933-A5FA6DFD6AC0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7919E514-0260-4257-BA55-A4CC979C862D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DE28523-0BF3-4519-950B-319AAE8D9DDE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A0A45AD-8E71-4ED9-9BA2-CC944F64252B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A4F7A61-52AE-4469-B085-44F1F21CB63F}"/>
              </a:ext>
            </a:extLst>
          </p:cNvPr>
          <p:cNvSpPr>
            <a:spLocks noGrp="1"/>
          </p:cNvSpPr>
          <p:nvPr/>
        </p:nvSpPr>
        <p:spPr>
          <a:xfrm>
            <a:off x="552450" y="1457325"/>
            <a:ext cx="3409950" cy="2609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00FAB7B-743A-415C-9493-4DD92F42E1C8}"/>
              </a:ext>
            </a:extLst>
          </p:cNvPr>
          <p:cNvSpPr>
            <a:spLocks noGrp="1"/>
          </p:cNvSpPr>
          <p:nvPr/>
        </p:nvSpPr>
        <p:spPr>
          <a:xfrm>
            <a:off x="552450" y="1457325"/>
            <a:ext cx="3409950" cy="76200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7701C89-DF54-42F4-91FB-F8A1D10DFA57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3028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57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物理モデル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E215124-8776-4238-91B9-A960FB73FF18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3028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小自由度でも、保存則と散逸性を構造として保持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A7B84E0-B524-4841-BB9D-03956A8242AE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3028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01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熱容量 C、コンダクタンス G、境界熱伝達 h を正値化して同定。exact/implicit積分により運転条件に応じた安定計算を行う。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7D68BD6-93C5-46DF-8062-279F9D73A7B6}"/>
              </a:ext>
            </a:extLst>
          </p:cNvPr>
          <p:cNvSpPr>
            <a:spLocks noGrp="1"/>
          </p:cNvSpPr>
          <p:nvPr/>
        </p:nvSpPr>
        <p:spPr>
          <a:xfrm>
            <a:off x="4210050" y="1457325"/>
            <a:ext cx="3409950" cy="2609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190AA8E-5BA2-4AEA-9F3B-6402D07B4C86}"/>
              </a:ext>
            </a:extLst>
          </p:cNvPr>
          <p:cNvSpPr>
            <a:spLocks noGrp="1"/>
          </p:cNvSpPr>
          <p:nvPr/>
        </p:nvSpPr>
        <p:spPr>
          <a:xfrm>
            <a:off x="4210050" y="1457325"/>
            <a:ext cx="3409950" cy="76200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0629B11-DC55-4DCC-AB86-3E3B3FB08FB5}"/>
              </a:ext>
            </a:extLst>
          </p:cNvPr>
          <p:cNvSpPr>
            <a:spLocks noGrp="1"/>
          </p:cNvSpPr>
          <p:nvPr/>
        </p:nvSpPr>
        <p:spPr>
          <a:xfrm>
            <a:off x="4400550" y="1695450"/>
            <a:ext cx="3028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57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検証エビデンス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ABC43D7-F66F-4B8C-B9B0-70C42769CC59}"/>
              </a:ext>
            </a:extLst>
          </p:cNvPr>
          <p:cNvSpPr>
            <a:spLocks noGrp="1"/>
          </p:cNvSpPr>
          <p:nvPr/>
        </p:nvSpPr>
        <p:spPr>
          <a:xfrm>
            <a:off x="4400550" y="2133600"/>
            <a:ext cx="3028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合成 → 線形CAE → 高忠実度CAEの段階評価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83B1D5D-D511-47C5-8580-7EE7E895816A}"/>
              </a:ext>
            </a:extLst>
          </p:cNvPr>
          <p:cNvSpPr>
            <a:spLocks noGrp="1"/>
          </p:cNvSpPr>
          <p:nvPr/>
        </p:nvSpPr>
        <p:spPr>
          <a:xfrm>
            <a:off x="4400550" y="2876550"/>
            <a:ext cx="3028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01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TopCell core平均 0.143 K、線形COMSOL平均 0.036 K、高忠実度2ケース平均 0.0956 K。model gapとmesh未収束を別枠で保持。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90AF17B-DE1C-49CC-B1FC-8F3AF08C3C68}"/>
              </a:ext>
            </a:extLst>
          </p:cNvPr>
          <p:cNvSpPr>
            <a:spLocks noGrp="1"/>
          </p:cNvSpPr>
          <p:nvPr/>
        </p:nvSpPr>
        <p:spPr>
          <a:xfrm>
            <a:off x="7867650" y="1457325"/>
            <a:ext cx="3771900" cy="2609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DF49DAD-8054-43DF-81F6-2A938C921538}"/>
              </a:ext>
            </a:extLst>
          </p:cNvPr>
          <p:cNvSpPr>
            <a:spLocks noGrp="1"/>
          </p:cNvSpPr>
          <p:nvPr/>
        </p:nvSpPr>
        <p:spPr>
          <a:xfrm>
            <a:off x="7867650" y="1457325"/>
            <a:ext cx="3771900" cy="76200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FD5B2E8-FB88-4F97-9CE2-5A4A0BD2A3F7}"/>
              </a:ext>
            </a:extLst>
          </p:cNvPr>
          <p:cNvSpPr>
            <a:spLocks noGrp="1"/>
          </p:cNvSpPr>
          <p:nvPr/>
        </p:nvSpPr>
        <p:spPr>
          <a:xfrm>
            <a:off x="8058150" y="1695450"/>
            <a:ext cx="3390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57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装置実装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69051EC-9919-4E7D-97F3-5BCA23167BD2}"/>
              </a:ext>
            </a:extLst>
          </p:cNvPr>
          <p:cNvSpPr>
            <a:spLocks noGrp="1"/>
          </p:cNvSpPr>
          <p:nvPr/>
        </p:nvSpPr>
        <p:spPr>
          <a:xfrm>
            <a:off x="8058150" y="2133600"/>
            <a:ext cx="3390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予測・virtual sensor・異常検知を同じ状態定義で接続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AC2414E-11A3-4E14-B92E-8416129FE631}"/>
              </a:ext>
            </a:extLst>
          </p:cNvPr>
          <p:cNvSpPr>
            <a:spLocks noGrp="1"/>
          </p:cNvSpPr>
          <p:nvPr/>
        </p:nvSpPr>
        <p:spPr>
          <a:xfrm>
            <a:off x="8058150" y="2876550"/>
            <a:ext cx="33909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01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warm-up/cool-down予測、欠測補完、未知発熱とsensor biasの推定に利用可能。運転域、sensor帯域、hotspot marginは装置ごとに固定する。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D13F6D3-03A5-4277-AB48-3CEFFA48525D}"/>
              </a:ext>
            </a:extLst>
          </p:cNvPr>
          <p:cNvSpPr>
            <a:spLocks noGrp="1"/>
          </p:cNvSpPr>
          <p:nvPr/>
        </p:nvSpPr>
        <p:spPr>
          <a:xfrm>
            <a:off x="552450" y="4333875"/>
            <a:ext cx="25908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63E8DAE-5B02-4684-BB7E-22C539AAF507}"/>
              </a:ext>
            </a:extLst>
          </p:cNvPr>
          <p:cNvSpPr>
            <a:spLocks noGrp="1"/>
          </p:cNvSpPr>
          <p:nvPr/>
        </p:nvSpPr>
        <p:spPr>
          <a:xfrm>
            <a:off x="552450" y="4333875"/>
            <a:ext cx="66675" cy="1333500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C60BB86-5D7C-4CD6-BF74-FD9728FB0AB7}"/>
              </a:ext>
            </a:extLst>
          </p:cNvPr>
          <p:cNvSpPr>
            <a:spLocks noGrp="1"/>
          </p:cNvSpPr>
          <p:nvPr/>
        </p:nvSpPr>
        <p:spPr>
          <a:xfrm>
            <a:off x="742950" y="4429125"/>
            <a:ext cx="2305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0.036 K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15462F6-7D59-423C-B3F4-BF2F675F02C8}"/>
              </a:ext>
            </a:extLst>
          </p:cNvPr>
          <p:cNvSpPr>
            <a:spLocks noGrp="1"/>
          </p:cNvSpPr>
          <p:nvPr/>
        </p:nvSpPr>
        <p:spPr>
          <a:xfrm>
            <a:off x="742950" y="4810125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線形COMSOL平均RMSE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580905C-0E7A-42CF-A783-B941BAF3C05D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2305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外部forecast 8ケース。最大0.083 K。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5A94FC9-CD46-4B22-A3CE-40774D1A60F5}"/>
              </a:ext>
            </a:extLst>
          </p:cNvPr>
          <p:cNvSpPr>
            <a:spLocks noGrp="1"/>
          </p:cNvSpPr>
          <p:nvPr/>
        </p:nvSpPr>
        <p:spPr>
          <a:xfrm>
            <a:off x="3333750" y="4333875"/>
            <a:ext cx="25908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4417927-5D8C-4916-9279-1D8F2F130D06}"/>
              </a:ext>
            </a:extLst>
          </p:cNvPr>
          <p:cNvSpPr>
            <a:spLocks noGrp="1"/>
          </p:cNvSpPr>
          <p:nvPr/>
        </p:nvSpPr>
        <p:spPr>
          <a:xfrm>
            <a:off x="3333750" y="4333875"/>
            <a:ext cx="66675" cy="1333500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4822BF8-A00B-454D-B309-84AF8D39A902}"/>
              </a:ext>
            </a:extLst>
          </p:cNvPr>
          <p:cNvSpPr>
            <a:spLocks noGrp="1"/>
          </p:cNvSpPr>
          <p:nvPr/>
        </p:nvSpPr>
        <p:spPr>
          <a:xfrm>
            <a:off x="3524250" y="4429125"/>
            <a:ext cx="2305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0.143 K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2FC38A4-6617-4280-BCE2-28EAFAADFD88}"/>
              </a:ext>
            </a:extLst>
          </p:cNvPr>
          <p:cNvSpPr>
            <a:spLocks noGrp="1"/>
          </p:cNvSpPr>
          <p:nvPr/>
        </p:nvSpPr>
        <p:spPr>
          <a:xfrm>
            <a:off x="3524250" y="4810125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TopCell core平均RMSE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0B5DE73-46CA-4F24-BD66-89FC686E272F}"/>
              </a:ext>
            </a:extLst>
          </p:cNvPr>
          <p:cNvSpPr>
            <a:spLocks noGrp="1"/>
          </p:cNvSpPr>
          <p:nvPr/>
        </p:nvSpPr>
        <p:spPr>
          <a:xfrm>
            <a:off x="3524250" y="5095875"/>
            <a:ext cx="2305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初期観測が疎なF09がworst 1.303 K。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36C332D-8BEC-4B74-8B5B-C447ED150D16}"/>
              </a:ext>
            </a:extLst>
          </p:cNvPr>
          <p:cNvSpPr>
            <a:spLocks noGrp="1"/>
          </p:cNvSpPr>
          <p:nvPr/>
        </p:nvSpPr>
        <p:spPr>
          <a:xfrm>
            <a:off x="6115050" y="4333875"/>
            <a:ext cx="25908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EBEFDFC-8F2D-4960-B1AF-E83F2DE63195}"/>
              </a:ext>
            </a:extLst>
          </p:cNvPr>
          <p:cNvSpPr>
            <a:spLocks noGrp="1"/>
          </p:cNvSpPr>
          <p:nvPr/>
        </p:nvSpPr>
        <p:spPr>
          <a:xfrm>
            <a:off x="6115050" y="4333875"/>
            <a:ext cx="66675" cy="1333500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4AE8F11-6DF1-4A26-BAAE-A1DC8CE66C74}"/>
              </a:ext>
            </a:extLst>
          </p:cNvPr>
          <p:cNvSpPr>
            <a:spLocks noGrp="1"/>
          </p:cNvSpPr>
          <p:nvPr/>
        </p:nvSpPr>
        <p:spPr>
          <a:xfrm>
            <a:off x="6305550" y="4429125"/>
            <a:ext cx="2305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0.0956 K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B9FCEA1-50DC-45C7-9DF6-86EC8146BF17}"/>
              </a:ext>
            </a:extLst>
          </p:cNvPr>
          <p:cNvSpPr>
            <a:spLocks noGrp="1"/>
          </p:cNvSpPr>
          <p:nvPr/>
        </p:nvSpPr>
        <p:spPr>
          <a:xfrm>
            <a:off x="6305550" y="4810125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高忠実度2ケース平均RMSE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9E0FE52-D061-46CD-8D46-A8933A928794}"/>
              </a:ext>
            </a:extLst>
          </p:cNvPr>
          <p:cNvSpPr>
            <a:spLocks noGrp="1"/>
          </p:cNvSpPr>
          <p:nvPr/>
        </p:nvSpPr>
        <p:spPr>
          <a:xfrm>
            <a:off x="6305550" y="5095875"/>
            <a:ext cx="2305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mesh/time/experiment strict validationは未完了。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CADA515-6AB4-4E81-90DB-4F639F36E4C5}"/>
              </a:ext>
            </a:extLst>
          </p:cNvPr>
          <p:cNvSpPr>
            <a:spLocks noGrp="1"/>
          </p:cNvSpPr>
          <p:nvPr/>
        </p:nvSpPr>
        <p:spPr>
          <a:xfrm>
            <a:off x="8896350" y="4333875"/>
            <a:ext cx="2743200" cy="1333500"/>
          </a:xfrm>
          <a:prstGeom prst="rect">
            <a:avLst/>
          </a:prstGeom>
          <a:solidFill>
            <a:srgbClr val="201445"/>
          </a:solidFill>
          <a:ln w="0">
            <a:noFill/>
            <a:prstDash val="solid"/>
          </a:ln>
        </p:spPr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55B90B9-C125-46CD-9217-60E932A0E46F}"/>
              </a:ext>
            </a:extLst>
          </p:cNvPr>
          <p:cNvSpPr>
            <a:spLocks noGrp="1"/>
          </p:cNvSpPr>
          <p:nvPr/>
        </p:nvSpPr>
        <p:spPr>
          <a:xfrm>
            <a:off x="9086850" y="4476750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工学判断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221D9A8-0ACE-40A1-8B8B-ECB6F267B69C}"/>
              </a:ext>
            </a:extLst>
          </p:cNvPr>
          <p:cNvSpPr>
            <a:spLocks noGrp="1"/>
          </p:cNvSpPr>
          <p:nvPr/>
        </p:nvSpPr>
        <p:spPr>
          <a:xfrm>
            <a:off x="9086850" y="4791075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体積平均の高精度を</a:t>
            </a:r>
          </a:p>
          <a:p>
            <a:pPr algn="l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hotspot保証へ外挿しない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06D5A25-2C1B-47E5-BBCF-86395E136DAE}"/>
              </a:ext>
            </a:extLst>
          </p:cNvPr>
          <p:cNvSpPr>
            <a:spLocks noGrp="1"/>
          </p:cNvSpPr>
          <p:nvPr/>
        </p:nvSpPr>
        <p:spPr>
          <a:xfrm>
            <a:off x="9086850" y="54102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D8D0E8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D8D0E8"/>
                </a:solidFill>
                <a:latin typeface="Yu Gothic"/>
                <a:ea typeface="Yu Gothic"/>
                <a:cs typeface="Yu Gothic"/>
              </a:rPr>
              <a:t>最大hotspot過小評価 0.328 K</a:t>
            </a:r>
          </a:p>
        </p:txBody>
      </p:sp>
    </p:spTree>
    <p:extLst>
      <p:ext uri="{BB962C8B-B14F-4D97-AF65-F5344CB8AC3E}">
        <p14:creationId xmlns:p14="http://schemas.microsoft.com/office/powerpoint/2010/main" val="1784847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BA38F67-4383-49B1-B58F-65A0457F7E39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42E6947-9DE2-4B30-8FA6-5E06D0203815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EQUIPMENT CONTEXT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A866739-A978-4E1D-BAAE-74F372B94C5B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半導体装置では、熱源・熱経路・計測点を装置構成に対応付けて使う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97993B-D204-46EB-8924-109735F0ABB4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モデルはCAEの代替ではなく、制御周期で扱える状態推定・予測層として配置する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C701F06D-EC98-4276-9AA4-AF8008E3B89B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B4E65042-6AEA-4D07-9948-026E77A8EE0B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A7A38BA-5A6C-414A-85C0-2CF875EB607E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B3CA3-4F65-4BF6-9491-D5B537ABECA8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EF4C89E-0C01-4547-B3EC-0500EC3C6589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装置断面の概念対応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984E251-B659-4AA7-A518-027F4BCD0399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5143500" cy="3476625"/>
          </a:xfrm>
          <a:prstGeom prst="rect">
            <a:avLst/>
          </a:prstGeom>
          <a:solidFill>
            <a:srgbClr val="F8F8F8"/>
          </a:solidFill>
          <a:ln w="19050">
            <a:solidFill>
              <a:srgbClr val="3F3F3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AD0FA44-7EF4-4C3C-A8E1-42995A2D9F5C}"/>
              </a:ext>
            </a:extLst>
          </p:cNvPr>
          <p:cNvSpPr>
            <a:spLocks noGrp="1"/>
          </p:cNvSpPr>
          <p:nvPr/>
        </p:nvSpPr>
        <p:spPr>
          <a:xfrm>
            <a:off x="952500" y="19335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process chamber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CE1FFC1-BBF2-4D18-8CA0-10B5F28F4714}"/>
              </a:ext>
            </a:extLst>
          </p:cNvPr>
          <p:cNvSpPr>
            <a:spLocks noGrp="1"/>
          </p:cNvSpPr>
          <p:nvPr/>
        </p:nvSpPr>
        <p:spPr>
          <a:xfrm>
            <a:off x="2771775" y="1438275"/>
            <a:ext cx="1143000" cy="400050"/>
          </a:xfrm>
          <a:prstGeom prst="rect">
            <a:avLst/>
          </a:prstGeom>
          <a:solidFill>
            <a:srgbClr val="E5F6FB"/>
          </a:solidFill>
          <a:ln w="19050">
            <a:solidFill>
              <a:srgbClr val="00A5D8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D5D0441-65BB-428B-96DF-13AA853AFDB7}"/>
              </a:ext>
            </a:extLst>
          </p:cNvPr>
          <p:cNvSpPr>
            <a:spLocks noGrp="1"/>
          </p:cNvSpPr>
          <p:nvPr/>
        </p:nvSpPr>
        <p:spPr>
          <a:xfrm>
            <a:off x="2857500" y="1514475"/>
            <a:ext cx="971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gas / plasma</a:t>
            </a:r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AB96009D-09B3-4BA9-B8A4-406A838A43A5}"/>
              </a:ext>
            </a:extLst>
          </p:cNvPr>
          <p:cNvSpPr>
            <a:spLocks noGrp="1"/>
          </p:cNvSpPr>
          <p:nvPr/>
        </p:nvSpPr>
        <p:spPr>
          <a:xfrm>
            <a:off x="3343275" y="1838325"/>
            <a:ext cx="0" cy="590550"/>
          </a:xfrm>
          <a:prstGeom prst="line">
            <a:avLst/>
          </a:prstGeom>
          <a:noFill/>
          <a:ln w="28575">
            <a:solidFill>
              <a:srgbClr val="00A5D8"/>
            </a:solidFill>
            <a:prstDash val="solid"/>
          </a:ln>
        </p:spPr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8562A6C7-584B-4E5D-9FFE-FEF14375EED4}"/>
              </a:ext>
            </a:extLst>
          </p:cNvPr>
          <p:cNvSpPr>
            <a:spLocks noGrp="1"/>
          </p:cNvSpPr>
          <p:nvPr/>
        </p:nvSpPr>
        <p:spPr>
          <a:xfrm>
            <a:off x="1790700" y="2571750"/>
            <a:ext cx="3124200" cy="361950"/>
          </a:xfrm>
          <a:prstGeom prst="ellipse">
            <a:avLst/>
          </a:prstGeom>
          <a:solidFill>
            <a:srgbClr val="BBDDE7"/>
          </a:solidFill>
          <a:ln w="19050">
            <a:solidFill>
              <a:srgbClr val="007FA8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3F9DC48-B82A-4B69-A2B2-8074F31BEFED}"/>
              </a:ext>
            </a:extLst>
          </p:cNvPr>
          <p:cNvSpPr>
            <a:spLocks noGrp="1"/>
          </p:cNvSpPr>
          <p:nvPr/>
        </p:nvSpPr>
        <p:spPr>
          <a:xfrm>
            <a:off x="2400300" y="2609850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wafer / workpiece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618A328-DF09-4232-8C81-A91F9B1A916D}"/>
              </a:ext>
            </a:extLst>
          </p:cNvPr>
          <p:cNvSpPr>
            <a:spLocks noGrp="1"/>
          </p:cNvSpPr>
          <p:nvPr/>
        </p:nvSpPr>
        <p:spPr>
          <a:xfrm>
            <a:off x="1619250" y="2971800"/>
            <a:ext cx="3467100" cy="1000125"/>
          </a:xfrm>
          <a:prstGeom prst="rect">
            <a:avLst/>
          </a:prstGeom>
          <a:solidFill>
            <a:srgbClr val="EFE5F6"/>
          </a:solidFill>
          <a:ln w="19050">
            <a:solidFill>
              <a:srgbClr val="7B2DAF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05F291B-FF91-4E1C-9DB7-217496DF0800}"/>
              </a:ext>
            </a:extLst>
          </p:cNvPr>
          <p:cNvSpPr>
            <a:spLocks noGrp="1"/>
          </p:cNvSpPr>
          <p:nvPr/>
        </p:nvSpPr>
        <p:spPr>
          <a:xfrm>
            <a:off x="1981200" y="3095625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stage / ESC / heater body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5DFBC2B-A093-4B62-A7D0-72A17C8BE83A}"/>
              </a:ext>
            </a:extLst>
          </p:cNvPr>
          <p:cNvSpPr>
            <a:spLocks noGrp="1"/>
          </p:cNvSpPr>
          <p:nvPr/>
        </p:nvSpPr>
        <p:spPr>
          <a:xfrm>
            <a:off x="1847850" y="3495675"/>
            <a:ext cx="3009900" cy="171450"/>
          </a:xfrm>
          <a:prstGeom prst="rect">
            <a:avLst/>
          </a:prstGeom>
          <a:solidFill>
            <a:srgbClr val="E5A900"/>
          </a:solidFill>
          <a:ln w="0">
            <a:noFill/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B95C126-3482-450B-9BA1-0D08CC39881E}"/>
              </a:ext>
            </a:extLst>
          </p:cNvPr>
          <p:cNvSpPr>
            <a:spLocks noGrp="1"/>
          </p:cNvSpPr>
          <p:nvPr/>
        </p:nvSpPr>
        <p:spPr>
          <a:xfrm>
            <a:off x="2466975" y="3667125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0" i="0">
                <a:solidFill>
                  <a:srgbClr val="806000"/>
                </a:solidFill>
                <a:latin typeface="Yu Gothic"/>
                <a:ea typeface="Yu Gothic"/>
                <a:cs typeface="Yu Gothic"/>
              </a:defRPr>
            </a:pPr>
            <a:r>
              <a:rPr sz="825" b="0" i="0">
                <a:solidFill>
                  <a:srgbClr val="806000"/>
                </a:solidFill>
                <a:latin typeface="Yu Gothic"/>
                <a:ea typeface="Yu Gothic"/>
                <a:cs typeface="Yu Gothic"/>
              </a:rPr>
              <a:t>heater zones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447F1B7-B326-4C21-980B-7CFC530B84CC}"/>
              </a:ext>
            </a:extLst>
          </p:cNvPr>
          <p:cNvSpPr>
            <a:spLocks noGrp="1"/>
          </p:cNvSpPr>
          <p:nvPr/>
        </p:nvSpPr>
        <p:spPr>
          <a:xfrm>
            <a:off x="1800225" y="4133850"/>
            <a:ext cx="3105150" cy="400050"/>
          </a:xfrm>
          <a:prstGeom prst="rect">
            <a:avLst/>
          </a:prstGeom>
          <a:solidFill>
            <a:srgbClr val="E5F6FB"/>
          </a:solidFill>
          <a:ln w="19050">
            <a:solidFill>
              <a:srgbClr val="00A5D8"/>
            </a:solidFill>
            <a:prstDash val="solid"/>
          </a:ln>
        </p:spPr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F584E9E7-C69D-48FB-B849-18916A5A2145}"/>
              </a:ext>
            </a:extLst>
          </p:cNvPr>
          <p:cNvSpPr>
            <a:spLocks noGrp="1"/>
          </p:cNvSpPr>
          <p:nvPr/>
        </p:nvSpPr>
        <p:spPr>
          <a:xfrm>
            <a:off x="1962150" y="4238625"/>
            <a:ext cx="323850" cy="171450"/>
          </a:xfrm>
          <a:prstGeom prst="roundRect">
            <a:avLst>
              <a:gd name="adj" fmla="val 50000"/>
            </a:avLst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33C66088-4C5C-4872-9408-74A3F95D299F}"/>
              </a:ext>
            </a:extLst>
          </p:cNvPr>
          <p:cNvSpPr>
            <a:spLocks noGrp="1"/>
          </p:cNvSpPr>
          <p:nvPr/>
        </p:nvSpPr>
        <p:spPr>
          <a:xfrm>
            <a:off x="2438400" y="4238625"/>
            <a:ext cx="323850" cy="171450"/>
          </a:xfrm>
          <a:prstGeom prst="roundRect">
            <a:avLst>
              <a:gd name="adj" fmla="val 50000"/>
            </a:avLst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0C656A0-ED05-423F-929E-01B0CE624E27}"/>
              </a:ext>
            </a:extLst>
          </p:cNvPr>
          <p:cNvSpPr>
            <a:spLocks noGrp="1"/>
          </p:cNvSpPr>
          <p:nvPr/>
        </p:nvSpPr>
        <p:spPr>
          <a:xfrm>
            <a:off x="2914650" y="4238625"/>
            <a:ext cx="323850" cy="171450"/>
          </a:xfrm>
          <a:prstGeom prst="roundRect">
            <a:avLst>
              <a:gd name="adj" fmla="val 50000"/>
            </a:avLst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DC5A39D-3278-439D-9F4D-32CC8EAEE696}"/>
              </a:ext>
            </a:extLst>
          </p:cNvPr>
          <p:cNvSpPr>
            <a:spLocks noGrp="1"/>
          </p:cNvSpPr>
          <p:nvPr/>
        </p:nvSpPr>
        <p:spPr>
          <a:xfrm>
            <a:off x="3390900" y="4238625"/>
            <a:ext cx="323850" cy="171450"/>
          </a:xfrm>
          <a:prstGeom prst="roundRect">
            <a:avLst>
              <a:gd name="adj" fmla="val 50000"/>
            </a:avLst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481CA52-C919-439B-8EF6-FBA4E4622E6F}"/>
              </a:ext>
            </a:extLst>
          </p:cNvPr>
          <p:cNvSpPr>
            <a:spLocks noGrp="1"/>
          </p:cNvSpPr>
          <p:nvPr/>
        </p:nvSpPr>
        <p:spPr>
          <a:xfrm>
            <a:off x="3867150" y="4238625"/>
            <a:ext cx="323850" cy="171450"/>
          </a:xfrm>
          <a:prstGeom prst="roundRect">
            <a:avLst>
              <a:gd name="adj" fmla="val 50000"/>
            </a:avLst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8E7509B8-E174-4002-8F01-B11D752A6942}"/>
              </a:ext>
            </a:extLst>
          </p:cNvPr>
          <p:cNvSpPr>
            <a:spLocks noGrp="1"/>
          </p:cNvSpPr>
          <p:nvPr/>
        </p:nvSpPr>
        <p:spPr>
          <a:xfrm>
            <a:off x="4343400" y="4238625"/>
            <a:ext cx="323850" cy="171450"/>
          </a:xfrm>
          <a:prstGeom prst="roundRect">
            <a:avLst>
              <a:gd name="adj" fmla="val 50000"/>
            </a:avLst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A3E338B-C321-41AD-8171-3066DAF0E100}"/>
              </a:ext>
            </a:extLst>
          </p:cNvPr>
          <p:cNvSpPr>
            <a:spLocks noGrp="1"/>
          </p:cNvSpPr>
          <p:nvPr/>
        </p:nvSpPr>
        <p:spPr>
          <a:xfrm>
            <a:off x="2333625" y="4562475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0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825" b="0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coolant channel</a:t>
            </a: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957ADE66-8FE5-4889-9843-256A54FF1F08}"/>
              </a:ext>
            </a:extLst>
          </p:cNvPr>
          <p:cNvSpPr>
            <a:spLocks noGrp="1"/>
          </p:cNvSpPr>
          <p:nvPr/>
        </p:nvSpPr>
        <p:spPr>
          <a:xfrm>
            <a:off x="2095500" y="2847975"/>
            <a:ext cx="171450" cy="171450"/>
          </a:xfrm>
          <a:prstGeom prst="ellipse">
            <a:avLst/>
          </a:prstGeom>
          <a:solidFill>
            <a:srgbClr val="76BE18"/>
          </a:solidFill>
          <a:ln w="9525">
            <a:solidFill>
              <a:srgbClr val="4D8710"/>
            </a:solidFill>
            <a:prstDash val="solid"/>
          </a:ln>
        </p:spPr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2054E127-1F8E-4152-BF86-25549D205190}"/>
              </a:ext>
            </a:extLst>
          </p:cNvPr>
          <p:cNvSpPr>
            <a:spLocks noGrp="1"/>
          </p:cNvSpPr>
          <p:nvPr/>
        </p:nvSpPr>
        <p:spPr>
          <a:xfrm>
            <a:off x="3352800" y="3228975"/>
            <a:ext cx="171450" cy="171450"/>
          </a:xfrm>
          <a:prstGeom prst="ellipse">
            <a:avLst/>
          </a:prstGeom>
          <a:solidFill>
            <a:srgbClr val="76BE18"/>
          </a:solidFill>
          <a:ln w="9525">
            <a:solidFill>
              <a:srgbClr val="4D8710"/>
            </a:solidFill>
            <a:prstDash val="solid"/>
          </a:ln>
        </p:spPr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38CEA47A-F250-43FC-8728-3B7B8E9A3C89}"/>
              </a:ext>
            </a:extLst>
          </p:cNvPr>
          <p:cNvSpPr>
            <a:spLocks noGrp="1"/>
          </p:cNvSpPr>
          <p:nvPr/>
        </p:nvSpPr>
        <p:spPr>
          <a:xfrm>
            <a:off x="4610100" y="3609975"/>
            <a:ext cx="171450" cy="171450"/>
          </a:xfrm>
          <a:prstGeom prst="ellipse">
            <a:avLst/>
          </a:prstGeom>
          <a:solidFill>
            <a:srgbClr val="76BE18"/>
          </a:solidFill>
          <a:ln w="9525">
            <a:solidFill>
              <a:srgbClr val="4D8710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48A38BE-62F1-490A-81F6-36194D4523D9}"/>
              </a:ext>
            </a:extLst>
          </p:cNvPr>
          <p:cNvSpPr>
            <a:spLocks noGrp="1"/>
          </p:cNvSpPr>
          <p:nvPr/>
        </p:nvSpPr>
        <p:spPr>
          <a:xfrm>
            <a:off x="904875" y="49530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825" b="0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temperature sensors</a:t>
            </a:r>
          </a:p>
        </p:txBody>
      </p:sp>
      <p:sp>
        <p:nvSpPr>
          <p:cNvPr id="33" name="直線コネクタ 32">
            <a:extLst>
              <a:ext uri="{FF2B5EF4-FFF2-40B4-BE49-F238E27FC236}">
                <a16:creationId xmlns:a16="http://schemas.microsoft.com/office/drawing/2014/main" id="{F887D913-AE95-48AC-A0C6-511AADEC5DEF}"/>
              </a:ext>
            </a:extLst>
          </p:cNvPr>
          <p:cNvSpPr>
            <a:spLocks noGrp="1"/>
          </p:cNvSpPr>
          <p:nvPr/>
        </p:nvSpPr>
        <p:spPr>
          <a:xfrm>
            <a:off x="1962150" y="4029075"/>
            <a:ext cx="266700" cy="1000125"/>
          </a:xfrm>
          <a:prstGeom prst="line">
            <a:avLst/>
          </a:prstGeom>
          <a:noFill/>
          <a:ln w="9525">
            <a:solidFill>
              <a:srgbClr val="76BE18"/>
            </a:solidFill>
            <a:prstDash val="dash"/>
          </a:ln>
        </p:spPr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F46A2598-6A81-4140-9DC3-34CD583A1319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525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状態モデルへの写像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C66E27E-F04A-4267-AA66-8B37C663C4F3}"/>
              </a:ext>
            </a:extLst>
          </p:cNvPr>
          <p:cNvSpPr>
            <a:spLocks noGrp="1"/>
          </p:cNvSpPr>
          <p:nvPr/>
        </p:nvSpPr>
        <p:spPr>
          <a:xfrm>
            <a:off x="6381750" y="1790700"/>
            <a:ext cx="5257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D71FF75-A539-4A10-8B8F-FE55844B808C}"/>
              </a:ext>
            </a:extLst>
          </p:cNvPr>
          <p:cNvSpPr>
            <a:spLocks noGrp="1"/>
          </p:cNvSpPr>
          <p:nvPr/>
        </p:nvSpPr>
        <p:spPr>
          <a:xfrm>
            <a:off x="6381750" y="1790700"/>
            <a:ext cx="76200" cy="685800"/>
          </a:xfrm>
          <a:prstGeom prst="rect">
            <a:avLst/>
          </a:prstGeom>
          <a:solidFill>
            <a:srgbClr val="E5A900"/>
          </a:solidFill>
          <a:ln w="0">
            <a:noFill/>
            <a:prstDash val="solid"/>
          </a:ln>
        </p:spPr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6D571DF4-07CE-4274-87CB-458C110FCD64}"/>
              </a:ext>
            </a:extLst>
          </p:cNvPr>
          <p:cNvSpPr>
            <a:spLocks noGrp="1"/>
          </p:cNvSpPr>
          <p:nvPr/>
        </p:nvSpPr>
        <p:spPr>
          <a:xfrm>
            <a:off x="6600825" y="1876425"/>
            <a:ext cx="1352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E5A900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E5A900"/>
                </a:solidFill>
                <a:latin typeface="Cambria Math"/>
                <a:ea typeface="Cambria Math"/>
                <a:cs typeface="Cambria Math"/>
              </a:rPr>
              <a:t>熱源 q(t)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93B2AAF1-54F5-4E53-8E92-7FEBA5A36ED7}"/>
              </a:ext>
            </a:extLst>
          </p:cNvPr>
          <p:cNvSpPr>
            <a:spLocks noGrp="1"/>
          </p:cNvSpPr>
          <p:nvPr/>
        </p:nvSpPr>
        <p:spPr>
          <a:xfrm>
            <a:off x="7962900" y="1876425"/>
            <a:ext cx="3371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heater / plasma / chuck loss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16F97DF-3834-4B13-BA50-9F01EBEE547B}"/>
              </a:ext>
            </a:extLst>
          </p:cNvPr>
          <p:cNvSpPr>
            <a:spLocks noGrp="1"/>
          </p:cNvSpPr>
          <p:nvPr/>
        </p:nvSpPr>
        <p:spPr>
          <a:xfrm>
            <a:off x="6600825" y="2162175"/>
            <a:ext cx="4733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recipe変化の過渡温度を予測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5C3757C-D45C-4648-B27D-12247AFCF9E8}"/>
              </a:ext>
            </a:extLst>
          </p:cNvPr>
          <p:cNvSpPr>
            <a:spLocks noGrp="1"/>
          </p:cNvSpPr>
          <p:nvPr/>
        </p:nvSpPr>
        <p:spPr>
          <a:xfrm>
            <a:off x="6381750" y="2628900"/>
            <a:ext cx="5257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C290686C-1926-4ABF-BC5A-D871DE98E10F}"/>
              </a:ext>
            </a:extLst>
          </p:cNvPr>
          <p:cNvSpPr>
            <a:spLocks noGrp="1"/>
          </p:cNvSpPr>
          <p:nvPr/>
        </p:nvSpPr>
        <p:spPr>
          <a:xfrm>
            <a:off x="6381750" y="2628900"/>
            <a:ext cx="76200" cy="685800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91ECD12-3D4A-440A-8F81-3E4989AEFA2F}"/>
              </a:ext>
            </a:extLst>
          </p:cNvPr>
          <p:cNvSpPr>
            <a:spLocks noGrp="1"/>
          </p:cNvSpPr>
          <p:nvPr/>
        </p:nvSpPr>
        <p:spPr>
          <a:xfrm>
            <a:off x="6600825" y="2714625"/>
            <a:ext cx="1352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0A5D8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00A5D8"/>
                </a:solidFill>
                <a:latin typeface="Cambria Math"/>
                <a:ea typeface="Cambria Math"/>
                <a:cs typeface="Cambria Math"/>
              </a:rPr>
              <a:t>熱経路 G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905F0218-F9AE-4D81-B9FC-327BB1BF3AE9}"/>
              </a:ext>
            </a:extLst>
          </p:cNvPr>
          <p:cNvSpPr>
            <a:spLocks noGrp="1"/>
          </p:cNvSpPr>
          <p:nvPr/>
        </p:nvSpPr>
        <p:spPr>
          <a:xfrm>
            <a:off x="7962900" y="2714625"/>
            <a:ext cx="3371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contact / interface / cooling path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0F8608C9-C0FB-4C44-B287-DC58A9430653}"/>
              </a:ext>
            </a:extLst>
          </p:cNvPr>
          <p:cNvSpPr>
            <a:spLocks noGrp="1"/>
          </p:cNvSpPr>
          <p:nvPr/>
        </p:nvSpPr>
        <p:spPr>
          <a:xfrm>
            <a:off x="6600825" y="3000375"/>
            <a:ext cx="4733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接触劣化・冷却能力変化を識別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551CBDA-9B35-4618-87FC-05D0BDAD20F8}"/>
              </a:ext>
            </a:extLst>
          </p:cNvPr>
          <p:cNvSpPr>
            <a:spLocks noGrp="1"/>
          </p:cNvSpPr>
          <p:nvPr/>
        </p:nvSpPr>
        <p:spPr>
          <a:xfrm>
            <a:off x="6381750" y="3467100"/>
            <a:ext cx="5257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DFAEA80-72C6-474C-B372-2881142CD656}"/>
              </a:ext>
            </a:extLst>
          </p:cNvPr>
          <p:cNvSpPr>
            <a:spLocks noGrp="1"/>
          </p:cNvSpPr>
          <p:nvPr/>
        </p:nvSpPr>
        <p:spPr>
          <a:xfrm>
            <a:off x="6381750" y="3467100"/>
            <a:ext cx="76200" cy="685800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4AC74DA9-D08D-401F-9FCA-05A43D69D42A}"/>
              </a:ext>
            </a:extLst>
          </p:cNvPr>
          <p:cNvSpPr>
            <a:spLocks noGrp="1"/>
          </p:cNvSpPr>
          <p:nvPr/>
        </p:nvSpPr>
        <p:spPr>
          <a:xfrm>
            <a:off x="6600825" y="3552825"/>
            <a:ext cx="1352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7B2DA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B2DAF"/>
                </a:solidFill>
                <a:latin typeface="Cambria Math"/>
                <a:ea typeface="Cambria Math"/>
                <a:cs typeface="Cambria Math"/>
              </a:rPr>
              <a:t>状態 T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4447743-452A-48C4-99A3-47D45BE718B0}"/>
              </a:ext>
            </a:extLst>
          </p:cNvPr>
          <p:cNvSpPr>
            <a:spLocks noGrp="1"/>
          </p:cNvSpPr>
          <p:nvPr/>
        </p:nvSpPr>
        <p:spPr>
          <a:xfrm>
            <a:off x="7962900" y="3552825"/>
            <a:ext cx="3371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wafer近傍 / stage / wall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AED7A57-4B4C-425C-AA84-FA075E1707DE}"/>
              </a:ext>
            </a:extLst>
          </p:cNvPr>
          <p:cNvSpPr>
            <a:spLocks noGrp="1"/>
          </p:cNvSpPr>
          <p:nvPr/>
        </p:nvSpPr>
        <p:spPr>
          <a:xfrm>
            <a:off x="6600825" y="3838575"/>
            <a:ext cx="4733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virtual sensor・warm-up判定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A983D94B-AA33-4593-94F9-4918E341A0C6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5257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7A63130B-7203-41D1-BEC7-B39EB5957567}"/>
              </a:ext>
            </a:extLst>
          </p:cNvPr>
          <p:cNvSpPr>
            <a:spLocks noGrp="1"/>
          </p:cNvSpPr>
          <p:nvPr/>
        </p:nvSpPr>
        <p:spPr>
          <a:xfrm>
            <a:off x="6381750" y="4305300"/>
            <a:ext cx="76200" cy="685800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471802C0-78F3-4B7A-991B-D406D48EC80A}"/>
              </a:ext>
            </a:extLst>
          </p:cNvPr>
          <p:cNvSpPr>
            <a:spLocks noGrp="1"/>
          </p:cNvSpPr>
          <p:nvPr/>
        </p:nvSpPr>
        <p:spPr>
          <a:xfrm>
            <a:off x="6600825" y="4391025"/>
            <a:ext cx="1352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76BE18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6BE18"/>
                </a:solidFill>
                <a:latin typeface="Cambria Math"/>
                <a:ea typeface="Cambria Math"/>
                <a:cs typeface="Cambria Math"/>
              </a:rPr>
              <a:t>観測 H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1E8C8D1-36EE-44A9-8060-01E832C67F07}"/>
              </a:ext>
            </a:extLst>
          </p:cNvPr>
          <p:cNvSpPr>
            <a:spLocks noGrp="1"/>
          </p:cNvSpPr>
          <p:nvPr/>
        </p:nvSpPr>
        <p:spPr>
          <a:xfrm>
            <a:off x="7962900" y="4391025"/>
            <a:ext cx="3371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TC / RTD / pyrometer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F91F6015-BBE4-437E-B9E1-8EC4B8DFA1BA}"/>
              </a:ext>
            </a:extLst>
          </p:cNvPr>
          <p:cNvSpPr>
            <a:spLocks noGrp="1"/>
          </p:cNvSpPr>
          <p:nvPr/>
        </p:nvSpPr>
        <p:spPr>
          <a:xfrm>
            <a:off x="6600825" y="4676775"/>
            <a:ext cx="4733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欠測補完・sensor bias監視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FA3D47B5-5A07-4ADE-B9A1-5BDE476C844B}"/>
              </a:ext>
            </a:extLst>
          </p:cNvPr>
          <p:cNvSpPr>
            <a:spLocks noGrp="1"/>
          </p:cNvSpPr>
          <p:nvPr/>
        </p:nvSpPr>
        <p:spPr>
          <a:xfrm>
            <a:off x="6381750" y="5314950"/>
            <a:ext cx="5257800" cy="742950"/>
          </a:xfrm>
          <a:prstGeom prst="rect">
            <a:avLst/>
          </a:prstGeom>
          <a:solidFill>
            <a:srgbClr val="FBE9E7"/>
          </a:solidFill>
          <a:ln w="9525">
            <a:solidFill>
              <a:srgbClr val="C4493D"/>
            </a:solidFill>
            <a:prstDash val="solid"/>
          </a:ln>
        </p:spPr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E245822-38C7-4D20-ACD0-38FF97B02D79}"/>
              </a:ext>
            </a:extLst>
          </p:cNvPr>
          <p:cNvSpPr>
            <a:spLocks noGrp="1"/>
          </p:cNvSpPr>
          <p:nvPr/>
        </p:nvSpPr>
        <p:spPr>
          <a:xfrm>
            <a:off x="6572250" y="543877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適用境界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33AA758E-E651-4B6E-B63C-32A6A005D9C5}"/>
              </a:ext>
            </a:extLst>
          </p:cNvPr>
          <p:cNvSpPr>
            <a:spLocks noGrp="1"/>
          </p:cNvSpPr>
          <p:nvPr/>
        </p:nvSpPr>
        <p:spPr>
          <a:xfrm>
            <a:off x="7486650" y="5410200"/>
            <a:ext cx="3962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node温度は領域代表値。wafer面内分布、局所hotspot、放射view factorはCAE/実測で別途拘束する。</a:t>
            </a:r>
          </a:p>
        </p:txBody>
      </p:sp>
    </p:spTree>
    <p:extLst>
      <p:ext uri="{BB962C8B-B14F-4D97-AF65-F5344CB8AC3E}">
        <p14:creationId xmlns:p14="http://schemas.microsoft.com/office/powerpoint/2010/main" val="11702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257A209-7F27-4DA2-8FE4-01204EABD626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FE675AA-4626-4FAE-B76D-EA2523C7EB42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EVIDENCE STRATEGY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37A83C6-748B-41EB-8F99-47FAB390011A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証拠の階層を上げるたびに、主張できる範囲と未解決事項を更新する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8AB85A8-852B-4A84-B52B-02F7BDA19FC6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RMSE単独ではなく、model form・mesh・time・experimentの不確かさを分離する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C8F74CBE-EE92-45B1-89FF-E7040C3AFAC1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4F6CAD07-7A49-409E-896A-11E9EDDF17EA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8C63B1A-D315-4C63-9335-2AC96D221200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DE8BC01-5153-4F97-95F9-FECDCE4B1C58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graphicFrame>
        <p:nvGraphicFramePr>
          <p:cNvPr id="29" name="表 28"/>
          <p:cNvGraphicFramePr/>
          <p:nvPr/>
        </p:nvGraphicFramePr>
        <p:xfrm>
          <a:off x="552450" y="1457325"/>
          <a:ext cx="11087100" cy="36957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5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Level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目的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確認済みの証拠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主張できる範囲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残課題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878" b="1">
                          <a:solidFill>
                            <a:srgbClr val="007FA8"/>
                          </a:solidFill>
                          <a:latin typeface="Yu Gothic"/>
                          <a:ea typeface="Yu Gothic"/>
                          <a:cs typeface="Yu Gothic"/>
                        </a:rPr>
                        <a:t>A  数理・実装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保存則、正値性、数値安定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unit / property / quality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実装整合性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装置物理は未証明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878" b="1">
                          <a:solidFill>
                            <a:srgbClr val="007FA8"/>
                          </a:solidFill>
                          <a:latin typeface="Yu Gothic"/>
                          <a:ea typeface="Yu Gothic"/>
                          <a:cs typeface="Yu Gothic"/>
                        </a:rPr>
                        <a:t>B  TopCell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真値既知で回帰試験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core 11ケース平均 0.143 K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同一model class内の性能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F11 model gap 9.823 K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878" b="1">
                          <a:solidFill>
                            <a:srgbClr val="007FA8"/>
                          </a:solidFill>
                          <a:latin typeface="Yu Gothic"/>
                          <a:ea typeface="Yu Gothic"/>
                          <a:cs typeface="Yu Gothic"/>
                        </a:rPr>
                        <a:t>C  線形COMSOL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外部CAEへの転移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8ケース平均 0.036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体積平均・線形境界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hotspot最大過小 0.328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878" b="1">
                          <a:solidFill>
                            <a:srgbClr val="7B2DAF"/>
                          </a:solidFill>
                          <a:latin typeface="Yu Gothic"/>
                          <a:ea typeface="Yu Gothic"/>
                          <a:cs typeface="Yu Gothic"/>
                        </a:rPr>
                        <a:t>D  高忠実度CAE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非線形・放射のscreening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2ケース平均 0.0956 K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model-form screening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mesh/time strict未qualified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878" b="1">
                          <a:solidFill>
                            <a:srgbClr val="C4493D"/>
                          </a:solidFill>
                          <a:latin typeface="Yu Gothic"/>
                          <a:ea typeface="Yu Gothic"/>
                          <a:cs typeface="Yu Gothic"/>
                        </a:rPr>
                        <a:t>E  装置データ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製品運転域で妥当化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 b="1">
                          <a:solidFill>
                            <a:srgbClr val="C4493D"/>
                          </a:solidFill>
                          <a:latin typeface="Yu Gothic"/>
                          <a:ea typeface="Yu Gothic"/>
                          <a:cs typeface="Yu Gothic"/>
                        </a:rPr>
                        <a:t>未実施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DOE、sensor校正、holdout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BDCE5E8-D860-41CD-9F5E-356033A3DF2D}"/>
              </a:ext>
            </a:extLst>
          </p:cNvPr>
          <p:cNvSpPr>
            <a:spLocks noGrp="1"/>
          </p:cNvSpPr>
          <p:nvPr/>
        </p:nvSpPr>
        <p:spPr>
          <a:xfrm>
            <a:off x="552450" y="53816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主張の境界</a:t>
            </a:r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263313D9-4E25-4642-AEBC-C63F033A32A9}"/>
              </a:ext>
            </a:extLst>
          </p:cNvPr>
          <p:cNvSpPr>
            <a:spLocks noGrp="1"/>
          </p:cNvSpPr>
          <p:nvPr/>
        </p:nvSpPr>
        <p:spPr>
          <a:xfrm>
            <a:off x="552450" y="5724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CEEFD05-F375-4A87-B9EB-DA5B29DCB7D8}"/>
              </a:ext>
            </a:extLst>
          </p:cNvPr>
          <p:cNvSpPr>
            <a:spLocks noGrp="1"/>
          </p:cNvSpPr>
          <p:nvPr/>
        </p:nvSpPr>
        <p:spPr>
          <a:xfrm>
            <a:off x="552450" y="5848350"/>
            <a:ext cx="685800" cy="238125"/>
          </a:xfrm>
          <a:prstGeom prst="roundRect">
            <a:avLst>
              <a:gd name="adj" fmla="val 50000"/>
            </a:avLst>
          </a:prstGeom>
          <a:solidFill>
            <a:srgbClr val="EEF7DF"/>
          </a:solidFill>
          <a:ln w="9525">
            <a:solidFill>
              <a:srgbClr val="76BE18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3F49A98-5231-434B-BFA7-7A87446D4673}"/>
              </a:ext>
            </a:extLst>
          </p:cNvPr>
          <p:cNvSpPr>
            <a:spLocks noGrp="1"/>
          </p:cNvSpPr>
          <p:nvPr/>
        </p:nvSpPr>
        <p:spPr>
          <a:xfrm>
            <a:off x="600075" y="585787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可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84D5889-99DA-4137-B205-FCC9C8DE3CC0}"/>
              </a:ext>
            </a:extLst>
          </p:cNvPr>
          <p:cNvSpPr>
            <a:spLocks noGrp="1"/>
          </p:cNvSpPr>
          <p:nvPr/>
        </p:nvSpPr>
        <p:spPr>
          <a:xfrm>
            <a:off x="1333500" y="5819775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集中定数モデルとしての因果予測・状態監視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391C04C-1CDF-41EB-9DA8-E1C4CF249080}"/>
              </a:ext>
            </a:extLst>
          </p:cNvPr>
          <p:cNvSpPr>
            <a:spLocks noGrp="1"/>
          </p:cNvSpPr>
          <p:nvPr/>
        </p:nvSpPr>
        <p:spPr>
          <a:xfrm>
            <a:off x="4248150" y="5848350"/>
            <a:ext cx="685800" cy="238125"/>
          </a:xfrm>
          <a:prstGeom prst="roundRect">
            <a:avLst>
              <a:gd name="adj" fmla="val 50000"/>
            </a:avLst>
          </a:prstGeom>
          <a:solidFill>
            <a:srgbClr val="FFF5D7"/>
          </a:solidFill>
          <a:ln w="9525">
            <a:solidFill>
              <a:srgbClr val="E5A900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FA6DB33-7D88-4C94-91CE-4E73C5788DE7}"/>
              </a:ext>
            </a:extLst>
          </p:cNvPr>
          <p:cNvSpPr>
            <a:spLocks noGrp="1"/>
          </p:cNvSpPr>
          <p:nvPr/>
        </p:nvSpPr>
        <p:spPr>
          <a:xfrm>
            <a:off x="4295775" y="585787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E5A900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E5A900"/>
                </a:solidFill>
                <a:latin typeface="Yu Gothic"/>
                <a:ea typeface="Yu Gothic"/>
                <a:cs typeface="Yu Gothic"/>
              </a:rPr>
              <a:t>条件付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636312E-54F8-4822-AC97-FB055E02DD65}"/>
              </a:ext>
            </a:extLst>
          </p:cNvPr>
          <p:cNvSpPr>
            <a:spLocks noGrp="1"/>
          </p:cNvSpPr>
          <p:nvPr/>
        </p:nvSpPr>
        <p:spPr>
          <a:xfrm>
            <a:off x="5029200" y="5819775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体積平均温度のscreening精度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8EA211A-5C0A-4C36-98F5-F0CB2DCE5A50}"/>
              </a:ext>
            </a:extLst>
          </p:cNvPr>
          <p:cNvSpPr>
            <a:spLocks noGrp="1"/>
          </p:cNvSpPr>
          <p:nvPr/>
        </p:nvSpPr>
        <p:spPr>
          <a:xfrm>
            <a:off x="7943850" y="5848350"/>
            <a:ext cx="685800" cy="238125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 w="9525">
            <a:solidFill>
              <a:srgbClr val="C4493D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09329D4-07B7-4CDB-A1CF-AB87C12226DA}"/>
              </a:ext>
            </a:extLst>
          </p:cNvPr>
          <p:cNvSpPr>
            <a:spLocks noGrp="1"/>
          </p:cNvSpPr>
          <p:nvPr/>
        </p:nvSpPr>
        <p:spPr>
          <a:xfrm>
            <a:off x="7991475" y="585787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不可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BE3171B-0FD0-4E7F-8AC4-2B9AA37385EA}"/>
              </a:ext>
            </a:extLst>
          </p:cNvPr>
          <p:cNvSpPr>
            <a:spLocks noGrp="1"/>
          </p:cNvSpPr>
          <p:nvPr/>
        </p:nvSpPr>
        <p:spPr>
          <a:xfrm>
            <a:off x="8724900" y="5819775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9947"/>
          </a:bodyPr>
          <a:lstStyle/>
          <a:p>
            <a:pPr algn="l">
              <a:lnSpc>
                <a:spcPct val="100000"/>
              </a:lnSpc>
              <a:buNone/>
              <a:defRPr sz="938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局所hotspot・wafer面内均一性・製品保証への直接外挿</a:t>
            </a:r>
          </a:p>
        </p:txBody>
      </p:sp>
    </p:spTree>
    <p:extLst>
      <p:ext uri="{BB962C8B-B14F-4D97-AF65-F5344CB8AC3E}">
        <p14:creationId xmlns:p14="http://schemas.microsoft.com/office/powerpoint/2010/main" val="1767928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3FBFE963-F33D-44F0-9F2E-312CB124EBD2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F0326A-91FA-4241-9E61-23F8F51FB4CE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PHYSICAL MODEL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FFB039-A156-4EC5-B815-1F6F11DD2BF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3ノード伝熱回路は、熱容量を固定し3つの熱伝達係数を同定する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67EB8C7-8927-48C2-A20B-97BF67645F95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線形COMSOL評価モデル：chip → sink base → fins → coolant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2C342692-0C5E-4E3E-B554-E6C5FA93E9B0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541D9DD4-4338-4E29-B34F-5A7370ED6076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F24249F-4108-4D53-9688-D0BC618C6035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EBE24C8-CA71-4FF3-BE17-083F02FEEC93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19F059A-998C-4299-B82A-0388A761AAD8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伝熱回路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3247A06-B0F1-4514-A5A8-28A1C1A9EDAE}"/>
              </a:ext>
            </a:extLst>
          </p:cNvPr>
          <p:cNvSpPr>
            <a:spLocks noGrp="1"/>
          </p:cNvSpPr>
          <p:nvPr/>
        </p:nvSpPr>
        <p:spPr>
          <a:xfrm>
            <a:off x="552450" y="2600325"/>
            <a:ext cx="1009650" cy="533400"/>
          </a:xfrm>
          <a:prstGeom prst="roundRect">
            <a:avLst>
              <a:gd name="adj" fmla="val 50000"/>
            </a:avLst>
          </a:prstGeom>
          <a:solidFill>
            <a:srgbClr val="FFF5D7"/>
          </a:solidFill>
          <a:ln w="19050">
            <a:solidFill>
              <a:srgbClr val="E5A900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22475EC-113A-4C39-B5E6-AB7EA3CEA996}"/>
              </a:ext>
            </a:extLst>
          </p:cNvPr>
          <p:cNvSpPr>
            <a:spLocks noGrp="1"/>
          </p:cNvSpPr>
          <p:nvPr/>
        </p:nvSpPr>
        <p:spPr>
          <a:xfrm>
            <a:off x="647700" y="2686050"/>
            <a:ext cx="819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806000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806000"/>
                </a:solidFill>
                <a:latin typeface="Cambria Math"/>
                <a:ea typeface="Cambria Math"/>
                <a:cs typeface="Cambria Math"/>
              </a:rPr>
              <a:t>Pchip(t)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84C246F-95A1-4F93-AEDC-BFE1CD9A4C66}"/>
              </a:ext>
            </a:extLst>
          </p:cNvPr>
          <p:cNvSpPr>
            <a:spLocks noGrp="1"/>
          </p:cNvSpPr>
          <p:nvPr/>
        </p:nvSpPr>
        <p:spPr>
          <a:xfrm>
            <a:off x="1952625" y="2076450"/>
            <a:ext cx="1543050" cy="1581150"/>
          </a:xfrm>
          <a:prstGeom prst="rect">
            <a:avLst/>
          </a:prstGeom>
          <a:solidFill>
            <a:srgbClr val="EFE5F6"/>
          </a:solidFill>
          <a:ln w="19050">
            <a:solidFill>
              <a:srgbClr val="7B2DAF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29F73ED-7055-4E87-94BF-E776344CC69E}"/>
              </a:ext>
            </a:extLst>
          </p:cNvPr>
          <p:cNvSpPr>
            <a:spLocks noGrp="1"/>
          </p:cNvSpPr>
          <p:nvPr/>
        </p:nvSpPr>
        <p:spPr>
          <a:xfrm>
            <a:off x="2133600" y="2257425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chip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4B293B3-64E8-4AF8-BEB5-BACE571725B2}"/>
              </a:ext>
            </a:extLst>
          </p:cNvPr>
          <p:cNvSpPr>
            <a:spLocks noGrp="1"/>
          </p:cNvSpPr>
          <p:nvPr/>
        </p:nvSpPr>
        <p:spPr>
          <a:xfrm>
            <a:off x="2133600" y="2628900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7701"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T₁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1942FB8-5AEC-43B8-A208-C22E39A9D776}"/>
              </a:ext>
            </a:extLst>
          </p:cNvPr>
          <p:cNvSpPr>
            <a:spLocks noGrp="1"/>
          </p:cNvSpPr>
          <p:nvPr/>
        </p:nvSpPr>
        <p:spPr>
          <a:xfrm>
            <a:off x="2047875" y="3143250"/>
            <a:ext cx="1352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00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C₁ = 10.43392 J/K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8B7C8BC-855B-4B9B-9255-6E76B13C0FA6}"/>
              </a:ext>
            </a:extLst>
          </p:cNvPr>
          <p:cNvSpPr>
            <a:spLocks noGrp="1"/>
          </p:cNvSpPr>
          <p:nvPr/>
        </p:nvSpPr>
        <p:spPr>
          <a:xfrm>
            <a:off x="3752850" y="2600325"/>
            <a:ext cx="10668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5D8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8263952-BC17-4E42-A0C3-79B51C1B4D3A}"/>
              </a:ext>
            </a:extLst>
          </p:cNvPr>
          <p:cNvSpPr>
            <a:spLocks noGrp="1"/>
          </p:cNvSpPr>
          <p:nvPr/>
        </p:nvSpPr>
        <p:spPr>
          <a:xfrm>
            <a:off x="3810000" y="26670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007FA8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007FA8"/>
                </a:solidFill>
                <a:latin typeface="Cambria Math"/>
                <a:ea typeface="Cambria Math"/>
                <a:cs typeface="Cambria Math"/>
              </a:rPr>
              <a:t>G₁ = 38.220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2E25D82-9023-46AC-9E92-E9B0E8FD515A}"/>
              </a:ext>
            </a:extLst>
          </p:cNvPr>
          <p:cNvSpPr>
            <a:spLocks noGrp="1"/>
          </p:cNvSpPr>
          <p:nvPr/>
        </p:nvSpPr>
        <p:spPr>
          <a:xfrm>
            <a:off x="3810000" y="28765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W/K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DDE21A9-F47D-40F7-94CD-CB4E19681B5D}"/>
              </a:ext>
            </a:extLst>
          </p:cNvPr>
          <p:cNvSpPr>
            <a:spLocks noGrp="1"/>
          </p:cNvSpPr>
          <p:nvPr/>
        </p:nvSpPr>
        <p:spPr>
          <a:xfrm>
            <a:off x="5086350" y="2076450"/>
            <a:ext cx="1543050" cy="1581150"/>
          </a:xfrm>
          <a:prstGeom prst="rect">
            <a:avLst/>
          </a:prstGeom>
          <a:solidFill>
            <a:srgbClr val="E5F6FB"/>
          </a:solidFill>
          <a:ln w="19050">
            <a:solidFill>
              <a:srgbClr val="00A5D8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CD998D0-D0C5-427A-8B1B-19D33E9A1B64}"/>
              </a:ext>
            </a:extLst>
          </p:cNvPr>
          <p:cNvSpPr>
            <a:spLocks noGrp="1"/>
          </p:cNvSpPr>
          <p:nvPr/>
        </p:nvSpPr>
        <p:spPr>
          <a:xfrm>
            <a:off x="5267325" y="2257425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sink base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854E900-27B1-4AC9-ABDB-30E78871CF01}"/>
              </a:ext>
            </a:extLst>
          </p:cNvPr>
          <p:cNvSpPr>
            <a:spLocks noGrp="1"/>
          </p:cNvSpPr>
          <p:nvPr/>
        </p:nvSpPr>
        <p:spPr>
          <a:xfrm>
            <a:off x="5267325" y="2628900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7701"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T₂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887B3C0-7D11-4D6A-8713-4D44CE7A015C}"/>
              </a:ext>
            </a:extLst>
          </p:cNvPr>
          <p:cNvSpPr>
            <a:spLocks noGrp="1"/>
          </p:cNvSpPr>
          <p:nvPr/>
        </p:nvSpPr>
        <p:spPr>
          <a:xfrm>
            <a:off x="5181600" y="3143250"/>
            <a:ext cx="1352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00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C₂ = 24.3 J/K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256F643-7364-4BCF-AD56-8AE0FB76E252}"/>
              </a:ext>
            </a:extLst>
          </p:cNvPr>
          <p:cNvSpPr>
            <a:spLocks noGrp="1"/>
          </p:cNvSpPr>
          <p:nvPr/>
        </p:nvSpPr>
        <p:spPr>
          <a:xfrm>
            <a:off x="6886575" y="2600325"/>
            <a:ext cx="1066800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D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89FCBA7-81C4-4C39-B3F3-5A07E93BE972}"/>
              </a:ext>
            </a:extLst>
          </p:cNvPr>
          <p:cNvSpPr>
            <a:spLocks noGrp="1"/>
          </p:cNvSpPr>
          <p:nvPr/>
        </p:nvSpPr>
        <p:spPr>
          <a:xfrm>
            <a:off x="6943725" y="26670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00A89D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00A89D"/>
                </a:solidFill>
                <a:latin typeface="Cambria Math"/>
                <a:ea typeface="Cambria Math"/>
                <a:cs typeface="Cambria Math"/>
              </a:rPr>
              <a:t>G₂ = 9.992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9739644-5EB6-4463-AF93-B0CBCCEDCA34}"/>
              </a:ext>
            </a:extLst>
          </p:cNvPr>
          <p:cNvSpPr>
            <a:spLocks noGrp="1"/>
          </p:cNvSpPr>
          <p:nvPr/>
        </p:nvSpPr>
        <p:spPr>
          <a:xfrm>
            <a:off x="6943725" y="28765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W/K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176FEE4-F722-48C0-8F65-322ACBED65F0}"/>
              </a:ext>
            </a:extLst>
          </p:cNvPr>
          <p:cNvSpPr>
            <a:spLocks noGrp="1"/>
          </p:cNvSpPr>
          <p:nvPr/>
        </p:nvSpPr>
        <p:spPr>
          <a:xfrm>
            <a:off x="8220075" y="2076450"/>
            <a:ext cx="1543050" cy="1581150"/>
          </a:xfrm>
          <a:prstGeom prst="rect">
            <a:avLst/>
          </a:prstGeom>
          <a:solidFill>
            <a:srgbClr val="EEF7DF"/>
          </a:solidFill>
          <a:ln w="19050">
            <a:solidFill>
              <a:srgbClr val="76BE18"/>
            </a:solidFill>
            <a:prstDash val="solid"/>
          </a:ln>
        </p:spPr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156CCDF-0312-4A7C-8F0D-B467057FB8E0}"/>
              </a:ext>
            </a:extLst>
          </p:cNvPr>
          <p:cNvSpPr>
            <a:spLocks noGrp="1"/>
          </p:cNvSpPr>
          <p:nvPr/>
        </p:nvSpPr>
        <p:spPr>
          <a:xfrm>
            <a:off x="8401050" y="2257425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fins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115EB64-BDD2-45E0-AAF8-5C84DE5112F6}"/>
              </a:ext>
            </a:extLst>
          </p:cNvPr>
          <p:cNvSpPr>
            <a:spLocks noGrp="1"/>
          </p:cNvSpPr>
          <p:nvPr/>
        </p:nvSpPr>
        <p:spPr>
          <a:xfrm>
            <a:off x="8401050" y="2628900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7701"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T₃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A18FAAE0-B01A-4B9D-B1AD-B741EA4690C6}"/>
              </a:ext>
            </a:extLst>
          </p:cNvPr>
          <p:cNvSpPr>
            <a:spLocks noGrp="1"/>
          </p:cNvSpPr>
          <p:nvPr/>
        </p:nvSpPr>
        <p:spPr>
          <a:xfrm>
            <a:off x="8315325" y="3143250"/>
            <a:ext cx="1352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00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C₃ = 46.17 J/K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A84731A-BAD0-4968-8D4F-D2B600861004}"/>
              </a:ext>
            </a:extLst>
          </p:cNvPr>
          <p:cNvSpPr>
            <a:spLocks noGrp="1"/>
          </p:cNvSpPr>
          <p:nvPr/>
        </p:nvSpPr>
        <p:spPr>
          <a:xfrm>
            <a:off x="9982200" y="3419475"/>
            <a:ext cx="952500" cy="476250"/>
          </a:xfrm>
          <a:prstGeom prst="rect">
            <a:avLst/>
          </a:prstGeom>
          <a:solidFill>
            <a:srgbClr val="FFFFFF"/>
          </a:solidFill>
          <a:ln w="19050">
            <a:solidFill>
              <a:srgbClr val="76BE18"/>
            </a:solidFill>
            <a:prstDash val="solid"/>
          </a:ln>
        </p:spPr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F03DA49-B147-41F8-9CAC-76CBB14773DD}"/>
              </a:ext>
            </a:extLst>
          </p:cNvPr>
          <p:cNvSpPr>
            <a:spLocks noGrp="1"/>
          </p:cNvSpPr>
          <p:nvPr/>
        </p:nvSpPr>
        <p:spPr>
          <a:xfrm>
            <a:off x="10029825" y="3476625"/>
            <a:ext cx="857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9947"/>
          </a:bodyPr>
          <a:lstStyle/>
          <a:p>
            <a:pPr algn="ctr">
              <a:lnSpc>
                <a:spcPct val="100000"/>
              </a:lnSpc>
              <a:buNone/>
              <a:defRPr sz="938" b="1" i="0">
                <a:solidFill>
                  <a:srgbClr val="4D8710"/>
                </a:solidFill>
                <a:latin typeface="Cambria Math"/>
                <a:ea typeface="Cambria Math"/>
                <a:cs typeface="Cambria Math"/>
              </a:defRPr>
            </a:pPr>
            <a:r>
              <a:rPr sz="938" b="1" i="0">
                <a:solidFill>
                  <a:srgbClr val="4D8710"/>
                </a:solidFill>
                <a:latin typeface="Cambria Math"/>
                <a:ea typeface="Cambria Math"/>
                <a:cs typeface="Cambria Math"/>
              </a:rPr>
              <a:t>hA = 0.1906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43C834F-B809-4AFA-A2C3-D46AF35E4EE2}"/>
              </a:ext>
            </a:extLst>
          </p:cNvPr>
          <p:cNvSpPr>
            <a:spLocks noGrp="1"/>
          </p:cNvSpPr>
          <p:nvPr/>
        </p:nvSpPr>
        <p:spPr>
          <a:xfrm>
            <a:off x="10029825" y="3667125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W/K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0FEA11D-E125-497F-B54C-3EF2C9593384}"/>
              </a:ext>
            </a:extLst>
          </p:cNvPr>
          <p:cNvSpPr>
            <a:spLocks noGrp="1"/>
          </p:cNvSpPr>
          <p:nvPr/>
        </p:nvSpPr>
        <p:spPr>
          <a:xfrm>
            <a:off x="11106150" y="3276600"/>
            <a:ext cx="533400" cy="762000"/>
          </a:xfrm>
          <a:prstGeom prst="rect">
            <a:avLst/>
          </a:prstGeom>
          <a:solidFill>
            <a:srgbClr val="007FA8"/>
          </a:solidFill>
          <a:ln w="0">
            <a:noFill/>
            <a:prstDash val="solid"/>
          </a:ln>
        </p:spPr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D295FAB-5034-4616-84E2-DBE8BBC5488A}"/>
              </a:ext>
            </a:extLst>
          </p:cNvPr>
          <p:cNvSpPr>
            <a:spLocks noGrp="1"/>
          </p:cNvSpPr>
          <p:nvPr/>
        </p:nvSpPr>
        <p:spPr>
          <a:xfrm>
            <a:off x="11153775" y="3352800"/>
            <a:ext cx="438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Tcool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1490E13-C1DE-4177-A06C-85F828A97A56}"/>
              </a:ext>
            </a:extLst>
          </p:cNvPr>
          <p:cNvSpPr>
            <a:spLocks noGrp="1"/>
          </p:cNvSpPr>
          <p:nvPr/>
        </p:nvSpPr>
        <p:spPr>
          <a:xfrm>
            <a:off x="11153775" y="3667125"/>
            <a:ext cx="438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38" b="0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638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reservoir</a:t>
            </a:r>
          </a:p>
        </p:txBody>
      </p:sp>
      <p:cxnSp>
        <p:nvCxnSpPr>
          <p:cNvPr id="84" name="直線矢印コネクタ 83"/>
          <p:cNvCxnSpPr>
            <a:stCxn id="10" idx="3"/>
            <a:endCxn id="12" idx="1"/>
          </p:cNvCxnSpPr>
          <p:nvPr/>
        </p:nvCxnSpPr>
        <p:spPr>
          <a:xfrm>
            <a:off x="1562100" y="2867025"/>
            <a:ext cx="390525" cy="0"/>
          </a:xfrm>
          <a:prstGeom prst="straightConnector1">
            <a:avLst/>
          </a:prstGeom>
          <a:ln w="28575">
            <a:solidFill>
              <a:srgbClr val="E5A900"/>
            </a:solidFill>
            <a:prstDash val="solid"/>
            <a:tailEnd type="triangle" w="sm" len="sm"/>
          </a:ln>
        </p:spPr>
      </p:cxnSp>
      <p:cxnSp>
        <p:nvCxnSpPr>
          <p:cNvPr id="85" name="直線矢印コネクタ 84"/>
          <p:cNvCxnSpPr>
            <a:stCxn id="12" idx="3"/>
            <a:endCxn id="16" idx="1"/>
          </p:cNvCxnSpPr>
          <p:nvPr/>
        </p:nvCxnSpPr>
        <p:spPr>
          <a:xfrm>
            <a:off x="3495675" y="2867025"/>
            <a:ext cx="257175" cy="0"/>
          </a:xfrm>
          <a:prstGeom prst="straightConnector1">
            <a:avLst/>
          </a:prstGeom>
          <a:ln w="28575">
            <a:solidFill>
              <a:srgbClr val="00A5D8"/>
            </a:solidFill>
            <a:prstDash val="solid"/>
          </a:ln>
        </p:spPr>
      </p:cxnSp>
      <p:cxnSp>
        <p:nvCxnSpPr>
          <p:cNvPr id="86" name="直線矢印コネクタ 85"/>
          <p:cNvCxnSpPr>
            <a:stCxn id="16" idx="3"/>
            <a:endCxn id="19" idx="1"/>
          </p:cNvCxnSpPr>
          <p:nvPr/>
        </p:nvCxnSpPr>
        <p:spPr>
          <a:xfrm>
            <a:off x="4819650" y="2867025"/>
            <a:ext cx="266700" cy="0"/>
          </a:xfrm>
          <a:prstGeom prst="straightConnector1">
            <a:avLst/>
          </a:prstGeom>
          <a:ln w="28575">
            <a:solidFill>
              <a:srgbClr val="00A5D8"/>
            </a:solidFill>
            <a:prstDash val="solid"/>
          </a:ln>
        </p:spPr>
      </p:cxnSp>
      <p:cxnSp>
        <p:nvCxnSpPr>
          <p:cNvPr id="87" name="直線矢印コネクタ 86"/>
          <p:cNvCxnSpPr>
            <a:stCxn id="19" idx="3"/>
            <a:endCxn id="23" idx="1"/>
          </p:cNvCxnSpPr>
          <p:nvPr/>
        </p:nvCxnSpPr>
        <p:spPr>
          <a:xfrm>
            <a:off x="6629400" y="2867025"/>
            <a:ext cx="257175" cy="0"/>
          </a:xfrm>
          <a:prstGeom prst="straightConnector1">
            <a:avLst/>
          </a:prstGeom>
          <a:ln w="28575">
            <a:solidFill>
              <a:srgbClr val="00A89D"/>
            </a:solidFill>
            <a:prstDash val="solid"/>
          </a:ln>
        </p:spPr>
      </p:cxnSp>
      <p:cxnSp>
        <p:nvCxnSpPr>
          <p:cNvPr id="88" name="直線矢印コネクタ 87"/>
          <p:cNvCxnSpPr>
            <a:stCxn id="23" idx="3"/>
            <a:endCxn id="26" idx="1"/>
          </p:cNvCxnSpPr>
          <p:nvPr/>
        </p:nvCxnSpPr>
        <p:spPr>
          <a:xfrm>
            <a:off x="7953375" y="2867025"/>
            <a:ext cx="266700" cy="0"/>
          </a:xfrm>
          <a:prstGeom prst="straightConnector1">
            <a:avLst/>
          </a:prstGeom>
          <a:ln w="28575">
            <a:solidFill>
              <a:srgbClr val="00A89D"/>
            </a:solidFill>
            <a:prstDash val="solid"/>
          </a:ln>
        </p:spPr>
      </p:cxnSp>
      <p:cxnSp>
        <p:nvCxnSpPr>
          <p:cNvPr id="89" name="直線矢印コネクタ 88"/>
          <p:cNvCxnSpPr>
            <a:stCxn id="19" idx="2"/>
            <a:endCxn id="30" idx="1"/>
          </p:cNvCxnSpPr>
          <p:nvPr/>
        </p:nvCxnSpPr>
        <p:spPr>
          <a:xfrm>
            <a:off x="5857875" y="3657600"/>
            <a:ext cx="4124325" cy="0"/>
          </a:xfrm>
          <a:prstGeom prst="straightConnector1">
            <a:avLst/>
          </a:prstGeom>
          <a:ln w="19050">
            <a:solidFill>
              <a:srgbClr val="76BE18"/>
            </a:solidFill>
            <a:prstDash val="dash"/>
          </a:ln>
        </p:spPr>
      </p:cxnSp>
      <p:cxnSp>
        <p:nvCxnSpPr>
          <p:cNvPr id="90" name="直線矢印コネクタ 89"/>
          <p:cNvCxnSpPr>
            <a:stCxn id="26" idx="2"/>
            <a:endCxn id="30" idx="0"/>
          </p:cNvCxnSpPr>
          <p:nvPr/>
        </p:nvCxnSpPr>
        <p:spPr>
          <a:xfrm flipV="1">
            <a:off x="8991600" y="3419475"/>
            <a:ext cx="1466850" cy="238125"/>
          </a:xfrm>
          <a:prstGeom prst="straightConnector1">
            <a:avLst/>
          </a:prstGeom>
          <a:ln w="19050">
            <a:solidFill>
              <a:srgbClr val="76BE18"/>
            </a:solidFill>
            <a:prstDash val="dash"/>
          </a:ln>
        </p:spPr>
      </p:cxnSp>
      <p:cxnSp>
        <p:nvCxnSpPr>
          <p:cNvPr id="91" name="直線矢印コネクタ 90"/>
          <p:cNvCxnSpPr>
            <a:stCxn id="30" idx="3"/>
            <a:endCxn id="33" idx="1"/>
          </p:cNvCxnSpPr>
          <p:nvPr/>
        </p:nvCxnSpPr>
        <p:spPr>
          <a:xfrm>
            <a:off x="10934700" y="3657600"/>
            <a:ext cx="171450" cy="0"/>
          </a:xfrm>
          <a:prstGeom prst="straightConnector1">
            <a:avLst/>
          </a:prstGeom>
          <a:ln w="28575">
            <a:solidFill>
              <a:srgbClr val="76BE18"/>
            </a:solidFill>
            <a:prstDash val="solid"/>
          </a:ln>
        </p:spPr>
      </p:cxn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93DC6B3-7210-446C-A034-9B9E72388F4A}"/>
              </a:ext>
            </a:extLst>
          </p:cNvPr>
          <p:cNvSpPr>
            <a:spLocks noGrp="1"/>
          </p:cNvSpPr>
          <p:nvPr/>
        </p:nvSpPr>
        <p:spPr>
          <a:xfrm>
            <a:off x="7419975" y="3990975"/>
            <a:ext cx="3562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共有境界weight: base 0.091 / fins 0.909</a:t>
            </a:r>
          </a:p>
        </p:txBody>
      </p:sp>
      <p:graphicFrame>
        <p:nvGraphicFramePr>
          <p:cNvPr id="93" name="表 92"/>
          <p:cNvGraphicFramePr/>
          <p:nvPr/>
        </p:nvGraphicFramePr>
        <p:xfrm>
          <a:off x="552450" y="4276725"/>
          <a:ext cx="11087100" cy="13906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learnable係数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prior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fitted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変化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物理解釈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G chip–base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38.220 W/K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−4.45%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interfaceを含む有効熱伝達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G base–fins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12.000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9.992 W/K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−16.74%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拡散・接触を含む中間経路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hA coolant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0.440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0.1906 W/K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−56.67%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長時間応答を支配する境界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AE4024B0-C89D-42EF-A10B-6E29DEFCE6B5}"/>
              </a:ext>
            </a:extLst>
          </p:cNvPr>
          <p:cNvSpPr>
            <a:spLocks noGrp="1"/>
          </p:cNvSpPr>
          <p:nvPr/>
        </p:nvSpPr>
        <p:spPr>
          <a:xfrm>
            <a:off x="552450" y="5838825"/>
            <a:ext cx="11087100" cy="409575"/>
          </a:xfrm>
          <a:prstGeom prst="rect">
            <a:avLst/>
          </a:prstGeom>
          <a:solidFill>
            <a:srgbClr val="FBE9E7"/>
          </a:solidFill>
          <a:ln w="9525">
            <a:solidFill>
              <a:srgbClr val="C4493D"/>
            </a:solidFill>
            <a:prstDash val="solid"/>
          </a:ln>
        </p:spPr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7C7EA5E1-4727-40D5-AE28-02C4FAD3D299}"/>
              </a:ext>
            </a:extLst>
          </p:cNvPr>
          <p:cNvSpPr>
            <a:spLocks noGrp="1"/>
          </p:cNvSpPr>
          <p:nvPr/>
        </p:nvSpPr>
        <p:spPr>
          <a:xfrm>
            <a:off x="695325" y="59245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注意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B574B40-9191-4519-89D9-4837CCF8C270}"/>
              </a:ext>
            </a:extLst>
          </p:cNvPr>
          <p:cNvSpPr>
            <a:spLocks noGrp="1"/>
          </p:cNvSpPr>
          <p:nvPr/>
        </p:nvSpPr>
        <p:spPr>
          <a:xfrm>
            <a:off x="1323975" y="5895975"/>
            <a:ext cx="10144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T₁–T₃は領域平均。chip hotspot・wafer面内分布は同じ状態量ではない。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775297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6ECA239-4E29-4FFA-86C0-28B0B601DBED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CF06340-C59D-426F-9DFB-290132CF5C25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GOVERNING EQUATIONS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8F177C7-59D4-4156-A1D8-EEBBAE47DBC0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第一法則を離散化し、保存・散逸・正値性をモデル構造で保証する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115AFD3-9233-4E09-8DD9-EA95335D0D7B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学習器に物理を後付けするのではなく、許容する状態遷移そのものを制約する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65020341-75C6-4222-80F5-A85C3E574C5F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B7A163E5-87F9-4A82-980E-C82D56DA24AD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D3210BF-5862-4878-850F-8A889505D004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E4F0AA6-1391-4BFB-A561-C08495299DCB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2F46E21-5CF6-4FD1-B3BE-638F2DAF83DD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6953250" cy="1571625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29EC968-4AE9-408C-A036-90E890C60141}"/>
              </a:ext>
            </a:extLst>
          </p:cNvPr>
          <p:cNvSpPr>
            <a:spLocks noGrp="1"/>
          </p:cNvSpPr>
          <p:nvPr/>
        </p:nvSpPr>
        <p:spPr>
          <a:xfrm>
            <a:off x="742950" y="1609725"/>
            <a:ext cx="1619250" cy="238125"/>
          </a:xfrm>
          <a:prstGeom prst="roundRect">
            <a:avLst>
              <a:gd name="adj" fmla="val 50000"/>
            </a:avLst>
          </a:prstGeom>
          <a:solidFill>
            <a:srgbClr val="E5F6FB"/>
          </a:solidFill>
          <a:ln w="9525">
            <a:solidFill>
              <a:srgbClr val="00A5D8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E6D8F23-20D9-4BF9-A31E-856A6F0AF950}"/>
              </a:ext>
            </a:extLst>
          </p:cNvPr>
          <p:cNvSpPr>
            <a:spLocks noGrp="1"/>
          </p:cNvSpPr>
          <p:nvPr/>
        </p:nvSpPr>
        <p:spPr>
          <a:xfrm>
            <a:off x="790575" y="1619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NODE ENERGY BALANCE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14464F8-E48C-4E7C-B4FD-619865C60527}"/>
              </a:ext>
            </a:extLst>
          </p:cNvPr>
          <p:cNvSpPr>
            <a:spLocks noGrp="1"/>
          </p:cNvSpPr>
          <p:nvPr/>
        </p:nvSpPr>
        <p:spPr>
          <a:xfrm>
            <a:off x="800100" y="2085975"/>
            <a:ext cx="6438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Cᵢ dTᵢ/dt = Σⱼ Gᵢⱼ(Tⱼ − Tᵢ) + qᵢ + hᵢ(Tᵣ − Tᵢ) + (Wᵀd)ᵢ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F616C7-E498-4237-BB8F-75FE00E9B431}"/>
              </a:ext>
            </a:extLst>
          </p:cNvPr>
          <p:cNvSpPr>
            <a:spLocks noGrp="1"/>
          </p:cNvSpPr>
          <p:nvPr/>
        </p:nvSpPr>
        <p:spPr>
          <a:xfrm>
            <a:off x="809625" y="2647950"/>
            <a:ext cx="6419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[J/K]·[K/s] = [W]  —  全項を熱流率で統一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76FEC15-E357-4141-8CAE-218D411B7C2D}"/>
              </a:ext>
            </a:extLst>
          </p:cNvPr>
          <p:cNvSpPr>
            <a:spLocks noGrp="1"/>
          </p:cNvSpPr>
          <p:nvPr/>
        </p:nvSpPr>
        <p:spPr>
          <a:xfrm>
            <a:off x="552450" y="3200400"/>
            <a:ext cx="6953250" cy="1952625"/>
          </a:xfrm>
          <a:prstGeom prst="rect">
            <a:avLst/>
          </a:prstGeom>
          <a:solidFill>
            <a:srgbClr val="201445"/>
          </a:solidFill>
          <a:ln w="0">
            <a:noFill/>
            <a:prstDash val="solid"/>
          </a:ln>
        </p:spPr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3CCE2C6A-5AD5-4DCF-B574-809BC3200FFB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1190625" cy="238125"/>
          </a:xfrm>
          <a:prstGeom prst="roundRect">
            <a:avLst>
              <a:gd name="adj" fmla="val 50000"/>
            </a:avLst>
          </a:prstGeom>
          <a:solidFill>
            <a:srgbClr val="2C2255"/>
          </a:solidFill>
          <a:ln w="9525">
            <a:solidFill>
              <a:srgbClr val="76BE18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DC2EF57-CDEB-40BC-A325-84EECAB568A9}"/>
              </a:ext>
            </a:extLst>
          </p:cNvPr>
          <p:cNvSpPr>
            <a:spLocks noGrp="1"/>
          </p:cNvSpPr>
          <p:nvPr/>
        </p:nvSpPr>
        <p:spPr>
          <a:xfrm>
            <a:off x="790575" y="3381375"/>
            <a:ext cx="1095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MATRIX FORM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5BF037F-BE7E-4787-8913-9A2131C07964}"/>
              </a:ext>
            </a:extLst>
          </p:cNvPr>
          <p:cNvSpPr>
            <a:spLocks noGrp="1"/>
          </p:cNvSpPr>
          <p:nvPr/>
        </p:nvSpPr>
        <p:spPr>
          <a:xfrm>
            <a:off x="781050" y="3800475"/>
            <a:ext cx="6286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L = Bₑᵀ diag(g) Bₑ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E12E6B0-B4E4-4873-9A5C-41CBB8B7C16A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C Ṫ = −L T + q + h ⊙ (Tᵣ1 − T) + Wᵀd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F05E72F-AAAA-494A-813E-3D721CFF90A8}"/>
              </a:ext>
            </a:extLst>
          </p:cNvPr>
          <p:cNvSpPr>
            <a:spLocks noGrp="1"/>
          </p:cNvSpPr>
          <p:nvPr/>
        </p:nvSpPr>
        <p:spPr>
          <a:xfrm>
            <a:off x="781050" y="4695825"/>
            <a:ext cx="628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76BE18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76BE18"/>
                </a:solidFill>
                <a:latin typeface="Cambria Math"/>
                <a:ea typeface="Cambria Math"/>
                <a:cs typeface="Cambria Math"/>
              </a:rPr>
              <a:t>Ṫ = A(a)T + b(a)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47B908A-7BE0-43B3-90AA-0E50896D7CF6}"/>
              </a:ext>
            </a:extLst>
          </p:cNvPr>
          <p:cNvSpPr>
            <a:spLocks noGrp="1"/>
          </p:cNvSpPr>
          <p:nvPr/>
        </p:nvSpPr>
        <p:spPr>
          <a:xfrm>
            <a:off x="7791450" y="1438275"/>
            <a:ext cx="384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構造的な検査項目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9618C92-EE00-44D6-93DB-794DBD625F51}"/>
              </a:ext>
            </a:extLst>
          </p:cNvPr>
          <p:cNvSpPr>
            <a:spLocks noGrp="1"/>
          </p:cNvSpPr>
          <p:nvPr/>
        </p:nvSpPr>
        <p:spPr>
          <a:xfrm>
            <a:off x="7791450" y="1828800"/>
            <a:ext cx="38481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2390572-A8AE-4320-91B2-6F19225E7529}"/>
              </a:ext>
            </a:extLst>
          </p:cNvPr>
          <p:cNvSpPr>
            <a:spLocks noGrp="1"/>
          </p:cNvSpPr>
          <p:nvPr/>
        </p:nvSpPr>
        <p:spPr>
          <a:xfrm>
            <a:off x="7791450" y="1828800"/>
            <a:ext cx="66675" cy="685800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2D21E06-F1DA-417D-BF30-B53BCD8E39D9}"/>
              </a:ext>
            </a:extLst>
          </p:cNvPr>
          <p:cNvSpPr>
            <a:spLocks noGrp="1"/>
          </p:cNvSpPr>
          <p:nvPr/>
        </p:nvSpPr>
        <p:spPr>
          <a:xfrm>
            <a:off x="7981950" y="1905000"/>
            <a:ext cx="904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相反性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E935694-FBB9-4E1D-A3F4-11F7DB884482}"/>
              </a:ext>
            </a:extLst>
          </p:cNvPr>
          <p:cNvSpPr>
            <a:spLocks noGrp="1"/>
          </p:cNvSpPr>
          <p:nvPr/>
        </p:nvSpPr>
        <p:spPr>
          <a:xfrm>
            <a:off x="8915400" y="1895475"/>
            <a:ext cx="2533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qᵢ←ⱼ = −qⱼ←ᵢ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C5EF89A-D726-4FA1-A973-1A5224F24593}"/>
              </a:ext>
            </a:extLst>
          </p:cNvPr>
          <p:cNvSpPr>
            <a:spLocks noGrp="1"/>
          </p:cNvSpPr>
          <p:nvPr/>
        </p:nvSpPr>
        <p:spPr>
          <a:xfrm>
            <a:off x="7981950" y="2200275"/>
            <a:ext cx="3467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内部熱流の二重計上を防止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3F3C30C-7116-48ED-A675-E4A524EF1B11}"/>
              </a:ext>
            </a:extLst>
          </p:cNvPr>
          <p:cNvSpPr>
            <a:spLocks noGrp="1"/>
          </p:cNvSpPr>
          <p:nvPr/>
        </p:nvSpPr>
        <p:spPr>
          <a:xfrm>
            <a:off x="7791450" y="2638425"/>
            <a:ext cx="38481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0049916-8DB6-4D3A-9AE1-605674B8F4EF}"/>
              </a:ext>
            </a:extLst>
          </p:cNvPr>
          <p:cNvSpPr>
            <a:spLocks noGrp="1"/>
          </p:cNvSpPr>
          <p:nvPr/>
        </p:nvSpPr>
        <p:spPr>
          <a:xfrm>
            <a:off x="7791450" y="2638425"/>
            <a:ext cx="66675" cy="685800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4DEB15-A7E3-497E-8039-6AC262BA1347}"/>
              </a:ext>
            </a:extLst>
          </p:cNvPr>
          <p:cNvSpPr>
            <a:spLocks noGrp="1"/>
          </p:cNvSpPr>
          <p:nvPr/>
        </p:nvSpPr>
        <p:spPr>
          <a:xfrm>
            <a:off x="7981950" y="2714625"/>
            <a:ext cx="904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閉系保存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89C2567-C569-4FE7-91EA-1E4DE270A0AD}"/>
              </a:ext>
            </a:extLst>
          </p:cNvPr>
          <p:cNvSpPr>
            <a:spLocks noGrp="1"/>
          </p:cNvSpPr>
          <p:nvPr/>
        </p:nvSpPr>
        <p:spPr>
          <a:xfrm>
            <a:off x="8915400" y="2705100"/>
            <a:ext cx="2533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d(1ᵀCT)/dt = 0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D0A1FAA-8A65-40F5-85E3-CC1F522B6A70}"/>
              </a:ext>
            </a:extLst>
          </p:cNvPr>
          <p:cNvSpPr>
            <a:spLocks noGrp="1"/>
          </p:cNvSpPr>
          <p:nvPr/>
        </p:nvSpPr>
        <p:spPr>
          <a:xfrm>
            <a:off x="7981950" y="3009900"/>
            <a:ext cx="3467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境界・熱源なしで総エネルギー一定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61002E83-AA1F-48CB-9480-0028A937C003}"/>
              </a:ext>
            </a:extLst>
          </p:cNvPr>
          <p:cNvSpPr>
            <a:spLocks noGrp="1"/>
          </p:cNvSpPr>
          <p:nvPr/>
        </p:nvSpPr>
        <p:spPr>
          <a:xfrm>
            <a:off x="7791450" y="3448050"/>
            <a:ext cx="38481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D81F298-94C9-4FE1-9AF2-C8175364D301}"/>
              </a:ext>
            </a:extLst>
          </p:cNvPr>
          <p:cNvSpPr>
            <a:spLocks noGrp="1"/>
          </p:cNvSpPr>
          <p:nvPr/>
        </p:nvSpPr>
        <p:spPr>
          <a:xfrm>
            <a:off x="7791450" y="3448050"/>
            <a:ext cx="66675" cy="685800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319D8C2-28A4-4F93-B3FF-EEE2B0A3F2B3}"/>
              </a:ext>
            </a:extLst>
          </p:cNvPr>
          <p:cNvSpPr>
            <a:spLocks noGrp="1"/>
          </p:cNvSpPr>
          <p:nvPr/>
        </p:nvSpPr>
        <p:spPr>
          <a:xfrm>
            <a:off x="7981950" y="3524250"/>
            <a:ext cx="904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散逸性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EDB5C85-9333-4EAC-A043-FE59E10EA8D8}"/>
              </a:ext>
            </a:extLst>
          </p:cNvPr>
          <p:cNvSpPr>
            <a:spLocks noGrp="1"/>
          </p:cNvSpPr>
          <p:nvPr/>
        </p:nvSpPr>
        <p:spPr>
          <a:xfrm>
            <a:off x="8915400" y="3514725"/>
            <a:ext cx="2533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TᵀLT = Σ Gₑ(ΔTₑ)² ≥ 0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8CAF395-EA35-4FF7-89C2-77F7FADE9B31}"/>
              </a:ext>
            </a:extLst>
          </p:cNvPr>
          <p:cNvSpPr>
            <a:spLocks noGrp="1"/>
          </p:cNvSpPr>
          <p:nvPr/>
        </p:nvSpPr>
        <p:spPr>
          <a:xfrm>
            <a:off x="7981950" y="3819525"/>
            <a:ext cx="3467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温度差は自発的に増幅しない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F2ECD93-1A68-411C-A613-9EF084775673}"/>
              </a:ext>
            </a:extLst>
          </p:cNvPr>
          <p:cNvSpPr>
            <a:spLocks noGrp="1"/>
          </p:cNvSpPr>
          <p:nvPr/>
        </p:nvSpPr>
        <p:spPr>
          <a:xfrm>
            <a:off x="7791450" y="4257675"/>
            <a:ext cx="38481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C1DF679-A02F-459E-8685-94EF4A502719}"/>
              </a:ext>
            </a:extLst>
          </p:cNvPr>
          <p:cNvSpPr>
            <a:spLocks noGrp="1"/>
          </p:cNvSpPr>
          <p:nvPr/>
        </p:nvSpPr>
        <p:spPr>
          <a:xfrm>
            <a:off x="7791450" y="4257675"/>
            <a:ext cx="66675" cy="685800"/>
          </a:xfrm>
          <a:prstGeom prst="rect">
            <a:avLst/>
          </a:prstGeom>
          <a:solidFill>
            <a:srgbClr val="E5A900"/>
          </a:solidFill>
          <a:ln w="0">
            <a:noFill/>
            <a:prstDash val="solid"/>
          </a:ln>
        </p:spPr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3EF8EC5-D80C-499B-87D8-1C1CE9C44631}"/>
              </a:ext>
            </a:extLst>
          </p:cNvPr>
          <p:cNvSpPr>
            <a:spLocks noGrp="1"/>
          </p:cNvSpPr>
          <p:nvPr/>
        </p:nvSpPr>
        <p:spPr>
          <a:xfrm>
            <a:off x="7981950" y="4333875"/>
            <a:ext cx="904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E5A900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E5A900"/>
                </a:solidFill>
                <a:latin typeface="Yu Gothic"/>
                <a:ea typeface="Yu Gothic"/>
                <a:cs typeface="Yu Gothic"/>
              </a:rPr>
              <a:t>正値性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58E57D6-90BA-48BF-873A-E89C10069032}"/>
              </a:ext>
            </a:extLst>
          </p:cNvPr>
          <p:cNvSpPr>
            <a:spLocks noGrp="1"/>
          </p:cNvSpPr>
          <p:nvPr/>
        </p:nvSpPr>
        <p:spPr>
          <a:xfrm>
            <a:off x="8915400" y="4324350"/>
            <a:ext cx="2533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p = p₀ exp(ℓ) &gt; 0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76A5305-2424-424E-88A9-5C58F2BBF0EE}"/>
              </a:ext>
            </a:extLst>
          </p:cNvPr>
          <p:cNvSpPr>
            <a:spLocks noGrp="1"/>
          </p:cNvSpPr>
          <p:nvPr/>
        </p:nvSpPr>
        <p:spPr>
          <a:xfrm>
            <a:off x="7981950" y="4629150"/>
            <a:ext cx="3467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負の熱容量・負のconductanceを排除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C1CE982-6C51-4ECB-9D35-C60AAC4A4878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857250"/>
          </a:xfrm>
          <a:prstGeom prst="rect">
            <a:avLst/>
          </a:prstGeom>
          <a:solidFill>
            <a:srgbClr val="E5F6FB"/>
          </a:solidFill>
          <a:ln w="9525">
            <a:solidFill>
              <a:srgbClr val="00A5D8"/>
            </a:solidFill>
            <a:prstDash val="solid"/>
          </a:ln>
        </p:spPr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371B95DD-D851-413C-BBC9-81BD26557FE6}"/>
              </a:ext>
            </a:extLst>
          </p:cNvPr>
          <p:cNvSpPr>
            <a:spLocks noGrp="1"/>
          </p:cNvSpPr>
          <p:nvPr/>
        </p:nvSpPr>
        <p:spPr>
          <a:xfrm>
            <a:off x="742950" y="55245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集中定数化の妥当性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F71520C-D404-4F9B-90F4-94BE8E35F4A2}"/>
              </a:ext>
            </a:extLst>
          </p:cNvPr>
          <p:cNvSpPr>
            <a:spLocks noGrp="1"/>
          </p:cNvSpPr>
          <p:nvPr/>
        </p:nvSpPr>
        <p:spPr>
          <a:xfrm>
            <a:off x="2686050" y="5495925"/>
            <a:ext cx="2095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Bi = hLᶜ/k ≪ 0.1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5BE8277B-242E-4B5F-AAC6-6C8AFD5267DC}"/>
              </a:ext>
            </a:extLst>
          </p:cNvPr>
          <p:cNvSpPr>
            <a:spLocks noGrp="1"/>
          </p:cNvSpPr>
          <p:nvPr/>
        </p:nvSpPr>
        <p:spPr>
          <a:xfrm>
            <a:off x="4905375" y="5505450"/>
            <a:ext cx="647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を目安に各node内の温度一様性を確認。成立しない領域はnode分割、局所CAE、hotspot marginで補う。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289B5CB3-393E-4DD2-884D-312E45436039}"/>
              </a:ext>
            </a:extLst>
          </p:cNvPr>
          <p:cNvSpPr>
            <a:spLocks noGrp="1"/>
          </p:cNvSpPr>
          <p:nvPr/>
        </p:nvSpPr>
        <p:spPr>
          <a:xfrm>
            <a:off x="742950" y="5867400"/>
            <a:ext cx="106394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実運用では energy residual  r_E = CΔT/Δt − (−LT + b) も監視し、入力欠落・単位不整合を検出する。</a:t>
            </a:r>
          </a:p>
        </p:txBody>
      </p:sp>
    </p:spTree>
    <p:extLst>
      <p:ext uri="{BB962C8B-B14F-4D97-AF65-F5344CB8AC3E}">
        <p14:creationId xmlns:p14="http://schemas.microsoft.com/office/powerpoint/2010/main" val="1258374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BC2F0E3-8128-4661-BF62-9E532A5AA011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298EAF7-BF50-4122-BA25-1EDABDC12110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DYNAMIC INTERPRETATION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518E3DB-0344-427B-899D-C93439F96ABA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 fontScale="99698"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固有時定数は0.186 s、2.03 s、425 s — 同じデータで3モードを識別できるとは限らない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4A81153-D6C9-4460-85AA-3A2134CE0A29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exact積分は数値誤差を抑えるが、samplingで失われた情報は復元しない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45DD95CE-E88B-4E71-A937-C1910756A448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2306A746-937B-48F8-AB68-630FB2D6AF04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2FBABF0-0A83-4A13-A700-337AE47697F1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033CF10-228F-45E7-8040-AC1E1C78C56D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CE72F84-43D9-4C6E-AED2-42B9FAB3B6CA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87100" cy="2876550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1F23809-0188-4891-909B-60E41A35B298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一般化固有値問題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6852858-C6F4-4B00-A1AE-B589CB9E9BEC}"/>
              </a:ext>
            </a:extLst>
          </p:cNvPr>
          <p:cNvSpPr>
            <a:spLocks noGrp="1"/>
          </p:cNvSpPr>
          <p:nvPr/>
        </p:nvSpPr>
        <p:spPr>
          <a:xfrm>
            <a:off x="2457450" y="1562100"/>
            <a:ext cx="3143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Kφ = λCφ,    τ = 1/λ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44E9BBC-C5C5-470C-B788-16DFA5D949E0}"/>
              </a:ext>
            </a:extLst>
          </p:cNvPr>
          <p:cNvSpPr>
            <a:spLocks noGrp="1"/>
          </p:cNvSpPr>
          <p:nvPr/>
        </p:nvSpPr>
        <p:spPr>
          <a:xfrm>
            <a:off x="8115300" y="16002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fitted linear model / nominal boundary</a:t>
            </a:r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C18D63E6-A421-4B2E-B513-D9F1735DC05E}"/>
              </a:ext>
            </a:extLst>
          </p:cNvPr>
          <p:cNvSpPr>
            <a:spLocks noGrp="1"/>
          </p:cNvSpPr>
          <p:nvPr/>
        </p:nvSpPr>
        <p:spPr>
          <a:xfrm>
            <a:off x="990600" y="2990850"/>
            <a:ext cx="10191750" cy="0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</a:ln>
        </p:spPr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ECF1D67C-EC31-45DF-ADC2-82E871151146}"/>
              </a:ext>
            </a:extLst>
          </p:cNvPr>
          <p:cNvSpPr>
            <a:spLocks noGrp="1"/>
          </p:cNvSpPr>
          <p:nvPr/>
        </p:nvSpPr>
        <p:spPr>
          <a:xfrm>
            <a:off x="990600" y="2914650"/>
            <a:ext cx="0" cy="15240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60E3F7F-8634-4802-86CA-FFA0C5165B87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0.1</a:t>
            </a:r>
          </a:p>
        </p:txBody>
      </p:sp>
      <p:sp>
        <p:nvSpPr>
          <p:cNvPr id="16" name="直線コネクタ 15">
            <a:extLst>
              <a:ext uri="{FF2B5EF4-FFF2-40B4-BE49-F238E27FC236}">
                <a16:creationId xmlns:a16="http://schemas.microsoft.com/office/drawing/2014/main" id="{12E14B92-C367-4CE3-835D-8D1D006BA354}"/>
              </a:ext>
            </a:extLst>
          </p:cNvPr>
          <p:cNvSpPr>
            <a:spLocks noGrp="1"/>
          </p:cNvSpPr>
          <p:nvPr/>
        </p:nvSpPr>
        <p:spPr>
          <a:xfrm>
            <a:off x="3538538" y="2914650"/>
            <a:ext cx="0" cy="15240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6CFD270-7F7A-4036-A5EB-3AA97D3DAD7A}"/>
              </a:ext>
            </a:extLst>
          </p:cNvPr>
          <p:cNvSpPr>
            <a:spLocks noGrp="1"/>
          </p:cNvSpPr>
          <p:nvPr/>
        </p:nvSpPr>
        <p:spPr>
          <a:xfrm>
            <a:off x="3233738" y="312420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8" name="直線コネクタ 17">
            <a:extLst>
              <a:ext uri="{FF2B5EF4-FFF2-40B4-BE49-F238E27FC236}">
                <a16:creationId xmlns:a16="http://schemas.microsoft.com/office/drawing/2014/main" id="{3C3F3F33-2D90-498B-A7F9-1AFF8772A905}"/>
              </a:ext>
            </a:extLst>
          </p:cNvPr>
          <p:cNvSpPr>
            <a:spLocks noGrp="1"/>
          </p:cNvSpPr>
          <p:nvPr/>
        </p:nvSpPr>
        <p:spPr>
          <a:xfrm>
            <a:off x="6086475" y="2914650"/>
            <a:ext cx="0" cy="15240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F1B5755-B2FB-44E8-BEB9-4B82D6A898F3}"/>
              </a:ext>
            </a:extLst>
          </p:cNvPr>
          <p:cNvSpPr>
            <a:spLocks noGrp="1"/>
          </p:cNvSpPr>
          <p:nvPr/>
        </p:nvSpPr>
        <p:spPr>
          <a:xfrm>
            <a:off x="5781675" y="312420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20" name="直線コネクタ 19">
            <a:extLst>
              <a:ext uri="{FF2B5EF4-FFF2-40B4-BE49-F238E27FC236}">
                <a16:creationId xmlns:a16="http://schemas.microsoft.com/office/drawing/2014/main" id="{18CC3D2A-C1D5-4AB0-9D66-A6BAED249E24}"/>
              </a:ext>
            </a:extLst>
          </p:cNvPr>
          <p:cNvSpPr>
            <a:spLocks noGrp="1"/>
          </p:cNvSpPr>
          <p:nvPr/>
        </p:nvSpPr>
        <p:spPr>
          <a:xfrm>
            <a:off x="8634413" y="2914650"/>
            <a:ext cx="0" cy="15240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300592B-7171-4F8C-A18E-E20B5DB1F3DD}"/>
              </a:ext>
            </a:extLst>
          </p:cNvPr>
          <p:cNvSpPr>
            <a:spLocks noGrp="1"/>
          </p:cNvSpPr>
          <p:nvPr/>
        </p:nvSpPr>
        <p:spPr>
          <a:xfrm>
            <a:off x="8329613" y="312420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100</a:t>
            </a:r>
          </a:p>
        </p:txBody>
      </p:sp>
      <p:sp>
        <p:nvSpPr>
          <p:cNvPr id="22" name="直線コネクタ 21">
            <a:extLst>
              <a:ext uri="{FF2B5EF4-FFF2-40B4-BE49-F238E27FC236}">
                <a16:creationId xmlns:a16="http://schemas.microsoft.com/office/drawing/2014/main" id="{C79F0016-3CFA-46CC-91C7-07B7E56505CF}"/>
              </a:ext>
            </a:extLst>
          </p:cNvPr>
          <p:cNvSpPr>
            <a:spLocks noGrp="1"/>
          </p:cNvSpPr>
          <p:nvPr/>
        </p:nvSpPr>
        <p:spPr>
          <a:xfrm>
            <a:off x="11182350" y="2914650"/>
            <a:ext cx="0" cy="152400"/>
          </a:xfrm>
          <a:prstGeom prst="line">
            <a:avLst/>
          </a:prstGeom>
          <a:noFill/>
          <a:ln w="9525">
            <a:solidFill>
              <a:srgbClr val="3F3F3F"/>
            </a:solidFill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BD082F8-4E01-4612-9197-D13DA796F39F}"/>
              </a:ext>
            </a:extLst>
          </p:cNvPr>
          <p:cNvSpPr>
            <a:spLocks noGrp="1"/>
          </p:cNvSpPr>
          <p:nvPr/>
        </p:nvSpPr>
        <p:spPr>
          <a:xfrm>
            <a:off x="10877550" y="3124200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1000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D79A61C-1585-44DF-ACE9-AC269A9318E4}"/>
              </a:ext>
            </a:extLst>
          </p:cNvPr>
          <p:cNvSpPr>
            <a:spLocks noGrp="1"/>
          </p:cNvSpPr>
          <p:nvPr/>
        </p:nvSpPr>
        <p:spPr>
          <a:xfrm>
            <a:off x="9563100" y="33528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time scale [s]  (log)</a:t>
            </a:r>
          </a:p>
        </p:txBody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BEAEE507-3CF8-4663-9B04-67F2FB929EEC}"/>
              </a:ext>
            </a:extLst>
          </p:cNvPr>
          <p:cNvSpPr>
            <a:spLocks noGrp="1"/>
          </p:cNvSpPr>
          <p:nvPr/>
        </p:nvSpPr>
        <p:spPr>
          <a:xfrm>
            <a:off x="1677302" y="2095500"/>
            <a:ext cx="0" cy="895350"/>
          </a:xfrm>
          <a:prstGeom prst="line">
            <a:avLst/>
          </a:prstGeom>
          <a:noFill/>
          <a:ln w="28575">
            <a:solidFill>
              <a:srgbClr val="7B2DAF"/>
            </a:solidFill>
            <a:prstDash val="solid"/>
          </a:ln>
        </p:spPr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8ED74EC5-DAAE-4D98-B1E1-F30A8655C3EF}"/>
              </a:ext>
            </a:extLst>
          </p:cNvPr>
          <p:cNvSpPr>
            <a:spLocks noGrp="1"/>
          </p:cNvSpPr>
          <p:nvPr/>
        </p:nvSpPr>
        <p:spPr>
          <a:xfrm>
            <a:off x="1601102" y="2914650"/>
            <a:ext cx="152400" cy="152400"/>
          </a:xfrm>
          <a:prstGeom prst="ellipse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B9C08DC-9A7E-4FE1-87AD-A4DC300E1428}"/>
              </a:ext>
            </a:extLst>
          </p:cNvPr>
          <p:cNvSpPr>
            <a:spLocks noGrp="1"/>
          </p:cNvSpPr>
          <p:nvPr/>
        </p:nvSpPr>
        <p:spPr>
          <a:xfrm>
            <a:off x="1134377" y="176212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0.186 s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0CA6F11-B490-47D2-B7DF-E44232FD2207}"/>
              </a:ext>
            </a:extLst>
          </p:cNvPr>
          <p:cNvSpPr>
            <a:spLocks noGrp="1"/>
          </p:cNvSpPr>
          <p:nvPr/>
        </p:nvSpPr>
        <p:spPr>
          <a:xfrm>
            <a:off x="1010552" y="1981200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fast</a:t>
            </a:r>
          </a:p>
          <a:p>
            <a:pPr algn="ctr">
              <a:lnSpc>
                <a:spcPct val="102000"/>
              </a:lnSpc>
              <a:buNone/>
              <a:def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chip ↔ base</a:t>
            </a:r>
          </a:p>
        </p:txBody>
      </p:sp>
      <p:sp>
        <p:nvSpPr>
          <p:cNvPr id="29" name="直線コネクタ 28">
            <a:extLst>
              <a:ext uri="{FF2B5EF4-FFF2-40B4-BE49-F238E27FC236}">
                <a16:creationId xmlns:a16="http://schemas.microsoft.com/office/drawing/2014/main" id="{E4CFE9CB-1D28-40E6-BD55-9C2A61A6A1B1}"/>
              </a:ext>
            </a:extLst>
          </p:cNvPr>
          <p:cNvSpPr>
            <a:spLocks noGrp="1"/>
          </p:cNvSpPr>
          <p:nvPr/>
        </p:nvSpPr>
        <p:spPr>
          <a:xfrm>
            <a:off x="4320927" y="2381250"/>
            <a:ext cx="0" cy="609600"/>
          </a:xfrm>
          <a:prstGeom prst="line">
            <a:avLst/>
          </a:prstGeom>
          <a:noFill/>
          <a:ln w="28575">
            <a:solidFill>
              <a:srgbClr val="00A5D8"/>
            </a:solidFill>
            <a:prstDash val="solid"/>
          </a:ln>
        </p:spPr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703E1D84-729F-4D0A-8F89-450DD003180C}"/>
              </a:ext>
            </a:extLst>
          </p:cNvPr>
          <p:cNvSpPr>
            <a:spLocks noGrp="1"/>
          </p:cNvSpPr>
          <p:nvPr/>
        </p:nvSpPr>
        <p:spPr>
          <a:xfrm>
            <a:off x="4244727" y="2914650"/>
            <a:ext cx="152400" cy="152400"/>
          </a:xfrm>
          <a:prstGeom prst="ellipse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655D58A-FD5D-4858-83DB-C4640D25699D}"/>
              </a:ext>
            </a:extLst>
          </p:cNvPr>
          <p:cNvSpPr>
            <a:spLocks noGrp="1"/>
          </p:cNvSpPr>
          <p:nvPr/>
        </p:nvSpPr>
        <p:spPr>
          <a:xfrm>
            <a:off x="3778002" y="204787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2.028 s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9D5E245-AA4A-4277-B946-8A3DBF1F55D6}"/>
              </a:ext>
            </a:extLst>
          </p:cNvPr>
          <p:cNvSpPr>
            <a:spLocks noGrp="1"/>
          </p:cNvSpPr>
          <p:nvPr/>
        </p:nvSpPr>
        <p:spPr>
          <a:xfrm>
            <a:off x="3654177" y="2266950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intermediate</a:t>
            </a:r>
          </a:p>
          <a:p>
            <a:pPr algn="ctr">
              <a:lnSpc>
                <a:spcPct val="102000"/>
              </a:lnSpc>
              <a:buNone/>
              <a:def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base ↔ fins</a:t>
            </a:r>
          </a:p>
        </p:txBody>
      </p:sp>
      <p:sp>
        <p:nvSpPr>
          <p:cNvPr id="33" name="直線コネクタ 32">
            <a:extLst>
              <a:ext uri="{FF2B5EF4-FFF2-40B4-BE49-F238E27FC236}">
                <a16:creationId xmlns:a16="http://schemas.microsoft.com/office/drawing/2014/main" id="{701505AF-2043-4AA0-AA58-FC86C686D7AA}"/>
              </a:ext>
            </a:extLst>
          </p:cNvPr>
          <p:cNvSpPr>
            <a:spLocks noGrp="1"/>
          </p:cNvSpPr>
          <p:nvPr/>
        </p:nvSpPr>
        <p:spPr>
          <a:xfrm>
            <a:off x="10236430" y="2095500"/>
            <a:ext cx="0" cy="895350"/>
          </a:xfrm>
          <a:prstGeom prst="line">
            <a:avLst/>
          </a:prstGeom>
          <a:noFill/>
          <a:ln w="28575">
            <a:solidFill>
              <a:srgbClr val="76BE18"/>
            </a:solidFill>
            <a:prstDash val="solid"/>
          </a:ln>
        </p:spPr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F18738A6-006B-4EDD-8C3D-A92478000ED1}"/>
              </a:ext>
            </a:extLst>
          </p:cNvPr>
          <p:cNvSpPr>
            <a:spLocks noGrp="1"/>
          </p:cNvSpPr>
          <p:nvPr/>
        </p:nvSpPr>
        <p:spPr>
          <a:xfrm>
            <a:off x="10160230" y="2914650"/>
            <a:ext cx="152400" cy="152400"/>
          </a:xfrm>
          <a:prstGeom prst="ellipse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EC5D03B-DD0B-4988-8054-B96F7E864C52}"/>
              </a:ext>
            </a:extLst>
          </p:cNvPr>
          <p:cNvSpPr>
            <a:spLocks noGrp="1"/>
          </p:cNvSpPr>
          <p:nvPr/>
        </p:nvSpPr>
        <p:spPr>
          <a:xfrm>
            <a:off x="9693505" y="176212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425 s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5B7022E-AF9F-4726-A775-418AB0738564}"/>
              </a:ext>
            </a:extLst>
          </p:cNvPr>
          <p:cNvSpPr>
            <a:spLocks noGrp="1"/>
          </p:cNvSpPr>
          <p:nvPr/>
        </p:nvSpPr>
        <p:spPr>
          <a:xfrm>
            <a:off x="9569680" y="1981200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global</a:t>
            </a:r>
          </a:p>
          <a:p>
            <a:pPr algn="ctr">
              <a:lnSpc>
                <a:spcPct val="102000"/>
              </a:lnSpc>
              <a:buNone/>
              <a:def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coolant boundary</a:t>
            </a:r>
          </a:p>
        </p:txBody>
      </p:sp>
      <p:sp>
        <p:nvSpPr>
          <p:cNvPr id="37" name="直線コネクタ 36">
            <a:extLst>
              <a:ext uri="{FF2B5EF4-FFF2-40B4-BE49-F238E27FC236}">
                <a16:creationId xmlns:a16="http://schemas.microsoft.com/office/drawing/2014/main" id="{9FB094FE-C847-4915-A79E-A0894E4F9EDA}"/>
              </a:ext>
            </a:extLst>
          </p:cNvPr>
          <p:cNvSpPr>
            <a:spLocks noGrp="1"/>
          </p:cNvSpPr>
          <p:nvPr/>
        </p:nvSpPr>
        <p:spPr>
          <a:xfrm>
            <a:off x="4305543" y="1952625"/>
            <a:ext cx="0" cy="1809750"/>
          </a:xfrm>
          <a:prstGeom prst="line">
            <a:avLst/>
          </a:prstGeom>
          <a:noFill/>
          <a:ln w="14288">
            <a:solidFill>
              <a:srgbClr val="C4493D"/>
            </a:solidFill>
            <a:prstDash val="dash"/>
          </a:ln>
        </p:spPr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5C8EE25-B93D-4C2E-927F-72CDAC9EB020}"/>
              </a:ext>
            </a:extLst>
          </p:cNvPr>
          <p:cNvSpPr>
            <a:spLocks noGrp="1"/>
          </p:cNvSpPr>
          <p:nvPr/>
        </p:nvSpPr>
        <p:spPr>
          <a:xfrm>
            <a:off x="3572118" y="179070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13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713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linear data  Δt=2 s</a:t>
            </a:r>
          </a:p>
        </p:txBody>
      </p:sp>
      <p:sp>
        <p:nvSpPr>
          <p:cNvPr id="39" name="直線コネクタ 38">
            <a:extLst>
              <a:ext uri="{FF2B5EF4-FFF2-40B4-BE49-F238E27FC236}">
                <a16:creationId xmlns:a16="http://schemas.microsoft.com/office/drawing/2014/main" id="{89E22CA7-531A-4A74-BF6F-AB55A8BBCE29}"/>
              </a:ext>
            </a:extLst>
          </p:cNvPr>
          <p:cNvSpPr>
            <a:spLocks noGrp="1"/>
          </p:cNvSpPr>
          <p:nvPr/>
        </p:nvSpPr>
        <p:spPr>
          <a:xfrm>
            <a:off x="6086475" y="1952625"/>
            <a:ext cx="0" cy="1809750"/>
          </a:xfrm>
          <a:prstGeom prst="line">
            <a:avLst/>
          </a:prstGeom>
          <a:noFill/>
          <a:ln w="14288">
            <a:solidFill>
              <a:srgbClr val="E5A900"/>
            </a:solidFill>
            <a:prstDash val="dash"/>
          </a:ln>
        </p:spPr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BC57B17-022B-4383-8E52-F4CAE994D24A}"/>
              </a:ext>
            </a:extLst>
          </p:cNvPr>
          <p:cNvSpPr>
            <a:spLocks noGrp="1"/>
          </p:cNvSpPr>
          <p:nvPr/>
        </p:nvSpPr>
        <p:spPr>
          <a:xfrm>
            <a:off x="5353050" y="1628775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13" b="1" i="0">
                <a:solidFill>
                  <a:srgbClr val="E5A900"/>
                </a:solidFill>
                <a:latin typeface="Yu Gothic"/>
                <a:ea typeface="Yu Gothic"/>
                <a:cs typeface="Yu Gothic"/>
              </a:defRPr>
            </a:pPr>
            <a:r>
              <a:rPr sz="713" b="1" i="0">
                <a:solidFill>
                  <a:srgbClr val="E5A900"/>
                </a:solidFill>
                <a:latin typeface="Yu Gothic"/>
                <a:ea typeface="Yu Gothic"/>
                <a:cs typeface="Yu Gothic"/>
              </a:rPr>
              <a:t>HF train  10 s</a:t>
            </a:r>
          </a:p>
        </p:txBody>
      </p:sp>
      <p:sp>
        <p:nvSpPr>
          <p:cNvPr id="41" name="直線コネクタ 40">
            <a:extLst>
              <a:ext uri="{FF2B5EF4-FFF2-40B4-BE49-F238E27FC236}">
                <a16:creationId xmlns:a16="http://schemas.microsoft.com/office/drawing/2014/main" id="{125C4F0C-A7F7-4484-894C-19CF62FC05C5}"/>
              </a:ext>
            </a:extLst>
          </p:cNvPr>
          <p:cNvSpPr>
            <a:spLocks noGrp="1"/>
          </p:cNvSpPr>
          <p:nvPr/>
        </p:nvSpPr>
        <p:spPr>
          <a:xfrm>
            <a:off x="6853481" y="1952625"/>
            <a:ext cx="0" cy="1809750"/>
          </a:xfrm>
          <a:prstGeom prst="line">
            <a:avLst/>
          </a:prstGeom>
          <a:noFill/>
          <a:ln w="14288">
            <a:solidFill>
              <a:srgbClr val="7B2DAF"/>
            </a:solidFill>
            <a:prstDash val="dash"/>
          </a:ln>
        </p:spPr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142E399-82D2-48A6-94C9-A1C8C1D05CCD}"/>
              </a:ext>
            </a:extLst>
          </p:cNvPr>
          <p:cNvSpPr>
            <a:spLocks noGrp="1"/>
          </p:cNvSpPr>
          <p:nvPr/>
        </p:nvSpPr>
        <p:spPr>
          <a:xfrm>
            <a:off x="6120056" y="146685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13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713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HF output  20 s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9A03C47F-9CC5-4EFD-9D28-158D7998CA1E}"/>
              </a:ext>
            </a:extLst>
          </p:cNvPr>
          <p:cNvSpPr>
            <a:spLocks noGrp="1"/>
          </p:cNvSpPr>
          <p:nvPr/>
        </p:nvSpPr>
        <p:spPr>
          <a:xfrm>
            <a:off x="552450" y="4572000"/>
            <a:ext cx="350520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9B9D6E7C-7CEF-4F73-86B4-29B685267739}"/>
              </a:ext>
            </a:extLst>
          </p:cNvPr>
          <p:cNvSpPr>
            <a:spLocks noGrp="1"/>
          </p:cNvSpPr>
          <p:nvPr/>
        </p:nvSpPr>
        <p:spPr>
          <a:xfrm>
            <a:off x="552450" y="4572000"/>
            <a:ext cx="76200" cy="1476375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0F665A1-9F7D-4103-A81D-B0C2EB4CE7B9}"/>
              </a:ext>
            </a:extLst>
          </p:cNvPr>
          <p:cNvSpPr>
            <a:spLocks noGrp="1"/>
          </p:cNvSpPr>
          <p:nvPr/>
        </p:nvSpPr>
        <p:spPr>
          <a:xfrm>
            <a:off x="762000" y="4724400"/>
            <a:ext cx="310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fast 0.186 s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B7CE6DE-25EA-407D-92EE-EF58E0451FC8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31051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2 s samplingでは独立同定困難。sensor応答・反aliasing・短周期実験が必要。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BE91C91-A3F6-410F-BA90-2E2E6360C9A0}"/>
              </a:ext>
            </a:extLst>
          </p:cNvPr>
          <p:cNvSpPr>
            <a:spLocks noGrp="1"/>
          </p:cNvSpPr>
          <p:nvPr/>
        </p:nvSpPr>
        <p:spPr>
          <a:xfrm>
            <a:off x="4248150" y="4572000"/>
            <a:ext cx="350520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3E1D3EA5-FF37-41D5-B7DA-A7DEA3ADF85E}"/>
              </a:ext>
            </a:extLst>
          </p:cNvPr>
          <p:cNvSpPr>
            <a:spLocks noGrp="1"/>
          </p:cNvSpPr>
          <p:nvPr/>
        </p:nvSpPr>
        <p:spPr>
          <a:xfrm>
            <a:off x="4248150" y="4572000"/>
            <a:ext cx="76200" cy="1476375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27AE31B-CE34-4BB7-BC84-0312DBB17E91}"/>
              </a:ext>
            </a:extLst>
          </p:cNvPr>
          <p:cNvSpPr>
            <a:spLocks noGrp="1"/>
          </p:cNvSpPr>
          <p:nvPr/>
        </p:nvSpPr>
        <p:spPr>
          <a:xfrm>
            <a:off x="4457700" y="4724400"/>
            <a:ext cx="310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intermediate 2.03 s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0A1C11B-C4D4-49DB-A4B8-C59A8DE6DE4E}"/>
              </a:ext>
            </a:extLst>
          </p:cNvPr>
          <p:cNvSpPr>
            <a:spLocks noGrp="1"/>
          </p:cNvSpPr>
          <p:nvPr/>
        </p:nvSpPr>
        <p:spPr>
          <a:xfrm>
            <a:off x="4457700" y="5095875"/>
            <a:ext cx="31051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2 s samplingで限界的。step端の時刻精度とZOH契約が推定値を左右する。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210BB873-19A6-494F-843B-295820220943}"/>
              </a:ext>
            </a:extLst>
          </p:cNvPr>
          <p:cNvSpPr>
            <a:spLocks noGrp="1"/>
          </p:cNvSpPr>
          <p:nvPr/>
        </p:nvSpPr>
        <p:spPr>
          <a:xfrm>
            <a:off x="7943850" y="4572000"/>
            <a:ext cx="3505200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5B250568-4339-4DA8-BC8E-55BF51AEC63C}"/>
              </a:ext>
            </a:extLst>
          </p:cNvPr>
          <p:cNvSpPr>
            <a:spLocks noGrp="1"/>
          </p:cNvSpPr>
          <p:nvPr/>
        </p:nvSpPr>
        <p:spPr>
          <a:xfrm>
            <a:off x="7943850" y="4572000"/>
            <a:ext cx="76200" cy="14763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E8ED1218-7B9B-4F80-A1EE-2C6EE619351E}"/>
              </a:ext>
            </a:extLst>
          </p:cNvPr>
          <p:cNvSpPr>
            <a:spLocks noGrp="1"/>
          </p:cNvSpPr>
          <p:nvPr/>
        </p:nvSpPr>
        <p:spPr>
          <a:xfrm>
            <a:off x="8153400" y="4724400"/>
            <a:ext cx="310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global 425 s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B6565C82-2956-4119-846C-7F4634EA2D43}"/>
              </a:ext>
            </a:extLst>
          </p:cNvPr>
          <p:cNvSpPr>
            <a:spLocks noGrp="1"/>
          </p:cNvSpPr>
          <p:nvPr/>
        </p:nvSpPr>
        <p:spPr>
          <a:xfrm>
            <a:off x="8153400" y="5095875"/>
            <a:ext cx="31051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長時間holdとcoolant変調が必要。短いpulseだけではhAと初期温度が混同する。</a:t>
            </a:r>
          </a:p>
        </p:txBody>
      </p:sp>
    </p:spTree>
    <p:extLst>
      <p:ext uri="{BB962C8B-B14F-4D97-AF65-F5344CB8AC3E}">
        <p14:creationId xmlns:p14="http://schemas.microsoft.com/office/powerpoint/2010/main" val="123545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9FFF2D7-B521-4672-9777-450AA8688111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EFD30FE-6962-4B56-AF1D-220C1B92BCB4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NUMERICAL METHODS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2C7F315-8192-4DE1-8BA1-BE7DA0DBD610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係数が区間一定ならexact affine、変化するならimplicitで安定に積分する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A8CA625-D574-4786-A0E8-CBFE8AC8D472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少数nodeのため、密行列指数・密線形solveを直接用いる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76B8693D-C245-43B5-ABD5-30C57E27CBC4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C5E49634-16A7-4080-9CB2-657C7D1EB495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9B876EA-2539-4A40-9E4D-C164A093116B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D1AA914-4FB2-4195-85E2-A4DCC343431A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4DA1739-B944-44AD-9FA4-3375CE05BE8F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1087100" cy="1200150"/>
          </a:xfrm>
          <a:prstGeom prst="rect">
            <a:avLst/>
          </a:prstGeom>
          <a:solidFill>
            <a:srgbClr val="201445"/>
          </a:solidFill>
          <a:ln w="0">
            <a:noFill/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EAA217B-F3B0-497F-8556-A0016A07BBE2}"/>
              </a:ext>
            </a:extLst>
          </p:cNvPr>
          <p:cNvSpPr>
            <a:spLocks noGrp="1"/>
          </p:cNvSpPr>
          <p:nvPr/>
        </p:nvSpPr>
        <p:spPr>
          <a:xfrm>
            <a:off x="790575" y="1609725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exact affine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E7311C6-BCC9-4DC6-921D-84E44FCB764D}"/>
              </a:ext>
            </a:extLst>
          </p:cNvPr>
          <p:cNvSpPr>
            <a:spLocks noGrp="1"/>
          </p:cNvSpPr>
          <p:nvPr/>
        </p:nvSpPr>
        <p:spPr>
          <a:xfrm>
            <a:off x="2343150" y="1552575"/>
            <a:ext cx="8810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[xₖ₊₁;1] = exp([F  c; 0  0] Δtₖ)[xₖ;1]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325243F-0A41-4BA0-92E4-87D705A84659}"/>
              </a:ext>
            </a:extLst>
          </p:cNvPr>
          <p:cNvSpPr>
            <a:spLocks noGrp="1"/>
          </p:cNvSpPr>
          <p:nvPr/>
        </p:nvSpPr>
        <p:spPr>
          <a:xfrm>
            <a:off x="2381250" y="20764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0" i="0">
                <a:solidFill>
                  <a:srgbClr val="DDD6EA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DDD6EA"/>
                </a:solidFill>
                <a:latin typeface="Yu Gothic"/>
                <a:ea typeface="Yu Gothic"/>
                <a:cs typeface="Yu Gothic"/>
              </a:rPr>
              <a:t>augmented matrixによりF⁻¹を作らず、閉系のゼロ固有値も扱う</a:t>
            </a:r>
          </a:p>
        </p:txBody>
      </p:sp>
      <p:graphicFrame>
        <p:nvGraphicFramePr>
          <p:cNvPr id="30" name="表 29"/>
          <p:cNvGraphicFramePr/>
          <p:nvPr/>
        </p:nvGraphicFramePr>
        <p:xfrm>
          <a:off x="552450" y="2895600"/>
          <a:ext cx="11087100" cy="238125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手法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適用条件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離散化・安定性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実装上の確認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007FA8"/>
                          </a:solidFill>
                          <a:latin typeface="Yu Gothic"/>
                          <a:ea typeface="Yu Gothic"/>
                          <a:cs typeface="Yu Gothic"/>
                        </a:rPr>
                        <a:t>exact affine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係数・active setが区間一定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時間離散化誤差なし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ZOH・イベント時刻・matrix exp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7B2DAF"/>
                          </a:solidFill>
                          <a:latin typeface="Yu Gothic"/>
                          <a:ea typeface="Yu Gothic"/>
                          <a:cs typeface="Yu Gothic"/>
                        </a:rPr>
                        <a:t>implicit Euler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区間内で係数が変化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A-stable / 1次精度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midpoint操作量・step分割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4D8710"/>
                          </a:solidFill>
                          <a:latin typeface="Yu Gothic"/>
                          <a:ea typeface="Yu Gothic"/>
                          <a:cs typeface="Yu Gothic"/>
                        </a:rPr>
                        <a:t>Van Loan Qd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連続process noiseの離散化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cross-covarianceを保持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小Δt近似との整合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4D8710"/>
                          </a:solidFill>
                          <a:latin typeface="Yu Gothic"/>
                          <a:ea typeface="Yu Gothic"/>
                          <a:cs typeface="Yu Gothic"/>
                        </a:rPr>
                        <a:t>Joseph update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Kalman covariance更新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半正定値性を保ちやすい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対称化・jitter・欠測縮約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B98B0D5-4F69-46B7-96CD-B1794DD8EF2C}"/>
              </a:ext>
            </a:extLst>
          </p:cNvPr>
          <p:cNvSpPr>
            <a:spLocks noGrp="1"/>
          </p:cNvSpPr>
          <p:nvPr/>
        </p:nvSpPr>
        <p:spPr>
          <a:xfrm>
            <a:off x="552450" y="5514975"/>
            <a:ext cx="11087100" cy="685800"/>
          </a:xfrm>
          <a:prstGeom prst="rect">
            <a:avLst/>
          </a:prstGeom>
          <a:solidFill>
            <a:srgbClr val="FFF5D7"/>
          </a:solidFill>
          <a:ln w="9525">
            <a:solidFill>
              <a:srgbClr val="E5A900"/>
            </a:solidFill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E42E653-AB90-4923-868E-DA4FB8E7ABB0}"/>
              </a:ext>
            </a:extLst>
          </p:cNvPr>
          <p:cNvSpPr>
            <a:spLocks noGrp="1"/>
          </p:cNvSpPr>
          <p:nvPr/>
        </p:nvSpPr>
        <p:spPr>
          <a:xfrm>
            <a:off x="733425" y="56388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806000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806000"/>
                </a:solidFill>
                <a:latin typeface="Yu Gothic"/>
                <a:ea typeface="Yu Gothic"/>
                <a:cs typeface="Yu Gothic"/>
              </a:rPr>
              <a:t>数値検証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3EB3172-06D4-45A2-8CA3-F38178515791}"/>
              </a:ext>
            </a:extLst>
          </p:cNvPr>
          <p:cNvSpPr>
            <a:spLocks noGrp="1"/>
          </p:cNvSpPr>
          <p:nvPr/>
        </p:nvSpPr>
        <p:spPr>
          <a:xfrm>
            <a:off x="1790700" y="5610225"/>
            <a:ext cx="9639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Δtを1/2にした解との差、energy residual、共分散の固有値、同一時刻の重複・逆順を回帰試験に含める。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5FC3986-2F3E-4D0C-B3CF-81B4E3638DBC}"/>
              </a:ext>
            </a:extLst>
          </p:cNvPr>
          <p:cNvSpPr>
            <a:spLocks noGrp="1"/>
          </p:cNvSpPr>
          <p:nvPr/>
        </p:nvSpPr>
        <p:spPr>
          <a:xfrm>
            <a:off x="1790700" y="5915025"/>
            <a:ext cx="9639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注意：solverが安定でも、sensor samplingがfast modeを解像するとは限らない。</a:t>
            </a:r>
          </a:p>
        </p:txBody>
      </p:sp>
    </p:spTree>
    <p:extLst>
      <p:ext uri="{BB962C8B-B14F-4D97-AF65-F5344CB8AC3E}">
        <p14:creationId xmlns:p14="http://schemas.microsoft.com/office/powerpoint/2010/main" val="482967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74D93A0-D253-4099-843C-311660D7E46A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84E0A3C-432D-43F1-A726-46853AF0E830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IDENTIFICATION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16BCDC7-B87B-4B27-A6AE-C5EF40233472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物理制約付き最適化と励振設計を一体化し、識別できる係数だけを学習する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8D9AA52-B609-4DB8-9343-7542992613F0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低RMSEでも、共線性や初期値依存が残れば装置外挿には使わない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2C0CC82F-B694-4F5A-B320-757929803CC5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90F87EAB-822F-4075-8216-DCC45C5DAFB7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D2F17C6-8531-4B62-898A-B509ECE82BD9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ED237AF-1988-4EC6-B653-6BD4CB7A9A6C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3BF3B61-ED5F-436E-90BE-E1534F6A72D0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4191000" cy="2057400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98A25EE-B5B6-4A7C-BE73-CDCB0A00689C}"/>
              </a:ext>
            </a:extLst>
          </p:cNvPr>
          <p:cNvSpPr>
            <a:spLocks noGrp="1"/>
          </p:cNvSpPr>
          <p:nvPr/>
        </p:nvSpPr>
        <p:spPr>
          <a:xfrm>
            <a:off x="752475" y="1609725"/>
            <a:ext cx="1476375" cy="238125"/>
          </a:xfrm>
          <a:prstGeom prst="roundRect">
            <a:avLst>
              <a:gd name="adj" fmla="val 50000"/>
            </a:avLst>
          </a:prstGeom>
          <a:solidFill>
            <a:srgbClr val="EFE5F6"/>
          </a:solidFill>
          <a:ln w="9525">
            <a:solidFill>
              <a:srgbClr val="7B2DAF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75ABCCB-5C40-4E07-99A3-C80FB08CEFE9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ROBUST OBJECTIVE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AD09392-4384-4FB4-B901-2FFCB709562D}"/>
              </a:ext>
            </a:extLst>
          </p:cNvPr>
          <p:cNvSpPr>
            <a:spLocks noGrp="1"/>
          </p:cNvSpPr>
          <p:nvPr/>
        </p:nvSpPr>
        <p:spPr>
          <a:xfrm>
            <a:off x="781050" y="2047875"/>
            <a:ext cx="3733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minθ  ΣₛΣₖ mₛₖ ρδ(yₛₖ − ŷₛₖ(θ))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275A046-707C-4237-AD95-0FA1F04BC32D}"/>
              </a:ext>
            </a:extLst>
          </p:cNvPr>
          <p:cNvSpPr>
            <a:spLocks noGrp="1"/>
          </p:cNvSpPr>
          <p:nvPr/>
        </p:nvSpPr>
        <p:spPr>
          <a:xfrm>
            <a:off x="781050" y="2466975"/>
            <a:ext cx="37338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+ λp‖log(p/p₀)‖² + λx‖x₀−x̄₀‖²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92B674F-EC78-47B8-9B0B-452730FB9BB7}"/>
              </a:ext>
            </a:extLst>
          </p:cNvPr>
          <p:cNvSpPr>
            <a:spLocks noGrp="1"/>
          </p:cNvSpPr>
          <p:nvPr/>
        </p:nvSpPr>
        <p:spPr>
          <a:xfrm>
            <a:off x="781050" y="3028950"/>
            <a:ext cx="3733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p = p₀ exp(ℓ) &gt; 0  /  Huber loss  /  mask-aware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E5D6DD9-54F2-43F7-A669-3E54ECDD3132}"/>
              </a:ext>
            </a:extLst>
          </p:cNvPr>
          <p:cNvSpPr>
            <a:spLocks noGrp="1"/>
          </p:cNvSpPr>
          <p:nvPr/>
        </p:nvSpPr>
        <p:spPr>
          <a:xfrm>
            <a:off x="4953000" y="1438275"/>
            <a:ext cx="668655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0CDCDDF-2304-4D20-9F5B-19D3D54421A5}"/>
              </a:ext>
            </a:extLst>
          </p:cNvPr>
          <p:cNvSpPr>
            <a:spLocks noGrp="1"/>
          </p:cNvSpPr>
          <p:nvPr/>
        </p:nvSpPr>
        <p:spPr>
          <a:xfrm>
            <a:off x="5143500" y="1609725"/>
            <a:ext cx="2047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同定成立の判定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2275AF0-96EE-45CE-9961-C53629A1D7A6}"/>
              </a:ext>
            </a:extLst>
          </p:cNvPr>
          <p:cNvSpPr>
            <a:spLocks noGrp="1"/>
          </p:cNvSpPr>
          <p:nvPr/>
        </p:nvSpPr>
        <p:spPr>
          <a:xfrm>
            <a:off x="5143500" y="1971675"/>
            <a:ext cx="100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感度rank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ED1C821-6EE7-4BF5-9396-5917B59551E2}"/>
              </a:ext>
            </a:extLst>
          </p:cNvPr>
          <p:cNvSpPr>
            <a:spLocks noGrp="1"/>
          </p:cNvSpPr>
          <p:nvPr/>
        </p:nvSpPr>
        <p:spPr>
          <a:xfrm>
            <a:off x="6191250" y="197167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J = ∂ŷ/∂log p の特異値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F67BAEB-F513-4EEA-92FC-0FA1D88A5248}"/>
              </a:ext>
            </a:extLst>
          </p:cNvPr>
          <p:cNvSpPr>
            <a:spLocks noGrp="1"/>
          </p:cNvSpPr>
          <p:nvPr/>
        </p:nvSpPr>
        <p:spPr>
          <a:xfrm>
            <a:off x="8477250" y="1971675"/>
            <a:ext cx="295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小特異値 → parameter統合/固定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7A492A7-B44B-406D-81EE-8E4314F79DAF}"/>
              </a:ext>
            </a:extLst>
          </p:cNvPr>
          <p:cNvSpPr>
            <a:spLocks noGrp="1"/>
          </p:cNvSpPr>
          <p:nvPr/>
        </p:nvSpPr>
        <p:spPr>
          <a:xfrm>
            <a:off x="5143500" y="2324100"/>
            <a:ext cx="100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profile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590F366-A4D4-470B-AA41-799ADA49BA21}"/>
              </a:ext>
            </a:extLst>
          </p:cNvPr>
          <p:cNvSpPr>
            <a:spLocks noGrp="1"/>
          </p:cNvSpPr>
          <p:nvPr/>
        </p:nvSpPr>
        <p:spPr>
          <a:xfrm>
            <a:off x="6191250" y="2324100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1係数を走査して再最適化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C04E268-E26E-44BA-B417-A715B72AA85E}"/>
              </a:ext>
            </a:extLst>
          </p:cNvPr>
          <p:cNvSpPr>
            <a:spLocks noGrp="1"/>
          </p:cNvSpPr>
          <p:nvPr/>
        </p:nvSpPr>
        <p:spPr>
          <a:xfrm>
            <a:off x="8477250" y="2324100"/>
            <a:ext cx="295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平坦 → 信頼区間を主張しない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CD3D76F-946D-4782-B94D-36D0F21CF4D0}"/>
              </a:ext>
            </a:extLst>
          </p:cNvPr>
          <p:cNvSpPr>
            <a:spLocks noGrp="1"/>
          </p:cNvSpPr>
          <p:nvPr/>
        </p:nvSpPr>
        <p:spPr>
          <a:xfrm>
            <a:off x="5143500" y="2676525"/>
            <a:ext cx="100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seed安定性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E99C1AF-E95B-4643-BFE4-861234A9CA3C}"/>
              </a:ext>
            </a:extLst>
          </p:cNvPr>
          <p:cNvSpPr>
            <a:spLocks noGrp="1"/>
          </p:cNvSpPr>
          <p:nvPr/>
        </p:nvSpPr>
        <p:spPr>
          <a:xfrm>
            <a:off x="6191250" y="2676525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複数初期値・再学習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0B18682-1C80-4254-AB98-F7C2D7D9C2A0}"/>
              </a:ext>
            </a:extLst>
          </p:cNvPr>
          <p:cNvSpPr>
            <a:spLocks noGrp="1"/>
          </p:cNvSpPr>
          <p:nvPr/>
        </p:nvSpPr>
        <p:spPr>
          <a:xfrm>
            <a:off x="8477250" y="2676525"/>
            <a:ext cx="295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同一RMSEで係数が分岐 → 非一意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2CA3811-01B8-46B3-BAAA-400B81926FCB}"/>
              </a:ext>
            </a:extLst>
          </p:cNvPr>
          <p:cNvSpPr>
            <a:spLocks noGrp="1"/>
          </p:cNvSpPr>
          <p:nvPr/>
        </p:nvSpPr>
        <p:spPr>
          <a:xfrm>
            <a:off x="5143500" y="3028950"/>
            <a:ext cx="1009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時間holdout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5D77892-A9B6-41BB-B760-1F41FDC09C17}"/>
              </a:ext>
            </a:extLst>
          </p:cNvPr>
          <p:cNvSpPr>
            <a:spLocks noGrp="1"/>
          </p:cNvSpPr>
          <p:nvPr/>
        </p:nvSpPr>
        <p:spPr>
          <a:xfrm>
            <a:off x="6191250" y="3028950"/>
            <a:ext cx="2190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将来suffix・別recipe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517BA2E-5032-4233-8DE1-3D4A61699484}"/>
              </a:ext>
            </a:extLst>
          </p:cNvPr>
          <p:cNvSpPr>
            <a:spLocks noGrp="1"/>
          </p:cNvSpPr>
          <p:nvPr/>
        </p:nvSpPr>
        <p:spPr>
          <a:xfrm>
            <a:off x="8477250" y="3028950"/>
            <a:ext cx="295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同一trajectory内補間と分離</a:t>
            </a:r>
          </a:p>
        </p:txBody>
      </p:sp>
      <p:graphicFrame>
        <p:nvGraphicFramePr>
          <p:cNvPr id="60" name="表 59"/>
          <p:cNvGraphicFramePr/>
          <p:nvPr/>
        </p:nvGraphicFramePr>
        <p:xfrm>
          <a:off x="552450" y="3762375"/>
          <a:ext cx="11087100" cy="1971675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対象係数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必要な励振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観測signature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主なconfounder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7FA8"/>
                          </a:solidFill>
                          <a:latin typeface="Yu Gothic"/>
                          <a:ea typeface="Yu Gothic"/>
                          <a:cs typeface="Yu Gothic"/>
                        </a:rPr>
                        <a:t>G chip–base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短いpower step / 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chip–base位相差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sensor応答、時刻ずれ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7FA8"/>
                          </a:solidFill>
                          <a:latin typeface="Yu Gothic"/>
                          <a:ea typeface="Yu Gothic"/>
                          <a:cs typeface="Yu Gothic"/>
                        </a:rPr>
                        <a:t>G base–fins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中時間pulse / cooldown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base–fins減衰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G₁との相関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7FA8"/>
                          </a:solidFill>
                          <a:latin typeface="Yu Gothic"/>
                          <a:ea typeface="Yu Gothic"/>
                          <a:cs typeface="Yu Gothic"/>
                        </a:rPr>
                        <a:t>hA coolant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長時間hold / coolant 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定常gain・global 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初期温度、ambient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777777"/>
                          </a:solidFill>
                          <a:latin typeface="Yu Gothic"/>
                          <a:ea typeface="Yu Gothic"/>
                          <a:cs typeface="Yu Gothic"/>
                        </a:rPr>
                        <a:t>C（将来拡張）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複数pulse幅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立上り速度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Gとのscale同定性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1B26AC7-9031-48DA-9CBC-436532F10632}"/>
              </a:ext>
            </a:extLst>
          </p:cNvPr>
          <p:cNvSpPr>
            <a:spLocks noGrp="1"/>
          </p:cNvSpPr>
          <p:nvPr/>
        </p:nvSpPr>
        <p:spPr>
          <a:xfrm>
            <a:off x="552450" y="5895975"/>
            <a:ext cx="11087100" cy="352425"/>
          </a:xfrm>
          <a:prstGeom prst="rect">
            <a:avLst/>
          </a:prstGeom>
          <a:solidFill>
            <a:srgbClr val="EEF7DF"/>
          </a:solidFill>
          <a:ln w="9525">
            <a:solidFill>
              <a:srgbClr val="76BE18"/>
            </a:solidFill>
            <a:prstDash val="solid"/>
          </a:ln>
        </p:spPr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03E72F8-85EC-4CA3-A0DC-F570BE304C08}"/>
              </a:ext>
            </a:extLst>
          </p:cNvPr>
          <p:cNvSpPr>
            <a:spLocks noGrp="1"/>
          </p:cNvSpPr>
          <p:nvPr/>
        </p:nvSpPr>
        <p:spPr>
          <a:xfrm>
            <a:off x="695325" y="5953125"/>
            <a:ext cx="10801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装置DOEの原則：短・中・長の時間尺度を分離して励振し、coolantとheaterを同時に動かし過ぎない。</a:t>
            </a:r>
          </a:p>
        </p:txBody>
      </p:sp>
    </p:spTree>
    <p:extLst>
      <p:ext uri="{BB962C8B-B14F-4D97-AF65-F5344CB8AC3E}">
        <p14:creationId xmlns:p14="http://schemas.microsoft.com/office/powerpoint/2010/main" val="1801140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3A7FE7ED-201C-413E-BBE3-BD8F2A4692EE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37BD998-408C-4CC5-BA39-0E7195DDF63A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CAUSAL FORECAST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23DCD0B-E4F7-461F-BB73-EB490D82F04E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予測開始時刻Hまでだけを同化し、その後は入力suffixで開ループ予測する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16D990A-DD6D-4480-A848-97A832F9F3FF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未来観測を初期状態推定へ混入させないことを、workflowのデータ契約として固定する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333953EC-A00F-43F3-A763-D9D3DE4248ED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C6CE2CCD-B4F4-49F7-9113-AE5234622417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EEA3C6A-DD21-4A42-BF4F-3BB1202497AE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FBA7C55-0E82-44C3-9C55-21B063D0B26B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8A6294D-6851-4DB4-BB29-E4D358E13BA7}"/>
              </a:ext>
            </a:extLst>
          </p:cNvPr>
          <p:cNvSpPr>
            <a:spLocks noGrp="1"/>
          </p:cNvSpPr>
          <p:nvPr/>
        </p:nvSpPr>
        <p:spPr>
          <a:xfrm>
            <a:off x="552450" y="1743075"/>
            <a:ext cx="20955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18139AE-DB74-4319-9380-CE528384526A}"/>
              </a:ext>
            </a:extLst>
          </p:cNvPr>
          <p:cNvSpPr>
            <a:spLocks noGrp="1"/>
          </p:cNvSpPr>
          <p:nvPr/>
        </p:nvSpPr>
        <p:spPr>
          <a:xfrm>
            <a:off x="552450" y="1743075"/>
            <a:ext cx="2095500" cy="76200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94F5713-69F9-4B1A-8E77-54E4845AD004}"/>
              </a:ext>
            </a:extLst>
          </p:cNvPr>
          <p:cNvSpPr>
            <a:spLocks noGrp="1"/>
          </p:cNvSpPr>
          <p:nvPr/>
        </p:nvSpPr>
        <p:spPr>
          <a:xfrm>
            <a:off x="723900" y="1990725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history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5733D01-4094-40E9-9379-4541B9D27629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 ≤ H</a:t>
            </a:r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2F15E12A-1FA3-455A-8B05-82887C92C304}"/>
              </a:ext>
            </a:extLst>
          </p:cNvPr>
          <p:cNvSpPr>
            <a:spLocks noGrp="1"/>
          </p:cNvSpPr>
          <p:nvPr/>
        </p:nvSpPr>
        <p:spPr>
          <a:xfrm>
            <a:off x="723900" y="2638425"/>
            <a:ext cx="1752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F889F61-BE08-4553-8863-C4EB89BF2C14}"/>
              </a:ext>
            </a:extLst>
          </p:cNvPr>
          <p:cNvSpPr>
            <a:spLocks noGrp="1"/>
          </p:cNvSpPr>
          <p:nvPr/>
        </p:nvSpPr>
        <p:spPr>
          <a:xfrm>
            <a:off x="723900" y="2790825"/>
            <a:ext cx="1752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6618"/>
          </a:bodyPr>
          <a:lstStyle/>
          <a:p>
            <a:pPr algn="ctr">
              <a:lnSpc>
                <a:spcPct val="115000"/>
              </a:lnSpc>
              <a:buNone/>
              <a:def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temperature</a:t>
            </a:r>
          </a:p>
          <a:p>
            <a:pPr algn="ctr">
              <a:lnSpc>
                <a:spcPct val="115000"/>
              </a:lnSpc>
              <a:buNone/>
              <a:def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controls</a:t>
            </a:r>
          </a:p>
          <a:p>
            <a:pPr algn="ctr">
              <a:lnSpc>
                <a:spcPct val="115000"/>
              </a:lnSpc>
              <a:buNone/>
              <a:def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mask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6620754-BEC3-4DE9-9F77-BE676B0CEE87}"/>
              </a:ext>
            </a:extLst>
          </p:cNvPr>
          <p:cNvSpPr>
            <a:spLocks noGrp="1"/>
          </p:cNvSpPr>
          <p:nvPr/>
        </p:nvSpPr>
        <p:spPr>
          <a:xfrm>
            <a:off x="3105150" y="1743075"/>
            <a:ext cx="20955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4B73280-2F73-4858-8545-2876E2623618}"/>
              </a:ext>
            </a:extLst>
          </p:cNvPr>
          <p:cNvSpPr>
            <a:spLocks noGrp="1"/>
          </p:cNvSpPr>
          <p:nvPr/>
        </p:nvSpPr>
        <p:spPr>
          <a:xfrm>
            <a:off x="3105150" y="1743075"/>
            <a:ext cx="2095500" cy="76200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CD878EF-22F8-4E31-9ED0-239E1B534BE2}"/>
              </a:ext>
            </a:extLst>
          </p:cNvPr>
          <p:cNvSpPr>
            <a:spLocks noGrp="1"/>
          </p:cNvSpPr>
          <p:nvPr/>
        </p:nvSpPr>
        <p:spPr>
          <a:xfrm>
            <a:off x="3276600" y="1990725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state assimilation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CA06AA9-F6FF-44E8-A261-41DC23F01B9D}"/>
              </a:ext>
            </a:extLst>
          </p:cNvPr>
          <p:cNvSpPr>
            <a:spLocks noGrp="1"/>
          </p:cNvSpPr>
          <p:nvPr/>
        </p:nvSpPr>
        <p:spPr>
          <a:xfrm>
            <a:off x="3276600" y="232410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posterior at H</a:t>
            </a:r>
          </a:p>
        </p:txBody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CB8F7299-C508-44B3-9052-26494DD796A7}"/>
              </a:ext>
            </a:extLst>
          </p:cNvPr>
          <p:cNvSpPr>
            <a:spLocks noGrp="1"/>
          </p:cNvSpPr>
          <p:nvPr/>
        </p:nvSpPr>
        <p:spPr>
          <a:xfrm>
            <a:off x="3276600" y="2638425"/>
            <a:ext cx="1752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C379921-553B-4145-B9DA-90BED4B005C4}"/>
              </a:ext>
            </a:extLst>
          </p:cNvPr>
          <p:cNvSpPr>
            <a:spLocks noGrp="1"/>
          </p:cNvSpPr>
          <p:nvPr/>
        </p:nvSpPr>
        <p:spPr>
          <a:xfrm>
            <a:off x="3276600" y="2790825"/>
            <a:ext cx="1752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state mean at H</a:t>
            </a:r>
          </a:p>
          <a:p>
            <a:pPr algn="ctr">
              <a:lnSpc>
                <a:spcPct val="115000"/>
              </a:lnSpc>
              <a:buNone/>
              <a:def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covariance P(H)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73DBFCF-E78B-4AD3-AF6B-27B002729C7D}"/>
              </a:ext>
            </a:extLst>
          </p:cNvPr>
          <p:cNvSpPr>
            <a:spLocks noGrp="1"/>
          </p:cNvSpPr>
          <p:nvPr/>
        </p:nvSpPr>
        <p:spPr>
          <a:xfrm>
            <a:off x="5657850" y="1743075"/>
            <a:ext cx="20955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A38B570-D7B1-4DB3-8753-942B3A5DD0FD}"/>
              </a:ext>
            </a:extLst>
          </p:cNvPr>
          <p:cNvSpPr>
            <a:spLocks noGrp="1"/>
          </p:cNvSpPr>
          <p:nvPr/>
        </p:nvSpPr>
        <p:spPr>
          <a:xfrm>
            <a:off x="5657850" y="1743075"/>
            <a:ext cx="2095500" cy="76200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FDB6093-E8F7-44EB-9DCD-264B6E68044C}"/>
              </a:ext>
            </a:extLst>
          </p:cNvPr>
          <p:cNvSpPr>
            <a:spLocks noGrp="1"/>
          </p:cNvSpPr>
          <p:nvPr/>
        </p:nvSpPr>
        <p:spPr>
          <a:xfrm>
            <a:off x="5829300" y="1990725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open-loop rollout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D5B70EE-FA75-4FB3-A679-974CA8527602}"/>
              </a:ext>
            </a:extLst>
          </p:cNvPr>
          <p:cNvSpPr>
            <a:spLocks noGrp="1"/>
          </p:cNvSpPr>
          <p:nvPr/>
        </p:nvSpPr>
        <p:spPr>
          <a:xfrm>
            <a:off x="5829300" y="2324100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 &gt; H</a:t>
            </a:r>
          </a:p>
        </p:txBody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7C79B338-B422-4636-9B69-C7EF44EC4DB0}"/>
              </a:ext>
            </a:extLst>
          </p:cNvPr>
          <p:cNvSpPr>
            <a:spLocks noGrp="1"/>
          </p:cNvSpPr>
          <p:nvPr/>
        </p:nvSpPr>
        <p:spPr>
          <a:xfrm>
            <a:off x="5829300" y="2638425"/>
            <a:ext cx="1752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CB45FF2-BDA0-4DD8-9E1E-9456D1E7B264}"/>
              </a:ext>
            </a:extLst>
          </p:cNvPr>
          <p:cNvSpPr>
            <a:spLocks noGrp="1"/>
          </p:cNvSpPr>
          <p:nvPr/>
        </p:nvSpPr>
        <p:spPr>
          <a:xfrm>
            <a:off x="5829300" y="2790825"/>
            <a:ext cx="1752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known/planned inputs</a:t>
            </a:r>
          </a:p>
          <a:p>
            <a:pPr algn="ctr">
              <a:lnSpc>
                <a:spcPct val="115000"/>
              </a:lnSpc>
              <a:buNone/>
              <a:def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no future y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8324A2F-F48A-49F5-BC96-485EAA8321C9}"/>
              </a:ext>
            </a:extLst>
          </p:cNvPr>
          <p:cNvSpPr>
            <a:spLocks noGrp="1"/>
          </p:cNvSpPr>
          <p:nvPr/>
        </p:nvSpPr>
        <p:spPr>
          <a:xfrm>
            <a:off x="8210550" y="1743075"/>
            <a:ext cx="34290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9B627F5-ED60-4240-846D-CA5F0A27148B}"/>
              </a:ext>
            </a:extLst>
          </p:cNvPr>
          <p:cNvSpPr>
            <a:spLocks noGrp="1"/>
          </p:cNvSpPr>
          <p:nvPr/>
        </p:nvSpPr>
        <p:spPr>
          <a:xfrm>
            <a:off x="8210550" y="1743075"/>
            <a:ext cx="3429000" cy="76200"/>
          </a:xfrm>
          <a:prstGeom prst="rect">
            <a:avLst/>
          </a:prstGeom>
          <a:solidFill>
            <a:srgbClr val="E5A900"/>
          </a:solidFill>
          <a:ln w="0">
            <a:noFill/>
            <a:prstDash val="solid"/>
          </a:ln>
        </p:spPr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A954611-659E-41E5-A7F8-DA48C04FAA3C}"/>
              </a:ext>
            </a:extLst>
          </p:cNvPr>
          <p:cNvSpPr>
            <a:spLocks noGrp="1"/>
          </p:cNvSpPr>
          <p:nvPr/>
        </p:nvSpPr>
        <p:spPr>
          <a:xfrm>
            <a:off x="8382000" y="1990725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E5A900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E5A900"/>
                </a:solidFill>
                <a:latin typeface="Yu Gothic"/>
                <a:ea typeface="Yu Gothic"/>
                <a:cs typeface="Yu Gothic"/>
              </a:rPr>
              <a:t>forecast product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0F33B29-A590-4AE4-8588-DFD528248112}"/>
              </a:ext>
            </a:extLst>
          </p:cNvPr>
          <p:cNvSpPr>
            <a:spLocks noGrp="1"/>
          </p:cNvSpPr>
          <p:nvPr/>
        </p:nvSpPr>
        <p:spPr>
          <a:xfrm>
            <a:off x="8382000" y="232410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temperature + uncertainty</a:t>
            </a:r>
          </a:p>
        </p:txBody>
      </p:sp>
      <p:sp>
        <p:nvSpPr>
          <p:cNvPr id="31" name="直線コネクタ 30">
            <a:extLst>
              <a:ext uri="{FF2B5EF4-FFF2-40B4-BE49-F238E27FC236}">
                <a16:creationId xmlns:a16="http://schemas.microsoft.com/office/drawing/2014/main" id="{9A48F8E1-03A4-4612-95E2-C770B465D2FD}"/>
              </a:ext>
            </a:extLst>
          </p:cNvPr>
          <p:cNvSpPr>
            <a:spLocks noGrp="1"/>
          </p:cNvSpPr>
          <p:nvPr/>
        </p:nvSpPr>
        <p:spPr>
          <a:xfrm>
            <a:off x="8382000" y="2638425"/>
            <a:ext cx="3086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0B79A29-1305-4FC3-918C-800322FF92C6}"/>
              </a:ext>
            </a:extLst>
          </p:cNvPr>
          <p:cNvSpPr>
            <a:spLocks noGrp="1"/>
          </p:cNvSpPr>
          <p:nvPr/>
        </p:nvSpPr>
        <p:spPr>
          <a:xfrm>
            <a:off x="8382000" y="2790825"/>
            <a:ext cx="3086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15000"/>
              </a:lnSpc>
              <a:buNone/>
              <a:def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mean / covariance / threshold risk</a:t>
            </a:r>
          </a:p>
        </p:txBody>
      </p:sp>
      <p:cxnSp>
        <p:nvCxnSpPr>
          <p:cNvPr id="85" name="直線矢印コネクタ 84"/>
          <p:cNvCxnSpPr>
            <a:stCxn id="9" idx="3"/>
            <a:endCxn id="15" idx="1"/>
          </p:cNvCxnSpPr>
          <p:nvPr/>
        </p:nvCxnSpPr>
        <p:spPr>
          <a:xfrm>
            <a:off x="2647950" y="2676525"/>
            <a:ext cx="457200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cxnSp>
        <p:nvCxnSpPr>
          <p:cNvPr id="86" name="直線矢印コネクタ 85"/>
          <p:cNvCxnSpPr>
            <a:stCxn id="15" idx="3"/>
            <a:endCxn id="21" idx="1"/>
          </p:cNvCxnSpPr>
          <p:nvPr/>
        </p:nvCxnSpPr>
        <p:spPr>
          <a:xfrm>
            <a:off x="5200650" y="2676525"/>
            <a:ext cx="457200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cxnSp>
        <p:nvCxnSpPr>
          <p:cNvPr id="87" name="直線矢印コネクタ 86"/>
          <p:cNvCxnSpPr>
            <a:stCxn id="21" idx="3"/>
            <a:endCxn id="27" idx="1"/>
          </p:cNvCxnSpPr>
          <p:nvPr/>
        </p:nvCxnSpPr>
        <p:spPr>
          <a:xfrm>
            <a:off x="7753350" y="2676525"/>
            <a:ext cx="457200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sp>
        <p:nvSpPr>
          <p:cNvPr id="36" name="直線コネクタ 35">
            <a:extLst>
              <a:ext uri="{FF2B5EF4-FFF2-40B4-BE49-F238E27FC236}">
                <a16:creationId xmlns:a16="http://schemas.microsoft.com/office/drawing/2014/main" id="{929BA834-43E0-474D-9A57-03BA1B6E4E8C}"/>
              </a:ext>
            </a:extLst>
          </p:cNvPr>
          <p:cNvSpPr>
            <a:spLocks noGrp="1"/>
          </p:cNvSpPr>
          <p:nvPr/>
        </p:nvSpPr>
        <p:spPr>
          <a:xfrm>
            <a:off x="552450" y="38957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C40218D-528F-46F1-AACD-346B7DA8046E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1809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状態・観測分布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3582C80-6017-4662-A0D7-A6784F4A0730}"/>
              </a:ext>
            </a:extLst>
          </p:cNvPr>
          <p:cNvSpPr>
            <a:spLocks noGrp="1"/>
          </p:cNvSpPr>
          <p:nvPr/>
        </p:nvSpPr>
        <p:spPr>
          <a:xfrm>
            <a:off x="2381250" y="4029075"/>
            <a:ext cx="714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xₖ ∼ N(x̂ₖ, Pₖ),     ŷₖ = Hx̂ₖ,     Σy,ₖ = HPₖHᵀ + R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A2F0DC6-26C8-401E-A14E-24B6D119505C}"/>
              </a:ext>
            </a:extLst>
          </p:cNvPr>
          <p:cNvSpPr>
            <a:spLocks noGrp="1"/>
          </p:cNvSpPr>
          <p:nvPr/>
        </p:nvSpPr>
        <p:spPr>
          <a:xfrm>
            <a:off x="552450" y="4476750"/>
            <a:ext cx="1108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Pは初期状態・process noise・sensor noiseを伝播。parameter uncertaintyとmodel discrepancyは別途ensemble/校正で加える。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B87FF38-3325-4F9F-9D06-8F62BD7489D7}"/>
              </a:ext>
            </a:extLst>
          </p:cNvPr>
          <p:cNvSpPr>
            <a:spLocks noGrp="1"/>
          </p:cNvSpPr>
          <p:nvPr/>
        </p:nvSpPr>
        <p:spPr>
          <a:xfrm>
            <a:off x="552450" y="5057775"/>
            <a:ext cx="2581275" cy="866775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05C89F0-7EF3-408E-8C87-AA3E86F15B80}"/>
              </a:ext>
            </a:extLst>
          </p:cNvPr>
          <p:cNvSpPr>
            <a:spLocks noGrp="1"/>
          </p:cNvSpPr>
          <p:nvPr/>
        </p:nvSpPr>
        <p:spPr>
          <a:xfrm>
            <a:off x="704850" y="518160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cutoff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2D1D1D30-CE03-40ED-8472-3CCDB9E2DC42}"/>
              </a:ext>
            </a:extLst>
          </p:cNvPr>
          <p:cNvSpPr>
            <a:spLocks noGrp="1"/>
          </p:cNvSpPr>
          <p:nvPr/>
        </p:nvSpPr>
        <p:spPr>
          <a:xfrm>
            <a:off x="704850" y="5448300"/>
            <a:ext cx="2276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各case固有のHを保存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9A836C8D-4918-41EF-AD9C-56830CFC95F3}"/>
              </a:ext>
            </a:extLst>
          </p:cNvPr>
          <p:cNvSpPr>
            <a:spLocks noGrp="1"/>
          </p:cNvSpPr>
          <p:nvPr/>
        </p:nvSpPr>
        <p:spPr>
          <a:xfrm>
            <a:off x="3324225" y="5057775"/>
            <a:ext cx="2581275" cy="866775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2EC90ECA-6E2D-49FE-83D2-B5F1CEB96700}"/>
              </a:ext>
            </a:extLst>
          </p:cNvPr>
          <p:cNvSpPr>
            <a:spLocks noGrp="1"/>
          </p:cNvSpPr>
          <p:nvPr/>
        </p:nvSpPr>
        <p:spPr>
          <a:xfrm>
            <a:off x="3476625" y="518160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input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80AAC87-137D-4ED2-83AD-247CF6C378A3}"/>
              </a:ext>
            </a:extLst>
          </p:cNvPr>
          <p:cNvSpPr>
            <a:spLocks noGrp="1"/>
          </p:cNvSpPr>
          <p:nvPr/>
        </p:nvSpPr>
        <p:spPr>
          <a:xfrm>
            <a:off x="3476625" y="5448300"/>
            <a:ext cx="2276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left zero-order hold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CEF6D74-130B-4187-872F-DE591CAF3BBD}"/>
              </a:ext>
            </a:extLst>
          </p:cNvPr>
          <p:cNvSpPr>
            <a:spLocks noGrp="1"/>
          </p:cNvSpPr>
          <p:nvPr/>
        </p:nvSpPr>
        <p:spPr>
          <a:xfrm>
            <a:off x="6096000" y="5057775"/>
            <a:ext cx="2581275" cy="866775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46719667-9CF4-4F63-B516-5BBBA6743E22}"/>
              </a:ext>
            </a:extLst>
          </p:cNvPr>
          <p:cNvSpPr>
            <a:spLocks noGrp="1"/>
          </p:cNvSpPr>
          <p:nvPr/>
        </p:nvSpPr>
        <p:spPr>
          <a:xfrm>
            <a:off x="6248400" y="518160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missing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A7E9936-6885-4423-83DC-DAD0C1C72A5C}"/>
              </a:ext>
            </a:extLst>
          </p:cNvPr>
          <p:cNvSpPr>
            <a:spLocks noGrp="1"/>
          </p:cNvSpPr>
          <p:nvPr/>
        </p:nvSpPr>
        <p:spPr>
          <a:xfrm>
            <a:off x="6248400" y="5448300"/>
            <a:ext cx="2276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maskで観測行を縮約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323F4A3C-C6F4-4F4E-838B-05A83CB15899}"/>
              </a:ext>
            </a:extLst>
          </p:cNvPr>
          <p:cNvSpPr>
            <a:spLocks noGrp="1"/>
          </p:cNvSpPr>
          <p:nvPr/>
        </p:nvSpPr>
        <p:spPr>
          <a:xfrm>
            <a:off x="8867775" y="5057775"/>
            <a:ext cx="2581275" cy="866775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92148337-B43A-44E3-A4C1-D4474CE8F2B4}"/>
              </a:ext>
            </a:extLst>
          </p:cNvPr>
          <p:cNvSpPr>
            <a:spLocks noGrp="1"/>
          </p:cNvSpPr>
          <p:nvPr/>
        </p:nvSpPr>
        <p:spPr>
          <a:xfrm>
            <a:off x="9020175" y="518160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E5A900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E5A900"/>
                </a:solidFill>
                <a:latin typeface="Yu Gothic"/>
                <a:ea typeface="Yu Gothic"/>
                <a:cs typeface="Yu Gothic"/>
              </a:rPr>
              <a:t>report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2C3E7F13-9CBF-45BB-AD85-ECE256FE9408}"/>
              </a:ext>
            </a:extLst>
          </p:cNvPr>
          <p:cNvSpPr>
            <a:spLocks noGrp="1"/>
          </p:cNvSpPr>
          <p:nvPr/>
        </p:nvSpPr>
        <p:spPr>
          <a:xfrm>
            <a:off x="9020175" y="5448300"/>
            <a:ext cx="2276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mean / worst / phaseを併記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4C889F81-2334-423B-81DD-4C4B35DC392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1087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禁止事項：全trajectoryで初期状態を最適化してからsuffix誤差を測る — 未来情報のleakageになる。</a:t>
            </a:r>
          </a:p>
        </p:txBody>
      </p:sp>
    </p:spTree>
    <p:extLst>
      <p:ext uri="{BB962C8B-B14F-4D97-AF65-F5344CB8AC3E}">
        <p14:creationId xmlns:p14="http://schemas.microsoft.com/office/powerpoint/2010/main" val="28872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2DD50BA-E837-4140-AC09-362F0DEF2E30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46A6E7C-D208-4080-A11C-CECCD30E7FB6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STATE MONITORING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F7222E-204C-4A1A-B86A-29A579397EB4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温度・未知熱・相対sensor biasを拡張状態として推定し、innovationを診断量にする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8CBF977-21D7-4673-80F4-8BBD6500A806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故障名を直接分類するのではなく、物理的に解釈できる偏差channelへ分解する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C99020C7-DA1A-4463-84BA-A3D0B731E6D6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4C993356-3513-4749-99B5-EFCF58FF238B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FC1DFF2-FEAF-4471-9EA1-5F17E42AD6D8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9B97019-66EB-460C-9806-3DB17A26CA31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1D97DB0-0AFE-4B5C-8F0B-4C7DEA94EC7A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3067050" cy="2238375"/>
          </a:xfrm>
          <a:prstGeom prst="rect">
            <a:avLst/>
          </a:prstGeom>
          <a:solidFill>
            <a:srgbClr val="201445"/>
          </a:solidFill>
          <a:ln w="0">
            <a:noFill/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61B8515-CE6D-4740-907A-2F7701F6AB4A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augmented state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C920620-7586-4504-A047-E513B45669B0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26479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z = [T; d; β]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9C4729D-103E-4FE1-AD6A-9AC61FF5569B}"/>
              </a:ext>
            </a:extLst>
          </p:cNvPr>
          <p:cNvSpPr>
            <a:spLocks noGrp="1"/>
          </p:cNvSpPr>
          <p:nvPr/>
        </p:nvSpPr>
        <p:spPr>
          <a:xfrm>
            <a:off x="847725" y="264795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8000"/>
              </a:lnSpc>
              <a:buNone/>
              <a:defRPr sz="975" b="0" i="0">
                <a:solidFill>
                  <a:srgbClr val="DCD5EA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DCD5EA"/>
                </a:solidFill>
                <a:latin typeface="Yu Gothic"/>
                <a:ea typeface="Yu Gothic"/>
                <a:cs typeface="Yu Gothic"/>
              </a:rPr>
              <a:t>T  physical temperature</a:t>
            </a: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DCD5EA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DCD5EA"/>
                </a:solidFill>
                <a:latin typeface="Yu Gothic"/>
                <a:ea typeface="Yu Gothic"/>
                <a:cs typeface="Yu Gothic"/>
              </a:rPr>
              <a:t>d  unknown heat [W]</a:t>
            </a: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DCD5EA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DCD5EA"/>
                </a:solidFill>
                <a:latin typeface="Yu Gothic"/>
                <a:ea typeface="Yu Gothic"/>
                <a:cs typeface="Yu Gothic"/>
              </a:rPr>
              <a:t>β  identifiable relative bias [K]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486E9D3-2840-425D-B77F-1C012E72ECE0}"/>
              </a:ext>
            </a:extLst>
          </p:cNvPr>
          <p:cNvSpPr>
            <a:spLocks noGrp="1"/>
          </p:cNvSpPr>
          <p:nvPr/>
        </p:nvSpPr>
        <p:spPr>
          <a:xfrm>
            <a:off x="4162425" y="1666875"/>
            <a:ext cx="1885950" cy="800100"/>
          </a:xfrm>
          <a:prstGeom prst="rect">
            <a:avLst/>
          </a:prstGeom>
          <a:solidFill>
            <a:srgbClr val="E5F6FB"/>
          </a:solidFill>
          <a:ln w="19050">
            <a:solidFill>
              <a:srgbClr val="00A5D8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7A8ECC0-139B-4E1B-8CE8-448546B498F8}"/>
              </a:ext>
            </a:extLst>
          </p:cNvPr>
          <p:cNvSpPr>
            <a:spLocks noGrp="1"/>
          </p:cNvSpPr>
          <p:nvPr/>
        </p:nvSpPr>
        <p:spPr>
          <a:xfrm>
            <a:off x="4324350" y="178117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8039"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predict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7F2079F-4427-4293-911E-747DFB049901}"/>
              </a:ext>
            </a:extLst>
          </p:cNvPr>
          <p:cNvSpPr>
            <a:spLocks noGrp="1"/>
          </p:cNvSpPr>
          <p:nvPr/>
        </p:nvSpPr>
        <p:spPr>
          <a:xfrm>
            <a:off x="4324350" y="207645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0909"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z⁻, P⁻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BB21AAB-3783-4D1C-B998-BF487BB5CDFC}"/>
              </a:ext>
            </a:extLst>
          </p:cNvPr>
          <p:cNvSpPr>
            <a:spLocks noGrp="1"/>
          </p:cNvSpPr>
          <p:nvPr/>
        </p:nvSpPr>
        <p:spPr>
          <a:xfrm>
            <a:off x="6629400" y="1666875"/>
            <a:ext cx="1885950" cy="800100"/>
          </a:xfrm>
          <a:prstGeom prst="rect">
            <a:avLst/>
          </a:prstGeom>
          <a:solidFill>
            <a:srgbClr val="FFF5D7"/>
          </a:solidFill>
          <a:ln w="19050">
            <a:solidFill>
              <a:srgbClr val="E5A900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6E61D63-FA2A-4888-8D32-36303281C9ED}"/>
              </a:ext>
            </a:extLst>
          </p:cNvPr>
          <p:cNvSpPr>
            <a:spLocks noGrp="1"/>
          </p:cNvSpPr>
          <p:nvPr/>
        </p:nvSpPr>
        <p:spPr>
          <a:xfrm>
            <a:off x="6791325" y="178117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8039"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806000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806000"/>
                </a:solidFill>
                <a:latin typeface="Yu Gothic"/>
                <a:ea typeface="Yu Gothic"/>
                <a:cs typeface="Yu Gothic"/>
              </a:rPr>
              <a:t>innovation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E6CF72E-FCBB-4F59-9C56-0798CE960361}"/>
              </a:ext>
            </a:extLst>
          </p:cNvPr>
          <p:cNvSpPr>
            <a:spLocks noGrp="1"/>
          </p:cNvSpPr>
          <p:nvPr/>
        </p:nvSpPr>
        <p:spPr>
          <a:xfrm>
            <a:off x="6791325" y="207645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0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ν = y − Hz⁻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3F47307-B7F9-4340-9EFE-A9AA15DC85F5}"/>
              </a:ext>
            </a:extLst>
          </p:cNvPr>
          <p:cNvSpPr>
            <a:spLocks noGrp="1"/>
          </p:cNvSpPr>
          <p:nvPr/>
        </p:nvSpPr>
        <p:spPr>
          <a:xfrm>
            <a:off x="9096375" y="1666875"/>
            <a:ext cx="1885950" cy="800100"/>
          </a:xfrm>
          <a:prstGeom prst="rect">
            <a:avLst/>
          </a:prstGeom>
          <a:solidFill>
            <a:srgbClr val="EEF7DF"/>
          </a:solidFill>
          <a:ln w="19050">
            <a:solidFill>
              <a:srgbClr val="76BE18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1192BE4-F8F2-4327-9EE7-F519C0278073}"/>
              </a:ext>
            </a:extLst>
          </p:cNvPr>
          <p:cNvSpPr>
            <a:spLocks noGrp="1"/>
          </p:cNvSpPr>
          <p:nvPr/>
        </p:nvSpPr>
        <p:spPr>
          <a:xfrm>
            <a:off x="9258300" y="1781175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8039"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robust update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0D950B0-F256-4104-BADE-DE0ACA51B5F4}"/>
              </a:ext>
            </a:extLst>
          </p:cNvPr>
          <p:cNvSpPr>
            <a:spLocks noGrp="1"/>
          </p:cNvSpPr>
          <p:nvPr/>
        </p:nvSpPr>
        <p:spPr>
          <a:xfrm>
            <a:off x="9258300" y="2076450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0909"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z⁺, P⁺</a:t>
            </a:r>
          </a:p>
        </p:txBody>
      </p:sp>
      <p:cxnSp>
        <p:nvCxnSpPr>
          <p:cNvPr id="69" name="直線矢印コネクタ 68"/>
          <p:cNvCxnSpPr>
            <a:stCxn id="13" idx="3"/>
            <a:endCxn id="16" idx="1"/>
          </p:cNvCxnSpPr>
          <p:nvPr/>
        </p:nvCxnSpPr>
        <p:spPr>
          <a:xfrm>
            <a:off x="6048375" y="2066925"/>
            <a:ext cx="581025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cxnSp>
        <p:nvCxnSpPr>
          <p:cNvPr id="70" name="直線矢印コネクタ 69"/>
          <p:cNvCxnSpPr>
            <a:stCxn id="16" idx="3"/>
            <a:endCxn id="19" idx="1"/>
          </p:cNvCxnSpPr>
          <p:nvPr/>
        </p:nvCxnSpPr>
        <p:spPr>
          <a:xfrm>
            <a:off x="8515350" y="2066925"/>
            <a:ext cx="581025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54A022A-6DF7-40E2-8490-249FFADDB294}"/>
              </a:ext>
            </a:extLst>
          </p:cNvPr>
          <p:cNvSpPr>
            <a:spLocks noGrp="1"/>
          </p:cNvSpPr>
          <p:nvPr/>
        </p:nvSpPr>
        <p:spPr>
          <a:xfrm>
            <a:off x="4248150" y="25908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Van Loan / implicit Qd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843BA34-1DF9-4980-8ACD-E47CC88488AF}"/>
              </a:ext>
            </a:extLst>
          </p:cNvPr>
          <p:cNvSpPr>
            <a:spLocks noGrp="1"/>
          </p:cNvSpPr>
          <p:nvPr/>
        </p:nvSpPr>
        <p:spPr>
          <a:xfrm>
            <a:off x="6715125" y="25908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missing rows removed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8CF4ABD-9E93-416B-AACD-25CC0A43501D}"/>
              </a:ext>
            </a:extLst>
          </p:cNvPr>
          <p:cNvSpPr>
            <a:spLocks noGrp="1"/>
          </p:cNvSpPr>
          <p:nvPr/>
        </p:nvSpPr>
        <p:spPr>
          <a:xfrm>
            <a:off x="9182100" y="25908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Joseph covariance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1C1BDC1-74A5-440B-A022-EE2076A4AC22}"/>
              </a:ext>
            </a:extLst>
          </p:cNvPr>
          <p:cNvSpPr>
            <a:spLocks noGrp="1"/>
          </p:cNvSpPr>
          <p:nvPr/>
        </p:nvSpPr>
        <p:spPr>
          <a:xfrm>
            <a:off x="4162425" y="2952750"/>
            <a:ext cx="6819900" cy="723900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3793C0D-37B2-4EF3-BF59-C04D602C02EF}"/>
              </a:ext>
            </a:extLst>
          </p:cNvPr>
          <p:cNvSpPr>
            <a:spLocks noGrp="1"/>
          </p:cNvSpPr>
          <p:nvPr/>
        </p:nvSpPr>
        <p:spPr>
          <a:xfrm>
            <a:off x="4362450" y="3105150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 i="0">
                <a:solidFill>
                  <a:srgbClr val="3F3F3F"/>
                </a:solidFill>
                <a:latin typeface="Cambria Math"/>
                <a:ea typeface="Cambria Math"/>
                <a:cs typeface="Cambria Math"/>
              </a:rPr>
              <a:t>NISₖ = νₖᵀ Sₖ⁻¹νₖ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ECA5FA8-1C72-427A-9B6F-020A400D8827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χ² 99.99% threshold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147A310-0ECC-456C-BD4E-701CFF01ED00}"/>
              </a:ext>
            </a:extLst>
          </p:cNvPr>
          <p:cNvSpPr>
            <a:spLocks noGrp="1"/>
          </p:cNvSpPr>
          <p:nvPr/>
        </p:nvSpPr>
        <p:spPr>
          <a:xfrm>
            <a:off x="7258050" y="3286125"/>
            <a:ext cx="3429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1 dof  15.14   /   2 dof  18.42   /   3 dof  21.11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5133801-CE3F-4EFE-B230-C144BE9062D8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偏差の解釈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E37BA10-3CDF-4425-A388-42748777AE8D}"/>
              </a:ext>
            </a:extLst>
          </p:cNvPr>
          <p:cNvSpPr>
            <a:spLocks noGrp="1"/>
          </p:cNvSpPr>
          <p:nvPr/>
        </p:nvSpPr>
        <p:spPr>
          <a:xfrm>
            <a:off x="552450" y="4371975"/>
            <a:ext cx="3505200" cy="14382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025C36C-7547-47A8-908B-E1DC1BB49A6C}"/>
              </a:ext>
            </a:extLst>
          </p:cNvPr>
          <p:cNvSpPr>
            <a:spLocks noGrp="1"/>
          </p:cNvSpPr>
          <p:nvPr/>
        </p:nvSpPr>
        <p:spPr>
          <a:xfrm>
            <a:off x="552450" y="4371975"/>
            <a:ext cx="76200" cy="1438275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E036AF8-F8A8-47EC-9DEA-CD81FFF4ABE4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3105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B2DAF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7B2DAF"/>
                </a:solidFill>
                <a:latin typeface="Cambria Math"/>
                <a:ea typeface="Cambria Math"/>
                <a:cs typeface="Cambria Math"/>
              </a:rPr>
              <a:t>β rises / d ≈ 0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AE94762-1C0E-40E2-9DDD-5A5F5B6A1425}"/>
              </a:ext>
            </a:extLst>
          </p:cNvPr>
          <p:cNvSpPr>
            <a:spLocks noGrp="1"/>
          </p:cNvSpPr>
          <p:nvPr/>
        </p:nvSpPr>
        <p:spPr>
          <a:xfrm>
            <a:off x="762000" y="4848225"/>
            <a:ext cx="3105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sensor offset・校正ずれ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7409015-F77E-44E8-A004-54E3D9311DC5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3105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他sensorとの相対整合、gauge固定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C145FDB-8F3C-4A92-A47A-0D2CE0932689}"/>
              </a:ext>
            </a:extLst>
          </p:cNvPr>
          <p:cNvSpPr>
            <a:spLocks noGrp="1"/>
          </p:cNvSpPr>
          <p:nvPr/>
        </p:nvSpPr>
        <p:spPr>
          <a:xfrm>
            <a:off x="4248150" y="4371975"/>
            <a:ext cx="3505200" cy="14382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2ACF564-4F10-40C2-A78D-F12161A815CF}"/>
              </a:ext>
            </a:extLst>
          </p:cNvPr>
          <p:cNvSpPr>
            <a:spLocks noGrp="1"/>
          </p:cNvSpPr>
          <p:nvPr/>
        </p:nvSpPr>
        <p:spPr>
          <a:xfrm>
            <a:off x="4248150" y="4371975"/>
            <a:ext cx="76200" cy="1438275"/>
          </a:xfrm>
          <a:prstGeom prst="rect">
            <a:avLst/>
          </a:prstGeom>
          <a:solidFill>
            <a:srgbClr val="E5A900"/>
          </a:solidFill>
          <a:ln w="0">
            <a:noFill/>
            <a:prstDash val="solid"/>
          </a:ln>
        </p:spPr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7E40A06-15B2-4B26-AE44-4EDBB1DB067A}"/>
              </a:ext>
            </a:extLst>
          </p:cNvPr>
          <p:cNvSpPr>
            <a:spLocks noGrp="1"/>
          </p:cNvSpPr>
          <p:nvPr/>
        </p:nvSpPr>
        <p:spPr>
          <a:xfrm>
            <a:off x="4457700" y="4514850"/>
            <a:ext cx="3105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E5A900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E5A900"/>
                </a:solidFill>
                <a:latin typeface="Cambria Math"/>
                <a:ea typeface="Cambria Math"/>
                <a:cs typeface="Cambria Math"/>
              </a:rPr>
              <a:t>d rises / β small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59EA1E3-68C9-4AC8-A3FA-25405D184382}"/>
              </a:ext>
            </a:extLst>
          </p:cNvPr>
          <p:cNvSpPr>
            <a:spLocks noGrp="1"/>
          </p:cNvSpPr>
          <p:nvPr/>
        </p:nvSpPr>
        <p:spPr>
          <a:xfrm>
            <a:off x="4457700" y="4848225"/>
            <a:ext cx="3105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未指令発熱・冷却損失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35D8F0F-1A45-44B7-8954-79C57FFA9461}"/>
              </a:ext>
            </a:extLst>
          </p:cNvPr>
          <p:cNvSpPr>
            <a:spLocks noGrp="1"/>
          </p:cNvSpPr>
          <p:nvPr/>
        </p:nvSpPr>
        <p:spPr>
          <a:xfrm>
            <a:off x="4457700" y="5219700"/>
            <a:ext cx="3105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複数nodeの整合した温度上昇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03B91F63-C3B1-4A62-9904-1BCF03C2443A}"/>
              </a:ext>
            </a:extLst>
          </p:cNvPr>
          <p:cNvSpPr>
            <a:spLocks noGrp="1"/>
          </p:cNvSpPr>
          <p:nvPr/>
        </p:nvSpPr>
        <p:spPr>
          <a:xfrm>
            <a:off x="7943850" y="4371975"/>
            <a:ext cx="3505200" cy="14382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6E93046-5D01-4DEB-A233-192F3ACB5CBA}"/>
              </a:ext>
            </a:extLst>
          </p:cNvPr>
          <p:cNvSpPr>
            <a:spLocks noGrp="1"/>
          </p:cNvSpPr>
          <p:nvPr/>
        </p:nvSpPr>
        <p:spPr>
          <a:xfrm>
            <a:off x="7943850" y="4371975"/>
            <a:ext cx="76200" cy="1438275"/>
          </a:xfrm>
          <a:prstGeom prst="rect">
            <a:avLst/>
          </a:prstGeom>
          <a:solidFill>
            <a:srgbClr val="C4493D"/>
          </a:solidFill>
          <a:ln w="0">
            <a:noFill/>
            <a:prstDash val="solid"/>
          </a:ln>
        </p:spPr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1F1CCF3-3AB2-4330-9AAA-49AEF4D22EE4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3105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C4493D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C4493D"/>
                </a:solidFill>
                <a:latin typeface="Cambria Math"/>
                <a:ea typeface="Cambria Math"/>
                <a:cs typeface="Cambria Math"/>
              </a:rPr>
              <a:t>NIS only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91EEC507-3CF2-4FC8-A17F-58B56ECFB25D}"/>
              </a:ext>
            </a:extLst>
          </p:cNvPr>
          <p:cNvSpPr>
            <a:spLocks noGrp="1"/>
          </p:cNvSpPr>
          <p:nvPr/>
        </p:nvSpPr>
        <p:spPr>
          <a:xfrm>
            <a:off x="8153400" y="4848225"/>
            <a:ext cx="3105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model mismatch・同期ずれ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213E90C-BBAD-4B88-A26E-8F7F8834662D}"/>
              </a:ext>
            </a:extLst>
          </p:cNvPr>
          <p:cNvSpPr>
            <a:spLocks noGrp="1"/>
          </p:cNvSpPr>
          <p:nvPr/>
        </p:nvSpPr>
        <p:spPr>
          <a:xfrm>
            <a:off x="8153400" y="5219700"/>
            <a:ext cx="3105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持続性、自己相関、運転域で再校正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A7E1B833-8528-4BDE-9084-9BD6DE022AD5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8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運用閾値はχ²理論値を初期値とし、正常保持データの自己相関・multiple testing・model errorで校正する。</a:t>
            </a:r>
          </a:p>
        </p:txBody>
      </p:sp>
    </p:spTree>
    <p:extLst>
      <p:ext uri="{BB962C8B-B14F-4D97-AF65-F5344CB8AC3E}">
        <p14:creationId xmlns:p14="http://schemas.microsoft.com/office/powerpoint/2010/main" val="205301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5AFEBFA-B176-4704-9E81-F2D45519C9A7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CDA859A-10D1-4C8D-A57A-225B6B8C939A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MONITORING EVIDENCE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78EFD6-8DE4-4D66-BEEC-490541F386D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sensor offsetは即時検知、3 W未指令発熱は10 sで検知した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4844AC3-44CD-4268-88E8-3D3A5C4EAAC1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同じobserverが欠測中もposteriorを維持し、故障channelを分離する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A96E2C22-72A3-4D6B-999E-646C547242B2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9C10C873-6693-4181-82C1-2407402DF432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29B70DB-81E1-4F74-9B5A-9EDB196551C7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A4C0DD5-494A-49F2-B08A-F2FC9528433D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F4A663C-82B1-431E-B7CA-B5DA53E139F3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523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M03  +3 K chip sensor offset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552450" y="1657350"/>
          <a:ext cx="52578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0774D8-8E85-41BF-A2BE-9B37638CC260}"/>
              </a:ext>
            </a:extLst>
          </p:cNvPr>
          <p:cNvSpPr>
            <a:spLocks noGrp="1"/>
          </p:cNvSpPr>
          <p:nvPr/>
        </p:nvSpPr>
        <p:spPr>
          <a:xfrm>
            <a:off x="552450" y="4657725"/>
            <a:ext cx="5257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event start = first detection = 300 s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32E337A-DF57-4864-8E99-8F01790BCBF3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5257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M05  3 W hidden heat</a:t>
            </a:r>
          </a:p>
        </p:txBody>
      </p:sp>
      <p:graphicFrame>
        <p:nvGraphicFramePr>
          <p:cNvPr id="47" name="Chart"/>
          <p:cNvGraphicFramePr/>
          <p:nvPr/>
        </p:nvGraphicFramePr>
        <p:xfrm>
          <a:off x="6381750" y="1657350"/>
          <a:ext cx="52578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7A54176-1006-49CC-AD77-C23DDE244497}"/>
              </a:ext>
            </a:extLst>
          </p:cNvPr>
          <p:cNvSpPr>
            <a:spLocks noGrp="1"/>
          </p:cNvSpPr>
          <p:nvPr/>
        </p:nvSpPr>
        <p:spPr>
          <a:xfrm>
            <a:off x="6381750" y="4657725"/>
            <a:ext cx="5257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event 282–380 s / first detection 292 s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AAE8D1F-ECB3-4589-BABA-465D99313094}"/>
              </a:ext>
            </a:extLst>
          </p:cNvPr>
          <p:cNvSpPr>
            <a:spLocks noGrp="1"/>
          </p:cNvSpPr>
          <p:nvPr/>
        </p:nvSpPr>
        <p:spPr>
          <a:xfrm>
            <a:off x="552450" y="5067300"/>
            <a:ext cx="25717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634F23D-1369-4226-A366-3602D763257A}"/>
              </a:ext>
            </a:extLst>
          </p:cNvPr>
          <p:cNvSpPr>
            <a:spLocks noGrp="1"/>
          </p:cNvSpPr>
          <p:nvPr/>
        </p:nvSpPr>
        <p:spPr>
          <a:xfrm>
            <a:off x="552450" y="5067300"/>
            <a:ext cx="66675" cy="1057275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3436D17-8771-4F9C-9545-0CA22AF50042}"/>
              </a:ext>
            </a:extLst>
          </p:cNvPr>
          <p:cNvSpPr>
            <a:spLocks noGrp="1"/>
          </p:cNvSpPr>
          <p:nvPr/>
        </p:nvSpPr>
        <p:spPr>
          <a:xfrm>
            <a:off x="742950" y="5162550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0 s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DDD27AE-25A7-4EC7-9925-4600833EDBF5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M03 detection delay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1898647-DDF8-48F7-ABA6-B9EC6E4D6201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max NIS 403.305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FFA9854-B106-4837-9A14-BACD1714E9BD}"/>
              </a:ext>
            </a:extLst>
          </p:cNvPr>
          <p:cNvSpPr>
            <a:spLocks noGrp="1"/>
          </p:cNvSpPr>
          <p:nvPr/>
        </p:nvSpPr>
        <p:spPr>
          <a:xfrm>
            <a:off x="3324225" y="5067300"/>
            <a:ext cx="25717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540E618-3D8E-4758-9254-86250D229121}"/>
              </a:ext>
            </a:extLst>
          </p:cNvPr>
          <p:cNvSpPr>
            <a:spLocks noGrp="1"/>
          </p:cNvSpPr>
          <p:nvPr/>
        </p:nvSpPr>
        <p:spPr>
          <a:xfrm>
            <a:off x="3324225" y="5067300"/>
            <a:ext cx="66675" cy="10572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3AC6F0D-CB27-45D2-A75F-53E23EE6DEDF}"/>
              </a:ext>
            </a:extLst>
          </p:cNvPr>
          <p:cNvSpPr>
            <a:spLocks noGrp="1"/>
          </p:cNvSpPr>
          <p:nvPr/>
        </p:nvSpPr>
        <p:spPr>
          <a:xfrm>
            <a:off x="3514725" y="5162550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0.040 K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0F768E9-CD86-45C5-AB59-F8909E631C43}"/>
              </a:ext>
            </a:extLst>
          </p:cNvPr>
          <p:cNvSpPr>
            <a:spLocks noGrp="1"/>
          </p:cNvSpPr>
          <p:nvPr/>
        </p:nvSpPr>
        <p:spPr>
          <a:xfrm>
            <a:off x="3514725" y="5543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M04 missing-window RMSE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11D48E-9F42-430D-AE59-668029C257D2}"/>
              </a:ext>
            </a:extLst>
          </p:cNvPr>
          <p:cNvSpPr>
            <a:spLocks noGrp="1"/>
          </p:cNvSpPr>
          <p:nvPr/>
        </p:nvSpPr>
        <p:spPr>
          <a:xfrm>
            <a:off x="3514725" y="582930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posterior remains finite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CC0E97F-970D-4BF3-94B5-A1363FB7D510}"/>
              </a:ext>
            </a:extLst>
          </p:cNvPr>
          <p:cNvSpPr>
            <a:spLocks noGrp="1"/>
          </p:cNvSpPr>
          <p:nvPr/>
        </p:nvSpPr>
        <p:spPr>
          <a:xfrm>
            <a:off x="6096000" y="5067300"/>
            <a:ext cx="25717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36F653E-5DF9-41F8-91FA-8E294D619788}"/>
              </a:ext>
            </a:extLst>
          </p:cNvPr>
          <p:cNvSpPr>
            <a:spLocks noGrp="1"/>
          </p:cNvSpPr>
          <p:nvPr/>
        </p:nvSpPr>
        <p:spPr>
          <a:xfrm>
            <a:off x="6096000" y="5067300"/>
            <a:ext cx="66675" cy="1057275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09D00F6-0401-44F6-8950-3D8386D214AA}"/>
              </a:ext>
            </a:extLst>
          </p:cNvPr>
          <p:cNvSpPr>
            <a:spLocks noGrp="1"/>
          </p:cNvSpPr>
          <p:nvPr/>
        </p:nvSpPr>
        <p:spPr>
          <a:xfrm>
            <a:off x="6286500" y="5162550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10 s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A808EEC-6280-4240-927D-5631D3D11B6C}"/>
              </a:ext>
            </a:extLst>
          </p:cNvPr>
          <p:cNvSpPr>
            <a:spLocks noGrp="1"/>
          </p:cNvSpPr>
          <p:nvPr/>
        </p:nvSpPr>
        <p:spPr>
          <a:xfrm>
            <a:off x="6286500" y="5543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M05 detection delay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A2816299-FFAE-4BF4-9A93-3789922B3953}"/>
              </a:ext>
            </a:extLst>
          </p:cNvPr>
          <p:cNvSpPr>
            <a:spLocks noGrp="1"/>
          </p:cNvSpPr>
          <p:nvPr/>
        </p:nvSpPr>
        <p:spPr>
          <a:xfrm>
            <a:off x="6286500" y="582930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3 W uncommanded heat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A9CC206-24B1-48C0-8F71-EAD85F0D50EA}"/>
              </a:ext>
            </a:extLst>
          </p:cNvPr>
          <p:cNvSpPr>
            <a:spLocks noGrp="1"/>
          </p:cNvSpPr>
          <p:nvPr/>
        </p:nvSpPr>
        <p:spPr>
          <a:xfrm>
            <a:off x="8867775" y="5067300"/>
            <a:ext cx="2771775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ED5256D-63D7-4D49-A61D-EFBC3E1DBEAD}"/>
              </a:ext>
            </a:extLst>
          </p:cNvPr>
          <p:cNvSpPr>
            <a:spLocks noGrp="1"/>
          </p:cNvSpPr>
          <p:nvPr/>
        </p:nvSpPr>
        <p:spPr>
          <a:xfrm>
            <a:off x="8867775" y="5067300"/>
            <a:ext cx="66675" cy="1057275"/>
          </a:xfrm>
          <a:prstGeom prst="rect">
            <a:avLst/>
          </a:prstGeom>
          <a:solidFill>
            <a:srgbClr val="E5A900"/>
          </a:solidFill>
          <a:ln w="0">
            <a:noFill/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F856D41-45EF-476B-82E3-793660069678}"/>
              </a:ext>
            </a:extLst>
          </p:cNvPr>
          <p:cNvSpPr>
            <a:spLocks noGrp="1"/>
          </p:cNvSpPr>
          <p:nvPr/>
        </p:nvSpPr>
        <p:spPr>
          <a:xfrm>
            <a:off x="9058275" y="5162550"/>
            <a:ext cx="2486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3.182 W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B5CB4E2-7FC0-4B0B-9C8A-0DFE1E1F46E4}"/>
              </a:ext>
            </a:extLst>
          </p:cNvPr>
          <p:cNvSpPr>
            <a:spLocks noGrp="1"/>
          </p:cNvSpPr>
          <p:nvPr/>
        </p:nvSpPr>
        <p:spPr>
          <a:xfrm>
            <a:off x="9058275" y="5543550"/>
            <a:ext cx="2486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M05 estimated peak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2D97C69-FA40-4B55-9CB0-FBA194F1149D}"/>
              </a:ext>
            </a:extLst>
          </p:cNvPr>
          <p:cNvSpPr>
            <a:spLocks noGrp="1"/>
          </p:cNvSpPr>
          <p:nvPr/>
        </p:nvSpPr>
        <p:spPr>
          <a:xfrm>
            <a:off x="9058275" y="5829300"/>
            <a:ext cx="24860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event sensor bias ≤ 0.061 K</a:t>
            </a:r>
          </a:p>
        </p:txBody>
      </p:sp>
    </p:spTree>
    <p:extLst>
      <p:ext uri="{BB962C8B-B14F-4D97-AF65-F5344CB8AC3E}">
        <p14:creationId xmlns:p14="http://schemas.microsoft.com/office/powerpoint/2010/main" val="1302337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9C4E75B-15CB-4227-8417-E42E1D69515F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D9F901-204C-4AC3-9517-17A75DC79B11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SYNTHETIC BENCHMARK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29239DA-002F-421B-8A4B-A515FF61968A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TopCellは通常条件で安定する一方、初期観測の疎さが最大誤差を支配した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747548C-EC90-427C-AF93-60191D7A740E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意図的model gapはcore scoreから分離し、失敗を隠さない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B19B184D-3DE8-445B-A351-65D2E8086AEF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03258697-1CDA-4B65-9E8D-6C37A7396A86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075460-830B-43C7-BBDF-50BF8F5E00F4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8AA3987-710C-40EC-824E-3A40CB311F21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7D2FC9D-7259-42AF-AD16-84F62D04157C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5257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core group mean RMSE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="552450" y="1657350"/>
          <a:ext cx="5257800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B7EA6E0-37BF-4B93-ACF1-3357EF96EEF2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5257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初期化ケースの改善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="6381750" y="1657350"/>
          <a:ext cx="5257800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29C0C6C-67E1-4A99-8281-AA444D32275D}"/>
              </a:ext>
            </a:extLst>
          </p:cNvPr>
          <p:cNvSpPr>
            <a:spLocks noGrp="1"/>
          </p:cNvSpPr>
          <p:nvPr/>
        </p:nvSpPr>
        <p:spPr>
          <a:xfrm>
            <a:off x="6381750" y="4676775"/>
            <a:ext cx="5257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history同化により 97.1%低減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AC7D744-AECC-4931-A6AE-F362B2B6E727}"/>
              </a:ext>
            </a:extLst>
          </p:cNvPr>
          <p:cNvSpPr>
            <a:spLocks noGrp="1"/>
          </p:cNvSpPr>
          <p:nvPr/>
        </p:nvSpPr>
        <p:spPr>
          <a:xfrm>
            <a:off x="552450" y="5105400"/>
            <a:ext cx="25717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D01C45E-2281-4F49-9BE6-B4214CD62D08}"/>
              </a:ext>
            </a:extLst>
          </p:cNvPr>
          <p:cNvSpPr>
            <a:spLocks noGrp="1"/>
          </p:cNvSpPr>
          <p:nvPr/>
        </p:nvSpPr>
        <p:spPr>
          <a:xfrm>
            <a:off x="552450" y="5105400"/>
            <a:ext cx="66675" cy="1028700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95BFAF7-CDAB-4285-A2E9-183A9930D8F3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0.143 K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BCA510D-AF41-4710-8F22-002396B2EF35}"/>
              </a:ext>
            </a:extLst>
          </p:cNvPr>
          <p:cNvSpPr>
            <a:spLocks noGrp="1"/>
          </p:cNvSpPr>
          <p:nvPr/>
        </p:nvSpPr>
        <p:spPr>
          <a:xfrm>
            <a:off x="742950" y="55816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core 11ケース平均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D465535-3A06-495C-A842-8544FDB0A0C3}"/>
              </a:ext>
            </a:extLst>
          </p:cNvPr>
          <p:cNvSpPr>
            <a:spLocks noGrp="1"/>
          </p:cNvSpPr>
          <p:nvPr/>
        </p:nvSpPr>
        <p:spPr>
          <a:xfrm>
            <a:off x="3324225" y="5105400"/>
            <a:ext cx="25717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161150D-62CE-494B-B420-1CA53E252237}"/>
              </a:ext>
            </a:extLst>
          </p:cNvPr>
          <p:cNvSpPr>
            <a:spLocks noGrp="1"/>
          </p:cNvSpPr>
          <p:nvPr/>
        </p:nvSpPr>
        <p:spPr>
          <a:xfrm>
            <a:off x="3324225" y="5105400"/>
            <a:ext cx="66675" cy="1028700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08B94CA-0C4D-46C1-9903-568E3CAE69F5}"/>
              </a:ext>
            </a:extLst>
          </p:cNvPr>
          <p:cNvSpPr>
            <a:spLocks noGrp="1"/>
          </p:cNvSpPr>
          <p:nvPr/>
        </p:nvSpPr>
        <p:spPr>
          <a:xfrm>
            <a:off x="3514725" y="5200650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7.185 K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8593B42-12D0-4336-8698-B7402A80A323}"/>
              </a:ext>
            </a:extLst>
          </p:cNvPr>
          <p:cNvSpPr>
            <a:spLocks noGrp="1"/>
          </p:cNvSpPr>
          <p:nvPr/>
        </p:nvSpPr>
        <p:spPr>
          <a:xfrm>
            <a:off x="3514725" y="55816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prior平均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4642DA9-AE24-426F-8D48-56E965C36F51}"/>
              </a:ext>
            </a:extLst>
          </p:cNvPr>
          <p:cNvSpPr>
            <a:spLocks noGrp="1"/>
          </p:cNvSpPr>
          <p:nvPr/>
        </p:nvSpPr>
        <p:spPr>
          <a:xfrm>
            <a:off x="6096000" y="5105400"/>
            <a:ext cx="25717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089E94C-D9BB-4907-BDEE-E2C7EA69EE16}"/>
              </a:ext>
            </a:extLst>
          </p:cNvPr>
          <p:cNvSpPr>
            <a:spLocks noGrp="1"/>
          </p:cNvSpPr>
          <p:nvPr/>
        </p:nvSpPr>
        <p:spPr>
          <a:xfrm>
            <a:off x="6096000" y="5105400"/>
            <a:ext cx="66675" cy="1028700"/>
          </a:xfrm>
          <a:prstGeom prst="rect">
            <a:avLst/>
          </a:prstGeom>
          <a:solidFill>
            <a:srgbClr val="E5A900"/>
          </a:solidFill>
          <a:ln w="0">
            <a:noFill/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6C5DBFD-0ED1-41EC-9012-5620BE5DF32B}"/>
              </a:ext>
            </a:extLst>
          </p:cNvPr>
          <p:cNvSpPr>
            <a:spLocks noGrp="1"/>
          </p:cNvSpPr>
          <p:nvPr/>
        </p:nvSpPr>
        <p:spPr>
          <a:xfrm>
            <a:off x="6286500" y="5200650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1.303 K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D1C74CF-9ED1-4DF9-8EAC-93F618B1DD3D}"/>
              </a:ext>
            </a:extLst>
          </p:cNvPr>
          <p:cNvSpPr>
            <a:spLocks noGrp="1"/>
          </p:cNvSpPr>
          <p:nvPr/>
        </p:nvSpPr>
        <p:spPr>
          <a:xfrm>
            <a:off x="6286500" y="55816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worst F09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47AEE0B-C3B2-423B-84B4-D23DAB92DB9C}"/>
              </a:ext>
            </a:extLst>
          </p:cNvPr>
          <p:cNvSpPr>
            <a:spLocks noGrp="1"/>
          </p:cNvSpPr>
          <p:nvPr/>
        </p:nvSpPr>
        <p:spPr>
          <a:xfrm>
            <a:off x="8867775" y="5105400"/>
            <a:ext cx="2771775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FCA48C3-87AB-470E-B199-638F2E8A964C}"/>
              </a:ext>
            </a:extLst>
          </p:cNvPr>
          <p:cNvSpPr>
            <a:spLocks noGrp="1"/>
          </p:cNvSpPr>
          <p:nvPr/>
        </p:nvSpPr>
        <p:spPr>
          <a:xfrm>
            <a:off x="8867775" y="5105400"/>
            <a:ext cx="66675" cy="1028700"/>
          </a:xfrm>
          <a:prstGeom prst="rect">
            <a:avLst/>
          </a:prstGeom>
          <a:solidFill>
            <a:srgbClr val="C4493D"/>
          </a:solidFill>
          <a:ln w="0">
            <a:noFill/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5CE6E48-401B-4887-8E06-40BFCF3AE5CB}"/>
              </a:ext>
            </a:extLst>
          </p:cNvPr>
          <p:cNvSpPr>
            <a:spLocks noGrp="1"/>
          </p:cNvSpPr>
          <p:nvPr/>
        </p:nvSpPr>
        <p:spPr>
          <a:xfrm>
            <a:off x="9058275" y="5200650"/>
            <a:ext cx="2486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9.823 K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8F3A823-1028-4A7A-95C3-6DBEA8076CEF}"/>
              </a:ext>
            </a:extLst>
          </p:cNvPr>
          <p:cNvSpPr>
            <a:spLocks noGrp="1"/>
          </p:cNvSpPr>
          <p:nvPr/>
        </p:nvSpPr>
        <p:spPr>
          <a:xfrm>
            <a:off x="9058275" y="5581650"/>
            <a:ext cx="2486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F11 intentional gap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50D5710-93E3-419D-BD2D-DC9A844F34E9}"/>
              </a:ext>
            </a:extLst>
          </p:cNvPr>
          <p:cNvSpPr>
            <a:spLocks noGrp="1"/>
          </p:cNvSpPr>
          <p:nvPr/>
        </p:nvSpPr>
        <p:spPr>
          <a:xfrm>
            <a:off x="9058275" y="5867400"/>
            <a:ext cx="24860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温度依存heat lossを未表現</a:t>
            </a:r>
          </a:p>
        </p:txBody>
      </p:sp>
    </p:spTree>
    <p:extLst>
      <p:ext uri="{BB962C8B-B14F-4D97-AF65-F5344CB8AC3E}">
        <p14:creationId xmlns:p14="http://schemas.microsoft.com/office/powerpoint/2010/main" val="1132516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9FEC549-8BC9-4718-B404-C7DCB26E8EC4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8D58883-D2C4-4594-893F-E670702882F5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LINEAR COMSOL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0061461-5E5D-406B-A427-D1E0B1AC9107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外部8ケースの平均RMSEは0.036 K、worstはshort-pulse条件の0.083 K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3BD9DAD-F3D7-4796-93CC-223F1F4D74F2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体積平均温度に対する結果であり、局所hotspotの安全余裕は別に設定する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0E98D008-0C0B-4397-BC70-23CF0C201F8E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D1E713A3-1E90-445C-961B-906F122032EE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BFB4D69-4E33-4AED-94DB-3EBA087EE7D2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2219142-A3BC-4DA6-BD91-0B3E7893D1E6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="552450" y="1438275"/>
          <a:ext cx="72199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4DDA854-28F6-47CE-9FBA-49A0B895C8CD}"/>
              </a:ext>
            </a:extLst>
          </p:cNvPr>
          <p:cNvSpPr>
            <a:spLocks noGrp="1"/>
          </p:cNvSpPr>
          <p:nvPr/>
        </p:nvSpPr>
        <p:spPr>
          <a:xfrm>
            <a:off x="8058150" y="1438275"/>
            <a:ext cx="3581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同定パラメータ</a:t>
            </a:r>
          </a:p>
        </p:txBody>
      </p:sp>
      <p:graphicFrame>
        <p:nvGraphicFramePr>
          <p:cNvPr id="44" name="表 43"/>
          <p:cNvGraphicFramePr/>
          <p:nvPr/>
        </p:nvGraphicFramePr>
        <p:xfrm>
          <a:off x="8058150" y="1781175"/>
          <a:ext cx="3581400" cy="16573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parameter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prior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fitted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G chip–base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38.220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G base–fins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12.000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9.992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hA coolant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0.440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0.1906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613E503-1E4A-44B2-B3D3-88C760C0115D}"/>
              </a:ext>
            </a:extLst>
          </p:cNvPr>
          <p:cNvSpPr>
            <a:spLocks noGrp="1"/>
          </p:cNvSpPr>
          <p:nvPr/>
        </p:nvSpPr>
        <p:spPr>
          <a:xfrm>
            <a:off x="8058150" y="3638550"/>
            <a:ext cx="3581400" cy="1419225"/>
          </a:xfrm>
          <a:prstGeom prst="rect">
            <a:avLst/>
          </a:prstGeom>
          <a:solidFill>
            <a:srgbClr val="FBE9E7"/>
          </a:solidFill>
          <a:ln w="9525">
            <a:solidFill>
              <a:srgbClr val="C4493D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4FBFBF8-1B6B-4E14-9035-600FC1507B82}"/>
              </a:ext>
            </a:extLst>
          </p:cNvPr>
          <p:cNvSpPr>
            <a:spLocks noGrp="1"/>
          </p:cNvSpPr>
          <p:nvPr/>
        </p:nvSpPr>
        <p:spPr>
          <a:xfrm>
            <a:off x="8239125" y="37814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hotspot check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5D4349D-DE15-4664-ADAC-B63A4645AC21}"/>
              </a:ext>
            </a:extLst>
          </p:cNvPr>
          <p:cNvSpPr>
            <a:spLocks noGrp="1"/>
          </p:cNvSpPr>
          <p:nvPr/>
        </p:nvSpPr>
        <p:spPr>
          <a:xfrm>
            <a:off x="8239125" y="4114800"/>
            <a:ext cx="24765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最大 average–hotspot gap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7C2E105-6F3B-48BF-80E9-6C6699B2340F}"/>
              </a:ext>
            </a:extLst>
          </p:cNvPr>
          <p:cNvSpPr>
            <a:spLocks noGrp="1"/>
          </p:cNvSpPr>
          <p:nvPr/>
        </p:nvSpPr>
        <p:spPr>
          <a:xfrm>
            <a:off x="10306050" y="40386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725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1725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0.238 K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17D61FC-52E4-4724-9DC0-C0B64D802AD2}"/>
              </a:ext>
            </a:extLst>
          </p:cNvPr>
          <p:cNvSpPr>
            <a:spLocks noGrp="1"/>
          </p:cNvSpPr>
          <p:nvPr/>
        </p:nvSpPr>
        <p:spPr>
          <a:xfrm>
            <a:off x="8239125" y="4467225"/>
            <a:ext cx="24765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最大 hotspot 過小評価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820B74E-6805-434E-8775-8626F29FF7B3}"/>
              </a:ext>
            </a:extLst>
          </p:cNvPr>
          <p:cNvSpPr>
            <a:spLocks noGrp="1"/>
          </p:cNvSpPr>
          <p:nvPr/>
        </p:nvSpPr>
        <p:spPr>
          <a:xfrm>
            <a:off x="10306050" y="4391025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725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1725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0.328 K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E58ADB4-06CD-4E0C-B01A-4E79D735F4E3}"/>
              </a:ext>
            </a:extLst>
          </p:cNvPr>
          <p:cNvSpPr>
            <a:spLocks noGrp="1"/>
          </p:cNvSpPr>
          <p:nvPr/>
        </p:nvSpPr>
        <p:spPr>
          <a:xfrm>
            <a:off x="552450" y="5267325"/>
            <a:ext cx="257175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CD7965C-C2AE-419D-97E9-257F25D28862}"/>
              </a:ext>
            </a:extLst>
          </p:cNvPr>
          <p:cNvSpPr>
            <a:spLocks noGrp="1"/>
          </p:cNvSpPr>
          <p:nvPr/>
        </p:nvSpPr>
        <p:spPr>
          <a:xfrm>
            <a:off x="552450" y="5267325"/>
            <a:ext cx="66675" cy="866775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A79F012-287D-4F7A-9D80-B84DA9FF1DF6}"/>
              </a:ext>
            </a:extLst>
          </p:cNvPr>
          <p:cNvSpPr>
            <a:spLocks noGrp="1"/>
          </p:cNvSpPr>
          <p:nvPr/>
        </p:nvSpPr>
        <p:spPr>
          <a:xfrm>
            <a:off x="742950" y="5362575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0.036 K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201135E-0066-4A65-8855-2D437DDD78E8}"/>
              </a:ext>
            </a:extLst>
          </p:cNvPr>
          <p:cNvSpPr>
            <a:spLocks noGrp="1"/>
          </p:cNvSpPr>
          <p:nvPr/>
        </p:nvSpPr>
        <p:spPr>
          <a:xfrm>
            <a:off x="742950" y="5743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mean RMSE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B3103B8-0182-4870-8D89-12F6692BA85F}"/>
              </a:ext>
            </a:extLst>
          </p:cNvPr>
          <p:cNvSpPr>
            <a:spLocks noGrp="1"/>
          </p:cNvSpPr>
          <p:nvPr/>
        </p:nvSpPr>
        <p:spPr>
          <a:xfrm>
            <a:off x="3324225" y="5267325"/>
            <a:ext cx="257175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064A1A1-C38F-48C6-85F0-FDFCC65D134E}"/>
              </a:ext>
            </a:extLst>
          </p:cNvPr>
          <p:cNvSpPr>
            <a:spLocks noGrp="1"/>
          </p:cNvSpPr>
          <p:nvPr/>
        </p:nvSpPr>
        <p:spPr>
          <a:xfrm>
            <a:off x="3324225" y="5267325"/>
            <a:ext cx="66675" cy="866775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F43DED3-4953-413D-AFDF-6C73582A6811}"/>
              </a:ext>
            </a:extLst>
          </p:cNvPr>
          <p:cNvSpPr>
            <a:spLocks noGrp="1"/>
          </p:cNvSpPr>
          <p:nvPr/>
        </p:nvSpPr>
        <p:spPr>
          <a:xfrm>
            <a:off x="3514725" y="5362575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0.083 K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341CD41-7346-4C79-AC86-311C68F0165F}"/>
              </a:ext>
            </a:extLst>
          </p:cNvPr>
          <p:cNvSpPr>
            <a:spLocks noGrp="1"/>
          </p:cNvSpPr>
          <p:nvPr/>
        </p:nvSpPr>
        <p:spPr>
          <a:xfrm>
            <a:off x="3514725" y="5743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worst F05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AE63330-848C-48FB-9D80-34528F49B483}"/>
              </a:ext>
            </a:extLst>
          </p:cNvPr>
          <p:cNvSpPr>
            <a:spLocks noGrp="1"/>
          </p:cNvSpPr>
          <p:nvPr/>
        </p:nvSpPr>
        <p:spPr>
          <a:xfrm>
            <a:off x="6096000" y="5267325"/>
            <a:ext cx="257175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40FDCA3-17FA-438C-B61D-90FAB9F27AA1}"/>
              </a:ext>
            </a:extLst>
          </p:cNvPr>
          <p:cNvSpPr>
            <a:spLocks noGrp="1"/>
          </p:cNvSpPr>
          <p:nvPr/>
        </p:nvSpPr>
        <p:spPr>
          <a:xfrm>
            <a:off x="6096000" y="5267325"/>
            <a:ext cx="66675" cy="866775"/>
          </a:xfrm>
          <a:prstGeom prst="rect">
            <a:avLst/>
          </a:prstGeom>
          <a:solidFill>
            <a:srgbClr val="E5A900"/>
          </a:solidFill>
          <a:ln w="0">
            <a:noFill/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8F4C3DB-EFF5-49F8-9456-1F03D01A2C59}"/>
              </a:ext>
            </a:extLst>
          </p:cNvPr>
          <p:cNvSpPr>
            <a:spLocks noGrp="1"/>
          </p:cNvSpPr>
          <p:nvPr/>
        </p:nvSpPr>
        <p:spPr>
          <a:xfrm>
            <a:off x="6286500" y="5362575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7.362 K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1687AB5-1027-48E4-95EC-DEAD2A0E8F60}"/>
              </a:ext>
            </a:extLst>
          </p:cNvPr>
          <p:cNvSpPr>
            <a:spLocks noGrp="1"/>
          </p:cNvSpPr>
          <p:nvPr/>
        </p:nvSpPr>
        <p:spPr>
          <a:xfrm>
            <a:off x="6286500" y="5743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prior mean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E769801-4A86-4314-AEA2-A434F091B249}"/>
              </a:ext>
            </a:extLst>
          </p:cNvPr>
          <p:cNvSpPr>
            <a:spLocks noGrp="1"/>
          </p:cNvSpPr>
          <p:nvPr/>
        </p:nvSpPr>
        <p:spPr>
          <a:xfrm>
            <a:off x="8867775" y="5267325"/>
            <a:ext cx="2771775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30626B5-4494-4B8F-8183-ACE7419D629E}"/>
              </a:ext>
            </a:extLst>
          </p:cNvPr>
          <p:cNvSpPr>
            <a:spLocks noGrp="1"/>
          </p:cNvSpPr>
          <p:nvPr/>
        </p:nvSpPr>
        <p:spPr>
          <a:xfrm>
            <a:off x="8867775" y="5267325"/>
            <a:ext cx="66675" cy="8667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A28DAF0-EDD4-478E-A448-698B93FF9217}"/>
              </a:ext>
            </a:extLst>
          </p:cNvPr>
          <p:cNvSpPr>
            <a:spLocks noGrp="1"/>
          </p:cNvSpPr>
          <p:nvPr/>
        </p:nvSpPr>
        <p:spPr>
          <a:xfrm>
            <a:off x="9058275" y="5362575"/>
            <a:ext cx="2486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99.06%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E35C19E-05AD-402F-8C2C-143A96450092}"/>
              </a:ext>
            </a:extLst>
          </p:cNvPr>
          <p:cNvSpPr>
            <a:spLocks noGrp="1"/>
          </p:cNvSpPr>
          <p:nvPr/>
        </p:nvSpPr>
        <p:spPr>
          <a:xfrm>
            <a:off x="9058275" y="5743575"/>
            <a:ext cx="2486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mean improvement</a:t>
            </a:r>
          </a:p>
        </p:txBody>
      </p:sp>
    </p:spTree>
    <p:extLst>
      <p:ext uri="{BB962C8B-B14F-4D97-AF65-F5344CB8AC3E}">
        <p14:creationId xmlns:p14="http://schemas.microsoft.com/office/powerpoint/2010/main" val="1855130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AAE9C10-5A32-441C-AF81-0234F74F259F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E842AA5-8C3D-464E-A3FA-23AFA0B3BFAA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CAE CREDIBILITY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EB6C3F3-B3CF-4A74-857E-D3D1AF2E5473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0.1 K級のモデル誤差を議論する前に、同程度のメッシュ不確かさを収束させる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1A1BDA0-6E0B-4299-A53E-A1DFC6E18F20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medium→fineのchip平均差はMC01で0.496 K、MC02で0.154 K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BBA0C9A2-AAFA-4085-B10F-4679F02E8F5B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F3D2AB69-AB1B-4058-BD29-191C3750D41C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9D0657-7E2C-452E-929A-63039E5119E2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C8ABAAE-3C00-4095-9226-C20DAED3E524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461C502-FDCB-49FF-A7D9-388EFEC4331C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521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adjacent mesh difference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="552450" y="1657350"/>
          <a:ext cx="52197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59C754B3-6A9F-4A49-B36D-667D0709BBCA}"/>
              </a:ext>
            </a:extLst>
          </p:cNvPr>
          <p:cNvSpPr>
            <a:spLocks noGrp="1"/>
          </p:cNvSpPr>
          <p:nvPr/>
        </p:nvSpPr>
        <p:spPr>
          <a:xfrm>
            <a:off x="1009650" y="3514725"/>
            <a:ext cx="4305300" cy="0"/>
          </a:xfrm>
          <a:prstGeom prst="line">
            <a:avLst/>
          </a:prstGeom>
          <a:noFill/>
          <a:ln w="14288">
            <a:solidFill>
              <a:srgbClr val="C4493D"/>
            </a:solidFill>
            <a:prstDash val="dash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C6A87AE-F651-45D6-B27C-B9DFE361C944}"/>
              </a:ext>
            </a:extLst>
          </p:cNvPr>
          <p:cNvSpPr>
            <a:spLocks noGrp="1"/>
          </p:cNvSpPr>
          <p:nvPr/>
        </p:nvSpPr>
        <p:spPr>
          <a:xfrm>
            <a:off x="3619500" y="332422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713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713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strict criterion 0.25 K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B1B0CDD-535A-48E5-BD26-F14ADE732AC3}"/>
              </a:ext>
            </a:extLst>
          </p:cNvPr>
          <p:cNvSpPr>
            <a:spLocks noGrp="1"/>
          </p:cNvSpPr>
          <p:nvPr/>
        </p:nvSpPr>
        <p:spPr>
          <a:xfrm>
            <a:off x="6153150" y="1381125"/>
            <a:ext cx="5486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mesh / solve cost</a:t>
            </a:r>
          </a:p>
        </p:txBody>
      </p:sp>
      <p:graphicFrame>
        <p:nvGraphicFramePr>
          <p:cNvPr id="44" name="表 43"/>
          <p:cNvGraphicFramePr/>
          <p:nvPr/>
        </p:nvGraphicFramePr>
        <p:xfrm>
          <a:off x="6153150" y="1724025"/>
          <a:ext cx="5486400" cy="2276475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mesh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elements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MC01 [s]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MC02 [s]</a:t>
                      </a:r>
                    </a:p>
                  </a:txBody>
                  <a:tcPr>
                    <a:solidFill>
                      <a:srgbClr val="007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global-8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48,870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local-coarse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837,644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223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537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local-medium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1,748,906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1,380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local-fine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3,587,721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1,169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3,950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BAC6E5A-9EAA-4DD2-9D0F-9B774AD2C252}"/>
              </a:ext>
            </a:extLst>
          </p:cNvPr>
          <p:cNvSpPr>
            <a:spLocks noGrp="1"/>
          </p:cNvSpPr>
          <p:nvPr/>
        </p:nvSpPr>
        <p:spPr>
          <a:xfrm>
            <a:off x="6153150" y="4210050"/>
            <a:ext cx="5486400" cy="685800"/>
          </a:xfrm>
          <a:prstGeom prst="rect">
            <a:avLst/>
          </a:prstGeom>
          <a:solidFill>
            <a:srgbClr val="FBE9E7"/>
          </a:solidFill>
          <a:ln w="9525">
            <a:solidFill>
              <a:srgbClr val="C4493D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2907DB6-D536-4783-8B78-6C1690909E7E}"/>
              </a:ext>
            </a:extLst>
          </p:cNvPr>
          <p:cNvSpPr>
            <a:spLocks noGrp="1"/>
          </p:cNvSpPr>
          <p:nvPr/>
        </p:nvSpPr>
        <p:spPr>
          <a:xfrm>
            <a:off x="6334125" y="4324350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global-8 → local-coarse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0BE14B2-E0AA-4909-9532-F979D0D957CC}"/>
              </a:ext>
            </a:extLst>
          </p:cNvPr>
          <p:cNvSpPr>
            <a:spLocks noGrp="1"/>
          </p:cNvSpPr>
          <p:nvPr/>
        </p:nvSpPr>
        <p:spPr>
          <a:xfrm>
            <a:off x="8858250" y="4276725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7826"/>
          </a:bodyPr>
          <a:lstStyle/>
          <a:p>
            <a:pPr algn="r">
              <a:lnSpc>
                <a:spcPct val="100000"/>
              </a:lnSpc>
              <a:buNone/>
              <a:defRPr sz="1725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1725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+15.913 K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D084786-4E3A-497F-89EF-EDED7386F600}"/>
              </a:ext>
            </a:extLst>
          </p:cNvPr>
          <p:cNvSpPr>
            <a:spLocks noGrp="1"/>
          </p:cNvSpPr>
          <p:nvPr/>
        </p:nvSpPr>
        <p:spPr>
          <a:xfrm>
            <a:off x="6334125" y="4591050"/>
            <a:ext cx="5076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MC01 chip平均。global meshは局所熱勾配を解像できない。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7492DF8-4BE9-458A-ACF6-6967E287EC24}"/>
              </a:ext>
            </a:extLst>
          </p:cNvPr>
          <p:cNvSpPr>
            <a:spLocks noGrp="1"/>
          </p:cNvSpPr>
          <p:nvPr/>
        </p:nvSpPr>
        <p:spPr>
          <a:xfrm>
            <a:off x="552450" y="5191125"/>
            <a:ext cx="3505200" cy="942975"/>
          </a:xfrm>
          <a:prstGeom prst="rect">
            <a:avLst/>
          </a:prstGeom>
          <a:solidFill>
            <a:srgbClr val="FFF5D7"/>
          </a:solidFill>
          <a:ln w="9525">
            <a:solidFill>
              <a:srgbClr val="E5A900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399F302-B3FC-4CDF-9D7A-F3626CDB4D6B}"/>
              </a:ext>
            </a:extLst>
          </p:cNvPr>
          <p:cNvSpPr>
            <a:spLocks noGrp="1"/>
          </p:cNvSpPr>
          <p:nvPr/>
        </p:nvSpPr>
        <p:spPr>
          <a:xfrm>
            <a:off x="723900" y="52959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E5A900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E5A900"/>
                </a:solidFill>
                <a:latin typeface="Yu Gothic"/>
                <a:ea typeface="Yu Gothic"/>
                <a:cs typeface="Yu Gothic"/>
              </a:rPr>
              <a:t>screening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C41CACC-2797-4DD5-9427-73344AB14BF8}"/>
              </a:ext>
            </a:extLst>
          </p:cNvPr>
          <p:cNvSpPr>
            <a:spLocks noGrp="1"/>
          </p:cNvSpPr>
          <p:nvPr/>
        </p:nvSpPr>
        <p:spPr>
          <a:xfrm>
            <a:off x="1847850" y="5257800"/>
            <a:ext cx="2000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≤ 0.50 K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51A07B4-E170-42F9-B7DE-768012D5509D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MC01 ぎりぎり / MC02 pass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F3B20C0-C7E1-462D-A798-018FA240B407}"/>
              </a:ext>
            </a:extLst>
          </p:cNvPr>
          <p:cNvSpPr>
            <a:spLocks noGrp="1"/>
          </p:cNvSpPr>
          <p:nvPr/>
        </p:nvSpPr>
        <p:spPr>
          <a:xfrm>
            <a:off x="4248150" y="5191125"/>
            <a:ext cx="3505200" cy="942975"/>
          </a:xfrm>
          <a:prstGeom prst="rect">
            <a:avLst/>
          </a:prstGeom>
          <a:solidFill>
            <a:srgbClr val="FBE9E7"/>
          </a:solidFill>
          <a:ln w="9525">
            <a:solidFill>
              <a:srgbClr val="C4493D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34082E0-85AE-4092-92E5-CC5A35F66755}"/>
              </a:ext>
            </a:extLst>
          </p:cNvPr>
          <p:cNvSpPr>
            <a:spLocks noGrp="1"/>
          </p:cNvSpPr>
          <p:nvPr/>
        </p:nvSpPr>
        <p:spPr>
          <a:xfrm>
            <a:off x="4419600" y="52959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strict average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9605D16-591C-46EF-A0C2-94AF89A1BCC7}"/>
              </a:ext>
            </a:extLst>
          </p:cNvPr>
          <p:cNvSpPr>
            <a:spLocks noGrp="1"/>
          </p:cNvSpPr>
          <p:nvPr/>
        </p:nvSpPr>
        <p:spPr>
          <a:xfrm>
            <a:off x="5543550" y="5257800"/>
            <a:ext cx="2000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≤ 0.25 K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141895A-54F8-4159-B951-4F2150D203CF}"/>
              </a:ext>
            </a:extLst>
          </p:cNvPr>
          <p:cNvSpPr>
            <a:spLocks noGrp="1"/>
          </p:cNvSpPr>
          <p:nvPr/>
        </p:nvSpPr>
        <p:spPr>
          <a:xfrm>
            <a:off x="4419600" y="5638800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MC01 fail / MC02 pass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98EC431-A2BD-4FD3-A6C2-A30C5742B2FF}"/>
              </a:ext>
            </a:extLst>
          </p:cNvPr>
          <p:cNvSpPr>
            <a:spLocks noGrp="1"/>
          </p:cNvSpPr>
          <p:nvPr/>
        </p:nvSpPr>
        <p:spPr>
          <a:xfrm>
            <a:off x="7943850" y="5191125"/>
            <a:ext cx="3505200" cy="942975"/>
          </a:xfrm>
          <a:prstGeom prst="rect">
            <a:avLst/>
          </a:prstGeom>
          <a:solidFill>
            <a:srgbClr val="EFE5F6"/>
          </a:solidFill>
          <a:ln w="9525">
            <a:solidFill>
              <a:srgbClr val="7B2DAF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E9A4775-98DC-4F9C-A05C-D804481CA8A7}"/>
              </a:ext>
            </a:extLst>
          </p:cNvPr>
          <p:cNvSpPr>
            <a:spLocks noGrp="1"/>
          </p:cNvSpPr>
          <p:nvPr/>
        </p:nvSpPr>
        <p:spPr>
          <a:xfrm>
            <a:off x="8115300" y="52959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current status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33D7CE3-2090-4E3E-A66D-E488CCD4148D}"/>
              </a:ext>
            </a:extLst>
          </p:cNvPr>
          <p:cNvSpPr>
            <a:spLocks noGrp="1"/>
          </p:cNvSpPr>
          <p:nvPr/>
        </p:nvSpPr>
        <p:spPr>
          <a:xfrm>
            <a:off x="9239250" y="5257800"/>
            <a:ext cx="2000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not qualified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7E490A4-EA16-47DB-9453-AE6D9F8278D5}"/>
              </a:ext>
            </a:extLst>
          </p:cNvPr>
          <p:cNvSpPr>
            <a:spLocks noGrp="1"/>
          </p:cNvSpPr>
          <p:nvPr/>
        </p:nvSpPr>
        <p:spPr>
          <a:xfrm>
            <a:off x="8115300" y="5638800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temporal convergence・実験比較も未完</a:t>
            </a:r>
          </a:p>
        </p:txBody>
      </p:sp>
    </p:spTree>
    <p:extLst>
      <p:ext uri="{BB962C8B-B14F-4D97-AF65-F5344CB8AC3E}">
        <p14:creationId xmlns:p14="http://schemas.microsoft.com/office/powerpoint/2010/main" val="1104602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02C6FA5-E7AA-4C5C-B9E7-201ECDD3F4E4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E301CE0-7BC7-4959-8E2B-FCC737F8183A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HIGH-FIDELITY SCREENING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7C17857-A8E9-4E2A-8029-33B34A049CD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平均RMSEは改善したが、放射感度の大きさは再現できていない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4724F3C-36C7-4689-9D25-8A634B8AF0FF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良い総合誤差と正しい物理感度は別の検証項目である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44270E6C-E479-4AC7-8483-320EC08BD0E5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AC536FDF-AD8B-4370-93F6-C4D534F71A81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DA20BCC-2FE5-43F3-AA21-DA5D5C01AEA1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D244EDF-EBBE-42C7-8EAF-3939A31C63F4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240ACDA-4ED7-4DC7-AF19-C644E192DD82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external RMSE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="552450" y="1657350"/>
          <a:ext cx="5143500" cy="31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831714C-B997-475C-82DF-30F4F056103A}"/>
              </a:ext>
            </a:extLst>
          </p:cNvPr>
          <p:cNvSpPr>
            <a:spLocks noGrp="1"/>
          </p:cNvSpPr>
          <p:nvPr/>
        </p:nvSpPr>
        <p:spPr>
          <a:xfrm>
            <a:off x="6076950" y="1381125"/>
            <a:ext cx="556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radiation pair: chip temperature delta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6076950" y="1657350"/>
          <a:ext cx="5562600" cy="31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6A972E4-CD63-4059-9D45-EDEAD5511AEB}"/>
              </a:ext>
            </a:extLst>
          </p:cNvPr>
          <p:cNvSpPr>
            <a:spLocks noGrp="1"/>
          </p:cNvSpPr>
          <p:nvPr/>
        </p:nvSpPr>
        <p:spPr>
          <a:xfrm>
            <a:off x="552450" y="5038725"/>
            <a:ext cx="25717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53C75DF-3941-4507-98D7-86452A78051F}"/>
              </a:ext>
            </a:extLst>
          </p:cNvPr>
          <p:cNvSpPr>
            <a:spLocks noGrp="1"/>
          </p:cNvSpPr>
          <p:nvPr/>
        </p:nvSpPr>
        <p:spPr>
          <a:xfrm>
            <a:off x="552450" y="5038725"/>
            <a:ext cx="66675" cy="1095375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CD96EC9-D423-4AA5-A34F-7C63C1ECA54E}"/>
              </a:ext>
            </a:extLst>
          </p:cNvPr>
          <p:cNvSpPr>
            <a:spLocks noGrp="1"/>
          </p:cNvSpPr>
          <p:nvPr/>
        </p:nvSpPr>
        <p:spPr>
          <a:xfrm>
            <a:off x="742950" y="5133975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0.0956 K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67D1ABD-AE05-4798-B654-C27014753410}"/>
              </a:ext>
            </a:extLst>
          </p:cNvPr>
          <p:cNvSpPr>
            <a:spLocks noGrp="1"/>
          </p:cNvSpPr>
          <p:nvPr/>
        </p:nvSpPr>
        <p:spPr>
          <a:xfrm>
            <a:off x="742950" y="55149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learned mean RMSE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D730C19-0CFF-4E5B-8E69-C38388771FD0}"/>
              </a:ext>
            </a:extLst>
          </p:cNvPr>
          <p:cNvSpPr>
            <a:spLocks noGrp="1"/>
          </p:cNvSpPr>
          <p:nvPr/>
        </p:nvSpPr>
        <p:spPr>
          <a:xfrm>
            <a:off x="742950" y="5800725"/>
            <a:ext cx="2286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prior mean 0.8889 K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4CB39EC-7E8C-432C-9212-D635F1FEE863}"/>
              </a:ext>
            </a:extLst>
          </p:cNvPr>
          <p:cNvSpPr>
            <a:spLocks noGrp="1"/>
          </p:cNvSpPr>
          <p:nvPr/>
        </p:nvSpPr>
        <p:spPr>
          <a:xfrm>
            <a:off x="3324225" y="5038725"/>
            <a:ext cx="25717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1EF424C-FB14-408B-B250-6D637A1BC788}"/>
              </a:ext>
            </a:extLst>
          </p:cNvPr>
          <p:cNvSpPr>
            <a:spLocks noGrp="1"/>
          </p:cNvSpPr>
          <p:nvPr/>
        </p:nvSpPr>
        <p:spPr>
          <a:xfrm>
            <a:off x="3324225" y="5038725"/>
            <a:ext cx="66675" cy="10953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C9D44BE-6433-4CEA-938F-0C1A88AF26C9}"/>
              </a:ext>
            </a:extLst>
          </p:cNvPr>
          <p:cNvSpPr>
            <a:spLocks noGrp="1"/>
          </p:cNvSpPr>
          <p:nvPr/>
        </p:nvSpPr>
        <p:spPr>
          <a:xfrm>
            <a:off x="3514725" y="5133975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33 / 33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3DD9764-4E1F-4232-9D2E-5ADB348404F0}"/>
              </a:ext>
            </a:extLst>
          </p:cNvPr>
          <p:cNvSpPr>
            <a:spLocks noGrp="1"/>
          </p:cNvSpPr>
          <p:nvPr/>
        </p:nvSpPr>
        <p:spPr>
          <a:xfrm>
            <a:off x="3514725" y="55149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scalar errors ≤ mesh diff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BA32827-D39E-4F55-8A73-8CAE2DE5729D}"/>
              </a:ext>
            </a:extLst>
          </p:cNvPr>
          <p:cNvSpPr>
            <a:spLocks noGrp="1"/>
          </p:cNvSpPr>
          <p:nvPr/>
        </p:nvSpPr>
        <p:spPr>
          <a:xfrm>
            <a:off x="3514725" y="5800725"/>
            <a:ext cx="2286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conservative adjacent-mesh bound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82E841E-F9E2-4B73-AD3E-8B510086BF86}"/>
              </a:ext>
            </a:extLst>
          </p:cNvPr>
          <p:cNvSpPr>
            <a:spLocks noGrp="1"/>
          </p:cNvSpPr>
          <p:nvPr/>
        </p:nvSpPr>
        <p:spPr>
          <a:xfrm>
            <a:off x="6096000" y="5038725"/>
            <a:ext cx="25717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6B07EDE-B352-4C7A-9E53-636A58713579}"/>
              </a:ext>
            </a:extLst>
          </p:cNvPr>
          <p:cNvSpPr>
            <a:spLocks noGrp="1"/>
          </p:cNvSpPr>
          <p:nvPr/>
        </p:nvSpPr>
        <p:spPr>
          <a:xfrm>
            <a:off x="6096000" y="5038725"/>
            <a:ext cx="66675" cy="1095375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DD3FEBC-EF16-4C2E-B2EE-E02EC21117F7}"/>
              </a:ext>
            </a:extLst>
          </p:cNvPr>
          <p:cNvSpPr>
            <a:spLocks noGrp="1"/>
          </p:cNvSpPr>
          <p:nvPr/>
        </p:nvSpPr>
        <p:spPr>
          <a:xfrm>
            <a:off x="6286500" y="5133975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−0.381 K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051EA75-1403-41B9-BC7B-C78C0E81A8DD}"/>
              </a:ext>
            </a:extLst>
          </p:cNvPr>
          <p:cNvSpPr>
            <a:spLocks noGrp="1"/>
          </p:cNvSpPr>
          <p:nvPr/>
        </p:nvSpPr>
        <p:spPr>
          <a:xfrm>
            <a:off x="6286500" y="55149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truth radiation effect @220 s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FC6D47C-2E99-41C6-BDA5-494B0A967CFB}"/>
              </a:ext>
            </a:extLst>
          </p:cNvPr>
          <p:cNvSpPr>
            <a:spLocks noGrp="1"/>
          </p:cNvSpPr>
          <p:nvPr/>
        </p:nvSpPr>
        <p:spPr>
          <a:xfrm>
            <a:off x="6286500" y="5800725"/>
            <a:ext cx="2286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model prediction −0.001 K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255214D-5931-4103-890A-6EAC9BE19FDB}"/>
              </a:ext>
            </a:extLst>
          </p:cNvPr>
          <p:cNvSpPr>
            <a:spLocks noGrp="1"/>
          </p:cNvSpPr>
          <p:nvPr/>
        </p:nvSpPr>
        <p:spPr>
          <a:xfrm>
            <a:off x="8867775" y="5038725"/>
            <a:ext cx="2771775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6581AD2-FEDE-4AD5-BE73-EB14C74FA5F1}"/>
              </a:ext>
            </a:extLst>
          </p:cNvPr>
          <p:cNvSpPr>
            <a:spLocks noGrp="1"/>
          </p:cNvSpPr>
          <p:nvPr/>
        </p:nvSpPr>
        <p:spPr>
          <a:xfrm>
            <a:off x="8867775" y="5038725"/>
            <a:ext cx="66675" cy="1095375"/>
          </a:xfrm>
          <a:prstGeom prst="rect">
            <a:avLst/>
          </a:prstGeom>
          <a:solidFill>
            <a:srgbClr val="E5A900"/>
          </a:solidFill>
          <a:ln w="0">
            <a:noFill/>
            <a:prstDash val="solid"/>
          </a:ln>
        </p:spPr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CE11ADA-037B-47A6-B9DE-F3B2CCC00286}"/>
              </a:ext>
            </a:extLst>
          </p:cNvPr>
          <p:cNvSpPr>
            <a:spLocks noGrp="1"/>
          </p:cNvSpPr>
          <p:nvPr/>
        </p:nvSpPr>
        <p:spPr>
          <a:xfrm>
            <a:off x="9058275" y="5133975"/>
            <a:ext cx="24860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0.496 K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92F23C5-5F08-492A-87FF-9B13507A3727}"/>
              </a:ext>
            </a:extLst>
          </p:cNvPr>
          <p:cNvSpPr>
            <a:spLocks noGrp="1"/>
          </p:cNvSpPr>
          <p:nvPr/>
        </p:nvSpPr>
        <p:spPr>
          <a:xfrm>
            <a:off x="9058275" y="5514975"/>
            <a:ext cx="2486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mesh difference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31AEE2D-EE69-44B8-BEEF-57185ED2C1CC}"/>
              </a:ext>
            </a:extLst>
          </p:cNvPr>
          <p:cNvSpPr>
            <a:spLocks noGrp="1"/>
          </p:cNvSpPr>
          <p:nvPr/>
        </p:nvSpPr>
        <p:spPr>
          <a:xfrm>
            <a:off x="9058275" y="5800725"/>
            <a:ext cx="24860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6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radiation effect itself is unresolved</a:t>
            </a:r>
          </a:p>
        </p:txBody>
      </p:sp>
    </p:spTree>
    <p:extLst>
      <p:ext uri="{BB962C8B-B14F-4D97-AF65-F5344CB8AC3E}">
        <p14:creationId xmlns:p14="http://schemas.microsoft.com/office/powerpoint/2010/main" val="1240547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1D6DB04-E0BB-466C-89DE-CCDD00A5C9BF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ED80DC-2560-4A91-B579-C6D969B5F6C7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EQUIPMENT VALUE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C64B1AB-EB12-49BC-B896-A35897D652D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高速な物理surrogateとして、CAEと装置データの間の判断を短周期化する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B58780A-35CF-44FA-AF06-25F396AD66A5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有用性は精度だけでなく、どの意思決定を安全に支援できるかで定義する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4BC8FC75-DA5B-4D7C-9DD6-8F2F2CF5CE46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C4CB72A9-F777-419C-90DD-7B5B7B3CA461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3D08A67-CEF3-4CD2-B929-3DF4E3876FDF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C31A8E6-4818-40DE-8B39-88CF24EBDC96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graphicFrame>
        <p:nvGraphicFramePr>
          <p:cNvPr id="28" name="表 27"/>
          <p:cNvGraphicFramePr/>
          <p:nvPr/>
        </p:nvGraphicFramePr>
        <p:xfrm>
          <a:off x="552450" y="1438275"/>
          <a:ext cx="11087100" cy="3533775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963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装置ユースケース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モデル出力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技術的な有用性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採用gate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現状</a:t>
                      </a:r>
                    </a:p>
                  </a:txBody>
                  <a:tcPr>
                    <a:solidFill>
                      <a:srgbClr val="00A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warm-up / cool-down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将来温度・到達時間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recipe待ち時間とthermal soakの比較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運転域holdout、worst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4D8710"/>
                          </a:solidFill>
                          <a:latin typeface="Yu Gothic"/>
                          <a:ea typeface="Yu Gothic"/>
                          <a:cs typeface="Yu Gothic"/>
                        </a:rPr>
                        <a:t>screening可</a:t>
                      </a:r>
                    </a:p>
                  </a:txBody>
                  <a:tcPr>
                    <a:solidFill>
                      <a:srgbClr val="EEF7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virtual sensor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未計測node温度・共分散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sensor削減検討、欠測補完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observability、校正、bandwidth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806000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条件付</a:t>
                      </a:r>
                    </a:p>
                  </a:txBody>
                  <a:tcPr>
                    <a:solidFill>
                      <a:srgbClr val="FFF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異常検知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NIS、未知熱d、bias 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未指令発熱とsensorずれの切分け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false alert/hour、fault DOE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806000"/>
                          </a:solidFill>
                          <a:latin typeface="Yu Gothic"/>
                          <a:ea typeface="Yu Gothic"/>
                          <a:cs typeface="Yu Gothic"/>
                        </a:rPr>
                        <a:t>CAE evidence有</a:t>
                      </a:r>
                    </a:p>
                  </a:txBody>
                  <a:tcPr>
                    <a:solidFill>
                      <a:srgbClr val="FFF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recipe / cooling設計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parameter sweep・感度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CAE実行前の候補絞込み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外挿禁止、parameter uncertainty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4D8710"/>
                          </a:solidFill>
                          <a:latin typeface="Yu Gothic"/>
                          <a:ea typeface="Yu Gothic"/>
                          <a:cs typeface="Yu Gothic"/>
                        </a:rPr>
                        <a:t>screening可</a:t>
                      </a:r>
                    </a:p>
                  </a:txBody>
                  <a:tcPr>
                    <a:solidFill>
                      <a:srgbClr val="EEF7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hardware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再同定係数・残差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接触・冷却経路変更の比較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>
                          <a:solidFill>
                            <a:srgbClr val="5B5B5B"/>
                          </a:solidFill>
                          <a:latin typeface="Yu Gothic"/>
                          <a:ea typeface="Yu Gothic"/>
                          <a:cs typeface="Yu Gothic"/>
                        </a:rPr>
                        <a:t>topology再確認、CAE/実験再V&amp;V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48" b="1">
                          <a:solidFill>
                            <a:srgbClr val="C4493D"/>
                          </a:solidFill>
                          <a:latin typeface="Yu Gothic"/>
                          <a:ea typeface="Yu Gothic"/>
                          <a:cs typeface="Yu Gothic"/>
                        </a:rPr>
                        <a:t>要再検証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E2A9D4-B632-4404-B5FF-888727502E72}"/>
              </a:ext>
            </a:extLst>
          </p:cNvPr>
          <p:cNvSpPr>
            <a:spLocks noGrp="1"/>
          </p:cNvSpPr>
          <p:nvPr/>
        </p:nvSpPr>
        <p:spPr>
          <a:xfrm>
            <a:off x="552450" y="5229225"/>
            <a:ext cx="3505200" cy="885825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7D0FD30-90F8-4479-B04C-ADAE2B6195EB}"/>
              </a:ext>
            </a:extLst>
          </p:cNvPr>
          <p:cNvSpPr>
            <a:spLocks noGrp="1"/>
          </p:cNvSpPr>
          <p:nvPr/>
        </p:nvSpPr>
        <p:spPr>
          <a:xfrm>
            <a:off x="723900" y="53435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CAE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6FCB4D5-0C17-4D99-8607-3E5D49CAF3B7}"/>
              </a:ext>
            </a:extLst>
          </p:cNvPr>
          <p:cNvSpPr>
            <a:spLocks noGrp="1"/>
          </p:cNvSpPr>
          <p:nvPr/>
        </p:nvSpPr>
        <p:spPr>
          <a:xfrm>
            <a:off x="723900" y="561022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7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全caseを高忠実度で解く前に、感度とworst候補を選別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BE3F6-E983-41D8-8EC1-9D7B0B80869A}"/>
              </a:ext>
            </a:extLst>
          </p:cNvPr>
          <p:cNvSpPr>
            <a:spLocks noGrp="1"/>
          </p:cNvSpPr>
          <p:nvPr/>
        </p:nvSpPr>
        <p:spPr>
          <a:xfrm>
            <a:off x="4248150" y="5229225"/>
            <a:ext cx="3505200" cy="885825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B82B926-525A-498D-B961-AB5B4F46A098}"/>
              </a:ext>
            </a:extLst>
          </p:cNvPr>
          <p:cNvSpPr>
            <a:spLocks noGrp="1"/>
          </p:cNvSpPr>
          <p:nvPr/>
        </p:nvSpPr>
        <p:spPr>
          <a:xfrm>
            <a:off x="4419600" y="53435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Control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DFF8D8F-DE8C-43D7-AB82-82B4662E7E80}"/>
              </a:ext>
            </a:extLst>
          </p:cNvPr>
          <p:cNvSpPr>
            <a:spLocks noGrp="1"/>
          </p:cNvSpPr>
          <p:nvPr/>
        </p:nvSpPr>
        <p:spPr>
          <a:xfrm>
            <a:off x="4419600" y="561022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7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同じ状態定義をforecastとmonitorで共有し、handoffを削減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9535E69-141F-4D21-83A8-19D05522D521}"/>
              </a:ext>
            </a:extLst>
          </p:cNvPr>
          <p:cNvSpPr>
            <a:spLocks noGrp="1"/>
          </p:cNvSpPr>
          <p:nvPr/>
        </p:nvSpPr>
        <p:spPr>
          <a:xfrm>
            <a:off x="7943850" y="5229225"/>
            <a:ext cx="3505200" cy="885825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83564D7-0651-45F3-AD5D-1AC8B4AFAA1B}"/>
              </a:ext>
            </a:extLst>
          </p:cNvPr>
          <p:cNvSpPr>
            <a:spLocks noGrp="1"/>
          </p:cNvSpPr>
          <p:nvPr/>
        </p:nvSpPr>
        <p:spPr>
          <a:xfrm>
            <a:off x="8115300" y="53435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FMEA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929AF1B-0CD0-4D89-B516-C1C3D9CC2F9F}"/>
              </a:ext>
            </a:extLst>
          </p:cNvPr>
          <p:cNvSpPr>
            <a:spLocks noGrp="1"/>
          </p:cNvSpPr>
          <p:nvPr/>
        </p:nvSpPr>
        <p:spPr>
          <a:xfrm>
            <a:off x="8115300" y="561022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7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hidden heat / bias / model gapを別channelで記録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48B4C97-3D91-423D-809C-E4C7F2A573A5}"/>
              </a:ext>
            </a:extLst>
          </p:cNvPr>
          <p:cNvSpPr>
            <a:spLocks noGrp="1"/>
          </p:cNvSpPr>
          <p:nvPr/>
        </p:nvSpPr>
        <p:spPr>
          <a:xfrm>
            <a:off x="552450" y="6200775"/>
            <a:ext cx="11087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注：計算時間短縮率は本benchmarkでは計測していない。価値は実装後にCAE回数・DOE回数・alarm対応時間で定量化する。</a:t>
            </a:r>
          </a:p>
        </p:txBody>
      </p:sp>
    </p:spTree>
    <p:extLst>
      <p:ext uri="{BB962C8B-B14F-4D97-AF65-F5344CB8AC3E}">
        <p14:creationId xmlns:p14="http://schemas.microsoft.com/office/powerpoint/2010/main" val="341057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3EEE8DDE-56DB-4CE8-86DB-93A105AE6860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8F73EE2-B67E-44DA-867A-A18402532298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VALIDATION PLAN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65D8F13-0673-46D4-9AF6-F7EE7474F1FD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装置採用は4段階のgateで進め、各段階の不確かさと再評価条件を残す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060AC59-2A10-4C91-A1C8-2CEBB3CBEDA5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合格基準はFMEA・制御仕様・thermal budgetと結び付けて事前に固定する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AF42241F-4722-4B30-8684-6B0B089EDFFF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8AA7B4A6-11F2-43D9-9053-05497F5312B2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31B240C-93AF-4096-A1BE-B0C112002F05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22B2979-BB9A-4E23-B4E4-B55D63CA2B66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037DD4-087D-417D-B2DB-BE538DAF184B}"/>
              </a:ext>
            </a:extLst>
          </p:cNvPr>
          <p:cNvSpPr>
            <a:spLocks noGrp="1"/>
          </p:cNvSpPr>
          <p:nvPr/>
        </p:nvSpPr>
        <p:spPr>
          <a:xfrm>
            <a:off x="552450" y="1628775"/>
            <a:ext cx="2571750" cy="21621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18677A8-AB4D-4337-8685-F66F4D69C63C}"/>
              </a:ext>
            </a:extLst>
          </p:cNvPr>
          <p:cNvSpPr>
            <a:spLocks noGrp="1"/>
          </p:cNvSpPr>
          <p:nvPr/>
        </p:nvSpPr>
        <p:spPr>
          <a:xfrm>
            <a:off x="552450" y="1628775"/>
            <a:ext cx="2571750" cy="76200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77C35A7-4FFF-4FE5-BED7-703DC137A70A}"/>
              </a:ext>
            </a:extLst>
          </p:cNvPr>
          <p:cNvSpPr>
            <a:spLocks noGrp="1"/>
          </p:cNvSpPr>
          <p:nvPr/>
        </p:nvSpPr>
        <p:spPr>
          <a:xfrm>
            <a:off x="723900" y="181927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D4B704C-5D87-4919-9391-9938C1D8D3F2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2228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計測契約</a:t>
            </a:r>
          </a:p>
        </p:txBody>
      </p:sp>
      <p:sp>
        <p:nvSpPr>
          <p:cNvPr id="13" name="直線コネクタ 12">
            <a:extLst>
              <a:ext uri="{FF2B5EF4-FFF2-40B4-BE49-F238E27FC236}">
                <a16:creationId xmlns:a16="http://schemas.microsoft.com/office/drawing/2014/main" id="{DA2E1745-00FA-43A7-ACD1-79CCC4B82F6F}"/>
              </a:ext>
            </a:extLst>
          </p:cNvPr>
          <p:cNvSpPr>
            <a:spLocks noGrp="1"/>
          </p:cNvSpPr>
          <p:nvPr/>
        </p:nvSpPr>
        <p:spPr>
          <a:xfrm>
            <a:off x="723900" y="2543175"/>
            <a:ext cx="222885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E8ACCEF-442D-420D-9009-30D0E8CA1F99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22288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sensor位置・応答・校正</a:t>
            </a:r>
          </a:p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時刻同期 / ZOH / 欠測</a:t>
            </a:r>
          </a:p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単位・heat input accounting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2F0CC11-AFB4-4E40-BE77-A64A0658529E}"/>
              </a:ext>
            </a:extLst>
          </p:cNvPr>
          <p:cNvSpPr>
            <a:spLocks noGrp="1"/>
          </p:cNvSpPr>
          <p:nvPr/>
        </p:nvSpPr>
        <p:spPr>
          <a:xfrm>
            <a:off x="3390900" y="1628775"/>
            <a:ext cx="2571750" cy="21621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765D3C7-3635-4B3B-9833-F3BDAC3F41E5}"/>
              </a:ext>
            </a:extLst>
          </p:cNvPr>
          <p:cNvSpPr>
            <a:spLocks noGrp="1"/>
          </p:cNvSpPr>
          <p:nvPr/>
        </p:nvSpPr>
        <p:spPr>
          <a:xfrm>
            <a:off x="3390900" y="1628775"/>
            <a:ext cx="2571750" cy="76200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FB3F173-8095-479A-A85F-E40CE08E8916}"/>
              </a:ext>
            </a:extLst>
          </p:cNvPr>
          <p:cNvSpPr>
            <a:spLocks noGrp="1"/>
          </p:cNvSpPr>
          <p:nvPr/>
        </p:nvSpPr>
        <p:spPr>
          <a:xfrm>
            <a:off x="3562350" y="181927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F0333CD-14FA-495F-8691-F7F473BA13DB}"/>
              </a:ext>
            </a:extLst>
          </p:cNvPr>
          <p:cNvSpPr>
            <a:spLocks noGrp="1"/>
          </p:cNvSpPr>
          <p:nvPr/>
        </p:nvSpPr>
        <p:spPr>
          <a:xfrm>
            <a:off x="3562350" y="2133600"/>
            <a:ext cx="2228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識別DOE</a:t>
            </a:r>
          </a:p>
        </p:txBody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1E54F0A1-4968-491B-88A7-4DC671A437E5}"/>
              </a:ext>
            </a:extLst>
          </p:cNvPr>
          <p:cNvSpPr>
            <a:spLocks noGrp="1"/>
          </p:cNvSpPr>
          <p:nvPr/>
        </p:nvSpPr>
        <p:spPr>
          <a:xfrm>
            <a:off x="3562350" y="2543175"/>
            <a:ext cx="222885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C8436AD-1274-4FDC-9255-64AA6620619B}"/>
              </a:ext>
            </a:extLst>
          </p:cNvPr>
          <p:cNvSpPr>
            <a:spLocks noGrp="1"/>
          </p:cNvSpPr>
          <p:nvPr/>
        </p:nvSpPr>
        <p:spPr>
          <a:xfrm>
            <a:off x="3562350" y="2695575"/>
            <a:ext cx="22288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短・中・長pulse</a:t>
            </a:r>
          </a:p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heater / coolantを分離励振</a:t>
            </a:r>
          </a:p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rank・profile・seed安定性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E9ED5E8-7E49-4430-B898-413A18485CEC}"/>
              </a:ext>
            </a:extLst>
          </p:cNvPr>
          <p:cNvSpPr>
            <a:spLocks noGrp="1"/>
          </p:cNvSpPr>
          <p:nvPr/>
        </p:nvSpPr>
        <p:spPr>
          <a:xfrm>
            <a:off x="6229350" y="1628775"/>
            <a:ext cx="2571750" cy="21621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7B65DE5-2D77-4BCC-9E1C-F5F52820F649}"/>
              </a:ext>
            </a:extLst>
          </p:cNvPr>
          <p:cNvSpPr>
            <a:spLocks noGrp="1"/>
          </p:cNvSpPr>
          <p:nvPr/>
        </p:nvSpPr>
        <p:spPr>
          <a:xfrm>
            <a:off x="6229350" y="1628775"/>
            <a:ext cx="2571750" cy="76200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12ADB30-CE43-4840-A0AD-B55DFA34353B}"/>
              </a:ext>
            </a:extLst>
          </p:cNvPr>
          <p:cNvSpPr>
            <a:spLocks noGrp="1"/>
          </p:cNvSpPr>
          <p:nvPr/>
        </p:nvSpPr>
        <p:spPr>
          <a:xfrm>
            <a:off x="6400800" y="181927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5DA0233-C6BE-4A5A-8701-CFEA60D3C452}"/>
              </a:ext>
            </a:extLst>
          </p:cNvPr>
          <p:cNvSpPr>
            <a:spLocks noGrp="1"/>
          </p:cNvSpPr>
          <p:nvPr/>
        </p:nvSpPr>
        <p:spPr>
          <a:xfrm>
            <a:off x="6400800" y="2133600"/>
            <a:ext cx="2228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CAE / 実験V&amp;V</a:t>
            </a:r>
          </a:p>
        </p:txBody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647E3B7D-7D26-4AE8-999C-326F085CFEEA}"/>
              </a:ext>
            </a:extLst>
          </p:cNvPr>
          <p:cNvSpPr>
            <a:spLocks noGrp="1"/>
          </p:cNvSpPr>
          <p:nvPr/>
        </p:nvSpPr>
        <p:spPr>
          <a:xfrm>
            <a:off x="6400800" y="2543175"/>
            <a:ext cx="222885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645CE6E-3095-439E-A230-458E5EB36BEC}"/>
              </a:ext>
            </a:extLst>
          </p:cNvPr>
          <p:cNvSpPr>
            <a:spLocks noGrp="1"/>
          </p:cNvSpPr>
          <p:nvPr/>
        </p:nvSpPr>
        <p:spPr>
          <a:xfrm>
            <a:off x="6400800" y="2695575"/>
            <a:ext cx="22288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mesh / time convergence</a:t>
            </a:r>
          </a:p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hotspot・放射・contact</a:t>
            </a:r>
          </a:p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独立recipe / hardware holdout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BF08A86-1ED1-439D-A7E0-9D89F855CCDE}"/>
              </a:ext>
            </a:extLst>
          </p:cNvPr>
          <p:cNvSpPr>
            <a:spLocks noGrp="1"/>
          </p:cNvSpPr>
          <p:nvPr/>
        </p:nvSpPr>
        <p:spPr>
          <a:xfrm>
            <a:off x="9067800" y="1628775"/>
            <a:ext cx="2571750" cy="21621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081BA5E-7F64-4049-BE7E-DD8230BAEE24}"/>
              </a:ext>
            </a:extLst>
          </p:cNvPr>
          <p:cNvSpPr>
            <a:spLocks noGrp="1"/>
          </p:cNvSpPr>
          <p:nvPr/>
        </p:nvSpPr>
        <p:spPr>
          <a:xfrm>
            <a:off x="9067800" y="1628775"/>
            <a:ext cx="2571750" cy="76200"/>
          </a:xfrm>
          <a:prstGeom prst="rect">
            <a:avLst/>
          </a:prstGeom>
          <a:solidFill>
            <a:srgbClr val="E5A900"/>
          </a:solidFill>
          <a:ln w="0">
            <a:noFill/>
            <a:prstDash val="solid"/>
          </a:ln>
        </p:spPr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0F0C135-7BA1-4601-B8C3-D45D51F96B11}"/>
              </a:ext>
            </a:extLst>
          </p:cNvPr>
          <p:cNvSpPr>
            <a:spLocks noGrp="1"/>
          </p:cNvSpPr>
          <p:nvPr/>
        </p:nvSpPr>
        <p:spPr>
          <a:xfrm>
            <a:off x="9239250" y="181927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E5A900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E5A90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D63337D-03BF-4F14-B656-97445BBCF307}"/>
              </a:ext>
            </a:extLst>
          </p:cNvPr>
          <p:cNvSpPr>
            <a:spLocks noGrp="1"/>
          </p:cNvSpPr>
          <p:nvPr/>
        </p:nvSpPr>
        <p:spPr>
          <a:xfrm>
            <a:off x="9239250" y="2133600"/>
            <a:ext cx="2228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shadow operation</a:t>
            </a:r>
          </a:p>
        </p:txBody>
      </p:sp>
      <p:sp>
        <p:nvSpPr>
          <p:cNvPr id="31" name="直線コネクタ 30">
            <a:extLst>
              <a:ext uri="{FF2B5EF4-FFF2-40B4-BE49-F238E27FC236}">
                <a16:creationId xmlns:a16="http://schemas.microsoft.com/office/drawing/2014/main" id="{12A72D6C-0FA2-42B3-964C-0B51B021310B}"/>
              </a:ext>
            </a:extLst>
          </p:cNvPr>
          <p:cNvSpPr>
            <a:spLocks noGrp="1"/>
          </p:cNvSpPr>
          <p:nvPr/>
        </p:nvSpPr>
        <p:spPr>
          <a:xfrm>
            <a:off x="9239250" y="2543175"/>
            <a:ext cx="222885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B695AF8-C330-4328-A834-A0EE84C121C3}"/>
              </a:ext>
            </a:extLst>
          </p:cNvPr>
          <p:cNvSpPr>
            <a:spLocks noGrp="1"/>
          </p:cNvSpPr>
          <p:nvPr/>
        </p:nvSpPr>
        <p:spPr>
          <a:xfrm>
            <a:off x="9239250" y="2695575"/>
            <a:ext cx="22288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alarm校正・false rate</a:t>
            </a:r>
          </a:p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drift / retrain条件</a:t>
            </a:r>
          </a:p>
          <a:p>
            <a:pPr algn="l">
              <a:lnSpc>
                <a:spcPct val="135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• interlockとは独立運用</a:t>
            </a:r>
          </a:p>
        </p:txBody>
      </p:sp>
      <p:cxnSp>
        <p:nvCxnSpPr>
          <p:cNvPr id="83" name="直線矢印コネクタ 82"/>
          <p:cNvCxnSpPr>
            <a:stCxn id="9" idx="3"/>
            <a:endCxn id="15" idx="1"/>
          </p:cNvCxnSpPr>
          <p:nvPr/>
        </p:nvCxnSpPr>
        <p:spPr>
          <a:xfrm>
            <a:off x="3124200" y="2709863"/>
            <a:ext cx="266700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cxnSp>
        <p:nvCxnSpPr>
          <p:cNvPr id="84" name="直線矢印コネクタ 83"/>
          <p:cNvCxnSpPr>
            <a:stCxn id="15" idx="3"/>
            <a:endCxn id="21" idx="1"/>
          </p:cNvCxnSpPr>
          <p:nvPr/>
        </p:nvCxnSpPr>
        <p:spPr>
          <a:xfrm>
            <a:off x="5962650" y="2709863"/>
            <a:ext cx="266700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cxnSp>
        <p:nvCxnSpPr>
          <p:cNvPr id="85" name="直線矢印コネクタ 84"/>
          <p:cNvCxnSpPr>
            <a:stCxn id="21" idx="3"/>
            <a:endCxn id="27" idx="1"/>
          </p:cNvCxnSpPr>
          <p:nvPr/>
        </p:nvCxnSpPr>
        <p:spPr>
          <a:xfrm>
            <a:off x="8801100" y="2709863"/>
            <a:ext cx="266700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C7780EE-6254-401F-8DCD-3D9C52D0E6A9}"/>
              </a:ext>
            </a:extLst>
          </p:cNvPr>
          <p:cNvSpPr>
            <a:spLocks noGrp="1"/>
          </p:cNvSpPr>
          <p:nvPr/>
        </p:nvSpPr>
        <p:spPr>
          <a:xfrm>
            <a:off x="552450" y="4114800"/>
            <a:ext cx="11087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release gateで固定する指標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C371121F-3572-4028-A9B5-F8A2E6869C19}"/>
              </a:ext>
            </a:extLst>
          </p:cNvPr>
          <p:cNvSpPr>
            <a:spLocks noGrp="1"/>
          </p:cNvSpPr>
          <p:nvPr/>
        </p:nvSpPr>
        <p:spPr>
          <a:xfrm>
            <a:off x="552450" y="44958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Prediction</a:t>
            </a:r>
          </a:p>
        </p:txBody>
      </p:sp>
      <p:sp>
        <p:nvSpPr>
          <p:cNvPr id="38" name="直線コネクタ 37">
            <a:extLst>
              <a:ext uri="{FF2B5EF4-FFF2-40B4-BE49-F238E27FC236}">
                <a16:creationId xmlns:a16="http://schemas.microsoft.com/office/drawing/2014/main" id="{6B382B44-7771-4678-836C-D09A7932D1BD}"/>
              </a:ext>
            </a:extLst>
          </p:cNvPr>
          <p:cNvSpPr>
            <a:spLocks noGrp="1"/>
          </p:cNvSpPr>
          <p:nvPr/>
        </p:nvSpPr>
        <p:spPr>
          <a:xfrm>
            <a:off x="1952625" y="4629150"/>
            <a:ext cx="523875" cy="0"/>
          </a:xfrm>
          <a:prstGeom prst="line">
            <a:avLst/>
          </a:prstGeom>
          <a:noFill/>
          <a:ln w="28575">
            <a:solidFill>
              <a:srgbClr val="00A5D8"/>
            </a:solidFill>
            <a:prstDash val="solid"/>
          </a:ln>
        </p:spPr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FFBB76E-4F1F-4EAB-8749-D18B244FD8EC}"/>
              </a:ext>
            </a:extLst>
          </p:cNvPr>
          <p:cNvSpPr>
            <a:spLocks noGrp="1"/>
          </p:cNvSpPr>
          <p:nvPr/>
        </p:nvSpPr>
        <p:spPr>
          <a:xfrm>
            <a:off x="2647950" y="4495800"/>
            <a:ext cx="899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mean / P95 / worst RMSE, phase lag, operating-envelope coverage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D17AB336-180B-40C6-9A14-195CB050F010}"/>
              </a:ext>
            </a:extLst>
          </p:cNvPr>
          <p:cNvSpPr>
            <a:spLocks noGrp="1"/>
          </p:cNvSpPr>
          <p:nvPr/>
        </p:nvSpPr>
        <p:spPr>
          <a:xfrm>
            <a:off x="552450" y="488632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Safety</a:t>
            </a:r>
          </a:p>
        </p:txBody>
      </p:sp>
      <p:sp>
        <p:nvSpPr>
          <p:cNvPr id="41" name="直線コネクタ 40">
            <a:extLst>
              <a:ext uri="{FF2B5EF4-FFF2-40B4-BE49-F238E27FC236}">
                <a16:creationId xmlns:a16="http://schemas.microsoft.com/office/drawing/2014/main" id="{E1C36E11-DFBE-4F0B-BAE6-2094BDBB1449}"/>
              </a:ext>
            </a:extLst>
          </p:cNvPr>
          <p:cNvSpPr>
            <a:spLocks noGrp="1"/>
          </p:cNvSpPr>
          <p:nvPr/>
        </p:nvSpPr>
        <p:spPr>
          <a:xfrm>
            <a:off x="1952625" y="5019675"/>
            <a:ext cx="523875" cy="0"/>
          </a:xfrm>
          <a:prstGeom prst="line">
            <a:avLst/>
          </a:prstGeom>
          <a:noFill/>
          <a:ln w="28575">
            <a:solidFill>
              <a:srgbClr val="C4493D"/>
            </a:solidFill>
            <a:prstDash val="solid"/>
          </a:ln>
        </p:spPr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3D3E099-0E82-4323-89C2-9B154570F263}"/>
              </a:ext>
            </a:extLst>
          </p:cNvPr>
          <p:cNvSpPr>
            <a:spLocks noGrp="1"/>
          </p:cNvSpPr>
          <p:nvPr/>
        </p:nvSpPr>
        <p:spPr>
          <a:xfrm>
            <a:off x="2647950" y="4886325"/>
            <a:ext cx="899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hotspot conservative bound, mesh/time uncertainty, thermal margin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E107D96-A1FB-4D91-86B0-57D799EA4C1F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Monitoring</a:t>
            </a:r>
          </a:p>
        </p:txBody>
      </p:sp>
      <p:sp>
        <p:nvSpPr>
          <p:cNvPr id="44" name="直線コネクタ 43">
            <a:extLst>
              <a:ext uri="{FF2B5EF4-FFF2-40B4-BE49-F238E27FC236}">
                <a16:creationId xmlns:a16="http://schemas.microsoft.com/office/drawing/2014/main" id="{E1250C11-0985-498D-851E-D382C9778410}"/>
              </a:ext>
            </a:extLst>
          </p:cNvPr>
          <p:cNvSpPr>
            <a:spLocks noGrp="1"/>
          </p:cNvSpPr>
          <p:nvPr/>
        </p:nvSpPr>
        <p:spPr>
          <a:xfrm>
            <a:off x="1952625" y="5410200"/>
            <a:ext cx="523875" cy="0"/>
          </a:xfrm>
          <a:prstGeom prst="line">
            <a:avLst/>
          </a:prstGeom>
          <a:noFill/>
          <a:ln w="28575">
            <a:solidFill>
              <a:srgbClr val="7B2DAF"/>
            </a:solidFill>
            <a:prstDash val="solid"/>
          </a:ln>
        </p:spPr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6AC0C7A-D7E2-4546-B794-3A451D01386C}"/>
              </a:ext>
            </a:extLst>
          </p:cNvPr>
          <p:cNvSpPr>
            <a:spLocks noGrp="1"/>
          </p:cNvSpPr>
          <p:nvPr/>
        </p:nvSpPr>
        <p:spPr>
          <a:xfrm>
            <a:off x="2647950" y="5276850"/>
            <a:ext cx="899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detection delay, false alerts/hour, missed faults, attribution error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AF4EEA3-4743-47D5-B41E-F6240D53A65A}"/>
              </a:ext>
            </a:extLst>
          </p:cNvPr>
          <p:cNvSpPr>
            <a:spLocks noGrp="1"/>
          </p:cNvSpPr>
          <p:nvPr/>
        </p:nvSpPr>
        <p:spPr>
          <a:xfrm>
            <a:off x="552450" y="56673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Lifecycle</a:t>
            </a:r>
          </a:p>
        </p:txBody>
      </p:sp>
      <p:sp>
        <p:nvSpPr>
          <p:cNvPr id="47" name="直線コネクタ 46">
            <a:extLst>
              <a:ext uri="{FF2B5EF4-FFF2-40B4-BE49-F238E27FC236}">
                <a16:creationId xmlns:a16="http://schemas.microsoft.com/office/drawing/2014/main" id="{8D9BA90C-192B-4C19-8896-1D970DDDAF64}"/>
              </a:ext>
            </a:extLst>
          </p:cNvPr>
          <p:cNvSpPr>
            <a:spLocks noGrp="1"/>
          </p:cNvSpPr>
          <p:nvPr/>
        </p:nvSpPr>
        <p:spPr>
          <a:xfrm>
            <a:off x="1952625" y="5800725"/>
            <a:ext cx="523875" cy="0"/>
          </a:xfrm>
          <a:prstGeom prst="line">
            <a:avLst/>
          </a:prstGeom>
          <a:noFill/>
          <a:ln w="28575">
            <a:solidFill>
              <a:srgbClr val="76BE18"/>
            </a:solidFill>
            <a:prstDash val="solid"/>
          </a:ln>
        </p:spPr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D2B0F7F-763F-42E2-989D-3936FD02E5DD}"/>
              </a:ext>
            </a:extLst>
          </p:cNvPr>
          <p:cNvSpPr>
            <a:spLocks noGrp="1"/>
          </p:cNvSpPr>
          <p:nvPr/>
        </p:nvSpPr>
        <p:spPr>
          <a:xfrm>
            <a:off x="2647950" y="5667375"/>
            <a:ext cx="899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drift threshold, retrain trigger, configuration &amp; data lineage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D57799A-0258-4E3D-AF99-552445642742}"/>
              </a:ext>
            </a:extLst>
          </p:cNvPr>
          <p:cNvSpPr>
            <a:spLocks noGrp="1"/>
          </p:cNvSpPr>
          <p:nvPr/>
        </p:nvSpPr>
        <p:spPr>
          <a:xfrm>
            <a:off x="552450" y="6105525"/>
            <a:ext cx="11087100" cy="238125"/>
          </a:xfrm>
          <a:prstGeom prst="rect">
            <a:avLst/>
          </a:prstGeom>
          <a:solidFill>
            <a:srgbClr val="201445"/>
          </a:solidFill>
          <a:ln w="0">
            <a:noFill/>
            <a:prstDash val="solid"/>
          </a:ln>
        </p:spPr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A15A98E-0B55-44AE-B288-B56461ECFC87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85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完了条件：適用運転域・性能限界・再評価条件・責任分界が同一release recordに記録されていること。</a:t>
            </a:r>
          </a:p>
        </p:txBody>
      </p:sp>
    </p:spTree>
    <p:extLst>
      <p:ext uri="{BB962C8B-B14F-4D97-AF65-F5344CB8AC3E}">
        <p14:creationId xmlns:p14="http://schemas.microsoft.com/office/powerpoint/2010/main" val="643060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75C612B8-1D07-4C22-82C2-321FA7502F79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FAA5253-3D8D-44FC-BC57-C4D4FB22B842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REFERENCES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E448577-F2D7-4B50-8878-30502E1625DF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理論、実装、CAE評価の根拠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8EA267C-585E-4668-9EAD-033D341FDD0F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06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各グラフの完全な出典パスと数値条件はspeaker notesに記載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B19C4FCD-C161-4B4A-BEFE-236544AB5750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D6FABD18-45D3-4492-9E3E-9BC00A97F34D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F12F927-CC4C-4E1B-84A8-67D35C8C19B9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RC / EQUIPMENT ENGINEERING REVIEW  ·  2026-09-17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006151A-95D5-401D-ADD2-CE1051A78BBD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F2C30E9-45C2-4A0F-8E29-5A4B51ECAF45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525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Repository evidence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48FD526-70F1-4451-853E-20B4BA8E0AE3}"/>
              </a:ext>
            </a:extLst>
          </p:cNvPr>
          <p:cNvSpPr>
            <a:spLocks noGrp="1"/>
          </p:cNvSpPr>
          <p:nvPr/>
        </p:nvSpPr>
        <p:spPr>
          <a:xfrm>
            <a:off x="552450" y="1771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[E1]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E6BB093-78BE-4A24-8F0C-7BDE26B0CC29}"/>
              </a:ext>
            </a:extLst>
          </p:cNvPr>
          <p:cNvSpPr>
            <a:spLocks noGrp="1"/>
          </p:cNvSpPr>
          <p:nvPr/>
        </p:nvSpPr>
        <p:spPr>
          <a:xfrm>
            <a:off x="1200150" y="1771650"/>
            <a:ext cx="433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Technical specification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9316F1F-B1D1-4116-BD58-59D0E70B111F}"/>
              </a:ext>
            </a:extLst>
          </p:cNvPr>
          <p:cNvSpPr>
            <a:spLocks noGrp="1"/>
          </p:cNvSpPr>
          <p:nvPr/>
        </p:nvSpPr>
        <p:spPr>
          <a:xfrm>
            <a:off x="1200150" y="2009775"/>
            <a:ext cx="43338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docs/technical_specification.md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7F93383-E561-4480-B6B0-A987C99D5F40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[E2]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2817D36-DFB6-41D7-95FF-F1012EBE2565}"/>
              </a:ext>
            </a:extLst>
          </p:cNvPr>
          <p:cNvSpPr>
            <a:spLocks noGrp="1"/>
          </p:cNvSpPr>
          <p:nvPr/>
        </p:nvSpPr>
        <p:spPr>
          <a:xfrm>
            <a:off x="1200150" y="2381250"/>
            <a:ext cx="433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TopCell benchmark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FDD1DF2-2303-442B-93AE-90F3A6746211}"/>
              </a:ext>
            </a:extLst>
          </p:cNvPr>
          <p:cNvSpPr>
            <a:spLocks noGrp="1"/>
          </p:cNvSpPr>
          <p:nvPr/>
        </p:nvSpPr>
        <p:spPr>
          <a:xfrm>
            <a:off x="1200150" y="2619375"/>
            <a:ext cx="43338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benchmarks/topcell/work/outputs/benchmark/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76E54A6-40FC-46B5-A9B5-86332B16492F}"/>
              </a:ext>
            </a:extLst>
          </p:cNvPr>
          <p:cNvSpPr>
            <a:spLocks noGrp="1"/>
          </p:cNvSpPr>
          <p:nvPr/>
        </p:nvSpPr>
        <p:spPr>
          <a:xfrm>
            <a:off x="55245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[E3]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F8A0E7B-4BA5-487B-A9F4-BDBE58A1351B}"/>
              </a:ext>
            </a:extLst>
          </p:cNvPr>
          <p:cNvSpPr>
            <a:spLocks noGrp="1"/>
          </p:cNvSpPr>
          <p:nvPr/>
        </p:nvSpPr>
        <p:spPr>
          <a:xfrm>
            <a:off x="1200150" y="2990850"/>
            <a:ext cx="433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Linear COMSOL evaluation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163471E-52AC-4D96-83C7-60C425E708E6}"/>
              </a:ext>
            </a:extLst>
          </p:cNvPr>
          <p:cNvSpPr>
            <a:spLocks noGrp="1"/>
          </p:cNvSpPr>
          <p:nvPr/>
        </p:nvSpPr>
        <p:spPr>
          <a:xfrm>
            <a:off x="1200150" y="3228975"/>
            <a:ext cx="43338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external_tools/comsol_chip_cooling/work/evaluation/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406F22D-7F87-497D-A582-5355CEDB0CD0}"/>
              </a:ext>
            </a:extLst>
          </p:cNvPr>
          <p:cNvSpPr>
            <a:spLocks noGrp="1"/>
          </p:cNvSpPr>
          <p:nvPr/>
        </p:nvSpPr>
        <p:spPr>
          <a:xfrm>
            <a:off x="552450" y="36004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[E4]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47E4363-6EBA-4F0A-8F2A-51D5ECCE3090}"/>
              </a:ext>
            </a:extLst>
          </p:cNvPr>
          <p:cNvSpPr>
            <a:spLocks noGrp="1"/>
          </p:cNvSpPr>
          <p:nvPr/>
        </p:nvSpPr>
        <p:spPr>
          <a:xfrm>
            <a:off x="1200150" y="3600450"/>
            <a:ext cx="433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Monitor traces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6F9122C-3BFB-4F7E-A2B3-1BBEA58CDBA9}"/>
              </a:ext>
            </a:extLst>
          </p:cNvPr>
          <p:cNvSpPr>
            <a:spLocks noGrp="1"/>
          </p:cNvSpPr>
          <p:nvPr/>
        </p:nvSpPr>
        <p:spPr>
          <a:xfrm>
            <a:off x="1200150" y="3838575"/>
            <a:ext cx="43338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external_tools/comsol_chip_cooling/work/outputs/monitor/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9E03BB0-3B98-44A7-B7EC-93A469C27B10}"/>
              </a:ext>
            </a:extLst>
          </p:cNvPr>
          <p:cNvSpPr>
            <a:spLocks noGrp="1"/>
          </p:cNvSpPr>
          <p:nvPr/>
        </p:nvSpPr>
        <p:spPr>
          <a:xfrm>
            <a:off x="552450" y="42100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[E5]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0DCC50C-810F-4B33-9BB3-8C185BE3E954}"/>
              </a:ext>
            </a:extLst>
          </p:cNvPr>
          <p:cNvSpPr>
            <a:spLocks noGrp="1"/>
          </p:cNvSpPr>
          <p:nvPr/>
        </p:nvSpPr>
        <p:spPr>
          <a:xfrm>
            <a:off x="1200150" y="4210050"/>
            <a:ext cx="433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CAE report source data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956FB41-1ECE-4318-8DC5-13F1AF3975BA}"/>
              </a:ext>
            </a:extLst>
          </p:cNvPr>
          <p:cNvSpPr>
            <a:spLocks noGrp="1"/>
          </p:cNvSpPr>
          <p:nvPr/>
        </p:nvSpPr>
        <p:spPr>
          <a:xfrm>
            <a:off x="1200150" y="4448175"/>
            <a:ext cx="43338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external_tools/.../reports/cae_benchmark_report/source_data/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3B2A081-2704-4654-9AE0-707C87F72E2B}"/>
              </a:ext>
            </a:extLst>
          </p:cNvPr>
          <p:cNvSpPr>
            <a:spLocks noGrp="1"/>
          </p:cNvSpPr>
          <p:nvPr/>
        </p:nvSpPr>
        <p:spPr>
          <a:xfrm>
            <a:off x="552450" y="48196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[E6]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0F449AF-EC90-4DDC-8F76-98DEEB563292}"/>
              </a:ext>
            </a:extLst>
          </p:cNvPr>
          <p:cNvSpPr>
            <a:spLocks noGrp="1"/>
          </p:cNvSpPr>
          <p:nvPr/>
        </p:nvSpPr>
        <p:spPr>
          <a:xfrm>
            <a:off x="1200150" y="4819650"/>
            <a:ext cx="433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High-fidelity validation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0B406BA-4A4E-412B-A33C-905DA615DFF6}"/>
              </a:ext>
            </a:extLst>
          </p:cNvPr>
          <p:cNvSpPr>
            <a:spLocks noGrp="1"/>
          </p:cNvSpPr>
          <p:nvPr/>
        </p:nvSpPr>
        <p:spPr>
          <a:xfrm>
            <a:off x="1200150" y="5057775"/>
            <a:ext cx="43338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35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external_tools/comsol_chip_cooling/docs/high_fidelity_validation.md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B462900-4DAC-4587-94CA-E55BEC77F44E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525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F3F3F"/>
                </a:solidFill>
                <a:latin typeface="Yu Gothic"/>
                <a:ea typeface="Yu Gothic"/>
                <a:cs typeface="Yu Gothic"/>
              </a:rPr>
              <a:t>Theory and methods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877E89F-8919-4093-90A0-58817C215290}"/>
              </a:ext>
            </a:extLst>
          </p:cNvPr>
          <p:cNvSpPr>
            <a:spLocks noGrp="1"/>
          </p:cNvSpPr>
          <p:nvPr/>
        </p:nvSpPr>
        <p:spPr>
          <a:xfrm>
            <a:off x="6381750" y="1743075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[R1]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E760448-B609-486F-9166-9E14D2292548}"/>
              </a:ext>
            </a:extLst>
          </p:cNvPr>
          <p:cNvSpPr>
            <a:spLocks noGrp="1"/>
          </p:cNvSpPr>
          <p:nvPr/>
        </p:nvSpPr>
        <p:spPr>
          <a:xfrm>
            <a:off x="7029450" y="1743075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Huang et al. (2006)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F22ED89-D540-4987-8828-F4D800E82CB8}"/>
              </a:ext>
            </a:extLst>
          </p:cNvPr>
          <p:cNvSpPr>
            <a:spLocks noGrp="1"/>
          </p:cNvSpPr>
          <p:nvPr/>
        </p:nvSpPr>
        <p:spPr>
          <a:xfrm>
            <a:off x="7029450" y="1962150"/>
            <a:ext cx="428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HotSpot compact thermal modeling, IEEE TVLSI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A2B46A1-39CF-46FA-8977-9A77E59BB63A}"/>
              </a:ext>
            </a:extLst>
          </p:cNvPr>
          <p:cNvSpPr>
            <a:spLocks noGrp="1"/>
          </p:cNvSpPr>
          <p:nvPr/>
        </p:nvSpPr>
        <p:spPr>
          <a:xfrm>
            <a:off x="6381750" y="2238375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[R2]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6655684-DA8B-4A41-9197-C61407607D86}"/>
              </a:ext>
            </a:extLst>
          </p:cNvPr>
          <p:cNvSpPr>
            <a:spLocks noGrp="1"/>
          </p:cNvSpPr>
          <p:nvPr/>
        </p:nvSpPr>
        <p:spPr>
          <a:xfrm>
            <a:off x="7029450" y="2238375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Farina &amp; Rinaldi (2000)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313AA0B-181D-46FE-964D-8E3C0F6CD24F}"/>
              </a:ext>
            </a:extLst>
          </p:cNvPr>
          <p:cNvSpPr>
            <a:spLocks noGrp="1"/>
          </p:cNvSpPr>
          <p:nvPr/>
        </p:nvSpPr>
        <p:spPr>
          <a:xfrm>
            <a:off x="7029450" y="2457450"/>
            <a:ext cx="428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Positive Linear Systems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409DA49-A851-4790-A225-6AE24D76EC76}"/>
              </a:ext>
            </a:extLst>
          </p:cNvPr>
          <p:cNvSpPr>
            <a:spLocks noGrp="1"/>
          </p:cNvSpPr>
          <p:nvPr/>
        </p:nvSpPr>
        <p:spPr>
          <a:xfrm>
            <a:off x="6381750" y="2733675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[R3]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D4940CD2-07BA-4FFD-9ACA-6C8DBCC04DD7}"/>
              </a:ext>
            </a:extLst>
          </p:cNvPr>
          <p:cNvSpPr>
            <a:spLocks noGrp="1"/>
          </p:cNvSpPr>
          <p:nvPr/>
        </p:nvSpPr>
        <p:spPr>
          <a:xfrm>
            <a:off x="7029450" y="2733675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Kalman (1960)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1E0C583-0111-4288-B174-B798CA20D3D4}"/>
              </a:ext>
            </a:extLst>
          </p:cNvPr>
          <p:cNvSpPr>
            <a:spLocks noGrp="1"/>
          </p:cNvSpPr>
          <p:nvPr/>
        </p:nvSpPr>
        <p:spPr>
          <a:xfrm>
            <a:off x="7029450" y="2952750"/>
            <a:ext cx="428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Linear filtering and prediction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0B7D0FBB-4A66-4AE0-9AA6-7504766554CC}"/>
              </a:ext>
            </a:extLst>
          </p:cNvPr>
          <p:cNvSpPr>
            <a:spLocks noGrp="1"/>
          </p:cNvSpPr>
          <p:nvPr/>
        </p:nvSpPr>
        <p:spPr>
          <a:xfrm>
            <a:off x="6381750" y="3228975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[R4]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4BCC973-6F37-4CEF-B7FB-2842DCFE0017}"/>
              </a:ext>
            </a:extLst>
          </p:cNvPr>
          <p:cNvSpPr>
            <a:spLocks noGrp="1"/>
          </p:cNvSpPr>
          <p:nvPr/>
        </p:nvSpPr>
        <p:spPr>
          <a:xfrm>
            <a:off x="7029450" y="3228975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Van Loan (1978)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C756553-4C12-42CC-9777-9302C8B06D55}"/>
              </a:ext>
            </a:extLst>
          </p:cNvPr>
          <p:cNvSpPr>
            <a:spLocks noGrp="1"/>
          </p:cNvSpPr>
          <p:nvPr/>
        </p:nvSpPr>
        <p:spPr>
          <a:xfrm>
            <a:off x="7029450" y="3448050"/>
            <a:ext cx="428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Computing integrals involving the matrix exponential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D545A1F-A562-4A17-9BF0-F0E7EC095A5B}"/>
              </a:ext>
            </a:extLst>
          </p:cNvPr>
          <p:cNvSpPr>
            <a:spLocks noGrp="1"/>
          </p:cNvSpPr>
          <p:nvPr/>
        </p:nvSpPr>
        <p:spPr>
          <a:xfrm>
            <a:off x="6381750" y="3724275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[R5]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2049C03-3096-4C83-9248-B99334C34185}"/>
              </a:ext>
            </a:extLst>
          </p:cNvPr>
          <p:cNvSpPr>
            <a:spLocks noGrp="1"/>
          </p:cNvSpPr>
          <p:nvPr/>
        </p:nvSpPr>
        <p:spPr>
          <a:xfrm>
            <a:off x="7029450" y="3724275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Higham (2005)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568073F-F82D-4D3B-8390-8274F404F07A}"/>
              </a:ext>
            </a:extLst>
          </p:cNvPr>
          <p:cNvSpPr>
            <a:spLocks noGrp="1"/>
          </p:cNvSpPr>
          <p:nvPr/>
        </p:nvSpPr>
        <p:spPr>
          <a:xfrm>
            <a:off x="7029450" y="3943350"/>
            <a:ext cx="428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Scaling and squaring for the matrix exponential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8623868-0347-4588-A4A5-2D040C642913}"/>
              </a:ext>
            </a:extLst>
          </p:cNvPr>
          <p:cNvSpPr>
            <a:spLocks noGrp="1"/>
          </p:cNvSpPr>
          <p:nvPr/>
        </p:nvSpPr>
        <p:spPr>
          <a:xfrm>
            <a:off x="6381750" y="4219575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[R6]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37E1C1D-38F6-4E20-ADB1-A12C69E8E71A}"/>
              </a:ext>
            </a:extLst>
          </p:cNvPr>
          <p:cNvSpPr>
            <a:spLocks noGrp="1"/>
          </p:cNvSpPr>
          <p:nvPr/>
        </p:nvSpPr>
        <p:spPr>
          <a:xfrm>
            <a:off x="7029450" y="4219575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Huber (1964)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F7B1DAA-BC43-4E14-86D4-82DB42E45D23}"/>
              </a:ext>
            </a:extLst>
          </p:cNvPr>
          <p:cNvSpPr>
            <a:spLocks noGrp="1"/>
          </p:cNvSpPr>
          <p:nvPr/>
        </p:nvSpPr>
        <p:spPr>
          <a:xfrm>
            <a:off x="7029450" y="4438650"/>
            <a:ext cx="428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Robust estimation of a location parameter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20A2B34-FBBA-4D51-A437-E5FB237AC032}"/>
              </a:ext>
            </a:extLst>
          </p:cNvPr>
          <p:cNvSpPr>
            <a:spLocks noGrp="1"/>
          </p:cNvSpPr>
          <p:nvPr/>
        </p:nvSpPr>
        <p:spPr>
          <a:xfrm>
            <a:off x="6381750" y="4714875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[R7]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A24828BF-8EB5-4D16-8C5F-838E98C93C3F}"/>
              </a:ext>
            </a:extLst>
          </p:cNvPr>
          <p:cNvSpPr>
            <a:spLocks noGrp="1"/>
          </p:cNvSpPr>
          <p:nvPr/>
        </p:nvSpPr>
        <p:spPr>
          <a:xfrm>
            <a:off x="7029450" y="4714875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Kingma &amp; Ba (2014)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CA30B0F-54EE-4891-ABA2-06A5941DBCF8}"/>
              </a:ext>
            </a:extLst>
          </p:cNvPr>
          <p:cNvSpPr>
            <a:spLocks noGrp="1"/>
          </p:cNvSpPr>
          <p:nvPr/>
        </p:nvSpPr>
        <p:spPr>
          <a:xfrm>
            <a:off x="7029450" y="4933950"/>
            <a:ext cx="428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Adam: A Method for Stochastic Optimization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8A7B5E1B-FD5E-42D3-8638-B00A11632A5D}"/>
              </a:ext>
            </a:extLst>
          </p:cNvPr>
          <p:cNvSpPr>
            <a:spLocks noGrp="1"/>
          </p:cNvSpPr>
          <p:nvPr/>
        </p:nvSpPr>
        <p:spPr>
          <a:xfrm>
            <a:off x="6381750" y="5210175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[R8]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F48689EF-4A85-4D73-8B28-FFA0D6A8A5D6}"/>
              </a:ext>
            </a:extLst>
          </p:cNvPr>
          <p:cNvSpPr>
            <a:spLocks noGrp="1"/>
          </p:cNvSpPr>
          <p:nvPr/>
        </p:nvSpPr>
        <p:spPr>
          <a:xfrm>
            <a:off x="7029450" y="5210175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COMSOL documentation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B57B7742-A82A-4206-9478-EC6EA97521CA}"/>
              </a:ext>
            </a:extLst>
          </p:cNvPr>
          <p:cNvSpPr>
            <a:spLocks noGrp="1"/>
          </p:cNvSpPr>
          <p:nvPr/>
        </p:nvSpPr>
        <p:spPr>
          <a:xfrm>
            <a:off x="7029450" y="5429250"/>
            <a:ext cx="4286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Electronic Chip Cooling / Nonisothermal Flow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B7ED0BD-5AEE-424D-A925-D8F55C08C7C0}"/>
              </a:ext>
            </a:extLst>
          </p:cNvPr>
          <p:cNvSpPr>
            <a:spLocks noGrp="1"/>
          </p:cNvSpPr>
          <p:nvPr/>
        </p:nvSpPr>
        <p:spPr>
          <a:xfrm>
            <a:off x="552450" y="5695950"/>
            <a:ext cx="11087100" cy="523875"/>
          </a:xfrm>
          <a:prstGeom prst="rect">
            <a:avLst/>
          </a:prstGeom>
          <a:solidFill>
            <a:srgbClr val="F8F8F8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7CA48BDD-AF99-4B00-9B74-6C8DE3C59905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1257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Design reference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4A2ECBD9-79E4-4B6A-B8B6-923E6255E89C}"/>
              </a:ext>
            </a:extLst>
          </p:cNvPr>
          <p:cNvSpPr>
            <a:spLocks noGrp="1"/>
          </p:cNvSpPr>
          <p:nvPr/>
        </p:nvSpPr>
        <p:spPr>
          <a:xfrm>
            <a:off x="2038350" y="5791200"/>
            <a:ext cx="933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B5B5B"/>
                </a:solidFill>
                <a:latin typeface="Yu Gothic"/>
                <a:ea typeface="Yu Gothic"/>
                <a:cs typeface="Yu Gothic"/>
              </a:rPr>
              <a:t>Tokyo Electron public IR presentation (visual language only; no logo/template reuse)</a:t>
            </a:r>
          </a:p>
        </p:txBody>
      </p:sp>
    </p:spTree>
    <p:extLst>
      <p:ext uri="{BB962C8B-B14F-4D97-AF65-F5344CB8AC3E}">
        <p14:creationId xmlns:p14="http://schemas.microsoft.com/office/powerpoint/2010/main" val="21190647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Equipment Engineering Review">
      <a:dk1>
        <a:srgbClr val="1B1B1B"/>
      </a:dk1>
      <a:lt1>
        <a:srgbClr val="FFFFFF"/>
      </a:lt1>
      <a:dk2>
        <a:srgbClr val="201445"/>
      </a:dk2>
      <a:lt2>
        <a:srgbClr val="D6D6D6"/>
      </a:lt2>
      <a:accent1>
        <a:srgbClr val="00A5D8"/>
      </a:accent1>
      <a:accent2>
        <a:srgbClr val="76BE18"/>
      </a:accent2>
      <a:accent3>
        <a:srgbClr val="7B2DAF"/>
      </a:accent3>
      <a:accent4>
        <a:srgbClr val="00A89D"/>
      </a:accent4>
      <a:accent5>
        <a:srgbClr val="E5A900"/>
      </a:accent5>
      <a:accent6>
        <a:srgbClr val="C4493D"/>
      </a:accent6>
      <a:hlink>
        <a:srgbClr val="007FA8"/>
      </a:hlink>
      <a:folHlink>
        <a:srgbClr val="7B2DA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quipment Engineering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Equipment Engineering Review">
      <a:dk1>
        <a:srgbClr val="1B1B1B"/>
      </a:dk1>
      <a:lt1>
        <a:srgbClr val="FFFFFF"/>
      </a:lt1>
      <a:dk2>
        <a:srgbClr val="201445"/>
      </a:dk2>
      <a:lt2>
        <a:srgbClr val="D6D6D6"/>
      </a:lt2>
      <a:accent1>
        <a:srgbClr val="00A5D8"/>
      </a:accent1>
      <a:accent2>
        <a:srgbClr val="76BE18"/>
      </a:accent2>
      <a:accent3>
        <a:srgbClr val="7B2DAF"/>
      </a:accent3>
      <a:accent4>
        <a:srgbClr val="00A89D"/>
      </a:accent4>
      <a:accent5>
        <a:srgbClr val="E5A900"/>
      </a:accent5>
      <a:accent6>
        <a:srgbClr val="C4493D"/>
      </a:accent6>
      <a:hlink>
        <a:srgbClr val="007FA8"/>
      </a:hlink>
      <a:folHlink>
        <a:srgbClr val="7B2DA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quipment Engineering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3907</Words>
  <Application>Microsoft Office PowerPoint</Application>
  <DocSecurity>0</DocSecurity>
  <PresentationFormat>ワイド画面</PresentationFormat>
  <Paragraphs>690</Paragraphs>
  <Slides>19</Slides>
  <Notes>19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3" baseType="lpstr">
      <vt:lpstr>Yu Gothic</vt:lpstr>
      <vt:lpstr>Calibri</vt:lpstr>
      <vt:lpstr>Cambria Math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大希 川人</cp:lastModifiedBy>
  <cp:revision>1</cp:revision>
  <dcterms:created xsi:type="dcterms:W3CDTF">2026-09-17T01:28:46Z</dcterms:created>
  <dcterms:modified xsi:type="dcterms:W3CDTF">2026-09-27T23:56:11Z</dcterms:modified>
</cp:coreProperties>
</file>